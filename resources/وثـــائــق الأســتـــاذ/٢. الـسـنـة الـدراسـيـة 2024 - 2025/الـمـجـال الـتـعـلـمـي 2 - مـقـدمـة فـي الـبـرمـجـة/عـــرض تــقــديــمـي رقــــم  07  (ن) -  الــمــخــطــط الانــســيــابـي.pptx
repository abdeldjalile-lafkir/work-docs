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0"/>
  </p:notesMasterIdLst>
  <p:sldIdLst>
    <p:sldId id="273" r:id="rId3"/>
    <p:sldId id="291" r:id="rId4"/>
    <p:sldId id="552" r:id="rId5"/>
    <p:sldId id="553" r:id="rId6"/>
    <p:sldId id="590" r:id="rId7"/>
    <p:sldId id="686" r:id="rId8"/>
    <p:sldId id="685" r:id="rId9"/>
    <p:sldId id="684" r:id="rId10"/>
    <p:sldId id="554" r:id="rId11"/>
    <p:sldId id="687" r:id="rId12"/>
    <p:sldId id="555" r:id="rId13"/>
    <p:sldId id="591" r:id="rId14"/>
    <p:sldId id="689" r:id="rId15"/>
    <p:sldId id="688" r:id="rId16"/>
    <p:sldId id="556" r:id="rId17"/>
    <p:sldId id="557" r:id="rId18"/>
    <p:sldId id="592" r:id="rId19"/>
    <p:sldId id="694" r:id="rId20"/>
    <p:sldId id="693" r:id="rId21"/>
    <p:sldId id="692" r:id="rId22"/>
    <p:sldId id="691" r:id="rId23"/>
    <p:sldId id="690" r:id="rId24"/>
    <p:sldId id="558" r:id="rId25"/>
    <p:sldId id="593" r:id="rId26"/>
    <p:sldId id="559" r:id="rId27"/>
    <p:sldId id="560" r:id="rId28"/>
    <p:sldId id="594" r:id="rId29"/>
    <p:sldId id="562" r:id="rId30"/>
    <p:sldId id="701" r:id="rId31"/>
    <p:sldId id="700" r:id="rId32"/>
    <p:sldId id="563" r:id="rId33"/>
    <p:sldId id="699" r:id="rId34"/>
    <p:sldId id="698" r:id="rId35"/>
    <p:sldId id="696" r:id="rId36"/>
    <p:sldId id="564" r:id="rId37"/>
    <p:sldId id="565" r:id="rId38"/>
    <p:sldId id="561" r:id="rId39"/>
    <p:sldId id="598" r:id="rId40"/>
    <p:sldId id="702" r:id="rId41"/>
    <p:sldId id="599" r:id="rId42"/>
    <p:sldId id="600" r:id="rId43"/>
    <p:sldId id="566" r:id="rId44"/>
    <p:sldId id="549" r:id="rId45"/>
    <p:sldId id="258" r:id="rId46"/>
    <p:sldId id="447" r:id="rId47"/>
    <p:sldId id="703" r:id="rId48"/>
    <p:sldId id="704" r:id="rId49"/>
    <p:sldId id="601" r:id="rId50"/>
    <p:sldId id="602" r:id="rId51"/>
    <p:sldId id="603" r:id="rId52"/>
    <p:sldId id="604" r:id="rId53"/>
    <p:sldId id="292" r:id="rId54"/>
    <p:sldId id="551" r:id="rId55"/>
    <p:sldId id="542" r:id="rId56"/>
    <p:sldId id="580" r:id="rId57"/>
    <p:sldId id="605" r:id="rId58"/>
    <p:sldId id="606" r:id="rId59"/>
    <p:sldId id="705" r:id="rId60"/>
    <p:sldId id="541" r:id="rId61"/>
    <p:sldId id="394" r:id="rId62"/>
    <p:sldId id="607" r:id="rId63"/>
    <p:sldId id="707" r:id="rId64"/>
    <p:sldId id="706" r:id="rId65"/>
    <p:sldId id="630" r:id="rId66"/>
    <p:sldId id="631" r:id="rId67"/>
    <p:sldId id="628" r:id="rId68"/>
    <p:sldId id="635" r:id="rId69"/>
    <p:sldId id="648" r:id="rId70"/>
    <p:sldId id="651" r:id="rId71"/>
    <p:sldId id="633" r:id="rId72"/>
    <p:sldId id="650" r:id="rId73"/>
    <p:sldId id="647" r:id="rId74"/>
    <p:sldId id="634" r:id="rId75"/>
    <p:sldId id="627" r:id="rId76"/>
    <p:sldId id="636" r:id="rId77"/>
    <p:sldId id="543" r:id="rId78"/>
    <p:sldId id="544" r:id="rId79"/>
    <p:sldId id="608" r:id="rId80"/>
    <p:sldId id="637" r:id="rId81"/>
    <p:sldId id="545" r:id="rId82"/>
    <p:sldId id="546" r:id="rId83"/>
    <p:sldId id="609" r:id="rId84"/>
    <p:sldId id="613" r:id="rId85"/>
    <p:sldId id="547" r:id="rId86"/>
    <p:sldId id="610" r:id="rId87"/>
    <p:sldId id="614" r:id="rId88"/>
    <p:sldId id="548" r:id="rId89"/>
    <p:sldId id="611" r:id="rId90"/>
    <p:sldId id="612" r:id="rId91"/>
    <p:sldId id="567" r:id="rId92"/>
    <p:sldId id="639" r:id="rId93"/>
    <p:sldId id="646" r:id="rId94"/>
    <p:sldId id="569" r:id="rId95"/>
    <p:sldId id="615" r:id="rId96"/>
    <p:sldId id="645" r:id="rId97"/>
    <p:sldId id="644" r:id="rId98"/>
    <p:sldId id="641" r:id="rId99"/>
    <p:sldId id="708" r:id="rId100"/>
    <p:sldId id="642" r:id="rId101"/>
    <p:sldId id="643" r:id="rId102"/>
    <p:sldId id="649" r:id="rId103"/>
    <p:sldId id="616" r:id="rId104"/>
    <p:sldId id="640" r:id="rId105"/>
    <p:sldId id="617" r:id="rId106"/>
    <p:sldId id="570" r:id="rId107"/>
    <p:sldId id="618" r:id="rId108"/>
    <p:sldId id="619" r:id="rId109"/>
    <p:sldId id="620" r:id="rId110"/>
    <p:sldId id="571" r:id="rId111"/>
    <p:sldId id="588" r:id="rId112"/>
    <p:sldId id="621" r:id="rId113"/>
    <p:sldId id="622" r:id="rId114"/>
    <p:sldId id="623" r:id="rId115"/>
    <p:sldId id="572" r:id="rId116"/>
    <p:sldId id="589" r:id="rId117"/>
    <p:sldId id="624" r:id="rId118"/>
    <p:sldId id="625" r:id="rId119"/>
    <p:sldId id="626" r:id="rId120"/>
    <p:sldId id="573" r:id="rId121"/>
    <p:sldId id="574" r:id="rId122"/>
    <p:sldId id="577" r:id="rId123"/>
    <p:sldId id="576" r:id="rId124"/>
    <p:sldId id="581" r:id="rId125"/>
    <p:sldId id="582" r:id="rId126"/>
    <p:sldId id="662" r:id="rId127"/>
    <p:sldId id="663" r:id="rId128"/>
    <p:sldId id="661" r:id="rId129"/>
    <p:sldId id="666" r:id="rId130"/>
    <p:sldId id="664" r:id="rId131"/>
    <p:sldId id="585" r:id="rId132"/>
    <p:sldId id="652" r:id="rId133"/>
    <p:sldId id="653" r:id="rId134"/>
    <p:sldId id="654" r:id="rId135"/>
    <p:sldId id="655" r:id="rId136"/>
    <p:sldId id="656" r:id="rId137"/>
    <p:sldId id="657" r:id="rId138"/>
    <p:sldId id="658" r:id="rId139"/>
    <p:sldId id="660" r:id="rId140"/>
    <p:sldId id="672" r:id="rId141"/>
    <p:sldId id="673" r:id="rId142"/>
    <p:sldId id="676" r:id="rId143"/>
    <p:sldId id="677" r:id="rId144"/>
    <p:sldId id="679" r:id="rId145"/>
    <p:sldId id="682" r:id="rId146"/>
    <p:sldId id="683" r:id="rId147"/>
    <p:sldId id="584" r:id="rId148"/>
    <p:sldId id="338" r:id="rId1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7" autoAdjust="0"/>
    <p:restoredTop sz="94434" autoAdjust="0"/>
  </p:normalViewPr>
  <p:slideViewPr>
    <p:cSldViewPr>
      <p:cViewPr varScale="1">
        <p:scale>
          <a:sx n="71" d="100"/>
          <a:sy n="71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notesMaster" Target="notesMasters/notesMaster1.xml"/><Relationship Id="rId155" Type="http://schemas.openxmlformats.org/officeDocument/2006/relationships/tableStyles" Target="tableStyle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commentAuthors" Target="commentAuthor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viewProps" Target="view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theme" Target="theme/theme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25/11/2024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52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25/11/2024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25/11/2024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25/11/2024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25/11/2024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25/11/2024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25/11/2024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25/11/2024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25/11/2024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25/11/2024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25/11/2024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25/11/2024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25/11/2024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25/11/2024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25/11/2024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25/11/2024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25/11/2024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25/11/2024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25/11/2024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25/11/2024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25/11/2024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25/11/2024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مَــــــــــــــدْخَـــــــــــــل إِلَـــــى الـــبَـــــــــــرْمَـــــــــــجَــــــــــــــة</a:t>
            </a:r>
            <a:endParaRPr lang="ar-SA" altLang="zh-CN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25/11/2024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1. مـفــهـــوم الــبَــرْمَـــجَــة 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مـــاذا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تــعــرفــون 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الــبَـ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ـرْمَـــجَــة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تـعـــريــف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الــبَـرْمَـــجَــة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Programmation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576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74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161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539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45774" y="3196006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الــمــهــام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978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62115" y="4967034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كــتــابــة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45774" y="3196006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الــمــهــام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68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1. مـفــهـــوم الــبَــرْمَـــجَــة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/>
              <a:t>مــمــا تــتــألــف </a:t>
            </a:r>
            <a:r>
              <a:rPr lang="ar-DZ" sz="4400" b="1" dirty="0" smtClean="0"/>
              <a:t>الــبَـــرْمَــجَـــيـــات </a:t>
            </a:r>
            <a:r>
              <a:rPr lang="ar-DZ" sz="4400" b="1" dirty="0"/>
              <a:t>/ </a:t>
            </a:r>
            <a:r>
              <a:rPr lang="ar-DZ" sz="4400" b="1" dirty="0" smtClean="0"/>
              <a:t>الــبـــرامــج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تـعـــريــف الــبَــرْمَـــجِـــيَـــة 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Programme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858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34256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u="sng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تـــعـــلـــيـــمـــات الــبـــرمـــجـــيــــات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مـعــالـجـة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الـبــيــانــات </a:t>
                      </a: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والـتــنـســيـق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بــيـن الـمـهــامِّ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  <a:cs typeface="+mj-cs"/>
              </a:rPr>
              <a:t>CPU</a:t>
            </a:r>
            <a:endParaRPr lang="fr-FR" sz="24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6294" y="491088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الـذاكــرة الـحــيـة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RAM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42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725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509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1860" y="2743913"/>
            <a:ext cx="28925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smtClean="0">
                <a:solidFill>
                  <a:srgbClr val="0070C0"/>
                </a:solidFill>
                <a:cs typeface="+mj-cs"/>
              </a:rPr>
              <a:t>تــنــفـــيـــذهـا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6120" y="3643335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تــلْــوَ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900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1860" y="2743913"/>
            <a:ext cx="28925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smtClean="0">
                <a:solidFill>
                  <a:srgbClr val="0070C0"/>
                </a:solidFill>
                <a:cs typeface="+mj-cs"/>
              </a:rPr>
              <a:t>تــنــفـــيـــذهـا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6120" y="3643335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تــلْــوَ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1860" y="3715343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الـتــنــســيــق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536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الـمــشــكــلــة  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Problème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بــيـن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الإشــكــالـــيــة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/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الــمـــشــكـــلــة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عَــــرِّفْ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الــمـــشــكـــلــة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الـمــشــكــلــة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804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825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5818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491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6846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172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0056" y="4943815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الـوُصُـولِ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730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400256" y="1308216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9856" y="131206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0056" y="4943815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الـوُصُـولِ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1818" y="497071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فَــوْرِيَــةٍ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417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الـمــشــكــلــة –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أو</a:t>
            </a:r>
            <a:r>
              <a:rPr lang="ar-DZ" sz="4000" baseline="-25000" dirty="0" smtClean="0">
                <a:solidFill>
                  <a:srgbClr val="002060"/>
                </a:solidFill>
              </a:rPr>
              <a:t> 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بَــلْ عَــلَــيْــهِــمْ بَـــذْلُ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للـوُصُــولِ إِلَـى </a:t>
            </a:r>
            <a:r>
              <a:rPr lang="ar-DZ" sz="4000" b="1" dirty="0">
                <a:solidFill>
                  <a:srgbClr val="002060"/>
                </a:solidFill>
              </a:rPr>
              <a:t>الـحــلِّ، </a:t>
            </a:r>
            <a:r>
              <a:rPr lang="ar-DZ" sz="4000" b="1" dirty="0" smtClean="0">
                <a:solidFill>
                  <a:srgbClr val="002060"/>
                </a:solidFill>
              </a:rPr>
              <a:t>أَيْ </a:t>
            </a:r>
            <a:r>
              <a:rPr lang="ar-DZ" sz="4000" b="1" dirty="0">
                <a:solidFill>
                  <a:srgbClr val="002060"/>
                </a:solidFill>
              </a:rPr>
              <a:t>أنَّ </a:t>
            </a:r>
            <a:r>
              <a:rPr lang="ar-DZ" sz="4000" b="1" dirty="0" smtClean="0">
                <a:solidFill>
                  <a:srgbClr val="002060"/>
                </a:solidFill>
              </a:rPr>
              <a:t>الـفَـــرْدَ يُـجَــاهِـــدُ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الـحــلِّ » [ </a:t>
            </a:r>
            <a:r>
              <a:rPr lang="ar-DZ" sz="4000" b="1" dirty="0" smtClean="0">
                <a:solidFill>
                  <a:srgbClr val="FF0000"/>
                </a:solidFill>
              </a:rPr>
              <a:t>حـسـن </a:t>
            </a:r>
            <a:r>
              <a:rPr lang="ar-DZ" sz="4000" b="1" dirty="0">
                <a:solidFill>
                  <a:srgbClr val="FF0000"/>
                </a:solidFill>
              </a:rPr>
              <a:t>الـحـسـيـن </a:t>
            </a:r>
            <a:r>
              <a:rPr lang="ar-DZ" sz="4000" b="1" dirty="0" smtClean="0">
                <a:solidFill>
                  <a:srgbClr val="FF0000"/>
                </a:solidFill>
              </a:rPr>
              <a:t>زيـتـون </a:t>
            </a:r>
            <a:r>
              <a:rPr lang="ar-DZ" sz="4000" b="1" dirty="0">
                <a:solidFill>
                  <a:srgbClr val="002060"/>
                </a:solidFill>
              </a:rPr>
              <a:t>]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845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الـمــشــكــلــة –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أو</a:t>
            </a:r>
            <a:r>
              <a:rPr lang="ar-DZ" sz="4000" baseline="-25000" dirty="0" smtClean="0">
                <a:solidFill>
                  <a:srgbClr val="002060"/>
                </a:solidFill>
              </a:rPr>
              <a:t> 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بَــلْ عَــلَــيْــهِــمْ بَـــذْلُ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للـوُصُــولِ إِلَـى </a:t>
            </a:r>
            <a:r>
              <a:rPr lang="ar-DZ" sz="4000" b="1" dirty="0">
                <a:solidFill>
                  <a:srgbClr val="002060"/>
                </a:solidFill>
              </a:rPr>
              <a:t>الـحــلِّ، </a:t>
            </a:r>
            <a:r>
              <a:rPr lang="ar-DZ" sz="4000" b="1" dirty="0" smtClean="0">
                <a:solidFill>
                  <a:srgbClr val="002060"/>
                </a:solidFill>
              </a:rPr>
              <a:t>أَيْ </a:t>
            </a:r>
            <a:r>
              <a:rPr lang="ar-DZ" sz="4000" b="1" dirty="0">
                <a:solidFill>
                  <a:srgbClr val="002060"/>
                </a:solidFill>
              </a:rPr>
              <a:t>أنَّ </a:t>
            </a:r>
            <a:r>
              <a:rPr lang="ar-DZ" sz="4000" b="1" dirty="0" smtClean="0">
                <a:solidFill>
                  <a:srgbClr val="002060"/>
                </a:solidFill>
              </a:rPr>
              <a:t>الـفَـــرْدَ يُـجَــاهِـــدُ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الـحــلِّ » [ </a:t>
            </a:r>
            <a:r>
              <a:rPr lang="ar-DZ" sz="4000" b="1" dirty="0" smtClean="0">
                <a:solidFill>
                  <a:srgbClr val="FF0000"/>
                </a:solidFill>
              </a:rPr>
              <a:t>حـسـن </a:t>
            </a:r>
            <a:r>
              <a:rPr lang="ar-DZ" sz="4000" b="1" dirty="0">
                <a:solidFill>
                  <a:srgbClr val="FF0000"/>
                </a:solidFill>
              </a:rPr>
              <a:t>الـحـسـيـن </a:t>
            </a:r>
            <a:r>
              <a:rPr lang="ar-DZ" sz="4000" b="1" dirty="0" smtClean="0">
                <a:solidFill>
                  <a:srgbClr val="FF0000"/>
                </a:solidFill>
              </a:rPr>
              <a:t>زيـتـون </a:t>
            </a:r>
            <a:r>
              <a:rPr lang="ar-DZ" sz="4000" b="1" dirty="0">
                <a:solidFill>
                  <a:srgbClr val="002060"/>
                </a:solidFill>
              </a:rPr>
              <a:t>]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796516" y="1811453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جُــهْــد مَــعَـــارِفِــي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6516" y="2827178"/>
            <a:ext cx="2562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للـحــصــول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472264" y="181145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رُوتِـيــنِــيَــة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6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مـفــهـــوم الـمــشــكــلــة  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Problème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/>
              <a:t>مــاذا تُــمَــثِّــلُ صــيــاغــة حـــل </a:t>
            </a:r>
            <a:r>
              <a:rPr lang="ar-SA" sz="4400" b="1" dirty="0"/>
              <a:t>مــشــكــلــة ؟ ومـمـا تـتـألــف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.2 صــيـــاغــة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حـــل مــشــكــلــة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05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 صــيـــاغــة حـــل  </a:t>
            </a:r>
            <a:r>
              <a:rPr lang="ar-DZ" sz="5400" b="1" dirty="0" smtClean="0">
                <a:solidFill>
                  <a:srgbClr val="00B050"/>
                </a:solidFill>
              </a:rPr>
              <a:t>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صــيـــاغـــة حـــل مـــشـــكـــلـــة </a:t>
            </a:r>
            <a:r>
              <a:rPr lang="ar-DZ" sz="4000" b="1" dirty="0">
                <a:solidFill>
                  <a:srgbClr val="002060"/>
                </a:solidFill>
              </a:rPr>
              <a:t>مــا هــو إلا </a:t>
            </a:r>
            <a:r>
              <a:rPr lang="ar-DZ" sz="4000" b="1" dirty="0" smtClean="0">
                <a:solidFill>
                  <a:srgbClr val="002060"/>
                </a:solidFill>
              </a:rPr>
              <a:t>تــحـــديـــد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للــوصـول 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الـحــل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0703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 صــيـــاغــة حـــل  </a:t>
            </a:r>
            <a:r>
              <a:rPr lang="ar-DZ" sz="5400" b="1" dirty="0" smtClean="0">
                <a:solidFill>
                  <a:srgbClr val="00B050"/>
                </a:solidFill>
              </a:rPr>
              <a:t>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صــيـــاغـــة حـــل مـــشـــكـــلـــة </a:t>
            </a:r>
            <a:r>
              <a:rPr lang="ar-DZ" sz="4000" b="1" dirty="0">
                <a:solidFill>
                  <a:srgbClr val="002060"/>
                </a:solidFill>
              </a:rPr>
              <a:t>مــا هــو إلا </a:t>
            </a:r>
            <a:r>
              <a:rPr lang="ar-DZ" sz="4000" b="1" dirty="0" smtClean="0">
                <a:solidFill>
                  <a:srgbClr val="002060"/>
                </a:solidFill>
              </a:rPr>
              <a:t>تــحـــديـــد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للــوصـول 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الـحــل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655840" y="2749837"/>
            <a:ext cx="21962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اِتِّــبَــاعُــهــا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8288" y="2779239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الـخــطــوات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648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يـتـمُّ 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2526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يـتـمُّ 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60858" y="4149080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صَــحِـــيـــحًــا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98967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يـتـمُّ 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60858" y="4149080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صَــحِـــيـــحًــا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01154" y="5073426"/>
            <a:ext cx="32127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نَــتَــخَــيَــلُــهَــا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5010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788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552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68208" y="3630295"/>
            <a:ext cx="17733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إِهْــمَــالُ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38470" y="3630294"/>
            <a:ext cx="1849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173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68208" y="3630295"/>
            <a:ext cx="17733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إِهْــمَــالُ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99505" y="4635321"/>
            <a:ext cx="180020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جُـــزْئِــيٍّ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38470" y="3630294"/>
            <a:ext cx="1849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6822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8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شـــرح فــهــم الـســـؤال نــصــف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الـجــواب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الـفــهــم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الـدقــيــق والـشــامــل يُــمَــثِّــلُ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نــصــف الـحــلّ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بـحــيــث يـسـمـح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 </a:t>
            </a:r>
            <a:r>
              <a:rPr lang="ar-DZ" sz="4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اســتــنــبــاط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الـمـعــطــيــات الـلازمـة </a:t>
            </a:r>
            <a:r>
              <a:rPr lang="ar-DZ" sz="4400" b="1">
                <a:solidFill>
                  <a:srgbClr val="0070C0"/>
                </a:solidFill>
                <a:cs typeface="+mj-cs"/>
              </a:rPr>
              <a:t>كـمـا </a:t>
            </a:r>
            <a:r>
              <a:rPr lang="ar-DZ" sz="4400" b="1" smtClean="0">
                <a:solidFill>
                  <a:srgbClr val="0070C0"/>
                </a:solidFill>
                <a:cs typeface="+mj-cs"/>
              </a:rPr>
              <a:t>يــتــيــح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لـنـا أيـضـا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إدراك </a:t>
            </a:r>
            <a:r>
              <a:rPr lang="ar-DZ" sz="4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الــنــتــائــج الــمُـــرَادِ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الـوُصــول إلــيــهـا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91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شــرح فــهــم الـســـؤال نــصــف الـجــواب 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والــنــصــف الآخَـــر مـن الـحــلِّ هــو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الاجــتـهـــاد فـي إِيــجـــاد الــعـــمــلــيـــات الــمــنــاســبــة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الَّـتي تــســمــح لــنـا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بـالانــتــقـــال والاســتــفـــادة مـن الــمــعـــطــيـــات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مـن أجــل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بــلــوغ الــنـــتـــائـج الـنـهــائــيـة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endParaRPr lang="ar-DZ" sz="44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391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الـمــراد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5515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371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244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620" y="3458171"/>
            <a:ext cx="66785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الـعـمـلـيـات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الـحـسـابـيـة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والـخـطـوات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الـمـنـطـقـيـة</a:t>
            </a:r>
            <a:endParaRPr lang="fr-FR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717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620" y="3458171"/>
            <a:ext cx="66785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الـعـمـلـيـات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الـحـسـابـيـة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والـخـطـوات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الـمـنـطـقـيـة</a:t>
            </a:r>
            <a:endParaRPr lang="fr-FR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8061" y="4581128"/>
            <a:ext cx="1664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الـنـتـائـج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620" y="4564180"/>
            <a:ext cx="25020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الـوصـول إلـيهـا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001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تَــــــــــوَافُــــــــقُ  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الــــعَــــــــتَــــــــــــــادِ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Hardware</a:t>
            </a:r>
            <a:r>
              <a:rPr lang="ar-DZ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والـــــبَــــــــــــــَرامـِـــــــــــج  </a:t>
            </a:r>
            <a:r>
              <a:rPr lang="en-US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Software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endParaRPr lang="ar-DZ" sz="3800" baseline="-25000" dirty="0" smtClean="0">
              <a:solidFill>
                <a:srgbClr val="C0000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ar-DZ" sz="3800" baseline="-25000" dirty="0">
              <a:solidFill>
                <a:srgbClr val="C00000"/>
              </a:solidFill>
              <a:cs typeface="+mj-cs"/>
            </a:endParaRPr>
          </a:p>
          <a:p>
            <a:pPr marL="1612900" indent="0" algn="just" rtl="1">
              <a:lnSpc>
                <a:spcPct val="165000"/>
              </a:lnSpc>
              <a:buNone/>
            </a:pPr>
            <a:endParaRPr lang="ar-DZ" sz="3800" baseline="-25000" dirty="0" smtClean="0">
              <a:solidFill>
                <a:srgbClr val="C00000"/>
              </a:solidFill>
              <a:cs typeface="+mj-cs"/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33" y="274638"/>
            <a:ext cx="8723326" cy="604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0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25/11/2024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لـديـنـا الـمـعــادلــة مـن </a:t>
            </a:r>
            <a:r>
              <a:rPr lang="ar-DZ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الـدرجــة </a:t>
            </a: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الأولـى  : 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 + b =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0</a:t>
            </a:r>
            <a:r>
              <a:rPr lang="ar-DZ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 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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 هـي الـخــطــوات الـلازم اتِّــبـــاعــهـا لـحــلِّ هــذه الــمــعـــادلــة ؟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ومـا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الـوســيــلـة الَّـتي بـإمـكــانــنــا اســتــعــمــالـهـا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لــتــمــثــيــل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الـخــطــوات بَــيَــانِــيًــا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620" y="3458171"/>
            <a:ext cx="66785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الـعـمـلـيـات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الـحـسـابـيـة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والـخـطـوات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الـمـنـطـقـيـة</a:t>
            </a:r>
            <a:endParaRPr lang="fr-FR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8061" y="4581128"/>
            <a:ext cx="1664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الـنـتـائـج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620" y="4564180"/>
            <a:ext cx="25020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الـوصـول إلـيهـا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80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9509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753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6304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83432" y="3242290"/>
            <a:ext cx="90730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1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7" grpId="0" animBg="1"/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83432" y="3242290"/>
            <a:ext cx="90730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5258344"/>
            <a:ext cx="6624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400" b="1" dirty="0">
                <a:solidFill>
                  <a:srgbClr val="00B050"/>
                </a:solidFill>
              </a:rPr>
              <a:t>الــمُــخَـــطَّـــطَ الاِنْــسِــــيَــــابِــي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132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7" grpId="0" animBg="1"/>
      <p:bldP spid="9" grpId="0" animBg="1"/>
      <p:bldP spid="10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الــمُــخَـــطَّـــطَ الاِنْــسِــــيَــــابِــي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الـمـجـال </a:t>
            </a:r>
            <a:r>
              <a:rPr lang="ar-DZ" altLang="zh-CN" sz="3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الـتَـعَــلُــمِـي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: </a:t>
            </a:r>
            <a:r>
              <a:rPr lang="ar-DZ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25/11/2024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Organigramme ( LARP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الـمُــخَــطَّــط الانــســـيـــابـي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عـــرِّفْ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 الانــســيــابـي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24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951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6" grpId="0" uiExpand="1" animBg="1"/>
      <p:bldP spid="7" grpId="0" uiExpand="1" animBg="1"/>
      <p:bldP spid="8" grpId="0" uiExpand="1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يــتــألــف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الــمُــخَــطَّــط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الانــســـيـــابـي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527424" y="3140968"/>
            <a:ext cx="4104456" cy="17405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037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يــتــألــف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الــمُــخَــطَّــط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الانــســـيـــابـي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527424" y="3140968"/>
            <a:ext cx="4104456" cy="17405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أشـــكــــال هــنــدســيــة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825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تـحــتــوي هــذه الأشــكــال الـمــوجــودة في الــمُـخَـطَّــط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479376" y="3658595"/>
            <a:ext cx="4176464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 الـمــســألــة :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X + b = 0</a:t>
            </a:r>
            <a:endParaRPr lang="ar-DZ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69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760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تـحــتــوي هــذه الأشــكــال الـمــوجــودة في الــمُـخَـطَّــط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479376" y="3645024"/>
            <a:ext cx="4176464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خـطـوات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</a:t>
            </a: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الـمــســألــة :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X + b = 0</a:t>
            </a:r>
            <a:endParaRPr lang="ar-DZ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440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33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959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3911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الـغــايــة مـن اســتــعــمـال الأسـهـم فـي الـمـخــطــط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5135814"/>
            <a:ext cx="4176464" cy="122053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8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>
                <a:solidFill>
                  <a:srgbClr val="FF0000"/>
                </a:solidFill>
              </a:rPr>
              <a:t>مــا هـي الـغــايــة مـن اســتــعــمـال الأسـهـم فـي الـمـخــطــط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4797152"/>
            <a:ext cx="4176464" cy="134317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تُـبَـيِّـنُ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تَـسَـلْـسُـلَ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خـطـوات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الـمـسـألـة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585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6215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257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: 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X + b =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صـحــيــحًــا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240016" y="3068178"/>
            <a:ext cx="5031496" cy="32881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52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: 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صـحــيــحًــا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240016" y="3068178"/>
            <a:ext cx="5031496" cy="32881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إِذَا كَــانَ 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مَــعْــدُومًــا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فَـإنَّـهُ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يُـمْـكِـنُ إِنْــجَــازُ هـــذه الـعــمــلــيــة :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=  - b / a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79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X + b = 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84536" y="3789041"/>
            <a:ext cx="4176464" cy="235128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</a:t>
            </a:r>
            <a:endParaRPr lang="fr-FR" sz="40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442351" y="2924945"/>
            <a:ext cx="5170892" cy="331236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الـعـدديـن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مـعـــدومــيــن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فــمـا هـي حــلـول الــمــســألــة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FF0000"/>
                </a:solidFill>
              </a:rPr>
              <a:t> a </a:t>
            </a:r>
            <a:r>
              <a:rPr lang="fr-FR" b="1" dirty="0">
                <a:solidFill>
                  <a:srgbClr val="FF0000"/>
                </a:solidFill>
              </a:rPr>
              <a:t>X + b = </a:t>
            </a:r>
            <a:r>
              <a:rPr lang="fr-FR" b="1" dirty="0" smtClean="0">
                <a:solidFill>
                  <a:srgbClr val="FF0000"/>
                </a:solidFill>
              </a:rPr>
              <a:t>0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225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ســؤال 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3429000"/>
            <a:ext cx="3960440" cy="27113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جــزئـي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ولـيـس حَــلًا شَـامِـلًا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704538" y="2924944"/>
            <a:ext cx="4720054" cy="321538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مَـعْــدُومَـيْـنِ فــإِنَّ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كُــلَّ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عَـــدَدٍ حــقــيــقـي هــو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حــل لـهــذه الـمـسـألـة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059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691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400" b="1" u="sng" dirty="0" smtClean="0">
                <a:solidFill>
                  <a:srgbClr val="FF0000"/>
                </a:solidFill>
                <a:cs typeface="+mj-cs"/>
              </a:rPr>
              <a:t>حــل الـمـســألــة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400" b="1" dirty="0">
                <a:solidFill>
                  <a:srgbClr val="FF0000"/>
                </a:solidFill>
                <a:cs typeface="+mj-cs"/>
              </a:rPr>
              <a:t>X + b = 0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</a:t>
            </a:r>
            <a:r>
              <a:rPr lang="fr-FR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0 )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صـحـيـحـا وشـامـلا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4077072"/>
            <a:ext cx="3960440" cy="206325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حَــلًا</a:t>
            </a:r>
            <a:r>
              <a:rPr lang="fr-FR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ص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ـح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ـح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وَشَــامِـــلًا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704538" y="3711320"/>
            <a:ext cx="4720054" cy="2645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غـيـر مَــعْـــدُومًــا فــإن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الـمـسـألـة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تـقـبـل حــلا واحــدا : </a:t>
            </a:r>
            <a:r>
              <a:rPr lang="fr-FR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-b/a</a:t>
            </a:r>
          </a:p>
        </p:txBody>
      </p:sp>
    </p:spTree>
    <p:extLst>
      <p:ext uri="{BB962C8B-B14F-4D97-AF65-F5344CB8AC3E}">
        <p14:creationId xmlns:p14="http://schemas.microsoft.com/office/powerpoint/2010/main" val="290796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831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4339422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الـحُـلُـول الـمُــمْــكِــنَــة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964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إنــشـــاء الـمُــخَــطَّــط الانــســـيـــابـي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كــيــف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نُــنْــشِـئْ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 الانــســيــابـي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01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860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744072" y="210371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تَـحْــلِــيــلِ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5400" y="2108964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تَـحْــدِيــدِ عَــنَــاصِـرِهَـا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509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744072" y="210371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تَـحْــلِــيــلِ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5400" y="2108964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تَـحْــدِيــدِ عَــنَــاصِـرِهَـا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23592" y="3308658"/>
            <a:ext cx="50405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الأَشْــكَــالَ الـهَــنْــدَسِـــيَــة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5334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1.2 تـحــلــيــل الـمــســـألــة وتـحــديـــد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عـــنـــاصــرهــا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حَــدِّدْ خُـــطُـــوَاتِ حَــل مَــسْـــأَلَــة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173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( 1.2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تَـحْــلِــيــلُ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الـمَــسْــأَلَــةِ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وَتَـحْــدِيـــدِ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عَـــنَــاصِــرِهَــا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064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558" y="1341350"/>
            <a:ext cx="69847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ُـ</a:t>
            </a:r>
            <a:r>
              <a:rPr lang="ar-SA" sz="4000" b="1" dirty="0" smtClean="0">
                <a:solidFill>
                  <a:srgbClr val="00B050"/>
                </a:solidFill>
              </a:rPr>
              <a:t>ـد</a:t>
            </a:r>
            <a:r>
              <a:rPr lang="ar-DZ" sz="4000" b="1" dirty="0" smtClean="0">
                <a:solidFill>
                  <a:srgbClr val="00B050"/>
                </a:solidFill>
              </a:rPr>
              <a:t>ْ</a:t>
            </a:r>
            <a:r>
              <a:rPr lang="ar-SA" sz="4000" b="1" dirty="0" smtClean="0">
                <a:solidFill>
                  <a:srgbClr val="00B050"/>
                </a:solidFill>
              </a:rPr>
              <a:t>خ</a:t>
            </a:r>
            <a:r>
              <a:rPr lang="ar-DZ" sz="4000" b="1" dirty="0" smtClean="0">
                <a:solidFill>
                  <a:srgbClr val="00B050"/>
                </a:solidFill>
              </a:rPr>
              <a:t>َــ</a:t>
            </a:r>
            <a:r>
              <a:rPr lang="ar-SA" sz="4000" b="1" dirty="0" smtClean="0">
                <a:solidFill>
                  <a:srgbClr val="00B050"/>
                </a:solidFill>
              </a:rPr>
              <a:t>ـل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ات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 ا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س</a:t>
            </a:r>
            <a:r>
              <a:rPr lang="ar-DZ" sz="4000" b="1" dirty="0" smtClean="0">
                <a:solidFill>
                  <a:srgbClr val="00B050"/>
                </a:solidFill>
              </a:rPr>
              <a:t>ْـ</a:t>
            </a:r>
            <a:r>
              <a:rPr lang="ar-SA" sz="4000" b="1" dirty="0" smtClean="0">
                <a:solidFill>
                  <a:srgbClr val="00B050"/>
                </a:solidFill>
              </a:rPr>
              <a:t>ـت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ـ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ع</a:t>
            </a:r>
            <a:r>
              <a:rPr lang="ar-DZ" sz="4000" b="1" dirty="0" smtClean="0">
                <a:solidFill>
                  <a:srgbClr val="00B050"/>
                </a:solidFill>
              </a:rPr>
              <a:t>ْــ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َـ</a:t>
            </a:r>
            <a:r>
              <a:rPr lang="ar-SA" sz="4000" b="1" dirty="0" smtClean="0">
                <a:solidFill>
                  <a:srgbClr val="00B050"/>
                </a:solidFill>
              </a:rPr>
              <a:t>ـال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ـه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075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271464" y="2861313"/>
            <a:ext cx="9865096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ar-DZ" sz="2000" b="1" dirty="0" smtClean="0">
              <a:solidFill>
                <a:srgbClr val="0070C0"/>
              </a:solidFill>
              <a:cs typeface="+mj-cs"/>
            </a:endParaRP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نُـحَــدِّدُ 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الـمُـعْــطَــيَــات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الَّـتِي تَــتِــمُّ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قِـــرَاءَتُــهَـا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وإِدْخَـــالُــهَـا ( مِــنْ خِــلالِ لَـــوْحَــةِ الــمَـــفَـــاتِـــيــحِ )</a:t>
            </a:r>
            <a:endParaRPr lang="fr-FR" sz="4400" b="1" dirty="0" smtClean="0">
              <a:solidFill>
                <a:srgbClr val="0070C0"/>
              </a:solidFill>
              <a:cs typeface="+mj-cs"/>
            </a:endParaRPr>
          </a:p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558" y="1341350"/>
            <a:ext cx="69847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ُـ</a:t>
            </a:r>
            <a:r>
              <a:rPr lang="ar-SA" sz="4000" b="1" dirty="0" smtClean="0">
                <a:solidFill>
                  <a:srgbClr val="00B050"/>
                </a:solidFill>
              </a:rPr>
              <a:t>ـد</a:t>
            </a:r>
            <a:r>
              <a:rPr lang="ar-DZ" sz="4000" b="1" dirty="0" smtClean="0">
                <a:solidFill>
                  <a:srgbClr val="00B050"/>
                </a:solidFill>
              </a:rPr>
              <a:t>ْ</a:t>
            </a:r>
            <a:r>
              <a:rPr lang="ar-SA" sz="4000" b="1" dirty="0" smtClean="0">
                <a:solidFill>
                  <a:srgbClr val="00B050"/>
                </a:solidFill>
              </a:rPr>
              <a:t>خ</a:t>
            </a:r>
            <a:r>
              <a:rPr lang="ar-DZ" sz="4000" b="1" dirty="0" smtClean="0">
                <a:solidFill>
                  <a:srgbClr val="00B050"/>
                </a:solidFill>
              </a:rPr>
              <a:t>َــ</a:t>
            </a:r>
            <a:r>
              <a:rPr lang="ar-SA" sz="4000" b="1" dirty="0" smtClean="0">
                <a:solidFill>
                  <a:srgbClr val="00B050"/>
                </a:solidFill>
              </a:rPr>
              <a:t>ـل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ات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 ا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س</a:t>
            </a:r>
            <a:r>
              <a:rPr lang="ar-DZ" sz="4000" b="1" dirty="0" smtClean="0">
                <a:solidFill>
                  <a:srgbClr val="00B050"/>
                </a:solidFill>
              </a:rPr>
              <a:t>ْـ</a:t>
            </a:r>
            <a:r>
              <a:rPr lang="ar-SA" sz="4000" b="1" dirty="0" smtClean="0">
                <a:solidFill>
                  <a:srgbClr val="00B050"/>
                </a:solidFill>
              </a:rPr>
              <a:t>ـت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ـ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ع</a:t>
            </a:r>
            <a:r>
              <a:rPr lang="ar-DZ" sz="4000" b="1" dirty="0" smtClean="0">
                <a:solidFill>
                  <a:srgbClr val="00B050"/>
                </a:solidFill>
              </a:rPr>
              <a:t>ْــ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َـ</a:t>
            </a:r>
            <a:r>
              <a:rPr lang="ar-SA" sz="4000" b="1" dirty="0" smtClean="0">
                <a:solidFill>
                  <a:srgbClr val="00B050"/>
                </a:solidFill>
              </a:rPr>
              <a:t>ـال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ـه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292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63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5592" y="1324791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ـعَــمَــلِــيَــاتُ</a:t>
            </a:r>
            <a:r>
              <a:rPr lang="ar-SA" sz="4000" b="1" dirty="0" smtClean="0">
                <a:solidFill>
                  <a:srgbClr val="00B050"/>
                </a:solidFill>
              </a:rPr>
              <a:t>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إِنْـجَــازُهَــا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48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27448" y="2861313"/>
            <a:ext cx="10009112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نُـحَــدِّدُ فِــيـهَـا الـعَــمَـلِــيَــات (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الـحِــسَــابِــيَــة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/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الـمَـنْـطِــقِــيَــة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) الَّـتِي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نَــتَــعَــامَــلُ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مَـنْ خِــلالِــهَـا مَـعَ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مُــعْــطَــيَــاتِ الـخُــطْــوَةِ 1 </a:t>
            </a:r>
            <a:endParaRPr lang="fr-FR" sz="3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5592" y="1324791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ـعَــمَــلِــيَــاتُ</a:t>
            </a:r>
            <a:r>
              <a:rPr lang="ar-SA" sz="4000" b="1" dirty="0" smtClean="0">
                <a:solidFill>
                  <a:srgbClr val="00B050"/>
                </a:solidFill>
              </a:rPr>
              <a:t>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إِنْـجَــازُهَــا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309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0922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8936" y="1381943"/>
            <a:ext cx="7158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  <a:cs typeface="+mj-cs"/>
              </a:rPr>
              <a:t>ا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لـمُـخْــرَجَــات الـمُـــرَادُ الـحُـصُـولُ عَـلَـيْـهَـا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198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27448" y="2861313"/>
            <a:ext cx="10009112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نُـبْــرِزُ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نُـظْـهِـرُ 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الــنَــتَــائِـجَ الـمَـطْــلُــوبَـة </a:t>
            </a: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تُــمَــثِّــلُ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بُــلُــوغَ الـهَــدَفِ</a:t>
            </a:r>
            <a:endParaRPr lang="fr-FR" sz="44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8936" y="1381943"/>
            <a:ext cx="7158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  <a:cs typeface="+mj-cs"/>
              </a:rPr>
              <a:t>ا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لـمُـخْــرَجَــات الـمُـــرَادُ الـحُـصُـولُ عَـلَـيْـهَـا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416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2.2 -  مُــكَــوِنَـــات الــمُــخَــطَّــط الاِنْــسِـــيَـــابِـي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أَكْــمِــلْ الـجَــدْوَلَ الــتَــالِـي 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فَــمــاذا تَــسْــتَــنْــتِــجْ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630599" y="3988172"/>
            <a:ext cx="2160000" cy="520948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7" name="Organigramme : Données 15"/>
          <p:cNvSpPr/>
          <p:nvPr/>
        </p:nvSpPr>
        <p:spPr>
          <a:xfrm>
            <a:off x="5231903" y="4009533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Organigramme : Données 15"/>
          <p:cNvSpPr/>
          <p:nvPr/>
        </p:nvSpPr>
        <p:spPr>
          <a:xfrm>
            <a:off x="2207568" y="3956450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Organigramme : Décision 8"/>
          <p:cNvSpPr/>
          <p:nvPr/>
        </p:nvSpPr>
        <p:spPr>
          <a:xfrm>
            <a:off x="5535495" y="4887858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0" name="Connecteur droit 9"/>
          <p:cNvCxnSpPr/>
          <p:nvPr/>
        </p:nvCxnSpPr>
        <p:spPr>
          <a:xfrm flipH="1">
            <a:off x="8810599" y="5384533"/>
            <a:ext cx="1800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rganigramme : Connecteur 10"/>
          <p:cNvSpPr/>
          <p:nvPr/>
        </p:nvSpPr>
        <p:spPr>
          <a:xfrm>
            <a:off x="2986400" y="5181144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047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يــتـمُ تــمــثــيــل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بـ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داي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ـة / </a:t>
            </a:r>
            <a:r>
              <a:rPr lang="ar-SA" sz="3600" b="1" dirty="0" smtClean="0">
                <a:solidFill>
                  <a:srgbClr val="FF0000"/>
                </a:solidFill>
              </a:rPr>
              <a:t>نـه</a:t>
            </a:r>
            <a:r>
              <a:rPr lang="ar-DZ" sz="3600" b="1" dirty="0" smtClean="0">
                <a:solidFill>
                  <a:srgbClr val="FF0000"/>
                </a:solidFill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</a:rPr>
              <a:t>ـاي</a:t>
            </a:r>
            <a:r>
              <a:rPr lang="ar-DZ" sz="3600" b="1" dirty="0" smtClean="0">
                <a:solidFill>
                  <a:srgbClr val="FF0000"/>
                </a:solidFill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</a:rPr>
              <a:t>ـة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 الـمـخـطـط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بَــيَــانِــيًــا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961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كـيـف يــتـمُ تــمــثــيــل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بـ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داي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ـة / </a:t>
            </a:r>
            <a:r>
              <a:rPr lang="ar-SA" sz="3600" b="1" dirty="0">
                <a:solidFill>
                  <a:srgbClr val="FF0000"/>
                </a:solidFill>
              </a:rPr>
              <a:t>نـه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SA" sz="3600" b="1" dirty="0">
                <a:solidFill>
                  <a:srgbClr val="FF0000"/>
                </a:solidFill>
              </a:rPr>
              <a:t>ـاي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SA" sz="3600" b="1" dirty="0">
                <a:solidFill>
                  <a:srgbClr val="FF0000"/>
                </a:solidFill>
              </a:rPr>
              <a:t>ـة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الـمـخـطـط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بَــيَــانِــيًــا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839416" y="2780928"/>
            <a:ext cx="4032448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خـــلال</a:t>
            </a:r>
            <a:endParaRPr lang="ar-SA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None/>
            </a:pPr>
            <a:r>
              <a:rPr lang="ar-SA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ـك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</a:t>
            </a:r>
            <a:r>
              <a:rPr lang="ar-SA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ـض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274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</a:t>
            </a: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مُــكَــوِنَـــات الــمُــخَــطَّــط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30514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16" grpId="0" animBg="1"/>
      <p:bldP spid="17" grpId="0" animBg="1"/>
      <p:bldP spid="1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14939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يــتـمُ تــمــثــيــل الـمُــدْخَــلَاتِ والـمُـخْــرَجَــاتِ بَــيَــانِـيًـا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572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كـيـف يــتـمُ تــمــثــيــل الـمُــدْخَــلَاتِ والـمُـخْــرَجَــاتِ بَــيَــانِـيًـا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مــن خـ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ـلال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مـتـوازي أضـلاع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965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الـمُــدْخَــلَات والـمُـخْــرَجَــات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271464" y="3098721"/>
            <a:ext cx="9505055" cy="13383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لـهـمـا 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الـشـكـل الـهـنـدسـي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يـكـمـن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الـفَــرْقُ فـي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الـشـكــل الـهـنـدسـي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059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الـمُــدْخَــلَات والـمُـخْــرَجَــات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271464" y="3098721"/>
            <a:ext cx="9505055" cy="13383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لـهـمـا  نـفـس الـشـكـل الـهـنـدسـي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يـكـمـن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الـفَــرْقُ فـي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مـحـتـوى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الـشـكــل الـهـنـدسـي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7001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2996952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الــشــكــل الـهــنــدســي لـلــمُــدْخَـــلَات يَــتَـضَـمَـنُ الـتـعـلـيـمـة 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 (entrée1, entrée2, … 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385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3008568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الــشـكــل الـهــنــدسـي لـلـمُـخْــرَجَـــات يَــتَـضَـمَـنُ الـتـعــلــيـمـة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Ecrire (sortie1, sortie2, … 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105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3008568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الــشـكــل الـهــنــدسـي لـلـمُـخْــرَجَـــات يَــتَـضَـمَـنُ الـتـعــلــيـمـة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Ecrire (sortie)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397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5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مُــكَــوِنَـــات الــمُــخَــطَّــط الاِنْــسِـــيَـــابِـي </a:t>
            </a:r>
            <a:r>
              <a:rPr lang="ar-DZ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5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00755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573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  <p:bldP spid="1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840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64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3" grpId="0" animBg="1"/>
      <p:bldP spid="1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940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9" grpId="0" animBg="1"/>
      <p:bldP spid="1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9600" y="4795463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نـقـطـة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تَـوْصِـيـل بَـيْـنَ أَجْــزَاءِ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الـمُـخَـطَّــطِ الانْـسِـيَــابِـي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670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3" grpId="0" animBg="1"/>
      <p:bldP spid="19" grpId="0" animBg="1"/>
      <p:bldP spid="16" grpId="0" animBg="1"/>
      <p:bldP spid="1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نـــشـــاط 5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حــســاب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مــســاحــة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ومـحــيــط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مــســتــطــيــل طــولــه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وعـــرضــه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ارْسُـــمْ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الــمُــخَــطَّــطَ الاِنْــسِـــيَــابِـي الـمُــوَافِـــقَ لَـهَـا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7212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15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813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83432" y="1487197"/>
            <a:ext cx="9937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الـطـــول والـعـــرض 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3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, Y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818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1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83432" y="1487197"/>
            <a:ext cx="9937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الـطـــول والـعـــرض 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3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, Y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252285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عـــمــلــيـــات الــمــعـــالــجــة  :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S = ( X * Y )    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1398" y="3417501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P = ( X + Y ) * 2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202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نـــشـــاط 5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حـــســـاب مـــســـاحـــة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ومـحــيــط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دائـــرة نــصــف قــطـــرهــا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73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7938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570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7447" y="1442106"/>
            <a:ext cx="9703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نــصــف الـقُـــطْـــر  (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R 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130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  <p:bldP spid="9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127447" y="1442106"/>
            <a:ext cx="9703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نــصــف الـقُـــطْـــر  (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R 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2503524"/>
            <a:ext cx="97031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عـــمــلــيـــات الــمــعــالــجــة  :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S = </a:t>
            </a:r>
            <a:r>
              <a:rPr lang="el-GR" sz="4000" b="1" dirty="0">
                <a:solidFill>
                  <a:srgbClr val="0070C0"/>
                </a:solidFill>
              </a:rPr>
              <a:t>π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* R * R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5414" y="3398167"/>
            <a:ext cx="97031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        P = </a:t>
            </a:r>
            <a:r>
              <a:rPr lang="fr-FR" sz="4000" b="1" dirty="0">
                <a:solidFill>
                  <a:srgbClr val="0070C0"/>
                </a:solidFill>
              </a:rPr>
              <a:t>2 * </a:t>
            </a:r>
            <a:r>
              <a:rPr lang="el-GR" sz="4000" b="1" dirty="0">
                <a:solidFill>
                  <a:srgbClr val="0070C0"/>
                </a:solidFill>
              </a:rPr>
              <a:t>π</a:t>
            </a:r>
            <a:r>
              <a:rPr lang="fr-FR" sz="4000" b="1" dirty="0">
                <a:solidFill>
                  <a:srgbClr val="0070C0"/>
                </a:solidFill>
              </a:rPr>
              <a:t> * R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85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7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تـعــيــيــن الـقــيــمـة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الـمــطــلــقـة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للـعـــدد الـحـــقـــيـــقـي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ثُــمَ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679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8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أكــبــر قــيــمـة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(Max1) </a:t>
            </a:r>
            <a:r>
              <a:rPr lang="ar-DZ" sz="4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وأصـغــر قــيـ</a:t>
            </a:r>
            <a:r>
              <a:rPr lang="ar-DZ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sz="4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مـة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(Min1)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بــيـن الـعــدديــن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06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</a:t>
            </a:r>
            <a:r>
              <a:rPr lang="fr-FR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الـتـحــقــق اذا كــان الـعــددان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مـن نـفـس الإشــارة أَوْ مُـخْـتَـلِـفَـيْـنِ، عِــلْــمًــا أَنَّـهُــمَــا غــيــر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مَــعْــدُومَــيْــنِ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5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851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10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حــلــول الـمـعـــادلــة : </a:t>
            </a:r>
            <a:r>
              <a:rPr lang="fr-FR" sz="4000" b="1" dirty="0"/>
              <a:t>a </a:t>
            </a:r>
            <a:r>
              <a:rPr lang="fr-FR" sz="4000" b="1" dirty="0" smtClean="0"/>
              <a:t>X </a:t>
            </a:r>
            <a:r>
              <a:rPr lang="fr-FR" sz="4000" b="1" dirty="0"/>
              <a:t>+ b = 0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3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مــنــزلـي1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ورقـــة مــزْدَوَجَــة</a:t>
            </a:r>
            <a:r>
              <a:rPr lang="ar-DZ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  (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073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150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الــمُــخَــطَّــط الانــســـيــابـي الـمُــوَافِــق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للــمــســألــة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25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</a:rPr>
              <a:t>لـمـاذا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هــذا الــمُـخَــطَّــط الانــســيــابـي لا يُــوَافِــقُ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الـمــســألــة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X + b =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5157192"/>
            <a:ext cx="4172272" cy="13237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 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7894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0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هــذا الــمُــخَــطَّــط الانــســـيــابـي لا يــوافــق </a:t>
            </a:r>
            <a:r>
              <a:rPr lang="ar-DZ" sz="3200" b="1" u="sng" dirty="0">
                <a:solidFill>
                  <a:srgbClr val="FF0000"/>
                </a:solidFill>
                <a:cs typeface="+mj-cs"/>
              </a:rPr>
              <a:t>الــمــســألــة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0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2567608" y="4005064"/>
            <a:ext cx="6552728" cy="231660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إِذَا كَـانَ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مَـعْــدُومًـا فَـإنَّـهُ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يُـمْـكِـنُ إِنْــجَــازُ هــذه الـعـمـلـيـة</a:t>
            </a: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 = - b / a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10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ســؤال 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هـــذه الــمــســألــة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3429000"/>
            <a:ext cx="3960440" cy="27113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جــزئـي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ولـيـس حَــلًا شَـامِـلًا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704538" y="2924944"/>
            <a:ext cx="4720054" cy="321538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مَـعْــدُومَـيْـنِ فــإِنَّ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كُــلَّ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عَـــدَدٍ حــقــيــقـي هــو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حــل لـهــذه الـمـسـألـة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45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( تـــــابـــع )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10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حــلــول الـمـعـــادلــة : </a:t>
            </a:r>
            <a:r>
              <a:rPr lang="fr-FR" sz="4000" b="1" dirty="0"/>
              <a:t>a </a:t>
            </a:r>
            <a:r>
              <a:rPr lang="fr-FR" sz="4000" b="1" dirty="0" smtClean="0"/>
              <a:t>* X </a:t>
            </a:r>
            <a:r>
              <a:rPr lang="fr-FR" sz="4000" b="1" dirty="0"/>
              <a:t>+ b = 0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3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مــنــزلـي1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ورقـــة مــزْدَوَجَــة</a:t>
            </a:r>
            <a:r>
              <a:rPr lang="ar-DZ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  (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938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نــشــاط 11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/>
              <a:t>تَــتَــبَّـعْ سَــيْــرَ الـمُــخــطَّــط الانــســيــ</a:t>
            </a:r>
            <a:r>
              <a:rPr lang="ar-DZ" sz="4000" b="1" dirty="0"/>
              <a:t>ـ</a:t>
            </a:r>
            <a:r>
              <a:rPr lang="ar-SA" sz="4000" b="1" dirty="0"/>
              <a:t>ابـي الــتــالـي </a:t>
            </a:r>
            <a:r>
              <a:rPr lang="ar-SA" sz="4000" b="1" u="sng" dirty="0"/>
              <a:t>بِــشَــرْحِ كُــلِّ خُــطْــوَةٍ</a:t>
            </a:r>
            <a:r>
              <a:rPr lang="ar-SA" sz="4000" b="1" dirty="0"/>
              <a:t> مِـنْ خُــطُــوَاتِـ</a:t>
            </a:r>
            <a:r>
              <a:rPr lang="ar-DZ" sz="4000" b="1" dirty="0"/>
              <a:t>ـ</a:t>
            </a:r>
            <a:r>
              <a:rPr lang="ar-SA" sz="4000" b="1" dirty="0"/>
              <a:t>ه، ثُــمَ </a:t>
            </a:r>
            <a:r>
              <a:rPr lang="ar-SA" sz="4000" b="1" u="sng" dirty="0"/>
              <a:t>حَـــدِّد الـهـــدف</a:t>
            </a:r>
            <a:r>
              <a:rPr lang="ar-SA" sz="4000" b="1" dirty="0"/>
              <a:t> الــمَــرْجُـــوِ مِــنْـهُ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391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عــمــلــيــة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358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عــمــلــيــة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841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عــمــلــيــة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3174864"/>
            <a:ext cx="995206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الـعـمـلـيـة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الحـسـابـيـة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X+2 )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75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0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عــمــلــيــة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7358" y="4248118"/>
            <a:ext cx="970029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اِتّــخَـــاذ قَــــرار </a:t>
            </a:r>
            <a:r>
              <a:rPr lang="ar-DZ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بـعْــدَ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الـتَّــحَــقُـــقِ مِــنْ الــشــرط   ( </a:t>
            </a: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3174864"/>
            <a:ext cx="995206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الـعـمـلـيـة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الحـسـابـيـة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X+2 )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52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6" grpId="0" animBg="1"/>
      <p:bldP spid="10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9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فــإنَّــهُ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يُـعَــاد تـنـفـيـذ الـخــطــوات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و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3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4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تـحـقـق الـشــرط </a:t>
            </a:r>
            <a:r>
              <a:rPr lang="ar-DZ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)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بـحـيـث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مـا دام الـشــرط مـحــقــقــا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521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2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فَـإنَّـهُ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يُـعَــاد تــنـفــيــذ الـخـطــوات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و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3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4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99656" y="4810872"/>
            <a:ext cx="8280482" cy="11840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للـقـيــمـة 22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</a:t>
            </a:r>
          </a:p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فـيـتـوقـف الـتـنـفــيــذ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ويــكــتــمــل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بـذلـك الـمـخـطـط الاِنـســيــابـي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تـحـقـق الـشــرط </a:t>
            </a:r>
            <a:r>
              <a:rPr lang="ar-DZ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)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بـحـيـث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مـا دام الـشــرط مـحــقــقــا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8820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3" grpId="0" animBg="1"/>
      <p:bldP spid="14" grpId="0" animBg="1"/>
      <p:bldP spid="1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أَوَلًا : نُـحُــدِّدْ الـمُــخْــرَجَـــات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447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57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607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637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09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633375" y="1250770"/>
            <a:ext cx="5400600" cy="22437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فَــهْــم الــمُــخْـــرَجَـــات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يَــسْــمَــحُ بِــتَـحْــدِيـــدِ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الـهَـــدَف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3641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537083" y="4226355"/>
            <a:ext cx="7682160" cy="2000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ثــانِــيًــا : نُـحَــلِّــلَ الـمُـخْــرَجَــات جَــيِــدًا لِــفَـهْــمِــهَــا 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633375" y="1250770"/>
            <a:ext cx="5400600" cy="22437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فَــهْــم الــمُــخْـــرَجَـــات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يَــسْــمَــحُ بِــتَـحْــدِيـــدِ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الـهَـــدَف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5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633375" y="1250770"/>
            <a:ext cx="5400600" cy="22437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فَــهْــم الــمُــخْـــرَجَـــات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يَــسْــمَــحُ بِــتَـحْــدِيـــدِ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الـهَـــدَف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11824" y="3529113"/>
            <a:ext cx="6808633" cy="24482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>
              <a:tabLst>
                <a:tab pos="357188" algn="l"/>
              </a:tabLst>
            </a:pPr>
            <a:r>
              <a:rPr lang="ar-DZ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إِبْـــرَازُ ( إِظْــهَــارُ ) مُــضَــاعَـــفَـــات الـعَـــدَد 2 الأَصْــغَــر أو تُــسَــاوِي 20 مـَـعَ تَــرْتِــيــبِـهَـا تَــرْتِــيــبًـا تَـصَـاعُــدِيًــا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 20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3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2  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25/11/2024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12 )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389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25/11/2024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27280</TotalTime>
  <Words>4757</Words>
  <Application>Microsoft Office PowerPoint</Application>
  <PresentationFormat>Grand écran</PresentationFormat>
  <Paragraphs>1202</Paragraphs>
  <Slides>147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147</vt:i4>
      </vt:variant>
    </vt:vector>
  </HeadingPairs>
  <TitlesOfParts>
    <vt:vector size="161" baseType="lpstr">
      <vt:lpstr>Arial Unicode MS</vt:lpstr>
      <vt:lpstr>宋体</vt:lpstr>
      <vt:lpstr>宋体</vt:lpstr>
      <vt:lpstr>Arial</vt:lpstr>
      <vt:lpstr>Calibri</vt:lpstr>
      <vt:lpstr>Droid Sans Fallback</vt:lpstr>
      <vt:lpstr>FreeSans</vt:lpstr>
      <vt:lpstr>Liberation Serif</vt:lpstr>
      <vt:lpstr>Sakkal Majalla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1. مـفــهـــوم الــبَــرْمَـــجَــة 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1. مـفــهـــوم الــبَــرْمَـــجَــة </vt:lpstr>
      <vt:lpstr>نَـشَــاط 5 : الـمــكــونــات الـداخــلــيــة  (Unité Centrale 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2. مـفــهـــوم الـمــشــكــلــة  Problème 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– تـــابــع )</vt:lpstr>
      <vt:lpstr>أتـذكـر ( 1.2  تـعـــريــف الـمــشــكــلــة – تـــابــع )</vt:lpstr>
      <vt:lpstr>2. مـفــهـــوم الـمــشــكــلــة  Problème </vt:lpstr>
      <vt:lpstr>أتـذكـر ( 2.2  صــيـــاغــة حـــل  مــشــكــلــة )</vt:lpstr>
      <vt:lpstr>أتـذكـر ( 2.2  صــيـــاغــة حـــل  مــشــكــلــة )</vt:lpstr>
      <vt:lpstr>أتـذكـر (  فــهــم الـســؤال نـصـف الـجــواب - الـفــهــم الـدقــيــق )</vt:lpstr>
      <vt:lpstr>أتـذكـر (  فــهــم الـســؤال نـصـف الـجــواب - الـفــهــم الـدقــيــق )</vt:lpstr>
      <vt:lpstr>أتـذكـر (  فــهــم الـســؤال نـصـف الـجــواب - الـفــهــم الـدقــيــق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شـــرح فــهــم الـســـؤال نــصــف الـجــواب )</vt:lpstr>
      <vt:lpstr>أتـذكـر ( شــرح فــهــم الـســـؤال نــصــف الـجــواب  – 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 تَــــــــــوَافُــــــــقُ  الــــعَــــــــتَــــــــــــــادِ  Hardware والـــــبَــــــــــــــَرامـِـــــــــــج  Software</vt:lpstr>
      <vt:lpstr>Présentation PowerPoint</vt:lpstr>
      <vt:lpstr>الإشــكــالــيــة :</vt:lpstr>
      <vt:lpstr>الإجــابــة :</vt:lpstr>
      <vt:lpstr>أتـذكـر ( 2.2 صــيـــاغــة حـــل  الـمــشــكــلــة – تـــابــع )</vt:lpstr>
      <vt:lpstr>الإجــابــة :</vt:lpstr>
      <vt:lpstr>الإجــابــة :</vt:lpstr>
      <vt:lpstr>الإجــابــة :</vt:lpstr>
      <vt:lpstr>الإجــابــة :</vt:lpstr>
      <vt:lpstr>الإجــابــة :</vt:lpstr>
      <vt:lpstr>Présentation PowerPoint</vt:lpstr>
      <vt:lpstr>1. تـعــريــف الـمُــخَــطَّــط الانــســـيـــابـي</vt:lpstr>
      <vt:lpstr>صــيــاغــة حــل الــمــســألــة : a X + b = 0     ( a  0 ) </vt:lpstr>
      <vt:lpstr>ســـؤال : مــمــا يــتــألــف الــمُــخَــطَّــط الانــســـيـــابـي ؟</vt:lpstr>
      <vt:lpstr>ســـؤال : مــمــا يــتــألــف الــمُــخَــطَّــط الانــســـيـــابـي ؟</vt:lpstr>
      <vt:lpstr>ســؤال : مــاذا تـحــتــوي هــذه الأشــكــال الـمــوجــودة في الــمُـخَـطَّــط ؟</vt:lpstr>
      <vt:lpstr>صــيــاغــة حــل الــمــســألــة : a X + b = 0     ( a  0 ) </vt:lpstr>
      <vt:lpstr>ســؤال : مــاذا تـحــتــوي هــذه الأشــكــال الـمــوجــودة في الــمُـخَـطَّــط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ســؤال : مــا هـي الـغــايــة مـن اســتــعــمـال الأسـهـم فـي الـمـخــطــط ؟</vt:lpstr>
      <vt:lpstr>ســؤال : مــا هـي الـغــايــة مـن اســتــعــمـال الأسـهـم فـي الـمـخــطــط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ســؤال : هــل حــل هــذه الـمــســألــة  :  a X + b = 0  صـحــيــحًــا ؟</vt:lpstr>
      <vt:lpstr>ســؤال : هــل حــل هــذه الـمــســألــة  :  a X + b = 0  صـحــيــحًــا ؟</vt:lpstr>
      <vt:lpstr>ســؤال : هــل حــل هــذه الـمــســألــة : a X + b = 0  حَـــلًا شَــامِــلًا ؟</vt:lpstr>
      <vt:lpstr>ســؤال : هــل حــل هــذه الـمــســألــة : a X + b = 0  حَـــلًا شَــامِــلًا ؟</vt:lpstr>
      <vt:lpstr>صــيــاغــة حــل الــمــســألــة : a X + b = 0     ( a  0 ) </vt:lpstr>
      <vt:lpstr>ســؤال : هــل حــل الـمـســألــة : a X + b = 0 ( a  0 ) صـحـيـحـا وشـامـلا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2. إنــشـــاء الـمُــخَــطَّــط الانــســـيـــابـي</vt:lpstr>
      <vt:lpstr>أتـذكـر ( 2. إنــشـــاء الـمُــخــطَّــط الانــســيـــابـي )</vt:lpstr>
      <vt:lpstr>أتـذكـر ( 2. إنــشـــاء الـمُــخــطَّــط الانــســيـــابـي )</vt:lpstr>
      <vt:lpstr>أتـذكـر ( 2. إنــشـــاء الـمُــخــطَّــط الانــســيـــابـي )</vt:lpstr>
      <vt:lpstr>1.2 تـحــلــيــل الـمــســـألــة وتـحــديـــد عـــنـــاصــرهــا 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2.2 -  مُــكَــوِنَـــات الــمُــخَــطَّــط الاِنْــسِـــيَـــابِـي</vt:lpstr>
      <vt:lpstr>سـؤال : كـيـف يــتـمُ تــمــثــيــل بــدايــة / نـهــايــة الـمـخـطـط بَــيَــانِــيًــا ؟</vt:lpstr>
      <vt:lpstr>سـؤال : كـيـف يــتـمُ تــمــثــيــل بــدايــة / نـهــايــة الـمـخـطـط بَــيَــانِــيًــا ؟</vt:lpstr>
      <vt:lpstr>أتـذكـر ( 2.2 مُــكَــوِنَـــات الــمُــخَــطَّــط الاِنْــسِـــيَـــابِـي )</vt:lpstr>
      <vt:lpstr>أتـذكـر ( 2.2 مُــكَــوِنَـــات الــمُــخَــطَّــط الاِنْــسِـــيَـــابِـي )</vt:lpstr>
      <vt:lpstr>ســؤال : كـيـف يــتـمُ تــمــثــيــل الـمُــدْخَــلَاتِ والـمُـخْــرَجَــاتِ بَــيَــانِـيًـا ؟</vt:lpstr>
      <vt:lpstr>سـؤال : كـيـف يــتـمُ تــمــثــيــل الـمُــدْخَــلَاتِ والـمُـخْــرَجَــاتِ بَــيَــانِـيًـا ؟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5. تــطــبـــيـــقـــات 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5. تــطــبـــيـــقـــات 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5. تــطــبـــيـــقـــات </vt:lpstr>
      <vt:lpstr>5. تــطــبـــيـــقـــات </vt:lpstr>
      <vt:lpstr>5. تــطــبـــيـــقـــات </vt:lpstr>
      <vt:lpstr>5. تــطــبـــيـــقـــات </vt:lpstr>
      <vt:lpstr>صــيــاغــة حــل الــمــســألــة : a X + b = 0     ( a  0 ) </vt:lpstr>
      <vt:lpstr>الــمُــخَــطَّــط الانــســـيــابـي الـمُــوَافِــق للــمــســألــة : a X + b = 0   ( a  0 )</vt:lpstr>
      <vt:lpstr> لـمـاذا هــذا الــمُـخَــطَّــط الانــســيــابـي لا يُــوَافِــقُ الـمــســألــة : a X + b = 0 ؟</vt:lpstr>
      <vt:lpstr> هــذا الــمُــخَــطَّــط الانــســـيــابـي لا يــوافــق الــمــســألــة : a X + b = 0</vt:lpstr>
      <vt:lpstr>ســؤال : هــل حــل هـــذه الــمــســألــة : a X + b = 0  حَـــلًا شَــامِــلًا ؟</vt:lpstr>
      <vt:lpstr>5. تــطــبـــيـــقـــات ( تـــــابـــع ) 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5. تــطــبـــيـــقـــات 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1985</cp:revision>
  <dcterms:created xsi:type="dcterms:W3CDTF">2015-11-30T21:00:22Z</dcterms:created>
  <dcterms:modified xsi:type="dcterms:W3CDTF">2024-11-25T21:53:32Z</dcterms:modified>
</cp:coreProperties>
</file>