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3"/>
  </p:notesMasterIdLst>
  <p:sldIdLst>
    <p:sldId id="387" r:id="rId3"/>
    <p:sldId id="388" r:id="rId4"/>
    <p:sldId id="389" r:id="rId5"/>
    <p:sldId id="293" r:id="rId6"/>
    <p:sldId id="461" r:id="rId7"/>
    <p:sldId id="396" r:id="rId8"/>
    <p:sldId id="462" r:id="rId9"/>
    <p:sldId id="401" r:id="rId10"/>
    <p:sldId id="403" r:id="rId11"/>
    <p:sldId id="469" r:id="rId12"/>
    <p:sldId id="468" r:id="rId13"/>
    <p:sldId id="463" r:id="rId14"/>
    <p:sldId id="464" r:id="rId15"/>
    <p:sldId id="465" r:id="rId16"/>
    <p:sldId id="466" r:id="rId17"/>
    <p:sldId id="467" r:id="rId18"/>
    <p:sldId id="410" r:id="rId19"/>
    <p:sldId id="472" r:id="rId20"/>
    <p:sldId id="471" r:id="rId21"/>
    <p:sldId id="470" r:id="rId22"/>
    <p:sldId id="473" r:id="rId23"/>
    <p:sldId id="497" r:id="rId24"/>
    <p:sldId id="481" r:id="rId25"/>
    <p:sldId id="592" r:id="rId26"/>
    <p:sldId id="591" r:id="rId27"/>
    <p:sldId id="483" r:id="rId28"/>
    <p:sldId id="590" r:id="rId29"/>
    <p:sldId id="589" r:id="rId30"/>
    <p:sldId id="485" r:id="rId31"/>
    <p:sldId id="487" r:id="rId32"/>
    <p:sldId id="486" r:id="rId33"/>
    <p:sldId id="488" r:id="rId34"/>
    <p:sldId id="491" r:id="rId35"/>
    <p:sldId id="490" r:id="rId36"/>
    <p:sldId id="489" r:id="rId37"/>
    <p:sldId id="493" r:id="rId38"/>
    <p:sldId id="496" r:id="rId39"/>
    <p:sldId id="495" r:id="rId40"/>
    <p:sldId id="494" r:id="rId41"/>
    <p:sldId id="498" r:id="rId42"/>
    <p:sldId id="407" r:id="rId43"/>
    <p:sldId id="500" r:id="rId44"/>
    <p:sldId id="504" r:id="rId45"/>
    <p:sldId id="506" r:id="rId46"/>
    <p:sldId id="505" r:id="rId47"/>
    <p:sldId id="503" r:id="rId48"/>
    <p:sldId id="507" r:id="rId49"/>
    <p:sldId id="511" r:id="rId50"/>
    <p:sldId id="509" r:id="rId51"/>
    <p:sldId id="510" r:id="rId52"/>
    <p:sldId id="513" r:id="rId53"/>
    <p:sldId id="512" r:id="rId54"/>
    <p:sldId id="517" r:id="rId55"/>
    <p:sldId id="515" r:id="rId56"/>
    <p:sldId id="518" r:id="rId57"/>
    <p:sldId id="525" r:id="rId58"/>
    <p:sldId id="523" r:id="rId59"/>
    <p:sldId id="528" r:id="rId60"/>
    <p:sldId id="526" r:id="rId61"/>
    <p:sldId id="519" r:id="rId62"/>
    <p:sldId id="522" r:id="rId63"/>
    <p:sldId id="521" r:id="rId64"/>
    <p:sldId id="520" r:id="rId65"/>
    <p:sldId id="529" r:id="rId66"/>
    <p:sldId id="530" r:id="rId67"/>
    <p:sldId id="537" r:id="rId68"/>
    <p:sldId id="534" r:id="rId69"/>
    <p:sldId id="536" r:id="rId70"/>
    <p:sldId id="535" r:id="rId71"/>
    <p:sldId id="533" r:id="rId72"/>
    <p:sldId id="532" r:id="rId73"/>
    <p:sldId id="531" r:id="rId74"/>
    <p:sldId id="538" r:id="rId75"/>
    <p:sldId id="539" r:id="rId76"/>
    <p:sldId id="559" r:id="rId77"/>
    <p:sldId id="558" r:id="rId78"/>
    <p:sldId id="540" r:id="rId79"/>
    <p:sldId id="560" r:id="rId80"/>
    <p:sldId id="541" r:id="rId81"/>
    <p:sldId id="546" r:id="rId82"/>
    <p:sldId id="545" r:id="rId83"/>
    <p:sldId id="544" r:id="rId84"/>
    <p:sldId id="543" r:id="rId85"/>
    <p:sldId id="542" r:id="rId86"/>
    <p:sldId id="548" r:id="rId87"/>
    <p:sldId id="552" r:id="rId88"/>
    <p:sldId id="555" r:id="rId89"/>
    <p:sldId id="554" r:id="rId90"/>
    <p:sldId id="553" r:id="rId91"/>
    <p:sldId id="556" r:id="rId92"/>
    <p:sldId id="557" r:id="rId93"/>
    <p:sldId id="562" r:id="rId94"/>
    <p:sldId id="563" r:id="rId95"/>
    <p:sldId id="564" r:id="rId96"/>
    <p:sldId id="582" r:id="rId97"/>
    <p:sldId id="565" r:id="rId98"/>
    <p:sldId id="571" r:id="rId99"/>
    <p:sldId id="570" r:id="rId100"/>
    <p:sldId id="569" r:id="rId101"/>
    <p:sldId id="574" r:id="rId102"/>
    <p:sldId id="567" r:id="rId103"/>
    <p:sldId id="573" r:id="rId104"/>
    <p:sldId id="572" r:id="rId105"/>
    <p:sldId id="575" r:id="rId106"/>
    <p:sldId id="587" r:id="rId107"/>
    <p:sldId id="586" r:id="rId108"/>
    <p:sldId id="593" r:id="rId109"/>
    <p:sldId id="607" r:id="rId110"/>
    <p:sldId id="606" r:id="rId111"/>
    <p:sldId id="605" r:id="rId112"/>
    <p:sldId id="595" r:id="rId113"/>
    <p:sldId id="608" r:id="rId114"/>
    <p:sldId id="596" r:id="rId115"/>
    <p:sldId id="609" r:id="rId116"/>
    <p:sldId id="597" r:id="rId117"/>
    <p:sldId id="610" r:id="rId118"/>
    <p:sldId id="588" r:id="rId119"/>
    <p:sldId id="578" r:id="rId120"/>
    <p:sldId id="594" r:id="rId121"/>
    <p:sldId id="579" r:id="rId122"/>
    <p:sldId id="583" r:id="rId123"/>
    <p:sldId id="584" r:id="rId124"/>
    <p:sldId id="585" r:id="rId125"/>
    <p:sldId id="598" r:id="rId126"/>
    <p:sldId id="603" r:id="rId127"/>
    <p:sldId id="602" r:id="rId128"/>
    <p:sldId id="601" r:id="rId129"/>
    <p:sldId id="604" r:id="rId130"/>
    <p:sldId id="451" r:id="rId131"/>
    <p:sldId id="600" r:id="rId13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26" autoAdjust="0"/>
    <p:restoredTop sz="92819" autoAdjust="0"/>
  </p:normalViewPr>
  <p:slideViewPr>
    <p:cSldViewPr>
      <p:cViewPr varScale="1">
        <p:scale>
          <a:sx n="71" d="100"/>
          <a:sy n="71" d="100"/>
        </p:scale>
        <p:origin x="618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28" Type="http://schemas.openxmlformats.org/officeDocument/2006/relationships/slide" Target="slides/slide126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134" Type="http://schemas.openxmlformats.org/officeDocument/2006/relationships/presProps" Target="presProps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35" Type="http://schemas.openxmlformats.org/officeDocument/2006/relationships/viewProps" Target="viewProps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theme" Target="theme/theme1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707165-6FA1-4F51-AE2F-3E34D4EE60DB}" type="datetimeFigureOut">
              <a:rPr lang="fr-FR" smtClean="0"/>
              <a:pPr/>
              <a:t>12/04/2025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2BD788-2CE9-4B58-A72D-7A842BE88AE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2437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1789216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5467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695095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108899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9745080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526276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799A-AD1E-4EC4-BAE9-72E49FCD3627}" type="datetime1">
              <a:rPr lang="fr-FR" smtClean="0"/>
              <a:t>12/04/2025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01B79-79D6-441E-BF1E-BF238058A2BE}" type="datetime1">
              <a:rPr lang="fr-FR" smtClean="0"/>
              <a:t>12/04/2025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01902-2934-498C-B9CD-ABFFBDC132D2}" type="datetime1">
              <a:rPr lang="fr-FR" smtClean="0"/>
              <a:t>12/04/2025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BA51-70A3-4108-A886-33F689CBCDCE}" type="datetime1">
              <a:rPr lang="fr-FR" smtClean="0"/>
              <a:t>12/04/2025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6FC74-5BB7-4110-9531-403E0DC6FCC3}" type="datetime1">
              <a:rPr lang="fr-FR" smtClean="0"/>
              <a:t>12/04/2025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5D57-B0FA-4850-A7A9-46BC746BF18D}" type="datetime1">
              <a:rPr lang="fr-FR" smtClean="0"/>
              <a:t>12/04/2025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EED2-DA68-42E6-BB32-4BDF58561745}" type="datetime1">
              <a:rPr lang="fr-FR" smtClean="0"/>
              <a:t>12/04/2025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E66D5-8CED-4255-B840-C3038CA10D44}" type="datetime1">
              <a:rPr lang="fr-FR" smtClean="0"/>
              <a:t>12/04/2025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74B6-0C57-4CBC-8085-4FAD680CE4E3}" type="datetime1">
              <a:rPr lang="fr-FR" smtClean="0"/>
              <a:t>12/04/2025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783B9-A837-41A0-BB3E-10BAC9E24798}" type="datetime1">
              <a:rPr lang="fr-FR" smtClean="0"/>
              <a:t>12/04/2025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4622B-0FD0-4642-A755-FF44A3648A33}" type="datetime1">
              <a:rPr lang="fr-FR" smtClean="0"/>
              <a:t>12/04/2025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145A6B-277E-4029-9E0B-0271FFE59EB6}" type="datetime1">
              <a:rPr lang="fr-FR" smtClean="0"/>
              <a:t>12/04/2025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27F164-2AFA-4878-B6DC-B21DA486304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303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EAD95-047D-434C-94E6-21EBF421E084}" type="datetime1">
              <a:rPr lang="fr-FR" smtClean="0"/>
              <a:t>12/04/2025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17CCD0-4F98-4392-B995-B19C0157D76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7935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0E85B-6058-4423-8F7A-4FBB18FA07C1}" type="datetime1">
              <a:rPr lang="fr-FR" smtClean="0"/>
              <a:t>12/04/2025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47F796-EFDC-4369-84AD-973929CACFD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415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2" y="1981201"/>
            <a:ext cx="5077884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5484" y="1981201"/>
            <a:ext cx="5080000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BA6324-8179-42BA-9313-AB3649298C41}" type="datetime1">
              <a:rPr lang="fr-FR" smtClean="0"/>
              <a:t>12/04/2025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CA6A9D-AE4D-4B9F-82A2-A8A1879CF1F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507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149203-36D1-40BE-98DA-9DA8422BCD53}" type="datetime1">
              <a:rPr lang="fr-FR" smtClean="0"/>
              <a:t>12/04/2025</a:t>
            </a:fld>
            <a:endParaRPr lang="fr-F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6DD686-4B0E-404B-9A8C-39B7649B33F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098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F477A3-8FE0-4B7E-A69A-AF8A31224535}" type="datetime1">
              <a:rPr lang="fr-FR" smtClean="0"/>
              <a:t>12/04/2025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F7A8C2-4022-4423-AD6A-3808F8CCE6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138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4265DF-C9D6-4224-B0D0-B18720FAE376}" type="datetime1">
              <a:rPr lang="fr-FR" smtClean="0"/>
              <a:t>12/04/2025</a:t>
            </a:fld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0BB9D-EEFD-47F1-8456-A76ECCAD119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384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AB563E-CA6D-4202-9FD3-4E9C2001BF5C}" type="datetime1">
              <a:rPr lang="fr-FR" smtClean="0"/>
              <a:t>12/04/2025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A92917-01B5-4E8C-BFEC-18FD0A17E8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7577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CC719-82BB-485C-9884-0955D2EDAFDA}" type="datetime1">
              <a:rPr lang="fr-FR" smtClean="0"/>
              <a:t>12/04/2025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C56B6E-88B6-4A57-AEFD-EA1E6BE9AD7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3684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E81FDD-F3A2-4361-94BD-09467961B8B4}" type="datetime1">
              <a:rPr lang="fr-FR" smtClean="0"/>
              <a:t>12/04/2025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F4B7C2-8CE4-4BAD-9D0C-80765E61DE9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898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2" y="609603"/>
            <a:ext cx="2588684" cy="5484813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3"/>
            <a:ext cx="7569200" cy="5484813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BB1012-3A3D-4B91-A754-A02A28E75EEE}" type="datetime1">
              <a:rPr lang="fr-FR" smtClean="0"/>
              <a:t>12/04/2025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99EC31-E3B7-4FC8-BB6A-FBF82360E3C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9342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2" y="609603"/>
            <a:ext cx="10361084" cy="1141413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BA0297-0565-4E69-9C42-831900A170AB}" type="datetime1">
              <a:rPr lang="fr-FR" smtClean="0"/>
              <a:t>12/04/2025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9E9879-8CFB-4292-8612-256D92E5B28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737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F9D3C-AC6F-429E-8EA4-013C4366CE2E}" type="datetime1">
              <a:rPr lang="fr-FR" smtClean="0"/>
              <a:t>12/04/2025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914402" y="609603"/>
            <a:ext cx="10361084" cy="11414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texte-titre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2" y="1981201"/>
            <a:ext cx="10361084" cy="41132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plan de texte</a:t>
            </a:r>
          </a:p>
          <a:p>
            <a:pPr lvl="1"/>
            <a:r>
              <a:rPr lang="en-GB" smtClean="0"/>
              <a:t>Second niveau de plan</a:t>
            </a:r>
          </a:p>
          <a:p>
            <a:pPr lvl="2"/>
            <a:r>
              <a:rPr lang="en-GB" smtClean="0"/>
              <a:t>Troisième niveau de plan</a:t>
            </a:r>
          </a:p>
          <a:p>
            <a:pPr lvl="3"/>
            <a:r>
              <a:rPr lang="en-GB" smtClean="0"/>
              <a:t>Quatrième niveau de plan</a:t>
            </a:r>
          </a:p>
          <a:p>
            <a:pPr lvl="4"/>
            <a:r>
              <a:rPr lang="en-GB" smtClean="0"/>
              <a:t>Cinquième niveau de plan</a:t>
            </a:r>
          </a:p>
          <a:p>
            <a:pPr lvl="4"/>
            <a:r>
              <a:rPr lang="en-GB" smtClean="0"/>
              <a:t>Sixième niveau de plan</a:t>
            </a:r>
          </a:p>
          <a:p>
            <a:pPr lvl="4"/>
            <a:r>
              <a:rPr lang="en-GB" smtClean="0"/>
              <a:t>Septième niveau de plan</a:t>
            </a:r>
          </a:p>
          <a:p>
            <a:pPr lvl="4"/>
            <a:r>
              <a:rPr lang="en-GB" smtClean="0"/>
              <a:t>Huitième niveau de plan</a:t>
            </a:r>
          </a:p>
          <a:p>
            <a:pPr lvl="4"/>
            <a:r>
              <a:rPr lang="en-GB" smtClean="0"/>
              <a:t>Neuvième niveau de plan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914402" y="6248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mtClean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AFBB3673-710D-4D29-AC82-167E94112C65}" type="datetime1">
              <a:rPr lang="fr-FR" sz="2400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12/04/2025</a:t>
            </a:fld>
            <a:endParaRPr lang="fr-FR" sz="240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4165602" y="6248403"/>
            <a:ext cx="38586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endParaRPr lang="fr-FR" sz="240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11277602" y="6629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7FD84E5A-625F-47DD-A5B9-EA1D8EC3DB43}" type="slidenum">
              <a:rPr lang="fr-FR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‹N°›</a:t>
            </a:fld>
            <a:endParaRPr lang="fr-FR"/>
          </a:p>
        </p:txBody>
      </p:sp>
      <p:pic>
        <p:nvPicPr>
          <p:cNvPr id="1031" name="Picture 6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12192000" cy="1295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46744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2pPr>
      <a:lvl3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3pPr>
      <a:lvl4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4pPr>
      <a:lvl5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5pPr>
      <a:lvl6pPr marL="25146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6pPr>
      <a:lvl7pPr marL="29718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7pPr>
      <a:lvl8pPr marL="34290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8pPr>
      <a:lvl9pPr marL="38862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 dirty="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16480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32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12/04/2025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1127448" y="2030870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ثــانــويــة أسـي يــوسـف بــوغــنـي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 </a:t>
            </a:r>
          </a:p>
          <a:p>
            <a:pPr lvl="0" algn="ctr" defTabSz="10096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الـمــــادة : الـمــعـــلـــومــــاتـــيـــة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 </a:t>
            </a:r>
            <a:endParaRPr lang="ar-SA" altLang="zh-CN" sz="6000" b="1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>
              <a:lnSpc>
                <a:spcPct val="150000"/>
              </a:lnSpc>
            </a:pPr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97931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3645024"/>
            <a:ext cx="10693188" cy="23042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ال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 :</a:t>
            </a: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244827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>
              <a:lnSpc>
                <a:spcPct val="135000"/>
              </a:lnSpc>
            </a:pPr>
            <a:r>
              <a:rPr lang="ar-DZ" altLang="zh-CN" sz="4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altLang="zh-CN" sz="4200" b="1" u="sng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الــمـــجــــال </a:t>
            </a:r>
            <a:r>
              <a:rPr lang="ar-DZ" altLang="zh-CN" sz="4200" b="1" u="sng" dirty="0" err="1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الــتَـــعَــــلُـــمِــي</a:t>
            </a:r>
            <a:r>
              <a:rPr lang="ar-DZ" altLang="zh-CN" sz="4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 : </a:t>
            </a:r>
            <a:r>
              <a:rPr lang="ar-DZ" altLang="zh-CN" sz="42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SA" altLang="zh-CN" sz="4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تـــقـــنـــيـــــات الــويــــب</a:t>
            </a:r>
            <a:endParaRPr lang="fr-FR" sz="42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 u="sng"/>
              <a:t>12/04/2025</a:t>
            </a:fld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4021017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 smtClean="0">
                <a:solidFill>
                  <a:srgbClr val="FF0000"/>
                </a:solidFill>
                <a:cs typeface="+mj-cs"/>
              </a:rPr>
              <a:t>الإشــكــالــيــة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>
                <a:cs typeface="+mj-cs"/>
              </a:rPr>
              <a:t>تـعـتـبـر الانـتـرنـت أكـبـر مـكـتـبـة إلـكـتـرونـيـة نَـظَـرًا للـمـعـلـومـات الـمُـتَـوَفِّــرَة فـي صــفــحــات الـويــب، فــمـا هـي الـتــقــنــيــة الَّـتِي يـنـبـغـي تـعـلُّـمٌـهـا لإنــشــاء صــفــحــة </a:t>
            </a:r>
            <a:r>
              <a:rPr lang="ar-DZ" sz="4800" b="1" dirty="0" smtClean="0">
                <a:cs typeface="+mj-cs"/>
              </a:rPr>
              <a:t>ويــب</a:t>
            </a:r>
            <a:r>
              <a:rPr lang="ar-DZ" sz="4800" b="1" dirty="0">
                <a:cs typeface="+mj-cs"/>
              </a:rPr>
              <a:t> </a:t>
            </a:r>
            <a:r>
              <a:rPr lang="ar-DZ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؟ </a:t>
            </a:r>
            <a:endParaRPr lang="ar-DZ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719861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 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4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400" b="1" dirty="0">
              <a:cs typeface="+mj-cs"/>
            </a:endParaRPr>
          </a:p>
          <a:p>
            <a:pPr marL="0" indent="0" algn="just" rtl="1">
              <a:buNone/>
            </a:pPr>
            <a:endParaRPr lang="ar-DZ" sz="14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>
                <a:solidFill>
                  <a:srgbClr val="002060"/>
                </a:solidFill>
                <a:cs typeface="+mj-cs"/>
              </a:rPr>
              <a:t>يـنـبـغـي 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تَـعَــلُّــمُ  </a:t>
            </a:r>
            <a:r>
              <a:rPr lang="ar-DZ" sz="4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« </a:t>
            </a:r>
            <a:r>
              <a:rPr lang="ar-DZ" sz="48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fr-FR" sz="48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800" b="1" dirty="0">
                <a:solidFill>
                  <a:srgbClr val="002060"/>
                </a:solidFill>
                <a:cs typeface="Times New Roman" panose="02020603050405020304" pitchFamily="18" charset="0"/>
              </a:rPr>
              <a:t>»</a:t>
            </a:r>
            <a:endParaRPr lang="ar-DZ" sz="4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350677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 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4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1400" b="1" dirty="0">
              <a:cs typeface="+mj-cs"/>
            </a:endParaRPr>
          </a:p>
          <a:p>
            <a:pPr marL="0" indent="0" algn="just" rtl="1">
              <a:buNone/>
            </a:pPr>
            <a:endParaRPr lang="ar-DZ" sz="14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>
                <a:solidFill>
                  <a:srgbClr val="002060"/>
                </a:solidFill>
                <a:cs typeface="+mj-cs"/>
              </a:rPr>
              <a:t>يـنـبـغـي 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تَـعَــلُّــمُ  </a:t>
            </a:r>
            <a:r>
              <a:rPr lang="ar-DZ" sz="48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« </a:t>
            </a:r>
            <a:r>
              <a:rPr lang="ar-DZ" sz="48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fr-FR" sz="48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800" b="1" dirty="0">
                <a:solidFill>
                  <a:srgbClr val="002060"/>
                </a:solidFill>
                <a:cs typeface="Times New Roman" panose="02020603050405020304" pitchFamily="18" charset="0"/>
              </a:rPr>
              <a:t>»</a:t>
            </a:r>
            <a:endParaRPr lang="ar-DZ" sz="4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631504" y="2276872"/>
            <a:ext cx="54726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تــقــنــيــة  </a:t>
            </a:r>
            <a:r>
              <a:rPr lang="fr-FR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</p:txBody>
      </p:sp>
    </p:spTree>
    <p:extLst>
      <p:ext uri="{BB962C8B-B14F-4D97-AF65-F5344CB8AC3E}">
        <p14:creationId xmlns:p14="http://schemas.microsoft.com/office/powerpoint/2010/main" val="4215564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2966770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/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ال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وح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</a:t>
            </a:r>
            <a:r>
              <a:rPr lang="ar-SA" altLang="zh-CN" sz="4400" b="1" dirty="0" err="1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دة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 الــتـعـــلــيــمــيــة </a:t>
            </a:r>
            <a:r>
              <a:rPr lang="ar-SA" altLang="zh-CN" sz="44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: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  </a:t>
            </a:r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................................................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endParaRPr lang="ar-SA" altLang="zh-CN" sz="44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+mj-cs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>
              <a:lnSpc>
                <a:spcPct val="135000"/>
              </a:lnSpc>
            </a:pPr>
            <a:r>
              <a:rPr lang="ar-DZ" altLang="zh-CN" sz="4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altLang="zh-CN" sz="4200" b="1" u="sng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الــمـــجــــال </a:t>
            </a:r>
            <a:r>
              <a:rPr lang="ar-DZ" altLang="zh-CN" sz="4200" b="1" u="sng" dirty="0" err="1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الــتَـــعَــــلُـــمِــي</a:t>
            </a:r>
            <a:r>
              <a:rPr lang="ar-DZ" altLang="zh-CN" sz="4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 :  </a:t>
            </a:r>
            <a:r>
              <a:rPr lang="ar-SA" altLang="zh-CN" sz="4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تـــقـــنـــيـــــات الــويــــب</a:t>
            </a:r>
            <a:endParaRPr lang="fr-FR" sz="42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/>
              <a:t>12/04/2025</a:t>
            </a:fld>
            <a:endParaRPr lang="fr-BE" sz="2400" b="1" dirty="0"/>
          </a:p>
        </p:txBody>
      </p:sp>
      <p:sp>
        <p:nvSpPr>
          <p:cNvPr id="7" name="Rectangle à coins arrondis 6"/>
          <p:cNvSpPr/>
          <p:nvPr/>
        </p:nvSpPr>
        <p:spPr>
          <a:xfrm>
            <a:off x="587388" y="5081119"/>
            <a:ext cx="7596844" cy="1586641"/>
          </a:xfrm>
          <a:prstGeom prst="roundRect">
            <a:avLst>
              <a:gd name="adj" fmla="val 26762"/>
            </a:avLst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4400" b="1" u="sng" dirty="0">
                <a:ln w="0"/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Création d’une Page Web</a:t>
            </a:r>
            <a:endParaRPr lang="fr-FR" sz="2000" dirty="0"/>
          </a:p>
        </p:txBody>
      </p:sp>
      <p:pic>
        <p:nvPicPr>
          <p:cNvPr id="8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517" y="-16961"/>
            <a:ext cx="7859222" cy="15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29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2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 animBg="1"/>
      <p:bldP spid="7" grpId="0" animBg="1"/>
      <p:bldP spid="7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2966770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/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ال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وح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</a:t>
            </a:r>
            <a:r>
              <a:rPr lang="ar-DZ" altLang="zh-CN" sz="44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</a:t>
            </a:r>
            <a:r>
              <a:rPr lang="ar-SA" altLang="zh-CN" sz="4400" b="1" dirty="0" err="1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دة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 </a:t>
            </a:r>
            <a:r>
              <a:rPr lang="ar-SA" altLang="zh-CN" sz="4400" b="1" dirty="0" err="1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الــتـعـــلــي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ـم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</a:t>
            </a:r>
            <a:r>
              <a:rPr lang="ar-SA" altLang="zh-CN" sz="4400" b="1" dirty="0" err="1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يــة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 </a:t>
            </a:r>
            <a:r>
              <a:rPr lang="ar-SA" altLang="zh-CN" sz="44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: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 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إنــشــاء صــفــحــة ويــب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endParaRPr lang="ar-SA" altLang="zh-CN" sz="44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+mj-cs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>
              <a:lnSpc>
                <a:spcPct val="135000"/>
              </a:lnSpc>
            </a:pPr>
            <a:r>
              <a:rPr lang="ar-DZ" altLang="zh-CN" sz="4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altLang="zh-CN" sz="4200" b="1" u="sng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الــمـــجــــال </a:t>
            </a:r>
            <a:r>
              <a:rPr lang="ar-DZ" altLang="zh-CN" sz="4200" b="1" u="sng" dirty="0" err="1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الــتَـــعَــــلُـــمِــي</a:t>
            </a:r>
            <a:r>
              <a:rPr lang="ar-DZ" altLang="zh-CN" sz="4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 :  </a:t>
            </a:r>
            <a:r>
              <a:rPr lang="ar-SA" altLang="zh-CN" sz="4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تـــقـــنـــيـــــات الــويــــب</a:t>
            </a:r>
            <a:endParaRPr lang="fr-FR" sz="42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/>
              <a:t>12/04/2025</a:t>
            </a:fld>
            <a:endParaRPr lang="fr-BE" sz="2400" b="1" dirty="0"/>
          </a:p>
        </p:txBody>
      </p:sp>
      <p:sp>
        <p:nvSpPr>
          <p:cNvPr id="7" name="Rectangle à coins arrondis 6"/>
          <p:cNvSpPr/>
          <p:nvPr/>
        </p:nvSpPr>
        <p:spPr>
          <a:xfrm>
            <a:off x="587388" y="5081119"/>
            <a:ext cx="7596844" cy="1586641"/>
          </a:xfrm>
          <a:prstGeom prst="roundRect">
            <a:avLst>
              <a:gd name="adj" fmla="val 26762"/>
            </a:avLst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4400" b="1" u="sng" dirty="0">
                <a:ln w="0"/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Création d’une Page Web</a:t>
            </a:r>
            <a:endParaRPr lang="fr-FR" sz="2000" dirty="0"/>
          </a:p>
        </p:txBody>
      </p:sp>
      <p:pic>
        <p:nvPicPr>
          <p:cNvPr id="8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517" y="-16961"/>
            <a:ext cx="7859222" cy="15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500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2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 animBg="1"/>
      <p:bldP spid="7" grpId="0" animBg="1"/>
      <p:bldP spid="7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FF000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	تـعــريــف تــقــنــيــة  </a:t>
            </a:r>
            <a:r>
              <a:rPr lang="fr-FR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54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مــاذا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يُــمَــثِّــلُ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لَــكُــمْ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الــمُــصْــطـــلــح  الــعِـــلْـــمِــي 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؟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559147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( 1. </a:t>
            </a:r>
            <a:r>
              <a:rPr lang="ar-DZ" sz="54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تـعــريــف تــقــنــيــة  </a:t>
            </a:r>
            <a:r>
              <a:rPr lang="fr-FR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2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تــقــنــيــة  </a:t>
            </a:r>
            <a:r>
              <a:rPr lang="fr-FR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هــي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اخــتــصــار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للــعـــبـــارة  </a:t>
            </a:r>
          </a:p>
          <a:p>
            <a:pPr marL="0" lvl="0" indent="0" algn="just" rtl="1">
              <a:lnSpc>
                <a:spcPct val="125000"/>
              </a:lnSpc>
              <a:buNone/>
            </a:pPr>
            <a:r>
              <a:rPr lang="fr-FR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 </a:t>
            </a:r>
            <a:r>
              <a:rPr lang="fr-FR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25000"/>
              </a:lnSpc>
              <a:buNone/>
            </a:pP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وهــذا الـمـصـطـلـح يـعــنـي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 algn="just" rtl="1">
              <a:lnSpc>
                <a:spcPct val="12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 </a:t>
            </a:r>
            <a:r>
              <a:rPr lang="fr-FR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3217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( 1. </a:t>
            </a:r>
            <a:r>
              <a:rPr lang="ar-DZ" sz="54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تـعــريــف تــقــنــيــة  </a:t>
            </a:r>
            <a:r>
              <a:rPr lang="fr-FR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2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تــقــنــيــة  </a:t>
            </a:r>
            <a:r>
              <a:rPr lang="fr-FR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هــي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اخــتــصــار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للــعـــبـــارة  </a:t>
            </a:r>
          </a:p>
          <a:p>
            <a:pPr marL="0" lvl="0" indent="0" algn="just" rtl="1">
              <a:lnSpc>
                <a:spcPct val="125000"/>
              </a:lnSpc>
              <a:buNone/>
            </a:pPr>
            <a:r>
              <a:rPr lang="fr-FR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 </a:t>
            </a:r>
            <a:r>
              <a:rPr lang="fr-FR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25000"/>
              </a:lnSpc>
              <a:buNone/>
            </a:pP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وهــذا الـمـصـطـلـح يـعــنـي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 algn="just" rtl="1">
              <a:lnSpc>
                <a:spcPct val="12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 </a:t>
            </a:r>
            <a:r>
              <a:rPr lang="fr-FR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415480" y="2708920"/>
            <a:ext cx="9433048" cy="99006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4400" b="1" u="sng" dirty="0" err="1">
                <a:solidFill>
                  <a:srgbClr val="FF0000"/>
                </a:solidFill>
                <a:latin typeface="Liberation Serif"/>
                <a:ea typeface="Droid Sans Fallback"/>
                <a:cs typeface="FreeSans"/>
              </a:rPr>
              <a:t>H</a:t>
            </a:r>
            <a:r>
              <a:rPr lang="en-US" sz="4400" b="1" dirty="0" err="1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yper</a:t>
            </a:r>
            <a:r>
              <a:rPr lang="en-US" sz="4400" b="1" u="sng" dirty="0" err="1">
                <a:solidFill>
                  <a:srgbClr val="FF0000"/>
                </a:solidFill>
                <a:latin typeface="Liberation Serif"/>
                <a:ea typeface="Droid Sans Fallback"/>
                <a:cs typeface="FreeSans"/>
              </a:rPr>
              <a:t>T</a:t>
            </a:r>
            <a:r>
              <a:rPr lang="en-US" sz="4400" b="1" dirty="0" err="1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ext</a:t>
            </a:r>
            <a:r>
              <a:rPr lang="en-US" sz="4400" b="1" dirty="0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 </a:t>
            </a:r>
            <a:r>
              <a:rPr lang="en-US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 </a:t>
            </a:r>
            <a:r>
              <a:rPr lang="fr-FR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 </a:t>
            </a:r>
            <a:r>
              <a:rPr lang="en-US" sz="4400" b="1" u="sng" dirty="0" smtClean="0">
                <a:solidFill>
                  <a:srgbClr val="FF0000"/>
                </a:solidFill>
                <a:latin typeface="Liberation Serif"/>
                <a:ea typeface="Droid Sans Fallback"/>
                <a:cs typeface="FreeSans"/>
              </a:rPr>
              <a:t>M</a:t>
            </a:r>
            <a:r>
              <a:rPr lang="en-US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arkup   </a:t>
            </a:r>
            <a:r>
              <a:rPr lang="en-US" sz="4400" b="1" u="sng" dirty="0">
                <a:solidFill>
                  <a:srgbClr val="FF0000"/>
                </a:solidFill>
                <a:latin typeface="Liberation Serif"/>
                <a:ea typeface="Droid Sans Fallback"/>
                <a:cs typeface="FreeSans"/>
              </a:rPr>
              <a:t>L</a:t>
            </a:r>
            <a:r>
              <a:rPr lang="en-US" sz="4400" b="1" dirty="0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anguage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47760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( 1. </a:t>
            </a:r>
            <a:r>
              <a:rPr lang="ar-DZ" sz="54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تـعــريــف تــقــنــيــة  </a:t>
            </a:r>
            <a:r>
              <a:rPr lang="fr-FR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2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تــقــنــيــة  </a:t>
            </a:r>
            <a:r>
              <a:rPr lang="fr-FR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هــي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اخــتــصــار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للــعـــبـــارة  </a:t>
            </a:r>
          </a:p>
          <a:p>
            <a:pPr marL="0" lvl="0" indent="0" algn="just" rtl="1">
              <a:lnSpc>
                <a:spcPct val="125000"/>
              </a:lnSpc>
              <a:buNone/>
            </a:pPr>
            <a:r>
              <a:rPr lang="fr-FR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 </a:t>
            </a:r>
            <a:r>
              <a:rPr lang="fr-FR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25000"/>
              </a:lnSpc>
              <a:buNone/>
            </a:pP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وهــذا الـمـصـطـلـح يـعــنـي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 algn="just" rtl="1">
              <a:lnSpc>
                <a:spcPct val="12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 </a:t>
            </a:r>
            <a:r>
              <a:rPr lang="fr-FR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415480" y="2708920"/>
            <a:ext cx="9433048" cy="99006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4400" b="1" u="sng" dirty="0" err="1">
                <a:solidFill>
                  <a:srgbClr val="FF0000"/>
                </a:solidFill>
                <a:latin typeface="Liberation Serif"/>
                <a:ea typeface="Droid Sans Fallback"/>
                <a:cs typeface="FreeSans"/>
              </a:rPr>
              <a:t>H</a:t>
            </a:r>
            <a:r>
              <a:rPr lang="en-US" sz="4400" b="1" dirty="0" err="1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yper</a:t>
            </a:r>
            <a:r>
              <a:rPr lang="en-US" sz="4400" b="1" u="sng" dirty="0" err="1">
                <a:solidFill>
                  <a:srgbClr val="FF0000"/>
                </a:solidFill>
                <a:latin typeface="Liberation Serif"/>
                <a:ea typeface="Droid Sans Fallback"/>
                <a:cs typeface="FreeSans"/>
              </a:rPr>
              <a:t>T</a:t>
            </a:r>
            <a:r>
              <a:rPr lang="en-US" sz="4400" b="1" dirty="0" err="1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ext</a:t>
            </a:r>
            <a:r>
              <a:rPr lang="en-US" sz="4400" b="1" dirty="0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 </a:t>
            </a:r>
            <a:r>
              <a:rPr lang="en-US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 </a:t>
            </a:r>
            <a:r>
              <a:rPr lang="fr-FR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 </a:t>
            </a:r>
            <a:r>
              <a:rPr lang="en-US" sz="4400" b="1" u="sng" dirty="0" smtClean="0">
                <a:solidFill>
                  <a:srgbClr val="FF0000"/>
                </a:solidFill>
                <a:latin typeface="Liberation Serif"/>
                <a:ea typeface="Droid Sans Fallback"/>
                <a:cs typeface="FreeSans"/>
              </a:rPr>
              <a:t>M</a:t>
            </a:r>
            <a:r>
              <a:rPr lang="en-US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arkup   </a:t>
            </a:r>
            <a:r>
              <a:rPr lang="en-US" sz="4400" b="1" u="sng" dirty="0">
                <a:solidFill>
                  <a:srgbClr val="FF0000"/>
                </a:solidFill>
                <a:latin typeface="Liberation Serif"/>
                <a:ea typeface="Droid Sans Fallback"/>
                <a:cs typeface="FreeSans"/>
              </a:rPr>
              <a:t>L</a:t>
            </a:r>
            <a:r>
              <a:rPr lang="en-US" sz="4400" b="1" dirty="0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anguage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415480" y="4608892"/>
            <a:ext cx="94330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لــغــة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تَــوْصِـيــف الــنــصـوص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الـتــشــعــبـــيــة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26696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2) الـشـكـل 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الـنـظـامـي الأَدْنَـى لـصـفـحـة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ويــب : 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2</a:t>
            </a: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1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ar-DZ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حَــلِّــلْ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الـوثــيـــقــة  " أ "  الَّـتِي تُــوَضِّـحُ الـحَــدَّ الأَدْنَـى لـصـفـحـة ويــب، فَــمِـمَّـا تــتــألــف صــفــحــات </a:t>
            </a:r>
            <a:r>
              <a:rPr lang="ar-DZ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الـويــب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HTML Page / Web </a:t>
            </a:r>
            <a:r>
              <a:rPr lang="fr-FR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ar-DZ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fr-FR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؟ 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ومَــاذَا تَــسْــتَــنْــتِـج  ؟  </a:t>
            </a:r>
            <a:endParaRPr lang="ar-DZ" sz="4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778311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2) الـشـكـل 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الـنـظـامـي الأَدْنَـى لـصـفـحـة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ويــب : 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2</a:t>
            </a: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1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ar-DZ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حَــلِّــلْ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الـوثــيـــقــة  " أ "  الَّـتِي تُــوَضِّـحُ الـحَــدَّ الأَدْنَـى لـصـفـحـة ويــب، فَــمِـمَّـا تــتــألــف صــفــحــات </a:t>
            </a:r>
            <a:r>
              <a:rPr lang="ar-DZ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الـويــب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HTML Page / Web </a:t>
            </a:r>
            <a:r>
              <a:rPr lang="fr-FR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ar-DZ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fr-FR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؟ 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ومَــاذَا تَــسْــتَــنْــتِـج  ؟  </a:t>
            </a:r>
            <a:endParaRPr lang="ar-DZ" sz="4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862" y="471074"/>
            <a:ext cx="8240275" cy="5915851"/>
          </a:xfrm>
          <a:prstGeom prst="rect">
            <a:avLst/>
          </a:prstGeom>
          <a:ln w="19050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616620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2) الـشـكـل 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الـنـظـامـي الأَدْنَـى لـصـفـحـة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ويــب : 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2</a:t>
            </a: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1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ar-DZ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حَــلِّــلْ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الـوثــيـــقــة  " أ "  الَّـتِي تُــوَضِّـحُ الـحَــدَّ الأَدْنَـى لـصـفـحـة ويــب، فَــمِـمَّـا تــتــألــف صــفــحــات </a:t>
            </a:r>
            <a:r>
              <a:rPr lang="ar-DZ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الـويــب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HTML Page / Web </a:t>
            </a:r>
            <a:r>
              <a:rPr lang="fr-FR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ar-DZ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fr-FR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؟ 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ومَــاذَا تَــسْــتَــنْــتِـج  ؟  </a:t>
            </a:r>
            <a:endParaRPr lang="ar-DZ" sz="4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862" y="471074"/>
            <a:ext cx="8240275" cy="5915851"/>
          </a:xfrm>
          <a:prstGeom prst="rect">
            <a:avLst/>
          </a:prstGeom>
          <a:ln w="19050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7" name="Rectangle 6"/>
          <p:cNvSpPr/>
          <p:nvPr/>
        </p:nvSpPr>
        <p:spPr>
          <a:xfrm rot="16200000">
            <a:off x="8559856" y="3896208"/>
            <a:ext cx="2448272" cy="6497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rtl="1"/>
            <a:r>
              <a:rPr lang="ar-DZ" sz="4400" b="1" dirty="0">
                <a:solidFill>
                  <a:srgbClr val="0070C0"/>
                </a:solidFill>
                <a:cs typeface="+mj-cs"/>
              </a:rPr>
              <a:t>الـمـحــتــوى</a:t>
            </a:r>
            <a:endParaRPr lang="fr-FR" sz="4400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35034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2) الـشـكـل 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الـنـظـامـي الأَدْنَـى لـصـفـحـة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ويــب : 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2</a:t>
            </a: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1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ar-DZ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حَــلِّــلْ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الـوثــيـــقــة  " أ "  الَّـتِي تُــوَضِّـحُ الـحَــدَّ الأَدْنَـى لـصـفـحـة ويــب، فَــمِـمَّـا تــتــألــف صــفــحــات </a:t>
            </a:r>
            <a:r>
              <a:rPr lang="ar-DZ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الـويــب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HTML Page / Web </a:t>
            </a:r>
            <a:r>
              <a:rPr lang="fr-FR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ar-DZ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fr-FR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؟  </a:t>
            </a:r>
            <a:r>
              <a:rPr lang="ar-DZ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ومَــاذَا تَــسْــتَــنْــتِـج  ؟  </a:t>
            </a:r>
            <a:endParaRPr lang="ar-DZ" sz="4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862" y="471074"/>
            <a:ext cx="8240275" cy="5915851"/>
          </a:xfrm>
          <a:prstGeom prst="rect">
            <a:avLst/>
          </a:prstGeom>
          <a:ln w="19050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7" name="Rectangle 6"/>
          <p:cNvSpPr/>
          <p:nvPr/>
        </p:nvSpPr>
        <p:spPr>
          <a:xfrm rot="16200000">
            <a:off x="8559856" y="3896208"/>
            <a:ext cx="2448272" cy="6497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rtl="1"/>
            <a:r>
              <a:rPr lang="ar-DZ" sz="4400" b="1" dirty="0">
                <a:solidFill>
                  <a:srgbClr val="0070C0"/>
                </a:solidFill>
                <a:cs typeface="+mj-cs"/>
              </a:rPr>
              <a:t>الـمـحــتــوى</a:t>
            </a:r>
            <a:endParaRPr lang="fr-FR" sz="4400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 rot="16200000">
            <a:off x="9063437" y="996325"/>
            <a:ext cx="2232736" cy="162547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مـعـلـومـات إضــافــيــة</a:t>
            </a:r>
            <a:endParaRPr lang="fr-FR" sz="4400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64730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3) مــفــهــوم الـوَسْـــم </a:t>
            </a:r>
            <a:r>
              <a:rPr lang="fr-FR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fr-FR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: 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3</a:t>
            </a: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1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ar-DZ" sz="4800" b="1" dirty="0"/>
              <a:t>أكــمــل الـفــراغــات بــتـعَــريــف الــوســم وتـحــديــد خــصـائــصـه</a:t>
            </a:r>
            <a:r>
              <a:rPr lang="ar-DZ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.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528259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( 3.</a:t>
            </a:r>
            <a:r>
              <a:rPr lang="ar-DZ" sz="4800" b="1" dirty="0" smtClean="0">
                <a:solidFill>
                  <a:srgbClr val="FF000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</a:rPr>
              <a:t>مــفــهــوم الـوَسْـــم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وســيــلــة تـسـمـح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(عــنـوان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فــقــرة، صــورة، قــائــمـة، جــدول ... ) فـي صـفـحـة ويــب بـحـيـث يَــتِــمُ مـن خــلالــها إتــمـــام وظــيـــفـــتــيــن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وَهُــمَــا 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تـوصـيــف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الـعــنــصــر :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يُـحَــدِّدُ الـوَسْـــمُ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الـعــنــصــر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صـفـحـة ويــب</a:t>
            </a:r>
            <a:endParaRPr lang="ar-DZ" sz="40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257003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( 3.</a:t>
            </a:r>
            <a:r>
              <a:rPr lang="ar-DZ" sz="4800" b="1" dirty="0" smtClean="0">
                <a:solidFill>
                  <a:srgbClr val="FF000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</a:rPr>
              <a:t>مــفــهــوم الـوَسْـــم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وســيــلــة تـسـمـح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(عــنـوان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فــقــرة، صــورة، قــائــمـة، جــدول ... ) فـي صـفـحـة ويــب بـحـيـث يَــتِــمُ مـن خــلالــها إتــمـــام وظــيـــفـــتــيــن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وَهُــمَــا 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تـوصـيــف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الـعــنــصــر :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يُـحَــدِّدُ الـوَسْـــمُ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الـعــنــصــر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صـفـحـة ويــب</a:t>
            </a:r>
            <a:endParaRPr lang="ar-DZ" sz="40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3778096" y="1675856"/>
            <a:ext cx="3348000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بإدراج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عـنـصــر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11392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( 3.</a:t>
            </a:r>
            <a:r>
              <a:rPr lang="ar-DZ" sz="4800" b="1" dirty="0" smtClean="0">
                <a:solidFill>
                  <a:srgbClr val="FF000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</a:rPr>
              <a:t>مــفــهــوم الـوَسْـــم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وســيــلــة تـسـمـح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(عــنـوان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فــقــرة، صــورة، قــائــمـة، جــدول ... ) فـي صـفـحـة ويــب بـحـيـث يَــتِــمُ مـن خــلالــها إتــمـــام وظــيـــفـــتــيــن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وَهُــمَــا 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تـوصـيــف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الـعــنــصــر :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يُـحَــدِّدُ الـوَسْـــمُ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الـعــنــصــر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صـفـحـة ويــب</a:t>
            </a:r>
            <a:endParaRPr lang="ar-DZ" sz="40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3778096" y="1675856"/>
            <a:ext cx="3348000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بإدراج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عـنـصــر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0219" y="4437112"/>
            <a:ext cx="2376265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طــبــيــعــة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23992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( 3.</a:t>
            </a:r>
            <a:r>
              <a:rPr lang="ar-DZ" sz="4800" b="1" dirty="0" smtClean="0">
                <a:solidFill>
                  <a:srgbClr val="FF000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</a:rPr>
              <a:t>مــفــهــوم الـوَسْـــم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وســيــلــة تـسـمـح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(عــنـوان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فــقــرة، صــورة، قــائــمـة، جــدول ... ) فـي صـفـحـة ويــب بـحـيـث يَــتِــمُ مـن خــلالــها إتــمـــام وظــيـــفـــتــيــن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وَهُــمَــا 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تـوصـيــف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الـعــنــصــر :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يُـحَــدِّدُ الـوَسْـــمُ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الـعــنــصــر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صـفـحـة ويــب</a:t>
            </a:r>
            <a:endParaRPr lang="ar-DZ" sz="40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3778096" y="1675856"/>
            <a:ext cx="3348000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بإدراج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عـنـصــر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0219" y="4437112"/>
            <a:ext cx="2376265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طــبــيــعــةَ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528048" y="5353139"/>
            <a:ext cx="2376265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دَوْرَهُ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06633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( 3.</a:t>
            </a:r>
            <a:r>
              <a:rPr lang="ar-DZ" sz="4800" b="1" dirty="0" smtClean="0">
                <a:solidFill>
                  <a:srgbClr val="FF000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</a:rPr>
              <a:t>مــفــهــوم الـوَسْـــم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تـحــديـــد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طَـــرَفَــيْ الـعــنــصــر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يُــبَــيِّــنُ الـوَسْـــمُ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الـعــنــصــر 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الـعــنــصــر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جُــلُّ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الــوُسُــوم لـهـا الـشـكــل الـنـظــامـي الـتــالـي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311342"/>
              </p:ext>
            </p:extLst>
          </p:nvPr>
        </p:nvGraphicFramePr>
        <p:xfrm>
          <a:off x="1559496" y="4653136"/>
          <a:ext cx="9217024" cy="1008112"/>
        </p:xfrm>
        <a:graphic>
          <a:graphicData uri="http://schemas.openxmlformats.org/drawingml/2006/table">
            <a:tbl>
              <a:tblPr rtl="1" firstRow="1" firstCol="1" bandRow="1"/>
              <a:tblGrid>
                <a:gridCol w="9217024"/>
              </a:tblGrid>
              <a:tr h="1008112">
                <a:tc>
                  <a:txBody>
                    <a:bodyPr/>
                    <a:lstStyle/>
                    <a:p>
                      <a:pPr marL="457200" algn="ct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fr-FR" sz="40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nom_balise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</a:t>
                      </a:r>
                      <a:r>
                        <a:rPr lang="fr-FR" sz="40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élément  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fr-FR" sz="40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fr-FR" sz="40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nom_balise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</a:t>
                      </a:r>
                      <a:endParaRPr lang="fr-FR" sz="3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3615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( 3.</a:t>
            </a:r>
            <a:r>
              <a:rPr lang="ar-DZ" sz="4800" b="1" dirty="0" smtClean="0">
                <a:solidFill>
                  <a:srgbClr val="FF000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</a:rPr>
              <a:t>مــفــهــوم الـوَسْـــم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تـحــديـــد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طَـــرَفَــيْ الـعــنــصــر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يُــبَــيِّــنُ الـوَسْـــمُ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الـعــنــصــر 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الـعــنــصــر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جُــلُّ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الــوُسُــوم لـهـا الـشـكــل الـنـظــامـي الـتــالـي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760296" y="2492896"/>
            <a:ext cx="2376265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بــدايــة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46744" y="2492896"/>
            <a:ext cx="2376265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نـهـايــ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311342"/>
              </p:ext>
            </p:extLst>
          </p:nvPr>
        </p:nvGraphicFramePr>
        <p:xfrm>
          <a:off x="1559496" y="4653136"/>
          <a:ext cx="9217024" cy="1008112"/>
        </p:xfrm>
        <a:graphic>
          <a:graphicData uri="http://schemas.openxmlformats.org/drawingml/2006/table">
            <a:tbl>
              <a:tblPr rtl="1" firstRow="1" firstCol="1" bandRow="1"/>
              <a:tblGrid>
                <a:gridCol w="9217024"/>
              </a:tblGrid>
              <a:tr h="1008112">
                <a:tc>
                  <a:txBody>
                    <a:bodyPr/>
                    <a:lstStyle/>
                    <a:p>
                      <a:pPr marL="457200" algn="ct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fr-FR" sz="40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nom_balise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</a:t>
                      </a:r>
                      <a:r>
                        <a:rPr lang="fr-FR" sz="40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élément  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fr-FR" sz="40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fr-FR" sz="40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nom_balise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</a:t>
                      </a:r>
                      <a:endParaRPr lang="fr-FR" sz="3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9941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( 3.</a:t>
            </a:r>
            <a:r>
              <a:rPr lang="ar-DZ" sz="4800" b="1" dirty="0" smtClean="0">
                <a:solidFill>
                  <a:srgbClr val="FF000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</a:rPr>
              <a:t>مــفــهــوم الـوَسْـــم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كُـلُّ </a:t>
            </a:r>
            <a:r>
              <a:rPr lang="ar-DZ" sz="4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الـوُسُــوم الـمُــزْدَوَجَــة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لـهـا الـشـكــل الـنـظــامـي الـتـالـي :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903921"/>
              </p:ext>
            </p:extLst>
          </p:nvPr>
        </p:nvGraphicFramePr>
        <p:xfrm>
          <a:off x="1775520" y="2276872"/>
          <a:ext cx="9217024" cy="1008112"/>
        </p:xfrm>
        <a:graphic>
          <a:graphicData uri="http://schemas.openxmlformats.org/drawingml/2006/table">
            <a:tbl>
              <a:tblPr rtl="1" firstRow="1" firstCol="1" bandRow="1"/>
              <a:tblGrid>
                <a:gridCol w="9217024"/>
              </a:tblGrid>
              <a:tr h="1008112">
                <a:tc>
                  <a:txBody>
                    <a:bodyPr/>
                    <a:lstStyle/>
                    <a:p>
                      <a:pPr marL="457200" algn="ct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fr-FR" sz="40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nom_balise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</a:t>
                      </a:r>
                      <a:r>
                        <a:rPr lang="fr-FR" sz="40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élément  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fr-FR" sz="40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fr-FR" sz="40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nom_balise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</a:t>
                      </a:r>
                      <a:endParaRPr lang="fr-FR" sz="3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337" y="3445346"/>
            <a:ext cx="9839325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968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( 3.</a:t>
            </a:r>
            <a:r>
              <a:rPr lang="ar-DZ" sz="4800" b="1" dirty="0" smtClean="0">
                <a:solidFill>
                  <a:srgbClr val="FF000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</a:rPr>
              <a:t>مــفــهــوم الـوَسْـــم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كُـلُّ </a:t>
            </a:r>
            <a:r>
              <a:rPr lang="ar-DZ" sz="4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الـوُسُــوم الـمُــزْدَوَجَــة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لـهـا الـشـكــل الـنـظــامـي الـتـالـي :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903921"/>
              </p:ext>
            </p:extLst>
          </p:nvPr>
        </p:nvGraphicFramePr>
        <p:xfrm>
          <a:off x="1775520" y="2276872"/>
          <a:ext cx="9217024" cy="1008112"/>
        </p:xfrm>
        <a:graphic>
          <a:graphicData uri="http://schemas.openxmlformats.org/drawingml/2006/table">
            <a:tbl>
              <a:tblPr rtl="1" firstRow="1" firstCol="1" bandRow="1"/>
              <a:tblGrid>
                <a:gridCol w="9217024"/>
              </a:tblGrid>
              <a:tr h="1008112">
                <a:tc>
                  <a:txBody>
                    <a:bodyPr/>
                    <a:lstStyle/>
                    <a:p>
                      <a:pPr marL="457200" algn="ct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fr-FR" sz="40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nom_balise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</a:t>
                      </a:r>
                      <a:r>
                        <a:rPr lang="fr-FR" sz="40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élément  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fr-FR" sz="40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fr-FR" sz="40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nom_balise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</a:t>
                      </a:r>
                      <a:endParaRPr lang="fr-FR" sz="3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337" y="3445346"/>
            <a:ext cx="9839325" cy="26479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74736" y="3880161"/>
            <a:ext cx="1904769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بــدايــة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09669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( 3.</a:t>
            </a:r>
            <a:r>
              <a:rPr lang="ar-DZ" sz="4800" b="1" dirty="0" smtClean="0">
                <a:solidFill>
                  <a:srgbClr val="FF000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</a:rPr>
              <a:t>مــفــهــوم الـوَسْـــم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كُـلُّ </a:t>
            </a:r>
            <a:r>
              <a:rPr lang="ar-DZ" sz="4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الـوُسُــوم الـمُــزْدَوَجَــة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لـهـا الـشـكــل الـنـظــامـي الـتـالـي :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903921"/>
              </p:ext>
            </p:extLst>
          </p:nvPr>
        </p:nvGraphicFramePr>
        <p:xfrm>
          <a:off x="1775520" y="2276872"/>
          <a:ext cx="9217024" cy="1008112"/>
        </p:xfrm>
        <a:graphic>
          <a:graphicData uri="http://schemas.openxmlformats.org/drawingml/2006/table">
            <a:tbl>
              <a:tblPr rtl="1" firstRow="1" firstCol="1" bandRow="1"/>
              <a:tblGrid>
                <a:gridCol w="9217024"/>
              </a:tblGrid>
              <a:tr h="1008112">
                <a:tc>
                  <a:txBody>
                    <a:bodyPr/>
                    <a:lstStyle/>
                    <a:p>
                      <a:pPr marL="457200" algn="ct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fr-FR" sz="40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nom_balise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</a:t>
                      </a:r>
                      <a:r>
                        <a:rPr lang="fr-FR" sz="40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élément  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fr-FR" sz="40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fr-FR" sz="40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nom_balise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</a:t>
                      </a:r>
                      <a:endParaRPr lang="fr-FR" sz="3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337" y="3445346"/>
            <a:ext cx="9839325" cy="26479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74736" y="3880161"/>
            <a:ext cx="1904769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بــدايــة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071664" y="4855592"/>
            <a:ext cx="1899958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نـهـايــ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3720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( 3.</a:t>
            </a:r>
            <a:r>
              <a:rPr lang="ar-DZ" sz="4800" b="1" dirty="0" smtClean="0">
                <a:solidFill>
                  <a:srgbClr val="FF000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</a:rPr>
              <a:t>مــفــهــوم الـوَسْـــم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كُـلُّ </a:t>
            </a:r>
            <a:r>
              <a:rPr lang="ar-DZ" sz="40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الـوُسُــوم </a:t>
            </a:r>
            <a:r>
              <a:rPr lang="ar-DZ" sz="4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الـمُــزْدَوَجَــة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لـهـا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الـشـكــل الـنـظــامـي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الـتـالـي 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903921"/>
              </p:ext>
            </p:extLst>
          </p:nvPr>
        </p:nvGraphicFramePr>
        <p:xfrm>
          <a:off x="1775520" y="2276872"/>
          <a:ext cx="9217024" cy="1008112"/>
        </p:xfrm>
        <a:graphic>
          <a:graphicData uri="http://schemas.openxmlformats.org/drawingml/2006/table">
            <a:tbl>
              <a:tblPr rtl="1" firstRow="1" firstCol="1" bandRow="1"/>
              <a:tblGrid>
                <a:gridCol w="9217024"/>
              </a:tblGrid>
              <a:tr h="1008112">
                <a:tc>
                  <a:txBody>
                    <a:bodyPr/>
                    <a:lstStyle/>
                    <a:p>
                      <a:pPr marL="457200" algn="ct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fr-FR" sz="40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nom_balise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</a:t>
                      </a:r>
                      <a:r>
                        <a:rPr lang="fr-FR" sz="40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élément  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fr-FR" sz="40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fr-FR" sz="40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nom_balise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</a:t>
                      </a:r>
                      <a:endParaRPr lang="fr-FR" sz="3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708" y="3500351"/>
            <a:ext cx="9642784" cy="2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280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( 3.</a:t>
            </a:r>
            <a:r>
              <a:rPr lang="ar-DZ" sz="4800" b="1" dirty="0" smtClean="0">
                <a:solidFill>
                  <a:srgbClr val="FF000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</a:rPr>
              <a:t>مــفــهــوم الـوَسْـــم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كُـلُّ </a:t>
            </a:r>
            <a:r>
              <a:rPr lang="ar-DZ" sz="40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الـوُسُــوم </a:t>
            </a:r>
            <a:r>
              <a:rPr lang="ar-DZ" sz="4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الـمُــزْدَوَجَــة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لـهـا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الـشـكــل الـنـظــامـي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الـتـالـي 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903921"/>
              </p:ext>
            </p:extLst>
          </p:nvPr>
        </p:nvGraphicFramePr>
        <p:xfrm>
          <a:off x="1775520" y="2276872"/>
          <a:ext cx="9217024" cy="1008112"/>
        </p:xfrm>
        <a:graphic>
          <a:graphicData uri="http://schemas.openxmlformats.org/drawingml/2006/table">
            <a:tbl>
              <a:tblPr rtl="1" firstRow="1" firstCol="1" bandRow="1"/>
              <a:tblGrid>
                <a:gridCol w="9217024"/>
              </a:tblGrid>
              <a:tr h="1008112">
                <a:tc>
                  <a:txBody>
                    <a:bodyPr/>
                    <a:lstStyle/>
                    <a:p>
                      <a:pPr marL="457200" algn="ct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fr-FR" sz="40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nom_balise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</a:t>
                      </a:r>
                      <a:r>
                        <a:rPr lang="fr-FR" sz="40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élément  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fr-FR" sz="40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fr-FR" sz="40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nom_balise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</a:t>
                      </a:r>
                      <a:endParaRPr lang="fr-FR" sz="3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708" y="3500351"/>
            <a:ext cx="9642784" cy="26604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631504" y="3783099"/>
            <a:ext cx="2412000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تَــوْصِــيــفُـهُ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55738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( 3.</a:t>
            </a:r>
            <a:r>
              <a:rPr lang="ar-DZ" sz="4800" b="1" dirty="0" smtClean="0">
                <a:solidFill>
                  <a:srgbClr val="FF000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</a:rPr>
              <a:t>مــفــهــوم الـوَسْـــم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كُـلُّ </a:t>
            </a:r>
            <a:r>
              <a:rPr lang="ar-DZ" sz="40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الـوُسُــوم </a:t>
            </a:r>
            <a:r>
              <a:rPr lang="ar-DZ" sz="4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الـمُــزْدَوَجَــة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لـهـا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الـشـكــل الـنـظــامـي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الـتـالـي 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903921"/>
              </p:ext>
            </p:extLst>
          </p:nvPr>
        </p:nvGraphicFramePr>
        <p:xfrm>
          <a:off x="1775520" y="2276872"/>
          <a:ext cx="9217024" cy="1008112"/>
        </p:xfrm>
        <a:graphic>
          <a:graphicData uri="http://schemas.openxmlformats.org/drawingml/2006/table">
            <a:tbl>
              <a:tblPr rtl="1" firstRow="1" firstCol="1" bandRow="1"/>
              <a:tblGrid>
                <a:gridCol w="9217024"/>
              </a:tblGrid>
              <a:tr h="1008112">
                <a:tc>
                  <a:txBody>
                    <a:bodyPr/>
                    <a:lstStyle/>
                    <a:p>
                      <a:pPr marL="457200" algn="ct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fr-FR" sz="40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nom_balise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</a:t>
                      </a:r>
                      <a:r>
                        <a:rPr lang="fr-FR" sz="40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élément  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fr-FR" sz="40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fr-FR" sz="4000" b="1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nom_balise</a:t>
                      </a:r>
                      <a:r>
                        <a:rPr lang="fr-FR" sz="4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&gt;</a:t>
                      </a:r>
                      <a:endParaRPr lang="fr-FR" sz="3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708" y="3500351"/>
            <a:ext cx="9642784" cy="26604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631504" y="3783099"/>
            <a:ext cx="2412000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تَــوْصِــيــفُـهُ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174736" y="4869833"/>
            <a:ext cx="2520000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طَــبِــيــعَــةَ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251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2" grpId="0" animBg="1"/>
      <p:bldP spid="1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( 3.</a:t>
            </a:r>
            <a:r>
              <a:rPr lang="ar-DZ" sz="4800" b="1" dirty="0" smtClean="0">
                <a:solidFill>
                  <a:srgbClr val="FF000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</a:rPr>
              <a:t>مــفــهــوم الـوَسْـــم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نــشــاط 4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أكــمــل الـفــراغــات بــتـحــديـــد طــبــيــعــة كُــلِّ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وَسْـــمٍ 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560383"/>
            <a:ext cx="9072000" cy="2257462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35" y="4216556"/>
            <a:ext cx="9072000" cy="2121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743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( 3.</a:t>
            </a:r>
            <a:r>
              <a:rPr lang="ar-DZ" sz="4800" b="1" dirty="0" smtClean="0">
                <a:solidFill>
                  <a:srgbClr val="FF000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</a:rPr>
              <a:t>مــفــهــوم الـوَسْـــم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نــشــاط 4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أكــمــل الـفــراغــات بــتـحــديـــد طــبــيــعــة كُــلِّ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وَسْـــمٍ 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560383"/>
            <a:ext cx="9072000" cy="2257462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35" y="4216556"/>
            <a:ext cx="9072000" cy="2121577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788405" y="2560383"/>
            <a:ext cx="3348104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بــدايــة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صـفـحـة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91145" y="3496399"/>
            <a:ext cx="3348104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ن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هـ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ايــة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صـفـحـة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35540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4" grpId="0" animBg="1"/>
      <p:bldP spid="1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( 3.</a:t>
            </a:r>
            <a:r>
              <a:rPr lang="ar-DZ" sz="4800" b="1" dirty="0" smtClean="0">
                <a:solidFill>
                  <a:srgbClr val="FF000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</a:rPr>
              <a:t>مــفــهــوم الـوَسْـــم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Balise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نــشــاط 4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أكــمــل الـفــراغــات بــتـحــديـــد طــبــيــعــة كُــلِّ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وَسْـــمٍ 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560383"/>
            <a:ext cx="9072000" cy="2257462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35" y="4216556"/>
            <a:ext cx="9072000" cy="2121577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788405" y="2560383"/>
            <a:ext cx="3348104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بــدايــة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صـفـحـة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91145" y="3496399"/>
            <a:ext cx="3348104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ن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هـ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ايــة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صـفـحـة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567608" y="4432415"/>
            <a:ext cx="3960439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بــدايــة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رأس الـصـفـحـة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567608" y="5325953"/>
            <a:ext cx="3944253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نـهـايـة 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رأس الـصـفـحـة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5537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4" grpId="0" animBg="1"/>
      <p:bldP spid="15" grpId="0" animBg="1"/>
      <p:bldP spid="16" grpId="0" animBg="1"/>
      <p:bldP spid="1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نــشــاط 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endParaRPr lang="ar-DZ" sz="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يـضـم الـجــزء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Entête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الـصـفــحــة، الـكــلــمــات الـمــفــتــاحــيــة والأمــور الـخــاصــة بـالـصــفــحــة والَّـتي لا تُــعــتــبَــر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685229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نــشــاط 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endParaRPr lang="ar-DZ" sz="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يـضـم الـجــزء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Entête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الـصـفــحــة، الـكــلــمــات الـمــفــتــاحــيــة والأمــور الـخــاصــة بـالـصــفــحــة والَّـتي لا تُــعــتــبَــر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8262" y="274638"/>
            <a:ext cx="8240275" cy="6264687"/>
          </a:xfrm>
          <a:prstGeom prst="rect">
            <a:avLst/>
          </a:prstGeom>
          <a:ln w="19050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584035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نــشــاط 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endParaRPr lang="ar-DZ" sz="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يـضـم الـجــزء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Entête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الـصـفــحــة، الـكــلــمــات الـمــفــتــاحــيــة والأمــور الـخــاصــة بـالـصــفــحــة والَّـتي لا تُــعــتــبَــر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11" name="Rectangle 10"/>
          <p:cNvSpPr/>
          <p:nvPr/>
        </p:nvSpPr>
        <p:spPr>
          <a:xfrm>
            <a:off x="1114001" y="1741149"/>
            <a:ext cx="3348104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عــنــوان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10040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( 3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نــشــاط 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ar-DZ" sz="4800" b="1" dirty="0" smtClean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endParaRPr lang="ar-DZ" sz="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يـضـم الـجــزء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Entête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الـصـفــحــة، الـكــلــمــات الـمــفــتــاحــيــة والأمــور الـخــاصــة بـالـصــفــحــة والَّـتي لا تُــعــتــبَــر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11" name="Rectangle 10"/>
          <p:cNvSpPr/>
          <p:nvPr/>
        </p:nvSpPr>
        <p:spPr>
          <a:xfrm>
            <a:off x="1114001" y="1741149"/>
            <a:ext cx="3348104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عــنــوان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27448" y="3632580"/>
            <a:ext cx="3348104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الـمـحــتــوى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43816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1" grpId="0" animBg="1"/>
      <p:bldP spid="1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</a:rPr>
              <a:t> ( 3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نــشــاط 4 </a:t>
            </a:r>
            <a:r>
              <a:rPr lang="ar-DZ" sz="4800" b="1" dirty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>
                <a:solidFill>
                  <a:srgbClr val="FF0000"/>
                </a:solidFill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200000"/>
              </a:lnSpc>
              <a:buNone/>
            </a:pP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يـضـم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الـجــزء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Body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( Corps )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الـصـفــحــة، وهــو كــل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مــا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 </a:t>
            </a:r>
            <a:r>
              <a:rPr lang="ar-SA" sz="4000" b="1" dirty="0">
                <a:solidFill>
                  <a:srgbClr val="002060"/>
                </a:solidFill>
                <a:cs typeface="+mj-cs"/>
              </a:rPr>
              <a:t>الـمــســتــخــدم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</a:t>
            </a:r>
            <a:r>
              <a:rPr lang="ar-SA" sz="4000" b="1" dirty="0" smtClean="0">
                <a:solidFill>
                  <a:srgbClr val="002060"/>
                </a:solidFill>
                <a:cs typeface="+mj-cs"/>
              </a:rPr>
              <a:t>صـفـحـة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ويــب.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87" y="1574554"/>
            <a:ext cx="10368000" cy="147590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44" y="2861801"/>
            <a:ext cx="10368000" cy="118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173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</a:rPr>
              <a:t> ( 3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نــشــاط 4 </a:t>
            </a:r>
            <a:r>
              <a:rPr lang="ar-DZ" sz="4800" b="1" dirty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>
                <a:solidFill>
                  <a:srgbClr val="FF0000"/>
                </a:solidFill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200000"/>
              </a:lnSpc>
              <a:buNone/>
            </a:pP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يـضـم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الـجــزء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Body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( Corps )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الـصـفــحــة، وهــو كــل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مــا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 </a:t>
            </a:r>
            <a:r>
              <a:rPr lang="ar-SA" sz="4000" b="1" dirty="0">
                <a:solidFill>
                  <a:srgbClr val="002060"/>
                </a:solidFill>
                <a:cs typeface="+mj-cs"/>
              </a:rPr>
              <a:t>الـمــســتــخــدم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</a:t>
            </a:r>
            <a:r>
              <a:rPr lang="ar-SA" sz="4000" b="1" dirty="0" smtClean="0">
                <a:solidFill>
                  <a:srgbClr val="002060"/>
                </a:solidFill>
                <a:cs typeface="+mj-cs"/>
              </a:rPr>
              <a:t>صـفـحـة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ويــب.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87" y="1574554"/>
            <a:ext cx="10368000" cy="147590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44" y="2861801"/>
            <a:ext cx="10368000" cy="118565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3071664" y="1556792"/>
            <a:ext cx="4176464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بــدايــة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جـسـم 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الـصـفـحـة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071664" y="2771463"/>
            <a:ext cx="4104456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نـهـايـة 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جـسـم الـصـفـحـة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51338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7" grpId="0" animBg="1"/>
      <p:bldP spid="1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</a:rPr>
              <a:t> ( 3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نــشــاط 4 </a:t>
            </a:r>
            <a:r>
              <a:rPr lang="ar-DZ" sz="4800" b="1" dirty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>
                <a:solidFill>
                  <a:srgbClr val="FF0000"/>
                </a:solidFill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200000"/>
              </a:lnSpc>
              <a:buNone/>
            </a:pP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يـضـم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الـجــزء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Body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( Corps )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الـصـفــحــة، وهــو كــل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مــا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 </a:t>
            </a:r>
            <a:r>
              <a:rPr lang="ar-SA" sz="4000" b="1" dirty="0">
                <a:solidFill>
                  <a:srgbClr val="002060"/>
                </a:solidFill>
                <a:cs typeface="+mj-cs"/>
              </a:rPr>
              <a:t>الـمــســتــخــدم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</a:t>
            </a:r>
            <a:r>
              <a:rPr lang="ar-SA" sz="4000" b="1" dirty="0" smtClean="0">
                <a:solidFill>
                  <a:srgbClr val="002060"/>
                </a:solidFill>
                <a:cs typeface="+mj-cs"/>
              </a:rPr>
              <a:t>صـفـحـة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ويــب.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87" y="1574554"/>
            <a:ext cx="10368000" cy="147590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44" y="2861801"/>
            <a:ext cx="10368000" cy="118565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3071664" y="1556792"/>
            <a:ext cx="4176464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بــدايــة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جـسـم 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الـصـفـحـة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071664" y="2771463"/>
            <a:ext cx="4104456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نـهـايـة 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جـسـم الـصـفـحـة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987781" y="3986134"/>
            <a:ext cx="2484008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مـحــتــوى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43405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7" grpId="0" animBg="1"/>
      <p:bldP spid="19" grpId="0" animBg="1"/>
      <p:bldP spid="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</a:rPr>
              <a:t> ( 3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نــشــاط 4 </a:t>
            </a:r>
            <a:r>
              <a:rPr lang="ar-DZ" sz="4800" b="1" dirty="0">
                <a:solidFill>
                  <a:srgbClr val="00B050"/>
                </a:solidFill>
              </a:rPr>
              <a:t> ــ  تــــابـــع </a:t>
            </a:r>
            <a:r>
              <a:rPr lang="ar-DZ" sz="4800" b="1" dirty="0">
                <a:solidFill>
                  <a:srgbClr val="FF0000"/>
                </a:solidFill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200000"/>
              </a:lnSpc>
              <a:buNone/>
            </a:pP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يـضـم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الـجــزء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Body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( Corps )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الـصـفــحــة، وهــو كــل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مــا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 </a:t>
            </a:r>
            <a:r>
              <a:rPr lang="ar-SA" sz="4000" b="1" dirty="0">
                <a:solidFill>
                  <a:srgbClr val="002060"/>
                </a:solidFill>
                <a:cs typeface="+mj-cs"/>
              </a:rPr>
              <a:t>الـمــســتــخــدم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</a:t>
            </a:r>
            <a:r>
              <a:rPr lang="ar-SA" sz="4000" b="1" dirty="0" smtClean="0">
                <a:solidFill>
                  <a:srgbClr val="002060"/>
                </a:solidFill>
                <a:cs typeface="+mj-cs"/>
              </a:rPr>
              <a:t>صـفـحـة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ويــب.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87" y="1574554"/>
            <a:ext cx="10368000" cy="147590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44" y="2861801"/>
            <a:ext cx="10368000" cy="118565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3071664" y="1556792"/>
            <a:ext cx="4176464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بــدايــة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جـسـم 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الـصـفـحـة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071664" y="2771463"/>
            <a:ext cx="4104456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نـهـايـة 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جـسـم الـصـفـحـة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987781" y="3986134"/>
            <a:ext cx="2484008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مـحــتــوى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043092" y="4898210"/>
            <a:ext cx="1728192" cy="79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ي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َ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ــر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َ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اه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ُ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19820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7" grpId="0" animBg="1"/>
      <p:bldP spid="19" grpId="0" animBg="1"/>
      <p:bldP spid="23" grpId="0" animBg="1"/>
      <p:bldP spid="2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5400" b="1" dirty="0" smtClean="0">
                <a:solidFill>
                  <a:srgbClr val="FF0000"/>
                </a:solidFill>
                <a:cs typeface="+mj-cs"/>
              </a:rPr>
              <a:t>4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)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الـوســوم 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الـشــهــيــرة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: 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</a:t>
            </a:r>
            <a:r>
              <a:rPr lang="fr-FR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1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ar-DZ" sz="4800" b="1" dirty="0"/>
              <a:t>كــيــف يَــتِـمُّ إِدْرَاجُ الـفــقــرات وعـــنـــاويــنـهـا فـي صــفــحـــات الـويــب </a:t>
            </a:r>
            <a:r>
              <a:rPr lang="ar-DZ" sz="4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90618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.4 ــ  عــنــاويــن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الـفــقــرات  </a:t>
            </a:r>
            <a:r>
              <a:rPr lang="en-US" sz="4800" b="1" dirty="0">
                <a:solidFill>
                  <a:srgbClr val="FF0000"/>
                </a:solidFill>
                <a:latin typeface="Liberation Serif"/>
                <a:ea typeface="Droid Sans Fallback"/>
                <a:cs typeface="FreeSans"/>
              </a:rPr>
              <a:t>H</a:t>
            </a:r>
            <a:r>
              <a:rPr lang="en-US" sz="4800" b="1" dirty="0">
                <a:solidFill>
                  <a:srgbClr val="00B050"/>
                </a:solidFill>
                <a:latin typeface="Liberation Serif"/>
                <a:ea typeface="Droid Sans Fallback"/>
                <a:cs typeface="FreeSans"/>
              </a:rPr>
              <a:t>eading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 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يــمــكــنــنــا تــوظــيــف ســتـة مــســتــويــات مـن عــنــاويــن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الـفــقــرات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وذلـك بــعــد اســتــغــلال الــوســوم الــتــالــيــة  :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804679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.4 ــ  عــنــاويــن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الـفــقــرات  </a:t>
            </a:r>
            <a:r>
              <a:rPr lang="en-US" sz="4800" b="1" dirty="0">
                <a:solidFill>
                  <a:srgbClr val="FF0000"/>
                </a:solidFill>
                <a:latin typeface="Liberation Serif"/>
                <a:ea typeface="Droid Sans Fallback"/>
                <a:cs typeface="FreeSans"/>
              </a:rPr>
              <a:t>H</a:t>
            </a:r>
            <a:r>
              <a:rPr lang="en-US" sz="4800" b="1" dirty="0">
                <a:solidFill>
                  <a:srgbClr val="00B050"/>
                </a:solidFill>
                <a:latin typeface="Liberation Serif"/>
                <a:ea typeface="Droid Sans Fallback"/>
                <a:cs typeface="FreeSans"/>
              </a:rPr>
              <a:t>eading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 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يــمــكــنــنــا تــوظــيــف ســتـة مــســتــويــات مـن عــنــاويــن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الـفــقــرات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وذلـك بــعــد اســتــغــلال الــوســوم الــتــالــيــة  :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960096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11824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52301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h3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074660" y="4725144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h4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38737" y="4640756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h5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22132" y="4744626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h6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36597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.4 ــ  عــنــاويــن الـفــقــرات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يــمــكــنــنــا تــوظــيــف ســتـة مــســتــويــات مـن عــنــاويــن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الـفــقــرات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وذلـك بــعــد اســتــغــلال الــوســوم الــتــالــيــة  :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960096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11824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52301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h3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074660" y="4725144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h4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38737" y="4640756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h5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22132" y="4744626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h6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96983"/>
            <a:ext cx="12211050" cy="6356353"/>
          </a:xfrm>
          <a:prstGeom prst="rect">
            <a:avLst/>
          </a:prstGeom>
          <a:ln w="19050">
            <a:solidFill>
              <a:srgbClr val="002060"/>
            </a:solidFill>
          </a:ln>
        </p:spPr>
      </p:pic>
      <p:sp>
        <p:nvSpPr>
          <p:cNvPr id="31" name="Rectangle 30"/>
          <p:cNvSpPr/>
          <p:nvPr/>
        </p:nvSpPr>
        <p:spPr>
          <a:xfrm>
            <a:off x="6742454" y="5090904"/>
            <a:ext cx="612000" cy="61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h</a:t>
            </a:r>
            <a:r>
              <a:rPr lang="fr-FR" sz="3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1</a:t>
            </a:r>
            <a:endParaRPr lang="fr-FR" sz="3600" b="1" dirty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743018" y="5090904"/>
            <a:ext cx="612000" cy="61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1</a:t>
            </a:r>
            <a:endParaRPr lang="fr-FR" sz="3600" b="1" dirty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90350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31" grpId="0" animBg="1"/>
      <p:bldP spid="3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.4 ــ  عــنــاويــن الـفــقــرات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يــمــكــنــنــا تــوظــيــف ســتـة مــســتــويــات مـن عــنــاويــن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الـفــقــرات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وذلـك بــعــد اســتــغــلال الــوســوم الــتــالــيــة  :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960096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11824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52301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h3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074660" y="4725144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h4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38737" y="4640756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h5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22132" y="4744626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h6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96983"/>
            <a:ext cx="12211050" cy="6356353"/>
          </a:xfrm>
          <a:prstGeom prst="rect">
            <a:avLst/>
          </a:prstGeom>
          <a:ln w="19050">
            <a:solidFill>
              <a:srgbClr val="002060"/>
            </a:solidFill>
          </a:ln>
        </p:spPr>
      </p:pic>
      <p:sp>
        <p:nvSpPr>
          <p:cNvPr id="15" name="Rectangle 14"/>
          <p:cNvSpPr/>
          <p:nvPr/>
        </p:nvSpPr>
        <p:spPr>
          <a:xfrm>
            <a:off x="5502220" y="226035"/>
            <a:ext cx="612000" cy="61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665799" y="226035"/>
            <a:ext cx="612000" cy="61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510420" y="1989943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776896" y="1963049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742454" y="5090904"/>
            <a:ext cx="612000" cy="61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h</a:t>
            </a:r>
            <a:r>
              <a:rPr lang="fr-FR" sz="3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1</a:t>
            </a:r>
            <a:endParaRPr lang="fr-FR" sz="3600" b="1" dirty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743018" y="5090904"/>
            <a:ext cx="612000" cy="61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1</a:t>
            </a:r>
            <a:endParaRPr lang="fr-FR" sz="3600" b="1" dirty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47535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5" grpId="0" animBg="1"/>
      <p:bldP spid="16" grpId="0" animBg="1"/>
      <p:bldP spid="21" grpId="0" animBg="1"/>
      <p:bldP spid="22" grpId="0" animBg="1"/>
      <p:bldP spid="31" grpId="0" animBg="1"/>
      <p:bldP spid="3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.4 ــ  عــنــاويــن الـفــقــرات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يــمــكــنــنــا تــوظــيــف ســتـة مــســتــويــات مـن عــنــاويــن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الـفــقــرات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وذلـك بــعــد اســتــغــلال الــوســوم الــتــالــيــة  :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960096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11824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52301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h3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074660" y="4725144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h4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38737" y="4640756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h5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22132" y="4744626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h6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96983"/>
            <a:ext cx="12211050" cy="6356353"/>
          </a:xfrm>
          <a:prstGeom prst="rect">
            <a:avLst/>
          </a:prstGeom>
          <a:ln w="19050">
            <a:solidFill>
              <a:srgbClr val="002060"/>
            </a:solidFill>
          </a:ln>
        </p:spPr>
      </p:pic>
      <p:sp>
        <p:nvSpPr>
          <p:cNvPr id="15" name="Rectangle 14"/>
          <p:cNvSpPr/>
          <p:nvPr/>
        </p:nvSpPr>
        <p:spPr>
          <a:xfrm>
            <a:off x="5502220" y="226035"/>
            <a:ext cx="612000" cy="61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665799" y="226035"/>
            <a:ext cx="612000" cy="61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199017" y="837815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975541" y="792701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99017" y="1449836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041679" y="1395764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510420" y="1989943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776896" y="1963049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206113" y="2520893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1227132" y="2512819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105957" y="4266361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1198390" y="4260049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742454" y="5090904"/>
            <a:ext cx="612000" cy="61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h</a:t>
            </a:r>
            <a:r>
              <a:rPr lang="fr-FR" sz="3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1</a:t>
            </a:r>
            <a:endParaRPr lang="fr-FR" sz="3600" b="1" dirty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743018" y="5090904"/>
            <a:ext cx="612000" cy="61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1</a:t>
            </a:r>
            <a:endParaRPr lang="fr-FR" sz="3600" b="1" dirty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00159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.4 ــ  عــنــاويــن الـفــقــرات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يــمــكــنــنــا تــوظــيــف ســتـة مــســتــويــات مـن عــنــاويــن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الـفــقــرات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وذلـك بــعــد اســتــغــلال الــوســوم الــتــالــيــة  :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960096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11824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52301" y="3676779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h3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074660" y="4725144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h4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38737" y="4640756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h5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22132" y="4744626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h6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96983"/>
            <a:ext cx="12211050" cy="6356353"/>
          </a:xfrm>
          <a:prstGeom prst="rect">
            <a:avLst/>
          </a:prstGeom>
          <a:ln w="19050">
            <a:solidFill>
              <a:srgbClr val="002060"/>
            </a:solidFill>
          </a:ln>
        </p:spPr>
      </p:pic>
      <p:sp>
        <p:nvSpPr>
          <p:cNvPr id="15" name="Rectangle 14"/>
          <p:cNvSpPr/>
          <p:nvPr/>
        </p:nvSpPr>
        <p:spPr>
          <a:xfrm>
            <a:off x="5502220" y="226035"/>
            <a:ext cx="612000" cy="61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665799" y="226035"/>
            <a:ext cx="612000" cy="61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199017" y="837815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975541" y="792701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99017" y="1449836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041679" y="1395764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510420" y="1989943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776896" y="1963049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h1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206113" y="2520893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1227132" y="2512819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566948" y="3145305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h3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0916544" y="3133772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h3</a:t>
            </a:r>
            <a:endParaRPr lang="fr-FR" sz="28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559715" y="3632680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h3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1118592" y="3621147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h3</a:t>
            </a:r>
            <a:endParaRPr lang="fr-FR" sz="28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105957" y="4266361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1198390" y="4260049"/>
            <a:ext cx="612000" cy="54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h2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742454" y="5090904"/>
            <a:ext cx="612000" cy="61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h</a:t>
            </a:r>
            <a:r>
              <a:rPr lang="fr-FR" sz="3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1</a:t>
            </a:r>
            <a:endParaRPr lang="fr-FR" sz="3600" b="1" dirty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743018" y="5090904"/>
            <a:ext cx="612000" cy="61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1</a:t>
            </a:r>
            <a:endParaRPr lang="fr-FR" sz="3600" b="1" dirty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32248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.4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ــ  الـفــقـــرات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fr-FR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P</a:t>
            </a:r>
            <a:r>
              <a:rPr lang="fr-FR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aragraghs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1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/>
              <a:t>يــتِــمُ تـحــديـــد فــقــرة بــواســطــة الــوَسْـــمَـــيْــن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273052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.4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ــ  الـفــقـــرات 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fr-FR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P</a:t>
            </a:r>
            <a:r>
              <a:rPr lang="fr-FR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aragraghs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1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/>
              <a:t>يــتِــمُ تـحــديـــد فــقــرة بــواســطــة الــوَسْـــمَـــيْــن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</a:t>
            </a:r>
            <a:r>
              <a:rPr lang="fr-FR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&lt;………&gt;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0056440" y="3884576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/</a:t>
            </a: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p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000572" y="3884576"/>
            <a:ext cx="792088" cy="792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p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01922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ــ  الـصــور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والـرســومــات 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</a:t>
            </a:r>
            <a:r>
              <a:rPr lang="fr-FR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54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كــيــف يَــتِـمُّ إِدْرَاجُ الـصُّــوَرِ فـي صــفــحـــات الـويــب </a:t>
            </a:r>
            <a:r>
              <a:rPr lang="ar-DZ" sz="46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؟  </a:t>
            </a:r>
            <a:endParaRPr lang="ar-DZ" sz="46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516555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ــ  الـصــور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والـرســومــات </a:t>
            </a:r>
            <a:r>
              <a:rPr lang="fr-FR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r>
              <a:rPr lang="fr-FR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fr-FR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fr-FR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ــ  تـــابــع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إدراج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صــورة أو رســم في صـفـحـة ويــب يـكـون مـن خــلال الـوَسْــم الــمُــفْــرَد أو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الأُحَــادِي </a:t>
            </a:r>
            <a:r>
              <a:rPr lang="fr-FR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&lt;……..…/&gt;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والَّـذِي يَــضُـمُّ خــاصـيـة مُـهِــمَّــة وهـي  </a:t>
            </a:r>
            <a:r>
              <a:rPr lang="fr-FR" sz="4400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الّـتي نـضع بهـا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............................................................</a:t>
            </a:r>
            <a:r>
              <a:rPr lang="ar-DZ" sz="4400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وذلـك كـالـتـالـي :</a:t>
            </a: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843725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ــ  الـصــور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والـرســومــات </a:t>
            </a:r>
            <a:r>
              <a:rPr lang="fr-FR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r>
              <a:rPr lang="fr-FR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fr-FR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fr-FR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ــ  تـــابــع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إدراج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صــورة أو رســم في صـفـحـة ويــب يـكـون مـن خــلال الـوَسْــم الــمُــفْــرَد أو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الأُحَــادِي </a:t>
            </a:r>
            <a:r>
              <a:rPr lang="fr-FR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&lt;……..…/&gt;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والَّـذِي يَــضُـمُّ خــاصـيـة مُـهِــمَّــة وهـي  </a:t>
            </a:r>
            <a:r>
              <a:rPr lang="fr-FR" sz="4400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الّـتي نـضع بهـا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............................................................</a:t>
            </a:r>
            <a:r>
              <a:rPr lang="ar-DZ" sz="4400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وذلـك كـالـتـالـي :</a:t>
            </a: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134984" y="3177064"/>
            <a:ext cx="1183680" cy="82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img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2326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ــ  الـصــور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والـرســومــات </a:t>
            </a:r>
            <a:r>
              <a:rPr lang="fr-FR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r>
              <a:rPr lang="fr-FR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fr-FR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fr-FR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ــ  تـــابــع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إدراج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صــورة أو رســم في صـفـحـة ويــب يـكـون مـن خــلال الـوَسْــم الــمُــفْــرَد أو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الأُحَــادِي </a:t>
            </a:r>
            <a:r>
              <a:rPr lang="fr-FR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&lt;……..…/&gt;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والَّـذِي يَــضُـمُّ خــاصـيـة مُـهِــمَّــة وهـي  </a:t>
            </a:r>
            <a:r>
              <a:rPr lang="fr-FR" sz="4400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الّـتي نـضع بهـا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............................................................</a:t>
            </a:r>
            <a:r>
              <a:rPr lang="ar-DZ" sz="4400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وذلـك كـالـتـالـي :</a:t>
            </a: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134984" y="3177064"/>
            <a:ext cx="1183680" cy="82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img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0840" y="5013176"/>
            <a:ext cx="59766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عُـــنْــوَانَ أو مَــصْــدَرَ الـصُـورَةِ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88470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ــ  الـصــور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والـرســومــات </a:t>
            </a:r>
            <a:r>
              <a:rPr lang="fr-FR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r>
              <a:rPr lang="fr-FR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fr-FR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fr-FR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ــ  تـــابــع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600" b="1" dirty="0" smtClean="0">
              <a:cs typeface="+mj-cs"/>
            </a:endParaRPr>
          </a:p>
          <a:p>
            <a:pPr marL="0" indent="0" algn="ctr" rtl="1">
              <a:lnSpc>
                <a:spcPct val="150000"/>
              </a:lnSpc>
              <a:spcAft>
                <a:spcPts val="0"/>
              </a:spcAft>
              <a:buNone/>
            </a:pP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fr-FR" sz="40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…….…….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"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nom_image.format_image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fr-FR" sz="4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ar-DZ" sz="4000" b="1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rtl="1">
              <a:lnSpc>
                <a:spcPct val="150000"/>
              </a:lnSpc>
              <a:spcAft>
                <a:spcPts val="0"/>
              </a:spcAft>
              <a:buNone/>
            </a:pPr>
            <a:endParaRPr lang="ar-DZ" sz="10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يُــتِــيـحُ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الـمُــتَــصَّــفِــحُ عــرض الـصـور والـرســومــات الَّـتي تـكــون مـن الأنــواع الـتـالــيـة فـقـط 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jpeg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gif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png</a:t>
            </a: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491256" y="1823640"/>
            <a:ext cx="1183680" cy="82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img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3277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4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ــ  الـقــوائــم   </a:t>
            </a:r>
            <a:r>
              <a:rPr lang="fr-FR" sz="4800" b="1" dirty="0" err="1" smtClean="0">
                <a:solidFill>
                  <a:srgbClr val="00B050"/>
                </a:solidFill>
                <a:cs typeface="+mj-cs"/>
              </a:rPr>
              <a:t>Lists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132856"/>
            <a:ext cx="10814992" cy="423698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DZ" sz="54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54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كــيــف يَــتِـمُّ إِدْرَاجُ قَـائِـمَـة مُــرَتَّــبَـة فـي صــفــحـــات الـويــب </a:t>
            </a:r>
            <a:r>
              <a:rPr lang="ar-DZ" sz="46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؟  </a:t>
            </a:r>
            <a:endParaRPr lang="ar-DZ" sz="46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09600" y="1203747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مُــرَتَّــبَــة  </a:t>
            </a:r>
            <a:r>
              <a:rPr 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 </a:t>
            </a:r>
            <a:r>
              <a:rPr lang="en-US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316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مُــرَتَّــبَــة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40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DZ" sz="5400" b="1" u="sng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7</a:t>
            </a:r>
            <a:r>
              <a:rPr lang="ar-DZ" sz="5400" b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5400" b="1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كــيــف يَــتِـمُّ إِدْرَاجُ قَـائِـمَـة مُــرَتَّــبَـة فـي صــفــحـــات الـويــب </a:t>
            </a:r>
            <a:r>
              <a:rPr lang="ar-DZ" sz="4600" b="1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؟  </a:t>
            </a:r>
          </a:p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86" y="1628800"/>
            <a:ext cx="10737506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684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مُــرَتَّــبَــة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40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DZ" sz="5400" b="1" u="sng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7</a:t>
            </a:r>
            <a:r>
              <a:rPr lang="ar-DZ" sz="5400" b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5400" b="1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كــيــف يَــتِـمُّ إِدْرَاجُ قَـائِـمَـة مُــرَتَّــبَـة فـي صــفــحـــات الـويــب </a:t>
            </a:r>
            <a:r>
              <a:rPr lang="ar-DZ" sz="4600" b="1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؟  </a:t>
            </a:r>
          </a:p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86" y="1628800"/>
            <a:ext cx="10737506" cy="396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799856" y="1614795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ol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99856" y="429309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ol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66096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/>
      <p:bldP spid="10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مُــرَتَّــبَــة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40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DZ" sz="5400" b="1" u="sng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7</a:t>
            </a:r>
            <a:r>
              <a:rPr lang="ar-DZ" sz="5400" b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5400" b="1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كــيــف يَــتِـمُّ إِدْرَاجُ قَـائِـمَـة مُــرَتَّــبَـة فـي صــفــحـــات الـويــب </a:t>
            </a:r>
            <a:r>
              <a:rPr lang="ar-DZ" sz="4600" b="1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؟  </a:t>
            </a:r>
          </a:p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86" y="1628800"/>
            <a:ext cx="10737506" cy="396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799856" y="1614795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ol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99856" y="429309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ol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47928" y="2118811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90112" y="2118811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991160" y="451583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65187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/>
      <p:bldP spid="10" grpId="0"/>
      <p:bldP spid="11" grpId="0"/>
      <p:bldP spid="15" grpId="0"/>
      <p:bldP spid="19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مُــرَتَّــبَــة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40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DZ" sz="5400" b="1" u="sng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7</a:t>
            </a:r>
            <a:r>
              <a:rPr lang="ar-DZ" sz="5400" b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5400" b="1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كــيــف يَــتِـمُّ إِدْرَاجُ قَـائِـمَـة مُــرَتَّــبَـة فـي صــفــحـــات الـويــب </a:t>
            </a:r>
            <a:r>
              <a:rPr lang="ar-DZ" sz="4600" b="1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؟  </a:t>
            </a:r>
          </a:p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86" y="1628800"/>
            <a:ext cx="10737506" cy="396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799856" y="1614795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ol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99856" y="429309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ol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47928" y="2118811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47928" y="268083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90112" y="2118811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990112" y="268083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991160" y="451583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54270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/>
      <p:bldP spid="10" grpId="0"/>
      <p:bldP spid="11" grpId="0"/>
      <p:bldP spid="12" grpId="0"/>
      <p:bldP spid="15" grpId="0"/>
      <p:bldP spid="16" grpId="0"/>
      <p:bldP spid="19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مُــرَتَّــبَــة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40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DZ" sz="5400" b="1" u="sng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7</a:t>
            </a:r>
            <a:r>
              <a:rPr lang="ar-DZ" sz="5400" b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5400" b="1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كــيــف يَــتِـمُّ إِدْرَاجُ قَـائِـمَـة مُــرَتَّــبَـة فـي صــفــحـــات الـويــب </a:t>
            </a:r>
            <a:r>
              <a:rPr lang="ar-DZ" sz="4600" b="1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؟  </a:t>
            </a:r>
          </a:p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86" y="1628800"/>
            <a:ext cx="10737506" cy="396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799856" y="1614795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ol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99856" y="429309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ol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47928" y="2118811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47928" y="268083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47928" y="3242849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447928" y="3804868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90112" y="2118811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990112" y="268083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105209" y="319082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105209" y="3700822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991160" y="451583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71536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مُــرَتَّــبَــة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B050"/>
                </a:solidFill>
              </a:rPr>
              <a:t>ــ  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قَــائِـمَـة مُــرَتَّــبَــة يـكـون مـن خــلال الـوســمــيـن </a:t>
            </a:r>
            <a:r>
              <a:rPr lang="fr-FR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 </a:t>
            </a:r>
            <a:r>
              <a:rPr lang="fr-FR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تـكـون الـبـنـود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بـيـنهـمـا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كُــلُّ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بَــنْــدٍ  (  عــنــصــر </a:t>
            </a: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يــكــون مُـحَــدَّدا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بِـالــوَسْــمَــيْــنِ  </a:t>
            </a:r>
            <a:r>
              <a:rPr lang="fr-FR" sz="44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4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100423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مُــرَتَّــبَــة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B050"/>
                </a:solidFill>
              </a:rPr>
              <a:t>ــ  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قَــائِـمَـة مُــرَتَّــبَــة يـكـون مـن خــلال الـوســمــيـن </a:t>
            </a:r>
            <a:r>
              <a:rPr lang="fr-FR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 </a:t>
            </a:r>
            <a:r>
              <a:rPr lang="fr-FR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تـكـون الـبـنـود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بـيـنهـمـا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كُــلُّ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بَــنْــدٍ  (  عــنــصــر </a:t>
            </a: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يــكــون مُـحَــدَّدا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بِـالــوَسْــمَــيْــنِ  </a:t>
            </a:r>
            <a:r>
              <a:rPr lang="fr-FR" sz="44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4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9912424" y="321297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ol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52096" y="321297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ol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85406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/>
      <p:bldP spid="8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مُــرَتَّــبَــة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B050"/>
                </a:solidFill>
              </a:rPr>
              <a:t>ــ  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قَــائِـمَـة مُــرَتَّــبَــة يـكـون مـن خــلال الـوســمــيـن </a:t>
            </a:r>
            <a:r>
              <a:rPr lang="fr-FR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 </a:t>
            </a:r>
            <a:r>
              <a:rPr lang="fr-FR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تـكـون الـبـنـود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بـيـنهـمـا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كُــلُّ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بَــنْــدٍ  (  عــنــصــر </a:t>
            </a: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يــكــون مُـحَــدَّدا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بِـالــوَسْــمَــيْــنِ  </a:t>
            </a:r>
            <a:r>
              <a:rPr lang="fr-FR" sz="44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4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9912424" y="321297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ol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52096" y="321297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ol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863752" y="501200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60096" y="501200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97668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/>
      <p:bldP spid="8" grpId="0"/>
      <p:bldP spid="9" grpId="0"/>
      <p:bldP spid="10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مُــرَتَّــبَــة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B050"/>
                </a:solidFill>
              </a:rPr>
              <a:t>ــ  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قَــائِـمَـة مُــرَتَّــبَــة يـكـون مـن خــلال الـوســمــيـن </a:t>
            </a:r>
            <a:r>
              <a:rPr lang="fr-FR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 </a:t>
            </a:r>
            <a:r>
              <a:rPr lang="fr-FR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تـكـون الـبـنـود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بـيـنهـمـا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كُــلُّ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بَــنْــدٍ  (  عــنــصــر </a:t>
            </a: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يــكــون مُـحَــدَّدا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بِـالــوَسْــمَــيْــنِ  </a:t>
            </a:r>
            <a:r>
              <a:rPr lang="fr-FR" sz="44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4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9912424" y="3212976"/>
            <a:ext cx="792000" cy="72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ol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52096" y="3212976"/>
            <a:ext cx="792000" cy="72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ol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863752" y="5012000"/>
            <a:ext cx="792000" cy="72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60096" y="5012000"/>
            <a:ext cx="792000" cy="720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2799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8" grpId="0" animBg="1"/>
      <p:bldP spid="9" grpId="0" animBg="1"/>
      <p:bldP spid="10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4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ــ  الـقــوائــم   </a:t>
            </a:r>
            <a:r>
              <a:rPr lang="fr-FR" sz="4800" b="1" dirty="0" err="1" smtClean="0">
                <a:solidFill>
                  <a:srgbClr val="00B050"/>
                </a:solidFill>
                <a:cs typeface="+mj-cs"/>
              </a:rPr>
              <a:t>Lists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132856"/>
            <a:ext cx="10814992" cy="423698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DZ" sz="54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كــيــف يَــتِـمُّ إِدْرَاجُ </a:t>
            </a:r>
            <a:r>
              <a:rPr lang="ar-DZ" sz="48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قَـائِـمَـة </a:t>
            </a:r>
            <a:r>
              <a:rPr lang="ar-DZ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غــيــر</a:t>
            </a:r>
            <a:r>
              <a:rPr lang="ar-DZ" sz="48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مُــرَتَّــبَـة فـي صــفــحـــات الـويــب </a:t>
            </a:r>
            <a:r>
              <a:rPr lang="ar-DZ" sz="48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؟  </a:t>
            </a:r>
            <a:endParaRPr lang="ar-DZ" sz="48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09600" y="1203747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 - </a:t>
            </a:r>
            <a:r>
              <a:rPr lang="ar-DZ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</a:t>
            </a:r>
            <a:r>
              <a:rPr lang="ar-DZ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غـــيــر </a:t>
            </a:r>
            <a:r>
              <a:rPr lang="ar-DZ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مُــرَتَّــبَــة  </a:t>
            </a:r>
            <a:r>
              <a:rPr lang="en-US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nordered </a:t>
            </a:r>
            <a:r>
              <a:rPr lang="en-US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651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غــيــر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مُــرَتَّــبَــة  </a:t>
            </a:r>
            <a:r>
              <a:rPr lang="fr-FR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fr-FR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</a:rPr>
              <a:t>ــ  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قَــائِـمَـة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غــيــر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يـكـون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مـن خـلال الـوســمــيـن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تـكـون الـبـنـود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بـيـنهـمـا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كُــلُّ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بَــنْــدٍ  (  عــنــصــر </a:t>
            </a: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يــكــون مُـحَــدَّدا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بِـالــوَسْــمَــيْــنِ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396966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غــيــر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مُــرَتَّــبَــة  </a:t>
            </a:r>
            <a:r>
              <a:rPr lang="fr-FR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fr-FR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</a:rPr>
              <a:t>ــ  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قَــائِـمَـة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غــيــر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يـكـون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مـن خـلال الـوســمــيـن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تـكـون الـبـنـود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بـيـنهـمـا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كُــلُّ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بَــنْــدٍ  (  عــنــصــر </a:t>
            </a: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يــكــون مُـحَــدَّدا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بِـالــوَسْــمَــيْــنِ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92" y="1628800"/>
            <a:ext cx="10800000" cy="415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736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غــيــر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مُــرَتَّــبَــة  </a:t>
            </a:r>
            <a:r>
              <a:rPr lang="fr-FR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fr-FR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</a:rPr>
              <a:t>ــ  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قَــائِـمَـة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غــيــر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يـكـون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مـن خـلال الـوســمــيـن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تـكـون الـبـنـود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بـيـنهـمـا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كُــلُّ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بَــنْــدٍ  (  عــنــصــر </a:t>
            </a: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يــكــون مُـحَــدَّدا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بِـالــوَسْــمَــيْــنِ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92" y="1628800"/>
            <a:ext cx="10800000" cy="415883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655840" y="177281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u</a:t>
            </a: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772560" y="452653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u</a:t>
            </a: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9999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/>
      <p:bldP spid="7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غــيــر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مُــرَتَّــبَــة  </a:t>
            </a:r>
            <a:r>
              <a:rPr lang="fr-FR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fr-FR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</a:rPr>
              <a:t>ــ  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قَــائِـمَـة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غــيــر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يـكـون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مـن خـلال الـوســمــيـن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تـكـون الـبـنـود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بـيـنهـمـا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كُــلُّ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بَــنْــدٍ  (  عــنــصــر </a:t>
            </a: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يــكــون مُـحَــدَّدا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بِـالــوَسْــمَــيْــنِ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92" y="1628800"/>
            <a:ext cx="10800000" cy="415883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655840" y="177281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u</a:t>
            </a: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772560" y="452653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u</a:t>
            </a: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34192" y="2294988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34192" y="2857364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34192" y="3384288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34192" y="3900228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36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11192" y="2318265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858760" y="2894289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894432" y="3384288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407087" y="3910844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522750" y="468607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07073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غــيــر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مُــرَتَّــبَــة  </a:t>
            </a:r>
            <a:r>
              <a:rPr lang="fr-FR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fr-FR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</a:rPr>
              <a:t>ــ  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قَــائِـمَـة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غــيــر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يـكـون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مـن خـلال الـوســمــيـن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تـكـون الـبـنـود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بـيـنهـمـا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كُــلُّ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بَــنْــدٍ  (  عــنــصــر </a:t>
            </a: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يــكــون مُـحَــدَّدا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بِـالــوَسْــمَــيْــنِ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841258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غــيــر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مُــرَتَّــبَــة  </a:t>
            </a:r>
            <a:r>
              <a:rPr lang="fr-FR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fr-FR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</a:rPr>
              <a:t>ــ  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قَــائِـمَـة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غــيــر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يـكـون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مـن خـلال الـوســمــيـن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تـكـون الـبـنـود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بـيـنهـمـا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كُــلُّ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بَــنْــدٍ  (  عــنــصــر </a:t>
            </a: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يــكــون مُـحَــدَّدا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بِـالــوَسْــمَــيْــنِ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9912424" y="321297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ul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40216" y="3164137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ul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68513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/>
      <p:bldP spid="8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غــيــر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مُــرَتَّــبَــة  </a:t>
            </a:r>
            <a:r>
              <a:rPr lang="fr-FR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fr-FR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</a:rPr>
              <a:t>ــ  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قَــائِـمَـة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غــيــر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يـكـون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مـن خـلال الـوســمــيـن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تـكـون الـبـنـود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بـيـنهـمـا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كُــلُّ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بَــنْــدٍ  (  عــنــصــر </a:t>
            </a: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يــكــون مُـحَــدَّدا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بِـالــوَسْــمَــيْــنِ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9912424" y="3212976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ul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40216" y="3164137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ul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39816" y="4797152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248216" y="4797152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99358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/>
      <p:bldP spid="8" grpId="0"/>
      <p:bldP spid="9" grpId="0"/>
      <p:bldP spid="10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 -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قَـــائِــمَـة غــيــر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مُــرَتَّــبَــة  </a:t>
            </a:r>
            <a:r>
              <a:rPr lang="fr-FR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fr-FR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rdered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</a:rPr>
              <a:t>ــ  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قَــائِـمَـة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غــيــر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مُــرَتَّــبَـة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يـكـون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مـن خـلال الـوســمــيـن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تـكـون الـبـنـود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بـيـنهـمـا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كُــلُّ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بَــنْــدٍ  (  عــنــصــر </a:t>
            </a:r>
            <a:r>
              <a:rPr lang="fr-FR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يــكــون مُـحَــدَّدا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بِـالــوَسْــمَــيْــنِ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9912424" y="3212976"/>
            <a:ext cx="792000" cy="72000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ul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40216" y="3164137"/>
            <a:ext cx="792000" cy="72000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ul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39816" y="4797152"/>
            <a:ext cx="792000" cy="72000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248216" y="4797152"/>
            <a:ext cx="792000" cy="72000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li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72299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8" grpId="0" animBg="1"/>
      <p:bldP spid="9" grpId="0" animBg="1"/>
      <p:bldP spid="10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  الـجــداول  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DZ" sz="54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كــيــف يَــتِـمُّ إِدْرَاجُ جــدول </a:t>
            </a:r>
            <a:r>
              <a:rPr lang="ar-DZ" sz="48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فـي </a:t>
            </a:r>
            <a:r>
              <a:rPr lang="ar-DZ" sz="48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صــفــحـــات الـويــب </a:t>
            </a:r>
            <a:r>
              <a:rPr lang="ar-DZ" sz="48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؟  </a:t>
            </a:r>
            <a:endParaRPr lang="ar-DZ" sz="48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688337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 الـجــداول 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جــ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دول يــكــون مــن خـــلال الــوَسْـــمَـــيْـــنِ :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&lt;/……….…&gt;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&lt;…………&gt;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إضــافــة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 جــدول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</a:t>
            </a:r>
            <a:r>
              <a:rPr lang="en-US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able </a:t>
            </a:r>
            <a:r>
              <a:rPr lang="en-US" sz="44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r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ow</a:t>
            </a:r>
            <a:r>
              <a:rPr lang="fr-FR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بــواســطــة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الــوَسْــمَــيْــنِ  :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682376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 الـجــداول 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جــ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دول يــكــون مــن خـــلال الــوَسْـــمَـــيْـــنِ :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&lt;/……….…&gt;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&lt;…………&gt;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إضــافــة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 جــدول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</a:t>
            </a:r>
            <a:r>
              <a:rPr lang="en-US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able </a:t>
            </a:r>
            <a:r>
              <a:rPr lang="en-US" sz="44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r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ow</a:t>
            </a:r>
            <a:r>
              <a:rPr lang="fr-FR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بــواســطــة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الــوَسْــمَــيْــنِ  :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048328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591944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25504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/>
      <p:bldP spid="6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 الـجــداول 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جــ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دول يــكــون مــن خـــلال الــوَسْـــمَـــيْـــنِ :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&lt;/……….…&gt;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&lt;…………&gt;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إضــافــة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 جــدول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</a:t>
            </a:r>
            <a:r>
              <a:rPr lang="en-US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able </a:t>
            </a:r>
            <a:r>
              <a:rPr lang="en-US" sz="44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r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ow</a:t>
            </a:r>
            <a:r>
              <a:rPr lang="fr-FR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بــواســطــة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الــوَسْــمَــيْــنِ  :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048328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591944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29760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67808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54294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/>
      <p:bldP spid="6" grpId="0"/>
      <p:bldP spid="7" grpId="0"/>
      <p:bldP spid="8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</a:t>
            </a: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 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الـجــداول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endParaRPr lang="ar-DZ" sz="28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بــيــنــمــا بــيــانـات الـجــدول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able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d</a:t>
            </a:r>
            <a:r>
              <a:rPr lang="en-US" sz="4000" b="1" dirty="0" err="1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ata</a:t>
            </a:r>
            <a:r>
              <a:rPr lang="fr-FR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تــكــون بـيـن الــوَسْــمَــيْــن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 </a:t>
            </a:r>
            <a:r>
              <a:rPr lang="fr-FR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142235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</a:t>
            </a: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 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الـجــداول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endParaRPr lang="ar-DZ" sz="28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بــيــنــمــا بــيــانـات الـجــدول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able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d</a:t>
            </a:r>
            <a:r>
              <a:rPr lang="en-US" sz="4000" b="1" dirty="0" err="1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ata</a:t>
            </a:r>
            <a:r>
              <a:rPr lang="fr-FR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تــكــون بـيـن الــوَسْــمَــيْــن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 </a:t>
            </a:r>
            <a:r>
              <a:rPr lang="fr-FR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7032104" y="2996952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t</a:t>
            </a:r>
            <a:r>
              <a:rPr lang="fr-FR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d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5800" y="2996952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093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/>
      <p:bldP spid="8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 الـجــداول 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جــ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دول يــكــون مــن خـــلال الــوَسْـــمَـــيْـــنِ :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&lt;/……….…&gt;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&lt;…………&gt;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إضــافــة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 جــدول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</a:t>
            </a:r>
            <a:r>
              <a:rPr lang="en-US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able </a:t>
            </a:r>
            <a:r>
              <a:rPr lang="en-US" sz="44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r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ow</a:t>
            </a:r>
            <a:r>
              <a:rPr lang="fr-FR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بــواســطــة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الــوَسْــمَــيْــنِ  :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048328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591944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29760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67808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" y="481012"/>
            <a:ext cx="11896725" cy="589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1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/>
      <p:bldP spid="6" grpId="0"/>
      <p:bldP spid="7" grpId="0"/>
      <p:bldP spid="8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 الـجــداول 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جــ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دول يــكــون مــن خـــلال الــوَسْـــمَـــيْـــنِ :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&lt;/……….…&gt;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&lt;…………&gt;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إضــافــة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 جــدول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</a:t>
            </a:r>
            <a:r>
              <a:rPr lang="en-US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able </a:t>
            </a:r>
            <a:r>
              <a:rPr lang="en-US" sz="44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r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ow</a:t>
            </a:r>
            <a:r>
              <a:rPr lang="fr-FR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بــواســطــة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الــوَسْــمَــيْــنِ  :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048328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591944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29760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67808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" y="481012"/>
            <a:ext cx="11896725" cy="589597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744072" y="408318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16080" y="5435635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05058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/>
      <p:bldP spid="6" grpId="0"/>
      <p:bldP spid="7" grpId="0"/>
      <p:bldP spid="8" grpId="0"/>
      <p:bldP spid="10" grpId="0"/>
      <p:bldP spid="11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 الـجــداول 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جــ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دول يــكــون مــن خـــلال الــوَسْـــمَـــيْـــنِ :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&lt;/……….…&gt;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&lt;…………&gt;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إضــافــة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 جــدول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</a:t>
            </a:r>
            <a:r>
              <a:rPr lang="en-US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able </a:t>
            </a:r>
            <a:r>
              <a:rPr lang="en-US" sz="44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r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ow</a:t>
            </a:r>
            <a:r>
              <a:rPr lang="fr-FR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بــواســطــة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الــوَسْــمَــيْــنِ  :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048328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591944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29760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67808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" y="481012"/>
            <a:ext cx="11896725" cy="589597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744072" y="408318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16080" y="5435635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50906" y="806872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850906" y="254210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878692" y="3784267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92551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6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 الـجــداول 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جــ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دول يــكــون مــن خـــلال الــوَسْـــمَـــيْـــنِ :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&lt;/……….…&gt;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&lt;…………&gt;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إضــافــة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 جــدول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</a:t>
            </a:r>
            <a:r>
              <a:rPr lang="en-US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able </a:t>
            </a:r>
            <a:r>
              <a:rPr lang="en-US" sz="44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r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ow</a:t>
            </a:r>
            <a:r>
              <a:rPr lang="fr-FR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بــواســطــة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الــوَسْــمَــيْــنِ  :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048328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591944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29760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67808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" y="481012"/>
            <a:ext cx="11896725" cy="589597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744072" y="408318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16080" y="5435635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50906" y="806872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850906" y="254210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850906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855859" y="3141048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878692" y="3784267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061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 الـجــداول 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جــ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دول يــكــون مــن خـــلال الــوَسْـــمَـــيْـــنِ :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&lt;/……….…&gt;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&lt;…………&gt;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إضــافــة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 جــدول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</a:t>
            </a:r>
            <a:r>
              <a:rPr lang="en-US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able </a:t>
            </a:r>
            <a:r>
              <a:rPr lang="en-US" sz="44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r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ow</a:t>
            </a:r>
            <a:r>
              <a:rPr lang="fr-FR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بــواســطــة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الــوَسْــمَــيْــنِ  :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048328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591944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29760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67808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" y="481012"/>
            <a:ext cx="11896725" cy="589597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744072" y="408318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16080" y="5435635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50906" y="806872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850906" y="254210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850906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855859" y="3141048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878692" y="3784267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825902" y="764744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616012" y="1212672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621053" y="162888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626094" y="2045088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0942477" y="1224332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0848348" y="1616685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0749626" y="2009038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891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 الـجــداول 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جــ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دول يــكــون مــن خـــلال الــوَسْـــمَـــيْـــنِ :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&lt;/……….…&gt;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</a:t>
            </a:r>
            <a:r>
              <a:rPr lang="fr-FR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&lt;…………&gt;</a:t>
            </a:r>
            <a:endParaRPr lang="fr-FR" sz="44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إضــافــة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 جــدول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</a:t>
            </a:r>
            <a:r>
              <a:rPr lang="en-US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able </a:t>
            </a:r>
            <a:r>
              <a:rPr lang="en-US" sz="44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r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ow</a:t>
            </a:r>
            <a:r>
              <a:rPr lang="fr-FR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بــواســطــة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الــوَسْــمَــيْــنِ  :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و   </a:t>
            </a:r>
            <a:r>
              <a:rPr lang="fr-FR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048328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591944" y="3135303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29760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67808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44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" y="481012"/>
            <a:ext cx="11896725" cy="589597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744072" y="408318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16080" y="5435635"/>
            <a:ext cx="1656184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table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50906" y="806872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850906" y="254210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850906" y="4874013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855859" y="3141048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878692" y="3784267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tr</a:t>
            </a:r>
            <a:endParaRPr lang="fr-FR" sz="3800" b="1" dirty="0">
              <a:solidFill>
                <a:srgbClr val="00B05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825902" y="764744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616012" y="1212672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621053" y="162888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626094" y="2045088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0942477" y="1224332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0848348" y="1616685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0749626" y="2009038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606787" y="3556729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597562" y="395995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588337" y="4363171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0519583" y="3556729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0711697" y="3959950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0787535" y="4363171"/>
            <a:ext cx="792000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td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724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  الارتـبـاطـات الـتــشــعــبــيــة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DZ" sz="54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كــيــف يَــتِـمُّ اسـتـغـلال الارتـبـاطـات الـتــشـعــبــيــة فـي </a:t>
            </a:r>
            <a:r>
              <a:rPr lang="ar-DZ" sz="48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صـفـحـة ويــب </a:t>
            </a:r>
            <a:r>
              <a:rPr lang="ar-DZ" sz="48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؟  </a:t>
            </a:r>
            <a:endParaRPr lang="ar-DZ" sz="48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440226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 الارتـبـاطـات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الـتــشــعــبــيــة 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ارتــبــاط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تـــشــعـــبـي يَــتِّــمُ مــن خـــلال الــوَسْـــمَـــيْـــنِ  :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و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&lt;.…&gt;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بـحـيــث يـكــون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وَسْـــمُ بِــدَايَــة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الارتــبــاط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&lt;.…&gt;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مُــرْفَـــقًـــا دَائِــمًــا بـالـخـــاصــيــة  </a:t>
            </a:r>
            <a:r>
              <a:rPr lang="en-US" sz="4000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الَّـتِي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تُـحَــدِّدُ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وذلـك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كـالـتــالـي  :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751697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 الارتـبـاطـات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الـتــشــعــبــيــة 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ارتــبــاط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تـــشــعـــبـي يَــتِّــمُ مــن خـــلال الــوَسْـــمَـــيْـــنِ  :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و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&lt;.…&gt;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بـحـيــث يـكــون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وَسْـــمُ بِــدَايَــة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الارتــبــاط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&lt;.…&gt;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مُــرْفَـــقًـــا دَائِــمًــا بـالـخـــاصــيــة  </a:t>
            </a:r>
            <a:r>
              <a:rPr lang="en-US" sz="4000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الَّـتِي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تُـحَــدِّدُ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وذلـك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كـالـتــالـي  :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906308" y="3135303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871864" y="3135303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55108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/>
      <p:bldP spid="9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 الارتـبـاطـات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الـتــشــعــبــيــة 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ارتــبــاط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تـــشــعـــبـي يَــتِّــمُ مــن خـــلال الــوَسْـــمَـــيْـــنِ  :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و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&lt;.…&gt;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بـحـيــث يـكــون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وَسْـــمُ بِــدَايَــة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الارتــبــاط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&lt;.…&gt;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مُــرْفَـــقًـــا دَائِــمًــا بـالـخـــاصــيــة  </a:t>
            </a:r>
            <a:r>
              <a:rPr lang="en-US" sz="4000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الَّـتِي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تُـحَــدِّدُ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وذلـك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كـالـتــالـي  :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906308" y="3135303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871864" y="3135303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16080" y="3927158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00729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/>
      <p:bldP spid="9" grpId="0"/>
      <p:bldP spid="11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 الارتـبـاطـات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الـتــشــعــبــيــة  </a:t>
            </a:r>
            <a:r>
              <a:rPr lang="ar-DZ" sz="4000" b="1" dirty="0" smtClean="0">
                <a:solidFill>
                  <a:srgbClr val="00B050"/>
                </a:solidFill>
              </a:rPr>
              <a:t>ــ  </a:t>
            </a:r>
            <a:r>
              <a:rPr lang="ar-DZ" sz="4000" b="1" dirty="0">
                <a:solidFill>
                  <a:srgbClr val="00B050"/>
                </a:solidFill>
              </a:rPr>
              <a:t>تـــابــع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endParaRPr lang="ar-DZ" sz="5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ارتــبــاط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تـــشــعـــبـي يَــتِّــمُ مــن خـــلال الــوَسْـــمَـــيْـــنِ  :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&lt;/.…&gt;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و 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&lt;.…&gt;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بـحـيــث يـكــون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وَسْـــمُ بِــدَايَــة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الارتــبــاط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&lt;.…&gt;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مُــرْفَـــقًـــا دَائِــمًــا بـالـخـــاصــيــة  </a:t>
            </a:r>
            <a:r>
              <a:rPr lang="en-US" sz="4000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الَّـتِي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تُـحَــدِّدُ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وذلـك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كـالـتــالـي  :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6906308" y="3135303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871864" y="3135303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943872" y="4748485"/>
            <a:ext cx="22949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الـوِجْــهَــةَ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16080" y="3927158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00070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/>
      <p:bldP spid="9" grpId="0"/>
      <p:bldP spid="10" grpId="0" animBg="1"/>
      <p:bldP spid="11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SA" sz="40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 </a:t>
            </a: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الارتـبـاطـات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الـتــشــعــبــيــة  ــ  تـــابــع )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282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endParaRPr lang="fr-FR" sz="44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endParaRPr lang="ar-DZ" sz="54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210" y="2422745"/>
            <a:ext cx="10763250" cy="1085850"/>
          </a:xfrm>
          <a:prstGeom prst="rect">
            <a:avLst/>
          </a:prstGeom>
        </p:spPr>
      </p:pic>
      <p:sp>
        <p:nvSpPr>
          <p:cNvPr id="7" name="Espace réservé du contenu 21"/>
          <p:cNvSpPr txBox="1">
            <a:spLocks/>
          </p:cNvSpPr>
          <p:nvPr/>
        </p:nvSpPr>
        <p:spPr>
          <a:xfrm>
            <a:off x="2855640" y="3582799"/>
            <a:ext cx="6768752" cy="2224969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rtlCol="0" anchor="ctr">
            <a:noAutofit/>
          </a:bodyPr>
          <a:lstStyle/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sz="3600" baseline="-25000" dirty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…..</a:t>
            </a:r>
            <a:r>
              <a:rPr 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roid Sans Fallback"/>
                <a:cs typeface="DejaVu Sans"/>
              </a:rPr>
              <a:t>:</a:t>
            </a:r>
            <a:r>
              <a:rPr lang="en-US" sz="3600" b="1" dirty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 </a:t>
            </a:r>
            <a:r>
              <a:rPr lang="en-US" sz="3600" b="1" u="sng" dirty="0" smtClean="0">
                <a:solidFill>
                  <a:srgbClr val="FF0000"/>
                </a:solidFill>
                <a:effectLst/>
                <a:latin typeface="Liberation Sans"/>
                <a:ea typeface="Droid Sans Fallback"/>
                <a:cs typeface="DejaVu Sans"/>
              </a:rPr>
              <a:t>a</a:t>
            </a:r>
            <a:r>
              <a:rPr lang="en-US" sz="3600" b="1" dirty="0" smtClean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nchor = </a:t>
            </a:r>
            <a:r>
              <a:rPr lang="ar-DZ" sz="3600" b="1" dirty="0" smtClean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مِـــرْسَــاة</a:t>
            </a:r>
            <a:endParaRPr lang="fr-FR" sz="3600" dirty="0">
              <a:solidFill>
                <a:srgbClr val="00000A"/>
              </a:solidFill>
              <a:effectLst/>
              <a:latin typeface="Liberation Sans"/>
              <a:ea typeface="Droid Sans Fallback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491164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SA" sz="40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 </a:t>
            </a: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.4 ــ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الارتـبـاطـات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الـتــشــعــبــيــة  ــ  تـــابــع )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282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endParaRPr lang="fr-FR" sz="44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endParaRPr lang="ar-DZ" sz="54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0"/>
              </a:spcBef>
              <a:buNone/>
            </a:pP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210" y="2422745"/>
            <a:ext cx="10763250" cy="10858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948922" y="2377152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173562" y="2382404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2855640" y="3582799"/>
            <a:ext cx="6768752" cy="2224969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rtlCol="0" anchor="ctr">
            <a:noAutofit/>
          </a:bodyPr>
          <a:lstStyle/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sz="3600" baseline="-25000" dirty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…..</a:t>
            </a:r>
            <a:r>
              <a:rPr 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roid Sans Fallback"/>
                <a:cs typeface="DejaVu Sans"/>
              </a:rPr>
              <a:t>:</a:t>
            </a:r>
            <a:r>
              <a:rPr lang="en-US" sz="3600" b="1" dirty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 </a:t>
            </a:r>
            <a:r>
              <a:rPr lang="en-US" sz="3600" b="1" u="sng" dirty="0" smtClean="0">
                <a:solidFill>
                  <a:srgbClr val="FF0000"/>
                </a:solidFill>
                <a:effectLst/>
                <a:latin typeface="Liberation Sans"/>
                <a:ea typeface="Droid Sans Fallback"/>
                <a:cs typeface="DejaVu Sans"/>
              </a:rPr>
              <a:t>a</a:t>
            </a:r>
            <a:r>
              <a:rPr lang="en-US" sz="3600" b="1" dirty="0" smtClean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nchor = </a:t>
            </a:r>
            <a:r>
              <a:rPr lang="ar-DZ" sz="3600" b="1" dirty="0" smtClean="0">
                <a:solidFill>
                  <a:srgbClr val="000000"/>
                </a:solidFill>
                <a:effectLst/>
                <a:latin typeface="Liberation Sans"/>
                <a:ea typeface="Droid Sans Fallback"/>
                <a:cs typeface="DejaVu Sans"/>
              </a:rPr>
              <a:t>مِـــرْسَــاة</a:t>
            </a:r>
            <a:endParaRPr lang="fr-FR" sz="3600" dirty="0">
              <a:solidFill>
                <a:srgbClr val="00000A"/>
              </a:solidFill>
              <a:effectLst/>
              <a:latin typeface="Liberation Sans"/>
              <a:ea typeface="Droid Sans Fallback"/>
              <a:cs typeface="DejaVu San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764850" y="4257505"/>
            <a:ext cx="648072" cy="72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a</a:t>
            </a:r>
            <a:endParaRPr lang="fr-FR" sz="44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68812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3" grpId="0"/>
      <p:bldP spid="14" grpId="0"/>
      <p:bldP spid="12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واجــب مــنــزلي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DZ" sz="54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00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بـاســتـعــمـال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الــوُسُــوم ِالــمُــنَــاسِــبَـة أَنْــشِـئْ صــفــحــة ويــب مُـوَافِــقَــة للـوثــيــقـة " ب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" </a:t>
            </a:r>
            <a:r>
              <a:rPr lang="ar-DZ" sz="44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endParaRPr lang="ar-DZ" sz="44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498748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واجــب مــنــزلي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0"/>
              </a:spcBef>
              <a:buNone/>
            </a:pPr>
            <a:r>
              <a:rPr lang="ar-DZ" sz="54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0000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بـاســتـعــمـال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الــوُسُــوم ِالــمُــنَــاسِــبَـة أَنْــشِـئْ صــفــحــة ويــب مُـوَافِــقَــة للـوثــيــقـة " ب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" </a:t>
            </a:r>
            <a:r>
              <a:rPr lang="ar-DZ" sz="44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endParaRPr lang="ar-DZ" sz="44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279327"/>
            <a:ext cx="10764000" cy="6232973"/>
          </a:xfrm>
          <a:prstGeom prst="rect">
            <a:avLst/>
          </a:prstGeom>
          <a:ln w="38100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136694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  <a:p>
            <a:pPr marL="0" lvl="0" indent="0" algn="just" rtl="1">
              <a:lnSpc>
                <a:spcPct val="114000"/>
              </a:lnSpc>
              <a:spcBef>
                <a:spcPts val="0"/>
              </a:spcBef>
              <a:buNone/>
            </a:pPr>
            <a:r>
              <a:rPr lang="ar-DZ" sz="4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نــشــاط</a:t>
            </a:r>
            <a:r>
              <a:rPr lang="fr-FR" sz="4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12</a:t>
            </a: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 :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الـتَـكَــفُــلُ بـالـجــانــب الـجــمــالـي ( الـمـظـهــر ) فـي صـفـحــات الـويــب يـكـون بـاســتــغـــلال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خـصـائـص الـتـنـســيـق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الّـتِي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تُـوَفِّــرُهَـا تـقـنـيـة «</a:t>
            </a:r>
            <a:r>
              <a:rPr lang="fr-FR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CSS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» </a:t>
            </a:r>
            <a:r>
              <a:rPr lang="fr-FR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؛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صَــنِّــفْ فـي الـجــدول أدنــاه الـخــصــائـص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الـتـالـيـة</a:t>
            </a:r>
            <a:r>
              <a:rPr lang="ar-DZ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4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: </a:t>
            </a:r>
            <a:r>
              <a:rPr lang="fr-FR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background-color</a:t>
            </a:r>
            <a:r>
              <a:rPr lang="en-US" sz="48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ar-DZ" sz="48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en-US" sz="48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+mj-cs"/>
              </a:rPr>
              <a:t>، 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font-family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+mj-cs"/>
              </a:rPr>
              <a:t>، 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color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id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width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font-size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height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 </a:t>
            </a:r>
            <a:r>
              <a:rPr lang="fr-FR" sz="4400" b="1" dirty="0" err="1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</a:t>
            </a:r>
            <a:r>
              <a:rPr lang="fr-FR" sz="4400" b="1" dirty="0" err="1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ext</a:t>
            </a: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-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align</a:t>
            </a:r>
            <a:r>
              <a:rPr lang="ar-DZ" sz="40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 </a:t>
            </a:r>
            <a:endParaRPr lang="ar-DZ" sz="44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484668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  <a:p>
            <a:pPr marL="0" lvl="0" indent="0" algn="just" rtl="1">
              <a:lnSpc>
                <a:spcPct val="114000"/>
              </a:lnSpc>
              <a:spcBef>
                <a:spcPts val="0"/>
              </a:spcBef>
              <a:buNone/>
            </a:pPr>
            <a:r>
              <a:rPr lang="ar-DZ" sz="4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نــشــاط</a:t>
            </a:r>
            <a:r>
              <a:rPr lang="fr-FR" sz="4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12</a:t>
            </a: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 :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الـتَـكَــفُــلُ بـالـجــانــب الـجــمــالـي ( الـمـظـهــر ) فـي صـفـحــات الـويــب يـكـون بـاســتــغـــلال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خـصـائـص الـتـنـســيـق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الّـتِي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تُـوَفِّــرُهَـا تـقـنـيـة «</a:t>
            </a:r>
            <a:r>
              <a:rPr lang="fr-FR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CSS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» </a:t>
            </a:r>
            <a:r>
              <a:rPr lang="fr-FR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؛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صَــنِّــفْ فـي الـجــدول أدنــاه الـخــصــائـص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الـتـالـيـة</a:t>
            </a:r>
            <a:r>
              <a:rPr lang="ar-DZ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4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: </a:t>
            </a:r>
            <a:r>
              <a:rPr lang="fr-FR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background-color</a:t>
            </a:r>
            <a:r>
              <a:rPr lang="en-US" sz="48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ar-DZ" sz="48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en-US" sz="48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+mj-cs"/>
              </a:rPr>
              <a:t>، 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font-family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+mj-cs"/>
              </a:rPr>
              <a:t>، 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color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id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width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font-size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height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 </a:t>
            </a:r>
            <a:r>
              <a:rPr lang="fr-FR" sz="4400" b="1" dirty="0" err="1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Text</a:t>
            </a: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-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align</a:t>
            </a:r>
            <a:r>
              <a:rPr lang="ar-DZ" sz="40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 </a:t>
            </a:r>
            <a:endParaRPr lang="ar-DZ" sz="44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636" y="287542"/>
            <a:ext cx="9759549" cy="6084000"/>
          </a:xfrm>
          <a:prstGeom prst="rect">
            <a:avLst/>
          </a:prstGeom>
          <a:ln w="1905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34950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335641"/>
              </p:ext>
            </p:extLst>
          </p:nvPr>
        </p:nvGraphicFramePr>
        <p:xfrm>
          <a:off x="995423" y="1334350"/>
          <a:ext cx="10080001" cy="49687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وضــع  إشـــارة  عــلـى  عــنــصــر ( عــلامــة  لـتـعــريــف  وســـم  مُـعَــيَّــن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لـتـحــديـــد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لــون خــلــفــيــة عــنــصــر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(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white</a:t>
                      </a:r>
                      <a:r>
                        <a:rPr lang="ar-DZ" sz="3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 ،  </a:t>
                      </a:r>
                      <a:r>
                        <a:rPr lang="fr-FR" sz="3000" b="1" kern="1200" dirty="0" err="1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yellow</a:t>
                      </a:r>
                      <a:r>
                        <a:rPr lang="ar-DZ" sz="3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 ،  </a:t>
                      </a:r>
                      <a:r>
                        <a:rPr lang="fr-FR" sz="3000" b="1" kern="1200" dirty="0" err="1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blue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 ...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0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j-cs"/>
                        </a:rPr>
                        <a:t>لـتـحــديــد</a:t>
                      </a:r>
                      <a:r>
                        <a:rPr lang="ar-SA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نــوع الـخــط  ( 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Arial</a:t>
                      </a:r>
                      <a:r>
                        <a:rPr lang="ar-DZ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،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Calibri</a:t>
                      </a:r>
                      <a:r>
                        <a:rPr lang="ar-DZ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،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"Time New Roman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... 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7891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335641"/>
              </p:ext>
            </p:extLst>
          </p:nvPr>
        </p:nvGraphicFramePr>
        <p:xfrm>
          <a:off x="995423" y="1334350"/>
          <a:ext cx="10080001" cy="49687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وضــع  إشـــارة  عــلـى  عــنــصــر ( عــلامــة  لـتـعــريــف  وســـم  مُـعَــيَّــن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لـتـحــديـــد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لــون خــلــفــيــة عــنــصــر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(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white</a:t>
                      </a:r>
                      <a:r>
                        <a:rPr lang="ar-DZ" sz="3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 ،  </a:t>
                      </a:r>
                      <a:r>
                        <a:rPr lang="fr-FR" sz="3000" b="1" kern="1200" dirty="0" err="1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yellow</a:t>
                      </a:r>
                      <a:r>
                        <a:rPr lang="ar-DZ" sz="3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 ،  </a:t>
                      </a:r>
                      <a:r>
                        <a:rPr lang="fr-FR" sz="3000" b="1" kern="1200" dirty="0" err="1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blue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 ...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0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j-cs"/>
                        </a:rPr>
                        <a:t>لـتـحــديــد</a:t>
                      </a:r>
                      <a:r>
                        <a:rPr lang="ar-SA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نــوع الـخــط  ( 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Arial</a:t>
                      </a:r>
                      <a:r>
                        <a:rPr lang="ar-DZ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،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Calibri</a:t>
                      </a:r>
                      <a:r>
                        <a:rPr lang="ar-DZ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،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"Time New Roman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... 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663027" y="2779239"/>
            <a:ext cx="369432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id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50816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335641"/>
              </p:ext>
            </p:extLst>
          </p:nvPr>
        </p:nvGraphicFramePr>
        <p:xfrm>
          <a:off x="995423" y="1334350"/>
          <a:ext cx="10080001" cy="49687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وضــع  إشـــارة  عــلـى  عــنــصــر ( عــلامــة  لـتـعــريــف  وســـم  مُـعَــيَّــن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لـتـحــديـــد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لــون خــلــفــيــة عــنــصــر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(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white</a:t>
                      </a:r>
                      <a:r>
                        <a:rPr lang="ar-DZ" sz="3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 ،  </a:t>
                      </a:r>
                      <a:r>
                        <a:rPr lang="fr-FR" sz="3000" b="1" kern="1200" dirty="0" err="1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yellow</a:t>
                      </a:r>
                      <a:r>
                        <a:rPr lang="ar-DZ" sz="3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 ،  </a:t>
                      </a:r>
                      <a:r>
                        <a:rPr lang="fr-FR" sz="3000" b="1" kern="1200" dirty="0" err="1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blue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 ...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0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j-cs"/>
                        </a:rPr>
                        <a:t>لـتـحــديــد</a:t>
                      </a:r>
                      <a:r>
                        <a:rPr lang="ar-SA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نــوع الـخــط  ( 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Arial</a:t>
                      </a:r>
                      <a:r>
                        <a:rPr lang="ar-DZ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،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Calibri</a:t>
                      </a:r>
                      <a:r>
                        <a:rPr lang="ar-DZ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،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"Time New Roman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... 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663027" y="2779239"/>
            <a:ext cx="369432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id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63027" y="4007557"/>
            <a:ext cx="369433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background-color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20769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335641"/>
              </p:ext>
            </p:extLst>
          </p:nvPr>
        </p:nvGraphicFramePr>
        <p:xfrm>
          <a:off x="995423" y="1334350"/>
          <a:ext cx="10080001" cy="49687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وضــع  إشـــارة  عــلـى  عــنــصــر ( عــلامــة  لـتـعــريــف  وســـم  مُـعَــيَّــن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لـتـحــديـــد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لــون خــلــفــيــة عــنــصــر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(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white</a:t>
                      </a:r>
                      <a:r>
                        <a:rPr lang="ar-DZ" sz="3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 ،  </a:t>
                      </a:r>
                      <a:r>
                        <a:rPr lang="fr-FR" sz="3000" b="1" kern="1200" dirty="0" err="1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yellow</a:t>
                      </a:r>
                      <a:r>
                        <a:rPr lang="ar-DZ" sz="3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 ،  </a:t>
                      </a:r>
                      <a:r>
                        <a:rPr lang="fr-FR" sz="3000" b="1" kern="1200" dirty="0" err="1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blue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 ...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0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j-cs"/>
                        </a:rPr>
                        <a:t>لـتـحــديــد</a:t>
                      </a:r>
                      <a:r>
                        <a:rPr lang="ar-SA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نــوع الـخــط  ( 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Arial</a:t>
                      </a:r>
                      <a:r>
                        <a:rPr lang="ar-DZ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،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Calibri</a:t>
                      </a:r>
                      <a:r>
                        <a:rPr lang="ar-DZ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، 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j-cs"/>
                        </a:rPr>
                        <a:t>"Time New Roman</a:t>
                      </a:r>
                      <a:r>
                        <a:rPr lang="fr-FR" sz="3000" b="1" kern="120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... 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663027" y="2779239"/>
            <a:ext cx="369432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id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63027" y="4007557"/>
            <a:ext cx="369433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background-color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63027" y="5235875"/>
            <a:ext cx="369433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font-family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64945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819179"/>
              </p:ext>
            </p:extLst>
          </p:nvPr>
        </p:nvGraphicFramePr>
        <p:xfrm>
          <a:off x="995423" y="1307456"/>
          <a:ext cx="10080001" cy="49687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لــتـحــديــــد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حـــجـــم  الـخـــط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endParaRPr lang="fr-FR" sz="3200" b="1" dirty="0" smtClean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(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1.5em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1.6em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1.9em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Times New Roman" panose="02020603050405020304" pitchFamily="18" charset="0"/>
                          <a:ea typeface="Droid Sans Fallback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... 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لــتــحـــديـــد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لـــون  الـخـــط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endParaRPr lang="fr-FR" sz="3200" b="1" dirty="0" smtClean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(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blue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red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، </a:t>
                      </a:r>
                      <a:r>
                        <a:rPr lang="fr-FR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green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Times New Roman" panose="02020603050405020304" pitchFamily="18" charset="0"/>
                          <a:ea typeface="Droid Sans Fallback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white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... 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لــتــحـــديـــد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مـــحــــــاذاة  الــنــص</a:t>
                      </a:r>
                      <a:endParaRPr lang="fr-FR" sz="3200" b="1" dirty="0" smtClean="0">
                        <a:solidFill>
                          <a:srgbClr val="002060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(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left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ea typeface="Droid Sans Fallback"/>
                          <a:cs typeface="Liberation Serif"/>
                        </a:rPr>
                        <a:t>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right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center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 ... 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757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819179"/>
              </p:ext>
            </p:extLst>
          </p:nvPr>
        </p:nvGraphicFramePr>
        <p:xfrm>
          <a:off x="995423" y="1307456"/>
          <a:ext cx="10080001" cy="49687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لــتـحــديــــد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حـــجـــم  الـخـــط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endParaRPr lang="fr-FR" sz="3200" b="1" dirty="0" smtClean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(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1.5em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1.6em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1.9em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Times New Roman" panose="02020603050405020304" pitchFamily="18" charset="0"/>
                          <a:ea typeface="Droid Sans Fallback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... 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لــتــحـــديـــد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لـــون  الـخـــط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endParaRPr lang="fr-FR" sz="3200" b="1" dirty="0" smtClean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(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blue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red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، </a:t>
                      </a:r>
                      <a:r>
                        <a:rPr lang="fr-FR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green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Times New Roman" panose="02020603050405020304" pitchFamily="18" charset="0"/>
                          <a:ea typeface="Droid Sans Fallback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white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... 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لــتــحـــديـــد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مـــحــــــاذاة  الــنــص</a:t>
                      </a:r>
                      <a:endParaRPr lang="fr-FR" sz="3200" b="1" dirty="0" smtClean="0">
                        <a:solidFill>
                          <a:srgbClr val="002060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(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left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ea typeface="Droid Sans Fallback"/>
                          <a:cs typeface="Liberation Serif"/>
                        </a:rPr>
                        <a:t>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right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center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 ... 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673189" y="2722367"/>
            <a:ext cx="369433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font-size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29769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819179"/>
              </p:ext>
            </p:extLst>
          </p:nvPr>
        </p:nvGraphicFramePr>
        <p:xfrm>
          <a:off x="995423" y="1307456"/>
          <a:ext cx="10080001" cy="49687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لــتـحــديــــد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حـــجـــم  الـخـــط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endParaRPr lang="fr-FR" sz="3200" b="1" dirty="0" smtClean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(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1.5em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1.6em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1.9em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Times New Roman" panose="02020603050405020304" pitchFamily="18" charset="0"/>
                          <a:ea typeface="Droid Sans Fallback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... 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لــتــحـــديـــد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لـــون  الـخـــط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endParaRPr lang="fr-FR" sz="3200" b="1" dirty="0" smtClean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(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blue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red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، </a:t>
                      </a:r>
                      <a:r>
                        <a:rPr lang="fr-FR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green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Times New Roman" panose="02020603050405020304" pitchFamily="18" charset="0"/>
                          <a:ea typeface="Droid Sans Fallback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white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... 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لــتــحـــديـــد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مـــحــــــاذاة  الــنــص</a:t>
                      </a:r>
                      <a:endParaRPr lang="fr-FR" sz="3200" b="1" dirty="0" smtClean="0">
                        <a:solidFill>
                          <a:srgbClr val="002060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(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left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ea typeface="Droid Sans Fallback"/>
                          <a:cs typeface="Liberation Serif"/>
                        </a:rPr>
                        <a:t>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right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center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 ... 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673189" y="2722367"/>
            <a:ext cx="369433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font-size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73189" y="4005064"/>
            <a:ext cx="369433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color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37500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819179"/>
              </p:ext>
            </p:extLst>
          </p:nvPr>
        </p:nvGraphicFramePr>
        <p:xfrm>
          <a:off x="995423" y="1307456"/>
          <a:ext cx="10080001" cy="49687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لــتـحــديــــد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حـــجـــم  الـخـــط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endParaRPr lang="fr-FR" sz="3200" b="1" dirty="0" smtClean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(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1.5em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1.6em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1.9em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Times New Roman" panose="02020603050405020304" pitchFamily="18" charset="0"/>
                          <a:ea typeface="Droid Sans Fallback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... 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لــتــحـــديـــد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لـــون  الـخـــط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endParaRPr lang="fr-FR" sz="3200" b="1" dirty="0" smtClean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(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blue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red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، </a:t>
                      </a:r>
                      <a:r>
                        <a:rPr lang="fr-FR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green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Times New Roman" panose="02020603050405020304" pitchFamily="18" charset="0"/>
                          <a:ea typeface="Droid Sans Fallback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white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... 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لــتــحـــديـــد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مـــحــــــاذاة  الــنــص</a:t>
                      </a:r>
                      <a:endParaRPr lang="fr-FR" sz="3200" b="1" dirty="0" smtClean="0">
                        <a:solidFill>
                          <a:srgbClr val="002060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(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left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ea typeface="Droid Sans Fallback"/>
                          <a:cs typeface="Liberation Serif"/>
                        </a:rPr>
                        <a:t>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right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center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 ... 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673189" y="2722367"/>
            <a:ext cx="369433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font-size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73189" y="4005064"/>
            <a:ext cx="369433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color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73189" y="5287761"/>
            <a:ext cx="369433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Text-align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37793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5. خـصـائـص الـتـنـســيـق ـــ  تـــــابــع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950494"/>
              </p:ext>
            </p:extLst>
          </p:nvPr>
        </p:nvGraphicFramePr>
        <p:xfrm>
          <a:off x="995423" y="1374691"/>
          <a:ext cx="10080001" cy="49687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لــتــحـــديـــد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عــــرض  عـــنــصــر</a:t>
                      </a:r>
                      <a:endParaRPr lang="fr-FR" sz="3200" b="1" dirty="0" smtClean="0">
                        <a:solidFill>
                          <a:srgbClr val="002060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(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40%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50%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100%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 ...   )</a:t>
                      </a:r>
                      <a:endParaRPr lang="fr-FR" sz="3200" b="1" dirty="0" smtClean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لــتـحــديـــد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ارتـــفـــاع  عـــنــصــر </a:t>
                      </a:r>
                      <a:endParaRPr lang="fr-FR" sz="3200" b="1" dirty="0" smtClean="0">
                        <a:solidFill>
                          <a:srgbClr val="002060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70px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115px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150px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 ... 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889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5. خـصـائـص الـتـنـســيـق ـــ  تـــــابــع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950494"/>
              </p:ext>
            </p:extLst>
          </p:nvPr>
        </p:nvGraphicFramePr>
        <p:xfrm>
          <a:off x="995423" y="1374691"/>
          <a:ext cx="10080001" cy="49687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لــتــحـــديـــد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عــــرض  عـــنــصــر</a:t>
                      </a:r>
                      <a:endParaRPr lang="fr-FR" sz="3200" b="1" dirty="0" smtClean="0">
                        <a:solidFill>
                          <a:srgbClr val="002060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(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40%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50%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100%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 ...   )</a:t>
                      </a:r>
                      <a:endParaRPr lang="fr-FR" sz="3200" b="1" dirty="0" smtClean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لــتـحــديـــد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ارتـــفـــاع  عـــنــصــر </a:t>
                      </a:r>
                      <a:endParaRPr lang="fr-FR" sz="3200" b="1" dirty="0" smtClean="0">
                        <a:solidFill>
                          <a:srgbClr val="002060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70px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115px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150px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 ... 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663027" y="2807822"/>
            <a:ext cx="369433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width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28389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5. خـصـائـص الـتـنـســيـق ـــ  تـــــابــع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950494"/>
              </p:ext>
            </p:extLst>
          </p:nvPr>
        </p:nvGraphicFramePr>
        <p:xfrm>
          <a:off x="995423" y="1374691"/>
          <a:ext cx="10080001" cy="49687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لــتــحـــديـــد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عــــرض  عـــنــصــر</a:t>
                      </a:r>
                      <a:endParaRPr lang="fr-FR" sz="3200" b="1" dirty="0" smtClean="0">
                        <a:solidFill>
                          <a:srgbClr val="002060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(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40%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50%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100%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 ...   )</a:t>
                      </a:r>
                      <a:endParaRPr lang="fr-FR" sz="3200" b="1" dirty="0" smtClean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لــتـحــديـــد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ارتـــفـــاع  عـــنــصــر </a:t>
                      </a:r>
                      <a:endParaRPr lang="fr-FR" sz="3200" b="1" dirty="0" smtClean="0">
                        <a:solidFill>
                          <a:srgbClr val="002060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70px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115px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150px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 ... 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663027" y="2807822"/>
            <a:ext cx="369433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width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63027" y="4063625"/>
            <a:ext cx="369433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height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38437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385499"/>
              </p:ext>
            </p:extLst>
          </p:nvPr>
        </p:nvGraphicFramePr>
        <p:xfrm>
          <a:off x="995423" y="1307456"/>
          <a:ext cx="10080001" cy="49687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تـحــديـــد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نــمــط  الـخــط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عـــادي / مــائــل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) </a:t>
                      </a:r>
                      <a:endParaRPr lang="fr-FR" sz="3200" b="1" dirty="0" smtClean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(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Normal 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</a:t>
                      </a:r>
                      <a:r>
                        <a:rPr lang="fr-FR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Italic</a:t>
                      </a:r>
                      <a:r>
                        <a:rPr lang="fr-FR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تـحــديـــد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سُــمْــك الـخــط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عـــادي / غــلـيـظ</a:t>
                      </a:r>
                      <a:r>
                        <a:rPr lang="fr-FR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) </a:t>
                      </a:r>
                      <a:endParaRPr lang="fr-FR" sz="3200" b="1" dirty="0" smtClean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(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Normal 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</a:t>
                      </a:r>
                      <a:r>
                        <a:rPr lang="fr-FR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Bold</a:t>
                      </a:r>
                      <a:r>
                        <a:rPr lang="fr-FR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تــســطــيــر نــص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fr-FR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underline</a:t>
                      </a:r>
                      <a:r>
                        <a:rPr lang="en-US" sz="3200" b="1" baseline="0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، </a:t>
                      </a:r>
                      <a:r>
                        <a:rPr lang="en-US" sz="3200" b="1" dirty="0" err="1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overline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blink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، </a:t>
                      </a:r>
                      <a:r>
                        <a:rPr lang="fr-FR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none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... 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8213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385499"/>
              </p:ext>
            </p:extLst>
          </p:nvPr>
        </p:nvGraphicFramePr>
        <p:xfrm>
          <a:off x="995423" y="1307456"/>
          <a:ext cx="10080001" cy="49687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تـحــديـــد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نــمــط  الـخــط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عـــادي / مــائــل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) </a:t>
                      </a:r>
                      <a:endParaRPr lang="fr-FR" sz="3200" b="1" dirty="0" smtClean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(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Normal 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</a:t>
                      </a:r>
                      <a:r>
                        <a:rPr lang="fr-FR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Italic</a:t>
                      </a:r>
                      <a:r>
                        <a:rPr lang="fr-FR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تـحــديـــد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سُــمْــك الـخــط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عـــادي / غــلـيـظ</a:t>
                      </a:r>
                      <a:r>
                        <a:rPr lang="fr-FR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) </a:t>
                      </a:r>
                      <a:endParaRPr lang="fr-FR" sz="3200" b="1" dirty="0" smtClean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(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Normal 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</a:t>
                      </a:r>
                      <a:r>
                        <a:rPr lang="fr-FR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Bold</a:t>
                      </a:r>
                      <a:r>
                        <a:rPr lang="fr-FR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تــســطــيــر نــص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fr-FR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underline</a:t>
                      </a:r>
                      <a:r>
                        <a:rPr lang="en-US" sz="3200" b="1" baseline="0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، </a:t>
                      </a:r>
                      <a:r>
                        <a:rPr lang="en-US" sz="3200" b="1" dirty="0" err="1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overline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blink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، </a:t>
                      </a:r>
                      <a:r>
                        <a:rPr lang="fr-FR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none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... 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673189" y="2722367"/>
            <a:ext cx="331935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font-style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80868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385499"/>
              </p:ext>
            </p:extLst>
          </p:nvPr>
        </p:nvGraphicFramePr>
        <p:xfrm>
          <a:off x="995423" y="1307456"/>
          <a:ext cx="10080001" cy="49687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تـحــديـــد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نــمــط  الـخــط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عـــادي / مــائــل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) </a:t>
                      </a:r>
                      <a:endParaRPr lang="fr-FR" sz="3200" b="1" dirty="0" smtClean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(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Normal 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</a:t>
                      </a:r>
                      <a:r>
                        <a:rPr lang="fr-FR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Italic</a:t>
                      </a:r>
                      <a:r>
                        <a:rPr lang="fr-FR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تـحــديـــد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سُــمْــك الـخــط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عـــادي / غــلـيـظ</a:t>
                      </a:r>
                      <a:r>
                        <a:rPr lang="fr-FR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) </a:t>
                      </a:r>
                      <a:endParaRPr lang="fr-FR" sz="3200" b="1" dirty="0" smtClean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(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Normal 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</a:t>
                      </a:r>
                      <a:r>
                        <a:rPr lang="fr-FR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Bold</a:t>
                      </a:r>
                      <a:r>
                        <a:rPr lang="fr-FR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تــســطــيــر نــص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fr-FR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underline</a:t>
                      </a:r>
                      <a:r>
                        <a:rPr lang="en-US" sz="3200" b="1" baseline="0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، </a:t>
                      </a:r>
                      <a:r>
                        <a:rPr lang="en-US" sz="3200" b="1" dirty="0" err="1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overline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blink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، </a:t>
                      </a:r>
                      <a:r>
                        <a:rPr lang="fr-FR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none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... 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673189" y="2722367"/>
            <a:ext cx="331935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font-style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73189" y="3991617"/>
            <a:ext cx="331935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font-weight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957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385499"/>
              </p:ext>
            </p:extLst>
          </p:nvPr>
        </p:nvGraphicFramePr>
        <p:xfrm>
          <a:off x="995423" y="1307456"/>
          <a:ext cx="10080001" cy="49687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تـحــديـــد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نــمــط  الـخــط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عـــادي / مــائــل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) </a:t>
                      </a:r>
                      <a:endParaRPr lang="fr-FR" sz="3200" b="1" dirty="0" smtClean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(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Normal 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</a:t>
                      </a:r>
                      <a:r>
                        <a:rPr lang="fr-FR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Italic</a:t>
                      </a:r>
                      <a:r>
                        <a:rPr lang="fr-FR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تـحــديـــد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سُــمْــك الـخــط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عـــادي / غــلـيـظ</a:t>
                      </a:r>
                      <a:r>
                        <a:rPr lang="fr-FR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) </a:t>
                      </a:r>
                      <a:endParaRPr lang="fr-FR" sz="3200" b="1" dirty="0" smtClean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(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Normal 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</a:t>
                      </a:r>
                      <a:r>
                        <a:rPr lang="fr-FR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FreeSans"/>
                        </a:rPr>
                        <a:t>Bold</a:t>
                      </a:r>
                      <a:r>
                        <a:rPr lang="fr-FR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تــســطــيــر نــص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fr-FR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underline</a:t>
                      </a:r>
                      <a:r>
                        <a:rPr lang="en-US" sz="3200" b="1" baseline="0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، </a:t>
                      </a:r>
                      <a:r>
                        <a:rPr lang="en-US" sz="3200" b="1" dirty="0" err="1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overline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blink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، </a:t>
                      </a:r>
                      <a:r>
                        <a:rPr lang="fr-FR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none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... 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673189" y="2722367"/>
            <a:ext cx="331935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font-style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73189" y="3991617"/>
            <a:ext cx="331935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font-weight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73189" y="5287761"/>
            <a:ext cx="331935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</a:t>
            </a:r>
            <a:r>
              <a:rPr lang="en-US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ext-decoration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04029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814086"/>
              </p:ext>
            </p:extLst>
          </p:nvPr>
        </p:nvGraphicFramePr>
        <p:xfrm>
          <a:off x="983433" y="1307456"/>
          <a:ext cx="10091992" cy="4497808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5834"/>
                <a:gridCol w="6606158"/>
              </a:tblGrid>
              <a:tr h="152438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297342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تـحــديـــد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نــمــط  الـبُــنُــودِ فـي قــائــمــة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(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square</a:t>
                      </a:r>
                      <a:r>
                        <a:rPr lang="ar-DZ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disc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fr-FR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، </a:t>
                      </a:r>
                      <a:r>
                        <a:rPr lang="fr-FR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decimal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lower-roman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Times New Roman" panose="02020603050405020304" pitchFamily="18" charset="0"/>
                          <a:ea typeface="Droid Sans Fallback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، 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lower-</a:t>
                      </a:r>
                      <a:r>
                        <a:rPr lang="en-US" sz="3200" b="1" dirty="0" err="1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latin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upper-</a:t>
                      </a:r>
                      <a:r>
                        <a:rPr lang="en-US" sz="3200" b="1" dirty="0" err="1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latin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none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...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931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814086"/>
              </p:ext>
            </p:extLst>
          </p:nvPr>
        </p:nvGraphicFramePr>
        <p:xfrm>
          <a:off x="983433" y="1307456"/>
          <a:ext cx="10091992" cy="4497808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5834"/>
                <a:gridCol w="6606158"/>
              </a:tblGrid>
              <a:tr h="152438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297342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تـحــديـــد 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نــمــط  الـبُــنُــودِ فـي قــائــمــة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(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square</a:t>
                      </a:r>
                      <a:r>
                        <a:rPr lang="ar-DZ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،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disc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fr-FR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، </a:t>
                      </a:r>
                      <a:r>
                        <a:rPr lang="fr-FR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decimal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،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lower-roman</a:t>
                      </a:r>
                      <a:r>
                        <a:rPr lang="en-US" sz="3200" b="1" dirty="0" smtClean="0">
                          <a:solidFill>
                            <a:srgbClr val="00000A"/>
                          </a:solidFill>
                          <a:effectLst/>
                          <a:latin typeface="Times New Roman" panose="02020603050405020304" pitchFamily="18" charset="0"/>
                          <a:ea typeface="Droid Sans Fallback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، 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lower-</a:t>
                      </a:r>
                      <a:r>
                        <a:rPr lang="en-US" sz="3200" b="1" dirty="0" err="1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latin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upper-</a:t>
                      </a:r>
                      <a:r>
                        <a:rPr lang="en-US" sz="3200" b="1" dirty="0" err="1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latin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none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... 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680176" y="3573016"/>
            <a:ext cx="33843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list-style-type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7131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257239"/>
              </p:ext>
            </p:extLst>
          </p:nvPr>
        </p:nvGraphicFramePr>
        <p:xfrm>
          <a:off x="983433" y="1307456"/>
          <a:ext cx="10091992" cy="4713832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5834"/>
                <a:gridCol w="6606158"/>
              </a:tblGrid>
              <a:tr h="1327497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3386335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تـحــديـــد  </a:t>
                      </a:r>
                      <a:r>
                        <a:rPr lang="ar-DZ" sz="3200" b="1" u="sng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خــصــائـص الإطـــار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ea typeface="Droid Sans Fallback"/>
                          <a:cs typeface="Liberation Serif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فـي عـــنــصــر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3200" b="1" u="sng" dirty="0" smtClean="0">
                          <a:solidFill>
                            <a:srgbClr val="FF000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سُـــمْــك</a:t>
                      </a:r>
                      <a:r>
                        <a:rPr lang="ar-DZ" sz="3200" b="1" dirty="0" smtClean="0">
                          <a:solidFill>
                            <a:srgbClr val="FF000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، </a:t>
                      </a:r>
                      <a:r>
                        <a:rPr lang="ar-DZ" sz="3200" b="1" u="sng" dirty="0" smtClean="0">
                          <a:solidFill>
                            <a:srgbClr val="6A18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نَـ</a:t>
                      </a:r>
                      <a:r>
                        <a:rPr lang="ar-DZ" sz="3200" b="1" u="sng" dirty="0" smtClean="0">
                          <a:solidFill>
                            <a:srgbClr val="FF000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DZ" sz="3200" b="1" u="sng" dirty="0" smtClean="0">
                          <a:solidFill>
                            <a:srgbClr val="6A18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ـوْع</a:t>
                      </a:r>
                      <a:r>
                        <a:rPr lang="ar-DZ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، </a:t>
                      </a:r>
                      <a:r>
                        <a:rPr lang="ar-DZ" sz="3200" b="1" u="sng" dirty="0" smtClean="0">
                          <a:solidFill>
                            <a:srgbClr val="5E1066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لَــوْن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 </a:t>
                      </a:r>
                      <a:endParaRPr lang="fr-FR" sz="3200" b="1" dirty="0" smtClean="0">
                        <a:solidFill>
                          <a:srgbClr val="002060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 smtClean="0">
                          <a:solidFill>
                            <a:srgbClr val="FF000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2px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3200" b="1" dirty="0" smtClean="0">
                          <a:solidFill>
                            <a:srgbClr val="6A18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solid  </a:t>
                      </a:r>
                      <a:r>
                        <a:rPr lang="en-US" sz="3200" b="1" dirty="0" smtClean="0">
                          <a:solidFill>
                            <a:srgbClr val="5E1066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blue</a:t>
                      </a:r>
                      <a:r>
                        <a:rPr lang="en-US" sz="3200" b="1" dirty="0" smtClean="0">
                          <a:solidFill>
                            <a:srgbClr val="5E1066"/>
                          </a:solidFill>
                          <a:effectLst/>
                          <a:latin typeface="Times New Roman" panose="02020603050405020304" pitchFamily="18" charset="0"/>
                          <a:ea typeface="Droid Sans Fallback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 smtClean="0">
                          <a:solidFill>
                            <a:srgbClr val="FF000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1px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3200" b="1" dirty="0" smtClean="0">
                          <a:solidFill>
                            <a:srgbClr val="6A18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double  </a:t>
                      </a:r>
                      <a:r>
                        <a:rPr lang="en-US" sz="3200" b="1" dirty="0" smtClean="0">
                          <a:solidFill>
                            <a:srgbClr val="5E1066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green</a:t>
                      </a:r>
                      <a:r>
                        <a:rPr lang="en-US" sz="3200" b="1" dirty="0" smtClean="0">
                          <a:solidFill>
                            <a:srgbClr val="5E1066"/>
                          </a:solidFill>
                          <a:effectLst/>
                          <a:latin typeface="Times New Roman" panose="02020603050405020304" pitchFamily="18" charset="0"/>
                          <a:ea typeface="Droid Sans Fallback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baseline="0" dirty="0" smtClean="0">
                          <a:solidFill>
                            <a:srgbClr val="FF000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b="1" dirty="0" smtClean="0">
                          <a:solidFill>
                            <a:srgbClr val="FF000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3px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3200" b="1" dirty="0" smtClean="0">
                          <a:solidFill>
                            <a:srgbClr val="6A18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dashed  </a:t>
                      </a:r>
                      <a:r>
                        <a:rPr lang="en-US" sz="3200" b="1" dirty="0" smtClean="0">
                          <a:solidFill>
                            <a:srgbClr val="5E1066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black</a:t>
                      </a:r>
                      <a:r>
                        <a:rPr lang="en-US" sz="3200" b="1" dirty="0" smtClean="0">
                          <a:solidFill>
                            <a:srgbClr val="5E1066"/>
                          </a:solidFill>
                          <a:effectLst/>
                          <a:latin typeface="Times New Roman" panose="02020603050405020304" pitchFamily="18" charset="0"/>
                          <a:ea typeface="Droid Sans Fallback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...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6005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257239"/>
              </p:ext>
            </p:extLst>
          </p:nvPr>
        </p:nvGraphicFramePr>
        <p:xfrm>
          <a:off x="983433" y="1307456"/>
          <a:ext cx="10091992" cy="4713832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5834"/>
                <a:gridCol w="6606158"/>
              </a:tblGrid>
              <a:tr h="1327497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3386335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تـحــديـــد  </a:t>
                      </a:r>
                      <a:r>
                        <a:rPr lang="ar-DZ" sz="3200" b="1" u="sng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خــصــائـص الإطـــار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ea typeface="Droid Sans Fallback"/>
                          <a:cs typeface="Liberation Serif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فـي عـــنــصــر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3200" b="1" u="sng" dirty="0" smtClean="0">
                          <a:solidFill>
                            <a:srgbClr val="FF000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سُـــمْــك</a:t>
                      </a:r>
                      <a:r>
                        <a:rPr lang="ar-DZ" sz="3200" b="1" dirty="0" smtClean="0">
                          <a:solidFill>
                            <a:srgbClr val="FF000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، </a:t>
                      </a:r>
                      <a:r>
                        <a:rPr lang="ar-DZ" sz="3200" b="1" u="sng" dirty="0" smtClean="0">
                          <a:solidFill>
                            <a:srgbClr val="6A18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نَـ</a:t>
                      </a:r>
                      <a:r>
                        <a:rPr lang="ar-DZ" sz="3200" b="1" u="sng" dirty="0" smtClean="0">
                          <a:solidFill>
                            <a:srgbClr val="FF000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ـ</a:t>
                      </a:r>
                      <a:r>
                        <a:rPr lang="ar-DZ" sz="3200" b="1" u="sng" dirty="0" smtClean="0">
                          <a:solidFill>
                            <a:srgbClr val="6A18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ـوْع</a:t>
                      </a:r>
                      <a:r>
                        <a:rPr lang="ar-DZ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، </a:t>
                      </a:r>
                      <a:r>
                        <a:rPr lang="ar-DZ" sz="3200" b="1" u="sng" dirty="0" smtClean="0">
                          <a:solidFill>
                            <a:srgbClr val="5E1066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لَــوْن</a:t>
                      </a: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 </a:t>
                      </a:r>
                      <a:endParaRPr lang="fr-FR" sz="3200" b="1" dirty="0" smtClean="0">
                        <a:solidFill>
                          <a:srgbClr val="002060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 smtClean="0">
                          <a:solidFill>
                            <a:srgbClr val="FF000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2px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3200" b="1" dirty="0" smtClean="0">
                          <a:solidFill>
                            <a:srgbClr val="6A18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solid  </a:t>
                      </a:r>
                      <a:r>
                        <a:rPr lang="en-US" sz="3200" b="1" dirty="0" smtClean="0">
                          <a:solidFill>
                            <a:srgbClr val="5E1066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blue</a:t>
                      </a:r>
                      <a:r>
                        <a:rPr lang="en-US" sz="3200" b="1" dirty="0" smtClean="0">
                          <a:solidFill>
                            <a:srgbClr val="5E1066"/>
                          </a:solidFill>
                          <a:effectLst/>
                          <a:latin typeface="Times New Roman" panose="02020603050405020304" pitchFamily="18" charset="0"/>
                          <a:ea typeface="Droid Sans Fallback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 smtClean="0">
                          <a:solidFill>
                            <a:srgbClr val="FF000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1px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3200" b="1" dirty="0" smtClean="0">
                          <a:solidFill>
                            <a:srgbClr val="6A18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double  </a:t>
                      </a:r>
                      <a:r>
                        <a:rPr lang="en-US" sz="3200" b="1" dirty="0" smtClean="0">
                          <a:solidFill>
                            <a:srgbClr val="5E1066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green</a:t>
                      </a:r>
                      <a:r>
                        <a:rPr lang="en-US" sz="3200" b="1" dirty="0" smtClean="0">
                          <a:solidFill>
                            <a:srgbClr val="5E1066"/>
                          </a:solidFill>
                          <a:effectLst/>
                          <a:latin typeface="Times New Roman" panose="02020603050405020304" pitchFamily="18" charset="0"/>
                          <a:ea typeface="Droid Sans Fallback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baseline="0" dirty="0" smtClean="0">
                          <a:solidFill>
                            <a:srgbClr val="FF000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200" b="1" dirty="0" smtClean="0">
                          <a:solidFill>
                            <a:srgbClr val="FF000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3px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3200" b="1" dirty="0" smtClean="0">
                          <a:solidFill>
                            <a:srgbClr val="6A18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dashed  </a:t>
                      </a:r>
                      <a:r>
                        <a:rPr lang="en-US" sz="3200" b="1" dirty="0" smtClean="0">
                          <a:solidFill>
                            <a:srgbClr val="5E1066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black</a:t>
                      </a:r>
                      <a:r>
                        <a:rPr lang="en-US" sz="3200" b="1" dirty="0" smtClean="0">
                          <a:solidFill>
                            <a:srgbClr val="5E1066"/>
                          </a:solidFill>
                          <a:effectLst/>
                          <a:latin typeface="Times New Roman" panose="02020603050405020304" pitchFamily="18" charset="0"/>
                          <a:ea typeface="Droid Sans Fallback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...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680176" y="3586463"/>
            <a:ext cx="33123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border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57041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109486"/>
              </p:ext>
            </p:extLst>
          </p:nvPr>
        </p:nvGraphicFramePr>
        <p:xfrm>
          <a:off x="983433" y="1307456"/>
          <a:ext cx="10091992" cy="4497808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5834"/>
                <a:gridCol w="6606158"/>
              </a:tblGrid>
              <a:tr h="152438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297342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تَــوْحِـــيـــدِ  أو  فَــصْــلِ  إطـــارات  الــخَــلَايَـــا  الــمُـــتَــجَــــاوِرَةِ  دَاخِـــل  جـــدول</a:t>
                      </a:r>
                      <a:endParaRPr lang="fr-FR" sz="3200" b="1" dirty="0" smtClean="0">
                        <a:solidFill>
                          <a:srgbClr val="002060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(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collapse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separate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) 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2865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109486"/>
              </p:ext>
            </p:extLst>
          </p:nvPr>
        </p:nvGraphicFramePr>
        <p:xfrm>
          <a:off x="983433" y="1307456"/>
          <a:ext cx="10091992" cy="4497808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5834"/>
                <a:gridCol w="6606158"/>
              </a:tblGrid>
              <a:tr h="152438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أَبْـــرَز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خــصـائـص الـتــنــســيــق</a:t>
                      </a:r>
                      <a:endParaRPr lang="fr-FR" sz="3600" b="1" u="none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وظــيـــفــة </a:t>
                      </a:r>
                      <a:r>
                        <a:rPr lang="ar-DZ" sz="3600" b="1" u="none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الـخــاصـيَّـة</a:t>
                      </a:r>
                      <a:r>
                        <a:rPr lang="ar-DZ" sz="36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وبـعـض </a:t>
                      </a:r>
                      <a:r>
                        <a:rPr lang="ar-DZ" sz="3600" b="1" u="none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وقِــيَــمِـهـا</a:t>
                      </a:r>
                      <a:endParaRPr lang="fr-FR" sz="3600" b="1" u="none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297342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تَــوْحِـــيـــدِ  أو  فَــصْــلِ  إطـــارات  الــخَــلَايَـــا  الــمُـــتَــجَــــاوِرَةِ  دَاخِـــل  جـــدول</a:t>
                      </a:r>
                      <a:endParaRPr lang="fr-FR" sz="3200" b="1" dirty="0" smtClean="0">
                        <a:solidFill>
                          <a:srgbClr val="002060"/>
                        </a:solidFill>
                        <a:effectLst/>
                        <a:latin typeface="Liberation Serif"/>
                        <a:ea typeface="Droid Sans Fallback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(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collapse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 ،   </a:t>
                      </a:r>
                      <a:r>
                        <a:rPr lang="en-US" sz="3200" b="1" dirty="0" smtClean="0">
                          <a:solidFill>
                            <a:srgbClr val="0070C0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separate</a:t>
                      </a:r>
                      <a:r>
                        <a:rPr lang="ar-DZ" sz="3200" b="1" dirty="0" smtClean="0">
                          <a:solidFill>
                            <a:srgbClr val="00000A"/>
                          </a:solidFill>
                          <a:effectLst/>
                          <a:latin typeface="Liberation Serif"/>
                          <a:ea typeface="Droid Sans Fallback"/>
                          <a:cs typeface="Times New Roman" panose="02020603050405020304" pitchFamily="18" charset="0"/>
                        </a:rPr>
                        <a:t>  ) 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639835" y="3573016"/>
            <a:ext cx="33843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8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border-collapse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51126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خـصـائـص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الـتـنـســيـق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cs typeface="+mj-cs"/>
            </a:endParaRPr>
          </a:p>
          <a:p>
            <a:pPr marL="0" lvl="0" indent="0" algn="just" rtl="1">
              <a:lnSpc>
                <a:spcPct val="114000"/>
              </a:lnSpc>
              <a:spcBef>
                <a:spcPts val="0"/>
              </a:spcBef>
              <a:buNone/>
            </a:pPr>
            <a:r>
              <a:rPr lang="ar-DZ" sz="4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نــشــاط</a:t>
            </a:r>
            <a:r>
              <a:rPr lang="fr-FR" sz="4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12</a:t>
            </a: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 :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الـتَـكَــفُــلُ بـالـجــانــب الـجــمــالـي ( الـمـظـهــر ) فـي صـفـحــات الـويــب يـكـون بـاســتــغـــلال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خـصـائـص الـتـنـســيـق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الّـتِي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تُـوَفِّــرُهَـا تـقـنـيـة «</a:t>
            </a:r>
            <a:r>
              <a:rPr lang="fr-FR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CSS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» </a:t>
            </a:r>
            <a:r>
              <a:rPr lang="fr-FR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؛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صَــنِّــفْ فـي الـجــدول أدنــاه الـخــصــائـص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الـتـالـيـة</a:t>
            </a:r>
            <a:r>
              <a:rPr lang="ar-DZ" sz="4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4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: </a:t>
            </a:r>
            <a:r>
              <a:rPr lang="fr-FR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background-color</a:t>
            </a:r>
            <a:r>
              <a:rPr lang="en-US" sz="48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ar-DZ" sz="48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en-US" sz="48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+mj-cs"/>
              </a:rPr>
              <a:t>، 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font-family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+mj-cs"/>
              </a:rPr>
              <a:t>، 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color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id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width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font-size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height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 </a:t>
            </a:r>
            <a:r>
              <a:rPr lang="fr-FR" sz="4400" b="1" dirty="0" err="1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Text</a:t>
            </a:r>
            <a:r>
              <a:rPr lang="fr-FR" sz="44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-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align</a:t>
            </a:r>
            <a:r>
              <a:rPr lang="ar-DZ" sz="40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 </a:t>
            </a:r>
            <a:endParaRPr lang="ar-DZ" sz="44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812" y="352705"/>
            <a:ext cx="9096375" cy="5991225"/>
          </a:xfrm>
          <a:prstGeom prst="rect">
            <a:avLst/>
          </a:prstGeom>
          <a:ln w="28575"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3380181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5. خـصـائـص الـتـنـســيـق ـــ  تـــــابــع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174625" algn="just" rtl="1">
              <a:buNone/>
            </a:pPr>
            <a:r>
              <a:rPr lang="ar-DZ" sz="44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بَــدَلَ </a:t>
            </a: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كِــتَــابَــة نَــفْــسِ </a:t>
            </a:r>
            <a:r>
              <a:rPr lang="ar-DZ" sz="4400" b="1" u="sng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الـخَــصَــائِـصِ</a:t>
            </a:r>
            <a:r>
              <a:rPr lang="ar-DZ" sz="44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دَاخِــلَ كُــلِّ </a:t>
            </a:r>
            <a:r>
              <a:rPr lang="ar-DZ" sz="4400" b="1" dirty="0">
                <a:solidFill>
                  <a:srgbClr val="FF000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وَسْـــمٍ</a:t>
            </a:r>
            <a:r>
              <a:rPr lang="ar-DZ" sz="44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: </a:t>
            </a:r>
            <a:endParaRPr lang="ar-DZ" sz="4400" b="1" dirty="0" smtClean="0">
              <a:solidFill>
                <a:srgbClr val="00000A"/>
              </a:solidFill>
              <a:latin typeface="Liberation Serif"/>
              <a:ea typeface="Droid Sans Fallback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3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&lt; nom_balise</a:t>
            </a:r>
            <a:r>
              <a:rPr lang="fr-FR" sz="38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style =</a:t>
            </a:r>
            <a:r>
              <a:rPr lang="en-US" sz="38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"</a:t>
            </a:r>
            <a:r>
              <a:rPr lang="en-US" sz="38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propriété 1 : </a:t>
            </a:r>
            <a:r>
              <a:rPr lang="en-US" sz="3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valeur </a:t>
            </a:r>
            <a:r>
              <a:rPr lang="en-US" sz="38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;</a:t>
            </a:r>
            <a:r>
              <a:rPr lang="en-US" sz="3800" b="1" baseline="-25000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800" baseline="-25000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</a:t>
            </a:r>
            <a:r>
              <a:rPr lang="ar-DZ" sz="3800" baseline="-25000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</a:t>
            </a:r>
            <a:r>
              <a:rPr lang="en-US" sz="3800" baseline="-25000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 </a:t>
            </a:r>
            <a:r>
              <a:rPr lang="en-US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"</a:t>
            </a:r>
            <a:r>
              <a:rPr lang="en-US" sz="3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&gt;</a:t>
            </a:r>
            <a:endParaRPr lang="ar-DZ" sz="3800" b="1" dirty="0" smtClean="0">
              <a:solidFill>
                <a:srgbClr val="FF000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174625" indent="-174625" algn="just" rtl="1">
              <a:lnSpc>
                <a:spcPct val="150000"/>
              </a:lnSpc>
              <a:buNone/>
            </a:pP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مِـنْ نَــفْــسِ الـنَــوْعِ (</a:t>
            </a:r>
            <a:r>
              <a:rPr lang="fr-FR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h1 </a:t>
            </a: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:  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nom_balise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h2</a:t>
            </a:r>
            <a:r>
              <a:rPr lang="ar-DZ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h3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،      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p</a:t>
            </a:r>
            <a:r>
              <a:rPr lang="ar-DZ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ol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ul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،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li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، 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table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،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tr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، 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td</a:t>
            </a:r>
            <a:r>
              <a:rPr lang="ar-DZ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أو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</a:t>
            </a:r>
            <a:r>
              <a:rPr lang="ar-DZ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  إلـخ  )</a:t>
            </a:r>
            <a:endParaRPr lang="fr-FR" sz="4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792452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5. خـصـائـص الـتـنـســيـق ـــ  تـــــابــع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806450" indent="-806450" algn="just" rtl="1">
              <a:buFont typeface="Wingdings" panose="05000000000000000000" pitchFamily="2" charset="2"/>
              <a:buChar char="v"/>
            </a:pP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مـثـال </a:t>
            </a:r>
            <a:r>
              <a:rPr lang="ar-DZ" sz="3600" b="1" dirty="0">
                <a:solidFill>
                  <a:srgbClr val="002060"/>
                </a:solidFill>
                <a:cs typeface="+mj-cs"/>
              </a:rPr>
              <a:t>1  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fr-FR" sz="36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>
              <a:lnSpc>
                <a:spcPct val="125000"/>
              </a:lnSpc>
              <a:buNone/>
            </a:pPr>
            <a:r>
              <a:rPr lang="en-US" sz="3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&lt;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p </a:t>
            </a: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style =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</a:t>
            </a: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"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background-color : </a:t>
            </a: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RGB(220,255,220) 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; font-family : </a:t>
            </a: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"Times New Roman"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;</a:t>
            </a:r>
            <a:r>
              <a:rPr lang="en-US" sz="3600" b="1" baseline="-250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font-size : </a:t>
            </a: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1.</a:t>
            </a:r>
            <a:r>
              <a:rPr lang="ar-SA" sz="36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5</a:t>
            </a:r>
            <a:r>
              <a:rPr lang="en-US" sz="3600" b="1" dirty="0" err="1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em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;  font-style : </a:t>
            </a: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italic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;  color :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</a:t>
            </a: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black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;  text-align : </a:t>
            </a: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left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;  width :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</a:t>
            </a: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100%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;  height : </a:t>
            </a: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140px 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; </a:t>
            </a:r>
            <a:r>
              <a:rPr lang="en-US" sz="3600" baseline="-25000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</a:t>
            </a:r>
            <a:r>
              <a:rPr lang="fr-FR" sz="36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"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&gt;</a:t>
            </a:r>
            <a:r>
              <a:rPr lang="fr-FR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Un Navigateur est un logiciel qui permet de visualiser des pages web. </a:t>
            </a:r>
            <a:endParaRPr lang="fr-FR" sz="3300" b="1" dirty="0" smtClean="0"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fr-FR" sz="3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&lt; </a:t>
            </a:r>
            <a:r>
              <a:rPr lang="ar-SA" sz="30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/</a:t>
            </a:r>
            <a:r>
              <a:rPr lang="fr-FR" sz="30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p&gt;</a:t>
            </a:r>
            <a:endParaRPr lang="fr-FR" sz="3000" dirty="0"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indent="0" algn="just" rtl="1">
              <a:buNone/>
            </a:pPr>
            <a:endParaRPr lang="fr-FR" sz="4400" b="1" dirty="0" smtClean="0">
              <a:solidFill>
                <a:srgbClr val="002060"/>
              </a:solidFill>
              <a:latin typeface="Liberation Serif"/>
              <a:ea typeface="Droid Sans Fallback"/>
              <a:cs typeface="+mj-cs"/>
            </a:endParaRPr>
          </a:p>
          <a:p>
            <a:pPr marL="0" indent="174625" algn="just" rtl="1">
              <a:buNone/>
            </a:pP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11" name="Pensées 10"/>
          <p:cNvSpPr/>
          <p:nvPr/>
        </p:nvSpPr>
        <p:spPr>
          <a:xfrm>
            <a:off x="2135560" y="1052736"/>
            <a:ext cx="6120680" cy="1275204"/>
          </a:xfrm>
          <a:prstGeom prst="cloudCallout">
            <a:avLst>
              <a:gd name="adj1" fmla="val -55277"/>
              <a:gd name="adj2" fmla="val 51844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>
              <a:spcAft>
                <a:spcPts val="0"/>
              </a:spcAft>
            </a:pPr>
            <a:r>
              <a:rPr lang="ar-DZ" sz="2800" b="1" dirty="0">
                <a:solidFill>
                  <a:srgbClr val="002060"/>
                </a:solidFill>
                <a:effectLst/>
                <a:latin typeface="Liberation Serif"/>
                <a:ea typeface="Droid Sans Fallback"/>
                <a:cs typeface="Times New Roman" panose="02020603050405020304" pitchFamily="18" charset="0"/>
              </a:rPr>
              <a:t>الـطــريــقــة الأولـى لـتــطــبــيــق خــصــائـص الــتــنــســـيــق</a:t>
            </a:r>
            <a:endParaRPr lang="fr-FR" sz="28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</p:spTree>
    <p:extLst>
      <p:ext uri="{BB962C8B-B14F-4D97-AF65-F5344CB8AC3E}">
        <p14:creationId xmlns:p14="http://schemas.microsoft.com/office/powerpoint/2010/main" val="2033287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5. خـصـائـص الـتـنـســيـق ـــ  تـــــابــع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فَـمِـنْ الأفـضـل إدراجـهـا </a:t>
            </a:r>
            <a:r>
              <a:rPr lang="ar-DZ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فـي رأس 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الـصـفـحـة ووَضْـعِـهَـا مـا بــيـن الــوَسْـــمَـــيْــن  </a:t>
            </a:r>
            <a:r>
              <a:rPr lang="en-US" sz="4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&lt;/</a:t>
            </a:r>
            <a:r>
              <a:rPr lang="en-US" sz="4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style</a:t>
            </a:r>
            <a:r>
              <a:rPr lang="en-US" sz="4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&gt;</a:t>
            </a:r>
            <a:r>
              <a:rPr lang="ar-DZ" sz="4400" b="1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و  </a:t>
            </a:r>
            <a:r>
              <a:rPr lang="en-US" sz="4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&lt;style&gt;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وذلـك كـالـتـالـي :</a:t>
            </a:r>
            <a:endParaRPr lang="fr-FR" sz="4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254987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5. خـصـائـص الـتـنـســيـق ـــ  تـــــابــع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فَـمِـنْ الأفـضـل إدراجـهـا </a:t>
            </a:r>
            <a:r>
              <a:rPr lang="ar-DZ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فـي رأس 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الـصـفـحـة ووَضْـعِـهَـا مـا بــيـن الــوَسْـــمَـــيْــن  </a:t>
            </a:r>
            <a:r>
              <a:rPr lang="en-US" sz="4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&lt;/</a:t>
            </a:r>
            <a:r>
              <a:rPr lang="en-US" sz="4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style</a:t>
            </a:r>
            <a:r>
              <a:rPr lang="en-US" sz="4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&gt;</a:t>
            </a:r>
            <a:r>
              <a:rPr lang="ar-DZ" sz="4400" b="1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و  </a:t>
            </a:r>
            <a:r>
              <a:rPr lang="en-US" sz="4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&lt;style&gt;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وذلـك كـالـتـالـي :</a:t>
            </a:r>
            <a:endParaRPr lang="fr-FR" sz="4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607" y="332655"/>
            <a:ext cx="6624000" cy="6006916"/>
          </a:xfrm>
          <a:prstGeom prst="rect">
            <a:avLst/>
          </a:prstGeom>
          <a:ln w="28575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621844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5. خـصـائـص الـتـنـســيـق ـــ  تـــــابــع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فَـمِـنْ الأفـضـل إدراجـهـا </a:t>
            </a:r>
            <a:r>
              <a:rPr lang="ar-DZ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فـي رأس 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الـصـفـحـة ووَضْـعِـهَـا مـا بــيـن الــوَسْـــمَـــيْــن  </a:t>
            </a:r>
            <a:r>
              <a:rPr lang="en-US" sz="4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&lt;/</a:t>
            </a:r>
            <a:r>
              <a:rPr lang="en-US" sz="4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style</a:t>
            </a:r>
            <a:r>
              <a:rPr lang="en-US" sz="4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&gt;</a:t>
            </a:r>
            <a:r>
              <a:rPr lang="ar-DZ" sz="4400" b="1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و  </a:t>
            </a:r>
            <a:r>
              <a:rPr lang="en-US" sz="4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&lt;style&gt;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وذلـك كـالـتـالـي :</a:t>
            </a:r>
            <a:endParaRPr lang="fr-FR" sz="4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0784" y="560145"/>
            <a:ext cx="6624000" cy="6006916"/>
          </a:xfrm>
          <a:prstGeom prst="rect">
            <a:avLst/>
          </a:prstGeom>
          <a:ln w="28575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816" y="541018"/>
            <a:ext cx="9096375" cy="5991225"/>
          </a:xfrm>
          <a:prstGeom prst="rect">
            <a:avLst/>
          </a:prstGeom>
          <a:ln w="28575"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2108724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5. خـصـائـص الـتـنـســيـق ـــ  تـــــابــع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مــثــال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86986"/>
            <a:ext cx="3744416" cy="6709757"/>
          </a:xfrm>
          <a:prstGeom prst="rect">
            <a:avLst/>
          </a:prstGeom>
          <a:ln w="28575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Pensées 5"/>
          <p:cNvSpPr/>
          <p:nvPr/>
        </p:nvSpPr>
        <p:spPr>
          <a:xfrm>
            <a:off x="2956756" y="1196752"/>
            <a:ext cx="6120680" cy="1275204"/>
          </a:xfrm>
          <a:prstGeom prst="cloudCallout">
            <a:avLst>
              <a:gd name="adj1" fmla="val -68678"/>
              <a:gd name="adj2" fmla="val -78913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>
              <a:spcAft>
                <a:spcPts val="0"/>
              </a:spcAft>
            </a:pPr>
            <a:r>
              <a:rPr lang="ar-DZ" sz="2800" b="1" dirty="0">
                <a:solidFill>
                  <a:srgbClr val="002060"/>
                </a:solidFill>
                <a:effectLst/>
                <a:latin typeface="Liberation Serif"/>
                <a:ea typeface="Droid Sans Fallback"/>
                <a:cs typeface="Times New Roman" panose="02020603050405020304" pitchFamily="18" charset="0"/>
              </a:rPr>
              <a:t>الـطــريــقــة </a:t>
            </a:r>
            <a:r>
              <a:rPr lang="fr-FR" sz="2800" b="1" dirty="0" smtClean="0">
                <a:solidFill>
                  <a:srgbClr val="002060"/>
                </a:solidFill>
                <a:effectLst/>
                <a:latin typeface="Liberation Serif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fr-FR" sz="2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2800" b="1" dirty="0" smtClean="0">
                <a:solidFill>
                  <a:srgbClr val="002060"/>
                </a:solidFill>
                <a:effectLst/>
                <a:latin typeface="Liberation Serif"/>
                <a:ea typeface="Droid Sans Fallback"/>
                <a:cs typeface="Times New Roman" panose="02020603050405020304" pitchFamily="18" charset="0"/>
              </a:rPr>
              <a:t>لـتــطــبــيــق </a:t>
            </a:r>
            <a:r>
              <a:rPr lang="ar-DZ" sz="2800" b="1" dirty="0">
                <a:solidFill>
                  <a:srgbClr val="002060"/>
                </a:solidFill>
                <a:effectLst/>
                <a:latin typeface="Liberation Serif"/>
                <a:ea typeface="Droid Sans Fallback"/>
                <a:cs typeface="Times New Roman" panose="02020603050405020304" pitchFamily="18" charset="0"/>
              </a:rPr>
              <a:t>خــصــائـص الــتــنــســـيــق</a:t>
            </a:r>
            <a:endParaRPr lang="fr-FR" sz="28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</p:spTree>
    <p:extLst>
      <p:ext uri="{BB962C8B-B14F-4D97-AF65-F5344CB8AC3E}">
        <p14:creationId xmlns:p14="http://schemas.microsoft.com/office/powerpoint/2010/main" val="1289522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5. خـصـائـص الـتـنـســيـق ـــ  تـــــابــع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مــثــال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pic>
        <p:nvPicPr>
          <p:cNvPr id="15" name="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096" y="2753609"/>
            <a:ext cx="10260000" cy="3584135"/>
          </a:xfrm>
          <a:prstGeom prst="rect">
            <a:avLst/>
          </a:prstGeom>
          <a:ln w="28575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6" name="Pensées 15"/>
          <p:cNvSpPr/>
          <p:nvPr/>
        </p:nvSpPr>
        <p:spPr>
          <a:xfrm>
            <a:off x="2711334" y="1268760"/>
            <a:ext cx="6120680" cy="1275204"/>
          </a:xfrm>
          <a:prstGeom prst="cloudCallout">
            <a:avLst>
              <a:gd name="adj1" fmla="val 51497"/>
              <a:gd name="adj2" fmla="val 214239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>
              <a:spcAft>
                <a:spcPts val="0"/>
              </a:spcAft>
            </a:pPr>
            <a:r>
              <a:rPr lang="ar-DZ" sz="2800" b="1" dirty="0">
                <a:solidFill>
                  <a:srgbClr val="002060"/>
                </a:solidFill>
                <a:effectLst/>
                <a:latin typeface="Liberation Serif"/>
                <a:ea typeface="Droid Sans Fallback"/>
                <a:cs typeface="Times New Roman" panose="02020603050405020304" pitchFamily="18" charset="0"/>
              </a:rPr>
              <a:t>الـطــريــقــة </a:t>
            </a:r>
            <a:r>
              <a:rPr lang="fr-FR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ar-DZ" sz="2800" b="1" dirty="0" smtClean="0">
                <a:solidFill>
                  <a:srgbClr val="002060"/>
                </a:solidFill>
                <a:effectLst/>
                <a:latin typeface="Liberation Serif"/>
                <a:ea typeface="Droid Sans Fallback"/>
                <a:cs typeface="Times New Roman" panose="02020603050405020304" pitchFamily="18" charset="0"/>
              </a:rPr>
              <a:t> لـتــطــبــيــق </a:t>
            </a:r>
            <a:r>
              <a:rPr lang="ar-DZ" sz="2800" b="1" dirty="0">
                <a:solidFill>
                  <a:srgbClr val="002060"/>
                </a:solidFill>
                <a:effectLst/>
                <a:latin typeface="Liberation Serif"/>
                <a:ea typeface="Droid Sans Fallback"/>
                <a:cs typeface="Times New Roman" panose="02020603050405020304" pitchFamily="18" charset="0"/>
              </a:rPr>
              <a:t>خــصــائـص الــتــنــســـيــق</a:t>
            </a:r>
            <a:endParaRPr lang="fr-FR" sz="28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</p:spTree>
    <p:extLst>
      <p:ext uri="{BB962C8B-B14F-4D97-AF65-F5344CB8AC3E}">
        <p14:creationId xmlns:p14="http://schemas.microsoft.com/office/powerpoint/2010/main" val="2286729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5. خـصـائـص الـتـنـســيـق ـــ  تـــــابــع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spcAft>
                <a:spcPts val="0"/>
              </a:spcAft>
              <a:buNone/>
            </a:pPr>
            <a:r>
              <a:rPr lang="ar-DZ" sz="4400" b="1" dirty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فـي </a:t>
            </a:r>
            <a:r>
              <a:rPr lang="ar-DZ" sz="4400" b="1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الـطــريــقــة </a:t>
            </a:r>
            <a:r>
              <a:rPr lang="ar-DZ" sz="4400" b="1" dirty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3  </a:t>
            </a:r>
            <a:r>
              <a:rPr lang="ar-DZ" sz="4400" b="1" dirty="0">
                <a:solidFill>
                  <a:srgbClr val="FF000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نَــكْــتُــبُ  خـــصــائــص  الــتــنــســيــق  فـي </a:t>
            </a:r>
            <a:r>
              <a:rPr lang="ar-DZ" sz="4400" b="1" dirty="0" smtClean="0">
                <a:solidFill>
                  <a:srgbClr val="FF000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مــلــف </a:t>
            </a:r>
            <a:r>
              <a:rPr lang="ar-DZ" sz="4400" b="1" dirty="0">
                <a:solidFill>
                  <a:srgbClr val="FF000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خـــارجــي  ( </a:t>
            </a:r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FreeSans"/>
              </a:rPr>
              <a:t>style.css</a:t>
            </a:r>
            <a:r>
              <a:rPr lang="ar-DZ" sz="4400" b="1" dirty="0">
                <a:solidFill>
                  <a:srgbClr val="FF000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)</a:t>
            </a:r>
            <a:r>
              <a:rPr lang="ar-DZ" sz="4400" b="1" dirty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 بِــنَــفْــسِ  الـشَــكْــلِ  الَّـذِي </a:t>
            </a:r>
            <a:r>
              <a:rPr lang="ar-DZ" sz="4400" b="1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كُــتِــبَــتْ </a:t>
            </a:r>
            <a:r>
              <a:rPr lang="ar-DZ" sz="4400" b="1" dirty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بِــهِ  فـي </a:t>
            </a:r>
            <a:r>
              <a:rPr lang="ar-DZ" sz="4400" b="1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الــطــريــقــة </a:t>
            </a:r>
            <a:r>
              <a:rPr lang="ar-DZ" sz="4400" b="1" dirty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2  ،  </a:t>
            </a:r>
            <a:r>
              <a:rPr lang="ar-DZ" sz="4400" b="1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لَــكِــنْ </a:t>
            </a:r>
            <a:r>
              <a:rPr lang="ar-DZ" sz="4400" b="1" dirty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بِــدُونِ </a:t>
            </a:r>
            <a:r>
              <a:rPr lang="ar-DZ" sz="44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الــوَسْـــمَـــيْــن </a:t>
            </a:r>
            <a:r>
              <a:rPr lang="fr-FR" sz="4400" b="1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FreeSans"/>
              </a:rPr>
              <a:t>&lt;/style&gt;</a:t>
            </a:r>
            <a:r>
              <a:rPr lang="ar-DZ" sz="44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fr-FR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و</a:t>
            </a: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en-US" sz="4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FreeSans"/>
              </a:rPr>
              <a:t>&lt;style&gt; </a:t>
            </a:r>
            <a:r>
              <a:rPr lang="ar-DZ" sz="4400" b="1" dirty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:</a:t>
            </a:r>
            <a:endParaRPr lang="fr-FR" sz="40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953752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5. خـصـائـص الـتـنـســيـق ـــ  تـــــابــع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spcAft>
                <a:spcPts val="0"/>
              </a:spcAft>
              <a:buNone/>
            </a:pPr>
            <a:endParaRPr lang="fr-FR" sz="4400" b="1" dirty="0" smtClean="0">
              <a:solidFill>
                <a:srgbClr val="002060"/>
              </a:solidFill>
              <a:latin typeface="Liberation Serif"/>
              <a:ea typeface="Droid Sans Fallback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spcAft>
                <a:spcPts val="0"/>
              </a:spcAft>
              <a:buNone/>
            </a:pPr>
            <a:endParaRPr lang="fr-FR" sz="4400" b="1" dirty="0">
              <a:solidFill>
                <a:srgbClr val="002060"/>
              </a:solidFill>
              <a:latin typeface="Liberation Serif"/>
              <a:ea typeface="Droid Sans Fallback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spcAft>
                <a:spcPts val="0"/>
              </a:spcAft>
              <a:buNone/>
            </a:pPr>
            <a:endParaRPr lang="fr-FR" sz="4400" b="1" dirty="0" smtClean="0">
              <a:solidFill>
                <a:srgbClr val="002060"/>
              </a:solidFill>
              <a:latin typeface="Liberation Serif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pic>
        <p:nvPicPr>
          <p:cNvPr id="6" name="Imag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8764" y="1298021"/>
            <a:ext cx="5976664" cy="5029071"/>
          </a:xfrm>
          <a:prstGeom prst="rect">
            <a:avLst/>
          </a:prstGeom>
          <a:ln w="12700" cap="sq" cmpd="thickThin">
            <a:solidFill>
              <a:schemeClr val="tx1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516196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5. خـصـائـص الـتـنـســيـق ـــ  تـــــابــع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spcAft>
                <a:spcPts val="0"/>
              </a:spcAft>
              <a:buNone/>
            </a:pPr>
            <a:endParaRPr lang="fr-FR" sz="900" b="1" dirty="0">
              <a:solidFill>
                <a:srgbClr val="002060"/>
              </a:solidFill>
              <a:latin typeface="Liberation Serif"/>
              <a:ea typeface="Droid Sans Fallback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spcAft>
                <a:spcPts val="0"/>
              </a:spcAft>
              <a:buNone/>
            </a:pPr>
            <a:r>
              <a:rPr lang="ar-DZ" sz="4000" b="1" dirty="0" smtClean="0">
                <a:solidFill>
                  <a:srgbClr val="FF000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وَنَــرْبِــطُ صــفــحــة</a:t>
            </a:r>
            <a:r>
              <a:rPr lang="fr-FR" sz="4000" b="1" dirty="0" smtClean="0">
                <a:solidFill>
                  <a:srgbClr val="FF000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الــويــب بـذلـك الــمــلـــف </a:t>
            </a:r>
            <a:r>
              <a:rPr lang="ar-DZ" sz="4000" b="1" dirty="0">
                <a:solidFill>
                  <a:srgbClr val="FF000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مــن </a:t>
            </a:r>
            <a:r>
              <a:rPr lang="ar-DZ" sz="4000" b="1" dirty="0" smtClean="0">
                <a:solidFill>
                  <a:srgbClr val="FF000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خــلال  </a:t>
            </a:r>
            <a:r>
              <a:rPr lang="ar-DZ" sz="4000" b="1" dirty="0">
                <a:solidFill>
                  <a:srgbClr val="FF000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الــوَسْـــم الــمُــفْـــرَدِ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FreeSans"/>
              </a:rPr>
              <a:t>&lt;link&gt;</a:t>
            </a:r>
            <a:r>
              <a:rPr lang="ar-DZ" sz="4000" b="1" dirty="0">
                <a:solidFill>
                  <a:srgbClr val="FF000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  </a:t>
            </a:r>
            <a:r>
              <a:rPr lang="ar-DZ" sz="4000" b="1" dirty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كَــمَـا  يَــلِـي  </a:t>
            </a:r>
            <a:r>
              <a:rPr lang="ar-DZ" sz="4000" b="1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:</a:t>
            </a:r>
            <a:endParaRPr lang="fr-FR" sz="4000" b="1" dirty="0" smtClean="0">
              <a:solidFill>
                <a:srgbClr val="002060"/>
              </a:solidFill>
              <a:latin typeface="Liberation Serif"/>
              <a:ea typeface="Droid Sans Fallback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spcAft>
                <a:spcPts val="0"/>
              </a:spcAft>
              <a:buNone/>
            </a:pPr>
            <a:endParaRPr lang="fr-FR" sz="3600" dirty="0">
              <a:solidFill>
                <a:srgbClr val="00000A"/>
              </a:solidFill>
              <a:latin typeface="Liberation Serif"/>
              <a:ea typeface="Droid Sans Fallback"/>
              <a:cs typeface="FreeSans"/>
            </a:endParaRPr>
          </a:p>
          <a:p>
            <a:pPr marL="0" indent="0" algn="just" rtl="1">
              <a:lnSpc>
                <a:spcPct val="150000"/>
              </a:lnSpc>
              <a:spcAft>
                <a:spcPts val="0"/>
              </a:spcAft>
              <a:buNone/>
            </a:pPr>
            <a:endParaRPr lang="fr-FR" sz="40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432" y="3980896"/>
            <a:ext cx="10080000" cy="1332309"/>
          </a:xfrm>
          <a:prstGeom prst="rect">
            <a:avLst/>
          </a:prstGeom>
          <a:ln w="28575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540361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r" rtl="1">
              <a:spcBef>
                <a:spcPts val="0"/>
              </a:spcBef>
            </a:pP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واجــب مــنــزلـي 2  : 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spcAft>
                <a:spcPts val="0"/>
              </a:spcAft>
              <a:buNone/>
            </a:pPr>
            <a:endParaRPr lang="fr-FR" sz="900" b="1" dirty="0">
              <a:solidFill>
                <a:srgbClr val="002060"/>
              </a:solidFill>
              <a:latin typeface="Liberation Serif"/>
              <a:ea typeface="Droid Sans Fallback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spcAft>
                <a:spcPts val="0"/>
              </a:spcAft>
              <a:buNone/>
            </a:pPr>
            <a:r>
              <a:rPr lang="ar-DZ" sz="4400" b="1" dirty="0">
                <a:solidFill>
                  <a:schemeClr val="tx1"/>
                </a:solidFill>
                <a:latin typeface="Liberation Serif"/>
                <a:ea typeface="Droid Sans Fallback"/>
                <a:cs typeface="+mj-cs"/>
              </a:rPr>
              <a:t>اشــرح كــيــفــيــة تــنــســيــق صــفــحــات الـويــب وذلــك بــثــلاث طـــرق مــخــتــلــفـــة ، ومــا هـي أفــضــل طــريــقــة بــيــنـهـا ؟  عــلِّــلْ إِجــابَــتَــكَ .</a:t>
            </a:r>
            <a:endParaRPr lang="fr-FR" sz="4400" dirty="0" smtClean="0">
              <a:solidFill>
                <a:schemeClr val="tx1"/>
              </a:solidFill>
              <a:latin typeface="Liberation Serif"/>
              <a:ea typeface="Droid Sans Fallback"/>
              <a:cs typeface="+mj-cs"/>
            </a:endParaRPr>
          </a:p>
          <a:p>
            <a:pPr marL="0" indent="0" algn="just" rtl="1">
              <a:lnSpc>
                <a:spcPct val="150000"/>
              </a:lnSpc>
              <a:spcAft>
                <a:spcPts val="0"/>
              </a:spcAft>
              <a:buNone/>
            </a:pPr>
            <a:endParaRPr lang="fr-FR" sz="40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456943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39214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12/04/2025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938770" y="2012966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شـــكـــــــــــرا لـــكــم</a:t>
            </a:r>
          </a:p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بالـتـوفـيـق للـجــمـيـع</a:t>
            </a:r>
            <a:endParaRPr lang="ar-SA" altLang="zh-CN" sz="6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 rtl="1"/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78885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39214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12/04/2025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938770" y="2012966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شـــكـــــــــــرا لـــكــم</a:t>
            </a:r>
          </a:p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بالـتـوفـيـق للـجــمـيـع</a:t>
            </a:r>
            <a:endParaRPr lang="ar-SA" altLang="zh-CN" sz="6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 rtl="1"/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4465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èle par défaut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èle par défaut">
      <a:majorFont>
        <a:latin typeface="Times New Roman"/>
        <a:ea typeface="SimSun"/>
        <a:cs typeface=""/>
      </a:majorFont>
      <a:minorFont>
        <a:latin typeface="Times New Roman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28466</TotalTime>
  <Words>4589</Words>
  <Application>Microsoft Office PowerPoint</Application>
  <PresentationFormat>Grand écran</PresentationFormat>
  <Paragraphs>1086</Paragraphs>
  <Slides>130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130</vt:i4>
      </vt:variant>
    </vt:vector>
  </HeadingPairs>
  <TitlesOfParts>
    <vt:vector size="143" baseType="lpstr">
      <vt:lpstr>Arial Unicode MS</vt:lpstr>
      <vt:lpstr>SimSun</vt:lpstr>
      <vt:lpstr>Arial</vt:lpstr>
      <vt:lpstr>Calibri</vt:lpstr>
      <vt:lpstr>DejaVu Sans</vt:lpstr>
      <vt:lpstr>Droid Sans Fallback</vt:lpstr>
      <vt:lpstr>FreeSans</vt:lpstr>
      <vt:lpstr>Liberation Sans</vt:lpstr>
      <vt:lpstr>Liberation Serif</vt:lpstr>
      <vt:lpstr>Times New Roman</vt:lpstr>
      <vt:lpstr>Wingdings</vt:lpstr>
      <vt:lpstr>Thème Office</vt:lpstr>
      <vt:lpstr>Modèle par défaut</vt:lpstr>
      <vt:lpstr>Présentation PowerPoint</vt:lpstr>
      <vt:lpstr>Présentation PowerPoint</vt:lpstr>
      <vt:lpstr>الإشــكــالــيــة :</vt:lpstr>
      <vt:lpstr>الإجــابــة  :</vt:lpstr>
      <vt:lpstr>الإجــابــة  :</vt:lpstr>
      <vt:lpstr>Présentation PowerPoint</vt:lpstr>
      <vt:lpstr>Présentation PowerPoint</vt:lpstr>
      <vt:lpstr>1) تـعــريــف تــقــنــيــة  HTML</vt:lpstr>
      <vt:lpstr>أتـذكـر ( 1. تـعــريــف تــقــنــيــة  HTML )</vt:lpstr>
      <vt:lpstr>أتـذكـر ( 1. تـعــريــف تــقــنــيــة  HTML )</vt:lpstr>
      <vt:lpstr>أتـذكـر ( 1. تـعــريــف تــقــنــيــة  HTML )</vt:lpstr>
      <vt:lpstr>2) الـشـكـل الـنـظـامـي الأَدْنَـى لـصـفـحـة ويــب : </vt:lpstr>
      <vt:lpstr>2) الـشـكـل الـنـظـامـي الأَدْنَـى لـصـفـحـة ويــب : </vt:lpstr>
      <vt:lpstr>2) الـشـكـل الـنـظـامـي الأَدْنَـى لـصـفـحـة ويــب : </vt:lpstr>
      <vt:lpstr>2) الـشـكـل الـنـظـامـي الأَدْنَـى لـصـفـحـة ويــب : </vt:lpstr>
      <vt:lpstr>3) مــفــهــوم الـوَسْـــم Balise  : </vt:lpstr>
      <vt:lpstr>أتـذكـر ( 3. مــفــهــوم الـوَسْـــم Balise )</vt:lpstr>
      <vt:lpstr>أتـذكـر ( 3. مــفــهــوم الـوَسْـــم Balise )</vt:lpstr>
      <vt:lpstr>أتـذكـر ( 3. مــفــهــوم الـوَسْـــم Balise )</vt:lpstr>
      <vt:lpstr>أتـذكـر ( 3. مــفــهــوم الـوَسْـــم Balise )</vt:lpstr>
      <vt:lpstr>أتـذكـر ( 3. مــفــهــوم الـوَسْـــم Balise ــ  تــــابـــع )</vt:lpstr>
      <vt:lpstr>أتـذكـر ( 3. مــفــهــوم الـوَسْـــم Balise ــ  تــــابـــع )</vt:lpstr>
      <vt:lpstr>أتـذكـر ( 3. مــفــهــوم الـوَسْـــم Balise ــ  تــــابـــع )</vt:lpstr>
      <vt:lpstr>أتـذكـر ( 3. مــفــهــوم الـوَسْـــم Balise ــ  تــــابـــع )</vt:lpstr>
      <vt:lpstr>أتـذكـر ( 3. مــفــهــوم الـوَسْـــم Balise ــ  تــــابـــع )</vt:lpstr>
      <vt:lpstr>أتـذكـر ( 3. مــفــهــوم الـوَسْـــم Balise ــ  تــــابـــع )</vt:lpstr>
      <vt:lpstr>أتـذكـر ( 3. مــفــهــوم الـوَسْـــم Balise ــ  تــــابـــع )</vt:lpstr>
      <vt:lpstr>أتـذكـر ( 3. مــفــهــوم الـوَسْـــم Balise ــ  تــــابـــع )</vt:lpstr>
      <vt:lpstr>أتـذكـر ( 3. مــفــهــوم الـوَسْـــم Balise ــ  تــــابـــع )</vt:lpstr>
      <vt:lpstr>أتـذكـر ( 3. مــفــهــوم الـوَسْـــم Balise ــ  تــــابـــع )</vt:lpstr>
      <vt:lpstr>أتـذكـر ( 3. مــفــهــوم الـوَسْـــم Balise ــ  تــــابـــع )</vt:lpstr>
      <vt:lpstr>أتـذكـر ( 3 نــشــاط 4  ــ  تــــابـــع )</vt:lpstr>
      <vt:lpstr>أتـذكـر ( 3 نــشــاط 4  ــ  تــــابـــع )</vt:lpstr>
      <vt:lpstr>أتـذكـر ( 3 نــشــاط 4  ــ  تــــابـــع )</vt:lpstr>
      <vt:lpstr>أتـذكـر ( 3 نــشــاط 4  ــ  تــــابـــع )</vt:lpstr>
      <vt:lpstr>أتـذكـر ( 3 نــشــاط 4  ــ  تــــابـــع )</vt:lpstr>
      <vt:lpstr>أتـذكـر ( 3 نــشــاط 4  ــ  تــــابـــع )</vt:lpstr>
      <vt:lpstr>أتـذكـر ( 3 نــشــاط 4  ــ  تــــابـــع )</vt:lpstr>
      <vt:lpstr>أتـذكـر ( 3 نــشــاط 4  ــ  تــــابـــع )</vt:lpstr>
      <vt:lpstr>4) الـوســوم الـشــهــيــرة : </vt:lpstr>
      <vt:lpstr>1.4 ــ  عــنــاويــن الـفــقــرات  Heading  :</vt:lpstr>
      <vt:lpstr>1.4 ــ  عــنــاويــن الـفــقــرات  Heading  :</vt:lpstr>
      <vt:lpstr>1.4 ــ  عــنــاويــن الـفــقــرات :</vt:lpstr>
      <vt:lpstr>1.4 ــ  عــنــاويــن الـفــقــرات :</vt:lpstr>
      <vt:lpstr>1.4 ــ  عــنــاويــن الـفــقــرات :</vt:lpstr>
      <vt:lpstr>1.4 ــ  عــنــاويــن الـفــقــرات :</vt:lpstr>
      <vt:lpstr>2.4 ــ  الـفــقـــرات  Paragraghs :</vt:lpstr>
      <vt:lpstr>2.4 ــ  الـفــقـــرات  Paragraghs :</vt:lpstr>
      <vt:lpstr>3.4 ــ  الـصــور والـرســومــات  Images  :</vt:lpstr>
      <vt:lpstr>3.4 ــ  الـصــور والـرســومــات  Images ــ  تـــابــع</vt:lpstr>
      <vt:lpstr>3.4 ــ  الـصــور والـرســومــات  Images ــ  تـــابــع</vt:lpstr>
      <vt:lpstr>3.4 ــ  الـصــور والـرســومــات  Images ــ  تـــابــع</vt:lpstr>
      <vt:lpstr>3.4 ــ  الـصــور والـرســومــات  Images ــ  تـــابــع</vt:lpstr>
      <vt:lpstr>4.4 ــ  الـقــوائــم   Lists :</vt:lpstr>
      <vt:lpstr>أ - قَـــائِــمَـة مُــرَتَّــبَــة  Ordered List  ــ  تـــابــع :</vt:lpstr>
      <vt:lpstr>أ - قَـــائِــمَـة مُــرَتَّــبَــة  Ordered List  ــ  تـــابــع :</vt:lpstr>
      <vt:lpstr>أ - قَـــائِــمَـة مُــرَتَّــبَــة  Ordered List  ــ  تـــابــع :</vt:lpstr>
      <vt:lpstr>أ - قَـــائِــمَـة مُــرَتَّــبَــة  Ordered List  ــ  تـــابــع :</vt:lpstr>
      <vt:lpstr>أ - قَـــائِــمَـة مُــرَتَّــبَــة  Ordered List  ــ  تـــابــع :</vt:lpstr>
      <vt:lpstr>أ - قَـــائِــمَـة مُــرَتَّــبَــة  Ordered List  ــ  تـــابــع :</vt:lpstr>
      <vt:lpstr>أ - قَـــائِــمَـة مُــرَتَّــبَــة  Ordered List  ــ  تـــابــع :</vt:lpstr>
      <vt:lpstr>أ - قَـــائِــمَـة مُــرَتَّــبَــة  Ordered List  ــ  تـــابــع :</vt:lpstr>
      <vt:lpstr>أ - قَـــائِــمَـة مُــرَتَّــبَــة  Ordered List  ــ  تـــابــع :</vt:lpstr>
      <vt:lpstr>4.4 ــ  الـقــوائــم   Lists :</vt:lpstr>
      <vt:lpstr>أ - قَـــائِــمَـة غــيــر مُــرَتَّــبَــة  Unordered List ــ  تـــابــع :</vt:lpstr>
      <vt:lpstr>أ - قَـــائِــمَـة غــيــر مُــرَتَّــبَــة  Unordered List ــ  تـــابــع :</vt:lpstr>
      <vt:lpstr>أ - قَـــائِــمَـة غــيــر مُــرَتَّــبَــة  Unordered List ــ  تـــابــع :</vt:lpstr>
      <vt:lpstr>أ - قَـــائِــمَـة غــيــر مُــرَتَّــبَــة  Unordered List ــ  تـــابــع :</vt:lpstr>
      <vt:lpstr>أ - قَـــائِــمَـة غــيــر مُــرَتَّــبَــة  Unordered List ــ  تـــابــع :</vt:lpstr>
      <vt:lpstr>أ - قَـــائِــمَـة غــيــر مُــرَتَّــبَــة  Unordered List ــ  تـــابــع :</vt:lpstr>
      <vt:lpstr>أ - قَـــائِــمَـة غــيــر مُــرَتَّــبَــة  Unordered List ــ  تـــابــع :</vt:lpstr>
      <vt:lpstr>أ - قَـــائِــمَـة غــيــر مُــرَتَّــبَــة  Unordered List ــ  تـــابــع :</vt:lpstr>
      <vt:lpstr>5.4 ــ  الـجــداول   Tables :</vt:lpstr>
      <vt:lpstr>5.4 ــ  الـجــداول   Tables ــ  تـــابــع :</vt:lpstr>
      <vt:lpstr>5.4 ــ  الـجــداول   Tables ــ  تـــابــع :</vt:lpstr>
      <vt:lpstr>5.4 ــ  الـجــداول   Tables ــ  تـــابــع :</vt:lpstr>
      <vt:lpstr> أتـذكـر  ( 5.4 ــ  الـجــداول  Tables ــ  تـــابــع )</vt:lpstr>
      <vt:lpstr> أتـذكـر  ( 5.4 ــ  الـجــداول  Tables ــ  تـــابــع )</vt:lpstr>
      <vt:lpstr>5.4 ــ  الـجــداول   Tables ــ  تـــابــع :</vt:lpstr>
      <vt:lpstr>5.4 ــ  الـجــداول   Tables ــ  تـــابــع :</vt:lpstr>
      <vt:lpstr>5.4 ــ  الـجــداول   Tables ــ  تـــابــع :</vt:lpstr>
      <vt:lpstr>5.4 ــ  الـجــداول   Tables ــ  تـــابــع :</vt:lpstr>
      <vt:lpstr>5.4 ــ  الـجــداول   Tables ــ  تـــابــع :</vt:lpstr>
      <vt:lpstr>5.4 ــ  الـجــداول   Tables ــ  تـــابــع :</vt:lpstr>
      <vt:lpstr>6.4 ــ  الارتـبـاطـات الـتــشــعــبــيــة :</vt:lpstr>
      <vt:lpstr>6.4 ــ الارتـبـاطـات الـتــشــعــبــيــة  ــ  تـــابــع :</vt:lpstr>
      <vt:lpstr>6.4 ــ الارتـبـاطـات الـتــشــعــبــيــة  ــ  تـــابــع :</vt:lpstr>
      <vt:lpstr>6.4 ــ الارتـبـاطـات الـتــشــعــبــيــة  ــ  تـــابــع :</vt:lpstr>
      <vt:lpstr>6.4 ــ الارتـبـاطـات الـتــشــعــبــيــة  ــ  تـــابــع :</vt:lpstr>
      <vt:lpstr>أتـذكـر  ( 6.4 ــ الارتـبـاطـات الـتــشــعــبــيــة  ــ  تـــابــع )</vt:lpstr>
      <vt:lpstr>أتـذكـر  ( 6.4 ــ الارتـبـاطـات الـتــشــعــبــيــة  ــ  تـــابــع )</vt:lpstr>
      <vt:lpstr> واجــب مــنــزلي :</vt:lpstr>
      <vt:lpstr> واجــب مــنــزلي :</vt:lpstr>
      <vt:lpstr> 5. خـصـائـص الـتـنـســيـق :</vt:lpstr>
      <vt:lpstr> 5. خـصـائـص الـتـنـســيـق :</vt:lpstr>
      <vt:lpstr> 5. خـصـائـص الـتـنـســيـق :</vt:lpstr>
      <vt:lpstr> 5. خـصـائـص الـتـنـســيـق :</vt:lpstr>
      <vt:lpstr> 5. خـصـائـص الـتـنـســيـق :</vt:lpstr>
      <vt:lpstr> 5. خـصـائـص الـتـنـســيـق :</vt:lpstr>
      <vt:lpstr> 5. خـصـائـص الـتـنـســيـق :</vt:lpstr>
      <vt:lpstr> 5. خـصـائـص الـتـنـســيـق :</vt:lpstr>
      <vt:lpstr> 5. خـصـائـص الـتـنـســيـق :</vt:lpstr>
      <vt:lpstr> 5. خـصـائـص الـتـنـســيـق :</vt:lpstr>
      <vt:lpstr> 5. خـصـائـص الـتـنـســيـق ـــ  تـــــابــع</vt:lpstr>
      <vt:lpstr> 5. خـصـائـص الـتـنـســيـق ـــ  تـــــابــع</vt:lpstr>
      <vt:lpstr> 5. خـصـائـص الـتـنـســيـق ـــ  تـــــابــع</vt:lpstr>
      <vt:lpstr> 5. خـصـائـص الـتـنـســيـق :</vt:lpstr>
      <vt:lpstr> 5. خـصـائـص الـتـنـســيـق :</vt:lpstr>
      <vt:lpstr> 5. خـصـائـص الـتـنـســيـق :</vt:lpstr>
      <vt:lpstr> 5. خـصـائـص الـتـنـســيـق :</vt:lpstr>
      <vt:lpstr> 5. خـصـائـص الـتـنـســيـق :</vt:lpstr>
      <vt:lpstr> 5. خـصـائـص الـتـنـســيـق :</vt:lpstr>
      <vt:lpstr> 5. خـصـائـص الـتـنـســيـق :</vt:lpstr>
      <vt:lpstr> 5. خـصـائـص الـتـنـســيـق :</vt:lpstr>
      <vt:lpstr> 5. خـصـائـص الـتـنـســيـق :</vt:lpstr>
      <vt:lpstr> 5. خـصـائـص الـتـنـســيـق :</vt:lpstr>
      <vt:lpstr> 5. خـصـائـص الـتـنـســيـق :</vt:lpstr>
      <vt:lpstr> 5. خـصـائـص الـتـنـســيـق ـــ  تـــــابــع</vt:lpstr>
      <vt:lpstr> 5. خـصـائـص الـتـنـســيـق ـــ  تـــــابــع</vt:lpstr>
      <vt:lpstr> 5. خـصـائـص الـتـنـســيـق ـــ  تـــــابــع</vt:lpstr>
      <vt:lpstr> 5. خـصـائـص الـتـنـســيـق ـــ  تـــــابــع</vt:lpstr>
      <vt:lpstr> 5. خـصـائـص الـتـنـســيـق ـــ  تـــــابــع</vt:lpstr>
      <vt:lpstr> 5. خـصـائـص الـتـنـســيـق ـــ  تـــــابــع</vt:lpstr>
      <vt:lpstr> 5. خـصـائـص الـتـنـســيـق ـــ  تـــــابــع</vt:lpstr>
      <vt:lpstr> 5. خـصـائـص الـتـنـســيـق ـــ  تـــــابــع</vt:lpstr>
      <vt:lpstr> 5. خـصـائـص الـتـنـســيـق ـــ  تـــــابــع</vt:lpstr>
      <vt:lpstr> 5. خـصـائـص الـتـنـســيـق ـــ  تـــــابــع</vt:lpstr>
      <vt:lpstr>واجــب مــنــزلـي 2  : 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Shm</dc:creator>
  <cp:lastModifiedBy>Dual</cp:lastModifiedBy>
  <cp:revision>989</cp:revision>
  <dcterms:created xsi:type="dcterms:W3CDTF">2015-11-30T21:00:22Z</dcterms:created>
  <dcterms:modified xsi:type="dcterms:W3CDTF">2025-04-12T11:16:57Z</dcterms:modified>
</cp:coreProperties>
</file>