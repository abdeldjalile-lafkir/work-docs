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1"/>
  </p:notesMasterIdLst>
  <p:sldIdLst>
    <p:sldId id="387" r:id="rId3"/>
    <p:sldId id="388" r:id="rId4"/>
    <p:sldId id="389" r:id="rId5"/>
    <p:sldId id="293" r:id="rId6"/>
    <p:sldId id="530" r:id="rId7"/>
    <p:sldId id="396" r:id="rId8"/>
    <p:sldId id="397" r:id="rId9"/>
    <p:sldId id="531" r:id="rId10"/>
    <p:sldId id="532" r:id="rId11"/>
    <p:sldId id="541" r:id="rId12"/>
    <p:sldId id="560" r:id="rId13"/>
    <p:sldId id="559" r:id="rId14"/>
    <p:sldId id="558" r:id="rId15"/>
    <p:sldId id="557" r:id="rId16"/>
    <p:sldId id="533" r:id="rId17"/>
    <p:sldId id="534" r:id="rId18"/>
    <p:sldId id="535" r:id="rId19"/>
    <p:sldId id="542" r:id="rId20"/>
    <p:sldId id="482" r:id="rId21"/>
    <p:sldId id="537" r:id="rId22"/>
    <p:sldId id="543" r:id="rId23"/>
    <p:sldId id="554" r:id="rId24"/>
    <p:sldId id="553" r:id="rId25"/>
    <p:sldId id="538" r:id="rId26"/>
    <p:sldId id="544" r:id="rId27"/>
    <p:sldId id="556" r:id="rId28"/>
    <p:sldId id="555" r:id="rId29"/>
    <p:sldId id="407" r:id="rId30"/>
    <p:sldId id="525" r:id="rId31"/>
    <p:sldId id="545" r:id="rId32"/>
    <p:sldId id="521" r:id="rId33"/>
    <p:sldId id="546" r:id="rId34"/>
    <p:sldId id="520" r:id="rId35"/>
    <p:sldId id="547" r:id="rId36"/>
    <p:sldId id="499" r:id="rId37"/>
    <p:sldId id="515" r:id="rId38"/>
    <p:sldId id="548" r:id="rId39"/>
    <p:sldId id="511" r:id="rId40"/>
    <p:sldId id="549" r:id="rId41"/>
    <p:sldId id="539" r:id="rId42"/>
    <p:sldId id="550" r:id="rId43"/>
    <p:sldId id="441" r:id="rId44"/>
    <p:sldId id="551" r:id="rId45"/>
    <p:sldId id="527" r:id="rId46"/>
    <p:sldId id="552" r:id="rId47"/>
    <p:sldId id="528" r:id="rId48"/>
    <p:sldId id="540" r:id="rId49"/>
    <p:sldId id="451" r:id="rId5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2819" autoAdjust="0"/>
  </p:normalViewPr>
  <p:slideViewPr>
    <p:cSldViewPr>
      <p:cViewPr varScale="1">
        <p:scale>
          <a:sx n="71" d="100"/>
          <a:sy n="71" d="100"/>
        </p:scale>
        <p:origin x="612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707165-6FA1-4F51-AE2F-3E34D4EE60DB}" type="datetimeFigureOut">
              <a:rPr lang="fr-FR" smtClean="0"/>
              <a:pPr/>
              <a:t>12/04/2025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2BD788-2CE9-4B58-A72D-7A842BE88AE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2437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1789216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5467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95095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30262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974508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799A-AD1E-4EC4-BAE9-72E49FCD3627}" type="datetime1">
              <a:rPr lang="fr-FR" smtClean="0"/>
              <a:t>12/04/2025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01B79-79D6-441E-BF1E-BF238058A2BE}" type="datetime1">
              <a:rPr lang="fr-FR" smtClean="0"/>
              <a:t>12/04/2025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01902-2934-498C-B9CD-ABFFBDC132D2}" type="datetime1">
              <a:rPr lang="fr-FR" smtClean="0"/>
              <a:t>12/04/2025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BA51-70A3-4108-A886-33F689CBCDCE}" type="datetime1">
              <a:rPr lang="fr-FR" smtClean="0"/>
              <a:t>12/04/2025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6FC74-5BB7-4110-9531-403E0DC6FCC3}" type="datetime1">
              <a:rPr lang="fr-FR" smtClean="0"/>
              <a:t>12/04/2025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5D57-B0FA-4850-A7A9-46BC746BF18D}" type="datetime1">
              <a:rPr lang="fr-FR" smtClean="0"/>
              <a:t>12/04/2025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EED2-DA68-42E6-BB32-4BDF58561745}" type="datetime1">
              <a:rPr lang="fr-FR" smtClean="0"/>
              <a:t>12/04/2025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E66D5-8CED-4255-B840-C3038CA10D44}" type="datetime1">
              <a:rPr lang="fr-FR" smtClean="0"/>
              <a:t>12/04/2025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74B6-0C57-4CBC-8085-4FAD680CE4E3}" type="datetime1">
              <a:rPr lang="fr-FR" smtClean="0"/>
              <a:t>12/04/2025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783B9-A837-41A0-BB3E-10BAC9E24798}" type="datetime1">
              <a:rPr lang="fr-FR" smtClean="0"/>
              <a:t>12/04/2025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4622B-0FD0-4642-A755-FF44A3648A33}" type="datetime1">
              <a:rPr lang="fr-FR" smtClean="0"/>
              <a:t>12/04/2025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145A6B-277E-4029-9E0B-0271FFE59EB6}" type="datetime1">
              <a:rPr lang="fr-FR" smtClean="0"/>
              <a:t>12/04/2025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27F164-2AFA-4878-B6DC-B21DA486304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30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EAD95-047D-434C-94E6-21EBF421E084}" type="datetime1">
              <a:rPr lang="fr-FR" smtClean="0"/>
              <a:t>12/04/2025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17CCD0-4F98-4392-B995-B19C0157D76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7935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0E85B-6058-4423-8F7A-4FBB18FA07C1}" type="datetime1">
              <a:rPr lang="fr-FR" smtClean="0"/>
              <a:t>12/04/2025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47F796-EFDC-4369-84AD-973929CACFD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41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2" y="1981201"/>
            <a:ext cx="5077884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5484" y="1981201"/>
            <a:ext cx="5080000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BA6324-8179-42BA-9313-AB3649298C41}" type="datetime1">
              <a:rPr lang="fr-FR" smtClean="0"/>
              <a:t>12/04/2025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CA6A9D-AE4D-4B9F-82A2-A8A1879CF1F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507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149203-36D1-40BE-98DA-9DA8422BCD53}" type="datetime1">
              <a:rPr lang="fr-FR" smtClean="0"/>
              <a:t>12/04/2025</a:t>
            </a:fld>
            <a:endParaRPr lang="fr-F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6DD686-4B0E-404B-9A8C-39B7649B33F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098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477A3-8FE0-4B7E-A69A-AF8A31224535}" type="datetime1">
              <a:rPr lang="fr-FR" smtClean="0"/>
              <a:t>12/04/2025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F7A8C2-4022-4423-AD6A-3808F8CCE6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138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4265DF-C9D6-4224-B0D0-B18720FAE376}" type="datetime1">
              <a:rPr lang="fr-FR" smtClean="0"/>
              <a:t>12/04/2025</a:t>
            </a:fld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0BB9D-EEFD-47F1-8456-A76ECCAD119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384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AB563E-CA6D-4202-9FD3-4E9C2001BF5C}" type="datetime1">
              <a:rPr lang="fr-FR" smtClean="0"/>
              <a:t>12/04/2025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A92917-01B5-4E8C-BFEC-18FD0A17E8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57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CC719-82BB-485C-9884-0955D2EDAFDA}" type="datetime1">
              <a:rPr lang="fr-FR" smtClean="0"/>
              <a:t>12/04/2025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C56B6E-88B6-4A57-AEFD-EA1E6BE9AD7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368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E81FDD-F3A2-4361-94BD-09467961B8B4}" type="datetime1">
              <a:rPr lang="fr-FR" smtClean="0"/>
              <a:t>12/04/2025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F4B7C2-8CE4-4BAD-9D0C-80765E61DE9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89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2" y="609603"/>
            <a:ext cx="2588684" cy="5484813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3"/>
            <a:ext cx="7569200" cy="5484813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BB1012-3A3D-4B91-A754-A02A28E75EEE}" type="datetime1">
              <a:rPr lang="fr-FR" smtClean="0"/>
              <a:t>12/04/2025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99EC31-E3B7-4FC8-BB6A-FBF82360E3C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934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2" y="609603"/>
            <a:ext cx="10361084" cy="1141413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BA0297-0565-4E69-9C42-831900A170AB}" type="datetime1">
              <a:rPr lang="fr-FR" smtClean="0"/>
              <a:t>12/04/2025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E9879-8CFB-4292-8612-256D92E5B28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737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F9D3C-AC6F-429E-8EA4-013C4366CE2E}" type="datetime1">
              <a:rPr lang="fr-FR" smtClean="0"/>
              <a:t>12/04/2025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914402" y="609603"/>
            <a:ext cx="10361084" cy="11414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texte-titre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2" y="1981201"/>
            <a:ext cx="10361084" cy="4113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plan de texte</a:t>
            </a:r>
          </a:p>
          <a:p>
            <a:pPr lvl="1"/>
            <a:r>
              <a:rPr lang="en-GB" smtClean="0"/>
              <a:t>Second niveau de plan</a:t>
            </a:r>
          </a:p>
          <a:p>
            <a:pPr lvl="2"/>
            <a:r>
              <a:rPr lang="en-GB" smtClean="0"/>
              <a:t>Troisième niveau de plan</a:t>
            </a:r>
          </a:p>
          <a:p>
            <a:pPr lvl="3"/>
            <a:r>
              <a:rPr lang="en-GB" smtClean="0"/>
              <a:t>Quatrième niveau de plan</a:t>
            </a:r>
          </a:p>
          <a:p>
            <a:pPr lvl="4"/>
            <a:r>
              <a:rPr lang="en-GB" smtClean="0"/>
              <a:t>Cinquième niveau de plan</a:t>
            </a:r>
          </a:p>
          <a:p>
            <a:pPr lvl="4"/>
            <a:r>
              <a:rPr lang="en-GB" smtClean="0"/>
              <a:t>Sixième niveau de plan</a:t>
            </a:r>
          </a:p>
          <a:p>
            <a:pPr lvl="4"/>
            <a:r>
              <a:rPr lang="en-GB" smtClean="0"/>
              <a:t>Septième niveau de plan</a:t>
            </a:r>
          </a:p>
          <a:p>
            <a:pPr lvl="4"/>
            <a:r>
              <a:rPr lang="en-GB" smtClean="0"/>
              <a:t>Huitième niveau de plan</a:t>
            </a:r>
          </a:p>
          <a:p>
            <a:pPr lvl="4"/>
            <a:r>
              <a:rPr lang="en-GB" smtClean="0"/>
              <a:t>Neuvième niveau de plan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914402" y="6248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mtClean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AFBB3673-710D-4D29-AC82-167E94112C65}" type="datetime1">
              <a:rPr lang="fr-FR" sz="2400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12/04/2025</a:t>
            </a:fld>
            <a:endParaRPr lang="fr-FR" sz="240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4165602" y="6248403"/>
            <a:ext cx="38586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endParaRPr lang="fr-FR" sz="240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11277602" y="6629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7FD84E5A-625F-47DD-A5B9-EA1D8EC3DB43}" type="slidenum">
              <a:rPr lang="fr-FR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‹N°›</a:t>
            </a:fld>
            <a:endParaRPr lang="fr-FR"/>
          </a:p>
        </p:txBody>
      </p:sp>
      <p:pic>
        <p:nvPicPr>
          <p:cNvPr id="1031" name="Picture 6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12192000" cy="1295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46744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2pPr>
      <a:lvl3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3pPr>
      <a:lvl4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4pPr>
      <a:lvl5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5pPr>
      <a:lvl6pPr marL="25146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6pPr>
      <a:lvl7pPr marL="29718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7pPr>
      <a:lvl8pPr marL="34290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8pPr>
      <a:lvl9pPr marL="38862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 dirty="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16480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32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12/04/2025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1127448" y="2030870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ثــانــويــة أسـي يــوسـف بــوغــنـي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 </a:t>
            </a:r>
          </a:p>
          <a:p>
            <a:pPr lvl="0" algn="ctr" defTabSz="10096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الـمــــادة : الـمــعـــلـــومــــاتـــيـــة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 </a:t>
            </a:r>
            <a:endParaRPr lang="ar-SA" altLang="zh-CN" sz="6000" b="1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>
              <a:lnSpc>
                <a:spcPct val="150000"/>
              </a:lnSpc>
            </a:pPr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97931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3645024"/>
            <a:ext cx="10693188" cy="23042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ال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 :</a:t>
            </a: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244827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lnSpc>
                <a:spcPct val="135000"/>
              </a:lnSpc>
            </a:pP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altLang="zh-CN" sz="4200" b="1" u="sng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الــمـــجــــال </a:t>
            </a:r>
            <a:r>
              <a:rPr lang="ar-DZ" altLang="zh-CN" sz="42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الــتَـــعَــــلُـــمِــي</a:t>
            </a: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 : </a:t>
            </a:r>
            <a:r>
              <a:rPr lang="ar-DZ" altLang="zh-CN" sz="42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SA" altLang="zh-CN" sz="4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تـــقـــنـــيـــــات الــويــــب</a:t>
            </a:r>
            <a:endParaRPr lang="fr-FR" sz="42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 u="sng"/>
              <a:t>12/04/2025</a:t>
            </a:fld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4021017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 smtClean="0">
                <a:solidFill>
                  <a:srgbClr val="FF0000"/>
                </a:solidFill>
                <a:cs typeface="+mj-cs"/>
              </a:rPr>
              <a:t>الإشــكــالــيــة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5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just" rtl="1">
              <a:lnSpc>
                <a:spcPct val="120000"/>
              </a:lnSpc>
              <a:buNone/>
            </a:pPr>
            <a:r>
              <a:rPr lang="ar-DZ" sz="4400" b="1" dirty="0" smtClean="0">
                <a:cs typeface="+mj-cs"/>
              </a:rPr>
              <a:t>شَـهِــدَ </a:t>
            </a:r>
            <a:r>
              <a:rPr lang="ar-DZ" sz="4400" b="1" dirty="0">
                <a:cs typeface="+mj-cs"/>
              </a:rPr>
              <a:t>الـعَـــالَـــم فِـي الــسَــنَــوَاتِ الأَخِــيــرَة ظُــهُــورِ نَــوْعًــا جَــدِيــدًا مِـنْ الـتَــوَاصُــلِ بَـيْـنَ الـبَــشَــرِ وَذَلِـكَ مِـنْ خِــلَاِل فَــضَـــاءَاتٍ اِفْــتِــرَاضِــيَّــةٍ ( إِلِـكْــتُــرُونِــيَــةٍ ) سَــمَــحَــتْ بِـإلْــغَـــاءِ كــثــيــرٍ مـن الـحَــوَاجِـــز الَّـتِي كَــانَــتْ تَـحُــولُ بَــيْـنَ الــشُــعُـــوبِ لِلـتَّــقَـــارُبِ والـتَّــكَــامُــلِ ، فَــمَــا هِــيَ تِــلْــكَ </a:t>
            </a:r>
            <a:r>
              <a:rPr lang="ar-DZ" sz="4400" b="1" dirty="0" smtClean="0">
                <a:cs typeface="+mj-cs"/>
              </a:rPr>
              <a:t>الــفَــضَــاءَاتِ</a:t>
            </a: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؟ </a:t>
            </a:r>
            <a:endParaRPr lang="ar-DZ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719861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 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>
                <a:solidFill>
                  <a:srgbClr val="002060"/>
                </a:solidFill>
                <a:cs typeface="+mj-cs"/>
              </a:rPr>
              <a:t>تــلــك الــفــضــاءات مــا هــي إلا 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« </a:t>
            </a:r>
            <a:r>
              <a:rPr lang="ar-DZ" sz="48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....................................................................................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 »</a:t>
            </a:r>
            <a:endParaRPr lang="ar-DZ" sz="4800" b="1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350677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 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>
                <a:solidFill>
                  <a:srgbClr val="002060"/>
                </a:solidFill>
                <a:cs typeface="+mj-cs"/>
              </a:rPr>
              <a:t>تــلــك الــفــضــاءات مــا هــي إلا 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« </a:t>
            </a:r>
            <a:r>
              <a:rPr lang="ar-DZ" sz="48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....................................................................................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 »</a:t>
            </a:r>
            <a:endParaRPr lang="ar-DZ" sz="4800" b="1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847528" y="3010333"/>
            <a:ext cx="86409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شــبـكـات الـتـواصـل الاجــتــمــاعــي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3218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966770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/>
            <a:r>
              <a:rPr lang="ar-SA" altLang="zh-CN" sz="44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الـوحــدة الــتـعـــلـــيـــمـــيـــة : </a:t>
            </a:r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..............................................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endParaRPr lang="ar-SA" altLang="zh-CN" sz="44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+mj-cs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lnSpc>
                <a:spcPct val="135000"/>
              </a:lnSpc>
            </a:pP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altLang="zh-CN" sz="4200" b="1" u="sng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الــمـــجــــال </a:t>
            </a:r>
            <a:r>
              <a:rPr lang="ar-DZ" altLang="zh-CN" sz="42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الــتَـــعَــــلُـــمِــي</a:t>
            </a: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 :  </a:t>
            </a:r>
            <a:r>
              <a:rPr lang="ar-SA" altLang="zh-CN" sz="4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تـــقـــنـــيـــــات الــويــــب</a:t>
            </a:r>
            <a:endParaRPr lang="fr-FR" sz="42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/>
              <a:t>12/04/2025</a:t>
            </a:fld>
            <a:endParaRPr lang="fr-BE" sz="2400" b="1" dirty="0"/>
          </a:p>
        </p:txBody>
      </p:sp>
    </p:spTree>
    <p:extLst>
      <p:ext uri="{BB962C8B-B14F-4D97-AF65-F5344CB8AC3E}">
        <p14:creationId xmlns:p14="http://schemas.microsoft.com/office/powerpoint/2010/main" val="346629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966770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/>
            <a:r>
              <a:rPr lang="ar-SA" altLang="zh-CN" sz="38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ال</a:t>
            </a:r>
            <a:r>
              <a:rPr lang="ar-DZ" altLang="zh-CN" sz="38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</a:t>
            </a:r>
            <a:r>
              <a:rPr lang="ar-SA" altLang="zh-CN" sz="38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وح</a:t>
            </a:r>
            <a:r>
              <a:rPr lang="ar-DZ" altLang="zh-CN" sz="38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</a:t>
            </a:r>
            <a:r>
              <a:rPr lang="ar-DZ" altLang="zh-CN" sz="38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</a:t>
            </a:r>
            <a:r>
              <a:rPr lang="ar-SA" altLang="zh-CN" sz="3800" b="1" dirty="0" err="1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دة</a:t>
            </a:r>
            <a:r>
              <a:rPr lang="ar-SA" altLang="zh-CN" sz="38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 ال</a:t>
            </a:r>
            <a:r>
              <a:rPr lang="ar-DZ" altLang="zh-CN" sz="38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</a:t>
            </a:r>
            <a:r>
              <a:rPr lang="ar-SA" altLang="zh-CN" sz="38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ت</a:t>
            </a:r>
            <a:r>
              <a:rPr lang="ar-DZ" altLang="zh-CN" sz="38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</a:t>
            </a:r>
            <a:r>
              <a:rPr lang="ar-SA" altLang="zh-CN" sz="38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ع</a:t>
            </a:r>
            <a:r>
              <a:rPr lang="ar-DZ" altLang="zh-CN" sz="38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ـــ</a:t>
            </a:r>
            <a:r>
              <a:rPr lang="ar-SA" altLang="zh-CN" sz="38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ل</a:t>
            </a:r>
            <a:r>
              <a:rPr lang="ar-DZ" altLang="zh-CN" sz="38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ـــ</a:t>
            </a:r>
            <a:r>
              <a:rPr lang="ar-SA" altLang="zh-CN" sz="38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ي</a:t>
            </a:r>
            <a:r>
              <a:rPr lang="ar-DZ" altLang="zh-CN" sz="38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ـــ</a:t>
            </a:r>
            <a:r>
              <a:rPr lang="ar-SA" altLang="zh-CN" sz="38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م</a:t>
            </a:r>
            <a:r>
              <a:rPr lang="ar-DZ" altLang="zh-CN" sz="38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ـــ</a:t>
            </a:r>
            <a:r>
              <a:rPr lang="ar-SA" altLang="zh-CN" sz="38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ي</a:t>
            </a:r>
            <a:r>
              <a:rPr lang="ar-DZ" altLang="zh-CN" sz="38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ـــ</a:t>
            </a:r>
            <a:r>
              <a:rPr lang="ar-SA" altLang="zh-CN" sz="38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ة :</a:t>
            </a:r>
            <a:r>
              <a:rPr lang="ar-DZ" altLang="zh-CN" sz="38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 </a:t>
            </a:r>
            <a:r>
              <a:rPr lang="ar-DZ" sz="3800" b="1" dirty="0">
                <a:solidFill>
                  <a:srgbClr val="0070C0"/>
                </a:solidFill>
                <a:cs typeface="+mj-cs"/>
              </a:rPr>
              <a:t>شــبـكـات الـتـواصـل </a:t>
            </a:r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الاجــتــمــاعـي </a:t>
            </a:r>
            <a:endParaRPr lang="ar-SA" altLang="zh-CN" sz="38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+mj-cs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lnSpc>
                <a:spcPct val="135000"/>
              </a:lnSpc>
            </a:pP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altLang="zh-CN" sz="4200" b="1" u="sng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الــمـــجــــال </a:t>
            </a:r>
            <a:r>
              <a:rPr lang="ar-DZ" altLang="zh-CN" sz="42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الــتَـــعَــــلُـــمِــي</a:t>
            </a: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 :  </a:t>
            </a:r>
            <a:r>
              <a:rPr lang="ar-SA" altLang="zh-CN" sz="4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تـــقـــنـــيـــــات الــويــــب</a:t>
            </a:r>
            <a:endParaRPr lang="fr-FR" sz="42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/>
              <a:t>12/04/2025</a:t>
            </a:fld>
            <a:endParaRPr lang="fr-BE" sz="2400" b="1" dirty="0"/>
          </a:p>
        </p:txBody>
      </p:sp>
      <p:sp>
        <p:nvSpPr>
          <p:cNvPr id="7" name="Rectangle à coins arrondis 6"/>
          <p:cNvSpPr/>
          <p:nvPr/>
        </p:nvSpPr>
        <p:spPr>
          <a:xfrm>
            <a:off x="587388" y="5081119"/>
            <a:ext cx="10801200" cy="1586641"/>
          </a:xfrm>
          <a:prstGeom prst="roundRect">
            <a:avLst>
              <a:gd name="adj" fmla="val 26762"/>
            </a:avLst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3400" b="1" dirty="0" smtClean="0">
                <a:ln w="0"/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Social Media ( </a:t>
            </a:r>
            <a:r>
              <a:rPr lang="fr-FR" sz="3400" b="1" dirty="0" smtClean="0">
                <a:ln w="0"/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Facebook</a:t>
            </a:r>
            <a:r>
              <a:rPr lang="fr-FR" sz="3400" b="1" dirty="0" smtClean="0">
                <a:ln w="0"/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, </a:t>
            </a:r>
            <a:r>
              <a:rPr lang="fr-FR" sz="3400" b="1" dirty="0" err="1" smtClean="0">
                <a:ln w="0"/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Twitter</a:t>
            </a:r>
            <a:r>
              <a:rPr lang="fr-FR" sz="3400" b="1" dirty="0" smtClean="0">
                <a:ln w="0"/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3400" b="1" dirty="0" smtClean="0">
                <a:ln w="0"/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3400" b="1" dirty="0" err="1" smtClean="0">
                <a:ln w="0"/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Whatsapp</a:t>
            </a:r>
            <a:r>
              <a:rPr lang="fr-FR" sz="3400" b="1" dirty="0" smtClean="0">
                <a:ln w="0"/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… )</a:t>
            </a:r>
            <a:endParaRPr lang="fr-FR" sz="3400" dirty="0"/>
          </a:p>
        </p:txBody>
      </p:sp>
    </p:spTree>
    <p:extLst>
      <p:ext uri="{BB962C8B-B14F-4D97-AF65-F5344CB8AC3E}">
        <p14:creationId xmlns:p14="http://schemas.microsoft.com/office/powerpoint/2010/main" val="3312398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2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  <p:bldP spid="7" grpId="0" animBg="1"/>
      <p:bldP spid="7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000" b="1" dirty="0">
                <a:solidFill>
                  <a:srgbClr val="FF0000"/>
                </a:solidFill>
                <a:cs typeface="+mj-cs"/>
              </a:rPr>
              <a:t>1) شـــبـــكـــات الــتـــواصــل الاجــــتــــمــــاعــي :</a:t>
            </a:r>
            <a:endParaRPr lang="fr-FR" sz="5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54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بِـالاسْــتِــئْــنَــاسِ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بِــمَــا سَــبَــقَ ، عَــــرِّفْ «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شـــبـــكـــات الــتـــواصــل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الاجــــتــــمــــاعــي »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600" b="1" dirty="0" smtClean="0">
                <a:solidFill>
                  <a:srgbClr val="00B050"/>
                </a:solidFill>
                <a:cs typeface="+mj-cs"/>
              </a:rPr>
              <a:t>تـعــريــف شــبــكــات الـتــواصــل الاجــتــمــاعــي :</a:t>
            </a:r>
            <a:endParaRPr lang="fr-FR" sz="46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8219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.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 </a:t>
            </a:r>
            <a:r>
              <a:rPr lang="ar-DZ" sz="4000" b="1" dirty="0">
                <a:solidFill>
                  <a:srgbClr val="00B050"/>
                </a:solidFill>
                <a:cs typeface="+mj-cs"/>
              </a:rPr>
              <a:t>تـعــريــف شــبــكــات الـتــواصــل الاجــتــمــاعــي</a:t>
            </a:r>
            <a:r>
              <a:rPr lang="ar-DZ" sz="40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هـي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فـي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خَــوَادِمٍ تُــوَفِّــرُ فَــضَــاءَاتٍ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تَــرْبِــطُ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أَفْـــرَادًا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حَــسْــبَ</a:t>
            </a:r>
            <a:r>
              <a:rPr lang="ar-DZ" sz="4400" b="1" dirty="0" smtClean="0">
                <a:solidFill>
                  <a:srgbClr val="0070C0"/>
                </a:solidFill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مـجــمــوعــات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أو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شَــبَــكَــاتِ 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( </a:t>
            </a:r>
            <a:r>
              <a:rPr lang="ar-SA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بــلــد</a:t>
            </a:r>
            <a:r>
              <a:rPr lang="ar-SA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مــدرســة، </a:t>
            </a:r>
            <a:r>
              <a:rPr lang="ar-SA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شــركــة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)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بـحــيــث يَــتِّـمُ مـن خــلال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تــلــك الـفـضــاءات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.........................................</a:t>
            </a:r>
            <a:r>
              <a:rPr lang="fr-FR" sz="4400" baseline="-25000" dirty="0" smtClean="0">
                <a:solidFill>
                  <a:srgbClr val="002060"/>
                </a:solidFill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بــمـخــتــلــف أنـواعـهـا</a:t>
            </a:r>
            <a:endParaRPr lang="ar-DZ" sz="44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31208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.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 </a:t>
            </a:r>
            <a:r>
              <a:rPr lang="ar-DZ" sz="4000" b="1" dirty="0">
                <a:solidFill>
                  <a:srgbClr val="00B050"/>
                </a:solidFill>
                <a:cs typeface="+mj-cs"/>
              </a:rPr>
              <a:t>تـعــريــف شــبــكــات الـتــواصــل الاجــتــمــاعــي</a:t>
            </a:r>
            <a:r>
              <a:rPr lang="ar-DZ" sz="40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هـي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فـي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خَــوَادِمٍ تُــوَفِّــرُ فَــضَــاءَاتٍ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تَــرْبِــطُ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أَفْـــرَادًا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حَــسْــبَ</a:t>
            </a:r>
            <a:r>
              <a:rPr lang="ar-DZ" sz="4400" b="1" dirty="0" smtClean="0">
                <a:solidFill>
                  <a:srgbClr val="0070C0"/>
                </a:solidFill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مـجــمــوعــات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أو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شَــبَــكَــاتِ 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( </a:t>
            </a:r>
            <a:r>
              <a:rPr lang="ar-SA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بــلــد</a:t>
            </a:r>
            <a:r>
              <a:rPr lang="ar-SA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مــدرســة، </a:t>
            </a:r>
            <a:r>
              <a:rPr lang="ar-SA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شــركــة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)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بـحــيــث يَــتِّـمُ مـن خــلال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تــلــك الـفـضــاءات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.........................................</a:t>
            </a:r>
            <a:r>
              <a:rPr lang="fr-FR" sz="4400" baseline="-25000" dirty="0" smtClean="0">
                <a:solidFill>
                  <a:srgbClr val="002060"/>
                </a:solidFill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بــمـخــتــلــف أنـواعـهـا</a:t>
            </a:r>
            <a:endParaRPr lang="ar-DZ" sz="44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960096" y="1412776"/>
            <a:ext cx="34563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بـرامـج مُــثَّــبَّــتَـة 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63607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.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 </a:t>
            </a:r>
            <a:r>
              <a:rPr lang="ar-DZ" sz="4000" b="1" dirty="0">
                <a:solidFill>
                  <a:srgbClr val="00B050"/>
                </a:solidFill>
                <a:cs typeface="+mj-cs"/>
              </a:rPr>
              <a:t>تـعــريــف شــبــكــات الـتــواصــل الاجــتــمــاعــي</a:t>
            </a:r>
            <a:r>
              <a:rPr lang="ar-DZ" sz="40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هـي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فـي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خَــوَادِمٍ تُــوَفِّــرُ فَــضَــاءَاتٍ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تَــرْبِــطُ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أَفْـــرَادًا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حَــسْــبَ</a:t>
            </a:r>
            <a:r>
              <a:rPr lang="ar-DZ" sz="4400" b="1" dirty="0" smtClean="0">
                <a:solidFill>
                  <a:srgbClr val="0070C0"/>
                </a:solidFill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مـجــمــوعــات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أو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شَــبَــكَــاتِ 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( </a:t>
            </a:r>
            <a:r>
              <a:rPr lang="ar-SA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بــلــد</a:t>
            </a:r>
            <a:r>
              <a:rPr lang="ar-SA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مــدرســة، </a:t>
            </a:r>
            <a:r>
              <a:rPr lang="ar-SA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شــركــة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)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بـحــيــث يَــتِّـمُ مـن خــلال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تــلــك الـفـضــاءات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.........................................</a:t>
            </a:r>
            <a:r>
              <a:rPr lang="fr-FR" sz="4400" baseline="-25000" dirty="0" smtClean="0">
                <a:solidFill>
                  <a:srgbClr val="002060"/>
                </a:solidFill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بــمـخــتــلــف أنـواعـهـا</a:t>
            </a:r>
            <a:endParaRPr lang="ar-DZ" sz="44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960096" y="1412776"/>
            <a:ext cx="34563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بـرامـج مُــثَّــبَّــتَـة 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616280" y="2412609"/>
            <a:ext cx="26642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اِفْــتِــرَاضِــيَــةٍ 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51144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.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 </a:t>
            </a:r>
            <a:r>
              <a:rPr lang="ar-DZ" sz="4000" b="1" dirty="0">
                <a:solidFill>
                  <a:srgbClr val="00B050"/>
                </a:solidFill>
                <a:cs typeface="+mj-cs"/>
              </a:rPr>
              <a:t>تـعــريــف شــبــكــات الـتــواصــل الاجــتــمــاعــي</a:t>
            </a:r>
            <a:r>
              <a:rPr lang="ar-DZ" sz="40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هـي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فـي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خَــوَادِمٍ تُــوَفِّــرُ فَــضَــاءَاتٍ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تَــرْبِــطُ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أَفْـــرَادًا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حَــسْــبَ</a:t>
            </a:r>
            <a:r>
              <a:rPr lang="ar-DZ" sz="4400" b="1" dirty="0" smtClean="0">
                <a:solidFill>
                  <a:srgbClr val="0070C0"/>
                </a:solidFill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مـجــمــوعــات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أو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شَــبَــكَــاتِ 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( </a:t>
            </a:r>
            <a:r>
              <a:rPr lang="ar-SA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بــلــد</a:t>
            </a:r>
            <a:r>
              <a:rPr lang="ar-SA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مــدرســة، </a:t>
            </a:r>
            <a:r>
              <a:rPr lang="ar-SA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شــركــة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)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بـحــيــث يَــتِّـمُ مـن خــلال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تــلــك الـفـضــاءات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.........................................</a:t>
            </a:r>
            <a:r>
              <a:rPr lang="fr-FR" sz="4400" baseline="-25000" dirty="0" smtClean="0">
                <a:solidFill>
                  <a:srgbClr val="002060"/>
                </a:solidFill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بــمـخــتــلــف أنـواعـهـا</a:t>
            </a:r>
            <a:endParaRPr lang="ar-DZ" sz="44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960096" y="1412776"/>
            <a:ext cx="34563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بـرامـج مُــثَّــبَّــتَـة 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616280" y="2412609"/>
            <a:ext cx="26642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اِفْــتِــرَاضِــيَــةٍ 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20336" y="3464159"/>
            <a:ext cx="22224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اِهْــتِــمَــام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82814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.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 </a:t>
            </a:r>
            <a:r>
              <a:rPr lang="ar-DZ" sz="4000" b="1" dirty="0">
                <a:solidFill>
                  <a:srgbClr val="00B050"/>
                </a:solidFill>
                <a:cs typeface="+mj-cs"/>
              </a:rPr>
              <a:t>تـعــريــف شــبــكــات الـتــواصــل الاجــتــمــاعــي</a:t>
            </a:r>
            <a:r>
              <a:rPr lang="ar-DZ" sz="40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هـي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فـي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خَــوَادِمٍ تُــوَفِّــرُ فَــضَــاءَاتٍ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تَــرْبِــطُ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أَفْـــرَادًا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حَــسْــبَ</a:t>
            </a:r>
            <a:r>
              <a:rPr lang="ar-DZ" sz="4400" b="1" dirty="0" smtClean="0">
                <a:solidFill>
                  <a:srgbClr val="0070C0"/>
                </a:solidFill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مـجــمــوعــات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أو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شَــبَــكَــاتِ 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( </a:t>
            </a:r>
            <a:r>
              <a:rPr lang="ar-SA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بــلــد</a:t>
            </a:r>
            <a:r>
              <a:rPr lang="ar-SA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مــدرســة، </a:t>
            </a:r>
            <a:r>
              <a:rPr lang="ar-SA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شــركــة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)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بـحــيــث يَــتِّـمُ مـن خــلال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تــلــك الـفـضــاءات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.........................................</a:t>
            </a:r>
            <a:r>
              <a:rPr lang="fr-FR" sz="4400" baseline="-25000" dirty="0" smtClean="0">
                <a:solidFill>
                  <a:srgbClr val="002060"/>
                </a:solidFill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بــمـخــتــلــف أنـواعـهـا</a:t>
            </a:r>
            <a:endParaRPr lang="ar-DZ" sz="44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960096" y="1412776"/>
            <a:ext cx="34563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بـرامـج مُــثَّــبَّــتَـة 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616280" y="2412609"/>
            <a:ext cx="26642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اِفْــتِــرَاضِــيَــةٍ 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20336" y="3464159"/>
            <a:ext cx="22224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اِهْــتِــمَــام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67808" y="3355303"/>
            <a:ext cx="18179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اِنْـتِـمَـاءٍ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88449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.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 </a:t>
            </a:r>
            <a:r>
              <a:rPr lang="ar-DZ" sz="4000" b="1" dirty="0">
                <a:solidFill>
                  <a:srgbClr val="00B050"/>
                </a:solidFill>
                <a:cs typeface="+mj-cs"/>
              </a:rPr>
              <a:t>تـعــريــف شــبــكــات الـتــواصــل الاجــتــمــاعــي</a:t>
            </a:r>
            <a:r>
              <a:rPr lang="ar-DZ" sz="40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هـي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فـي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خَــوَادِمٍ تُــوَفِّــرُ فَــضَــاءَاتٍ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تَــرْبِــطُ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أَفْـــرَادًا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حَــسْــبَ</a:t>
            </a:r>
            <a:r>
              <a:rPr lang="ar-DZ" sz="4400" b="1" dirty="0" smtClean="0">
                <a:solidFill>
                  <a:srgbClr val="0070C0"/>
                </a:solidFill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مـجــمــوعــات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أو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شَــبَــكَــاتِ 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( </a:t>
            </a:r>
            <a:r>
              <a:rPr lang="ar-SA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بــلــد</a:t>
            </a:r>
            <a:r>
              <a:rPr lang="ar-SA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مــدرســة، </a:t>
            </a:r>
            <a:r>
              <a:rPr lang="ar-SA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شــركــة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)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بـحــيــث يَــتِّـمُ مـن خــلال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تــلــك الـفـضــاءات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.........................................</a:t>
            </a:r>
            <a:r>
              <a:rPr lang="fr-FR" sz="4400" baseline="-25000" dirty="0" smtClean="0">
                <a:solidFill>
                  <a:srgbClr val="002060"/>
                </a:solidFill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بــمـخــتــلــف أنـواعـهـا</a:t>
            </a:r>
            <a:endParaRPr lang="ar-DZ" sz="44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960096" y="1412776"/>
            <a:ext cx="34563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بـرامـج مُــثَّــبَّــتَـة 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616280" y="2412609"/>
            <a:ext cx="26642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اِفْــتِــرَاضِــيَــةٍ 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20336" y="3464159"/>
            <a:ext cx="22224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اِهْــتِــمَــام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67808" y="3355303"/>
            <a:ext cx="18179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اِنْـتِـمَـاءٍ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87888" y="5374213"/>
            <a:ext cx="4050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>
                <a:solidFill>
                  <a:srgbClr val="0070C0"/>
                </a:solidFill>
                <a:cs typeface="+mj-cs"/>
              </a:rPr>
              <a:t>تـبـادل الـمـعــلــومــات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44934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1) شـــبـــكـــات الــتـــواصــل الاجــــتــــمــــاعــي 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5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نــشــاط 2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r>
              <a:rPr lang="ar-DZ" sz="1000" b="1" dirty="0" smtClean="0">
                <a:cs typeface="+mj-cs"/>
              </a:rPr>
              <a:t>      </a:t>
            </a:r>
          </a:p>
          <a:p>
            <a:pPr marL="0" indent="0" algn="just" rtl="1">
              <a:lnSpc>
                <a:spcPct val="135000"/>
              </a:lnSpc>
              <a:spcBef>
                <a:spcPts val="0"/>
              </a:spcBef>
              <a:buNone/>
            </a:pPr>
            <a:r>
              <a:rPr lang="ar-DZ" sz="4400" b="1" dirty="0" err="1"/>
              <a:t>إِمْـــلأْ</a:t>
            </a:r>
            <a:r>
              <a:rPr lang="ar-DZ" sz="4400" b="1" dirty="0"/>
              <a:t> </a:t>
            </a:r>
            <a:r>
              <a:rPr lang="ar-DZ" sz="4400" b="1" dirty="0" smtClean="0"/>
              <a:t>الــفَـــرَاغَــــات الــتَـــالِـــيَـــة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بــتــعـــيـــيــن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أبْـــرَزِ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شــبــكــات الـتــواصــل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الاجــتــمــاعـي وأكــثــرهـا إقــبــالا مـن طــرف مــســتـخـــدمــي شــبــكـة الأنــتــرنــت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.1 شــبــكــات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الـتــواصــل الاجــتــمــاعــي </a:t>
            </a:r>
            <a:r>
              <a:rPr lang="ar-DZ" b="1" dirty="0" smtClean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الـشــهــيـــرة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14867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1) شـــبـــكـــات الــتـــواصــل الاجــــتــــمــــاعــي 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5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نــشــاط 2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r>
              <a:rPr lang="ar-DZ" sz="1000" b="1" dirty="0" smtClean="0">
                <a:cs typeface="+mj-cs"/>
              </a:rPr>
              <a:t>      </a:t>
            </a:r>
          </a:p>
          <a:p>
            <a:pPr marL="0" indent="0" algn="just" rtl="1">
              <a:lnSpc>
                <a:spcPct val="135000"/>
              </a:lnSpc>
              <a:spcBef>
                <a:spcPts val="0"/>
              </a:spcBef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أكــمــل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الـجــدول الـتــالـي بـتـعــيــيــن أبْـــرَزِ شـبـكـات الـتـواصـل الاجــتــمــاعـي وأكــثــرهـا إقــبــالا مـن طــرف مــســتـخـــدمــي شــبــكـة الأنــتــرنــت 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.1 شــبــكــات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الـتــواصــل الاجــتــمــاعــي </a:t>
            </a:r>
            <a:r>
              <a:rPr lang="ar-DZ" b="1" dirty="0" smtClean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الـشــهــيـــرة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pic>
        <p:nvPicPr>
          <p:cNvPr id="6" name="Image 5"/>
          <p:cNvPicPr/>
          <p:nvPr/>
        </p:nvPicPr>
        <p:blipFill>
          <a:blip r:embed="rId2"/>
          <a:stretch>
            <a:fillRect/>
          </a:stretch>
        </p:blipFill>
        <p:spPr>
          <a:xfrm>
            <a:off x="1703512" y="310659"/>
            <a:ext cx="8352928" cy="6059180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847865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شــبـكـات الـتـواصـل الاجــتــمـاعــي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الـشـهــيــرة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4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472431"/>
              </p:ext>
            </p:extLst>
          </p:nvPr>
        </p:nvGraphicFramePr>
        <p:xfrm>
          <a:off x="928349" y="1597157"/>
          <a:ext cx="10296000" cy="45360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148000"/>
                <a:gridCol w="5148000"/>
              </a:tblGrid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0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0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7116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شــبـكـات الـتـواصـل الاجــتــمـاعــي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الـشـهــيــرة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4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472431"/>
              </p:ext>
            </p:extLst>
          </p:nvPr>
        </p:nvGraphicFramePr>
        <p:xfrm>
          <a:off x="928349" y="1597157"/>
          <a:ext cx="10296000" cy="45360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148000"/>
                <a:gridCol w="5148000"/>
              </a:tblGrid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0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0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096000" y="1628800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Messenger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WhatsApp </a:t>
            </a:r>
            <a:r>
              <a:rPr lang="fr-FR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FreeSans"/>
              </a:rPr>
              <a:t>, </a:t>
            </a: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Viber </a:t>
            </a:r>
            <a:r>
              <a:rPr lang="en-US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, </a:t>
            </a:r>
            <a:r>
              <a:rPr lang="en-US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Line</a:t>
            </a:r>
            <a:r>
              <a:rPr lang="en-US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40532" y="1628800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Telegram</a:t>
            </a: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,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Twitter </a:t>
            </a: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, Quora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, </a:t>
            </a:r>
            <a:r>
              <a:rPr lang="fr-FR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Facebook 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096000" y="3156142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WeChat</a:t>
            </a:r>
            <a:r>
              <a:rPr lang="en-US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, Snapchat , Skype …</a:t>
            </a:r>
            <a:endParaRPr lang="fr-FR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43708" y="3142694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Linked-in </a:t>
            </a: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, Facebook </a:t>
            </a:r>
            <a:r>
              <a:rPr lang="en-US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Workplace , 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Xing</a:t>
            </a:r>
            <a:endParaRPr lang="fr-FR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092824" y="4610651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YouTube , </a:t>
            </a: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Vimeo, </a:t>
            </a:r>
            <a:r>
              <a:rPr lang="en-US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DailyMotion , </a:t>
            </a: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TikTok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40532" y="4597203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FreeSans"/>
              </a:rPr>
              <a:t>Google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FreeSans"/>
              </a:rPr>
              <a:t>Photos </a:t>
            </a:r>
            <a:r>
              <a:rPr lang="en-US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FreeSans"/>
              </a:rPr>
              <a:t>, </a:t>
            </a:r>
            <a:r>
              <a:rPr lang="en-US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FreeSans"/>
              </a:rPr>
              <a:t>Flickr</a:t>
            </a:r>
            <a:r>
              <a:rPr lang="en-US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FreeSans"/>
              </a:rPr>
              <a:t> , </a:t>
            </a:r>
            <a:r>
              <a:rPr lang="en-US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FreeSans"/>
              </a:rPr>
              <a:t>Pintereset</a:t>
            </a:r>
            <a:r>
              <a:rPr lang="en-US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FreeSans"/>
              </a:rPr>
              <a:t> , </a:t>
            </a:r>
            <a:r>
              <a:rPr lang="fr-FR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FreeSans"/>
              </a:rPr>
              <a:t>Instagram </a:t>
            </a:r>
            <a:r>
              <a:rPr lang="en-US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FreeSans"/>
              </a:rPr>
              <a:t>…</a:t>
            </a:r>
            <a:endParaRPr lang="fr-FR" sz="3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2113142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ar-DZ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مُــمَــيِّـــزَات </a:t>
            </a:r>
            <a:r>
              <a:rPr lang="ar-DZ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شــبــكــات الـتــواصــل الاجـــتــمـــاعــي :</a:t>
            </a:r>
            <a:endParaRPr lang="fr-FR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3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صَــنِّــفْ فـي الـجَــدْوِلِ أَدْنَـــاه الــمُــمَــيِّـــزَات الـتــالــيــة : 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الـعـــالـــمـــيــة ، الـشــمـــولــيــة ،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الــســهـــولـــة 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الـتــفــاعــلــيــة ،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الاقــتــصــاديــة ، الـتَّــنَــوُع </a:t>
            </a:r>
            <a:endParaRPr lang="ar-DZ" sz="4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33929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(2. مُــمَــيِّـــزَات شــبــكــات الـتــواصــل الاجـــتــمـــاعــي )</a:t>
            </a:r>
            <a:endParaRPr lang="fr-FR" sz="4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472431"/>
              </p:ext>
            </p:extLst>
          </p:nvPr>
        </p:nvGraphicFramePr>
        <p:xfrm>
          <a:off x="928349" y="1597157"/>
          <a:ext cx="10296000" cy="45360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148000"/>
                <a:gridCol w="5148000"/>
              </a:tblGrid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0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0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940532" y="1628800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36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لا تـتـطـلَّـب مـهــارات كــبــيــرة لاسـتـعــمــالـهـا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43708" y="3142694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36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تـوفــيــر الــمـــال، الــوقـــت والـجــهــد</a:t>
            </a:r>
            <a:endParaRPr lang="fr-FR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40532" y="4597203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ar-DZ" sz="3600" b="1" dirty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تُــوَفِّـــر حَــيِــزًا واســعــا للـمــشــاركــة الـفــاعــلــة</a:t>
            </a:r>
            <a:endParaRPr lang="fr-FR" sz="3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2003089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4" grpId="0" animBg="1"/>
      <p:bldP spid="16" grpId="0" animBg="1"/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(2. مُــمَــيِّـــزَات شــبــكــات الـتــواصــل الاجـــتــمـــاعــي )</a:t>
            </a:r>
            <a:endParaRPr lang="fr-FR" sz="4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472431"/>
              </p:ext>
            </p:extLst>
          </p:nvPr>
        </p:nvGraphicFramePr>
        <p:xfrm>
          <a:off x="928349" y="1597157"/>
          <a:ext cx="10296000" cy="45360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148000"/>
                <a:gridCol w="5148000"/>
              </a:tblGrid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0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0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096000" y="1628800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الــســهــــولـــة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40532" y="1628800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36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لا تـتـطـلَّـب مـهــارات كــبــيــرة لاسـتـعــمــالـهـا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43708" y="3142694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36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تـوفــيــر الــمـــال، الــوقـــت والـجــهــد</a:t>
            </a:r>
            <a:endParaRPr lang="fr-FR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40532" y="4597203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ar-DZ" sz="3600" b="1" dirty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تُــوَفِّـــر حَــيِــزًا واســعــا للـمــشــاركــة الـفــاعــلــة</a:t>
            </a:r>
            <a:endParaRPr lang="fr-FR" sz="3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2433390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4" grpId="0" animBg="1"/>
      <p:bldP spid="16" grpId="0" animBg="1"/>
      <p:bldP spid="1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(2. مُــمَــيِّـــزَات شــبــكــات الـتــواصــل الاجـــتــمـــاعــي )</a:t>
            </a:r>
            <a:endParaRPr lang="fr-FR" sz="4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472431"/>
              </p:ext>
            </p:extLst>
          </p:nvPr>
        </p:nvGraphicFramePr>
        <p:xfrm>
          <a:off x="928349" y="1597157"/>
          <a:ext cx="10296000" cy="45360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148000"/>
                <a:gridCol w="5148000"/>
              </a:tblGrid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0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0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096000" y="1628800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الــســهــــولـــة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40532" y="1628800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36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لا تـتـطـلَّـب مـهــارات كــبــيــرة لاسـتـعــمــالـهـا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096000" y="3156142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الاقــتــصــاديــة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43708" y="3142694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36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تـوفــيــر الــمـــال، الــوقـــت والـجــهــد</a:t>
            </a:r>
            <a:endParaRPr lang="fr-FR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40532" y="4597203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ar-DZ" sz="3600" b="1" dirty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تُــوَفِّـــر حَــيِــزًا واســعــا للـمــشــاركــة الـفــاعــلــة</a:t>
            </a:r>
            <a:endParaRPr lang="fr-FR" sz="3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3381560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4" grpId="0" animBg="1"/>
      <p:bldP spid="15" grpId="0" animBg="1"/>
      <p:bldP spid="16" grpId="0" animBg="1"/>
      <p:bldP spid="1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(2. مُــمَــيِّـــزَات شــبــكــات الـتــواصــل الاجـــتــمـــاعــي )</a:t>
            </a:r>
            <a:endParaRPr lang="fr-FR" sz="4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472431"/>
              </p:ext>
            </p:extLst>
          </p:nvPr>
        </p:nvGraphicFramePr>
        <p:xfrm>
          <a:off x="928349" y="1597157"/>
          <a:ext cx="10296000" cy="45360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148000"/>
                <a:gridCol w="5148000"/>
              </a:tblGrid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0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0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096000" y="1628800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الــســهــــولـــة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40532" y="1628800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36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لا تـتـطـلَّـب مـهــارات كــبــيــرة لاسـتـعــمــالـهـا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096000" y="3156142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الاقــتــصــاديــة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43708" y="3142694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36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تـوفــيــر الــمـــال، الــوقـــت والـجــهــد</a:t>
            </a:r>
            <a:endParaRPr lang="fr-FR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092824" y="4610651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الـتــفــاعــلــيــة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40532" y="4597203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ar-DZ" sz="3600" b="1" dirty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تُــوَفِّـــر حَــيِــزًا واســعــا للـمــشــاركــة الـفــاعــلــة</a:t>
            </a:r>
            <a:endParaRPr lang="fr-FR" sz="3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4223844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(2. مُــمَــيِّـــزَات شــبــكــات الـتــواصــل الاجـــتــمـــاعــي )</a:t>
            </a:r>
            <a:endParaRPr lang="fr-FR" sz="4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472431"/>
              </p:ext>
            </p:extLst>
          </p:nvPr>
        </p:nvGraphicFramePr>
        <p:xfrm>
          <a:off x="928349" y="1597157"/>
          <a:ext cx="10296000" cy="45360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148000"/>
                <a:gridCol w="5148000"/>
              </a:tblGrid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0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0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940532" y="1628800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spcAft>
                <a:spcPts val="0"/>
              </a:spcAft>
            </a:pPr>
            <a:r>
              <a:rPr lang="ar-DZ" sz="3600" b="1" dirty="0" smtClean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تَــعَــدُّد الـخَــدَمَــات </a:t>
            </a:r>
          </a:p>
          <a:p>
            <a:pPr algn="ctr" rtl="1">
              <a:spcAft>
                <a:spcPts val="0"/>
              </a:spcAft>
            </a:pPr>
            <a:r>
              <a:rPr lang="ar-DZ" sz="3600" b="1" dirty="0" smtClean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وتَــنَــوُع </a:t>
            </a:r>
            <a:r>
              <a:rPr lang="ar-DZ" sz="3600" b="1" dirty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الـمـحـتـوى </a:t>
            </a:r>
            <a:endParaRPr lang="fr-FR" sz="3600" dirty="0">
              <a:solidFill>
                <a:srgbClr val="00000A"/>
              </a:solidFill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43708" y="3142694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3600" b="1" dirty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تَــعَــدُّد </a:t>
            </a:r>
            <a:r>
              <a:rPr lang="ar-DZ" sz="36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مــجـــالات الاســـتـــعــــمـــال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40532" y="4597203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3600" b="1" dirty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إلـغــاء الـحــواجـــز الـجــغــرافــيــة</a:t>
            </a:r>
            <a:endParaRPr lang="fr-FR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798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4" grpId="0" animBg="1"/>
      <p:bldP spid="16" grpId="0" animBg="1"/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(2. مُــمَــيِّـــزَات شــبــكــات الـتــواصــل الاجـــتــمـــاعــي )</a:t>
            </a:r>
            <a:endParaRPr lang="fr-FR" sz="4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472431"/>
              </p:ext>
            </p:extLst>
          </p:nvPr>
        </p:nvGraphicFramePr>
        <p:xfrm>
          <a:off x="928349" y="1597157"/>
          <a:ext cx="10296000" cy="45360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148000"/>
                <a:gridCol w="5148000"/>
              </a:tblGrid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0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0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096000" y="1628800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الــتَّــنَــوُع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40532" y="1628800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spcAft>
                <a:spcPts val="0"/>
              </a:spcAft>
            </a:pPr>
            <a:r>
              <a:rPr lang="ar-DZ" sz="3600" b="1" dirty="0" smtClean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تَــعَــدُّد الـخَــدَمَــات </a:t>
            </a:r>
          </a:p>
          <a:p>
            <a:pPr algn="ctr" rtl="1">
              <a:spcAft>
                <a:spcPts val="0"/>
              </a:spcAft>
            </a:pPr>
            <a:r>
              <a:rPr lang="ar-DZ" sz="3600" b="1" dirty="0" smtClean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وتَــنَــوُع </a:t>
            </a:r>
            <a:r>
              <a:rPr lang="ar-DZ" sz="3600" b="1" dirty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الـمـحـتـوى </a:t>
            </a:r>
            <a:endParaRPr lang="fr-FR" sz="3600" dirty="0">
              <a:solidFill>
                <a:srgbClr val="00000A"/>
              </a:solidFill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43708" y="3142694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3600" b="1" dirty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تَــعَــدُّد </a:t>
            </a:r>
            <a:r>
              <a:rPr lang="ar-DZ" sz="36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مــجـــالات الاســـتـــعــــمـــال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40532" y="4597203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3600" b="1" dirty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إلـغــاء الـحــواجـــز الـجــغــرافــيــة</a:t>
            </a:r>
            <a:endParaRPr lang="fr-FR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86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4" grpId="0" animBg="1"/>
      <p:bldP spid="16" grpId="0" animBg="1"/>
      <p:bldP spid="1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(2. مُــمَــيِّـــزَات شــبــكــات الـتــواصــل الاجـــتــمـــاعــي )</a:t>
            </a:r>
            <a:endParaRPr lang="fr-FR" sz="4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472431"/>
              </p:ext>
            </p:extLst>
          </p:nvPr>
        </p:nvGraphicFramePr>
        <p:xfrm>
          <a:off x="928349" y="1597157"/>
          <a:ext cx="10296000" cy="45360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148000"/>
                <a:gridCol w="5148000"/>
              </a:tblGrid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0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0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096000" y="1628800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الــتَّــنَــوُع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40532" y="1628800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spcAft>
                <a:spcPts val="0"/>
              </a:spcAft>
            </a:pPr>
            <a:r>
              <a:rPr lang="ar-DZ" sz="3600" b="1" dirty="0" smtClean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تَــعَــدُّد الـخَــدَمَــات </a:t>
            </a:r>
          </a:p>
          <a:p>
            <a:pPr algn="ctr" rtl="1">
              <a:spcAft>
                <a:spcPts val="0"/>
              </a:spcAft>
            </a:pPr>
            <a:r>
              <a:rPr lang="ar-DZ" sz="3600" b="1" dirty="0" smtClean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وتَــنَــوُع </a:t>
            </a:r>
            <a:r>
              <a:rPr lang="ar-DZ" sz="3600" b="1" dirty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الـمـحـتـوى </a:t>
            </a:r>
            <a:endParaRPr lang="fr-FR" sz="3600" dirty="0">
              <a:solidFill>
                <a:srgbClr val="00000A"/>
              </a:solidFill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096000" y="3156142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الـشــمـــولــيــة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43708" y="3142694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3600" b="1" dirty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تَــعَــدُّد </a:t>
            </a:r>
            <a:r>
              <a:rPr lang="ar-DZ" sz="36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مــجـــالات الاســـتـــعــــمـــال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40532" y="4597203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3600" b="1" dirty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إلـغــاء الـحــواجـــز الـجــغــرافــيــة</a:t>
            </a:r>
            <a:endParaRPr lang="fr-FR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096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4" grpId="0" animBg="1"/>
      <p:bldP spid="15" grpId="0" animBg="1"/>
      <p:bldP spid="16" grpId="0" animBg="1"/>
      <p:bldP spid="1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(2. مُــمَــيِّـــزَات شــبــكــات الـتــواصــل الاجـــتــمـــاعــي )</a:t>
            </a:r>
            <a:endParaRPr lang="fr-FR" sz="4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472431"/>
              </p:ext>
            </p:extLst>
          </p:nvPr>
        </p:nvGraphicFramePr>
        <p:xfrm>
          <a:off x="928349" y="1597157"/>
          <a:ext cx="10296000" cy="45360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148000"/>
                <a:gridCol w="5148000"/>
              </a:tblGrid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0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0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096000" y="1628800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الــتَّــنَــوُع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40532" y="1628800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spcAft>
                <a:spcPts val="0"/>
              </a:spcAft>
            </a:pPr>
            <a:r>
              <a:rPr lang="ar-DZ" sz="3600" b="1" dirty="0" smtClean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تَــعَــدُّد الـخَــدَمَــات </a:t>
            </a:r>
          </a:p>
          <a:p>
            <a:pPr algn="ctr" rtl="1">
              <a:spcAft>
                <a:spcPts val="0"/>
              </a:spcAft>
            </a:pPr>
            <a:r>
              <a:rPr lang="ar-DZ" sz="3600" b="1" dirty="0" smtClean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وتَــنَــوُع </a:t>
            </a:r>
            <a:r>
              <a:rPr lang="ar-DZ" sz="3600" b="1" dirty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الـمـحـتـوى </a:t>
            </a:r>
            <a:endParaRPr lang="fr-FR" sz="3600" dirty="0">
              <a:solidFill>
                <a:srgbClr val="00000A"/>
              </a:solidFill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096000" y="3156142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الـشــمـــولــيــة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43708" y="3142694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3600" b="1" dirty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تَــعَــدُّد </a:t>
            </a:r>
            <a:r>
              <a:rPr lang="ar-DZ" sz="36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مــجـــالات الاســـتـــعــــمـــال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092824" y="4610651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الـعـــالـــمـــيــة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40532" y="4597203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3600" b="1" dirty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إلـغــاء الـحــواجـــز الـجــغــرافــيــة</a:t>
            </a:r>
            <a:endParaRPr lang="fr-FR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29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ar-DZ" sz="4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ar-DZ" sz="4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تــقــيـــيـــم </a:t>
            </a:r>
            <a:r>
              <a:rPr lang="ar-DZ" sz="4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شــبــكــات الـتــواصــل الاجـــتــمـــاعــي :</a:t>
            </a:r>
            <a:endParaRPr lang="fr-FR" sz="46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4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 </a:t>
            </a:r>
            <a:r>
              <a:rPr lang="ar-DZ" sz="1000" b="1" dirty="0" smtClean="0">
                <a:cs typeface="+mj-cs"/>
              </a:rPr>
              <a:t>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اذْكُــرْ بَـعْــضَ الإيـجـابــيــات والـمَــنَــافِــع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الِّـتِي </a:t>
            </a:r>
            <a:r>
              <a:rPr lang="ar-DZ" sz="4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اسْــتَــفَـــدْتَـهـَـا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</a:t>
            </a:r>
            <a:r>
              <a:rPr lang="ar-DZ" sz="4400" b="1" dirty="0" smtClean="0"/>
              <a:t>شـــبــكــات الــتــواصــل الاجـــتـــمـــاعــي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4800" b="1" dirty="0" smtClean="0">
                <a:solidFill>
                  <a:srgbClr val="00B050"/>
                </a:solidFill>
              </a:rPr>
              <a:t>–  </a:t>
            </a:r>
            <a:r>
              <a:rPr lang="ar-DZ" sz="4100" b="1" dirty="0" smtClean="0">
                <a:solidFill>
                  <a:srgbClr val="00B050"/>
                </a:solidFill>
                <a:cs typeface="+mj-cs"/>
              </a:rPr>
              <a:t>إيـجــابــيــات </a:t>
            </a:r>
            <a:r>
              <a:rPr lang="ar-DZ" sz="4100" b="1" dirty="0">
                <a:solidFill>
                  <a:srgbClr val="00B050"/>
                </a:solidFill>
                <a:cs typeface="+mj-cs"/>
              </a:rPr>
              <a:t>شــبــكــات الـتــواصــل الاجـــتــمـــاعــي 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04679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(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إيـجــابــيــات شــبــكــات الـتــواصــل الاجـــتــمـــاعــي 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سَـــوَاءً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كَـانَ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مَــسْــمُــوعًــا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عَــلَـى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الأُخْــرِى و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الـتَـعَــرُّفِ عَــلَـى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وتَــبَــادُلِ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والأفــكــار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9190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(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إيـجــابــيــات شــبــكــات الـتــواصــل الاجـــتــمـــاعــي 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سَـــوَاءً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كَـانَ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مَــسْــمُــوعًــا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عَــلَـى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الأُخْــرِى و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الـتَـعَــرُّفِ عَــلَـى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وتَــبَــادُلِ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والأفــكــار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5879976" y="1514654"/>
            <a:ext cx="475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تــيــســـيــــر الـتــواصــل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06966" y="1514653"/>
            <a:ext cx="21109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كــتــابــيــا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385550" y="2428318"/>
            <a:ext cx="460851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مَــرْئِــيًــا 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.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..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.. </a:t>
            </a: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إلـخ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234119" y="3689517"/>
            <a:ext cx="254878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الا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ِ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ن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ْ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ف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ِـ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ـت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اح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96869" y="3689517"/>
            <a:ext cx="25208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الـشُـعُــوبِ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29301" y="4902863"/>
            <a:ext cx="279133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ثــقــافــات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ـهـم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869659" y="4907812"/>
            <a:ext cx="194390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الآراء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71902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(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إيـجــابــيــات شــبــكــات الـتــواصــل </a:t>
            </a:r>
            <a:r>
              <a:rPr lang="ar-DZ" sz="3600" b="1" dirty="0">
                <a:solidFill>
                  <a:srgbClr val="00B050"/>
                </a:solidFill>
              </a:rPr>
              <a:t>ــ تــابـع</a:t>
            </a:r>
            <a:r>
              <a:rPr lang="ar-DZ" sz="4000" b="1" dirty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تَــنْــمِــيَــةِ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مــن خــلال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بِـالـخُـــبَــرَاءِ والـمُــحْــتَــرِفِـــيــن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مــخــتــلــف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الــمــجـــالات وتَــبَــادُلِ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مَــعَــهُــمْ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309561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(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إيـجــابــيــات شــبــكــات الـتــواصــل </a:t>
            </a:r>
            <a:r>
              <a:rPr lang="ar-DZ" sz="3600" b="1" dirty="0">
                <a:solidFill>
                  <a:srgbClr val="00B050"/>
                </a:solidFill>
              </a:rPr>
              <a:t>ــ تــابـع</a:t>
            </a:r>
            <a:r>
              <a:rPr lang="ar-DZ" sz="4000" b="1" dirty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تَــنْــمِــيَــةِ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مــن خــلال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بِـالـخُـــبَــرَاءِ والـمُــحْــتَــرِفِـــيــن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مــخــتــلــف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الــمــجـــالات وتَــبَــادُلِ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مَــعَــهُــمْ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2999656" y="1523322"/>
            <a:ext cx="57606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ـقُ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ــدُرَات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 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و  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الـ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مَ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ــ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هَـ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ـ</a:t>
            </a:r>
            <a:r>
              <a:rPr lang="ar-SA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</a:rPr>
              <a:t>ارات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040216" y="2436024"/>
            <a:ext cx="280831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الاح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ْـ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ـت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ِـ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ـك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ـاك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559496" y="3328409"/>
            <a:ext cx="280831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الـخــبـــرا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2804" y="4261429"/>
            <a:ext cx="300313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الـمــعـــارف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35413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10" grpId="0" animBg="1"/>
      <p:bldP spid="11" grpId="0" animBg="1"/>
      <p:bldP spid="1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(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إيـجــابــيــات شــبــكــات الـتــواصــل </a:t>
            </a:r>
            <a:r>
              <a:rPr lang="ar-DZ" sz="3600" b="1" dirty="0">
                <a:solidFill>
                  <a:srgbClr val="00B050"/>
                </a:solidFill>
              </a:rPr>
              <a:t>ــ تــابـع</a:t>
            </a:r>
            <a:r>
              <a:rPr lang="ar-DZ" sz="4000" b="1" dirty="0">
                <a:solidFill>
                  <a:srgbClr val="00B05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تَــخَــطّـي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وإلــغـــاء جـــمـــيـــع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الإِدَارِيَـــة 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54034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(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إيـجــابــيــات شــبــكــات الـتــواصــل </a:t>
            </a:r>
            <a:r>
              <a:rPr lang="ar-DZ" sz="3600" b="1" dirty="0">
                <a:solidFill>
                  <a:srgbClr val="00B050"/>
                </a:solidFill>
              </a:rPr>
              <a:t>ــ تــابـع</a:t>
            </a:r>
            <a:r>
              <a:rPr lang="ar-DZ" sz="4000" b="1" dirty="0">
                <a:solidFill>
                  <a:srgbClr val="00B05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تَــخَــطّـي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وإلــغـــاء جـــمـــيـــع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الإِدَارِيَـــة 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5519937" y="2968369"/>
            <a:ext cx="532859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الـحـواجـــز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الـجــغـــرافــيـة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519937" y="1721676"/>
            <a:ext cx="280831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الــر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ق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ـــاب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ـــة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ِ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55440" y="2968368"/>
            <a:ext cx="280831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الـعَـ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رَاقِـــيــلِ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02274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تــقــيـــيـــم شــبــكــات الـتــواصــل الاجـــتــمـــاعــي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5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 </a:t>
            </a:r>
            <a:r>
              <a:rPr lang="ar-DZ" sz="1000" b="1" dirty="0" smtClean="0">
                <a:cs typeface="+mj-cs"/>
              </a:rPr>
              <a:t>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بَـــيِّــنْ بَــعْــضَ الـسِــلْـبِــيَــات الِّـتِي وَاجَــهَــتْــكَ عــنـد اســتــعــمــال </a:t>
            </a:r>
            <a:r>
              <a:rPr lang="ar-DZ" sz="4400" b="1" dirty="0">
                <a:solidFill>
                  <a:prstClr val="black"/>
                </a:solidFill>
              </a:rPr>
              <a:t>شـــبــكــات الــتــواصــل الاجـــتـــمـــاعــي </a:t>
            </a:r>
            <a:r>
              <a:rPr lang="ar-DZ" sz="44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.</a:t>
            </a:r>
            <a:endParaRPr lang="ar-DZ" sz="44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– </a:t>
            </a:r>
            <a:r>
              <a:rPr lang="ar-DZ" sz="4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ســلــبــيــات </a:t>
            </a:r>
            <a:r>
              <a:rPr lang="ar-DZ" sz="4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شــبــكــات الـتــواصــل الاجـــتــمـــاعــي </a:t>
            </a:r>
            <a:endParaRPr lang="fr-FR" sz="42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0926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.3 </a:t>
            </a:r>
            <a:r>
              <a:rPr lang="ar-DZ" sz="3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ســلــبــيــات </a:t>
            </a:r>
            <a:r>
              <a:rPr lang="ar-DZ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شــبــكــات الـتـواصـل الاجــتــمــاعــي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6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اِنْــتِــهَــاك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الّـذي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قــد يُــؤَدِي إلـى أَضْــرَارٍ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جَــسِــيــمَــةٍ</a:t>
            </a: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إِضَــاعَـــةُ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بَــيْــنَ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والـمــلــفــات وَبِــدُونِ فـــائـــدة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15705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.3 </a:t>
            </a:r>
            <a:r>
              <a:rPr lang="ar-DZ" sz="3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ســلــبــيــات </a:t>
            </a:r>
            <a:r>
              <a:rPr lang="ar-DZ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شــبــكــات الـتـواصـل الاجــتــمــاعــي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6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اِنْــتِــهَــاك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الّـذي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قــد يُــؤَدِي إلـى أَضْــرَارٍ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جَــسِــيــمَــةٍ</a:t>
            </a: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إِضَــاعَـــةُ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بَــيْــنَ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والـمــلــفــات وَبِــدُونِ فـــائـــدة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5519936" y="1591537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الـخُــصُـوصــيــة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01674" y="2590109"/>
            <a:ext cx="20162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م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اد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ِ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ي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ـة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ٍ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207568" y="3668741"/>
            <a:ext cx="284794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الــتَّـــنَــقُّـــل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99656" y="2610454"/>
            <a:ext cx="30963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م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ع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ْ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ـن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ـو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ِ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ي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َــ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ـة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ٍ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88088" y="3675260"/>
            <a:ext cx="213334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الـو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ق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ْ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ــت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ِ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824192" y="4579439"/>
            <a:ext cx="30243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الـصــفــحــات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41922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  <p:bldP spid="8" grpId="0" animBg="1"/>
      <p:bldP spid="11" grpId="0" animBg="1"/>
      <p:bldP spid="12" grpId="0" animBg="1"/>
      <p:bldP spid="1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.3 </a:t>
            </a:r>
            <a:r>
              <a:rPr lang="ar-DZ" sz="3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ســلــبــيــات شــبــكــات </a:t>
            </a:r>
            <a:r>
              <a:rPr lang="ar-DZ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الـتــواصــل ـــ  تـــابــع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كِــثْــرَة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والـمُــبَــالَــغَــة فـي نَــقْــلِ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بِـدُونِ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الـتَــبَــيُّــنِ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وَالـتَّـحَــقُــقِّ مِــنْـهَـا </a:t>
            </a:r>
          </a:p>
          <a:p>
            <a:pPr algn="just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الَّـذِي يُـهَــدِّدُ هَــوِيَــةَ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الأُمَــمِ ،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تُــرَاثَـهَـا الـثَــقَــافِـي واِنْــسِــجَــامـهـا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الاِجْـــتِــمَـــاعِــي 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198580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.3 </a:t>
            </a:r>
            <a:r>
              <a:rPr lang="ar-DZ" sz="3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ســلــبــيــات شــبــكــات </a:t>
            </a:r>
            <a:r>
              <a:rPr lang="ar-DZ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الـتــواصــل ـــ  تـــابــع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كِــثْــرَة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والـمُــبَــالَــغَــة فـي نَــقْــلِ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بِـدُونِ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الـتَــبَــيُّــنِ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وَالـتَّـحَــقُــقِّ مِــنْـهَـا </a:t>
            </a:r>
          </a:p>
          <a:p>
            <a:pPr algn="just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الَّـذِي يُـهَــدِّدُ هَــوِيَــةَ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الأُمَــمِ ،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تُــرَاثَـهَـا الـثَــقَــافِـي واِنْــسِــجَــامـهـا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الاِجْـــتِــمَـــاعِــي 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312024" y="1521775"/>
            <a:ext cx="29949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الإِش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ـــاع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ـــات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51984" y="3701896"/>
            <a:ext cx="46805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الـغَـــزْوُ الــثَـــقَـــافِـي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040216" y="2443813"/>
            <a:ext cx="27789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الأخـــبـــار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9201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  <p:bldP spid="1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 </a:t>
            </a:r>
            <a:r>
              <a:rPr lang="ar-DZ" sz="48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أخــلاقــيــات اسْــتِــعْـــمَـــال الإنْــتِــرْنِــت </a:t>
            </a:r>
            <a:r>
              <a:rPr lang="ar-DZ" sz="4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46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6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 </a:t>
            </a:r>
            <a:r>
              <a:rPr lang="ar-DZ" sz="1000" b="1" dirty="0" smtClean="0">
                <a:cs typeface="+mj-cs"/>
              </a:rPr>
              <a:t> 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عِــنْــدَ اسْــتِــعْـــمَـــال الإنْــتِــرْنِــت، مَــا هِـيَ الأَخْـــلَاقِـــيَـــات الَّـتِي يَــنْــبَــغِـي أَنْ نَــلْــتَــزِمَ بِـهَـا ؟ عَـــلِّــلْ إِجَـــابَــتَــكَ</a:t>
            </a:r>
            <a:r>
              <a:rPr lang="ar-DZ" sz="4400" b="1" dirty="0" smtClean="0"/>
              <a:t>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163505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 4. </a:t>
            </a:r>
            <a:r>
              <a:rPr lang="ar-DZ" sz="48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أخــلاقــيــات اسْــتِــعْـــمَـــال الإنْــتِــرْنِــت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endParaRPr lang="fr-FR" sz="4800" b="1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12568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tIns="0" bIns="0">
            <a:noAutofit/>
          </a:bodyPr>
          <a:lstStyle/>
          <a:p>
            <a:pPr algn="just" rtl="1">
              <a:buFont typeface="Wingdings" panose="05000000000000000000" pitchFamily="2" charset="2"/>
              <a:buChar char="§"/>
            </a:pPr>
            <a:endParaRPr lang="fr-FR" sz="6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25000"/>
              </a:lnSpc>
              <a:buNone/>
            </a:pPr>
            <a:r>
              <a:rPr lang="ar-SA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─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...................................................................................................................................................................................................................................................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؛</a:t>
            </a:r>
            <a:endParaRPr lang="fr-FR" sz="4000" b="1" dirty="0" smtClean="0">
              <a:solidFill>
                <a:srgbClr val="002060"/>
              </a:solidFill>
              <a:latin typeface="Times New Roman (En-têtes)"/>
              <a:cs typeface="+mj-cs"/>
            </a:endParaRPr>
          </a:p>
          <a:p>
            <a:pPr marL="0" indent="0" algn="just" rtl="1">
              <a:lnSpc>
                <a:spcPct val="125000"/>
              </a:lnSpc>
              <a:buNone/>
            </a:pPr>
            <a:r>
              <a:rPr lang="ar-SA" sz="4000" b="1" dirty="0">
                <a:solidFill>
                  <a:srgbClr val="002060"/>
                </a:solidFill>
                <a:latin typeface="Times New Roman (En-têtes)"/>
              </a:rPr>
              <a:t>─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...................................................................................................................................................................................................................................................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 (En-têtes)"/>
              </a:rPr>
              <a:t>؛</a:t>
            </a:r>
            <a:endParaRPr lang="fr-FR" sz="4000" b="1" dirty="0">
              <a:solidFill>
                <a:srgbClr val="002060"/>
              </a:solidFill>
              <a:latin typeface="Times New Roman (En-têtes)"/>
            </a:endParaRPr>
          </a:p>
          <a:p>
            <a:pPr marL="0" indent="0" algn="just" rtl="1">
              <a:lnSpc>
                <a:spcPct val="125000"/>
              </a:lnSpc>
              <a:buNone/>
            </a:pPr>
            <a:r>
              <a:rPr lang="ar-SA" sz="4000" b="1" dirty="0">
                <a:solidFill>
                  <a:srgbClr val="002060"/>
                </a:solidFill>
                <a:latin typeface="Times New Roman (En-têtes)"/>
              </a:rPr>
              <a:t>─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...................................................................................................................................................................................................................................................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 (En-têtes)"/>
              </a:rPr>
              <a:t>؛</a:t>
            </a:r>
            <a:endParaRPr lang="fr-FR" sz="4000" b="1" dirty="0">
              <a:solidFill>
                <a:srgbClr val="002060"/>
              </a:solidFill>
              <a:latin typeface="Times New Roman (En-têtes)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989662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 4. </a:t>
            </a:r>
            <a:r>
              <a:rPr lang="ar-DZ" sz="48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أخــلاقــيــات اسْــتِــعْـــمَـــال الإنْــتِــرْنِــت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endParaRPr lang="fr-FR" sz="4800" b="1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12568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tIns="0" bIns="0">
            <a:noAutofit/>
          </a:bodyPr>
          <a:lstStyle/>
          <a:p>
            <a:pPr algn="just" rtl="1">
              <a:buFont typeface="Wingdings" panose="05000000000000000000" pitchFamily="2" charset="2"/>
              <a:buChar char="§"/>
            </a:pPr>
            <a:endParaRPr lang="fr-FR" sz="6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25000"/>
              </a:lnSpc>
              <a:buNone/>
            </a:pPr>
            <a:r>
              <a:rPr lang="ar-SA" sz="4000" b="1" dirty="0">
                <a:solidFill>
                  <a:srgbClr val="002060"/>
                </a:solidFill>
                <a:latin typeface="Times New Roman (En-têtes)"/>
                <a:cs typeface="+mj-cs"/>
              </a:rPr>
              <a:t>─</a:t>
            </a:r>
            <a:r>
              <a:rPr lang="fr-FR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 </a:t>
            </a:r>
            <a:r>
              <a:rPr lang="ar-DZ" sz="40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الـحــفــاظ عـلـى الـصــحـة ( الـجــســديــة ، الــعـــقـــلــيــة والـنــفــســيــة ) :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تَـجَــنُــبُ الإِدْمَــانِ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عـلـى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الانــتــرنــت</a:t>
            </a:r>
            <a:r>
              <a:rPr lang="ar-DZ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 ؛</a:t>
            </a:r>
            <a:endParaRPr lang="fr-FR" sz="4000" b="1" dirty="0" smtClean="0">
              <a:solidFill>
                <a:srgbClr val="002060"/>
              </a:solidFill>
              <a:latin typeface="Times New Roman (En-têtes)"/>
              <a:cs typeface="+mj-cs"/>
            </a:endParaRPr>
          </a:p>
          <a:p>
            <a:pPr marL="0" indent="0" algn="just" rtl="1">
              <a:lnSpc>
                <a:spcPct val="125000"/>
              </a:lnSpc>
              <a:buNone/>
            </a:pPr>
            <a:r>
              <a:rPr lang="ar-SA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─</a:t>
            </a:r>
            <a:r>
              <a:rPr lang="fr-FR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 </a:t>
            </a:r>
            <a:r>
              <a:rPr lang="ar-DZ" sz="40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الـحــفــاظ عـلـى الـوقــت :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تـقـديــر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قــيــمـة الـوقــت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والـتَــنَــزُه عـن سَــفَــاسِــفِ الأمـور فالإنـتـرنـت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وَسِــيــلَــةٌ لَـيْـسَـتْ غَــايَــةً </a:t>
            </a:r>
            <a:r>
              <a:rPr lang="ar-DZ" sz="4000" b="1" dirty="0">
                <a:solidFill>
                  <a:srgbClr val="002060"/>
                </a:solidFill>
                <a:latin typeface="Times New Roman (En-têtes)"/>
              </a:rPr>
              <a:t>؛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25000"/>
              </a:lnSpc>
              <a:buNone/>
            </a:pPr>
            <a:r>
              <a:rPr lang="ar-SA" sz="4000" b="1" dirty="0">
                <a:solidFill>
                  <a:srgbClr val="002060"/>
                </a:solidFill>
                <a:latin typeface="Times New Roman (En-têtes)"/>
              </a:rPr>
              <a:t>─</a:t>
            </a:r>
            <a:r>
              <a:rPr lang="fr-FR" sz="4000" b="1" dirty="0">
                <a:solidFill>
                  <a:srgbClr val="002060"/>
                </a:solidFill>
                <a:latin typeface="Times New Roman (En-têtes)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الالــتــزام </a:t>
            </a:r>
            <a:r>
              <a:rPr lang="ar-DZ" sz="40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بـالـواجــبــات </a:t>
            </a:r>
            <a:r>
              <a:rPr lang="ar-DZ" sz="40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الأســـاســيــة ( </a:t>
            </a:r>
            <a:r>
              <a:rPr lang="ar-DZ" sz="40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الــدراســـيــة</a:t>
            </a:r>
            <a:r>
              <a:rPr lang="ar-DZ" sz="40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، الـمـهــنــيــة</a:t>
            </a:r>
            <a:r>
              <a:rPr lang="ar-DZ" sz="40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... )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: عـــدم الإخــلال بـهـا أو الـتَــنَّـصُـلِ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مــنْـهـا </a:t>
            </a:r>
            <a:r>
              <a:rPr lang="ar-DZ" sz="4000" b="1" dirty="0">
                <a:solidFill>
                  <a:srgbClr val="002060"/>
                </a:solidFill>
                <a:latin typeface="Times New Roman (En-têtes)"/>
              </a:rPr>
              <a:t>؛</a:t>
            </a:r>
            <a:endParaRPr lang="ar-DZ" sz="4000" b="1" dirty="0" smtClean="0">
              <a:solidFill>
                <a:srgbClr val="002060"/>
              </a:solidFill>
              <a:latin typeface="Times New Roman (En-têtes)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27703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4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0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أخــلاقــيــات </a:t>
            </a:r>
            <a:r>
              <a:rPr lang="ar-DZ" sz="40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اسْــتِـعْــمَــال الإنْــتِــرْنِــت ــ  تــابـع</a:t>
            </a:r>
            <a:r>
              <a:rPr lang="ar-DZ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fr-FR" sz="4800" b="1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12568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tIns="0" bIns="0">
            <a:noAutofit/>
          </a:bodyPr>
          <a:lstStyle/>
          <a:p>
            <a:pPr algn="just" rtl="1">
              <a:buFont typeface="Wingdings" panose="05000000000000000000" pitchFamily="2" charset="2"/>
              <a:buChar char="§"/>
            </a:pPr>
            <a:endParaRPr lang="fr-FR" sz="6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25000"/>
              </a:lnSpc>
              <a:buNone/>
            </a:pPr>
            <a:r>
              <a:rPr lang="ar-SA" sz="4000" b="1" dirty="0">
                <a:solidFill>
                  <a:srgbClr val="002060"/>
                </a:solidFill>
                <a:latin typeface="Times New Roman (En-têtes)"/>
              </a:rPr>
              <a:t>─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...................................................................................................................................................................................................................................................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 (En-têtes)"/>
              </a:rPr>
              <a:t>؛</a:t>
            </a:r>
            <a:endParaRPr lang="fr-FR" sz="4000" b="1" dirty="0">
              <a:solidFill>
                <a:srgbClr val="002060"/>
              </a:solidFill>
              <a:latin typeface="Times New Roman (En-têtes)"/>
            </a:endParaRPr>
          </a:p>
          <a:p>
            <a:pPr marL="0" indent="0" algn="just" rtl="1">
              <a:lnSpc>
                <a:spcPct val="125000"/>
              </a:lnSpc>
              <a:buNone/>
            </a:pPr>
            <a:r>
              <a:rPr lang="ar-SA" sz="4000" b="1" dirty="0">
                <a:solidFill>
                  <a:srgbClr val="002060"/>
                </a:solidFill>
                <a:latin typeface="Times New Roman (En-têtes)"/>
              </a:rPr>
              <a:t>─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...................................................................................................................................................................................................................................................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 (En-têtes)"/>
              </a:rPr>
              <a:t>؛</a:t>
            </a:r>
            <a:endParaRPr lang="fr-FR" sz="4000" b="1" dirty="0">
              <a:solidFill>
                <a:srgbClr val="002060"/>
              </a:solidFill>
              <a:latin typeface="Times New Roman (En-têtes)"/>
            </a:endParaRPr>
          </a:p>
          <a:p>
            <a:pPr marL="0" indent="0" algn="just" rtl="1">
              <a:lnSpc>
                <a:spcPct val="125000"/>
              </a:lnSpc>
              <a:buNone/>
            </a:pPr>
            <a:r>
              <a:rPr lang="ar-SA" sz="4000" b="1" dirty="0">
                <a:solidFill>
                  <a:srgbClr val="002060"/>
                </a:solidFill>
                <a:latin typeface="Times New Roman (En-têtes)"/>
              </a:rPr>
              <a:t>─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...................................................................................................................................................................................................................................................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>
              <a:solidFill>
                <a:srgbClr val="002060"/>
              </a:solidFill>
              <a:latin typeface="Times New Roman (En-têtes)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144251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4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0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أخــلاقــيــات </a:t>
            </a:r>
            <a:r>
              <a:rPr lang="ar-DZ" sz="40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اسْــتِـعْــمَــال الإنْــتِــرْنِــت ــ  تــابـع</a:t>
            </a:r>
            <a:r>
              <a:rPr lang="ar-DZ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fr-FR" sz="4800" b="1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12568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tIns="0" bIns="0">
            <a:noAutofit/>
          </a:bodyPr>
          <a:lstStyle/>
          <a:p>
            <a:pPr algn="just" rtl="1">
              <a:buFont typeface="Wingdings" panose="05000000000000000000" pitchFamily="2" charset="2"/>
              <a:buChar char="§"/>
            </a:pPr>
            <a:endParaRPr lang="fr-FR" sz="6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SA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─</a:t>
            </a:r>
            <a:r>
              <a:rPr lang="ar-DZ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الــتَّــحَــلِّـي </a:t>
            </a:r>
            <a:r>
              <a:rPr lang="ar-DZ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بـالـصــدق :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الــتَّــحَــقُــقِ مــن صــحــة الــمــعــلــومـــات فــلــيــس كــل مــا يُــنْــشَــرُ صــحـــيـح وصــادق</a:t>
            </a:r>
            <a:endParaRPr lang="ar-DZ" sz="4000" b="1" dirty="0" smtClean="0">
              <a:solidFill>
                <a:srgbClr val="002060"/>
              </a:solidFill>
              <a:latin typeface="Times New Roman (En-têtes)"/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SA" sz="4000" b="1" dirty="0">
                <a:solidFill>
                  <a:srgbClr val="002060"/>
                </a:solidFill>
                <a:latin typeface="Times New Roman (En-têtes)"/>
                <a:cs typeface="+mj-cs"/>
              </a:rPr>
              <a:t>─ 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الــتَّــحَــلِّـي </a:t>
            </a:r>
            <a:r>
              <a:rPr lang="ar-DZ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بـالأمـــانـــة :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عـــدم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اِنْــتِــحَــال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شــخــصــيــة إنــســان آخــر، وعـــدم الـتــجــســس أو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الـتَّــنَــمُــرِ عــلــيــه ؛</a:t>
            </a:r>
            <a:r>
              <a:rPr lang="ar-DZ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 (En-têtes)"/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SA" sz="4000" b="1" dirty="0">
                <a:solidFill>
                  <a:srgbClr val="002060"/>
                </a:solidFill>
                <a:latin typeface="Times New Roman (En-têtes)"/>
                <a:cs typeface="+mj-cs"/>
              </a:rPr>
              <a:t>─ </a:t>
            </a:r>
            <a:r>
              <a:rPr lang="ar-DZ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مــعــامــلــة الـغــيــر كــمــا تُــحِــبُ أَنْ تُــعَــامَــلَ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الـحــفــاظ عــلـى كـــرامـــتــه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واِحْـــتَـــرام خـــصـــوصـــيـــتـــه  </a:t>
            </a:r>
            <a:r>
              <a:rPr lang="ar-DZ" sz="4000" b="1" dirty="0" smtClean="0">
                <a:solidFill>
                  <a:srgbClr val="00B0F0"/>
                </a:solidFill>
                <a:latin typeface="Times New Roman (En-têtes)"/>
                <a:cs typeface="+mj-cs"/>
              </a:rPr>
              <a:t>بــحــيــث</a:t>
            </a:r>
            <a:endParaRPr lang="fr-FR" sz="4000" dirty="0">
              <a:solidFill>
                <a:srgbClr val="00B0F0"/>
              </a:solidFill>
              <a:latin typeface="Times New Roman (En-têtes)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607338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4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0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أخــلاقــيــات اسْــتِـعْــمَــال الإنْــتِــرْنِــت ــ  تــابـع</a:t>
            </a:r>
            <a:r>
              <a:rPr lang="ar-DZ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fr-FR" sz="4800" b="1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12568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tIns="0" bIns="0">
            <a:noAutofit/>
          </a:bodyPr>
          <a:lstStyle/>
          <a:p>
            <a:pPr algn="just" rtl="1">
              <a:buFont typeface="Wingdings" panose="05000000000000000000" pitchFamily="2" charset="2"/>
              <a:buChar char="§"/>
            </a:pPr>
            <a:endParaRPr lang="ar-DZ" sz="6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buFont typeface="Wingdings" panose="05000000000000000000" pitchFamily="2" charset="2"/>
              <a:buChar char="§"/>
            </a:pPr>
            <a:endParaRPr lang="ar-DZ" sz="600" b="1" dirty="0">
              <a:solidFill>
                <a:srgbClr val="002060"/>
              </a:solidFill>
              <a:cs typeface="+mj-cs"/>
            </a:endParaRPr>
          </a:p>
          <a:p>
            <a:pPr algn="just" rtl="1">
              <a:buFont typeface="Wingdings" panose="05000000000000000000" pitchFamily="2" charset="2"/>
              <a:buChar char="§"/>
            </a:pPr>
            <a:endParaRPr lang="fr-FR" sz="6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25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...................................................................................................................................................................................................................................................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 (En-têtes)"/>
              </a:rPr>
              <a:t>؛</a:t>
            </a:r>
            <a:endParaRPr lang="fr-FR" sz="4000" b="1" dirty="0">
              <a:solidFill>
                <a:srgbClr val="002060"/>
              </a:solidFill>
              <a:latin typeface="Times New Roman (En-têtes)"/>
            </a:endParaRPr>
          </a:p>
          <a:p>
            <a:pPr marL="0" indent="0" algn="just" rtl="1">
              <a:lnSpc>
                <a:spcPct val="125000"/>
              </a:lnSpc>
              <a:buNone/>
            </a:pPr>
            <a:r>
              <a:rPr lang="ar-SA" sz="4000" b="1" dirty="0">
                <a:solidFill>
                  <a:srgbClr val="002060"/>
                </a:solidFill>
                <a:latin typeface="Times New Roman (En-têtes)"/>
              </a:rPr>
              <a:t>─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...................................................................................................................................................................................................................................................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 (En-têtes)"/>
              </a:rPr>
              <a:t>؛</a:t>
            </a:r>
            <a:endParaRPr lang="fr-FR" sz="4000" b="1" dirty="0">
              <a:solidFill>
                <a:srgbClr val="002060"/>
              </a:solidFill>
              <a:latin typeface="Times New Roman (En-têtes)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575652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4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0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أخــلاقــيــات اسْــتِـعْــمَــال الإنْــتِــرْنِــت ــ  تــابـع</a:t>
            </a:r>
            <a:r>
              <a:rPr lang="ar-DZ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fr-FR" sz="4800" b="1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12568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tIns="0" bIns="0">
            <a:noAutofit/>
          </a:bodyPr>
          <a:lstStyle/>
          <a:p>
            <a:pPr algn="just" rtl="1">
              <a:buFont typeface="Wingdings" panose="05000000000000000000" pitchFamily="2" charset="2"/>
              <a:buChar char="§"/>
            </a:pPr>
            <a:endParaRPr lang="ar-DZ" sz="6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buFont typeface="Wingdings" panose="05000000000000000000" pitchFamily="2" charset="2"/>
              <a:buChar char="§"/>
            </a:pPr>
            <a:endParaRPr lang="ar-DZ" sz="600" b="1" dirty="0">
              <a:solidFill>
                <a:srgbClr val="002060"/>
              </a:solidFill>
              <a:cs typeface="+mj-cs"/>
            </a:endParaRPr>
          </a:p>
          <a:p>
            <a:pPr algn="just" rtl="1">
              <a:buFont typeface="Wingdings" panose="05000000000000000000" pitchFamily="2" charset="2"/>
              <a:buChar char="§"/>
            </a:pPr>
            <a:endParaRPr lang="fr-FR" sz="6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B0F0"/>
                </a:solidFill>
                <a:latin typeface="Times New Roman (En-têtes)"/>
              </a:rPr>
              <a:t>بــحــيــث </a:t>
            </a:r>
            <a:r>
              <a:rPr lang="ar-DZ" sz="40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"</a:t>
            </a:r>
            <a:r>
              <a:rPr lang="ar-DZ" sz="4000" b="1" dirty="0" smtClean="0">
                <a:solidFill>
                  <a:srgbClr val="FF0000"/>
                </a:solidFill>
                <a:latin typeface="Times New Roman (En-têtes)"/>
              </a:rPr>
              <a:t> مَــا </a:t>
            </a:r>
            <a:r>
              <a:rPr lang="ar-DZ" sz="4000" b="1" dirty="0">
                <a:solidFill>
                  <a:srgbClr val="FF0000"/>
                </a:solidFill>
                <a:latin typeface="Times New Roman (En-têtes)"/>
              </a:rPr>
              <a:t>لَا </a:t>
            </a:r>
            <a:r>
              <a:rPr lang="ar-DZ" sz="4000" b="1" dirty="0" err="1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تَــرْضَــاهُ</a:t>
            </a:r>
            <a:r>
              <a:rPr lang="ar-DZ" sz="40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لـِـنَــفْـــسِــكَ لَا </a:t>
            </a:r>
            <a:r>
              <a:rPr lang="ar-DZ" sz="40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تُــؤْذِ </a:t>
            </a:r>
            <a:r>
              <a:rPr lang="ar-DZ" sz="40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بِــهِ غَــيْــرَكَ </a:t>
            </a:r>
            <a:r>
              <a:rPr lang="ar-DZ" sz="40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:  فَـكَــمَــا تَــدِيــنُ تُــدَانُ </a:t>
            </a:r>
            <a:r>
              <a:rPr lang="ar-DZ" sz="40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" </a:t>
            </a:r>
            <a:endParaRPr lang="ar-DZ" sz="4000" b="1" dirty="0" smtClean="0">
              <a:solidFill>
                <a:srgbClr val="FF0000"/>
              </a:solidFill>
              <a:latin typeface="Times New Roman (En-têtes)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─ </a:t>
            </a:r>
            <a:r>
              <a:rPr lang="ar-DZ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الـتَّــحَــلِّـي بـالــوَعْــي 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والـفِــطْــنَــةَ </a:t>
            </a:r>
            <a:r>
              <a:rPr lang="ar-DZ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إِدْرَاكُ </a:t>
            </a:r>
            <a:r>
              <a:rPr lang="ar-DZ" sz="40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الـمَــخَــاطِــر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ومَــعْــرِفَـــةُ </a:t>
            </a:r>
            <a:r>
              <a:rPr lang="ar-DZ" sz="40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الـحُــلُــولِ الــمُــمْــكِــنَــة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لِــتَــفَـــادِيــهَـا </a:t>
            </a:r>
            <a:r>
              <a:rPr lang="ar-DZ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.</a:t>
            </a:r>
            <a:endParaRPr lang="fr-FR" sz="4000" b="1" dirty="0" smtClean="0">
              <a:solidFill>
                <a:srgbClr val="002060"/>
              </a:solidFill>
              <a:latin typeface="Times New Roman (En-têtes)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43983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واجــب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مــنــزلـي :</a:t>
            </a:r>
            <a:endParaRPr lang="fr-FR" sz="4800" b="1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12568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tIns="0" bIns="0">
            <a:noAutofit/>
          </a:bodyPr>
          <a:lstStyle/>
          <a:p>
            <a:pPr algn="just" rtl="1">
              <a:buFont typeface="Wingdings" panose="05000000000000000000" pitchFamily="2" charset="2"/>
              <a:buChar char="§"/>
            </a:pPr>
            <a:endParaRPr lang="fr-FR" sz="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35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35000"/>
              </a:lnSpc>
              <a:buNone/>
            </a:pPr>
            <a:r>
              <a:rPr lang="ar-DZ" sz="48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أَنْـجِــزْ مَــشْـــرُوعًـــا تُــبْــرِزُ فِــيــهِ جَــلِــيًّــا </a:t>
            </a:r>
            <a:r>
              <a:rPr lang="ar-DZ" sz="4800" b="1" dirty="0">
                <a:solidFill>
                  <a:srgbClr val="FF000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مَــخَــاطِــرَ</a:t>
            </a:r>
            <a:r>
              <a:rPr lang="ar-DZ" sz="48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شَــبَــكَــاتِ الـتَّــوَاصُــلِ الاجْـــتِـــمَـــاعِــي مَـعَ </a:t>
            </a:r>
            <a:r>
              <a:rPr lang="ar-DZ" sz="4800" b="1" dirty="0"/>
              <a:t>اِقْـــتِـــرَاحِ </a:t>
            </a:r>
            <a:r>
              <a:rPr lang="ar-DZ" sz="4800" b="1" dirty="0" smtClean="0">
                <a:solidFill>
                  <a:srgbClr val="FF000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الـحُــلُــولِ </a:t>
            </a:r>
            <a:r>
              <a:rPr lang="ar-DZ" sz="4800" b="1" dirty="0">
                <a:solidFill>
                  <a:srgbClr val="FF000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الــمُــمْــكِــنَــة</a:t>
            </a:r>
            <a:r>
              <a:rPr lang="ar-DZ" sz="48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لِــتَــفَـــادِيــهَـا </a:t>
            </a:r>
            <a:r>
              <a:rPr lang="ar-DZ" sz="48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</a:t>
            </a:r>
            <a:r>
              <a:rPr lang="ar-DZ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12/04/2025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4954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39214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12/04/2025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938770" y="2012966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شـــكـــــــــــرا لـــكــم</a:t>
            </a:r>
          </a:p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بالـتـوفـيـق للـجــمـيـع</a:t>
            </a:r>
            <a:endParaRPr lang="ar-SA" altLang="zh-CN" sz="6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 rtl="1"/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78885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èle par défaut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èle par défaut">
      <a:majorFont>
        <a:latin typeface="Times New Roman"/>
        <a:ea typeface="SimSun"/>
        <a:cs typeface=""/>
      </a:majorFont>
      <a:minorFont>
        <a:latin typeface="Times New Roman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28529</TotalTime>
  <Words>1600</Words>
  <Application>Microsoft Office PowerPoint</Application>
  <PresentationFormat>Grand écran</PresentationFormat>
  <Paragraphs>360</Paragraphs>
  <Slides>48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48</vt:i4>
      </vt:variant>
    </vt:vector>
  </HeadingPairs>
  <TitlesOfParts>
    <vt:vector size="60" baseType="lpstr">
      <vt:lpstr>Arial Unicode MS</vt:lpstr>
      <vt:lpstr>SimSun</vt:lpstr>
      <vt:lpstr>Arial</vt:lpstr>
      <vt:lpstr>Calibri</vt:lpstr>
      <vt:lpstr>Droid Sans Fallback</vt:lpstr>
      <vt:lpstr>FreeSans</vt:lpstr>
      <vt:lpstr>Liberation Serif</vt:lpstr>
      <vt:lpstr>Times New Roman</vt:lpstr>
      <vt:lpstr>Times New Roman (En-têtes)</vt:lpstr>
      <vt:lpstr>Wingdings</vt:lpstr>
      <vt:lpstr>Thème Office</vt:lpstr>
      <vt:lpstr>Modèle par défaut</vt:lpstr>
      <vt:lpstr>Présentation PowerPoint</vt:lpstr>
      <vt:lpstr>Présentation PowerPoint</vt:lpstr>
      <vt:lpstr>الإشــكــالــيــة :</vt:lpstr>
      <vt:lpstr>الإجــابــة  :</vt:lpstr>
      <vt:lpstr>الإجــابــة  :</vt:lpstr>
      <vt:lpstr>Présentation PowerPoint</vt:lpstr>
      <vt:lpstr>Présentation PowerPoint</vt:lpstr>
      <vt:lpstr>1) شـــبـــكـــات الــتـــواصــل الاجــــتــــمــــاعــي :</vt:lpstr>
      <vt:lpstr>أتـذكـر ( 1.1  تـعــريــف شــبــكــات الـتــواصــل الاجــتــمــاعــي )</vt:lpstr>
      <vt:lpstr>أتـذكـر ( 1.1  تـعــريــف شــبــكــات الـتــواصــل الاجــتــمــاعــي )</vt:lpstr>
      <vt:lpstr>أتـذكـر ( 1.1  تـعــريــف شــبــكــات الـتــواصــل الاجــتــمــاعــي )</vt:lpstr>
      <vt:lpstr>أتـذكـر ( 1.1  تـعــريــف شــبــكــات الـتــواصــل الاجــتــمــاعــي )</vt:lpstr>
      <vt:lpstr>أتـذكـر ( 1.1  تـعــريــف شــبــكــات الـتــواصــل الاجــتــمــاعــي )</vt:lpstr>
      <vt:lpstr>أتـذكـر ( 1.1  تـعــريــف شــبــكــات الـتــواصــل الاجــتــمــاعــي )</vt:lpstr>
      <vt:lpstr>1) شـــبـــكـــات الــتـــواصــل الاجــــتــــمــــاعــي :</vt:lpstr>
      <vt:lpstr>1) شـــبـــكـــات الــتـــواصــل الاجــــتــــمــــاعــي :</vt:lpstr>
      <vt:lpstr>أتـذكـر ( 2.1 شــبـكـات الـتـواصـل الاجــتــمـاعــي الـشـهــيــرة )</vt:lpstr>
      <vt:lpstr>أتـذكـر ( 2.1 شــبـكـات الـتـواصـل الاجــتــمـاعــي الـشـهــيــرة )</vt:lpstr>
      <vt:lpstr>2) مُــمَــيِّـــزَات شــبــكــات الـتــواصــل الاجـــتــمـــاعــي :</vt:lpstr>
      <vt:lpstr>أتـذكـر (2. مُــمَــيِّـــزَات شــبــكــات الـتــواصــل الاجـــتــمـــاعــي )</vt:lpstr>
      <vt:lpstr>أتـذكـر (2. مُــمَــيِّـــزَات شــبــكــات الـتــواصــل الاجـــتــمـــاعــي )</vt:lpstr>
      <vt:lpstr>أتـذكـر (2. مُــمَــيِّـــزَات شــبــكــات الـتــواصــل الاجـــتــمـــاعــي )</vt:lpstr>
      <vt:lpstr>أتـذكـر (2. مُــمَــيِّـــزَات شــبــكــات الـتــواصــل الاجـــتــمـــاعــي )</vt:lpstr>
      <vt:lpstr>أتـذكـر (2. مُــمَــيِّـــزَات شــبــكــات الـتــواصــل الاجـــتــمـــاعــي )</vt:lpstr>
      <vt:lpstr>أتـذكـر (2. مُــمَــيِّـــزَات شــبــكــات الـتــواصــل الاجـــتــمـــاعــي )</vt:lpstr>
      <vt:lpstr>أتـذكـر (2. مُــمَــيِّـــزَات شــبــكــات الـتــواصــل الاجـــتــمـــاعــي )</vt:lpstr>
      <vt:lpstr>أتـذكـر (2. مُــمَــيِّـــزَات شــبــكــات الـتــواصــل الاجـــتــمـــاعــي )</vt:lpstr>
      <vt:lpstr>3) تــقــيـــيـــم شــبــكــات الـتــواصــل الاجـــتــمـــاعــي :</vt:lpstr>
      <vt:lpstr>أتـذكـر ( 1.3 إيـجــابــيــات شــبــكــات الـتــواصــل الاجـــتــمـــاعــي )</vt:lpstr>
      <vt:lpstr>أتـذكـر ( 1.3 إيـجــابــيــات شــبــكــات الـتــواصــل الاجـــتــمـــاعــي )</vt:lpstr>
      <vt:lpstr>أتـذكـر ( 1.3 إيـجــابــيــات شــبــكــات الـتــواصــل ــ تــابـع )</vt:lpstr>
      <vt:lpstr>أتـذكـر ( 1.3 إيـجــابــيــات شــبــكــات الـتــواصــل ــ تــابـع )</vt:lpstr>
      <vt:lpstr>أتـذكـر ( 1.3 إيـجــابــيــات شــبــكــات الـتــواصــل ــ تــابـع )</vt:lpstr>
      <vt:lpstr>أتـذكـر ( 1.3 إيـجــابــيــات شــبــكــات الـتــواصــل ــ تــابـع )</vt:lpstr>
      <vt:lpstr>3) تــقــيـــيـــم شــبــكــات الـتــواصــل الاجـــتــمـــاعــي :</vt:lpstr>
      <vt:lpstr>أتـذكـر ( 2.3 ســلــبــيــات شــبــكــات الـتـواصـل الاجــتــمــاعــي )</vt:lpstr>
      <vt:lpstr>أتـذكـر ( 2.3 ســلــبــيــات شــبــكــات الـتـواصـل الاجــتــمــاعــي )</vt:lpstr>
      <vt:lpstr>أتـذكـر ( 2.3 ســلــبــيــات شــبــكــات الـتــواصــل ـــ  تـــابــع )</vt:lpstr>
      <vt:lpstr>أتـذكـر ( 2.3 ســلــبــيــات شــبــكــات الـتــواصــل ـــ  تـــابــع )</vt:lpstr>
      <vt:lpstr>4) أخــلاقــيــات اسْــتِــعْـــمَـــال الإنْــتِــرْنِــت :</vt:lpstr>
      <vt:lpstr>أتـذكـر (  4. أخــلاقــيــات اسْــتِــعْـــمَـــال الإنْــتِــرْنِــت ) </vt:lpstr>
      <vt:lpstr>أتـذكـر (  4. أخــلاقــيــات اسْــتِــعْـــمَـــال الإنْــتِــرْنِــت ) </vt:lpstr>
      <vt:lpstr>أتـذكـر (  4. أخــلاقــيــات اسْــتِـعْــمَــال الإنْــتِــرْنِــت ــ  تــابـع ) </vt:lpstr>
      <vt:lpstr>أتـذكـر (  4. أخــلاقــيــات اسْــتِـعْــمَــال الإنْــتِــرْنِــت ــ  تــابـع ) </vt:lpstr>
      <vt:lpstr>أتـذكـر (  4. أخــلاقــيــات اسْــتِـعْــمَــال الإنْــتِــرْنِــت ــ  تــابـع ) </vt:lpstr>
      <vt:lpstr>أتـذكـر (  4. أخــلاقــيــات اسْــتِـعْــمَــال الإنْــتِــرْنِــت ــ  تــابـع ) </vt:lpstr>
      <vt:lpstr>واجــب مــنــزلـي :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Shm</dc:creator>
  <cp:lastModifiedBy>Dual</cp:lastModifiedBy>
  <cp:revision>992</cp:revision>
  <dcterms:created xsi:type="dcterms:W3CDTF">2015-11-30T21:00:22Z</dcterms:created>
  <dcterms:modified xsi:type="dcterms:W3CDTF">2025-04-12T13:12:42Z</dcterms:modified>
</cp:coreProperties>
</file>