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0"/>
  </p:notesMasterIdLst>
  <p:sldIdLst>
    <p:sldId id="387" r:id="rId3"/>
    <p:sldId id="388" r:id="rId4"/>
    <p:sldId id="389" r:id="rId5"/>
    <p:sldId id="293" r:id="rId6"/>
    <p:sldId id="391" r:id="rId7"/>
    <p:sldId id="483" r:id="rId8"/>
    <p:sldId id="392" r:id="rId9"/>
    <p:sldId id="396" r:id="rId10"/>
    <p:sldId id="397" r:id="rId11"/>
    <p:sldId id="401" r:id="rId12"/>
    <p:sldId id="403" r:id="rId13"/>
    <p:sldId id="406" r:id="rId14"/>
    <p:sldId id="405" r:id="rId15"/>
    <p:sldId id="404" r:id="rId16"/>
    <p:sldId id="407" r:id="rId17"/>
    <p:sldId id="429" r:id="rId18"/>
    <p:sldId id="410" r:id="rId19"/>
    <p:sldId id="411" r:id="rId20"/>
    <p:sldId id="461" r:id="rId21"/>
    <p:sldId id="414" r:id="rId22"/>
    <p:sldId id="415" r:id="rId23"/>
    <p:sldId id="418" r:id="rId24"/>
    <p:sldId id="466" r:id="rId25"/>
    <p:sldId id="482" r:id="rId26"/>
    <p:sldId id="462" r:id="rId27"/>
    <p:sldId id="463" r:id="rId28"/>
    <p:sldId id="420" r:id="rId29"/>
    <p:sldId id="481" r:id="rId30"/>
    <p:sldId id="480" r:id="rId31"/>
    <p:sldId id="479" r:id="rId32"/>
    <p:sldId id="478" r:id="rId33"/>
    <p:sldId id="416" r:id="rId34"/>
    <p:sldId id="467" r:id="rId35"/>
    <p:sldId id="428" r:id="rId36"/>
    <p:sldId id="427" r:id="rId37"/>
    <p:sldId id="426" r:id="rId38"/>
    <p:sldId id="468" r:id="rId39"/>
    <p:sldId id="425" r:id="rId40"/>
    <p:sldId id="424" r:id="rId41"/>
    <p:sldId id="430" r:id="rId42"/>
    <p:sldId id="431" r:id="rId43"/>
    <p:sldId id="460" r:id="rId44"/>
    <p:sldId id="434" r:id="rId45"/>
    <p:sldId id="459" r:id="rId46"/>
    <p:sldId id="458" r:id="rId47"/>
    <p:sldId id="457" r:id="rId48"/>
    <p:sldId id="435" r:id="rId49"/>
    <p:sldId id="456" r:id="rId50"/>
    <p:sldId id="455" r:id="rId51"/>
    <p:sldId id="436" r:id="rId52"/>
    <p:sldId id="454" r:id="rId53"/>
    <p:sldId id="453" r:id="rId54"/>
    <p:sldId id="452" r:id="rId55"/>
    <p:sldId id="437" r:id="rId56"/>
    <p:sldId id="476" r:id="rId57"/>
    <p:sldId id="475" r:id="rId58"/>
    <p:sldId id="447" r:id="rId59"/>
    <p:sldId id="474" r:id="rId60"/>
    <p:sldId id="473" r:id="rId61"/>
    <p:sldId id="477" r:id="rId62"/>
    <p:sldId id="438" r:id="rId63"/>
    <p:sldId id="443" r:id="rId64"/>
    <p:sldId id="471" r:id="rId65"/>
    <p:sldId id="469" r:id="rId66"/>
    <p:sldId id="440" r:id="rId67"/>
    <p:sldId id="441" r:id="rId68"/>
    <p:sldId id="451" r:id="rId6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2" autoAdjust="0"/>
    <p:restoredTop sz="92819" autoAdjust="0"/>
  </p:normalViewPr>
  <p:slideViewPr>
    <p:cSldViewPr>
      <p:cViewPr varScale="1">
        <p:scale>
          <a:sx n="65" d="100"/>
          <a:sy n="65" d="100"/>
        </p:scale>
        <p:origin x="72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08/03/2025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789216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46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9509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0262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74508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08/03/2025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08/03/2025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08/03/2025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08/03/2025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08/03/2025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08/03/2025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08/03/2025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08/03/2025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08/03/2025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08/03/2025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08/03/2025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08/03/2025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08/03/2025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08/03/2025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08/03/2025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08/03/2025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08/03/2025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08/03/2025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08/03/2025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08/03/2025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08/03/2025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08/03/2025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08/03/2025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08/03/2025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08/03/2025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08/03/2025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793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DZ" altLang="zh-CN" sz="4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08/03/2025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02101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cs typeface="+mj-cs"/>
              </a:rPr>
              <a:t>إذا طـلـب مـنـك إنجـاز مـشــروع أو بـحــث حـول </a:t>
            </a:r>
            <a:r>
              <a:rPr lang="ar-DZ" sz="4000" b="1" dirty="0" smtClean="0">
                <a:cs typeface="+mj-cs"/>
              </a:rPr>
              <a:t>« </a:t>
            </a:r>
            <a:r>
              <a:rPr lang="ar-DZ" sz="4000" b="1" dirty="0">
                <a:cs typeface="+mj-cs"/>
              </a:rPr>
              <a:t>تـقـنـيـات </a:t>
            </a:r>
            <a:r>
              <a:rPr lang="ar-DZ" sz="4000" b="1" dirty="0" smtClean="0">
                <a:cs typeface="+mj-cs"/>
              </a:rPr>
              <a:t>الـويــب</a:t>
            </a:r>
            <a:r>
              <a:rPr lang="fr-FR" sz="4000" b="1" dirty="0" smtClean="0">
                <a:cs typeface="+mj-cs"/>
              </a:rPr>
              <a:t> </a:t>
            </a:r>
            <a:r>
              <a:rPr lang="ar-DZ" sz="4000" b="1" dirty="0">
                <a:solidFill>
                  <a:prstClr val="black"/>
                </a:solidFill>
                <a:cs typeface="Times New Roman" panose="02020603050405020304" pitchFamily="18" charset="0"/>
              </a:rPr>
              <a:t>»</a:t>
            </a:r>
            <a:r>
              <a:rPr lang="ar-DZ" sz="4000" b="1" dirty="0" smtClean="0">
                <a:cs typeface="+mj-cs"/>
              </a:rPr>
              <a:t> </a:t>
            </a:r>
            <a:r>
              <a:rPr lang="fr-FR" sz="4000" b="1" dirty="0" smtClean="0"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فـمـا </a:t>
            </a:r>
            <a:r>
              <a:rPr lang="ar-DZ" sz="4000" b="1" dirty="0">
                <a:cs typeface="+mj-cs"/>
              </a:rPr>
              <a:t>هـي الـوســائـل الـتي تـسـتـعـيـن بـهـا لإنـجـازه ؟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cs typeface="+mj-cs"/>
              </a:rPr>
              <a:t>ومـا هـو الـبـرنـامـج </a:t>
            </a:r>
            <a:r>
              <a:rPr lang="ar-DZ" sz="4000" b="1" dirty="0" smtClean="0">
                <a:cs typeface="+mj-cs"/>
              </a:rPr>
              <a:t>الَّـذِي </a:t>
            </a:r>
            <a:r>
              <a:rPr lang="ar-DZ" sz="4000" b="1" dirty="0">
                <a:cs typeface="+mj-cs"/>
              </a:rPr>
              <a:t>سـتـسـتـعـمـلـه للـوصـول إلـى الـمـعـلـومـات الـلازمـة لإتـمـام الـمـشــروع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 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1986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800" b="1" dirty="0">
                <a:solidFill>
                  <a:srgbClr val="002060"/>
                </a:solidFill>
                <a:cs typeface="+mj-cs"/>
              </a:rPr>
              <a:t>أفـضـل الـوسـائـل الَّـتي نـسـتـعـيـن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بـهـا هـي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، والـوصـول </a:t>
            </a:r>
            <a:r>
              <a:rPr lang="ar-DZ" sz="4800" b="1" dirty="0">
                <a:solidFill>
                  <a:srgbClr val="002060"/>
                </a:solidFill>
                <a:cs typeface="+mj-cs"/>
              </a:rPr>
              <a:t>للـمـعـلـومـات الـمـتـوفِّـرَة فـيـهـا يـقـتـضي اسـتـعـمـال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.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800" b="1" dirty="0">
                <a:solidFill>
                  <a:srgbClr val="002060"/>
                </a:solidFill>
                <a:cs typeface="+mj-cs"/>
              </a:rPr>
              <a:t>أفـضـل الـوسـائـل الَّـتي نـسـتـعـيـن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بـهـا هـي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، والـوصـول </a:t>
            </a:r>
            <a:r>
              <a:rPr lang="ar-DZ" sz="4800" b="1" dirty="0">
                <a:solidFill>
                  <a:srgbClr val="002060"/>
                </a:solidFill>
                <a:cs typeface="+mj-cs"/>
              </a:rPr>
              <a:t>للـمـعـلـومـات الـمـتـوفِّـرَة فـيـهـا يـقـتـضي اسـتـعـمـال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.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384032" y="2897180"/>
            <a:ext cx="48241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شــبــكـة  الأنــتــرنــت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7590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800" b="1" dirty="0">
                <a:solidFill>
                  <a:srgbClr val="002060"/>
                </a:solidFill>
                <a:cs typeface="+mj-cs"/>
              </a:rPr>
              <a:t>أفـضـل الـوسـائـل الَّـتي نـسـتـعـيـن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بـهـا هـي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، والـوصـول </a:t>
            </a:r>
            <a:r>
              <a:rPr lang="ar-DZ" sz="4800" b="1" dirty="0">
                <a:solidFill>
                  <a:srgbClr val="002060"/>
                </a:solidFill>
                <a:cs typeface="+mj-cs"/>
              </a:rPr>
              <a:t>للـمـعـلـومـات الـمـتـوفِّـرَة فـيـهـا يـقـتـضي اسـتـعـمـال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.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384032" y="2897180"/>
            <a:ext cx="48241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شــبــكـة  الأنــتــرنــت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6" name="Espace réservé du contenu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4857115"/>
            <a:ext cx="785922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69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800" b="1" dirty="0">
                <a:solidFill>
                  <a:srgbClr val="002060"/>
                </a:solidFill>
                <a:cs typeface="+mj-cs"/>
              </a:rPr>
              <a:t>أفـضـل الـوسـائـل الَّـتي نـسـتـعـيـن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بـهـا هـي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، والـوصـول </a:t>
            </a:r>
            <a:r>
              <a:rPr lang="ar-DZ" sz="4800" b="1" dirty="0">
                <a:solidFill>
                  <a:srgbClr val="002060"/>
                </a:solidFill>
                <a:cs typeface="+mj-cs"/>
              </a:rPr>
              <a:t>للـمـعـلـومـات الـمـتـوفِّـرَة فـيـهـا يـقـتـضي اسـتـعـمـال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.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384032" y="2897180"/>
            <a:ext cx="48241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شــبــكـة  الأنــتــرنــت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99456" y="3973879"/>
            <a:ext cx="2412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مـتـصـفـح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62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SA" altLang="zh-CN" sz="44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الــتــعــــلـــيــــمــــيــــة :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08/03/2025</a:t>
            </a:fld>
            <a:endParaRPr lang="fr-BE" sz="2400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4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Navigateur</a:t>
            </a:r>
            <a:endParaRPr lang="fr-FR" sz="2000" dirty="0"/>
          </a:p>
        </p:txBody>
      </p:sp>
      <p:pic>
        <p:nvPicPr>
          <p:cNvPr id="8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744" y="5038592"/>
            <a:ext cx="785922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9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7" grpId="0" animBg="1"/>
      <p:bldP spid="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SA" altLang="zh-CN" sz="44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ت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ع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م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ة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: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 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الــمُـــتَـــصَـــفِّـــح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08/03/2025</a:t>
            </a:fld>
            <a:endParaRPr lang="fr-BE" sz="2400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4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Navigateur</a:t>
            </a:r>
            <a:endParaRPr lang="fr-FR" sz="2000" dirty="0"/>
          </a:p>
        </p:txBody>
      </p:sp>
      <p:pic>
        <p:nvPicPr>
          <p:cNvPr id="8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744" y="5038592"/>
            <a:ext cx="785922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9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7" grpId="0" animBg="1"/>
      <p:bldP spid="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cs typeface="+mj-cs"/>
              </a:rPr>
              <a:t>1) الـمُــتَــصَــفِّــحــات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بِـالاسْــتِــئْــنَــاسِ بِــمَـا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سَــبَــقَ ،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عَــــرِّفْ الــمُــتَــصَــفِّــح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تــعـــريـــف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5914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هـو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</a:t>
            </a:r>
            <a:r>
              <a:rPr lang="fr-FR" sz="4400" baseline="-25000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يـسـمـح بـ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(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) الـتي تَــتَــمَــيَّــزُ بـ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</a:rPr>
              <a:t>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( نـصـوص، صــور، فــيـديــوهــات ...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3217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هـو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</a:t>
            </a:r>
            <a:r>
              <a:rPr lang="fr-FR" sz="4400" baseline="-25000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يـسـمـح بـ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(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) الـتي تَــتَــمَــيَّــزُ بـ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</a:rPr>
              <a:t>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( نـصـوص، صــور، فــيـديــوهــات ...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665156" y="1669623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بـرنـامج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0922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هـو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</a:t>
            </a:r>
            <a:r>
              <a:rPr lang="fr-FR" sz="4400" baseline="-25000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يـسـمـح بـ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(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) الـتي تَــتَــمَــيَّــزُ بـ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</a:rPr>
              <a:t>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( نـصـوص، صــور، فــيـديــوهــات ...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665156" y="1669623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بـرنـامج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669623"/>
            <a:ext cx="5976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اسـتـعــراض صـفـحـات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الـويـب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1428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هـو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</a:t>
            </a:r>
            <a:r>
              <a:rPr lang="fr-FR" sz="4400" baseline="-25000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يـسـمـح بـ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(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) الـتي تَــتَــمَــيَّــزُ بـ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</a:rPr>
              <a:t>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( نـصـوص، صــور، فــيـديــوهــات ...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665156" y="1669623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بـرنـامج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669623"/>
            <a:ext cx="5976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FF0000"/>
                </a:solidFill>
                <a:cs typeface="+mj-cs"/>
              </a:rPr>
              <a:t>اسـتـعــراض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 صـفـحـات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الـويـب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60900" y="3685847"/>
            <a:ext cx="48872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مـحـتــوى مُــتَــنَــوِّع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586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cs typeface="+mj-cs"/>
              </a:rPr>
              <a:t>1) الـمُــتَــصَــفِّــحــات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أكــمــل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الـجــدول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الــتــالـي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بـتـعــيــيــن أبْـــرَزِ الــمُــتَـصَـفِّــحَــات وأكــثــرهـا إقــبــالا مـن طــرف مــســتـخـــدمــي شــبــكـة الأنــتــرنــت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الـمُــتَــصَــفِّــحــات الـشــهــيـــرة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467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808" y="2821675"/>
            <a:ext cx="785922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5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 smtClean="0">
                <a:solidFill>
                  <a:srgbClr val="00B050"/>
                </a:solidFill>
              </a:rPr>
              <a:t>الـمُــتَــصَــفِّــحــات </a:t>
            </a:r>
            <a:r>
              <a:rPr lang="ar-DZ" sz="4800" b="1" dirty="0">
                <a:solidFill>
                  <a:srgbClr val="00B050"/>
                </a:solidFill>
              </a:rPr>
              <a:t>الـشــهــيـــرة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أبْـــرَزِ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الــمُــتَـصَـفِّــحَــات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نَــذْكُــر 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5700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 smtClean="0">
                <a:solidFill>
                  <a:srgbClr val="00B050"/>
                </a:solidFill>
              </a:rPr>
              <a:t>الـمُــتَــصَــفِّــحــات </a:t>
            </a:r>
            <a:r>
              <a:rPr lang="ar-DZ" sz="4800" b="1" dirty="0">
                <a:solidFill>
                  <a:srgbClr val="00B050"/>
                </a:solidFill>
              </a:rPr>
              <a:t>الـشــهــيـــرة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أبْـــرَزِ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الــمُــتَـصَـفِّــحَــات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نَــذْكُــر 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27448" y="2703853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Mozilla FireFox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       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Safari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20153" y="3641646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 Browser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2858" y="4579439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Microsoft Edge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Explorer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8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 smtClean="0">
                <a:solidFill>
                  <a:srgbClr val="00B050"/>
                </a:solidFill>
              </a:rPr>
              <a:t>الـمُــتَـصَـفِّــحــات الـشـهــيــرة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3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76004" y="2149805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Brave Browser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Baidu Browser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76004" y="3300340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Netscape ؛  Phœnix Browser 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969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cs typeface="+mj-cs"/>
              </a:rPr>
              <a:t>1) الـمُــتَــصَــفِّــحــات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/>
              <a:t>حَـــدِّدْ بَــعْــضَ خــصــائــص الــمُــتَــصَــفِّــح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خــصــائــص الـمُــتَــصَــفِّــح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4230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خــصــائــص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الاســتــعــمــال بــفـضـل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868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خــصــائــص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الاســتــعــمــال بــفـضـل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256240" y="1628800"/>
            <a:ext cx="25109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سـهــولــة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6648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خــصــائــص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الاســتــعــمــال بــفـضـل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256240" y="1628800"/>
            <a:ext cx="25109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سـهــولــة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1380" y="2662278"/>
            <a:ext cx="1004517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الـواجــهــة الـبـــيــانــيــة 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Interface Graphique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74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 خــصــائــص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حِــفْــظ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يـكـون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436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 خــصــائــص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الـتَــصَــفِّــح ، وذلـك يـكـون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pic>
        <p:nvPicPr>
          <p:cNvPr id="5" name="Espace réservé du contenu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37460"/>
            <a:ext cx="11816113" cy="645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 خــصــائــص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الـتَــصَــفِّــح ، وذلـك يـكـون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43" y="274638"/>
            <a:ext cx="11275134" cy="608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440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 خــصــائــص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حِــفْــظ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يـكـون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597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 خــصــائــص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حِــفْــظ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يـكـون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4425068" y="1519099"/>
            <a:ext cx="51845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مـعــلــومــات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الـتَــصَــفُّــح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370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 خــصــائــص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حِــفْــظ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يـكـون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11695" y="2563215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الـمُــفَــضَّــلَــة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Favoris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5068" y="1519099"/>
            <a:ext cx="51845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مـعــلــومــات </a:t>
            </a:r>
            <a:r>
              <a:rPr lang="ar-DZ" sz="4400" b="1" dirty="0" smtClean="0">
                <a:solidFill>
                  <a:srgbClr val="0070C0"/>
                </a:solidFill>
              </a:rPr>
              <a:t>الـتَــصَــفُّــح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042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 خــصــائــص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حِــفْــظ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يـكـون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11695" y="2563215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الـمُــفَــضَّــلَــة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Favoris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1695" y="3564747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آثـــار الـتــصــفــح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Historique 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5068" y="1519099"/>
            <a:ext cx="51845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مـعــلــومــات </a:t>
            </a:r>
            <a:r>
              <a:rPr lang="ar-DZ" sz="4400" b="1" dirty="0" smtClean="0">
                <a:solidFill>
                  <a:srgbClr val="0070C0"/>
                </a:solidFill>
              </a:rPr>
              <a:t>الـتَــصَــفُّــح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716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 خــصــائــص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حِــفْــظ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يـكـون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11695" y="2563215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الـمُــفَــضَّــلَــة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Favoris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1695" y="3564747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آثـــار الـتــصــفــح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Historique 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1695" y="4591579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سِــجِــل الـتــصــفــح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Cookies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5068" y="1519099"/>
            <a:ext cx="51845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مـعــلــومــات </a:t>
            </a:r>
            <a:r>
              <a:rPr lang="ar-DZ" sz="4400" b="1" dirty="0" smtClean="0">
                <a:solidFill>
                  <a:srgbClr val="0070C0"/>
                </a:solidFill>
              </a:rPr>
              <a:t>الـتَــصَــفُّــح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4287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  <p:bldP spid="12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خــصــائــص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تــوفــيــر إمــكـــانــيــة 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بــدون تَــرْكِ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ضــمــان نــســبــة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يــتــطــلــب اســتــغـــلال بـــرامــج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وتـحــديــثــهــا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46004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 خــصــائــص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الـتَــصَــفِّــح ، وذلـك يـكـون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pic>
        <p:nvPicPr>
          <p:cNvPr id="5" name="Espace réservé du contenu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9520"/>
            <a:ext cx="11319048" cy="645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7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خــصــائــص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تــوفــيــر إمــكـــانــيــة 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بــدون تَــرْكِ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ضــمــان نــســبــة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يــتــطــلــب اســتــغـــلال بـــرامــج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وتـحــديــثــهــا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599709" y="1629284"/>
            <a:ext cx="27269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الـتــصــفــح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7498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خــصــائــص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تــوفــيــر إمــكـــانــيــة 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بــدون تَــرْكِ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ضــمــان نــســبــة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يــتــطــلــب اســتــغـــلال بـــرامــج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وتـحــديــثــهــا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599709" y="1629284"/>
            <a:ext cx="27269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الـتــصــفــح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67808" y="2646215"/>
            <a:ext cx="6831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آثَـــارٍ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Navigation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privée )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677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خــصــائــص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تــوفــيــر إمــكـــانــيــة 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بــدون تَــرْكِ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ضــمــان نــســبــة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يــتــطــلــب اســتــغـــلال بـــرامــج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وتـحــديــثــهــا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599709" y="1629284"/>
            <a:ext cx="27269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الـتــصــفــح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67808" y="2646215"/>
            <a:ext cx="6831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آثـــار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Navigation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privée )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553" y="2662279"/>
            <a:ext cx="308019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الـخـصـوصـيـة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116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 خــصــائــص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الـتَــصَــفِّــح ، وذلـك يـكـون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298667"/>
            <a:ext cx="10887000" cy="6057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842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خــصــائــص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تــوفــيــر إمــكـــانــيــة 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بــدون تَــرْكِ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ضــمــان نــســبــة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يــتــطــلــب اســتــغـــلال بـــرامــج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وتـحــديــثــهــا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599709" y="1629284"/>
            <a:ext cx="27269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الـتــصــفــح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67808" y="2646215"/>
            <a:ext cx="6831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آثـــار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Navigation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privée )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553" y="2662279"/>
            <a:ext cx="308019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الـخـصـوصـيـة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23792" y="3804551"/>
            <a:ext cx="20788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الأمــن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941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9" grpId="0" animBg="1"/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خــصــائــص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الـمُــتَــصَــفِّــح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تــوفــيــر إمــكـــانــيــة 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بــدون تَــرْكِ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</a:p>
          <a:p>
            <a:pPr algn="just" rtl="1">
              <a:lnSpc>
                <a:spcPct val="150000"/>
              </a:lnSpc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ضــمــان نــســبــة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يــتــطــلــب اســتــغـــلال بـــرامــج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وتـحــديــثــهــا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599709" y="1629284"/>
            <a:ext cx="27269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الـتــصــفــح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67808" y="2646215"/>
            <a:ext cx="6831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آثـــار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Navigation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privée )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553" y="2662279"/>
            <a:ext cx="308019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الـخـصـوصـيـة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23792" y="3804551"/>
            <a:ext cx="20788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الأمــن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79776" y="4806626"/>
            <a:ext cx="28069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الـحــمـــايـــة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5510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)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مُـحَــرِّكــات الـبـحــث  </a:t>
            </a:r>
            <a:r>
              <a:rPr lang="fr-FR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fr-FR" sz="4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fr-FR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Engines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4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1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الـوصــول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مــعــلــومــاتٍ مُـحَــدَّدَةٍ بـيـن الـكــم الـهــائــل مـن الـمــعــلــومــات الـمــوجــودة فـي الانــتــرنــت يــكـون بـاســتـغــلال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مُــحَــرِّك بـحــث،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فَـمَـاذا يُــمَــثِّــلُ مُـحَــرِّك الـبـحــث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تــعـــريـــف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437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هــو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يــسـمـح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لـنـا بـالـوصـول إلـى مـعــلــومـات مُـحَــدَّدة بـحـيـث يَــتِـأَلَــفُ مِـنْ ثــلاث أجــزاء تـتـكـامـل فـيـمـا بـيـنهـا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6783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هــو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يــسـمـح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لـنـا بـالـوصـول إلـى مـعــلــومـات مُـحَــدَّدة بـحـيـث يَــتِـأَلَــفُ مِـنْ ثــلاث أجــزاء تـتـكـامـل فـيـمـا بـيـنهـا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464152" y="1658296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بــرنــامـج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237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ــ 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Spider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ar-DZ" sz="4400" u="sng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Times New Roman" panose="02020603050405020304" pitchFamily="18" charset="0"/>
              </a:rPr>
              <a:t>: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يُــبْـحِــرُ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الانـتـرنــت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بـهــدوء ويَــتَـعَــقَــبُ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الــرَوَابِــط لإيـجــاد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عـلـى الـويــب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ثُــمَ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مـنـهـا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مـعــلـومــات وَيُـقَـدِّمُهـا إلى بـرنـامـج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Indexer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ar-DZ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5293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ــ 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Spider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ar-DZ" sz="4400" u="sng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Times New Roman" panose="02020603050405020304" pitchFamily="18" charset="0"/>
              </a:rPr>
              <a:t>: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يُــبْـحِــرُ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الانـتـرنــت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بـهــدوء ويَــتَـعَــقَــبُ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الــرَوَابِــط لإيـجــاد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عـلـى الـويــب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ثُــمَ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مـنـهـا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مـعــلـومــات وَيُـقَـدِّمُهـا إلى بـرنـامـج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Indexer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ar-DZ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767408" y="2692483"/>
            <a:ext cx="4262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صــفـحــات /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مــواقــع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3713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ــ 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Spider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ar-DZ" sz="4400" u="sng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Times New Roman" panose="02020603050405020304" pitchFamily="18" charset="0"/>
              </a:rPr>
              <a:t>: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يُــبْـحِــرُ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الانـتـرنــت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بـهــدوء ويَــتَـعَــقَــبُ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الــرَوَابِــط لإيـجــاد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عـلـى الـويــب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ثُــمَ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مـنـهـا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مـعــلـومــات وَيُـقَـدِّمُهـا إلى بـرنـامـج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Indexer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ar-DZ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767408" y="2692483"/>
            <a:ext cx="4262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صــفـحــات /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مــواقــع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83832" y="3695943"/>
            <a:ext cx="26958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يـسـتـخـلـص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29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ــ 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Spider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ar-DZ" sz="4400" u="sng" baseline="-25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Times New Roman" panose="02020603050405020304" pitchFamily="18" charset="0"/>
              </a:rPr>
              <a:t>: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يُــبْـحِــرُ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الانـتـرنــت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بـهــدوء ويَــتَـعَــقَــبُ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الــرَوَابِــط لإيـجــاد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عـلـى الـويــب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ثُــمَ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مـنـهـا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مـعــلـومــات وَيُـقَـدِّمُهـا إلى بـرنـامـج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Indexer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ar-DZ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767408" y="2692483"/>
            <a:ext cx="4262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صــفـحــات /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مــواقــع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83832" y="3695943"/>
            <a:ext cx="26958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يـسـتـخـلـص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80310" y="4714151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الـمُـفَـهْـرِس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7167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ــ 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Indexer Program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لإنـشـاء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( جــداول مُــتَــرَابِـطَـة )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تَـصِّـفُ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الـويــب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8160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ــ 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Indexer Program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لإنـشـاء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( جــداول مُــتَــرَابِـطَـة )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تَـصِّـفُ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الـويــب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5532952" y="2887455"/>
            <a:ext cx="4262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قـــواعـــد بــيــانــات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1139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ــ 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Indexer Program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لإنـشـاء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( جــداول مُــتَــرَابِـطَـة )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تَـصِّـفُ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الـويــب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5532952" y="2887455"/>
            <a:ext cx="4262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قـــواعـــد بــيــانــات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14747" y="3933056"/>
            <a:ext cx="26958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صــفـحــات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020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ــ 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fr-FR" sz="44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:</a:t>
            </a:r>
            <a:r>
              <a:rPr lang="fr-FR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يَــسْــتَــعْــمـِــلُ الــكـــلـــمــات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للـبـحــث فـي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الـفَـهْــرَسِ (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  <a:r>
              <a:rPr lang="fr-FR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ثُــمُ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الـنــتــائـج</a:t>
            </a:r>
            <a:r>
              <a:rPr lang="fr-FR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(للاسـتـفــادة مـنهـا)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3678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ــ 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fr-FR" sz="44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:</a:t>
            </a:r>
            <a:r>
              <a:rPr lang="fr-FR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يَــسْــتَــعْــمـِــلُ الــكـــلـــمــات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للـبـحــث فـي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الـفَـهْــرَسِ (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  <a:r>
              <a:rPr lang="fr-FR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ثُــمُ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الـنــتــائـج</a:t>
            </a:r>
            <a:r>
              <a:rPr lang="fr-FR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(للاسـتـفــادة مـنهـا)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8040216" y="2780928"/>
            <a:ext cx="30785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الــمــفــتــاحـيـة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8165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ــ 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fr-FR" sz="44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:</a:t>
            </a:r>
            <a:r>
              <a:rPr lang="fr-FR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يَــسْــتَــعْــمـِــلُ الــكـــلـــمــات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للـبـحــث فـي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الـفَـهْــرَسِ (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  <a:r>
              <a:rPr lang="fr-FR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ثُــمُ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الـنــتــائـج</a:t>
            </a:r>
            <a:r>
              <a:rPr lang="fr-FR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(للاسـتـفــادة مـنهـا)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8040216" y="2780928"/>
            <a:ext cx="30785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الــمــفــتــاحـيـة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408" y="2780928"/>
            <a:ext cx="37866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قــواعـــد بــيـانـات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6184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ــ 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fr-FR" sz="44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:</a:t>
            </a:r>
            <a:r>
              <a:rPr lang="fr-FR" sz="48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يَــسْــتَــعْــمـِــلُ الــكـــلـــمــات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للـبـحــث فـي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الـفَـهْــرَسِ (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  <a:r>
              <a:rPr lang="fr-FR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ثُــمُ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الـنــتــائـج</a:t>
            </a:r>
            <a:r>
              <a:rPr lang="fr-FR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(للاسـتـفــادة مـنهـا)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8040216" y="2780928"/>
            <a:ext cx="30785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الــمــفــتــاحـيـة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408" y="2780928"/>
            <a:ext cx="37866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قــواعـــد بــيـانـات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83432" y="377097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يُـعْــرِضُ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97076" y="4795463"/>
            <a:ext cx="46390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مُــخْـتَــصَــرَةً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ومُــرَتَّــبَــةً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927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  <p:bldP spid="9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2) مُـحَــرِّكــات الـبـحــث  </a:t>
            </a:r>
            <a:r>
              <a:rPr lang="fr-FR" sz="4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fr-FR" sz="48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Engines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5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u="sng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مُـحَــرِّكــات </a:t>
            </a:r>
            <a:r>
              <a:rPr lang="ar-DZ" sz="5400" b="1" u="sng" dirty="0">
                <a:solidFill>
                  <a:srgbClr val="002060"/>
                </a:solidFill>
                <a:cs typeface="Times New Roman" panose="02020603050405020304" pitchFamily="18" charset="0"/>
              </a:rPr>
              <a:t>الـبـحــث الإنـجــلــيــزيــة</a:t>
            </a:r>
            <a:r>
              <a:rPr lang="ar-DZ" sz="5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5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 smtClean="0">
                <a:solidFill>
                  <a:srgbClr val="0070C0"/>
                </a:solidFill>
                <a:cs typeface="+mj-cs"/>
              </a:rPr>
              <a:t>    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أكــمــل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الـجــدول الـتــالـي بــتــعـــيــيــن أَبْـــرَزِ مُـحَــرِّكــات الـبـحــث الإنـجــلــيــزيــة وأشـهــرهـا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مُـحَــرِّكـــات الـبـحــث الـشــهــيـــرة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40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مُـحَــرِّكـــات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</a:t>
            </a:r>
            <a:r>
              <a:rPr lang="ar-DZ" sz="4800" b="1" dirty="0" smtClean="0">
                <a:solidFill>
                  <a:srgbClr val="00B050"/>
                </a:solidFill>
              </a:rPr>
              <a:t>الـشــهــيـــرة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أبْـــرَزِ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مُـحَــرِّكـــات الـبـحــث الإنـجــلــيــزيــة نَــذْكُــر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330163"/>
              </p:ext>
            </p:extLst>
          </p:nvPr>
        </p:nvGraphicFramePr>
        <p:xfrm>
          <a:off x="909692" y="2666408"/>
          <a:ext cx="10296000" cy="3240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6201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01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36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مُـحَــرِّكـــات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</a:t>
            </a:r>
            <a:r>
              <a:rPr lang="ar-DZ" sz="4800" b="1" dirty="0" smtClean="0">
                <a:solidFill>
                  <a:srgbClr val="00B050"/>
                </a:solidFill>
              </a:rPr>
              <a:t>الـشــهــيـــرة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أبْـــرَزِ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مُـحَــرِّكـــات الـبـحــث الإنـجــلــيــزيــة نَــذْكُــر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330163"/>
              </p:ext>
            </p:extLst>
          </p:nvPr>
        </p:nvGraphicFramePr>
        <p:xfrm>
          <a:off x="909692" y="2666408"/>
          <a:ext cx="10296000" cy="3240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6201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01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79719" y="2992906"/>
            <a:ext cx="471600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Bing ;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94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مُـحَــرِّكـــات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</a:t>
            </a:r>
            <a:r>
              <a:rPr lang="ar-DZ" sz="4800" b="1" dirty="0" smtClean="0">
                <a:solidFill>
                  <a:srgbClr val="00B050"/>
                </a:solidFill>
              </a:rPr>
              <a:t>الـشــهــيـــرة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أبْـــرَزِ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مُـحَــرِّكـــات الـبـحــث الإنـجــلــيــزيــة نَــذْكُــر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330163"/>
              </p:ext>
            </p:extLst>
          </p:nvPr>
        </p:nvGraphicFramePr>
        <p:xfrm>
          <a:off x="909692" y="2666408"/>
          <a:ext cx="10296000" cy="3240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6201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01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79719" y="2992906"/>
            <a:ext cx="471600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Bing ;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215" y="4599713"/>
            <a:ext cx="471600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Baidu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36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مُـحَــرِّكـــات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</a:t>
            </a:r>
            <a:r>
              <a:rPr lang="ar-DZ" sz="4800" b="1" dirty="0" smtClean="0">
                <a:solidFill>
                  <a:srgbClr val="00B050"/>
                </a:solidFill>
              </a:rPr>
              <a:t>الـشــهــيـــرة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أبْـــرَزِ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مُـحَــرِّكـــات الـبـحــث الإنـجــلــيــزيــة نَــذْكُــر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330163"/>
              </p:ext>
            </p:extLst>
          </p:nvPr>
        </p:nvGraphicFramePr>
        <p:xfrm>
          <a:off x="909692" y="2666408"/>
          <a:ext cx="10296000" cy="3240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6201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01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79719" y="2992906"/>
            <a:ext cx="471600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Bing ;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11136" y="3019305"/>
            <a:ext cx="4896544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Brave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Yahoo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215" y="4599713"/>
            <a:ext cx="471600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Baidu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39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مُـحَــرِّكـــات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</a:t>
            </a:r>
            <a:r>
              <a:rPr lang="ar-DZ" sz="4800" b="1" dirty="0" smtClean="0">
                <a:solidFill>
                  <a:srgbClr val="00B050"/>
                </a:solidFill>
              </a:rPr>
              <a:t>الـشــهــيـــرة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ts val="65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أبْـــرَزِ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مُـحَــرِّكـــات الـبـحــث الإنـجــلــيــزيــة نَــذْكُــر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330163"/>
              </p:ext>
            </p:extLst>
          </p:nvPr>
        </p:nvGraphicFramePr>
        <p:xfrm>
          <a:off x="909692" y="2666408"/>
          <a:ext cx="10296000" cy="3240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6201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01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79719" y="2992906"/>
            <a:ext cx="471600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Bing ;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11136" y="3019305"/>
            <a:ext cx="4896544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Brave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Yahoo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11136" y="4599713"/>
            <a:ext cx="4896544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Ask.com ; Altavista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215" y="4599713"/>
            <a:ext cx="471600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Baidu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41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 smtClean="0">
                <a:solidFill>
                  <a:srgbClr val="00B050"/>
                </a:solidFill>
              </a:rPr>
              <a:t>الـمُــتَـصَـفِّــحــات الـشـهــيــرة ــ تــابـع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3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76004" y="2149805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Brave Browser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Baidu Browser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76004" y="3300340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 Phœnix Browser 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46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.2 مُـحَــرِّكـــات الـبـحــث الـشــهــيـــرة  ــ  تــــابــع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مُـحَــرِّكــات </a:t>
            </a:r>
            <a:r>
              <a:rPr lang="ar-DZ" sz="48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الـبـحــث</a:t>
            </a:r>
            <a:r>
              <a:rPr lang="fr-FR" sz="48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الـعــربــيــة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 smtClean="0">
                <a:solidFill>
                  <a:srgbClr val="0070C0"/>
                </a:solidFill>
                <a:cs typeface="+mj-cs"/>
              </a:rPr>
              <a:t>  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أكــمـل الـجــدول الـتــالـي بــتــعـــيــيــن بــعــض مُـحَــرِّكــات الـبـحــث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الـعـــربـــيــة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بـنـوعـــيـهـا : الـتـي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تـعــتــمــد عـلى الـمـطــابــقــة الـحــرفــيـة، والـمُـتَـقَــدِمَـة مـنهـا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الَّـتِي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تـوفِّــرُ خَــاصِــيَــتَـيْ الـبـحــث بالـلَـوَاصِــقِ والـبـحــث بـالـمــشــتــقــات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1197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مُـحَــرِّكـــات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</a:t>
            </a:r>
            <a:r>
              <a:rPr lang="ar-DZ" sz="4800" b="1" dirty="0" smtClean="0">
                <a:solidFill>
                  <a:srgbClr val="00B050"/>
                </a:solidFill>
              </a:rPr>
              <a:t>الـشــهــيـــرة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أبْـــرَزِ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مُـحَــرِّكـــات الـبـحــث الــعـــربـــيــة نَــذْكُــر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024250"/>
              </p:ext>
            </p:extLst>
          </p:nvPr>
        </p:nvGraphicFramePr>
        <p:xfrm>
          <a:off x="795172" y="2385328"/>
          <a:ext cx="10512000" cy="377997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256000"/>
                <a:gridCol w="5256000"/>
              </a:tblGrid>
              <a:tr h="133200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مُــحَـــرِّكـــات </a:t>
                      </a:r>
                      <a:r>
                        <a:rPr kumimoji="0" lang="ar-DZ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الــبــحـــث الــعـــربـــيــة ( خَـــدَمَـــات مُـــتَـــقَـــدِمَـــة )</a:t>
                      </a:r>
                      <a:endParaRPr kumimoji="0" lang="fr-FR" sz="3600" b="1" i="0" u="none" strike="noStrike" kern="1200" cap="none" spc="0" normalizeH="0" baseline="0" noProof="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مُــحَـــرِّكـــات </a:t>
                      </a:r>
                      <a:r>
                        <a:rPr kumimoji="0" lang="ar-DZ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الــبــحـــث الــعـــربـــيــة </a:t>
                      </a:r>
                      <a:r>
                        <a:rPr lang="ar-DZ" sz="3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مُــــطَــــابَـــقَــة حَـــــرْفِـــــيَــــة )</a:t>
                      </a:r>
                      <a:endParaRPr lang="fr-FR" sz="3600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2398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398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33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مُـحَــرِّكـــات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</a:t>
            </a:r>
            <a:r>
              <a:rPr lang="ar-DZ" sz="4800" b="1" dirty="0" smtClean="0">
                <a:solidFill>
                  <a:srgbClr val="00B050"/>
                </a:solidFill>
              </a:rPr>
              <a:t>الـشــهــيـــرة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أبْـــرَزِ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مُـحَــرِّكـــات الـبـحــث الــعـــربـــيــة نَــذْكُــر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024250"/>
              </p:ext>
            </p:extLst>
          </p:nvPr>
        </p:nvGraphicFramePr>
        <p:xfrm>
          <a:off x="795172" y="2385328"/>
          <a:ext cx="10512000" cy="377997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256000"/>
                <a:gridCol w="5256000"/>
              </a:tblGrid>
              <a:tr h="133200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مُــحَـــرِّكـــات </a:t>
                      </a:r>
                      <a:r>
                        <a:rPr kumimoji="0" lang="ar-DZ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الــبــحـــث الــعـــربـــيــة ( خَـــدَمَـــات مُـــتَـــقَـــدِمَـــة )</a:t>
                      </a:r>
                      <a:endParaRPr kumimoji="0" lang="fr-FR" sz="3600" b="1" i="0" u="none" strike="noStrike" kern="1200" cap="none" spc="0" normalizeH="0" baseline="0" noProof="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مُــحَـــرِّكـــات </a:t>
                      </a:r>
                      <a:r>
                        <a:rPr kumimoji="0" lang="ar-DZ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الــبــحـــث الــعـــربـــيــة </a:t>
                      </a:r>
                      <a:r>
                        <a:rPr lang="ar-DZ" sz="3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مُــــطَــــابَـــقَــة حَـــــرْفِـــــيَــــة )</a:t>
                      </a:r>
                      <a:endParaRPr lang="fr-FR" sz="3600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2398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398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29486" y="3882484"/>
            <a:ext cx="471600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أيــن  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7073" y="5090754"/>
            <a:ext cx="471600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الــدلــيــل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Aldalil</a:t>
            </a:r>
          </a:p>
        </p:txBody>
      </p:sp>
    </p:spTree>
    <p:extLst>
      <p:ext uri="{BB962C8B-B14F-4D97-AF65-F5344CB8AC3E}">
        <p14:creationId xmlns:p14="http://schemas.microsoft.com/office/powerpoint/2010/main" val="268520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مُـحَــرِّكـــات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الـبـحــث </a:t>
            </a:r>
            <a:r>
              <a:rPr lang="ar-DZ" sz="4800" b="1" dirty="0" smtClean="0">
                <a:solidFill>
                  <a:srgbClr val="00B050"/>
                </a:solidFill>
              </a:rPr>
              <a:t>الـشــهــيـــرة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أبْـــرَزِ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مُـحَــرِّكـــات الـبـحــث الــعـــربـــيــة نَــذْكُــر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024250"/>
              </p:ext>
            </p:extLst>
          </p:nvPr>
        </p:nvGraphicFramePr>
        <p:xfrm>
          <a:off x="795172" y="2385328"/>
          <a:ext cx="10512000" cy="377997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256000"/>
                <a:gridCol w="5256000"/>
              </a:tblGrid>
              <a:tr h="133200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مُــحَـــرِّكـــات </a:t>
                      </a:r>
                      <a:r>
                        <a:rPr kumimoji="0" lang="ar-DZ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الــبــحـــث الــعـــربـــيــة ( خَـــدَمَـــات مُـــتَـــقَـــدِمَـــة )</a:t>
                      </a:r>
                      <a:endParaRPr kumimoji="0" lang="fr-FR" sz="3600" b="1" i="0" u="none" strike="noStrike" kern="1200" cap="none" spc="0" normalizeH="0" baseline="0" noProof="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مُــحَـــرِّكـــات </a:t>
                      </a:r>
                      <a:r>
                        <a:rPr kumimoji="0" lang="ar-DZ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الــبــحـــث الــعـــربـــيــة </a:t>
                      </a:r>
                      <a:r>
                        <a:rPr lang="ar-DZ" sz="3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مُــــطَــــابَـــقَــة حَـــــرْفِـــــيَــــة )</a:t>
                      </a:r>
                      <a:endParaRPr lang="fr-FR" sz="3600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2398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398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29486" y="3882484"/>
            <a:ext cx="471600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أيــن  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Ayna</a:t>
            </a:r>
          </a:p>
        </p:txBody>
      </p:sp>
      <p:sp>
        <p:nvSpPr>
          <p:cNvPr id="9" name="Rectangle 8"/>
          <p:cNvSpPr/>
          <p:nvPr/>
        </p:nvSpPr>
        <p:spPr>
          <a:xfrm>
            <a:off x="947266" y="3886141"/>
            <a:ext cx="5014268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أراب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فـيــســتـا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Arabvista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456" y="5033493"/>
            <a:ext cx="495609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الادريــسـي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37073" y="5090754"/>
            <a:ext cx="4716000" cy="9175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الــدلــيــل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Aldalil</a:t>
            </a:r>
          </a:p>
        </p:txBody>
      </p:sp>
    </p:spTree>
    <p:extLst>
      <p:ext uri="{BB962C8B-B14F-4D97-AF65-F5344CB8AC3E}">
        <p14:creationId xmlns:p14="http://schemas.microsoft.com/office/powerpoint/2010/main" val="8847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واجــب مــنــزلـي: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مــا </a:t>
            </a:r>
            <a:r>
              <a:rPr lang="ar-DZ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هـــو أفــضـل مُـــتَـــصَــفِّـــح ؟  </a:t>
            </a:r>
            <a:r>
              <a:rPr lang="ar-DZ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عَــلِّــلْ إِجَــابَــتَــكَ 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7968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تـصــحــيــح الـواجــب الـمــنــزلـي :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لا يـوجـد مـتـصـفـح كـامـل مـن جـمـيـع الـنـواحـي، فـمـثـلًا يـتَّـصِـفُ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الـمـتـصـفـح 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Chrome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بـالـسـرعـة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وقـلـة اسـتـهـلاكـه للـمــوارد كـالـذاكــرة ويـتَّــسِــمُ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الـمـتـصـفـح 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Firefox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بـالـقــوة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والـثــبــات، بـيـنـمـا يـتَّــسِــمُ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المــتـصـفـح 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Brave Browser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بالأمـان والـحــمــايــة.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فـأيُّ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مــتـصـفـح يــتــمــيــز 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بــنــقــاط 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قــوة ولا يـخـلـوا مـن نــقــاط ضـعــف تـحــتـاج إلـى تـحــســيــن فـي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 (En-têtes)"/>
                <a:cs typeface="+mj-cs"/>
              </a:rPr>
              <a:t>الإص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ـدارات الـلاحـــقــة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.</a:t>
            </a:r>
            <a:endParaRPr lang="fr-FR" sz="4000" dirty="0">
              <a:solidFill>
                <a:srgbClr val="002060"/>
              </a:solidFill>
              <a:latin typeface="Times New Roman (En-têtes)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770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08/03/2025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88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27763</TotalTime>
  <Words>1784</Words>
  <Application>Microsoft Office PowerPoint</Application>
  <PresentationFormat>Grand écran</PresentationFormat>
  <Paragraphs>421</Paragraphs>
  <Slides>67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67</vt:i4>
      </vt:variant>
    </vt:vector>
  </HeadingPairs>
  <TitlesOfParts>
    <vt:vector size="79" baseType="lpstr">
      <vt:lpstr>Arial Unicode MS</vt:lpstr>
      <vt:lpstr>SimSun</vt:lpstr>
      <vt:lpstr>SimSun</vt:lpstr>
      <vt:lpstr>Arial</vt:lpstr>
      <vt:lpstr>Calibri</vt:lpstr>
      <vt:lpstr>Droid Sans Fallback</vt:lpstr>
      <vt:lpstr>Liberation Serif</vt:lpstr>
      <vt:lpstr>Times New Roman</vt:lpstr>
      <vt:lpstr>Times New Roman (En-têtes)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 :</vt:lpstr>
      <vt:lpstr>الإجــابــة  :</vt:lpstr>
      <vt:lpstr>الإجــابــة  :</vt:lpstr>
      <vt:lpstr>الإجــابــة  :</vt:lpstr>
      <vt:lpstr>Présentation PowerPoint</vt:lpstr>
      <vt:lpstr>Présentation PowerPoint</vt:lpstr>
      <vt:lpstr>1) الـمُــتَــصَــفِّــحــات :</vt:lpstr>
      <vt:lpstr>أتـذكـر ( 1.1  تـعـــريــف الـمُــتَــصَــفِّــح )</vt:lpstr>
      <vt:lpstr>أتـذكـر ( 1.1  تـعـــريــف الـمُــتَــصَــفِّــح )</vt:lpstr>
      <vt:lpstr>أتـذكـر ( 1.1  تـعـــريــف الـمُــتَــصَــفِّــح )</vt:lpstr>
      <vt:lpstr>أتـذكـر ( 1.1  تـعـــريــف الـمُــتَــصَــفِّــح )</vt:lpstr>
      <vt:lpstr>1) الـمُــتَــصَــفِّــحــات :</vt:lpstr>
      <vt:lpstr>Présentation PowerPoint</vt:lpstr>
      <vt:lpstr>أتـذكـر ( 2.1 الـمُــتَــصَــفِّــحــات الـشــهــيـــرة )</vt:lpstr>
      <vt:lpstr>أتـذكـر ( 2.1 الـمُــتَــصَــفِّــحــات الـشــهــيـــرة )</vt:lpstr>
      <vt:lpstr>أتـذكـر ( 2.1 الـمُــتَـصَـفِّــحــات الـشـهــيــرة ــ تــابـع )</vt:lpstr>
      <vt:lpstr>1) الـمُــتَــصَــفِّــحــات :</vt:lpstr>
      <vt:lpstr>أتـذكـر ( 3.1  خــصــائــص الـمُــتَــصَــفِّــح )</vt:lpstr>
      <vt:lpstr>أتـذكـر ( 3.1  خــصــائــص الـمُــتَــصَــفِّــح )</vt:lpstr>
      <vt:lpstr>أتـذكـر ( 3.1  خــصــائــص الـمُــتَــصَــفِّــح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أتـذكـر ( 3.1  خــصــائــص الـمُــتَــصَــفِّــح ــ تــابـع )</vt:lpstr>
      <vt:lpstr>2) مُـحَــرِّكــات الـبـحــث  Search Engines :</vt:lpstr>
      <vt:lpstr>أتـذكـر ( 1.2  تـعـــريــف مُـحَــرِّك الـبـحــث )</vt:lpstr>
      <vt:lpstr>أتـذكـر ( 1.2  تـعـــريــف مُـحَــرِّك الـبـحــث )</vt:lpstr>
      <vt:lpstr>أتـذكـر ( 1.2  تـعـــريــف مُـحَــرِّك الـبـحــث ــ  تــابــع )</vt:lpstr>
      <vt:lpstr>أتـذكـر ( 1.2  تـعـــريــف مُـحَــرِّك الـبـحــث ــ  تــابــع )</vt:lpstr>
      <vt:lpstr>أتـذكـر ( 1.2  تـعـــريــف مُـحَــرِّك الـبـحــث ــ  تــابــع )</vt:lpstr>
      <vt:lpstr>أتـذكـر ( 1.2  تـعـــريــف مُـحَــرِّك الـبـحــث ــ  تــابــع )</vt:lpstr>
      <vt:lpstr>أتـذكـر ( 1.2  تـعـــريــف مُـحَــرِّك الـبـحــث ــ  تــابــع )</vt:lpstr>
      <vt:lpstr>أتـذكـر ( 1.2  تـعـــريــف مُـحَــرِّك الـبـحــث ــ  تــابــع )</vt:lpstr>
      <vt:lpstr>أتـذكـر ( 1.2  تـعـــريــف مُـحَــرِّك الـبـحــث ــ  تــابــع )</vt:lpstr>
      <vt:lpstr>أتـذكـر ( 1.2  تـعـــريــف مُـحَــرِّك الـبـحــث ــ  تــابــع )</vt:lpstr>
      <vt:lpstr>أتـذكـر ( 1.2  تـعـــريــف مُـحَــرِّك الـبـحــث ــ  تــابــع )</vt:lpstr>
      <vt:lpstr>أتـذكـر ( 1.2  تـعـــريــف مُـحَــرِّك الـبـحــث ــ  تــابــع )</vt:lpstr>
      <vt:lpstr>أتـذكـر ( 1.2  تـعـــريــف مُـحَــرِّك الـبـحــث ــ  تــابــع )</vt:lpstr>
      <vt:lpstr>2) مُـحَــرِّكــات الـبـحــث  Search Engines :</vt:lpstr>
      <vt:lpstr>أتـذكـر ( 2.2 مُـحَــرِّكـــات الـبـحــث الـشــهــيـــرة )</vt:lpstr>
      <vt:lpstr>أتـذكـر ( 2.2 مُـحَــرِّكـــات الـبـحــث الـشــهــيـــرة )</vt:lpstr>
      <vt:lpstr>أتـذكـر ( 2.2 مُـحَــرِّكـــات الـبـحــث الـشــهــيـــرة )</vt:lpstr>
      <vt:lpstr>أتـذكـر ( 2.2 مُـحَــرِّكـــات الـبـحــث الـشــهــيـــرة )</vt:lpstr>
      <vt:lpstr>أتـذكـر ( 2.2 مُـحَــرِّكـــات الـبـحــث الـشــهــيـــرة )</vt:lpstr>
      <vt:lpstr>أتـذكـر ( 2.1 الـمُــتَـصَـفِّــحــات الـشـهــيــرة ــ تــابـع )</vt:lpstr>
      <vt:lpstr>2.2 مُـحَــرِّكـــات الـبـحــث الـشــهــيـــرة  ــ  تــــابــع</vt:lpstr>
      <vt:lpstr>أتـذكـر ( 2.2 مُـحَــرِّكـــات الـبـحــث الـشــهــيـــرة )</vt:lpstr>
      <vt:lpstr>أتـذكـر ( 2.2 مُـحَــرِّكـــات الـبـحــث الـشــهــيـــرة )</vt:lpstr>
      <vt:lpstr>أتـذكـر ( 2.2 مُـحَــرِّكـــات الـبـحــث الـشــهــيـــرة )</vt:lpstr>
      <vt:lpstr>واجــب مــنــزلـي:</vt:lpstr>
      <vt:lpstr> تـصــحــيــح الـواجــب الـمــنــزلـي :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757</cp:revision>
  <dcterms:created xsi:type="dcterms:W3CDTF">2015-11-30T21:00:22Z</dcterms:created>
  <dcterms:modified xsi:type="dcterms:W3CDTF">2025-03-08T17:07:19Z</dcterms:modified>
</cp:coreProperties>
</file>