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20"/>
  </p:notesMasterIdLst>
  <p:sldIdLst>
    <p:sldId id="273" r:id="rId3"/>
    <p:sldId id="291" r:id="rId4"/>
    <p:sldId id="258" r:id="rId5"/>
    <p:sldId id="447" r:id="rId6"/>
    <p:sldId id="489" r:id="rId7"/>
    <p:sldId id="573" r:id="rId8"/>
    <p:sldId id="292" r:id="rId9"/>
    <p:sldId id="521" r:id="rId10"/>
    <p:sldId id="579" r:id="rId11"/>
    <p:sldId id="293" r:id="rId12"/>
    <p:sldId id="499" r:id="rId13"/>
    <p:sldId id="574" r:id="rId14"/>
    <p:sldId id="575" r:id="rId15"/>
    <p:sldId id="577" r:id="rId16"/>
    <p:sldId id="576" r:id="rId17"/>
    <p:sldId id="421" r:id="rId18"/>
    <p:sldId id="394" r:id="rId19"/>
    <p:sldId id="490" r:id="rId20"/>
    <p:sldId id="524" r:id="rId21"/>
    <p:sldId id="523" r:id="rId22"/>
    <p:sldId id="525" r:id="rId23"/>
    <p:sldId id="522" r:id="rId24"/>
    <p:sldId id="395" r:id="rId25"/>
    <p:sldId id="493" r:id="rId26"/>
    <p:sldId id="492" r:id="rId27"/>
    <p:sldId id="491" r:id="rId28"/>
    <p:sldId id="494" r:id="rId29"/>
    <p:sldId id="495" r:id="rId30"/>
    <p:sldId id="496" r:id="rId31"/>
    <p:sldId id="497" r:id="rId32"/>
    <p:sldId id="498" r:id="rId33"/>
    <p:sldId id="449" r:id="rId34"/>
    <p:sldId id="453" r:id="rId35"/>
    <p:sldId id="500" r:id="rId36"/>
    <p:sldId id="529" r:id="rId37"/>
    <p:sldId id="526" r:id="rId38"/>
    <p:sldId id="502" r:id="rId39"/>
    <p:sldId id="454" r:id="rId40"/>
    <p:sldId id="501" r:id="rId41"/>
    <p:sldId id="530" r:id="rId42"/>
    <p:sldId id="528" r:id="rId43"/>
    <p:sldId id="527" r:id="rId44"/>
    <p:sldId id="531" r:id="rId45"/>
    <p:sldId id="455" r:id="rId46"/>
    <p:sldId id="503" r:id="rId47"/>
    <p:sldId id="532" r:id="rId48"/>
    <p:sldId id="536" r:id="rId49"/>
    <p:sldId id="541" r:id="rId50"/>
    <p:sldId id="540" r:id="rId51"/>
    <p:sldId id="539" r:id="rId52"/>
    <p:sldId id="538" r:id="rId53"/>
    <p:sldId id="456" r:id="rId54"/>
    <p:sldId id="504" r:id="rId55"/>
    <p:sldId id="543" r:id="rId56"/>
    <p:sldId id="542" r:id="rId57"/>
    <p:sldId id="537" r:id="rId58"/>
    <p:sldId id="457" r:id="rId59"/>
    <p:sldId id="465" r:id="rId60"/>
    <p:sldId id="506" r:id="rId61"/>
    <p:sldId id="544" r:id="rId62"/>
    <p:sldId id="508" r:id="rId63"/>
    <p:sldId id="512" r:id="rId64"/>
    <p:sldId id="558" r:id="rId65"/>
    <p:sldId id="557" r:id="rId66"/>
    <p:sldId id="466" r:id="rId67"/>
    <p:sldId id="507" r:id="rId68"/>
    <p:sldId id="511" r:id="rId69"/>
    <p:sldId id="513" r:id="rId70"/>
    <p:sldId id="440" r:id="rId71"/>
    <p:sldId id="509" r:id="rId72"/>
    <p:sldId id="561" r:id="rId73"/>
    <p:sldId id="564" r:id="rId74"/>
    <p:sldId id="560" r:id="rId75"/>
    <p:sldId id="562" r:id="rId76"/>
    <p:sldId id="565" r:id="rId77"/>
    <p:sldId id="559" r:id="rId78"/>
    <p:sldId id="563" r:id="rId79"/>
    <p:sldId id="578" r:id="rId80"/>
    <p:sldId id="514" r:id="rId81"/>
    <p:sldId id="474" r:id="rId82"/>
    <p:sldId id="566" r:id="rId83"/>
    <p:sldId id="510" r:id="rId84"/>
    <p:sldId id="459" r:id="rId85"/>
    <p:sldId id="515" r:id="rId86"/>
    <p:sldId id="556" r:id="rId87"/>
    <p:sldId id="567" r:id="rId88"/>
    <p:sldId id="475" r:id="rId89"/>
    <p:sldId id="516" r:id="rId90"/>
    <p:sldId id="568" r:id="rId91"/>
    <p:sldId id="569" r:id="rId92"/>
    <p:sldId id="570" r:id="rId93"/>
    <p:sldId id="571" r:id="rId94"/>
    <p:sldId id="476" r:id="rId95"/>
    <p:sldId id="517" r:id="rId96"/>
    <p:sldId id="572" r:id="rId97"/>
    <p:sldId id="553" r:id="rId98"/>
    <p:sldId id="552" r:id="rId99"/>
    <p:sldId id="551" r:id="rId100"/>
    <p:sldId id="462" r:id="rId101"/>
    <p:sldId id="477" r:id="rId102"/>
    <p:sldId id="479" r:id="rId103"/>
    <p:sldId id="488" r:id="rId104"/>
    <p:sldId id="486" r:id="rId105"/>
    <p:sldId id="487" r:id="rId106"/>
    <p:sldId id="445" r:id="rId107"/>
    <p:sldId id="519" r:id="rId108"/>
    <p:sldId id="547" r:id="rId109"/>
    <p:sldId id="546" r:id="rId110"/>
    <p:sldId id="545" r:id="rId111"/>
    <p:sldId id="463" r:id="rId112"/>
    <p:sldId id="549" r:id="rId113"/>
    <p:sldId id="550" r:id="rId114"/>
    <p:sldId id="548" r:id="rId115"/>
    <p:sldId id="464" r:id="rId116"/>
    <p:sldId id="392" r:id="rId117"/>
    <p:sldId id="338" r:id="rId118"/>
    <p:sldId id="413" r:id="rId11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684" autoAdjust="0"/>
    <p:restoredTop sz="94434" autoAdjust="0"/>
  </p:normalViewPr>
  <p:slideViewPr>
    <p:cSldViewPr>
      <p:cViewPr varScale="1">
        <p:scale>
          <a:sx n="68" d="100"/>
          <a:sy n="68" d="100"/>
        </p:scale>
        <p:origin x="48" y="7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117" Type="http://schemas.openxmlformats.org/officeDocument/2006/relationships/slide" Target="slides/slide115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slide" Target="slides/slide87.xml"/><Relationship Id="rId112" Type="http://schemas.openxmlformats.org/officeDocument/2006/relationships/slide" Target="slides/slide110.xml"/><Relationship Id="rId16" Type="http://schemas.openxmlformats.org/officeDocument/2006/relationships/slide" Target="slides/slide14.xml"/><Relationship Id="rId107" Type="http://schemas.openxmlformats.org/officeDocument/2006/relationships/slide" Target="slides/slide105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102" Type="http://schemas.openxmlformats.org/officeDocument/2006/relationships/slide" Target="slides/slide100.xml"/><Relationship Id="rId123" Type="http://schemas.openxmlformats.org/officeDocument/2006/relationships/theme" Target="theme/theme1.xml"/><Relationship Id="rId5" Type="http://schemas.openxmlformats.org/officeDocument/2006/relationships/slide" Target="slides/slide3.xml"/><Relationship Id="rId90" Type="http://schemas.openxmlformats.org/officeDocument/2006/relationships/slide" Target="slides/slide88.xml"/><Relationship Id="rId95" Type="http://schemas.openxmlformats.org/officeDocument/2006/relationships/slide" Target="slides/slide93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113" Type="http://schemas.openxmlformats.org/officeDocument/2006/relationships/slide" Target="slides/slide111.xml"/><Relationship Id="rId118" Type="http://schemas.openxmlformats.org/officeDocument/2006/relationships/slide" Target="slides/slide116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59" Type="http://schemas.openxmlformats.org/officeDocument/2006/relationships/slide" Target="slides/slide57.xml"/><Relationship Id="rId103" Type="http://schemas.openxmlformats.org/officeDocument/2006/relationships/slide" Target="slides/slide101.xml"/><Relationship Id="rId108" Type="http://schemas.openxmlformats.org/officeDocument/2006/relationships/slide" Target="slides/slide106.xml"/><Relationship Id="rId124" Type="http://schemas.openxmlformats.org/officeDocument/2006/relationships/tableStyles" Target="tableStyles.xml"/><Relationship Id="rId54" Type="http://schemas.openxmlformats.org/officeDocument/2006/relationships/slide" Target="slides/slide52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91" Type="http://schemas.openxmlformats.org/officeDocument/2006/relationships/slide" Target="slides/slide89.xml"/><Relationship Id="rId96" Type="http://schemas.openxmlformats.org/officeDocument/2006/relationships/slide" Target="slides/slide9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49" Type="http://schemas.openxmlformats.org/officeDocument/2006/relationships/slide" Target="slides/slide47.xml"/><Relationship Id="rId114" Type="http://schemas.openxmlformats.org/officeDocument/2006/relationships/slide" Target="slides/slide112.xml"/><Relationship Id="rId119" Type="http://schemas.openxmlformats.org/officeDocument/2006/relationships/slide" Target="slides/slide117.xml"/><Relationship Id="rId44" Type="http://schemas.openxmlformats.org/officeDocument/2006/relationships/slide" Target="slides/slide42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109" Type="http://schemas.openxmlformats.org/officeDocument/2006/relationships/slide" Target="slides/slide10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slide" Target="slides/slide95.xml"/><Relationship Id="rId104" Type="http://schemas.openxmlformats.org/officeDocument/2006/relationships/slide" Target="slides/slide102.xml"/><Relationship Id="rId120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110" Type="http://schemas.openxmlformats.org/officeDocument/2006/relationships/slide" Target="slides/slide108.xml"/><Relationship Id="rId115" Type="http://schemas.openxmlformats.org/officeDocument/2006/relationships/slide" Target="slides/slide113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openxmlformats.org/officeDocument/2006/relationships/slide" Target="slides/slide98.xml"/><Relationship Id="rId105" Type="http://schemas.openxmlformats.org/officeDocument/2006/relationships/slide" Target="slides/slide103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98" Type="http://schemas.openxmlformats.org/officeDocument/2006/relationships/slide" Target="slides/slide96.xml"/><Relationship Id="rId121" Type="http://schemas.openxmlformats.org/officeDocument/2006/relationships/presProps" Target="presProps.xml"/><Relationship Id="rId3" Type="http://schemas.openxmlformats.org/officeDocument/2006/relationships/slide" Target="slides/slide1.xml"/><Relationship Id="rId25" Type="http://schemas.openxmlformats.org/officeDocument/2006/relationships/slide" Target="slides/slide23.xml"/><Relationship Id="rId46" Type="http://schemas.openxmlformats.org/officeDocument/2006/relationships/slide" Target="slides/slide44.xml"/><Relationship Id="rId67" Type="http://schemas.openxmlformats.org/officeDocument/2006/relationships/slide" Target="slides/slide65.xml"/><Relationship Id="rId116" Type="http://schemas.openxmlformats.org/officeDocument/2006/relationships/slide" Target="slides/slide11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62" Type="http://schemas.openxmlformats.org/officeDocument/2006/relationships/slide" Target="slides/slide60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111" Type="http://schemas.openxmlformats.org/officeDocument/2006/relationships/slide" Target="slides/slide109.xml"/><Relationship Id="rId15" Type="http://schemas.openxmlformats.org/officeDocument/2006/relationships/slide" Target="slides/slide13.xml"/><Relationship Id="rId36" Type="http://schemas.openxmlformats.org/officeDocument/2006/relationships/slide" Target="slides/slide34.xml"/><Relationship Id="rId57" Type="http://schemas.openxmlformats.org/officeDocument/2006/relationships/slide" Target="slides/slide55.xml"/><Relationship Id="rId106" Type="http://schemas.openxmlformats.org/officeDocument/2006/relationships/slide" Target="slides/slide104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52" Type="http://schemas.openxmlformats.org/officeDocument/2006/relationships/slide" Target="slides/slide50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94" Type="http://schemas.openxmlformats.org/officeDocument/2006/relationships/slide" Target="slides/slide92.xml"/><Relationship Id="rId99" Type="http://schemas.openxmlformats.org/officeDocument/2006/relationships/slide" Target="slides/slide97.xml"/><Relationship Id="rId101" Type="http://schemas.openxmlformats.org/officeDocument/2006/relationships/slide" Target="slides/slide99.xml"/><Relationship Id="rId1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707165-6FA1-4F51-AE2F-3E34D4EE60DB}" type="datetimeFigureOut">
              <a:rPr lang="fr-FR" smtClean="0"/>
              <a:pPr/>
              <a:t>19/10/2024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2BD788-2CE9-4B58-A72D-7A842BE88AE5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224371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16387" name="Espace réservé des commentair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fr-FR" dirty="0" smtClean="0"/>
          </a:p>
        </p:txBody>
      </p:sp>
    </p:spTree>
    <p:extLst>
      <p:ext uri="{BB962C8B-B14F-4D97-AF65-F5344CB8AC3E}">
        <p14:creationId xmlns:p14="http://schemas.microsoft.com/office/powerpoint/2010/main" val="7708524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2BD788-2CE9-4B58-A72D-7A842BE88AE5}" type="slidenum">
              <a:rPr lang="fr-FR" smtClean="0"/>
              <a:pPr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580387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2BD788-2CE9-4B58-A72D-7A842BE88AE5}" type="slidenum">
              <a:rPr lang="fr-FR" smtClean="0"/>
              <a:pPr/>
              <a:t>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655512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2BD788-2CE9-4B58-A72D-7A842BE88AE5}" type="slidenum">
              <a:rPr lang="fr-FR" smtClean="0"/>
              <a:pPr/>
              <a:t>8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98630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2BD788-2CE9-4B58-A72D-7A842BE88AE5}" type="slidenum">
              <a:rPr lang="fr-FR" smtClean="0"/>
              <a:pPr/>
              <a:t>9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119987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16387" name="Espace réservé des commentair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7841526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1799A-AD1E-4EC4-BAE9-72E49FCD3627}" type="datetime1">
              <a:rPr lang="fr-FR" smtClean="0"/>
              <a:t>19/10/2024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01B79-79D6-441E-BF1E-BF238058A2BE}" type="datetime1">
              <a:rPr lang="fr-FR" smtClean="0"/>
              <a:t>19/10/2024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01902-2934-498C-B9CD-ABFFBDC132D2}" type="datetime1">
              <a:rPr lang="fr-FR" smtClean="0"/>
              <a:t>19/10/2024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6BA51-70A3-4108-A886-33F689CBCDCE}" type="datetime1">
              <a:rPr lang="fr-FR" smtClean="0"/>
              <a:t>19/10/2024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6FC74-5BB7-4110-9531-403E0DC6FCC3}" type="datetime1">
              <a:rPr lang="fr-FR" smtClean="0"/>
              <a:t>19/10/2024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85D57-B0FA-4850-A7A9-46BC746BF18D}" type="datetime1">
              <a:rPr lang="fr-FR" smtClean="0"/>
              <a:t>19/10/2024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3EED2-DA68-42E6-BB32-4BDF58561745}" type="datetime1">
              <a:rPr lang="fr-FR" smtClean="0"/>
              <a:t>19/10/2024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E66D5-8CED-4255-B840-C3038CA10D44}" type="datetime1">
              <a:rPr lang="fr-FR" smtClean="0"/>
              <a:t>19/10/2024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A74B6-0C57-4CBC-8085-4FAD680CE4E3}" type="datetime1">
              <a:rPr lang="fr-FR" smtClean="0"/>
              <a:t>19/10/2024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783B9-A837-41A0-BB3E-10BAC9E24798}" type="datetime1">
              <a:rPr lang="fr-FR" smtClean="0"/>
              <a:t>19/10/2024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4622B-0FD0-4642-A755-FF44A3648A33}" type="datetime1">
              <a:rPr lang="fr-FR" smtClean="0"/>
              <a:t>19/10/2024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145A6B-277E-4029-9E0B-0271FFE59EB6}" type="datetime1">
              <a:rPr lang="fr-FR" smtClean="0"/>
              <a:t>19/10/2024</a:t>
            </a:fld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27F164-2AFA-4878-B6DC-B21DA486304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0303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EEAD95-047D-434C-94E6-21EBF421E084}" type="datetime1">
              <a:rPr lang="fr-FR" smtClean="0"/>
              <a:t>19/10/2024</a:t>
            </a:fld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17CCD0-4F98-4392-B995-B19C0157D76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57935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B0E85B-6058-4423-8F7A-4FBB18FA07C1}" type="datetime1">
              <a:rPr lang="fr-FR" smtClean="0"/>
              <a:t>19/10/2024</a:t>
            </a:fld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47F796-EFDC-4369-84AD-973929CACFD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7415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914402" y="1981201"/>
            <a:ext cx="5077884" cy="41132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95484" y="1981201"/>
            <a:ext cx="5080000" cy="41132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BA6324-8179-42BA-9313-AB3649298C41}" type="datetime1">
              <a:rPr lang="fr-FR" smtClean="0"/>
              <a:t>19/10/2024</a:t>
            </a:fld>
            <a:endParaRPr lang="fr-FR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CA6A9D-AE4D-4B9F-82A2-A8A1879CF1FD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15076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149203-36D1-40BE-98DA-9DA8422BCD53}" type="datetime1">
              <a:rPr lang="fr-FR" smtClean="0"/>
              <a:t>19/10/2024</a:t>
            </a:fld>
            <a:endParaRPr lang="fr-FR"/>
          </a:p>
        </p:txBody>
      </p:sp>
      <p:sp>
        <p:nvSpPr>
          <p:cNvPr id="8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6DD686-4B0E-404B-9A8C-39B7649B33F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70981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F477A3-8FE0-4B7E-A69A-AF8A31224535}" type="datetime1">
              <a:rPr lang="fr-FR" smtClean="0"/>
              <a:t>19/10/2024</a:t>
            </a:fld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F7A8C2-4022-4423-AD6A-3808F8CCE67A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0138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4265DF-C9D6-4224-B0D0-B18720FAE376}" type="datetime1">
              <a:rPr lang="fr-FR" smtClean="0"/>
              <a:t>19/10/2024</a:t>
            </a:fld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70BB9D-EEFD-47F1-8456-A76ECCAD119E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03841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AB563E-CA6D-4202-9FD3-4E9C2001BF5C}" type="datetime1">
              <a:rPr lang="fr-FR" smtClean="0"/>
              <a:t>19/10/2024</a:t>
            </a:fld>
            <a:endParaRPr lang="fr-FR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A92917-01B5-4E8C-BFEC-18FD0A17E87A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67577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BCC719-82BB-485C-9884-0955D2EDAFDA}" type="datetime1">
              <a:rPr lang="fr-FR" smtClean="0"/>
              <a:t>19/10/2024</a:t>
            </a:fld>
            <a:endParaRPr lang="fr-FR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C56B6E-88B6-4A57-AEFD-EA1E6BE9AD79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73684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E81FDD-F3A2-4361-94BD-09467961B8B4}" type="datetime1">
              <a:rPr lang="fr-FR" smtClean="0"/>
              <a:t>19/10/2024</a:t>
            </a:fld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F4B7C2-8CE4-4BAD-9D0C-80765E61DE9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2898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686802" y="609603"/>
            <a:ext cx="2588684" cy="5484813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914400" y="609603"/>
            <a:ext cx="7569200" cy="5484813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BB1012-3A3D-4B91-A754-A02A28E75EEE}" type="datetime1">
              <a:rPr lang="fr-FR" smtClean="0"/>
              <a:t>19/10/2024</a:t>
            </a:fld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99EC31-E3B7-4FC8-BB6A-FBF82360E3C3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39342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14402" y="609603"/>
            <a:ext cx="10361084" cy="1141413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BA0297-0565-4E69-9C42-831900A170AB}" type="datetime1">
              <a:rPr lang="fr-FR" smtClean="0"/>
              <a:t>19/10/2024</a:t>
            </a:fld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9E9879-8CFB-4292-8612-256D92E5B28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173744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BF9D3C-AC6F-429E-8EA4-013C4366CE2E}" type="datetime1">
              <a:rPr lang="fr-FR" smtClean="0"/>
              <a:t>19/10/2024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hf sldNum="0"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914402" y="609603"/>
            <a:ext cx="10361084" cy="1141413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vert="horz" wrap="square" lIns="90000" tIns="46800" rIns="90000" bIns="46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Cliquez pour éditer le format du texte-titre</a:t>
            </a:r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2" y="1981201"/>
            <a:ext cx="10361084" cy="4113213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Cliquez pour éditer le format du plan de texte</a:t>
            </a:r>
          </a:p>
          <a:p>
            <a:pPr lvl="1"/>
            <a:r>
              <a:rPr lang="en-GB" smtClean="0"/>
              <a:t>Second niveau de plan</a:t>
            </a:r>
          </a:p>
          <a:p>
            <a:pPr lvl="2"/>
            <a:r>
              <a:rPr lang="en-GB" smtClean="0"/>
              <a:t>Troisième niveau de plan</a:t>
            </a:r>
          </a:p>
          <a:p>
            <a:pPr lvl="3"/>
            <a:r>
              <a:rPr lang="en-GB" smtClean="0"/>
              <a:t>Quatrième niveau de plan</a:t>
            </a:r>
          </a:p>
          <a:p>
            <a:pPr lvl="4"/>
            <a:r>
              <a:rPr lang="en-GB" smtClean="0"/>
              <a:t>Cinquième niveau de plan</a:t>
            </a:r>
          </a:p>
          <a:p>
            <a:pPr lvl="4"/>
            <a:r>
              <a:rPr lang="en-GB" smtClean="0"/>
              <a:t>Sixième niveau de plan</a:t>
            </a:r>
          </a:p>
          <a:p>
            <a:pPr lvl="4"/>
            <a:r>
              <a:rPr lang="en-GB" smtClean="0"/>
              <a:t>Septième niveau de plan</a:t>
            </a:r>
          </a:p>
          <a:p>
            <a:pPr lvl="4"/>
            <a:r>
              <a:rPr lang="en-GB" smtClean="0"/>
              <a:t>Huitième niveau de plan</a:t>
            </a:r>
          </a:p>
          <a:p>
            <a:pPr lvl="4"/>
            <a:r>
              <a:rPr lang="en-GB" smtClean="0"/>
              <a:t>Neuvième niveau de plan</a:t>
            </a:r>
          </a:p>
        </p:txBody>
      </p:sp>
      <p:sp>
        <p:nvSpPr>
          <p:cNvPr id="2" name="Rectangle 3"/>
          <p:cNvSpPr>
            <a:spLocks noGrp="1" noChangeArrowheads="1"/>
          </p:cNvSpPr>
          <p:nvPr>
            <p:ph type="dt"/>
          </p:nvPr>
        </p:nvSpPr>
        <p:spPr bwMode="auto">
          <a:xfrm>
            <a:off x="914402" y="6248403"/>
            <a:ext cx="2537884" cy="4556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mtClean="0">
                <a:solidFill>
                  <a:srgbClr val="000000"/>
                </a:solidFill>
                <a:ea typeface="Arial Unicode MS" pitchFamily="34" charset="-128"/>
                <a:cs typeface="Arial Unicode MS" pitchFamily="34" charset="-128"/>
              </a:defRPr>
            </a:lvl1pPr>
          </a:lstStyle>
          <a:p>
            <a:pPr defTabSz="449263" fontAlgn="base">
              <a:spcBef>
                <a:spcPct val="0"/>
              </a:spcBef>
              <a:spcAft>
                <a:spcPct val="0"/>
              </a:spcAft>
              <a:buSzPct val="100000"/>
              <a:defRPr/>
            </a:pPr>
            <a:fld id="{AFBB3673-710D-4D29-AC82-167E94112C65}" type="datetime1">
              <a:rPr lang="fr-FR" sz="2400" smtClean="0"/>
              <a:pPr defTabSz="449263" fontAlgn="base">
                <a:spcBef>
                  <a:spcPct val="0"/>
                </a:spcBef>
                <a:spcAft>
                  <a:spcPct val="0"/>
                </a:spcAft>
                <a:buSzPct val="100000"/>
                <a:defRPr/>
              </a:pPr>
              <a:t>19/10/2024</a:t>
            </a:fld>
            <a:endParaRPr lang="fr-FR" sz="240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ftr"/>
          </p:nvPr>
        </p:nvSpPr>
        <p:spPr bwMode="auto">
          <a:xfrm>
            <a:off x="4165602" y="6248403"/>
            <a:ext cx="3858684" cy="4556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ea typeface="Arial Unicode MS" pitchFamily="34" charset="-128"/>
                <a:cs typeface="Arial Unicode MS" pitchFamily="34" charset="-128"/>
              </a:defRPr>
            </a:lvl1pPr>
          </a:lstStyle>
          <a:p>
            <a:pPr defTabSz="449263" fontAlgn="base">
              <a:spcBef>
                <a:spcPct val="0"/>
              </a:spcBef>
              <a:spcAft>
                <a:spcPct val="0"/>
              </a:spcAft>
              <a:buSzPct val="100000"/>
              <a:defRPr/>
            </a:pPr>
            <a:endParaRPr lang="fr-FR" sz="240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sldNum"/>
          </p:nvPr>
        </p:nvSpPr>
        <p:spPr bwMode="auto">
          <a:xfrm>
            <a:off x="11277602" y="6629403"/>
            <a:ext cx="2537884" cy="4556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000">
                <a:solidFill>
                  <a:srgbClr val="000000"/>
                </a:solidFill>
                <a:ea typeface="Arial Unicode MS" pitchFamily="34" charset="-128"/>
                <a:cs typeface="Arial Unicode MS" pitchFamily="34" charset="-128"/>
              </a:defRPr>
            </a:lvl1pPr>
          </a:lstStyle>
          <a:p>
            <a:pPr defTabSz="449263" fontAlgn="base">
              <a:spcBef>
                <a:spcPct val="0"/>
              </a:spcBef>
              <a:spcAft>
                <a:spcPct val="0"/>
              </a:spcAft>
              <a:buSzPct val="100000"/>
              <a:defRPr/>
            </a:pPr>
            <a:fld id="{7FD84E5A-625F-47DD-A5B9-EA1D8EC3DB43}" type="slidenum">
              <a:rPr lang="fr-FR" smtClean="0"/>
              <a:pPr defTabSz="449263" fontAlgn="base">
                <a:spcBef>
                  <a:spcPct val="0"/>
                </a:spcBef>
                <a:spcAft>
                  <a:spcPct val="0"/>
                </a:spcAft>
                <a:buSzPct val="100000"/>
                <a:defRPr/>
              </a:pPr>
              <a:t>‹N°›</a:t>
            </a:fld>
            <a:endParaRPr lang="fr-FR"/>
          </a:p>
        </p:txBody>
      </p:sp>
      <p:pic>
        <p:nvPicPr>
          <p:cNvPr id="1031" name="Picture 6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0" y="0"/>
            <a:ext cx="12192000" cy="12954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5467449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hf sldNum="0" hdr="0" ftr="0"/>
  <p:txStyles>
    <p:titleStyle>
      <a:lvl1pPr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+mj-lt"/>
          <a:ea typeface="+mj-ea"/>
          <a:cs typeface="+mj-cs"/>
        </a:defRPr>
      </a:lvl1pPr>
      <a:lvl2pPr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2pPr>
      <a:lvl3pPr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3pPr>
      <a:lvl4pPr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4pPr>
      <a:lvl5pPr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5pPr>
      <a:lvl6pPr marL="2514600" indent="-228600" algn="ctr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6pPr>
      <a:lvl7pPr marL="2971800" indent="-228600" algn="ctr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7pPr>
      <a:lvl8pPr marL="3429000" indent="-228600" algn="ctr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8pPr>
      <a:lvl9pPr marL="3886200" indent="-228600" algn="ctr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9pPr>
    </p:titleStyle>
    <p:bodyStyle>
      <a:lvl1pPr marL="342900" indent="-342900" algn="l" defTabSz="449263" rtl="0" eaLnBrk="0" fontAlgn="base" hangingPunct="0">
        <a:spcBef>
          <a:spcPts val="8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•"/>
        <a:defRPr sz="3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49263" rtl="0" eaLnBrk="0" fontAlgn="base" hangingPunct="0">
        <a:spcBef>
          <a:spcPts val="7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–"/>
        <a:defRPr sz="2800">
          <a:solidFill>
            <a:srgbClr val="000000"/>
          </a:solidFill>
          <a:latin typeface="+mn-lt"/>
          <a:ea typeface="+mn-ea"/>
        </a:defRPr>
      </a:lvl2pPr>
      <a:lvl3pPr marL="1143000" indent="-228600" algn="l" defTabSz="449263" rtl="0" eaLnBrk="0" fontAlgn="base" hangingPunct="0">
        <a:spcBef>
          <a:spcPts val="6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•"/>
        <a:defRPr sz="2400">
          <a:solidFill>
            <a:srgbClr val="000000"/>
          </a:solidFill>
          <a:latin typeface="+mn-lt"/>
          <a:ea typeface="+mn-ea"/>
        </a:defRPr>
      </a:lvl3pPr>
      <a:lvl4pPr marL="16002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–"/>
        <a:defRPr sz="2000">
          <a:solidFill>
            <a:srgbClr val="000000"/>
          </a:solidFill>
          <a:latin typeface="+mn-lt"/>
          <a:ea typeface="+mn-ea"/>
        </a:defRPr>
      </a:lvl4pPr>
      <a:lvl5pPr marL="20574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»"/>
        <a:defRPr sz="2000">
          <a:solidFill>
            <a:srgbClr val="000000"/>
          </a:solidFill>
          <a:latin typeface="+mn-lt"/>
          <a:ea typeface="+mn-ea"/>
        </a:defRPr>
      </a:lvl5pPr>
      <a:lvl6pPr marL="2514600" indent="-228600" algn="l" defTabSz="449263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2000">
          <a:solidFill>
            <a:srgbClr val="000000"/>
          </a:solidFill>
          <a:latin typeface="+mn-lt"/>
          <a:ea typeface="+mn-ea"/>
        </a:defRPr>
      </a:lvl6pPr>
      <a:lvl7pPr marL="2971800" indent="-228600" algn="l" defTabSz="449263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2000">
          <a:solidFill>
            <a:srgbClr val="000000"/>
          </a:solidFill>
          <a:latin typeface="+mn-lt"/>
          <a:ea typeface="+mn-ea"/>
        </a:defRPr>
      </a:lvl7pPr>
      <a:lvl8pPr marL="3429000" indent="-228600" algn="l" defTabSz="449263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2000">
          <a:solidFill>
            <a:srgbClr val="000000"/>
          </a:solidFill>
          <a:latin typeface="+mn-lt"/>
          <a:ea typeface="+mn-ea"/>
        </a:defRPr>
      </a:lvl8pPr>
      <a:lvl9pPr marL="3886200" indent="-228600" algn="l" defTabSz="449263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2000">
          <a:solidFill>
            <a:srgbClr val="000000"/>
          </a:solidFill>
          <a:latin typeface="+mn-lt"/>
          <a:ea typeface="+mn-ea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à coins arrondis 8"/>
          <p:cNvSpPr/>
          <p:nvPr/>
        </p:nvSpPr>
        <p:spPr bwMode="auto">
          <a:xfrm>
            <a:off x="10668000" y="2786058"/>
            <a:ext cx="7143800" cy="785818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endParaRPr lang="fr-FR" sz="2400" dirty="0">
              <a:solidFill>
                <a:prstClr val="white"/>
              </a:solidFill>
            </a:endParaRPr>
          </a:p>
        </p:txBody>
      </p:sp>
      <p:pic>
        <p:nvPicPr>
          <p:cNvPr id="2054" name="Picture 7" descr="algeria_flags_3dclipart_www"/>
          <p:cNvPicPr>
            <a:picLocks noChangeAspect="1" noChangeArrowheads="1" noCrop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416480" y="-71462"/>
            <a:ext cx="1728787" cy="1223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5" name="Picture 7" descr="algeria_flags_3dclipart_www"/>
          <p:cNvPicPr>
            <a:picLocks noChangeAspect="1" noChangeArrowheads="1" noCrop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732" y="0"/>
            <a:ext cx="1728788" cy="1223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Espace réservé de la date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B4B70AF9-3FB6-400F-9757-12747EE37EB3}" type="datetime1">
              <a:rPr lang="fr-FR" smtClean="0"/>
              <a:t>19/10/2024</a:t>
            </a:fld>
            <a:endParaRPr lang="fr-FR" dirty="0"/>
          </a:p>
        </p:txBody>
      </p:sp>
      <p:sp>
        <p:nvSpPr>
          <p:cNvPr id="6" name="Rectangle à coins arrondis 5"/>
          <p:cNvSpPr/>
          <p:nvPr/>
        </p:nvSpPr>
        <p:spPr>
          <a:xfrm>
            <a:off x="1127448" y="2030870"/>
            <a:ext cx="9793088" cy="3456385"/>
          </a:xfrm>
          <a:prstGeom prst="roundRect">
            <a:avLst>
              <a:gd name="adj" fmla="val 26762"/>
            </a:avLst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 defTabSz="10096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ar-DZ" altLang="zh-CN" sz="6000" b="1" u="sng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itchFamily="18" charset="0"/>
              </a:rPr>
              <a:t>ثــانــويــة أسـي يــوسـف بــوغــنـي</a:t>
            </a:r>
            <a:r>
              <a:rPr lang="ar-DZ" altLang="zh-CN" sz="6000" b="1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itchFamily="18" charset="0"/>
              </a:rPr>
              <a:t> </a:t>
            </a:r>
          </a:p>
          <a:p>
            <a:pPr lvl="0" algn="ctr" defTabSz="100965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ar-DZ" altLang="zh-CN" sz="6000" b="1" u="sng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itchFamily="18" charset="0"/>
                <a:cs typeface="+mj-cs"/>
              </a:rPr>
              <a:t>الـمــــادة : الـمــعـــلـــومــــاتـــيـــة</a:t>
            </a:r>
            <a:r>
              <a:rPr lang="ar-DZ" altLang="zh-CN" sz="6000" b="1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itchFamily="18" charset="0"/>
                <a:cs typeface="+mj-cs"/>
              </a:rPr>
              <a:t> </a:t>
            </a:r>
            <a:endParaRPr lang="ar-SA" altLang="zh-CN" sz="6000" b="1" dirty="0" smtClean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itchFamily="34" charset="0"/>
              <a:cs typeface="+mj-cs"/>
            </a:endParaRPr>
          </a:p>
          <a:p>
            <a:pPr algn="ctr">
              <a:lnSpc>
                <a:spcPct val="150000"/>
              </a:lnSpc>
            </a:pPr>
            <a:endParaRPr lang="fr-FR" sz="50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762344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à coins arrondis 4"/>
          <p:cNvSpPr/>
          <p:nvPr/>
        </p:nvSpPr>
        <p:spPr>
          <a:xfrm>
            <a:off x="587388" y="3645024"/>
            <a:ext cx="10693188" cy="2304256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r" rtl="1"/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ال</a:t>
            </a:r>
            <a:r>
              <a:rPr lang="ar-DZ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ـ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وح</a:t>
            </a:r>
            <a:r>
              <a:rPr lang="ar-DZ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ـــ</a:t>
            </a:r>
            <a:r>
              <a:rPr lang="ar-SA" altLang="zh-CN" sz="4000" b="1" dirty="0" err="1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دة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 ال</a:t>
            </a:r>
            <a:r>
              <a:rPr lang="ar-DZ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ـ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ت</a:t>
            </a:r>
            <a:r>
              <a:rPr lang="ar-DZ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ــ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ع</a:t>
            </a:r>
            <a:r>
              <a:rPr lang="ar-DZ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ـــ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ل</a:t>
            </a:r>
            <a:r>
              <a:rPr lang="ar-DZ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ـــ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ي</a:t>
            </a:r>
            <a:r>
              <a:rPr lang="ar-DZ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ــــ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م</a:t>
            </a:r>
            <a:r>
              <a:rPr lang="ar-DZ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ـــ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ي</a:t>
            </a:r>
            <a:r>
              <a:rPr lang="ar-DZ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ـــ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ة :</a:t>
            </a:r>
            <a:r>
              <a:rPr lang="ar-DZ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B050"/>
                </a:solidFill>
                <a:cs typeface="Times New Roman" panose="02020603050405020304" pitchFamily="18" charset="0"/>
              </a:rPr>
              <a:t>......................................</a:t>
            </a:r>
            <a:r>
              <a:rPr lang="fr-FR" sz="4000" b="1" dirty="0">
                <a:solidFill>
                  <a:srgbClr val="00B05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B050"/>
                </a:solidFill>
                <a:cs typeface="Times New Roman" panose="02020603050405020304" pitchFamily="18" charset="0"/>
              </a:rPr>
              <a:t>  </a:t>
            </a:r>
            <a:endParaRPr lang="ar-SA" altLang="zh-CN" sz="4000" b="1" dirty="0">
              <a:solidFill>
                <a:srgbClr val="00B050"/>
              </a:solidFill>
              <a:latin typeface="Times New Roman" pitchFamily="18" charset="0"/>
              <a:ea typeface="Times New Roman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à coins arrondis 5"/>
          <p:cNvSpPr/>
          <p:nvPr/>
        </p:nvSpPr>
        <p:spPr>
          <a:xfrm>
            <a:off x="587388" y="950541"/>
            <a:ext cx="10801200" cy="2448272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lvl="0" rtl="1">
              <a:lnSpc>
                <a:spcPct val="135000"/>
              </a:lnSpc>
            </a:pPr>
            <a:r>
              <a:rPr lang="ar-DZ" altLang="zh-CN" sz="4000" b="1" u="sng" dirty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itchFamily="18" charset="0"/>
              </a:rPr>
              <a:t>الـمـجــال </a:t>
            </a:r>
            <a:r>
              <a:rPr lang="ar-DZ" altLang="zh-CN" sz="4000" b="1" u="sng" dirty="0" err="1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itchFamily="18" charset="0"/>
              </a:rPr>
              <a:t>الـتَــعَـــلُــمِــي</a:t>
            </a:r>
            <a:r>
              <a:rPr lang="ar-DZ" altLang="zh-CN" sz="4000" b="1" u="sng" dirty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itchFamily="18" charset="0"/>
              </a:rPr>
              <a:t> : </a:t>
            </a:r>
            <a:r>
              <a:rPr lang="ar-DZ" altLang="zh-CN" sz="4000" b="1" u="sng" dirty="0" smtClean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itchFamily="18" charset="0"/>
              </a:rPr>
              <a:t>بــيــئـة الـتــعــامـل مـع الــحـاســـوب</a:t>
            </a:r>
            <a:endParaRPr lang="fr-FR" sz="4000" u="sng" dirty="0">
              <a:solidFill>
                <a:srgbClr val="FF0000"/>
              </a:solidFill>
            </a:endParaRPr>
          </a:p>
        </p:txBody>
      </p:sp>
      <p:sp>
        <p:nvSpPr>
          <p:cNvPr id="4" name="Espace réservé de la date 6"/>
          <p:cNvSpPr>
            <a:spLocks noGrp="1"/>
          </p:cNvSpPr>
          <p:nvPr>
            <p:ph type="dt" sz="half" idx="10"/>
          </p:nvPr>
        </p:nvSpPr>
        <p:spPr>
          <a:xfrm>
            <a:off x="587388" y="188640"/>
            <a:ext cx="2016224" cy="576064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fld id="{2901635A-126F-4D9B-99FC-E41D53661A20}" type="datetime1">
              <a:rPr lang="fr-FR" sz="2400" b="1" u="sng"/>
              <a:t>19/10/2024</a:t>
            </a:fld>
            <a:endParaRPr lang="fr-BE" sz="2400" b="1" u="sng" dirty="0"/>
          </a:p>
        </p:txBody>
      </p:sp>
    </p:spTree>
    <p:extLst>
      <p:ext uri="{BB962C8B-B14F-4D97-AF65-F5344CB8AC3E}">
        <p14:creationId xmlns:p14="http://schemas.microsoft.com/office/powerpoint/2010/main" val="41929088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6000" b="1" u="sng" dirty="0" smtClean="0">
                <a:solidFill>
                  <a:srgbClr val="FF0000"/>
                </a:solidFill>
                <a:cs typeface="+mj-cs"/>
              </a:rPr>
              <a:t>الإشــكــالــيــة</a:t>
            </a:r>
            <a:r>
              <a:rPr lang="ar-DZ" sz="6000" b="1" dirty="0" smtClean="0">
                <a:solidFill>
                  <a:srgbClr val="FF0000"/>
                </a:solidFill>
                <a:cs typeface="+mj-cs"/>
              </a:rPr>
              <a:t> :</a:t>
            </a:r>
            <a:endParaRPr lang="fr-FR" sz="6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95188"/>
            <a:ext cx="10814992" cy="5061165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30000"/>
              </a:lnSpc>
              <a:buNone/>
            </a:pPr>
            <a:endParaRPr lang="fr-FR" sz="600" b="1" dirty="0" smtClean="0">
              <a:cs typeface="+mj-cs"/>
            </a:endParaRPr>
          </a:p>
          <a:p>
            <a:pPr marL="0" indent="0" algn="just" rtl="1">
              <a:lnSpc>
                <a:spcPct val="130000"/>
              </a:lnSpc>
              <a:buNone/>
            </a:pPr>
            <a:r>
              <a:rPr lang="ar-DZ" sz="4400" b="1" dirty="0">
                <a:cs typeface="+mj-cs"/>
              </a:rPr>
              <a:t>مــا هــي الأخـــطـــار الّـتـي قَــدْ تُــلْــحِــقُ أضــــرَارًا بــالـبــيـــانـــات الــمــحـــفــــوظــة فـي الــحـــــاســــوب ؟ وبــمـاذا يــنــبـغـي أَنْ نُـولِـي </a:t>
            </a:r>
            <a:r>
              <a:rPr lang="ar-DZ" sz="4400" b="1" dirty="0" smtClean="0">
                <a:cs typeface="+mj-cs"/>
              </a:rPr>
              <a:t>الاِهْــتِـــمَـــامَ </a:t>
            </a:r>
            <a:r>
              <a:rPr lang="ar-DZ" sz="4400" b="1" dirty="0">
                <a:cs typeface="+mj-cs"/>
              </a:rPr>
              <a:t>أكــثــر لـضــمــان فــعـــالــيــة الـحـــاســـوب والاســتــفـــادة مِــنْـهُ لـمــدة </a:t>
            </a:r>
            <a:r>
              <a:rPr lang="ar-DZ" sz="4400" b="1" dirty="0" smtClean="0">
                <a:cs typeface="+mj-cs"/>
              </a:rPr>
              <a:t>أطـــول</a:t>
            </a:r>
            <a:r>
              <a:rPr lang="ar-DZ" sz="4800" b="1" dirty="0" smtClean="0">
                <a:cs typeface="+mj-cs"/>
              </a:rPr>
              <a:t> ؟</a:t>
            </a:r>
            <a:endParaRPr lang="fr-FR" sz="4800" b="1" dirty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19/10/2024</a:t>
            </a:fld>
            <a:endParaRPr lang="fr-BE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6000" b="1" u="sng" dirty="0">
                <a:solidFill>
                  <a:srgbClr val="FF0000"/>
                </a:solidFill>
                <a:cs typeface="+mj-cs"/>
              </a:rPr>
              <a:t>الإجــابــة</a:t>
            </a:r>
            <a:r>
              <a:rPr lang="ar-DZ" sz="6000" b="1" dirty="0" smtClean="0">
                <a:solidFill>
                  <a:srgbClr val="FF0000"/>
                </a:solidFill>
                <a:cs typeface="+mj-cs"/>
              </a:rPr>
              <a:t> :</a:t>
            </a:r>
            <a:endParaRPr lang="fr-FR" sz="6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95188"/>
            <a:ext cx="10814992" cy="5061165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30000"/>
              </a:lnSpc>
              <a:buNone/>
            </a:pPr>
            <a:endParaRPr lang="fr-FR" sz="600" b="1" dirty="0" smtClean="0">
              <a:cs typeface="+mj-cs"/>
            </a:endParaRPr>
          </a:p>
          <a:p>
            <a:pPr lvl="0" algn="r" rtl="1">
              <a:lnSpc>
                <a:spcPct val="150000"/>
              </a:lnSpc>
            </a:pPr>
            <a:r>
              <a:rPr lang="ar-DZ" sz="4400" b="1" dirty="0" smtClean="0">
                <a:cs typeface="+mj-cs"/>
              </a:rPr>
              <a:t>أبــرز الأخــطــار </a:t>
            </a:r>
            <a:r>
              <a:rPr lang="ar-DZ" sz="4400" b="1" dirty="0">
                <a:cs typeface="+mj-cs"/>
              </a:rPr>
              <a:t>الـمُــتَــرَبِــصَـة بـالــبــيــانــات </a:t>
            </a:r>
            <a:r>
              <a:rPr lang="ar-DZ" sz="4400" b="1" dirty="0" smtClean="0">
                <a:cs typeface="+mj-cs"/>
              </a:rPr>
              <a:t>هـي </a:t>
            </a:r>
            <a:r>
              <a:rPr lang="ar-DZ" sz="3600" b="1" dirty="0">
                <a:cs typeface="+mj-cs"/>
              </a:rPr>
              <a:t>:</a:t>
            </a:r>
            <a:r>
              <a:rPr lang="ar-DZ" sz="4400" b="1" dirty="0" smtClean="0">
                <a:cs typeface="+mj-cs"/>
              </a:rPr>
              <a:t> </a:t>
            </a:r>
            <a:r>
              <a:rPr lang="ar-DZ" sz="3600" baseline="-25000" dirty="0" smtClean="0">
                <a:cs typeface="+mj-cs"/>
              </a:rPr>
              <a:t>......................................................................................................................................</a:t>
            </a:r>
          </a:p>
          <a:p>
            <a:pPr marL="0" lvl="0" indent="0" algn="r" rtl="1">
              <a:buNone/>
            </a:pPr>
            <a:r>
              <a:rPr lang="ar-DZ" sz="3600" b="1" dirty="0" smtClean="0">
                <a:cs typeface="+mj-cs"/>
              </a:rPr>
              <a:t> </a:t>
            </a:r>
          </a:p>
          <a:p>
            <a:pPr lvl="0" algn="r" rtl="1"/>
            <a:r>
              <a:rPr lang="ar-DZ" sz="4400" b="1" dirty="0" smtClean="0">
                <a:cs typeface="+mj-cs"/>
              </a:rPr>
              <a:t>لـضـمـان </a:t>
            </a:r>
            <a:r>
              <a:rPr lang="ar-DZ" sz="4400" b="1" dirty="0">
                <a:cs typeface="+mj-cs"/>
              </a:rPr>
              <a:t>فـعــالــيـة </a:t>
            </a:r>
            <a:r>
              <a:rPr lang="ar-DZ" sz="4400" b="1" dirty="0" smtClean="0">
                <a:cs typeface="+mj-cs"/>
              </a:rPr>
              <a:t>الـحـاسـوب </a:t>
            </a:r>
            <a:r>
              <a:rPr lang="ar-DZ" sz="4400" b="1" dirty="0">
                <a:cs typeface="+mj-cs"/>
              </a:rPr>
              <a:t>لَا </a:t>
            </a:r>
            <a:r>
              <a:rPr lang="ar-DZ" sz="4400" b="1" dirty="0" smtClean="0">
                <a:cs typeface="+mj-cs"/>
              </a:rPr>
              <a:t>بُــدَّ </a:t>
            </a:r>
            <a:r>
              <a:rPr lang="ar-DZ" sz="4400" b="1" dirty="0">
                <a:cs typeface="+mj-cs"/>
              </a:rPr>
              <a:t>أَنْ نـهـتـمَ أكـثـر بـ </a:t>
            </a:r>
            <a:r>
              <a:rPr lang="ar-DZ" sz="3600" b="1" dirty="0" smtClean="0">
                <a:cs typeface="+mj-cs"/>
              </a:rPr>
              <a:t>: </a:t>
            </a:r>
            <a:endParaRPr lang="ar-DZ" sz="4400" b="1" dirty="0" smtClean="0">
              <a:cs typeface="+mj-cs"/>
            </a:endParaRPr>
          </a:p>
          <a:p>
            <a:pPr marL="268288" lvl="0" indent="0" algn="r" rtl="1">
              <a:buNone/>
            </a:pPr>
            <a:r>
              <a:rPr lang="ar-DZ" sz="3600" baseline="-25000" dirty="0" smtClean="0"/>
              <a:t>...........................................................................................................................</a:t>
            </a:r>
            <a:endParaRPr lang="fr-FR" sz="4800" b="1" dirty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19/10/2024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857739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6000" b="1" u="sng" dirty="0">
                <a:solidFill>
                  <a:srgbClr val="FF0000"/>
                </a:solidFill>
                <a:cs typeface="+mj-cs"/>
              </a:rPr>
              <a:t>الإجــابــة</a:t>
            </a:r>
            <a:r>
              <a:rPr lang="ar-DZ" sz="6000" b="1" dirty="0" smtClean="0">
                <a:solidFill>
                  <a:srgbClr val="FF0000"/>
                </a:solidFill>
                <a:cs typeface="+mj-cs"/>
              </a:rPr>
              <a:t> :</a:t>
            </a:r>
            <a:endParaRPr lang="fr-FR" sz="6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95188"/>
            <a:ext cx="10814992" cy="5061165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30000"/>
              </a:lnSpc>
              <a:buNone/>
            </a:pPr>
            <a:endParaRPr lang="fr-FR" sz="600" b="1" dirty="0" smtClean="0">
              <a:cs typeface="+mj-cs"/>
            </a:endParaRPr>
          </a:p>
          <a:p>
            <a:pPr lvl="0" algn="r" rtl="1">
              <a:lnSpc>
                <a:spcPct val="150000"/>
              </a:lnSpc>
            </a:pPr>
            <a:r>
              <a:rPr lang="ar-DZ" sz="4400" b="1" dirty="0" smtClean="0">
                <a:cs typeface="+mj-cs"/>
              </a:rPr>
              <a:t>أبــرز الأخــطــار </a:t>
            </a:r>
            <a:r>
              <a:rPr lang="ar-DZ" sz="4400" b="1" dirty="0">
                <a:cs typeface="+mj-cs"/>
              </a:rPr>
              <a:t>الـمُــتَــرَبِــصَـة بـالــبــيــانــات </a:t>
            </a:r>
            <a:r>
              <a:rPr lang="ar-DZ" sz="4400" b="1" dirty="0" smtClean="0">
                <a:cs typeface="+mj-cs"/>
              </a:rPr>
              <a:t>هـي </a:t>
            </a:r>
            <a:r>
              <a:rPr lang="ar-DZ" sz="3600" b="1" dirty="0">
                <a:cs typeface="+mj-cs"/>
              </a:rPr>
              <a:t>:</a:t>
            </a:r>
            <a:r>
              <a:rPr lang="ar-DZ" sz="4400" b="1" dirty="0" smtClean="0">
                <a:cs typeface="+mj-cs"/>
              </a:rPr>
              <a:t> </a:t>
            </a:r>
            <a:r>
              <a:rPr lang="ar-DZ" sz="3600" baseline="-25000" dirty="0" smtClean="0">
                <a:cs typeface="+mj-cs"/>
              </a:rPr>
              <a:t>......................................................................................................................................</a:t>
            </a:r>
          </a:p>
          <a:p>
            <a:pPr marL="0" lvl="0" indent="0" algn="r" rtl="1">
              <a:buNone/>
            </a:pPr>
            <a:r>
              <a:rPr lang="ar-DZ" sz="3600" b="1" dirty="0" smtClean="0">
                <a:cs typeface="+mj-cs"/>
              </a:rPr>
              <a:t> </a:t>
            </a:r>
          </a:p>
          <a:p>
            <a:pPr lvl="0" algn="r" rtl="1"/>
            <a:r>
              <a:rPr lang="ar-DZ" sz="4400" b="1" dirty="0" smtClean="0">
                <a:cs typeface="+mj-cs"/>
              </a:rPr>
              <a:t>لـضـمـان </a:t>
            </a:r>
            <a:r>
              <a:rPr lang="ar-DZ" sz="4400" b="1" dirty="0">
                <a:cs typeface="+mj-cs"/>
              </a:rPr>
              <a:t>فـعــالــيـة </a:t>
            </a:r>
            <a:r>
              <a:rPr lang="ar-DZ" sz="4400" b="1" dirty="0" smtClean="0">
                <a:cs typeface="+mj-cs"/>
              </a:rPr>
              <a:t>الـحـاسـوب </a:t>
            </a:r>
            <a:r>
              <a:rPr lang="ar-DZ" sz="4400" b="1" dirty="0">
                <a:cs typeface="+mj-cs"/>
              </a:rPr>
              <a:t>لَا </a:t>
            </a:r>
            <a:r>
              <a:rPr lang="ar-DZ" sz="4400" b="1" dirty="0" smtClean="0">
                <a:cs typeface="+mj-cs"/>
              </a:rPr>
              <a:t>بُــدَّ </a:t>
            </a:r>
            <a:r>
              <a:rPr lang="ar-DZ" sz="4400" b="1" dirty="0">
                <a:cs typeface="+mj-cs"/>
              </a:rPr>
              <a:t>أَنْ نـهـتـمَ أكـثـر بـ </a:t>
            </a:r>
            <a:r>
              <a:rPr lang="ar-DZ" sz="3600" b="1" dirty="0" smtClean="0">
                <a:cs typeface="+mj-cs"/>
              </a:rPr>
              <a:t>: </a:t>
            </a:r>
            <a:endParaRPr lang="ar-DZ" sz="4400" b="1" dirty="0" smtClean="0">
              <a:cs typeface="+mj-cs"/>
            </a:endParaRPr>
          </a:p>
          <a:p>
            <a:pPr marL="268288" lvl="0" indent="0" algn="r" rtl="1">
              <a:buNone/>
            </a:pPr>
            <a:r>
              <a:rPr lang="ar-DZ" sz="3600" baseline="-25000" dirty="0" smtClean="0"/>
              <a:t>...........................................................................................................................</a:t>
            </a:r>
            <a:endParaRPr lang="fr-FR" sz="4800" b="1" dirty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19/10/2024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911424" y="2635105"/>
            <a:ext cx="1000044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الـفــيـــروســـات أو الـبـــرمــجــيـــات الـخــبـــيـــثــة</a:t>
            </a:r>
            <a:endParaRPr lang="fr-FR" sz="48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695788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/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6000" b="1" u="sng" dirty="0">
                <a:solidFill>
                  <a:srgbClr val="FF0000"/>
                </a:solidFill>
                <a:cs typeface="+mj-cs"/>
              </a:rPr>
              <a:t>الإجــابــة</a:t>
            </a:r>
            <a:r>
              <a:rPr lang="ar-DZ" sz="6000" b="1" dirty="0" smtClean="0">
                <a:solidFill>
                  <a:srgbClr val="FF0000"/>
                </a:solidFill>
                <a:cs typeface="+mj-cs"/>
              </a:rPr>
              <a:t> :</a:t>
            </a:r>
            <a:endParaRPr lang="fr-FR" sz="6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95188"/>
            <a:ext cx="10814992" cy="5061165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30000"/>
              </a:lnSpc>
              <a:buNone/>
            </a:pPr>
            <a:endParaRPr lang="fr-FR" sz="600" b="1" dirty="0" smtClean="0">
              <a:cs typeface="+mj-cs"/>
            </a:endParaRPr>
          </a:p>
          <a:p>
            <a:pPr lvl="0" algn="r" rtl="1">
              <a:lnSpc>
                <a:spcPct val="150000"/>
              </a:lnSpc>
            </a:pPr>
            <a:r>
              <a:rPr lang="ar-DZ" sz="4400" b="1" dirty="0" smtClean="0">
                <a:cs typeface="+mj-cs"/>
              </a:rPr>
              <a:t>أبــرز الأخــطــار </a:t>
            </a:r>
            <a:r>
              <a:rPr lang="ar-DZ" sz="4400" b="1" dirty="0">
                <a:cs typeface="+mj-cs"/>
              </a:rPr>
              <a:t>الـمُــتَــرَبِــصَـة بـالــبــيــانــات </a:t>
            </a:r>
            <a:r>
              <a:rPr lang="ar-DZ" sz="4400" b="1" dirty="0" smtClean="0">
                <a:cs typeface="+mj-cs"/>
              </a:rPr>
              <a:t>هـي </a:t>
            </a:r>
            <a:r>
              <a:rPr lang="ar-DZ" sz="3600" b="1" dirty="0">
                <a:cs typeface="+mj-cs"/>
              </a:rPr>
              <a:t>:</a:t>
            </a:r>
            <a:r>
              <a:rPr lang="ar-DZ" sz="4400" b="1" dirty="0" smtClean="0">
                <a:cs typeface="+mj-cs"/>
              </a:rPr>
              <a:t> </a:t>
            </a:r>
            <a:r>
              <a:rPr lang="ar-DZ" sz="3600" baseline="-25000" dirty="0" smtClean="0">
                <a:cs typeface="+mj-cs"/>
              </a:rPr>
              <a:t>......................................................................................................................................</a:t>
            </a:r>
          </a:p>
          <a:p>
            <a:pPr marL="0" lvl="0" indent="0" algn="r" rtl="1">
              <a:buNone/>
            </a:pPr>
            <a:r>
              <a:rPr lang="ar-DZ" sz="3600" b="1" dirty="0" smtClean="0">
                <a:cs typeface="+mj-cs"/>
              </a:rPr>
              <a:t> </a:t>
            </a:r>
          </a:p>
          <a:p>
            <a:pPr lvl="0" algn="r" rtl="1"/>
            <a:r>
              <a:rPr lang="ar-DZ" sz="4400" b="1" dirty="0" smtClean="0">
                <a:cs typeface="+mj-cs"/>
              </a:rPr>
              <a:t>لـضـمـان </a:t>
            </a:r>
            <a:r>
              <a:rPr lang="ar-DZ" sz="4400" b="1" dirty="0">
                <a:cs typeface="+mj-cs"/>
              </a:rPr>
              <a:t>فـعــالــيـة </a:t>
            </a:r>
            <a:r>
              <a:rPr lang="ar-DZ" sz="4400" b="1" dirty="0" smtClean="0">
                <a:cs typeface="+mj-cs"/>
              </a:rPr>
              <a:t>الـحـاسـوب </a:t>
            </a:r>
            <a:r>
              <a:rPr lang="ar-DZ" sz="4400" b="1" dirty="0">
                <a:cs typeface="+mj-cs"/>
              </a:rPr>
              <a:t>لَا </a:t>
            </a:r>
            <a:r>
              <a:rPr lang="ar-DZ" sz="4400" b="1" dirty="0" smtClean="0">
                <a:cs typeface="+mj-cs"/>
              </a:rPr>
              <a:t>بُــدَّ </a:t>
            </a:r>
            <a:r>
              <a:rPr lang="ar-DZ" sz="4400" b="1" dirty="0">
                <a:cs typeface="+mj-cs"/>
              </a:rPr>
              <a:t>أَنْ نـهـتـمَ أكـثـر بـ </a:t>
            </a:r>
            <a:r>
              <a:rPr lang="ar-DZ" sz="3600" b="1" dirty="0" smtClean="0">
                <a:cs typeface="+mj-cs"/>
              </a:rPr>
              <a:t>: </a:t>
            </a:r>
            <a:endParaRPr lang="ar-DZ" sz="4400" b="1" dirty="0" smtClean="0">
              <a:cs typeface="+mj-cs"/>
            </a:endParaRPr>
          </a:p>
          <a:p>
            <a:pPr marL="268288" lvl="0" indent="0" algn="r" rtl="1">
              <a:buNone/>
            </a:pPr>
            <a:r>
              <a:rPr lang="ar-DZ" sz="3600" baseline="-25000" dirty="0" smtClean="0"/>
              <a:t>...........................................................................................................................</a:t>
            </a:r>
            <a:endParaRPr lang="fr-FR" sz="4800" b="1" dirty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19/10/2024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911424" y="2635105"/>
            <a:ext cx="1000044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الـفــيـــروســـات أو الـبـــرمــجــيـــات الـخــبـــيـــثــة</a:t>
            </a:r>
            <a:endParaRPr lang="fr-FR" sz="48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911424" y="4840577"/>
            <a:ext cx="1000044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حــ</a:t>
            </a:r>
            <a:r>
              <a:rPr lang="ar-DZ" sz="4400" b="1" dirty="0">
                <a:solidFill>
                  <a:srgbClr val="0070C0"/>
                </a:solidFill>
                <a:cs typeface="+mj-cs"/>
              </a:rPr>
              <a:t>ـ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مــايـــة الـحــاســوب  </a:t>
            </a:r>
            <a:r>
              <a:rPr lang="fr-FR" sz="3600" b="1" dirty="0" smtClean="0">
                <a:solidFill>
                  <a:srgbClr val="0070C0"/>
                </a:solidFill>
                <a:cs typeface="+mj-cs"/>
              </a:rPr>
              <a:t>Protection de l‘Ordinateur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7480964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/>
      <p:bldP spid="5" grpId="0" animBg="1"/>
      <p:bldP spid="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à coins arrondis 4"/>
          <p:cNvSpPr/>
          <p:nvPr/>
        </p:nvSpPr>
        <p:spPr>
          <a:xfrm>
            <a:off x="587388" y="2966770"/>
            <a:ext cx="10801200" cy="162000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r" rtl="1"/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ال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ـ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وح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ـــ</a:t>
            </a:r>
            <a:r>
              <a:rPr lang="ar-SA" altLang="zh-CN" sz="4000" b="1" dirty="0" err="1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دة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 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ال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ـ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ت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ــ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ع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ـــ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ل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ـــ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ي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ــــ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م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ـــ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ي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ـــ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ة 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: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......................................</a:t>
            </a:r>
            <a:r>
              <a:rPr lang="fr-FR" sz="4000" b="1" dirty="0" smtClean="0">
                <a:solidFill>
                  <a:srgbClr val="00B05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  </a:t>
            </a:r>
            <a:endParaRPr lang="ar-SA" altLang="zh-CN" sz="4000" b="1" dirty="0">
              <a:solidFill>
                <a:srgbClr val="00B050"/>
              </a:solidFill>
              <a:latin typeface="Times New Roman" pitchFamily="18" charset="0"/>
              <a:ea typeface="Times New Roman" pitchFamily="18" charset="0"/>
              <a:cs typeface="+mj-cs"/>
            </a:endParaRPr>
          </a:p>
        </p:txBody>
      </p:sp>
      <p:sp>
        <p:nvSpPr>
          <p:cNvPr id="6" name="Rectangle à coins arrondis 5"/>
          <p:cNvSpPr/>
          <p:nvPr/>
        </p:nvSpPr>
        <p:spPr>
          <a:xfrm>
            <a:off x="587388" y="950541"/>
            <a:ext cx="10801200" cy="162000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lvl="0" rtl="1">
              <a:lnSpc>
                <a:spcPct val="135000"/>
              </a:lnSpc>
            </a:pPr>
            <a:r>
              <a:rPr lang="ar-DZ" altLang="zh-CN" sz="4000" b="1" dirty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itchFamily="18" charset="0"/>
              </a:rPr>
              <a:t>الـمـجــال </a:t>
            </a:r>
            <a:r>
              <a:rPr lang="ar-DZ" altLang="zh-CN" sz="4000" b="1" dirty="0" err="1" smtClean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itchFamily="18" charset="0"/>
              </a:rPr>
              <a:t>الـتَــعَـــلُــمِــي</a:t>
            </a:r>
            <a:r>
              <a:rPr lang="ar-DZ" altLang="zh-CN" sz="4000" b="1" dirty="0" smtClean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itchFamily="18" charset="0"/>
              </a:rPr>
              <a:t> </a:t>
            </a:r>
            <a:r>
              <a:rPr lang="ar-DZ" altLang="zh-CN" sz="4000" b="1" dirty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itchFamily="18" charset="0"/>
              </a:rPr>
              <a:t>: </a:t>
            </a:r>
            <a:r>
              <a:rPr lang="ar-DZ" altLang="zh-CN" sz="4000" b="1" dirty="0" smtClean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itchFamily="18" charset="0"/>
              </a:rPr>
              <a:t>بــيــئـة الـتــعــامـل مـع الــحـاســـوب</a:t>
            </a:r>
            <a:endParaRPr lang="fr-FR" sz="4000" dirty="0">
              <a:solidFill>
                <a:srgbClr val="FF0000"/>
              </a:solidFill>
            </a:endParaRPr>
          </a:p>
        </p:txBody>
      </p:sp>
      <p:sp>
        <p:nvSpPr>
          <p:cNvPr id="4" name="Espace réservé de la date 6"/>
          <p:cNvSpPr>
            <a:spLocks noGrp="1"/>
          </p:cNvSpPr>
          <p:nvPr>
            <p:ph type="dt" sz="half" idx="10"/>
          </p:nvPr>
        </p:nvSpPr>
        <p:spPr>
          <a:xfrm>
            <a:off x="587388" y="188640"/>
            <a:ext cx="2016224" cy="576064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fld id="{2901635A-126F-4D9B-99FC-E41D53661A20}" type="datetime1">
              <a:rPr lang="fr-FR" sz="2400" b="1"/>
              <a:t>19/10/2024</a:t>
            </a:fld>
            <a:endParaRPr lang="fr-BE" sz="2400" b="1" dirty="0"/>
          </a:p>
        </p:txBody>
      </p:sp>
    </p:spTree>
    <p:extLst>
      <p:ext uri="{BB962C8B-B14F-4D97-AF65-F5344CB8AC3E}">
        <p14:creationId xmlns:p14="http://schemas.microsoft.com/office/powerpoint/2010/main" val="1942811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à coins arrondis 4"/>
          <p:cNvSpPr/>
          <p:nvPr/>
        </p:nvSpPr>
        <p:spPr>
          <a:xfrm>
            <a:off x="587388" y="2966770"/>
            <a:ext cx="10801200" cy="162000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r" rtl="1"/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ال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وح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</a:t>
            </a:r>
            <a:r>
              <a:rPr lang="ar-SA" altLang="zh-CN" sz="4000" b="1" dirty="0" err="1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دة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ال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ت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ع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ل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ي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ــــ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م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ي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ة 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: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ar-DZ" sz="4000" b="1" dirty="0" smtClean="0">
                <a:solidFill>
                  <a:srgbClr val="00B050"/>
                </a:solidFill>
              </a:rPr>
              <a:t>حـــــمـــــايـــــة الـحــــاســــوب</a:t>
            </a:r>
            <a:r>
              <a:rPr lang="fr-FR" sz="4000" b="1" dirty="0" smtClean="0">
                <a:solidFill>
                  <a:srgbClr val="00B050"/>
                </a:solidFill>
              </a:rPr>
              <a:t> </a:t>
            </a:r>
            <a:r>
              <a:rPr lang="ar-DZ" sz="4000" b="1" dirty="0" smtClean="0">
                <a:solidFill>
                  <a:srgbClr val="00B050"/>
                </a:solidFill>
              </a:rPr>
              <a:t>  </a:t>
            </a:r>
            <a:endParaRPr lang="ar-SA" altLang="zh-CN" sz="4000" b="1" dirty="0">
              <a:solidFill>
                <a:srgbClr val="00B050"/>
              </a:solidFill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Rectangle à coins arrondis 5"/>
          <p:cNvSpPr/>
          <p:nvPr/>
        </p:nvSpPr>
        <p:spPr>
          <a:xfrm>
            <a:off x="587388" y="950541"/>
            <a:ext cx="10801200" cy="162000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lvl="0" rtl="1">
              <a:lnSpc>
                <a:spcPct val="135000"/>
              </a:lnSpc>
            </a:pPr>
            <a:r>
              <a:rPr lang="ar-DZ" altLang="zh-CN" sz="4000" b="1" dirty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itchFamily="18" charset="0"/>
              </a:rPr>
              <a:t>الـمـجــال </a:t>
            </a:r>
            <a:r>
              <a:rPr lang="ar-DZ" altLang="zh-CN" sz="4000" b="1" dirty="0" err="1" smtClean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itchFamily="18" charset="0"/>
              </a:rPr>
              <a:t>الـتَــعَـــلُــمِــي</a:t>
            </a:r>
            <a:r>
              <a:rPr lang="ar-DZ" altLang="zh-CN" sz="4000" b="1" dirty="0" smtClean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itchFamily="18" charset="0"/>
              </a:rPr>
              <a:t> </a:t>
            </a:r>
            <a:r>
              <a:rPr lang="ar-DZ" altLang="zh-CN" sz="4000" b="1" dirty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itchFamily="18" charset="0"/>
              </a:rPr>
              <a:t>: </a:t>
            </a:r>
            <a:r>
              <a:rPr lang="ar-DZ" altLang="zh-CN" sz="4000" b="1" dirty="0" smtClean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itchFamily="18" charset="0"/>
              </a:rPr>
              <a:t>بــيــئـة الـتــعــامـل مـع الــحـاســـوب</a:t>
            </a:r>
            <a:endParaRPr lang="fr-FR" sz="4000" dirty="0">
              <a:solidFill>
                <a:srgbClr val="FF0000"/>
              </a:solidFill>
            </a:endParaRPr>
          </a:p>
        </p:txBody>
      </p:sp>
      <p:sp>
        <p:nvSpPr>
          <p:cNvPr id="4" name="Espace réservé de la date 6"/>
          <p:cNvSpPr>
            <a:spLocks noGrp="1"/>
          </p:cNvSpPr>
          <p:nvPr>
            <p:ph type="dt" sz="half" idx="10"/>
          </p:nvPr>
        </p:nvSpPr>
        <p:spPr>
          <a:xfrm>
            <a:off x="587388" y="188640"/>
            <a:ext cx="2016224" cy="576064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fld id="{2901635A-126F-4D9B-99FC-E41D53661A20}" type="datetime1">
              <a:rPr lang="fr-FR" sz="2400" b="1"/>
              <a:t>19/10/2024</a:t>
            </a:fld>
            <a:endParaRPr lang="fr-BE" sz="2400" b="1" dirty="0"/>
          </a:p>
        </p:txBody>
      </p:sp>
    </p:spTree>
    <p:extLst>
      <p:ext uri="{BB962C8B-B14F-4D97-AF65-F5344CB8AC3E}">
        <p14:creationId xmlns:p14="http://schemas.microsoft.com/office/powerpoint/2010/main" val="4080680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à coins arrondis 4"/>
          <p:cNvSpPr/>
          <p:nvPr/>
        </p:nvSpPr>
        <p:spPr>
          <a:xfrm>
            <a:off x="587388" y="2966770"/>
            <a:ext cx="10801200" cy="162000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r" rtl="1"/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ال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وح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</a:t>
            </a:r>
            <a:r>
              <a:rPr lang="ar-SA" altLang="zh-CN" sz="4000" b="1" dirty="0" err="1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دة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ال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ت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ع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ل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ي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ــــ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م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ي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ة 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: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ar-DZ" sz="4000" b="1" dirty="0" smtClean="0">
                <a:solidFill>
                  <a:srgbClr val="00B050"/>
                </a:solidFill>
              </a:rPr>
              <a:t>حـــــمـــــايـــــة الـحــــاســــوب</a:t>
            </a:r>
            <a:r>
              <a:rPr lang="fr-FR" sz="4000" b="1" dirty="0" smtClean="0">
                <a:solidFill>
                  <a:srgbClr val="00B050"/>
                </a:solidFill>
              </a:rPr>
              <a:t> </a:t>
            </a:r>
            <a:r>
              <a:rPr lang="ar-DZ" sz="4000" b="1" dirty="0" smtClean="0">
                <a:solidFill>
                  <a:srgbClr val="00B050"/>
                </a:solidFill>
              </a:rPr>
              <a:t>  </a:t>
            </a:r>
            <a:endParaRPr lang="ar-SA" altLang="zh-CN" sz="4000" b="1" dirty="0">
              <a:solidFill>
                <a:srgbClr val="00B050"/>
              </a:solidFill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Rectangle à coins arrondis 5"/>
          <p:cNvSpPr/>
          <p:nvPr/>
        </p:nvSpPr>
        <p:spPr>
          <a:xfrm>
            <a:off x="587388" y="950541"/>
            <a:ext cx="10801200" cy="162000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lvl="0" rtl="1">
              <a:lnSpc>
                <a:spcPct val="135000"/>
              </a:lnSpc>
            </a:pPr>
            <a:r>
              <a:rPr lang="ar-DZ" altLang="zh-CN" sz="4000" b="1" dirty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itchFamily="18" charset="0"/>
              </a:rPr>
              <a:t>الـمـجــال </a:t>
            </a:r>
            <a:r>
              <a:rPr lang="ar-DZ" altLang="zh-CN" sz="4000" b="1" dirty="0" err="1" smtClean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itchFamily="18" charset="0"/>
              </a:rPr>
              <a:t>الـتَــعَـــلُــمِــي</a:t>
            </a:r>
            <a:r>
              <a:rPr lang="ar-DZ" altLang="zh-CN" sz="4000" b="1" dirty="0" smtClean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itchFamily="18" charset="0"/>
              </a:rPr>
              <a:t> </a:t>
            </a:r>
            <a:r>
              <a:rPr lang="ar-DZ" altLang="zh-CN" sz="4000" b="1" dirty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itchFamily="18" charset="0"/>
              </a:rPr>
              <a:t>: </a:t>
            </a:r>
            <a:r>
              <a:rPr lang="ar-DZ" altLang="zh-CN" sz="4000" b="1" dirty="0" smtClean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itchFamily="18" charset="0"/>
              </a:rPr>
              <a:t>بــيــئـة الـتــعــامـل مـع الــحـاســـوب</a:t>
            </a:r>
            <a:endParaRPr lang="fr-FR" sz="4000" dirty="0">
              <a:solidFill>
                <a:srgbClr val="FF0000"/>
              </a:solidFill>
            </a:endParaRPr>
          </a:p>
        </p:txBody>
      </p:sp>
      <p:sp>
        <p:nvSpPr>
          <p:cNvPr id="4" name="Espace réservé de la date 6"/>
          <p:cNvSpPr>
            <a:spLocks noGrp="1"/>
          </p:cNvSpPr>
          <p:nvPr>
            <p:ph type="dt" sz="half" idx="10"/>
          </p:nvPr>
        </p:nvSpPr>
        <p:spPr>
          <a:xfrm>
            <a:off x="587388" y="188640"/>
            <a:ext cx="2016224" cy="576064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fld id="{2901635A-126F-4D9B-99FC-E41D53661A20}" type="datetime1">
              <a:rPr lang="fr-FR" sz="2400" b="1"/>
              <a:t>19/10/2024</a:t>
            </a:fld>
            <a:endParaRPr lang="fr-BE" sz="2400" b="1" dirty="0"/>
          </a:p>
        </p:txBody>
      </p:sp>
      <p:sp>
        <p:nvSpPr>
          <p:cNvPr id="9" name="Rectangle à coins arrondis 8"/>
          <p:cNvSpPr/>
          <p:nvPr/>
        </p:nvSpPr>
        <p:spPr>
          <a:xfrm>
            <a:off x="587388" y="5081119"/>
            <a:ext cx="6660740" cy="1586641"/>
          </a:xfrm>
          <a:prstGeom prst="roundRect">
            <a:avLst>
              <a:gd name="adj" fmla="val 26762"/>
            </a:avLst>
          </a:prstGeom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 defTabSz="10096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fr-FR" altLang="zh-CN" sz="4000" b="1" u="sng" dirty="0" smtClean="0">
                <a:ln w="0"/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Protection de l’Ordinateur</a:t>
            </a:r>
            <a:endParaRPr lang="ar-SA" altLang="zh-CN" sz="4000" b="1" dirty="0">
              <a:ln w="0"/>
              <a:solidFill>
                <a:prstClr val="black"/>
              </a:solidFill>
              <a:latin typeface="Arial" pitchFamily="34" charset="0"/>
            </a:endParaRPr>
          </a:p>
          <a:p>
            <a:pPr algn="ctr"/>
            <a:endParaRPr lang="fr-FR" dirty="0"/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80276" y="4586770"/>
            <a:ext cx="2808312" cy="20905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347442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4" grpId="0" animBg="1"/>
      <p:bldP spid="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1. الـبـرمـجـيــات </a:t>
            </a:r>
            <a:r>
              <a:rPr lang="ar-DZ" sz="4800" b="1" dirty="0">
                <a:solidFill>
                  <a:srgbClr val="FF0000"/>
                </a:solidFill>
                <a:cs typeface="+mj-cs"/>
              </a:rPr>
              <a:t>الـخــبــيــثـة  </a:t>
            </a:r>
            <a:r>
              <a:rPr lang="fr-FR" sz="4800" b="1" dirty="0">
                <a:solidFill>
                  <a:srgbClr val="FF0000"/>
                </a:solidFill>
                <a:cs typeface="+mj-cs"/>
              </a:rPr>
              <a:t>Malwares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 smtClean="0">
                <a:cs typeface="+mj-cs"/>
              </a:rPr>
              <a:t>عَـــرِّفْ </a:t>
            </a:r>
            <a:r>
              <a:rPr lang="ar-DZ" sz="4400" b="1" dirty="0"/>
              <a:t>الـبَــرْمَــجِـــيَـــات</a:t>
            </a:r>
            <a:r>
              <a:rPr lang="ar-DZ" sz="4400" b="1" dirty="0" smtClean="0">
                <a:cs typeface="+mj-cs"/>
              </a:rPr>
              <a:t> </a:t>
            </a:r>
            <a:r>
              <a:rPr lang="ar-DZ" sz="4400" b="1" dirty="0">
                <a:cs typeface="+mj-cs"/>
              </a:rPr>
              <a:t>الـخــبــيـــثــة </a:t>
            </a:r>
            <a:r>
              <a:rPr lang="ar-DZ" sz="4400" b="1" dirty="0" smtClean="0">
                <a:cs typeface="+mj-cs"/>
              </a:rPr>
              <a:t>مُــبَــيِّــنًــا الـجَــوَانِــبَ </a:t>
            </a:r>
            <a:r>
              <a:rPr lang="ar-DZ" sz="4400" b="1">
                <a:cs typeface="+mj-cs"/>
              </a:rPr>
              <a:t>الَّـتِي </a:t>
            </a:r>
            <a:r>
              <a:rPr lang="ar-DZ" sz="4400" b="1" smtClean="0">
                <a:cs typeface="+mj-cs"/>
              </a:rPr>
              <a:t>تَــمَــسُّــهَـا </a:t>
            </a:r>
            <a:r>
              <a:rPr lang="ar-DZ" sz="4400" b="1" dirty="0" smtClean="0">
                <a:cs typeface="+mj-cs"/>
              </a:rPr>
              <a:t>بِـأَضْــرَارِهَــا  .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5400" b="1" u="sng" dirty="0">
                <a:solidFill>
                  <a:srgbClr val="00B050"/>
                </a:solidFill>
                <a:cs typeface="+mj-cs"/>
              </a:rPr>
              <a:t>نـشـاط </a:t>
            </a:r>
            <a:r>
              <a:rPr lang="ar-DZ" sz="5400" b="1" u="sng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 :</a:t>
            </a:r>
            <a:endParaRPr lang="fr-FR" sz="5400" i="1" dirty="0">
              <a:solidFill>
                <a:srgbClr val="00B05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350677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uiExpand="1" build="p"/>
      <p:bldP spid="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800" b="1" dirty="0" smtClean="0">
                <a:solidFill>
                  <a:srgbClr val="FF0000"/>
                </a:solidFill>
                <a:cs typeface="+mj-cs"/>
              </a:rPr>
              <a:t>سـؤال </a:t>
            </a:r>
            <a:r>
              <a:rPr lang="ar-DZ" sz="3800" b="1" dirty="0">
                <a:solidFill>
                  <a:srgbClr val="FF0000"/>
                </a:solidFill>
                <a:cs typeface="+mj-cs"/>
              </a:rPr>
              <a:t>: </a:t>
            </a:r>
            <a:r>
              <a:rPr lang="ar-DZ" sz="3800" b="1" dirty="0" smtClean="0">
                <a:solidFill>
                  <a:srgbClr val="FF0000"/>
                </a:solidFill>
                <a:cs typeface="+mj-cs"/>
              </a:rPr>
              <a:t>لـيـس كـلُ الـبـرامـجُ نَـافِـعَـةً فَـكَـيْـفَ تُـسَـمَـى الـضَـارَةَ مِـنْهَـا</a:t>
            </a:r>
            <a:r>
              <a:rPr lang="ar-DZ" sz="3800" b="1" dirty="0" smtClean="0">
                <a:solidFill>
                  <a:srgbClr val="FF0000"/>
                </a:solidFill>
              </a:rPr>
              <a:t>؟</a:t>
            </a:r>
            <a:endParaRPr lang="fr-FR" sz="3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19/10/2024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7392143" y="3283294"/>
            <a:ext cx="363896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031315" y="1699119"/>
            <a:ext cx="1000044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FF0000"/>
                </a:solidFill>
                <a:cs typeface="+mj-cs"/>
              </a:rPr>
              <a:t>الـبَــرْمَــجِـــيَــــات </a:t>
            </a:r>
            <a:r>
              <a:rPr lang="ar-DZ" sz="4400" b="1" dirty="0" smtClean="0">
                <a:solidFill>
                  <a:srgbClr val="FF0000"/>
                </a:solidFill>
                <a:cs typeface="+mj-cs"/>
              </a:rPr>
              <a:t>..................   </a:t>
            </a:r>
            <a:r>
              <a:rPr lang="fr-FR" sz="4000" b="1" dirty="0" smtClean="0">
                <a:solidFill>
                  <a:srgbClr val="FF0000"/>
                </a:solidFill>
                <a:cs typeface="+mj-cs"/>
              </a:rPr>
              <a:t>Malwares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031315" y="3283295"/>
            <a:ext cx="363896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pic>
        <p:nvPicPr>
          <p:cNvPr id="10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6702" y="4171622"/>
            <a:ext cx="1728192" cy="2105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Picture 11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9089" y="4527553"/>
            <a:ext cx="2505075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5" name="Connecteur droit avec flèche 14"/>
          <p:cNvCxnSpPr>
            <a:endCxn id="18" idx="3"/>
          </p:cNvCxnSpPr>
          <p:nvPr/>
        </p:nvCxnSpPr>
        <p:spPr>
          <a:xfrm flipH="1">
            <a:off x="4670281" y="2479449"/>
            <a:ext cx="1137599" cy="120073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necteur droit avec flèche 15"/>
          <p:cNvCxnSpPr>
            <a:endCxn id="6" idx="1"/>
          </p:cNvCxnSpPr>
          <p:nvPr/>
        </p:nvCxnSpPr>
        <p:spPr>
          <a:xfrm>
            <a:off x="5807879" y="2479449"/>
            <a:ext cx="1584264" cy="120073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Espace réservé du contenu 21"/>
          <p:cNvSpPr txBox="1">
            <a:spLocks/>
          </p:cNvSpPr>
          <p:nvPr/>
        </p:nvSpPr>
        <p:spPr>
          <a:xfrm>
            <a:off x="7636171" y="5196961"/>
            <a:ext cx="3398168" cy="1524517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b="1" dirty="0" smtClean="0">
                <a:solidFill>
                  <a:srgbClr val="0070C0"/>
                </a:solidFill>
                <a:cs typeface="+mj-cs"/>
              </a:rPr>
              <a:t>..............</a:t>
            </a:r>
            <a:endParaRPr lang="fr-FR" dirty="0">
              <a:cs typeface="+mj-cs"/>
            </a:endParaRPr>
          </a:p>
        </p:txBody>
      </p:sp>
      <p:sp>
        <p:nvSpPr>
          <p:cNvPr id="19" name="Espace réservé du contenu 21"/>
          <p:cNvSpPr txBox="1">
            <a:spLocks/>
          </p:cNvSpPr>
          <p:nvPr/>
        </p:nvSpPr>
        <p:spPr>
          <a:xfrm>
            <a:off x="1031315" y="4919041"/>
            <a:ext cx="3374965" cy="1608623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b="1" dirty="0" smtClean="0">
                <a:solidFill>
                  <a:srgbClr val="0070C0"/>
                </a:solidFill>
                <a:cs typeface="+mj-cs"/>
              </a:rPr>
              <a:t>................</a:t>
            </a:r>
            <a:endParaRPr lang="fr-FR" sz="1800" dirty="0"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339145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9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2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13" grpId="0" animBg="1"/>
      <p:bldP spid="18" grpId="0" animBg="1"/>
      <p:bldP spid="17" grpId="0" animBg="1"/>
      <p:bldP spid="1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800" b="1" dirty="0" smtClean="0">
                <a:solidFill>
                  <a:srgbClr val="FF0000"/>
                </a:solidFill>
                <a:cs typeface="+mj-cs"/>
              </a:rPr>
              <a:t>سـؤال </a:t>
            </a:r>
            <a:r>
              <a:rPr lang="ar-DZ" sz="3800" b="1" dirty="0">
                <a:solidFill>
                  <a:srgbClr val="FF0000"/>
                </a:solidFill>
                <a:cs typeface="+mj-cs"/>
              </a:rPr>
              <a:t>: </a:t>
            </a:r>
            <a:r>
              <a:rPr lang="ar-DZ" sz="3800" b="1" dirty="0" smtClean="0">
                <a:solidFill>
                  <a:srgbClr val="FF0000"/>
                </a:solidFill>
                <a:cs typeface="+mj-cs"/>
              </a:rPr>
              <a:t>لـيـس كـلُ الـبـرامـجُ نَـافِـعَـةً فَـكَـيْـفَ تُـسَـمَـى الـضَـارَةَ مِـنْهَـا</a:t>
            </a:r>
            <a:r>
              <a:rPr lang="ar-DZ" sz="3800" b="1" dirty="0" smtClean="0">
                <a:solidFill>
                  <a:srgbClr val="FF0000"/>
                </a:solidFill>
              </a:rPr>
              <a:t>؟</a:t>
            </a:r>
            <a:endParaRPr lang="fr-FR" sz="3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19/10/2024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7392143" y="3283294"/>
            <a:ext cx="363896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031315" y="1699119"/>
            <a:ext cx="1000044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FF0000"/>
                </a:solidFill>
                <a:cs typeface="+mj-cs"/>
              </a:rPr>
              <a:t>الـبَــرْمَــجِـــيَــــات الـخَـــبِـــيــــثَـــة   </a:t>
            </a:r>
            <a:r>
              <a:rPr lang="fr-FR" sz="4000" b="1" dirty="0" smtClean="0">
                <a:solidFill>
                  <a:srgbClr val="FF0000"/>
                </a:solidFill>
                <a:cs typeface="+mj-cs"/>
              </a:rPr>
              <a:t>Malwares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031315" y="3283295"/>
            <a:ext cx="363896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pic>
        <p:nvPicPr>
          <p:cNvPr id="10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6702" y="4171622"/>
            <a:ext cx="1728192" cy="2105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Picture 11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9089" y="4527553"/>
            <a:ext cx="2505075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5" name="Connecteur droit avec flèche 14"/>
          <p:cNvCxnSpPr>
            <a:endCxn id="18" idx="3"/>
          </p:cNvCxnSpPr>
          <p:nvPr/>
        </p:nvCxnSpPr>
        <p:spPr>
          <a:xfrm flipH="1">
            <a:off x="4670281" y="2479449"/>
            <a:ext cx="1137599" cy="120073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necteur droit avec flèche 15"/>
          <p:cNvCxnSpPr>
            <a:endCxn id="6" idx="1"/>
          </p:cNvCxnSpPr>
          <p:nvPr/>
        </p:nvCxnSpPr>
        <p:spPr>
          <a:xfrm>
            <a:off x="5807879" y="2479449"/>
            <a:ext cx="1584264" cy="120073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Espace réservé du contenu 21"/>
          <p:cNvSpPr txBox="1">
            <a:spLocks/>
          </p:cNvSpPr>
          <p:nvPr/>
        </p:nvSpPr>
        <p:spPr>
          <a:xfrm>
            <a:off x="7636171" y="5196961"/>
            <a:ext cx="3398168" cy="1524517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b="1" dirty="0" smtClean="0">
                <a:solidFill>
                  <a:srgbClr val="0070C0"/>
                </a:solidFill>
                <a:cs typeface="+mj-cs"/>
              </a:rPr>
              <a:t>..............</a:t>
            </a:r>
            <a:endParaRPr lang="fr-FR" dirty="0">
              <a:cs typeface="+mj-cs"/>
            </a:endParaRPr>
          </a:p>
        </p:txBody>
      </p:sp>
      <p:sp>
        <p:nvSpPr>
          <p:cNvPr id="19" name="Espace réservé du contenu 21"/>
          <p:cNvSpPr txBox="1">
            <a:spLocks/>
          </p:cNvSpPr>
          <p:nvPr/>
        </p:nvSpPr>
        <p:spPr>
          <a:xfrm>
            <a:off x="1031315" y="4919041"/>
            <a:ext cx="3374965" cy="1608623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b="1" dirty="0" smtClean="0">
                <a:solidFill>
                  <a:srgbClr val="0070C0"/>
                </a:solidFill>
                <a:cs typeface="+mj-cs"/>
              </a:rPr>
              <a:t>................</a:t>
            </a:r>
            <a:endParaRPr lang="fr-FR" sz="1800" dirty="0"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0337507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9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2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13" grpId="0" animBg="1"/>
      <p:bldP spid="18" grpId="0" animBg="1"/>
      <p:bldP spid="17" grpId="0" animBg="1"/>
      <p:bldP spid="1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800" b="1" dirty="0" smtClean="0">
                <a:solidFill>
                  <a:srgbClr val="FF0000"/>
                </a:solidFill>
                <a:cs typeface="+mj-cs"/>
              </a:rPr>
              <a:t>سـؤال </a:t>
            </a:r>
            <a:r>
              <a:rPr lang="ar-DZ" sz="3800" b="1" dirty="0">
                <a:solidFill>
                  <a:srgbClr val="FF0000"/>
                </a:solidFill>
                <a:cs typeface="+mj-cs"/>
              </a:rPr>
              <a:t>: </a:t>
            </a:r>
            <a:r>
              <a:rPr lang="ar-DZ" sz="3800" b="1" dirty="0" smtClean="0">
                <a:solidFill>
                  <a:srgbClr val="FF0000"/>
                </a:solidFill>
                <a:cs typeface="+mj-cs"/>
              </a:rPr>
              <a:t>لـيـس كـلُ الـبـرامـجُ نَـافِـعَـةً فَـكَـيْـفَ تُـسَـمَـى الـضَـارَةَ مِـنْهَـا</a:t>
            </a:r>
            <a:r>
              <a:rPr lang="ar-DZ" sz="3800" b="1" dirty="0" smtClean="0">
                <a:solidFill>
                  <a:srgbClr val="FF0000"/>
                </a:solidFill>
              </a:rPr>
              <a:t>؟</a:t>
            </a:r>
            <a:endParaRPr lang="fr-FR" sz="3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19/10/2024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7392143" y="3283294"/>
            <a:ext cx="363896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الــحــاســوب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031315" y="1699119"/>
            <a:ext cx="1000044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FF0000"/>
                </a:solidFill>
                <a:cs typeface="+mj-cs"/>
              </a:rPr>
              <a:t>الـبَــرْمَــجِـــيَــــات الـخَـــبِـــيــــثَـــة   </a:t>
            </a:r>
            <a:r>
              <a:rPr lang="fr-FR" sz="4000" b="1" dirty="0" smtClean="0">
                <a:solidFill>
                  <a:srgbClr val="FF0000"/>
                </a:solidFill>
                <a:cs typeface="+mj-cs"/>
              </a:rPr>
              <a:t>Malwares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031315" y="3283295"/>
            <a:ext cx="363896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pic>
        <p:nvPicPr>
          <p:cNvPr id="10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6702" y="4171622"/>
            <a:ext cx="1728192" cy="2105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Picture 11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9089" y="4527553"/>
            <a:ext cx="2505075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5" name="Connecteur droit avec flèche 14"/>
          <p:cNvCxnSpPr>
            <a:endCxn id="18" idx="3"/>
          </p:cNvCxnSpPr>
          <p:nvPr/>
        </p:nvCxnSpPr>
        <p:spPr>
          <a:xfrm flipH="1">
            <a:off x="4670281" y="2479449"/>
            <a:ext cx="1137599" cy="120073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necteur droit avec flèche 15"/>
          <p:cNvCxnSpPr>
            <a:endCxn id="6" idx="1"/>
          </p:cNvCxnSpPr>
          <p:nvPr/>
        </p:nvCxnSpPr>
        <p:spPr>
          <a:xfrm>
            <a:off x="5807879" y="2479449"/>
            <a:ext cx="1584264" cy="120073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Espace réservé du contenu 21"/>
          <p:cNvSpPr txBox="1">
            <a:spLocks/>
          </p:cNvSpPr>
          <p:nvPr/>
        </p:nvSpPr>
        <p:spPr>
          <a:xfrm>
            <a:off x="7636171" y="5196961"/>
            <a:ext cx="3398168" cy="1524517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b="1" dirty="0" smtClean="0">
                <a:solidFill>
                  <a:srgbClr val="0070C0"/>
                </a:solidFill>
                <a:cs typeface="+mj-cs"/>
              </a:rPr>
              <a:t>..............</a:t>
            </a:r>
            <a:endParaRPr lang="fr-FR" dirty="0">
              <a:cs typeface="+mj-cs"/>
            </a:endParaRPr>
          </a:p>
        </p:txBody>
      </p:sp>
      <p:sp>
        <p:nvSpPr>
          <p:cNvPr id="19" name="Espace réservé du contenu 21"/>
          <p:cNvSpPr txBox="1">
            <a:spLocks/>
          </p:cNvSpPr>
          <p:nvPr/>
        </p:nvSpPr>
        <p:spPr>
          <a:xfrm>
            <a:off x="1031315" y="4919041"/>
            <a:ext cx="3374965" cy="1608623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b="1" dirty="0" smtClean="0">
                <a:solidFill>
                  <a:srgbClr val="0070C0"/>
                </a:solidFill>
                <a:cs typeface="+mj-cs"/>
              </a:rPr>
              <a:t>................</a:t>
            </a:r>
            <a:endParaRPr lang="fr-FR" sz="1800" dirty="0"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940620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9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2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13" grpId="0" animBg="1"/>
      <p:bldP spid="18" grpId="0" animBg="1"/>
      <p:bldP spid="17" grpId="0" animBg="1"/>
      <p:bldP spid="1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800" b="1" dirty="0" smtClean="0">
                <a:solidFill>
                  <a:srgbClr val="FF0000"/>
                </a:solidFill>
                <a:cs typeface="+mj-cs"/>
              </a:rPr>
              <a:t>سـؤال </a:t>
            </a:r>
            <a:r>
              <a:rPr lang="ar-DZ" sz="3800" b="1" dirty="0">
                <a:solidFill>
                  <a:srgbClr val="FF0000"/>
                </a:solidFill>
                <a:cs typeface="+mj-cs"/>
              </a:rPr>
              <a:t>: </a:t>
            </a:r>
            <a:r>
              <a:rPr lang="ar-DZ" sz="3800" b="1" dirty="0" smtClean="0">
                <a:solidFill>
                  <a:srgbClr val="FF0000"/>
                </a:solidFill>
                <a:cs typeface="+mj-cs"/>
              </a:rPr>
              <a:t>لـيـس كـلُ الـبـرامـجُ نَـافِـعَـةً فَـكَـيْـفَ تُـسَـمَـى الـضَـارَةَ مِـنْهَـا</a:t>
            </a:r>
            <a:r>
              <a:rPr lang="ar-DZ" sz="3800" b="1" dirty="0" smtClean="0">
                <a:solidFill>
                  <a:srgbClr val="FF0000"/>
                </a:solidFill>
              </a:rPr>
              <a:t>؟</a:t>
            </a:r>
            <a:endParaRPr lang="fr-FR" sz="3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19/10/2024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7392143" y="3283294"/>
            <a:ext cx="363896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الــحــاســوب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031315" y="1699119"/>
            <a:ext cx="1000044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FF0000"/>
                </a:solidFill>
                <a:cs typeface="+mj-cs"/>
              </a:rPr>
              <a:t>الـبَــرْمَــجِـــيَــــات الـخَـــبِـــيــــثَـــة   </a:t>
            </a:r>
            <a:r>
              <a:rPr lang="fr-FR" sz="4000" b="1" dirty="0" smtClean="0">
                <a:solidFill>
                  <a:srgbClr val="FF0000"/>
                </a:solidFill>
                <a:cs typeface="+mj-cs"/>
              </a:rPr>
              <a:t>Malwares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031315" y="3283295"/>
            <a:ext cx="363896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الــمــســتــخــدم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pic>
        <p:nvPicPr>
          <p:cNvPr id="10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6702" y="4171622"/>
            <a:ext cx="1728192" cy="2105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Picture 11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9089" y="4527553"/>
            <a:ext cx="2505075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5" name="Connecteur droit avec flèche 14"/>
          <p:cNvCxnSpPr>
            <a:endCxn id="18" idx="3"/>
          </p:cNvCxnSpPr>
          <p:nvPr/>
        </p:nvCxnSpPr>
        <p:spPr>
          <a:xfrm flipH="1">
            <a:off x="4670281" y="2479449"/>
            <a:ext cx="1137599" cy="120073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necteur droit avec flèche 15"/>
          <p:cNvCxnSpPr>
            <a:endCxn id="6" idx="1"/>
          </p:cNvCxnSpPr>
          <p:nvPr/>
        </p:nvCxnSpPr>
        <p:spPr>
          <a:xfrm>
            <a:off x="5807879" y="2479449"/>
            <a:ext cx="1584264" cy="120073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Espace réservé du contenu 21"/>
          <p:cNvSpPr txBox="1">
            <a:spLocks/>
          </p:cNvSpPr>
          <p:nvPr/>
        </p:nvSpPr>
        <p:spPr>
          <a:xfrm>
            <a:off x="7636171" y="5196961"/>
            <a:ext cx="3398168" cy="1524517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b="1" dirty="0" smtClean="0">
                <a:solidFill>
                  <a:srgbClr val="0070C0"/>
                </a:solidFill>
                <a:cs typeface="+mj-cs"/>
              </a:rPr>
              <a:t>..............</a:t>
            </a:r>
            <a:endParaRPr lang="fr-FR" dirty="0">
              <a:cs typeface="+mj-cs"/>
            </a:endParaRPr>
          </a:p>
        </p:txBody>
      </p:sp>
      <p:sp>
        <p:nvSpPr>
          <p:cNvPr id="19" name="Espace réservé du contenu 21"/>
          <p:cNvSpPr txBox="1">
            <a:spLocks/>
          </p:cNvSpPr>
          <p:nvPr/>
        </p:nvSpPr>
        <p:spPr>
          <a:xfrm>
            <a:off x="1031315" y="4919041"/>
            <a:ext cx="3374965" cy="1608623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b="1" dirty="0" smtClean="0">
                <a:solidFill>
                  <a:srgbClr val="0070C0"/>
                </a:solidFill>
                <a:cs typeface="+mj-cs"/>
              </a:rPr>
              <a:t>................</a:t>
            </a:r>
            <a:endParaRPr lang="fr-FR" sz="1800" dirty="0"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1735413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9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2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13" grpId="0" animBg="1"/>
      <p:bldP spid="18" grpId="0" animBg="1"/>
      <p:bldP spid="17" grpId="0" animBg="1"/>
      <p:bldP spid="1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800" b="1" dirty="0" smtClean="0">
                <a:solidFill>
                  <a:srgbClr val="FF0000"/>
                </a:solidFill>
                <a:cs typeface="+mj-cs"/>
              </a:rPr>
              <a:t>سـؤال </a:t>
            </a:r>
            <a:r>
              <a:rPr lang="ar-DZ" sz="3800" b="1" dirty="0">
                <a:solidFill>
                  <a:srgbClr val="FF0000"/>
                </a:solidFill>
                <a:cs typeface="+mj-cs"/>
              </a:rPr>
              <a:t>: </a:t>
            </a:r>
            <a:r>
              <a:rPr lang="ar-DZ" sz="3800" b="1" dirty="0" smtClean="0">
                <a:solidFill>
                  <a:srgbClr val="FF0000"/>
                </a:solidFill>
                <a:cs typeface="+mj-cs"/>
              </a:rPr>
              <a:t>لـيـس كـلُ الـبـرامـجُ نَـافِـعَـةً فَـكَـيْـفَ تُـسَـمَـى الـضَـارَةَ مِـنْهَـا</a:t>
            </a:r>
            <a:r>
              <a:rPr lang="ar-DZ" sz="3800" b="1" dirty="0" smtClean="0">
                <a:solidFill>
                  <a:srgbClr val="FF0000"/>
                </a:solidFill>
              </a:rPr>
              <a:t>؟</a:t>
            </a:r>
            <a:endParaRPr lang="fr-FR" sz="3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19/10/2024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7392143" y="3283294"/>
            <a:ext cx="363896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الــحــاســوب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031315" y="1699119"/>
            <a:ext cx="1000044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FF0000"/>
                </a:solidFill>
                <a:cs typeface="+mj-cs"/>
              </a:rPr>
              <a:t>الـبَــرْمَــجِـــيَــــات الـخَـــبِـــيــــثَـــة   </a:t>
            </a:r>
            <a:r>
              <a:rPr lang="fr-FR" sz="4000" b="1" dirty="0" smtClean="0">
                <a:solidFill>
                  <a:srgbClr val="FF0000"/>
                </a:solidFill>
                <a:cs typeface="+mj-cs"/>
              </a:rPr>
              <a:t>Malwares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031315" y="3283295"/>
            <a:ext cx="363896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الــمــســتــخــدم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pic>
        <p:nvPicPr>
          <p:cNvPr id="10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6702" y="4171622"/>
            <a:ext cx="1728192" cy="2105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Picture 11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9089" y="4527553"/>
            <a:ext cx="2505075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5" name="Connecteur droit avec flèche 14"/>
          <p:cNvCxnSpPr>
            <a:endCxn id="18" idx="3"/>
          </p:cNvCxnSpPr>
          <p:nvPr/>
        </p:nvCxnSpPr>
        <p:spPr>
          <a:xfrm flipH="1">
            <a:off x="4670281" y="2479449"/>
            <a:ext cx="1137599" cy="120073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necteur droit avec flèche 15"/>
          <p:cNvCxnSpPr>
            <a:endCxn id="6" idx="1"/>
          </p:cNvCxnSpPr>
          <p:nvPr/>
        </p:nvCxnSpPr>
        <p:spPr>
          <a:xfrm>
            <a:off x="5807879" y="2479449"/>
            <a:ext cx="1584264" cy="120073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Espace réservé du contenu 21"/>
          <p:cNvSpPr txBox="1">
            <a:spLocks/>
          </p:cNvSpPr>
          <p:nvPr/>
        </p:nvSpPr>
        <p:spPr>
          <a:xfrm>
            <a:off x="1031315" y="4919041"/>
            <a:ext cx="3374965" cy="1608623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b="1" dirty="0" smtClean="0">
                <a:solidFill>
                  <a:srgbClr val="0070C0"/>
                </a:solidFill>
                <a:cs typeface="+mj-cs"/>
              </a:rPr>
              <a:t>................</a:t>
            </a:r>
            <a:endParaRPr lang="fr-FR" sz="1800" dirty="0">
              <a:cs typeface="+mj-cs"/>
            </a:endParaRPr>
          </a:p>
        </p:txBody>
      </p:sp>
      <p:sp>
        <p:nvSpPr>
          <p:cNvPr id="20" name="Espace réservé du contenu 21"/>
          <p:cNvSpPr txBox="1">
            <a:spLocks/>
          </p:cNvSpPr>
          <p:nvPr/>
        </p:nvSpPr>
        <p:spPr>
          <a:xfrm>
            <a:off x="7464152" y="5000827"/>
            <a:ext cx="3398168" cy="1524517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fontScale="925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b="1" dirty="0" smtClean="0">
                <a:solidFill>
                  <a:srgbClr val="0070C0"/>
                </a:solidFill>
              </a:rPr>
              <a:t>الــعــــتـــــاد الــبـــيـــانـــات</a:t>
            </a:r>
            <a:endParaRPr lang="fr-FR" dirty="0"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4487739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7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2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13" grpId="0" animBg="1"/>
      <p:bldP spid="18" grpId="0" animBg="1"/>
      <p:bldP spid="19" grpId="0" animBg="1"/>
      <p:bldP spid="20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800" b="1" dirty="0" smtClean="0">
                <a:solidFill>
                  <a:srgbClr val="FF0000"/>
                </a:solidFill>
                <a:cs typeface="+mj-cs"/>
              </a:rPr>
              <a:t>سـؤال </a:t>
            </a:r>
            <a:r>
              <a:rPr lang="ar-DZ" sz="3800" b="1" dirty="0">
                <a:solidFill>
                  <a:srgbClr val="FF0000"/>
                </a:solidFill>
                <a:cs typeface="+mj-cs"/>
              </a:rPr>
              <a:t>: </a:t>
            </a:r>
            <a:r>
              <a:rPr lang="ar-DZ" sz="3800" b="1" dirty="0" smtClean="0">
                <a:solidFill>
                  <a:srgbClr val="FF0000"/>
                </a:solidFill>
                <a:cs typeface="+mj-cs"/>
              </a:rPr>
              <a:t>لـيـس كـلُ الـبـرامـجُ نَـافِـعَـةً فَـكَـيْـفَ تُـسَـمَـى الـضَـارَةَ مِـنْهَـا</a:t>
            </a:r>
            <a:r>
              <a:rPr lang="ar-DZ" sz="3800" b="1" dirty="0" smtClean="0">
                <a:solidFill>
                  <a:srgbClr val="FF0000"/>
                </a:solidFill>
              </a:rPr>
              <a:t>؟</a:t>
            </a:r>
            <a:endParaRPr lang="fr-FR" sz="3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19/10/2024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7392143" y="3283294"/>
            <a:ext cx="363896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الــحــاســوب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031315" y="1699119"/>
            <a:ext cx="1000044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FF0000"/>
                </a:solidFill>
                <a:cs typeface="+mj-cs"/>
              </a:rPr>
              <a:t>الـبَــرْمَــجِـــيَــــات الـخَـــبِـــيــــثَـــة   </a:t>
            </a:r>
            <a:r>
              <a:rPr lang="fr-FR" sz="4000" b="1" dirty="0" smtClean="0">
                <a:solidFill>
                  <a:srgbClr val="FF0000"/>
                </a:solidFill>
                <a:cs typeface="+mj-cs"/>
              </a:rPr>
              <a:t>Malwares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031315" y="3283295"/>
            <a:ext cx="363896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الــمــســتــخــدم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pic>
        <p:nvPicPr>
          <p:cNvPr id="10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6702" y="4171622"/>
            <a:ext cx="1728192" cy="2105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Picture 11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9089" y="4527553"/>
            <a:ext cx="2505075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5" name="Connecteur droit avec flèche 14"/>
          <p:cNvCxnSpPr>
            <a:endCxn id="18" idx="3"/>
          </p:cNvCxnSpPr>
          <p:nvPr/>
        </p:nvCxnSpPr>
        <p:spPr>
          <a:xfrm flipH="1">
            <a:off x="4670281" y="2479449"/>
            <a:ext cx="1137599" cy="120073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necteur droit avec flèche 15"/>
          <p:cNvCxnSpPr>
            <a:endCxn id="6" idx="1"/>
          </p:cNvCxnSpPr>
          <p:nvPr/>
        </p:nvCxnSpPr>
        <p:spPr>
          <a:xfrm>
            <a:off x="5807879" y="2479449"/>
            <a:ext cx="1584264" cy="120073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Espace réservé du contenu 21"/>
          <p:cNvSpPr txBox="1">
            <a:spLocks/>
          </p:cNvSpPr>
          <p:nvPr/>
        </p:nvSpPr>
        <p:spPr>
          <a:xfrm>
            <a:off x="1031315" y="4652714"/>
            <a:ext cx="3374965" cy="1608623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sz="2700" b="1" dirty="0" smtClean="0">
                <a:solidFill>
                  <a:srgbClr val="0070C0"/>
                </a:solidFill>
                <a:cs typeface="+mj-cs"/>
              </a:rPr>
              <a:t>بـالــتــجــســس وانـتــهــاك خــصـوصـيــتـه</a:t>
            </a:r>
            <a:endParaRPr lang="fr-FR" sz="2700" dirty="0">
              <a:cs typeface="+mj-cs"/>
            </a:endParaRPr>
          </a:p>
        </p:txBody>
      </p:sp>
      <p:sp>
        <p:nvSpPr>
          <p:cNvPr id="14" name="Espace réservé du contenu 21"/>
          <p:cNvSpPr txBox="1">
            <a:spLocks/>
          </p:cNvSpPr>
          <p:nvPr/>
        </p:nvSpPr>
        <p:spPr>
          <a:xfrm>
            <a:off x="7464152" y="5000827"/>
            <a:ext cx="3398168" cy="1524517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fontScale="925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b="1" dirty="0" smtClean="0">
                <a:solidFill>
                  <a:srgbClr val="0070C0"/>
                </a:solidFill>
              </a:rPr>
              <a:t>الــعــــتـــــاد الــبـــيـــانـــات</a:t>
            </a:r>
            <a:endParaRPr lang="fr-FR" dirty="0"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212873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7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2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13" grpId="0" animBg="1"/>
      <p:bldP spid="18" grpId="0" animBg="1"/>
      <p:bldP spid="19" grpId="0" animBg="1"/>
      <p:bldP spid="1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u="sng" dirty="0">
                <a:solidFill>
                  <a:srgbClr val="FF0000"/>
                </a:solidFill>
              </a:rPr>
              <a:t>أتـذكـر 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/>
          </a:p>
          <a:p>
            <a:pPr marL="0" indent="0" algn="just" rtl="1">
              <a:buNone/>
            </a:pP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هـي كـلُّ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صُـمِّـمَـتْ وطُـوِّرَتْ بِـهَـدَفِ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 بـ :</a:t>
            </a:r>
          </a:p>
          <a:p>
            <a:pPr marL="0" indent="0" algn="just" rtl="1">
              <a:buNone/>
            </a:pP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وذلــك فـي عـــتــــاده أو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 </a:t>
            </a:r>
          </a:p>
          <a:p>
            <a:pPr marL="0" indent="0" algn="just" rtl="1">
              <a:lnSpc>
                <a:spcPct val="20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أو الـمـســتـخـدم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عـلـيـه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وانـتـهـاك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 </a:t>
            </a:r>
            <a:endParaRPr lang="fr-FR" sz="4000" b="1" dirty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3600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.1 </a:t>
            </a:r>
            <a:r>
              <a:rPr lang="ar-DZ" b="1" dirty="0">
                <a:solidFill>
                  <a:srgbClr val="00B050"/>
                </a:solidFill>
                <a:cs typeface="+mj-cs"/>
              </a:rPr>
              <a:t>تـعــريــف الـبــرمــجـــيــة الـخــبــيــثـة  </a:t>
            </a:r>
            <a:r>
              <a:rPr lang="en-US" b="1" dirty="0" smtClean="0">
                <a:solidFill>
                  <a:srgbClr val="00B050"/>
                </a:solidFill>
                <a:cs typeface="+mj-cs"/>
              </a:rPr>
              <a:t>Malware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 :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508780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uiExpand="1" build="p" animBg="1"/>
      <p:bldP spid="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u="sng" dirty="0">
                <a:solidFill>
                  <a:srgbClr val="FF0000"/>
                </a:solidFill>
              </a:rPr>
              <a:t>أتـذكـر 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/>
          </a:p>
          <a:p>
            <a:pPr marL="0" indent="0" algn="just" rtl="1">
              <a:buNone/>
            </a:pP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هـي كـلُّ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صُـمِّـمَـتْ وطُـوِّرَتْ بِـهَـدَفِ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 بـ :</a:t>
            </a:r>
          </a:p>
          <a:p>
            <a:pPr marL="0" indent="0" algn="just" rtl="1">
              <a:buNone/>
            </a:pP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وذلــك فـي عـــتــــاده أو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 </a:t>
            </a:r>
          </a:p>
          <a:p>
            <a:pPr marL="0" indent="0" algn="just" rtl="1">
              <a:lnSpc>
                <a:spcPct val="20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أو الـمـســتـخـدم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عـلـيـه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وانـتـهـاك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 </a:t>
            </a:r>
            <a:endParaRPr lang="fr-FR" sz="4000" b="1" dirty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3600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.1 </a:t>
            </a:r>
            <a:r>
              <a:rPr lang="ar-DZ" b="1" dirty="0">
                <a:solidFill>
                  <a:srgbClr val="00B050"/>
                </a:solidFill>
                <a:cs typeface="+mj-cs"/>
              </a:rPr>
              <a:t>تـعــريــف الـبــرمــجـــيــة الـخــبــيــثـة  </a:t>
            </a:r>
            <a:r>
              <a:rPr lang="en-US" b="1" dirty="0" smtClean="0">
                <a:solidFill>
                  <a:srgbClr val="00B050"/>
                </a:solidFill>
                <a:cs typeface="+mj-cs"/>
              </a:rPr>
              <a:t>Malware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 :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897336" y="2426566"/>
            <a:ext cx="194421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بَـرْمَـجِـيَـة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117963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u="sng" dirty="0">
                <a:solidFill>
                  <a:srgbClr val="FF0000"/>
                </a:solidFill>
              </a:rPr>
              <a:t>أتـذكـر 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/>
          </a:p>
          <a:p>
            <a:pPr marL="0" indent="0" algn="just" rtl="1">
              <a:buNone/>
            </a:pP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هـي كـلُّ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صُـمِّـمَـتْ وطُـوِّرَتْ بِـهَـدَفِ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 بـ :</a:t>
            </a:r>
          </a:p>
          <a:p>
            <a:pPr marL="0" indent="0" algn="just" rtl="1">
              <a:buNone/>
            </a:pP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وذلــك فـي عـــتــــاده أو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 </a:t>
            </a:r>
          </a:p>
          <a:p>
            <a:pPr marL="0" indent="0" algn="just" rtl="1">
              <a:lnSpc>
                <a:spcPct val="20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أو الـمـســتـخـدم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عـلـيـه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وانـتـهـاك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 </a:t>
            </a:r>
            <a:endParaRPr lang="fr-FR" sz="4000" b="1" dirty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3600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.1 </a:t>
            </a:r>
            <a:r>
              <a:rPr lang="ar-DZ" b="1" dirty="0">
                <a:solidFill>
                  <a:srgbClr val="00B050"/>
                </a:solidFill>
                <a:cs typeface="+mj-cs"/>
              </a:rPr>
              <a:t>تـعــريــف الـبــرمــجـــيــة الـخــبــيــثـة  </a:t>
            </a:r>
            <a:r>
              <a:rPr lang="en-US" b="1" dirty="0" smtClean="0">
                <a:solidFill>
                  <a:srgbClr val="00B050"/>
                </a:solidFill>
                <a:cs typeface="+mj-cs"/>
              </a:rPr>
              <a:t>Malware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 :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897336" y="2426566"/>
            <a:ext cx="194421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بَـرْمَـجِـيَـة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73299" y="2416793"/>
            <a:ext cx="2723949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إلـحـاق الـضـرر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505833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  <p:bldP spid="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u="sng" dirty="0">
                <a:solidFill>
                  <a:srgbClr val="FF0000"/>
                </a:solidFill>
              </a:rPr>
              <a:t>أتـذكـر 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/>
          </a:p>
          <a:p>
            <a:pPr marL="0" indent="0" algn="just" rtl="1">
              <a:buNone/>
            </a:pP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هـي كـلُّ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صُـمِّـمَـتْ وطُـوِّرَتْ بِـهَـدَفِ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 بـ :</a:t>
            </a:r>
          </a:p>
          <a:p>
            <a:pPr marL="0" indent="0" algn="just" rtl="1">
              <a:buNone/>
            </a:pP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وذلــك فـي عـــتــــاده أو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 </a:t>
            </a:r>
          </a:p>
          <a:p>
            <a:pPr marL="0" indent="0" algn="just" rtl="1">
              <a:lnSpc>
                <a:spcPct val="20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أو الـمـســتـخـدم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عـلـيـه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وانـتـهـاك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 </a:t>
            </a:r>
            <a:endParaRPr lang="fr-FR" sz="4000" b="1" dirty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3600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.1 </a:t>
            </a:r>
            <a:r>
              <a:rPr lang="ar-DZ" b="1" dirty="0">
                <a:solidFill>
                  <a:srgbClr val="00B050"/>
                </a:solidFill>
                <a:cs typeface="+mj-cs"/>
              </a:rPr>
              <a:t>تـعــريــف الـبــرمــجـــيــة الـخــبــيــثـة  </a:t>
            </a:r>
            <a:r>
              <a:rPr lang="en-US" b="1" dirty="0" smtClean="0">
                <a:solidFill>
                  <a:srgbClr val="00B050"/>
                </a:solidFill>
                <a:cs typeface="+mj-cs"/>
              </a:rPr>
              <a:t>Malware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 :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897336" y="2426566"/>
            <a:ext cx="194421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بَـرْمَـجِـيَـة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73299" y="2416793"/>
            <a:ext cx="2723949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إلـحـاق الـضـرر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184232" y="3710752"/>
            <a:ext cx="274468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الـحــاســوب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038175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  <p:bldP spid="7" grpId="0" animBg="1"/>
      <p:bldP spid="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u="sng" dirty="0">
                <a:solidFill>
                  <a:srgbClr val="FF0000"/>
                </a:solidFill>
              </a:rPr>
              <a:t>أتـذكـر 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/>
          </a:p>
          <a:p>
            <a:pPr marL="0" indent="0" algn="just" rtl="1">
              <a:buNone/>
            </a:pP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هـي كـلُّ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صُـمِّـمَـتْ وطُـوِّرَتْ بِـهَـدَفِ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 بـ :</a:t>
            </a:r>
          </a:p>
          <a:p>
            <a:pPr marL="0" indent="0" algn="just" rtl="1">
              <a:buNone/>
            </a:pP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وذلــك فـي عـــتــــاده أو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 </a:t>
            </a:r>
          </a:p>
          <a:p>
            <a:pPr marL="0" indent="0" algn="just" rtl="1">
              <a:lnSpc>
                <a:spcPct val="20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أو الـمـســتـخـدم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عـلـيـه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وانـتـهـاك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 </a:t>
            </a:r>
            <a:endParaRPr lang="fr-FR" sz="4000" b="1" dirty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3600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.1 </a:t>
            </a:r>
            <a:r>
              <a:rPr lang="ar-DZ" b="1" dirty="0">
                <a:solidFill>
                  <a:srgbClr val="00B050"/>
                </a:solidFill>
                <a:cs typeface="+mj-cs"/>
              </a:rPr>
              <a:t>تـعــريــف الـبــرمــجـــيــة الـخــبــيــثـة  </a:t>
            </a:r>
            <a:r>
              <a:rPr lang="en-US" b="1" dirty="0" smtClean="0">
                <a:solidFill>
                  <a:srgbClr val="00B050"/>
                </a:solidFill>
                <a:cs typeface="+mj-cs"/>
              </a:rPr>
              <a:t>Malware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 :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897336" y="2426566"/>
            <a:ext cx="194421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بَـرْمَـجِـيَـة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73299" y="2416793"/>
            <a:ext cx="2723949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إلـحـاق الـضـرر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184232" y="3710752"/>
            <a:ext cx="274468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الـحــاســوب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84271" y="3732192"/>
            <a:ext cx="274468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بــيــانــاتــه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316098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u="sng" dirty="0">
                <a:solidFill>
                  <a:srgbClr val="FF0000"/>
                </a:solidFill>
              </a:rPr>
              <a:t>أتـذكـر 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/>
          </a:p>
          <a:p>
            <a:pPr marL="0" indent="0" algn="just" rtl="1">
              <a:buNone/>
            </a:pP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هـي كـلُّ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صُـمِّـمَـتْ وطُـوِّرَتْ بِـهَـدَفِ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 بـ :</a:t>
            </a:r>
          </a:p>
          <a:p>
            <a:pPr marL="0" indent="0" algn="just" rtl="1">
              <a:buNone/>
            </a:pP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وذلــك فـي عـــتــــاده أو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 </a:t>
            </a:r>
          </a:p>
          <a:p>
            <a:pPr marL="0" indent="0" algn="just" rtl="1">
              <a:lnSpc>
                <a:spcPct val="20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أو الـمـســتـخـدم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عـلـيـه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وانـتـهـاك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 </a:t>
            </a:r>
            <a:endParaRPr lang="fr-FR" sz="4000" b="1" dirty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3600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.1 </a:t>
            </a:r>
            <a:r>
              <a:rPr lang="ar-DZ" b="1" dirty="0">
                <a:solidFill>
                  <a:srgbClr val="00B050"/>
                </a:solidFill>
                <a:cs typeface="+mj-cs"/>
              </a:rPr>
              <a:t>تـعــريــف الـبــرمــجـــيــة الـخــبــيــثـة  </a:t>
            </a:r>
            <a:r>
              <a:rPr lang="en-US" b="1" dirty="0" smtClean="0">
                <a:solidFill>
                  <a:srgbClr val="00B050"/>
                </a:solidFill>
                <a:cs typeface="+mj-cs"/>
              </a:rPr>
              <a:t>Malware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 :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897336" y="2426566"/>
            <a:ext cx="194421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بَـرْمَـجِـيَـة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73299" y="2416793"/>
            <a:ext cx="2723949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إلـحـاق الـضـرر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184232" y="3710752"/>
            <a:ext cx="274468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الـحــاســوب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84271" y="3732192"/>
            <a:ext cx="274468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بــيــانــاتــه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168008" y="4881914"/>
            <a:ext cx="249396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بِـالـتَـجَــسُــسِ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69967" y="4881914"/>
            <a:ext cx="253369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خـصـوصـيـتـه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059940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  <p:bldP spid="7" grpId="0" animBg="1"/>
      <p:bldP spid="8" grpId="0" animBg="1"/>
      <p:bldP spid="9" grpId="0" animBg="1"/>
      <p:bldP spid="11" grpId="0" animBg="1"/>
      <p:bldP spid="12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.1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أنــواع الـبــرمــجــيــات الـخــبـــيـــثــة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4800" b="1" dirty="0" smtClean="0">
                <a:cs typeface="+mj-cs"/>
              </a:rPr>
              <a:t>ارْبِــطْ </a:t>
            </a:r>
            <a:r>
              <a:rPr lang="ar-DZ" sz="4800" b="1" dirty="0">
                <a:cs typeface="+mj-cs"/>
              </a:rPr>
              <a:t>كُــلَّ بــرمــجــيــة خــبــيــثـة </a:t>
            </a:r>
            <a:r>
              <a:rPr lang="ar-DZ" sz="4800" b="1" dirty="0" smtClean="0">
                <a:cs typeface="+mj-cs"/>
              </a:rPr>
              <a:t>( مـن </a:t>
            </a:r>
            <a:r>
              <a:rPr lang="ar-DZ" sz="4800" b="1" dirty="0">
                <a:cs typeface="+mj-cs"/>
              </a:rPr>
              <a:t>خـــلال ســهــم ) بـالـخــاصـيــة الَّـتِي تــنــاســبــهـا  </a:t>
            </a:r>
            <a:r>
              <a:rPr lang="ar-DZ" sz="4400" b="1" dirty="0" smtClean="0">
                <a:cs typeface="+mj-cs"/>
              </a:rPr>
              <a:t>:</a:t>
            </a:r>
            <a:endParaRPr lang="ar-DZ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5400" b="1" u="sng" dirty="0">
                <a:solidFill>
                  <a:srgbClr val="0070C0"/>
                </a:solidFill>
                <a:cs typeface="+mj-cs"/>
              </a:rPr>
              <a:t>نـشـاط </a:t>
            </a:r>
            <a:r>
              <a:rPr lang="ar-DZ" sz="5400" b="1" u="sng" dirty="0" smtClean="0">
                <a:solidFill>
                  <a:srgbClr val="0070C0"/>
                </a:solidFill>
                <a:cs typeface="+mj-cs"/>
              </a:rPr>
              <a:t>2</a:t>
            </a:r>
            <a:r>
              <a:rPr lang="ar-DZ" sz="5400" b="1" dirty="0" smtClean="0">
                <a:solidFill>
                  <a:srgbClr val="0070C0"/>
                </a:solidFill>
                <a:cs typeface="+mj-cs"/>
              </a:rPr>
              <a:t> :</a:t>
            </a:r>
            <a:endParaRPr lang="fr-FR" sz="5400" i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056952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/>
      <p:bldP spid="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 </a:t>
            </a:r>
            <a:r>
              <a:rPr lang="ar-DZ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( 2.1 أنــواع </a:t>
            </a:r>
            <a:r>
              <a:rPr lang="ar-DZ" sz="40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الـبــرمــجــيــات </a:t>
            </a:r>
            <a:r>
              <a:rPr lang="ar-DZ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الـخــبـــيـــثــة )</a:t>
            </a:r>
            <a:endParaRPr lang="fr-FR" sz="3800" b="1" i="1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5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19/10/2024</a:t>
            </a:fld>
            <a:endParaRPr lang="fr-BE" dirty="0"/>
          </a:p>
        </p:txBody>
      </p:sp>
      <p:graphicFrame>
        <p:nvGraphicFramePr>
          <p:cNvPr id="7" name="Tableau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870358"/>
              </p:ext>
            </p:extLst>
          </p:nvPr>
        </p:nvGraphicFramePr>
        <p:xfrm>
          <a:off x="767406" y="1484784"/>
          <a:ext cx="10524043" cy="46800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2351244"/>
                <a:gridCol w="8172799"/>
              </a:tblGrid>
              <a:tr h="1401634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الـفــيــروســـات       </a:t>
                      </a:r>
                      <a:r>
                        <a:rPr lang="fr-FR" sz="3200" b="1" dirty="0" err="1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Viruses</a:t>
                      </a:r>
                      <a:endParaRPr lang="fr-FR" sz="32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639183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الــديـــدان</a:t>
                      </a:r>
                      <a:r>
                        <a:rPr lang="ar-DZ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Worms</a:t>
                      </a:r>
                      <a:endParaRPr lang="ar-DZ" sz="3200" b="1" dirty="0" smtClean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1639183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حــصـان </a:t>
                      </a:r>
                      <a:r>
                        <a:rPr lang="ar-SA" sz="28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طَــرْوَادَة   </a:t>
                      </a:r>
                      <a:r>
                        <a:rPr lang="fr-FR" sz="2800" b="1" dirty="0" err="1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Trojan</a:t>
                      </a:r>
                      <a:r>
                        <a:rPr lang="fr-FR" sz="28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Horse</a:t>
                      </a:r>
                      <a:endParaRPr lang="fr-FR" sz="28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9160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 </a:t>
            </a:r>
            <a:r>
              <a:rPr lang="ar-DZ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( 2.1 أنــواع </a:t>
            </a:r>
            <a:r>
              <a:rPr lang="ar-DZ" sz="40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الـبــرمــجــيــات </a:t>
            </a:r>
            <a:r>
              <a:rPr lang="ar-DZ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الـخــبـــيـــثــة )</a:t>
            </a:r>
            <a:endParaRPr lang="fr-FR" sz="3800" b="1" i="1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5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19/10/2024</a:t>
            </a:fld>
            <a:endParaRPr lang="fr-BE" dirty="0"/>
          </a:p>
        </p:txBody>
      </p:sp>
      <p:graphicFrame>
        <p:nvGraphicFramePr>
          <p:cNvPr id="7" name="Tableau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870358"/>
              </p:ext>
            </p:extLst>
          </p:nvPr>
        </p:nvGraphicFramePr>
        <p:xfrm>
          <a:off x="767406" y="1484784"/>
          <a:ext cx="10524043" cy="46800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2351244"/>
                <a:gridCol w="8172799"/>
              </a:tblGrid>
              <a:tr h="1401634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الـفــيــروســـات       </a:t>
                      </a:r>
                      <a:r>
                        <a:rPr lang="fr-FR" sz="3200" b="1" dirty="0" err="1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Viruses</a:t>
                      </a:r>
                      <a:endParaRPr lang="fr-FR" sz="32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639183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الــديـــدان</a:t>
                      </a:r>
                      <a:r>
                        <a:rPr lang="ar-DZ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Worms</a:t>
                      </a:r>
                      <a:endParaRPr lang="ar-DZ" sz="3200" b="1" dirty="0" smtClean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1639183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حــصـان </a:t>
                      </a:r>
                      <a:r>
                        <a:rPr lang="ar-SA" sz="28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طَــرْوَادَة   </a:t>
                      </a:r>
                      <a:r>
                        <a:rPr lang="fr-FR" sz="2800" b="1" dirty="0" err="1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Trojan</a:t>
                      </a:r>
                      <a:r>
                        <a:rPr lang="fr-FR" sz="28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Horse</a:t>
                      </a:r>
                      <a:endParaRPr lang="fr-FR" sz="28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911424" y="1763360"/>
            <a:ext cx="784887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000" b="1" dirty="0" smtClean="0">
                <a:solidFill>
                  <a:srgbClr val="0070C0"/>
                </a:solidFill>
                <a:cs typeface="+mj-cs"/>
              </a:rPr>
              <a:t>تـتـنـاسـخ وتـرتـبـط بالـمـلـفــات وتـعــتـمـد </a:t>
            </a:r>
            <a:r>
              <a:rPr lang="ar-DZ" sz="3000" b="1" dirty="0">
                <a:solidFill>
                  <a:srgbClr val="0070C0"/>
                </a:solidFill>
                <a:cs typeface="+mj-cs"/>
              </a:rPr>
              <a:t>عـلـيـهـا </a:t>
            </a:r>
            <a:r>
              <a:rPr lang="ar-DZ" sz="3000" b="1" dirty="0" smtClean="0">
                <a:solidFill>
                  <a:srgbClr val="0070C0"/>
                </a:solidFill>
                <a:cs typeface="+mj-cs"/>
              </a:rPr>
              <a:t>للانـتـشــار</a:t>
            </a:r>
            <a:endParaRPr lang="fr-FR" sz="3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6526387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9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 </a:t>
            </a:r>
            <a:r>
              <a:rPr lang="ar-DZ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( 2.1 أنــواع </a:t>
            </a:r>
            <a:r>
              <a:rPr lang="ar-DZ" sz="40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الـبــرمــجــيــات </a:t>
            </a:r>
            <a:r>
              <a:rPr lang="ar-DZ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الـخــبـــيـــثــة )</a:t>
            </a:r>
            <a:endParaRPr lang="fr-FR" sz="3800" b="1" i="1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5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19/10/2024</a:t>
            </a:fld>
            <a:endParaRPr lang="fr-BE" dirty="0"/>
          </a:p>
        </p:txBody>
      </p:sp>
      <p:graphicFrame>
        <p:nvGraphicFramePr>
          <p:cNvPr id="7" name="Tableau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870358"/>
              </p:ext>
            </p:extLst>
          </p:nvPr>
        </p:nvGraphicFramePr>
        <p:xfrm>
          <a:off x="767406" y="1484784"/>
          <a:ext cx="10524043" cy="46800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2351244"/>
                <a:gridCol w="8172799"/>
              </a:tblGrid>
              <a:tr h="1401634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الـفــيــروســـات       </a:t>
                      </a:r>
                      <a:r>
                        <a:rPr lang="fr-FR" sz="3200" b="1" dirty="0" err="1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Viruses</a:t>
                      </a:r>
                      <a:endParaRPr lang="fr-FR" sz="32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639183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الــديـــدان</a:t>
                      </a:r>
                      <a:r>
                        <a:rPr lang="ar-DZ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Worms</a:t>
                      </a:r>
                      <a:endParaRPr lang="ar-DZ" sz="3200" b="1" dirty="0" smtClean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1639183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حــصـان </a:t>
                      </a:r>
                      <a:r>
                        <a:rPr lang="ar-SA" sz="28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طَــرْوَادَة   </a:t>
                      </a:r>
                      <a:r>
                        <a:rPr lang="fr-FR" sz="2800" b="1" dirty="0" err="1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Trojan</a:t>
                      </a:r>
                      <a:r>
                        <a:rPr lang="fr-FR" sz="28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Horse</a:t>
                      </a:r>
                      <a:endParaRPr lang="fr-FR" sz="28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911424" y="1763360"/>
            <a:ext cx="784887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000" b="1" dirty="0" smtClean="0">
                <a:solidFill>
                  <a:srgbClr val="0070C0"/>
                </a:solidFill>
                <a:cs typeface="+mj-cs"/>
              </a:rPr>
              <a:t>تـتـنـاسـخ وتـرتـبـط بالـمـلـفــات وتـعــتـمـد </a:t>
            </a:r>
            <a:r>
              <a:rPr lang="ar-DZ" sz="3000" b="1" dirty="0">
                <a:solidFill>
                  <a:srgbClr val="0070C0"/>
                </a:solidFill>
                <a:cs typeface="+mj-cs"/>
              </a:rPr>
              <a:t>عـلـيـهـا </a:t>
            </a:r>
            <a:r>
              <a:rPr lang="ar-DZ" sz="3000" b="1" dirty="0" smtClean="0">
                <a:solidFill>
                  <a:srgbClr val="0070C0"/>
                </a:solidFill>
                <a:cs typeface="+mj-cs"/>
              </a:rPr>
              <a:t>للانـتـشــار</a:t>
            </a:r>
            <a:endParaRPr lang="fr-FR" sz="3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911424" y="3272822"/>
            <a:ext cx="784887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3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تـعــتـمــد </a:t>
            </a:r>
            <a:r>
              <a:rPr lang="ar-SA" sz="3000" b="1" dirty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عـلـى </a:t>
            </a:r>
            <a:r>
              <a:rPr lang="ar-SA" sz="3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نــفــسـهـا للانـتـشــار بـاســتـغــلال الـثـغــرات</a:t>
            </a:r>
            <a:endParaRPr lang="fr-FR" sz="3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460037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9" grpId="0" animBg="1"/>
      <p:bldP spid="10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 </a:t>
            </a:r>
            <a:r>
              <a:rPr lang="ar-DZ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( 2.1 أنــواع </a:t>
            </a:r>
            <a:r>
              <a:rPr lang="ar-DZ" sz="40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الـبــرمــجــيــات </a:t>
            </a:r>
            <a:r>
              <a:rPr lang="ar-DZ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الـخــبـــيـــثــة )</a:t>
            </a:r>
            <a:endParaRPr lang="fr-FR" sz="3800" b="1" i="1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5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19/10/2024</a:t>
            </a:fld>
            <a:endParaRPr lang="fr-BE" dirty="0"/>
          </a:p>
        </p:txBody>
      </p:sp>
      <p:graphicFrame>
        <p:nvGraphicFramePr>
          <p:cNvPr id="7" name="Tableau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870358"/>
              </p:ext>
            </p:extLst>
          </p:nvPr>
        </p:nvGraphicFramePr>
        <p:xfrm>
          <a:off x="767406" y="1484784"/>
          <a:ext cx="10524043" cy="46800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2351244"/>
                <a:gridCol w="8172799"/>
              </a:tblGrid>
              <a:tr h="1401634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الـفــيــروســـات       </a:t>
                      </a:r>
                      <a:r>
                        <a:rPr lang="fr-FR" sz="3200" b="1" dirty="0" err="1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Viruses</a:t>
                      </a:r>
                      <a:endParaRPr lang="fr-FR" sz="32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639183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الــديـــدان</a:t>
                      </a:r>
                      <a:r>
                        <a:rPr lang="ar-DZ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Worms</a:t>
                      </a:r>
                      <a:endParaRPr lang="ar-DZ" sz="3200" b="1" dirty="0" smtClean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1639183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حــصـان </a:t>
                      </a:r>
                      <a:r>
                        <a:rPr lang="ar-SA" sz="28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طَــرْوَادَة   </a:t>
                      </a:r>
                      <a:r>
                        <a:rPr lang="fr-FR" sz="2800" b="1" dirty="0" err="1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Trojan</a:t>
                      </a:r>
                      <a:r>
                        <a:rPr lang="fr-FR" sz="28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Horse</a:t>
                      </a:r>
                      <a:endParaRPr lang="fr-FR" sz="28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911424" y="1763360"/>
            <a:ext cx="784887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000" b="1" dirty="0" smtClean="0">
                <a:solidFill>
                  <a:srgbClr val="0070C0"/>
                </a:solidFill>
                <a:cs typeface="+mj-cs"/>
              </a:rPr>
              <a:t>تـتـنـاسـخ وتـرتـبـط بالـمـلـفــات وتـعــتـمـد </a:t>
            </a:r>
            <a:r>
              <a:rPr lang="ar-DZ" sz="3000" b="1" dirty="0">
                <a:solidFill>
                  <a:srgbClr val="0070C0"/>
                </a:solidFill>
                <a:cs typeface="+mj-cs"/>
              </a:rPr>
              <a:t>عـلـيـهـا </a:t>
            </a:r>
            <a:r>
              <a:rPr lang="ar-DZ" sz="3000" b="1" dirty="0" smtClean="0">
                <a:solidFill>
                  <a:srgbClr val="0070C0"/>
                </a:solidFill>
                <a:cs typeface="+mj-cs"/>
              </a:rPr>
              <a:t>للانـتـشــار</a:t>
            </a:r>
            <a:endParaRPr lang="fr-FR" sz="3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911424" y="3272822"/>
            <a:ext cx="784887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3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تـعــتـمــد </a:t>
            </a:r>
            <a:r>
              <a:rPr lang="ar-SA" sz="3000" b="1" dirty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عـلـى </a:t>
            </a:r>
            <a:r>
              <a:rPr lang="ar-SA" sz="3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نــفــسـهـا للانـتـشــار بـاســتـغــلال الـثـغــرات</a:t>
            </a:r>
            <a:endParaRPr lang="fr-FR" sz="3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911424" y="5006218"/>
            <a:ext cx="784887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3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بـرمجـية خــبـيـثـة م</a:t>
            </a:r>
            <a:r>
              <a:rPr lang="ar-DZ" sz="3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ُـ</a:t>
            </a:r>
            <a:r>
              <a:rPr lang="ar-SA" sz="3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ت</a:t>
            </a:r>
            <a:r>
              <a:rPr lang="ar-DZ" sz="3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َ</a:t>
            </a:r>
            <a:r>
              <a:rPr lang="ar-SA" sz="3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ـو</a:t>
            </a:r>
            <a:r>
              <a:rPr lang="ar-DZ" sz="3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َ</a:t>
            </a:r>
            <a:r>
              <a:rPr lang="ar-SA" sz="3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ار</a:t>
            </a:r>
            <a:r>
              <a:rPr lang="ar-DZ" sz="3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ِ</a:t>
            </a:r>
            <a:r>
              <a:rPr lang="ar-SA" sz="3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ي</a:t>
            </a:r>
            <a:r>
              <a:rPr lang="ar-DZ" sz="3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َ</a:t>
            </a:r>
            <a:r>
              <a:rPr lang="ar-SA" sz="3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ـة </a:t>
            </a:r>
            <a:r>
              <a:rPr lang="ar-SA" sz="3000" b="1" dirty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في </a:t>
            </a:r>
            <a:r>
              <a:rPr lang="ar-SA" sz="3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بـرنـامج آخـر</a:t>
            </a:r>
            <a:r>
              <a:rPr lang="ar-DZ" sz="3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 </a:t>
            </a:r>
            <a:r>
              <a:rPr lang="ar-SA" sz="3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كأنهـا جـزء مـنه</a:t>
            </a:r>
            <a:endParaRPr lang="fr-FR" sz="3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567477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9" grpId="0" animBg="1"/>
      <p:bldP spid="10" grpId="0" animBg="1"/>
      <p:bldP spid="12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 </a:t>
            </a:r>
            <a:r>
              <a:rPr lang="ar-DZ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( 2.1 أنــواع </a:t>
            </a:r>
            <a:r>
              <a:rPr lang="ar-DZ" sz="40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الـبــرمــجــيــات </a:t>
            </a:r>
            <a:r>
              <a:rPr lang="ar-DZ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الـخــبـــيـــثــة  –  تـــابــع )</a:t>
            </a:r>
            <a:endParaRPr lang="fr-FR" sz="3800" b="1" i="1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5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19/10/2024</a:t>
            </a:fld>
            <a:endParaRPr lang="fr-BE" dirty="0"/>
          </a:p>
        </p:txBody>
      </p:sp>
      <p:graphicFrame>
        <p:nvGraphicFramePr>
          <p:cNvPr id="7" name="Tableau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1264439"/>
              </p:ext>
            </p:extLst>
          </p:nvPr>
        </p:nvGraphicFramePr>
        <p:xfrm>
          <a:off x="767407" y="1484784"/>
          <a:ext cx="10524042" cy="4832846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2364961"/>
                <a:gridCol w="8159081"/>
              </a:tblGrid>
              <a:tr h="1401634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بــرمــجــيــات ال</a:t>
                      </a:r>
                      <a:r>
                        <a:rPr lang="ar-DZ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ـ</a:t>
                      </a:r>
                      <a:r>
                        <a:rPr lang="ar-SA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ـتـ</a:t>
                      </a:r>
                      <a:r>
                        <a:rPr lang="ar-DZ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ـ</a:t>
                      </a:r>
                      <a:r>
                        <a:rPr lang="ar-SA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جـ</a:t>
                      </a:r>
                      <a:r>
                        <a:rPr lang="ar-DZ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ـ</a:t>
                      </a:r>
                      <a:r>
                        <a:rPr lang="ar-SA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ـ</a:t>
                      </a:r>
                      <a:r>
                        <a:rPr lang="ar-SA" sz="3200" b="1" dirty="0" err="1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سُّــس</a:t>
                      </a:r>
                      <a:r>
                        <a:rPr lang="ar-SA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</a:t>
                      </a:r>
                      <a:r>
                        <a:rPr lang="fr-FR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Spyware </a:t>
                      </a:r>
                      <a:endParaRPr lang="fr-FR" sz="32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639183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بـ</a:t>
                      </a:r>
                      <a:r>
                        <a:rPr lang="ar-DZ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ـــ</a:t>
                      </a:r>
                      <a:r>
                        <a:rPr lang="ar-SA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ـرامـ</a:t>
                      </a:r>
                      <a:r>
                        <a:rPr lang="ar-DZ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ــ</a:t>
                      </a:r>
                      <a:r>
                        <a:rPr lang="ar-SA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ج</a:t>
                      </a:r>
                      <a:endParaRPr lang="ar-DZ" sz="3200" b="1" dirty="0" smtClean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3200" b="1" dirty="0" err="1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الإنْ</a:t>
                      </a:r>
                      <a:r>
                        <a:rPr lang="ar-SA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ـ</a:t>
                      </a:r>
                      <a:r>
                        <a:rPr lang="ar-DZ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ــــــ</a:t>
                      </a:r>
                      <a:r>
                        <a:rPr lang="ar-SA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ــزَال              </a:t>
                      </a:r>
                      <a:r>
                        <a:rPr lang="fr-FR" sz="3200" b="1" dirty="0" err="1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Droppers</a:t>
                      </a:r>
                      <a:r>
                        <a:rPr lang="fr-FR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ar-DZ" sz="3200" b="1" dirty="0" smtClean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1639183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الـقـ</a:t>
                      </a:r>
                      <a:r>
                        <a:rPr lang="ar-DZ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ـ</a:t>
                      </a:r>
                      <a:r>
                        <a:rPr lang="ar-SA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ـن</a:t>
                      </a:r>
                      <a:r>
                        <a:rPr lang="ar-DZ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ـــ</a:t>
                      </a:r>
                      <a:r>
                        <a:rPr lang="ar-SA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ـابـ</a:t>
                      </a:r>
                      <a:r>
                        <a:rPr lang="ar-DZ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ـــ</a:t>
                      </a:r>
                      <a:r>
                        <a:rPr lang="ar-SA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ل</a:t>
                      </a:r>
                      <a:endParaRPr lang="ar-DZ" sz="3200" b="1" dirty="0" smtClean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الـم</a:t>
                      </a:r>
                      <a:r>
                        <a:rPr lang="ar-DZ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ـ</a:t>
                      </a:r>
                      <a:r>
                        <a:rPr lang="ar-SA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ـنـطــقــيـة </a:t>
                      </a:r>
                      <a:endParaRPr lang="ar-DZ" sz="3200" b="1" dirty="0" smtClean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900" b="1" dirty="0" err="1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Logic</a:t>
                      </a:r>
                      <a:r>
                        <a:rPr lang="fr-FR" sz="29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fr-FR" sz="2900" b="1" dirty="0" err="1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Bombs</a:t>
                      </a:r>
                      <a:r>
                        <a:rPr lang="fr-FR" sz="29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fr-FR" sz="29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7675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 </a:t>
            </a:r>
            <a:r>
              <a:rPr lang="ar-DZ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( 2.1 أنــواع </a:t>
            </a:r>
            <a:r>
              <a:rPr lang="ar-DZ" sz="40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الـبــرمــجــيــات </a:t>
            </a:r>
            <a:r>
              <a:rPr lang="ar-DZ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الـخــبـــيـــثــة  –  تـــابــع )</a:t>
            </a:r>
            <a:endParaRPr lang="fr-FR" sz="3800" b="1" i="1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5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19/10/2024</a:t>
            </a:fld>
            <a:endParaRPr lang="fr-BE" dirty="0"/>
          </a:p>
        </p:txBody>
      </p:sp>
      <p:graphicFrame>
        <p:nvGraphicFramePr>
          <p:cNvPr id="7" name="Tableau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1264439"/>
              </p:ext>
            </p:extLst>
          </p:nvPr>
        </p:nvGraphicFramePr>
        <p:xfrm>
          <a:off x="767407" y="1484784"/>
          <a:ext cx="10524042" cy="4832846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2364961"/>
                <a:gridCol w="8159081"/>
              </a:tblGrid>
              <a:tr h="1401634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بــرمــجــيــات ال</a:t>
                      </a:r>
                      <a:r>
                        <a:rPr lang="ar-DZ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ـ</a:t>
                      </a:r>
                      <a:r>
                        <a:rPr lang="ar-SA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ـتـ</a:t>
                      </a:r>
                      <a:r>
                        <a:rPr lang="ar-DZ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ـ</a:t>
                      </a:r>
                      <a:r>
                        <a:rPr lang="ar-SA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جـ</a:t>
                      </a:r>
                      <a:r>
                        <a:rPr lang="ar-DZ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ـ</a:t>
                      </a:r>
                      <a:r>
                        <a:rPr lang="ar-SA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ـ</a:t>
                      </a:r>
                      <a:r>
                        <a:rPr lang="ar-SA" sz="3200" b="1" dirty="0" err="1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سُّــس</a:t>
                      </a:r>
                      <a:r>
                        <a:rPr lang="ar-SA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</a:t>
                      </a:r>
                      <a:r>
                        <a:rPr lang="fr-FR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Spyware </a:t>
                      </a:r>
                      <a:endParaRPr lang="fr-FR" sz="32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639183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بـ</a:t>
                      </a:r>
                      <a:r>
                        <a:rPr lang="ar-DZ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ـــ</a:t>
                      </a:r>
                      <a:r>
                        <a:rPr lang="ar-SA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ـرامـ</a:t>
                      </a:r>
                      <a:r>
                        <a:rPr lang="ar-DZ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ــ</a:t>
                      </a:r>
                      <a:r>
                        <a:rPr lang="ar-SA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ج</a:t>
                      </a:r>
                      <a:endParaRPr lang="ar-DZ" sz="3200" b="1" dirty="0" smtClean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3200" b="1" dirty="0" err="1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الإنْ</a:t>
                      </a:r>
                      <a:r>
                        <a:rPr lang="ar-SA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ـ</a:t>
                      </a:r>
                      <a:r>
                        <a:rPr lang="ar-DZ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ــــــ</a:t>
                      </a:r>
                      <a:r>
                        <a:rPr lang="ar-SA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ــزَال              </a:t>
                      </a:r>
                      <a:r>
                        <a:rPr lang="fr-FR" sz="3200" b="1" dirty="0" err="1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Droppers</a:t>
                      </a:r>
                      <a:r>
                        <a:rPr lang="fr-FR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ar-DZ" sz="3200" b="1" dirty="0" smtClean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1639183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الـقـ</a:t>
                      </a:r>
                      <a:r>
                        <a:rPr lang="ar-DZ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ـ</a:t>
                      </a:r>
                      <a:r>
                        <a:rPr lang="ar-SA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ـن</a:t>
                      </a:r>
                      <a:r>
                        <a:rPr lang="ar-DZ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ـــ</a:t>
                      </a:r>
                      <a:r>
                        <a:rPr lang="ar-SA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ـابـ</a:t>
                      </a:r>
                      <a:r>
                        <a:rPr lang="ar-DZ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ـــ</a:t>
                      </a:r>
                      <a:r>
                        <a:rPr lang="ar-SA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ل</a:t>
                      </a:r>
                      <a:endParaRPr lang="ar-DZ" sz="3200" b="1" dirty="0" smtClean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الـم</a:t>
                      </a:r>
                      <a:r>
                        <a:rPr lang="ar-DZ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ـ</a:t>
                      </a:r>
                      <a:r>
                        <a:rPr lang="ar-SA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ـنـطــقــيـة </a:t>
                      </a:r>
                      <a:endParaRPr lang="ar-DZ" sz="3200" b="1" dirty="0" smtClean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900" b="1" dirty="0" err="1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Logic</a:t>
                      </a:r>
                      <a:r>
                        <a:rPr lang="fr-FR" sz="29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fr-FR" sz="2900" b="1" dirty="0" err="1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Bombs</a:t>
                      </a:r>
                      <a:r>
                        <a:rPr lang="fr-FR" sz="29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fr-FR" sz="29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911424" y="1911842"/>
            <a:ext cx="784887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3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تـجـمـ</a:t>
            </a:r>
            <a:r>
              <a:rPr lang="ar-DZ" sz="3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ع</a:t>
            </a:r>
            <a:r>
              <a:rPr lang="ar-SA" sz="3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 مـعــلــوم</a:t>
            </a:r>
            <a:r>
              <a:rPr lang="ar-DZ" sz="3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</a:t>
            </a:r>
            <a:r>
              <a:rPr lang="ar-SA" sz="3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ـات عـن الـمــسـتـخــدم لأغــراض مـخـتـلـفـة</a:t>
            </a:r>
            <a:endParaRPr lang="fr-FR" sz="3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0485628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9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 </a:t>
            </a:r>
            <a:r>
              <a:rPr lang="ar-DZ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( 2.1 أنــواع </a:t>
            </a:r>
            <a:r>
              <a:rPr lang="ar-DZ" sz="40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الـبــرمــجــيــات </a:t>
            </a:r>
            <a:r>
              <a:rPr lang="ar-DZ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الـخــبـــيـــثــة  –  تـــابــع )</a:t>
            </a:r>
            <a:endParaRPr lang="fr-FR" sz="3800" b="1" i="1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5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19/10/2024</a:t>
            </a:fld>
            <a:endParaRPr lang="fr-BE" dirty="0"/>
          </a:p>
        </p:txBody>
      </p:sp>
      <p:graphicFrame>
        <p:nvGraphicFramePr>
          <p:cNvPr id="7" name="Tableau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1264439"/>
              </p:ext>
            </p:extLst>
          </p:nvPr>
        </p:nvGraphicFramePr>
        <p:xfrm>
          <a:off x="767407" y="1484784"/>
          <a:ext cx="10524042" cy="4832846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2364961"/>
                <a:gridCol w="8159081"/>
              </a:tblGrid>
              <a:tr h="1401634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بــرمــجــيــات ال</a:t>
                      </a:r>
                      <a:r>
                        <a:rPr lang="ar-DZ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ـ</a:t>
                      </a:r>
                      <a:r>
                        <a:rPr lang="ar-SA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ـتـ</a:t>
                      </a:r>
                      <a:r>
                        <a:rPr lang="ar-DZ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ـ</a:t>
                      </a:r>
                      <a:r>
                        <a:rPr lang="ar-SA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جـ</a:t>
                      </a:r>
                      <a:r>
                        <a:rPr lang="ar-DZ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ـ</a:t>
                      </a:r>
                      <a:r>
                        <a:rPr lang="ar-SA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ـ</a:t>
                      </a:r>
                      <a:r>
                        <a:rPr lang="ar-SA" sz="3200" b="1" dirty="0" err="1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سُّــس</a:t>
                      </a:r>
                      <a:r>
                        <a:rPr lang="ar-SA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</a:t>
                      </a:r>
                      <a:r>
                        <a:rPr lang="fr-FR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Spyware </a:t>
                      </a:r>
                      <a:endParaRPr lang="fr-FR" sz="32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639183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بـ</a:t>
                      </a:r>
                      <a:r>
                        <a:rPr lang="ar-DZ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ـــ</a:t>
                      </a:r>
                      <a:r>
                        <a:rPr lang="ar-SA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ـرامـ</a:t>
                      </a:r>
                      <a:r>
                        <a:rPr lang="ar-DZ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ــ</a:t>
                      </a:r>
                      <a:r>
                        <a:rPr lang="ar-SA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ج</a:t>
                      </a:r>
                      <a:endParaRPr lang="ar-DZ" sz="3200" b="1" dirty="0" smtClean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3200" b="1" dirty="0" err="1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الإنْ</a:t>
                      </a:r>
                      <a:r>
                        <a:rPr lang="ar-SA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ـ</a:t>
                      </a:r>
                      <a:r>
                        <a:rPr lang="ar-DZ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ــــــ</a:t>
                      </a:r>
                      <a:r>
                        <a:rPr lang="ar-SA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ــزَال              </a:t>
                      </a:r>
                      <a:r>
                        <a:rPr lang="fr-FR" sz="3200" b="1" dirty="0" err="1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Droppers</a:t>
                      </a:r>
                      <a:r>
                        <a:rPr lang="fr-FR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ar-DZ" sz="3200" b="1" dirty="0" smtClean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1639183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الـقـ</a:t>
                      </a:r>
                      <a:r>
                        <a:rPr lang="ar-DZ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ـ</a:t>
                      </a:r>
                      <a:r>
                        <a:rPr lang="ar-SA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ـن</a:t>
                      </a:r>
                      <a:r>
                        <a:rPr lang="ar-DZ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ـــ</a:t>
                      </a:r>
                      <a:r>
                        <a:rPr lang="ar-SA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ـابـ</a:t>
                      </a:r>
                      <a:r>
                        <a:rPr lang="ar-DZ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ـــ</a:t>
                      </a:r>
                      <a:r>
                        <a:rPr lang="ar-SA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ل</a:t>
                      </a:r>
                      <a:endParaRPr lang="ar-DZ" sz="3200" b="1" dirty="0" smtClean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الـم</a:t>
                      </a:r>
                      <a:r>
                        <a:rPr lang="ar-DZ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ـ</a:t>
                      </a:r>
                      <a:r>
                        <a:rPr lang="ar-SA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ـنـطــقــيـة </a:t>
                      </a:r>
                      <a:endParaRPr lang="ar-DZ" sz="3200" b="1" dirty="0" smtClean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900" b="1" dirty="0" err="1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Logic</a:t>
                      </a:r>
                      <a:r>
                        <a:rPr lang="fr-FR" sz="29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fr-FR" sz="2900" b="1" dirty="0" err="1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Bombs</a:t>
                      </a:r>
                      <a:r>
                        <a:rPr lang="fr-FR" sz="29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fr-FR" sz="29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911424" y="1911842"/>
            <a:ext cx="784887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3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تـجـمـ</a:t>
            </a:r>
            <a:r>
              <a:rPr lang="ar-DZ" sz="3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ع</a:t>
            </a:r>
            <a:r>
              <a:rPr lang="ar-SA" sz="3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 مـعــلــوم</a:t>
            </a:r>
            <a:r>
              <a:rPr lang="ar-DZ" sz="3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</a:t>
            </a:r>
            <a:r>
              <a:rPr lang="ar-SA" sz="3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ـات عـن الـمــسـتـخــدم لأغــراض مـخـتـلـفـة</a:t>
            </a:r>
            <a:endParaRPr lang="fr-FR" sz="3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911424" y="3472866"/>
            <a:ext cx="784887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3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تـسـتـهـدف بـرامـج الـحـ</a:t>
            </a:r>
            <a:r>
              <a:rPr lang="ar-DZ" sz="3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م</a:t>
            </a:r>
            <a:r>
              <a:rPr lang="ar-SA" sz="3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ـايـة لإزالـ</a:t>
            </a:r>
            <a:r>
              <a:rPr lang="ar-DZ" sz="3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</a:t>
            </a:r>
            <a:r>
              <a:rPr lang="ar-SA" sz="3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تـهـا</a:t>
            </a:r>
            <a:r>
              <a:rPr lang="ar-SA" sz="3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 </a:t>
            </a:r>
            <a:r>
              <a:rPr lang="ar-SA" sz="3000" b="1" dirty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أو </a:t>
            </a:r>
            <a:r>
              <a:rPr lang="ar-SA" sz="3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إبـطـال مـفـعــولـهـا</a:t>
            </a:r>
            <a:endParaRPr lang="fr-FR" sz="3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142248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9" grpId="0" animBg="1"/>
      <p:bldP spid="10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 </a:t>
            </a:r>
            <a:r>
              <a:rPr lang="ar-DZ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( 2.1 أنــواع </a:t>
            </a:r>
            <a:r>
              <a:rPr lang="ar-DZ" sz="40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الـبــرمــجــيــات </a:t>
            </a:r>
            <a:r>
              <a:rPr lang="ar-DZ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الـخــبـــيـــثــة  –  تـــابــع )</a:t>
            </a:r>
            <a:endParaRPr lang="fr-FR" sz="3800" b="1" i="1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5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19/10/2024</a:t>
            </a:fld>
            <a:endParaRPr lang="fr-BE" dirty="0"/>
          </a:p>
        </p:txBody>
      </p:sp>
      <p:graphicFrame>
        <p:nvGraphicFramePr>
          <p:cNvPr id="7" name="Tableau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1264439"/>
              </p:ext>
            </p:extLst>
          </p:nvPr>
        </p:nvGraphicFramePr>
        <p:xfrm>
          <a:off x="767407" y="1484784"/>
          <a:ext cx="10524042" cy="4832846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2364961"/>
                <a:gridCol w="8159081"/>
              </a:tblGrid>
              <a:tr h="1401634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بــرمــجــيــات ال</a:t>
                      </a:r>
                      <a:r>
                        <a:rPr lang="ar-DZ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ـ</a:t>
                      </a:r>
                      <a:r>
                        <a:rPr lang="ar-SA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ـتـ</a:t>
                      </a:r>
                      <a:r>
                        <a:rPr lang="ar-DZ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ـ</a:t>
                      </a:r>
                      <a:r>
                        <a:rPr lang="ar-SA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جـ</a:t>
                      </a:r>
                      <a:r>
                        <a:rPr lang="ar-DZ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ـ</a:t>
                      </a:r>
                      <a:r>
                        <a:rPr lang="ar-SA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ـ</a:t>
                      </a:r>
                      <a:r>
                        <a:rPr lang="ar-SA" sz="3200" b="1" dirty="0" err="1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سُّــس</a:t>
                      </a:r>
                      <a:r>
                        <a:rPr lang="ar-SA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</a:t>
                      </a:r>
                      <a:r>
                        <a:rPr lang="fr-FR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Spyware </a:t>
                      </a:r>
                      <a:endParaRPr lang="fr-FR" sz="32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639183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بـ</a:t>
                      </a:r>
                      <a:r>
                        <a:rPr lang="ar-DZ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ـــ</a:t>
                      </a:r>
                      <a:r>
                        <a:rPr lang="ar-SA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ـرامـ</a:t>
                      </a:r>
                      <a:r>
                        <a:rPr lang="ar-DZ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ــ</a:t>
                      </a:r>
                      <a:r>
                        <a:rPr lang="ar-SA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ج</a:t>
                      </a:r>
                      <a:endParaRPr lang="ar-DZ" sz="3200" b="1" dirty="0" smtClean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3200" b="1" dirty="0" err="1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الإنْ</a:t>
                      </a:r>
                      <a:r>
                        <a:rPr lang="ar-SA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ـ</a:t>
                      </a:r>
                      <a:r>
                        <a:rPr lang="ar-DZ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ــــــ</a:t>
                      </a:r>
                      <a:r>
                        <a:rPr lang="ar-SA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ــزَال              </a:t>
                      </a:r>
                      <a:r>
                        <a:rPr lang="fr-FR" sz="3200" b="1" dirty="0" err="1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Droppers</a:t>
                      </a:r>
                      <a:r>
                        <a:rPr lang="fr-FR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ar-DZ" sz="3200" b="1" dirty="0" smtClean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1639183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الـقـ</a:t>
                      </a:r>
                      <a:r>
                        <a:rPr lang="ar-DZ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ـ</a:t>
                      </a:r>
                      <a:r>
                        <a:rPr lang="ar-SA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ـن</a:t>
                      </a:r>
                      <a:r>
                        <a:rPr lang="ar-DZ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ـــ</a:t>
                      </a:r>
                      <a:r>
                        <a:rPr lang="ar-SA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ـابـ</a:t>
                      </a:r>
                      <a:r>
                        <a:rPr lang="ar-DZ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ـــ</a:t>
                      </a:r>
                      <a:r>
                        <a:rPr lang="ar-SA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ل</a:t>
                      </a:r>
                      <a:endParaRPr lang="ar-DZ" sz="3200" b="1" dirty="0" smtClean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الـم</a:t>
                      </a:r>
                      <a:r>
                        <a:rPr lang="ar-DZ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ـ</a:t>
                      </a:r>
                      <a:r>
                        <a:rPr lang="ar-SA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ـنـطــقــيـة </a:t>
                      </a:r>
                      <a:endParaRPr lang="ar-DZ" sz="3200" b="1" dirty="0" smtClean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900" b="1" dirty="0" err="1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Logic</a:t>
                      </a:r>
                      <a:r>
                        <a:rPr lang="fr-FR" sz="29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fr-FR" sz="2900" b="1" dirty="0" err="1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Bombs</a:t>
                      </a:r>
                      <a:r>
                        <a:rPr lang="fr-FR" sz="29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fr-FR" sz="29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911424" y="1911842"/>
            <a:ext cx="784887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3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تـجـمـ</a:t>
            </a:r>
            <a:r>
              <a:rPr lang="ar-DZ" sz="3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ع</a:t>
            </a:r>
            <a:r>
              <a:rPr lang="ar-SA" sz="3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 مـعــلــوم</a:t>
            </a:r>
            <a:r>
              <a:rPr lang="ar-DZ" sz="3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</a:t>
            </a:r>
            <a:r>
              <a:rPr lang="ar-SA" sz="3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ـات عـن الـمــسـتـخــدم لأغــراض مـخـتـلـفـة</a:t>
            </a:r>
            <a:endParaRPr lang="fr-FR" sz="3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911424" y="3472866"/>
            <a:ext cx="784887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3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تـسـتـهـدف بـرامـج الـحـ</a:t>
            </a:r>
            <a:r>
              <a:rPr lang="ar-DZ" sz="3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م</a:t>
            </a:r>
            <a:r>
              <a:rPr lang="ar-SA" sz="3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ـايـة لإزالـ</a:t>
            </a:r>
            <a:r>
              <a:rPr lang="ar-DZ" sz="3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</a:t>
            </a:r>
            <a:r>
              <a:rPr lang="ar-SA" sz="3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تـهـا</a:t>
            </a:r>
            <a:r>
              <a:rPr lang="ar-SA" sz="3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 </a:t>
            </a:r>
            <a:r>
              <a:rPr lang="ar-SA" sz="3000" b="1" dirty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أو </a:t>
            </a:r>
            <a:r>
              <a:rPr lang="ar-SA" sz="3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إبـطـال مـفـعــولـهـا</a:t>
            </a:r>
            <a:endParaRPr lang="fr-FR" sz="3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911424" y="5098206"/>
            <a:ext cx="784887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3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تـقـوم بـمـسـح الـبـي</a:t>
            </a:r>
            <a:r>
              <a:rPr lang="ar-DZ" sz="3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</a:t>
            </a:r>
            <a:r>
              <a:rPr lang="ar-SA" sz="3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انـات في ظـروف ي</a:t>
            </a:r>
            <a:r>
              <a:rPr lang="ar-DZ" sz="3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َـ</a:t>
            </a:r>
            <a:r>
              <a:rPr lang="ar-SA" sz="3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خ</a:t>
            </a:r>
            <a:r>
              <a:rPr lang="ar-DZ" sz="3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ْ</a:t>
            </a:r>
            <a:r>
              <a:rPr lang="ar-SA" sz="3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ـت</a:t>
            </a:r>
            <a:r>
              <a:rPr lang="ar-DZ" sz="3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َ</a:t>
            </a:r>
            <a:r>
              <a:rPr lang="ar-SA" sz="3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ـار</a:t>
            </a:r>
            <a:r>
              <a:rPr lang="ar-DZ" sz="3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ُ</a:t>
            </a:r>
            <a:r>
              <a:rPr lang="ar-SA" sz="3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هـا </a:t>
            </a:r>
            <a:r>
              <a:rPr lang="ar-DZ" sz="3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مَ</a:t>
            </a:r>
            <a:r>
              <a:rPr lang="ar-SA" sz="3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ـن</a:t>
            </a:r>
            <a:r>
              <a:rPr lang="ar-DZ" sz="3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ْ</a:t>
            </a:r>
            <a:r>
              <a:rPr lang="ar-SA" sz="3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 صَـمَّـمَها</a:t>
            </a:r>
            <a:endParaRPr lang="fr-FR" sz="3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244130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9" grpId="0" animBg="1"/>
      <p:bldP spid="10" grpId="0" animBg="1"/>
      <p:bldP spid="12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2. </a:t>
            </a:r>
            <a:r>
              <a:rPr lang="ar-DZ" sz="4800" b="1" dirty="0">
                <a:solidFill>
                  <a:srgbClr val="FF0000"/>
                </a:solidFill>
                <a:cs typeface="+mj-cs"/>
              </a:rPr>
              <a:t>أعـــراض الإصــابــة بـالــفــيـــروســــات 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 smtClean="0">
                <a:cs typeface="+mj-cs"/>
              </a:rPr>
              <a:t>بـعــد </a:t>
            </a:r>
            <a:r>
              <a:rPr lang="ar-DZ" sz="4400" b="1" dirty="0">
                <a:cs typeface="+mj-cs"/>
              </a:rPr>
              <a:t>تـوصـيـل ذاكــرة الـفــلاش بـالـحـاسـوب تَـغَـيَـرَ سُـلُـوكُـه كُــلِــيًــا، فــمــا هــي الأعـــراض الَّـتي تُــبَــيِّــنُ أنَّ الـجـهــاز </a:t>
            </a:r>
            <a:r>
              <a:rPr lang="ar-DZ" sz="4400" b="1" dirty="0" smtClean="0">
                <a:cs typeface="+mj-cs"/>
              </a:rPr>
              <a:t>مـصـاب </a:t>
            </a:r>
            <a:r>
              <a:rPr lang="ar-DZ" sz="4400" b="1" dirty="0">
                <a:cs typeface="+mj-cs"/>
              </a:rPr>
              <a:t>أو </a:t>
            </a:r>
            <a:r>
              <a:rPr lang="ar-DZ" sz="4400" b="1" dirty="0" smtClean="0">
                <a:cs typeface="+mj-cs"/>
              </a:rPr>
              <a:t>مـخــتـرق </a:t>
            </a:r>
            <a:r>
              <a:rPr lang="ar-DZ" sz="4400" b="1" dirty="0">
                <a:cs typeface="+mj-cs"/>
              </a:rPr>
              <a:t>مـن </a:t>
            </a:r>
            <a:r>
              <a:rPr lang="ar-DZ" sz="4400" b="1" dirty="0" smtClean="0">
                <a:cs typeface="+mj-cs"/>
              </a:rPr>
              <a:t>طــرف الـفــيـروسـات </a:t>
            </a:r>
            <a:r>
              <a:rPr lang="ar-DZ" sz="4400" b="1" dirty="0">
                <a:cs typeface="+mj-cs"/>
              </a:rPr>
              <a:t>؟   </a:t>
            </a:r>
            <a:endParaRPr lang="ar-DZ" sz="44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5400" b="1" u="sng" dirty="0">
                <a:solidFill>
                  <a:srgbClr val="0070C0"/>
                </a:solidFill>
                <a:cs typeface="+mj-cs"/>
              </a:rPr>
              <a:t>نـشـاط </a:t>
            </a:r>
            <a:r>
              <a:rPr lang="ar-DZ" sz="5400" b="1" u="sng" dirty="0" smtClean="0">
                <a:solidFill>
                  <a:srgbClr val="0070C0"/>
                </a:solidFill>
                <a:cs typeface="+mj-cs"/>
              </a:rPr>
              <a:t>3</a:t>
            </a:r>
            <a:r>
              <a:rPr lang="ar-DZ" sz="5400" b="1" dirty="0" smtClean="0">
                <a:solidFill>
                  <a:srgbClr val="0070C0"/>
                </a:solidFill>
                <a:cs typeface="+mj-cs"/>
              </a:rPr>
              <a:t> :</a:t>
            </a:r>
            <a:endParaRPr lang="fr-FR" sz="5400" i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984365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/>
      <p:bldP spid="5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200" b="1" dirty="0" smtClean="0">
                <a:solidFill>
                  <a:srgbClr val="FF0000"/>
                </a:solidFill>
                <a:cs typeface="+mj-cs"/>
              </a:rPr>
              <a:t>سـؤال </a:t>
            </a:r>
            <a:r>
              <a:rPr lang="ar-DZ" sz="3200" b="1" dirty="0">
                <a:solidFill>
                  <a:srgbClr val="FF0000"/>
                </a:solidFill>
                <a:cs typeface="+mj-cs"/>
              </a:rPr>
              <a:t>: </a:t>
            </a:r>
            <a:r>
              <a:rPr lang="ar-DZ" sz="3200" b="1" dirty="0" smtClean="0">
                <a:solidFill>
                  <a:srgbClr val="FF0000"/>
                </a:solidFill>
                <a:cs typeface="+mj-cs"/>
              </a:rPr>
              <a:t>كـيـف يـكـون بِــدْءُ الـتـشــغــيـل وتـنـفــيــذ الـبــرامـج في الـحـــالــتــيــن :</a:t>
            </a:r>
            <a:endParaRPr lang="fr-FR" sz="32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19/10/2024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7392143" y="3283294"/>
            <a:ext cx="363896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قَــبْــلَ الإِصَــابــة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031315" y="1699119"/>
            <a:ext cx="1000044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FF0000"/>
                </a:solidFill>
              </a:rPr>
              <a:t>ســرعــة تــنــفــيــذ الـبــرامـج ونــظــام </a:t>
            </a:r>
            <a:r>
              <a:rPr lang="ar-DZ" sz="4400" b="1" dirty="0">
                <a:solidFill>
                  <a:srgbClr val="FF0000"/>
                </a:solidFill>
              </a:rPr>
              <a:t>الـتـشــغــيـل 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031315" y="3283295"/>
            <a:ext cx="363896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بَــعْــدَ الإِصَــابَــة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9089" y="4527553"/>
            <a:ext cx="2505075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5" name="Connecteur droit avec flèche 14"/>
          <p:cNvCxnSpPr>
            <a:endCxn id="18" idx="3"/>
          </p:cNvCxnSpPr>
          <p:nvPr/>
        </p:nvCxnSpPr>
        <p:spPr>
          <a:xfrm flipH="1">
            <a:off x="4670281" y="2479449"/>
            <a:ext cx="1137599" cy="120073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necteur droit avec flèche 15"/>
          <p:cNvCxnSpPr>
            <a:endCxn id="6" idx="1"/>
          </p:cNvCxnSpPr>
          <p:nvPr/>
        </p:nvCxnSpPr>
        <p:spPr>
          <a:xfrm>
            <a:off x="5807879" y="2479449"/>
            <a:ext cx="1584264" cy="120073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Espace réservé du contenu 21"/>
          <p:cNvSpPr txBox="1">
            <a:spLocks/>
          </p:cNvSpPr>
          <p:nvPr/>
        </p:nvSpPr>
        <p:spPr>
          <a:xfrm>
            <a:off x="7512542" y="5062622"/>
            <a:ext cx="3398168" cy="1524517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............</a:t>
            </a:r>
            <a:endParaRPr lang="fr-FR" sz="4000" dirty="0">
              <a:cs typeface="+mj-cs"/>
            </a:endParaRPr>
          </a:p>
        </p:txBody>
      </p:sp>
      <p:pic>
        <p:nvPicPr>
          <p:cNvPr id="14" name="Picture 1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9737" y="4527553"/>
            <a:ext cx="2505075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Espace réservé du contenu 21"/>
          <p:cNvSpPr txBox="1">
            <a:spLocks/>
          </p:cNvSpPr>
          <p:nvPr/>
        </p:nvSpPr>
        <p:spPr>
          <a:xfrm>
            <a:off x="575171" y="5062622"/>
            <a:ext cx="3398168" cy="1524517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............</a:t>
            </a:r>
            <a:endParaRPr lang="fr-FR" sz="4000" dirty="0"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7662663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9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2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13" grpId="0" animBg="1"/>
      <p:bldP spid="18" grpId="0" animBg="1"/>
      <p:bldP spid="17" grpId="0" animBg="1"/>
      <p:bldP spid="20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200" b="1" dirty="0" smtClean="0">
                <a:solidFill>
                  <a:srgbClr val="FF0000"/>
                </a:solidFill>
                <a:cs typeface="+mj-cs"/>
              </a:rPr>
              <a:t>سـؤال </a:t>
            </a:r>
            <a:r>
              <a:rPr lang="ar-DZ" sz="3200" b="1" dirty="0">
                <a:solidFill>
                  <a:srgbClr val="FF0000"/>
                </a:solidFill>
                <a:cs typeface="+mj-cs"/>
              </a:rPr>
              <a:t>: </a:t>
            </a:r>
            <a:r>
              <a:rPr lang="ar-DZ" sz="3200" b="1" dirty="0" smtClean="0">
                <a:solidFill>
                  <a:srgbClr val="FF0000"/>
                </a:solidFill>
                <a:cs typeface="+mj-cs"/>
              </a:rPr>
              <a:t>كـيـف يـكـون بِــدْءُ الـتـشــغــيـل وتـنـفــيــذ الـبــرامـج في الـحـــالــتــيــن :</a:t>
            </a:r>
            <a:endParaRPr lang="fr-FR" sz="32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19/10/2024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7392143" y="3283294"/>
            <a:ext cx="363896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قَــبْــلَ الإِصَــابــة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031315" y="1699119"/>
            <a:ext cx="1000044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FF0000"/>
                </a:solidFill>
              </a:rPr>
              <a:t>ســرعــة تــنــفــيــذ الـبــرامـج ونــظــام </a:t>
            </a:r>
            <a:r>
              <a:rPr lang="ar-DZ" sz="4400" b="1" dirty="0">
                <a:solidFill>
                  <a:srgbClr val="FF0000"/>
                </a:solidFill>
              </a:rPr>
              <a:t>الـتـشــغــيـل 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031315" y="3283295"/>
            <a:ext cx="363896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بَــعْــدَ الإِصَــابَــة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9089" y="4527553"/>
            <a:ext cx="2505075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5" name="Connecteur droit avec flèche 14"/>
          <p:cNvCxnSpPr>
            <a:endCxn id="18" idx="3"/>
          </p:cNvCxnSpPr>
          <p:nvPr/>
        </p:nvCxnSpPr>
        <p:spPr>
          <a:xfrm flipH="1">
            <a:off x="4670281" y="2479449"/>
            <a:ext cx="1137599" cy="120073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necteur droit avec flèche 15"/>
          <p:cNvCxnSpPr>
            <a:endCxn id="6" idx="1"/>
          </p:cNvCxnSpPr>
          <p:nvPr/>
        </p:nvCxnSpPr>
        <p:spPr>
          <a:xfrm>
            <a:off x="5807879" y="2479449"/>
            <a:ext cx="1584264" cy="120073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Espace réservé du contenu 21"/>
          <p:cNvSpPr txBox="1">
            <a:spLocks/>
          </p:cNvSpPr>
          <p:nvPr/>
        </p:nvSpPr>
        <p:spPr>
          <a:xfrm>
            <a:off x="7512542" y="5062622"/>
            <a:ext cx="3398168" cy="1524517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عَـــادِيَــة</a:t>
            </a:r>
            <a:endParaRPr lang="fr-FR" sz="4000" dirty="0">
              <a:cs typeface="+mj-cs"/>
            </a:endParaRPr>
          </a:p>
        </p:txBody>
      </p:sp>
      <p:pic>
        <p:nvPicPr>
          <p:cNvPr id="14" name="Picture 1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9737" y="4527553"/>
            <a:ext cx="2505075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Espace réservé du contenu 21"/>
          <p:cNvSpPr txBox="1">
            <a:spLocks/>
          </p:cNvSpPr>
          <p:nvPr/>
        </p:nvSpPr>
        <p:spPr>
          <a:xfrm>
            <a:off x="575171" y="5062622"/>
            <a:ext cx="3398168" cy="1524517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4000" b="1" dirty="0">
                <a:solidFill>
                  <a:srgbClr val="0070C0"/>
                </a:solidFill>
                <a:cs typeface="+mj-cs"/>
              </a:rPr>
              <a:t>............</a:t>
            </a:r>
            <a:endParaRPr lang="fr-FR" sz="4000" dirty="0"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749641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9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2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13" grpId="0" animBg="1"/>
      <p:bldP spid="18" grpId="0" animBg="1"/>
      <p:bldP spid="17" grpId="0" animBg="1"/>
      <p:bldP spid="20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200" b="1" dirty="0" smtClean="0">
                <a:solidFill>
                  <a:srgbClr val="FF0000"/>
                </a:solidFill>
                <a:cs typeface="+mj-cs"/>
              </a:rPr>
              <a:t>سـؤال </a:t>
            </a:r>
            <a:r>
              <a:rPr lang="ar-DZ" sz="3200" b="1" dirty="0">
                <a:solidFill>
                  <a:srgbClr val="FF0000"/>
                </a:solidFill>
                <a:cs typeface="+mj-cs"/>
              </a:rPr>
              <a:t>: </a:t>
            </a:r>
            <a:r>
              <a:rPr lang="ar-DZ" sz="3200" b="1" dirty="0" smtClean="0">
                <a:solidFill>
                  <a:srgbClr val="FF0000"/>
                </a:solidFill>
                <a:cs typeface="+mj-cs"/>
              </a:rPr>
              <a:t>كـيـف يـكـون بِــدْءُ الـتـشــغــيـل وتـنـفــيــذ الـبــرامـج في الـحـــالــتــيــن :</a:t>
            </a:r>
            <a:endParaRPr lang="fr-FR" sz="32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19/10/2024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7392143" y="3283294"/>
            <a:ext cx="363896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قَــبْــلَ الإِصَــابــة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031315" y="1699119"/>
            <a:ext cx="1000044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FF0000"/>
                </a:solidFill>
              </a:rPr>
              <a:t>ســرعــة تــنــفــيــذ الـبــرامـج ونــظــام </a:t>
            </a:r>
            <a:r>
              <a:rPr lang="ar-DZ" sz="4400" b="1" dirty="0">
                <a:solidFill>
                  <a:srgbClr val="FF0000"/>
                </a:solidFill>
              </a:rPr>
              <a:t>الـتـشــغــيـل 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031315" y="3283295"/>
            <a:ext cx="363896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بَــعْــدَ الإِصَــابَــة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9089" y="4527553"/>
            <a:ext cx="2505075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5" name="Connecteur droit avec flèche 14"/>
          <p:cNvCxnSpPr>
            <a:endCxn id="18" idx="3"/>
          </p:cNvCxnSpPr>
          <p:nvPr/>
        </p:nvCxnSpPr>
        <p:spPr>
          <a:xfrm flipH="1">
            <a:off x="4670281" y="2479449"/>
            <a:ext cx="1137599" cy="120073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necteur droit avec flèche 15"/>
          <p:cNvCxnSpPr>
            <a:endCxn id="6" idx="1"/>
          </p:cNvCxnSpPr>
          <p:nvPr/>
        </p:nvCxnSpPr>
        <p:spPr>
          <a:xfrm>
            <a:off x="5807879" y="2479449"/>
            <a:ext cx="1584264" cy="120073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Espace réservé du contenu 21"/>
          <p:cNvSpPr txBox="1">
            <a:spLocks/>
          </p:cNvSpPr>
          <p:nvPr/>
        </p:nvSpPr>
        <p:spPr>
          <a:xfrm>
            <a:off x="7512542" y="5062622"/>
            <a:ext cx="3398168" cy="1524517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عَـــادِيَــة</a:t>
            </a:r>
            <a:endParaRPr lang="fr-FR" sz="4000" dirty="0">
              <a:cs typeface="+mj-cs"/>
            </a:endParaRPr>
          </a:p>
        </p:txBody>
      </p:sp>
      <p:pic>
        <p:nvPicPr>
          <p:cNvPr id="14" name="Picture 1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9737" y="4527553"/>
            <a:ext cx="2505075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Espace réservé du contenu 21"/>
          <p:cNvSpPr txBox="1">
            <a:spLocks/>
          </p:cNvSpPr>
          <p:nvPr/>
        </p:nvSpPr>
        <p:spPr>
          <a:xfrm>
            <a:off x="575171" y="5062622"/>
            <a:ext cx="3398168" cy="1524517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4000" b="1" dirty="0">
                <a:solidFill>
                  <a:srgbClr val="0070C0"/>
                </a:solidFill>
              </a:rPr>
              <a:t>بَــطِــيـــئَــةً</a:t>
            </a:r>
            <a:endParaRPr lang="fr-FR" sz="4000" dirty="0"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207516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9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2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13" grpId="0" animBg="1"/>
      <p:bldP spid="18" grpId="0" animBg="1"/>
      <p:bldP spid="17" grpId="0" animBg="1"/>
      <p:bldP spid="20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>
                <a:solidFill>
                  <a:srgbClr val="FF0000"/>
                </a:solidFill>
                <a:cs typeface="+mj-cs"/>
              </a:rPr>
              <a:t> </a:t>
            </a:r>
            <a:r>
              <a:rPr lang="ar-DZ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: ( نَــشَـاط </a:t>
            </a:r>
            <a:r>
              <a:rPr lang="ar-DZ" sz="4000" b="1" smtClean="0">
                <a:solidFill>
                  <a:srgbClr val="FF0000"/>
                </a:solidFill>
                <a:cs typeface="+mj-cs"/>
              </a:rPr>
              <a:t>3 – أعـــراض الإصــابــة بـالــفـــيـــروســـات </a:t>
            </a:r>
            <a:r>
              <a:rPr lang="ar-DZ" sz="4000" b="1" dirty="0">
                <a:solidFill>
                  <a:srgbClr val="FF0000"/>
                </a:solidFill>
                <a:cs typeface="+mj-cs"/>
              </a:rPr>
              <a:t>) 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19/10/2024</a:t>
            </a:fld>
            <a:endParaRPr lang="fr-BE" dirty="0"/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625350" y="1412775"/>
            <a:ext cx="10814992" cy="494357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buFont typeface="Arial" pitchFamily="34" charset="0"/>
              <a:buNone/>
            </a:pPr>
            <a:endParaRPr lang="ar-DZ" sz="800" b="1" dirty="0" smtClean="0">
              <a:cs typeface="+mj-cs"/>
            </a:endParaRPr>
          </a:p>
          <a:p>
            <a:pPr marL="0" indent="0" algn="just" rtl="1">
              <a:lnSpc>
                <a:spcPct val="165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─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	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فـي بِـــدْءِ الـتــشـغــيــل، وفـي 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الــتــطـــبـــيـــقـــات والــبـــرمــجـــيـــات</a:t>
            </a:r>
            <a:endParaRPr lang="ar-DZ" sz="40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just" rtl="1">
              <a:lnSpc>
                <a:spcPct val="165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─ 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حـــفـــظ الــبــــيـــانــــات لـعــــدم وجــــود 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( بــســبــب الــتــنـــاســخ </a:t>
            </a:r>
            <a:r>
              <a:rPr lang="ar-DZ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)</a:t>
            </a:r>
            <a:endParaRPr lang="fr-FR" sz="40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just" rtl="1">
              <a:lnSpc>
                <a:spcPct val="175000"/>
              </a:lnSpc>
              <a:buNone/>
            </a:pPr>
            <a:endParaRPr lang="fr-FR" sz="3800" b="1" dirty="0">
              <a:solidFill>
                <a:srgbClr val="00206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965558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build="p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>
                <a:solidFill>
                  <a:srgbClr val="FF0000"/>
                </a:solidFill>
                <a:cs typeface="+mj-cs"/>
              </a:rPr>
              <a:t> </a:t>
            </a:r>
            <a:r>
              <a:rPr lang="ar-DZ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: ( نَــشَـاط </a:t>
            </a:r>
            <a:r>
              <a:rPr lang="ar-DZ" sz="4000" b="1" smtClean="0">
                <a:solidFill>
                  <a:srgbClr val="FF0000"/>
                </a:solidFill>
                <a:cs typeface="+mj-cs"/>
              </a:rPr>
              <a:t>3 – أعـــراض الإصــابــة بـالــفـــيـــروســـات </a:t>
            </a:r>
            <a:r>
              <a:rPr lang="ar-DZ" sz="4000" b="1" dirty="0">
                <a:solidFill>
                  <a:srgbClr val="FF0000"/>
                </a:solidFill>
                <a:cs typeface="+mj-cs"/>
              </a:rPr>
              <a:t>) 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19/10/2024</a:t>
            </a:fld>
            <a:endParaRPr lang="fr-BE" dirty="0"/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625350" y="1412775"/>
            <a:ext cx="10814992" cy="494357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buFont typeface="Arial" pitchFamily="34" charset="0"/>
              <a:buNone/>
            </a:pPr>
            <a:endParaRPr lang="ar-DZ" sz="800" b="1" dirty="0" smtClean="0">
              <a:cs typeface="+mj-cs"/>
            </a:endParaRPr>
          </a:p>
          <a:p>
            <a:pPr marL="0" indent="0" algn="just" rtl="1">
              <a:lnSpc>
                <a:spcPct val="165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─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	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فـي بِـــدْءِ الـتــشـغــيــل، وفـي 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الــتــطـــبـــيـــقـــات والــبـــرمــجـــيـــات</a:t>
            </a:r>
            <a:endParaRPr lang="ar-DZ" sz="40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just" rtl="1">
              <a:lnSpc>
                <a:spcPct val="165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─ 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حـــفـــظ الــبــــيـــانــــات لـعــــدم وجــــود 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( بــســبــب الــتــنـــاســخ </a:t>
            </a:r>
            <a:r>
              <a:rPr lang="ar-DZ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)</a:t>
            </a:r>
            <a:endParaRPr lang="fr-FR" sz="40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just" rtl="1">
              <a:lnSpc>
                <a:spcPct val="175000"/>
              </a:lnSpc>
              <a:buNone/>
            </a:pPr>
            <a:endParaRPr lang="fr-FR" sz="3800" b="1" dirty="0">
              <a:solidFill>
                <a:srgbClr val="00206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790576" y="1743119"/>
            <a:ext cx="1553605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بُـــطْء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39416" y="1729384"/>
            <a:ext cx="244427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تــنــفــيــذ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5731145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build="p" animBg="1"/>
      <p:bldP spid="7" grpId="0" animBg="1"/>
      <p:bldP spid="8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سـؤال </a:t>
            </a:r>
            <a:r>
              <a:rPr lang="ar-DZ" sz="3600" b="1" dirty="0">
                <a:solidFill>
                  <a:srgbClr val="FF0000"/>
                </a:solidFill>
                <a:cs typeface="+mj-cs"/>
              </a:rPr>
              <a:t>: 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كـيـف تـؤثــر الـفــيـروســات عـلـى الـمــوارد : </a:t>
            </a:r>
            <a:r>
              <a:rPr lang="fr-FR" sz="3600" b="1" dirty="0" smtClean="0">
                <a:solidFill>
                  <a:srgbClr val="FF0000"/>
                </a:solidFill>
                <a:cs typeface="+mj-cs"/>
              </a:rPr>
              <a:t>RAM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 / </a:t>
            </a:r>
            <a:r>
              <a:rPr lang="fr-FR" sz="3600" b="1" dirty="0" smtClean="0">
                <a:solidFill>
                  <a:srgbClr val="FF0000"/>
                </a:solidFill>
                <a:cs typeface="+mj-cs"/>
              </a:rPr>
              <a:t>HDD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 ؟</a:t>
            </a:r>
            <a:endParaRPr lang="fr-FR" sz="36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19/10/2024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7392143" y="3283294"/>
            <a:ext cx="363896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قَــبْــلَ الإِصَــابــة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39416" y="1699119"/>
            <a:ext cx="1036915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FF0000"/>
                </a:solidFill>
              </a:rPr>
              <a:t>مَـنْ </a:t>
            </a:r>
            <a:r>
              <a:rPr lang="ar-DZ" sz="4400" b="1" dirty="0" smtClean="0">
                <a:solidFill>
                  <a:srgbClr val="FF0000"/>
                </a:solidFill>
                <a:cs typeface="+mj-cs"/>
              </a:rPr>
              <a:t>يَـسْـتَـفِـيـدُ ( يَـسْـتَـغِــلُ ) مِـنْ الـمَــوَارِدِ </a:t>
            </a:r>
            <a:r>
              <a:rPr lang="fr-FR" sz="3400" b="1" dirty="0" smtClean="0">
                <a:solidFill>
                  <a:srgbClr val="FF0000"/>
                </a:solidFill>
                <a:cs typeface="+mj-cs"/>
              </a:rPr>
              <a:t>RAM</a:t>
            </a:r>
            <a:r>
              <a:rPr lang="ar-DZ" sz="3400" b="1" dirty="0" smtClean="0">
                <a:solidFill>
                  <a:srgbClr val="FF0000"/>
                </a:solidFill>
                <a:cs typeface="+mj-cs"/>
              </a:rPr>
              <a:t> / </a:t>
            </a:r>
            <a:r>
              <a:rPr lang="fr-FR" sz="3400" b="1" dirty="0" smtClean="0">
                <a:solidFill>
                  <a:srgbClr val="FF0000"/>
                </a:solidFill>
                <a:cs typeface="+mj-cs"/>
              </a:rPr>
              <a:t>HDD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: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031315" y="3283295"/>
            <a:ext cx="363896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بَــعْــدَ الإِصَــابَــة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9089" y="4527553"/>
            <a:ext cx="2505075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5" name="Connecteur droit avec flèche 14"/>
          <p:cNvCxnSpPr>
            <a:endCxn id="18" idx="3"/>
          </p:cNvCxnSpPr>
          <p:nvPr/>
        </p:nvCxnSpPr>
        <p:spPr>
          <a:xfrm flipH="1">
            <a:off x="4670281" y="2479449"/>
            <a:ext cx="1137599" cy="120073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necteur droit avec flèche 15"/>
          <p:cNvCxnSpPr>
            <a:endCxn id="6" idx="1"/>
          </p:cNvCxnSpPr>
          <p:nvPr/>
        </p:nvCxnSpPr>
        <p:spPr>
          <a:xfrm>
            <a:off x="5807879" y="2479449"/>
            <a:ext cx="1584264" cy="120073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Espace réservé du contenu 21"/>
          <p:cNvSpPr txBox="1">
            <a:spLocks/>
          </p:cNvSpPr>
          <p:nvPr/>
        </p:nvSpPr>
        <p:spPr>
          <a:xfrm>
            <a:off x="7512542" y="4884016"/>
            <a:ext cx="3398168" cy="1524517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b="1" dirty="0" smtClean="0">
                <a:solidFill>
                  <a:srgbClr val="0070C0"/>
                </a:solidFill>
                <a:cs typeface="+mj-cs"/>
              </a:rPr>
              <a:t>..............</a:t>
            </a:r>
            <a:endParaRPr lang="fr-FR" dirty="0">
              <a:cs typeface="+mj-cs"/>
            </a:endParaRPr>
          </a:p>
        </p:txBody>
      </p:sp>
      <p:pic>
        <p:nvPicPr>
          <p:cNvPr id="14" name="Picture 1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9737" y="4527553"/>
            <a:ext cx="2505075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Espace réservé du contenu 21"/>
          <p:cNvSpPr txBox="1">
            <a:spLocks/>
          </p:cNvSpPr>
          <p:nvPr/>
        </p:nvSpPr>
        <p:spPr>
          <a:xfrm>
            <a:off x="575171" y="4884016"/>
            <a:ext cx="3398168" cy="1524517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3800" b="1" dirty="0" smtClean="0">
                <a:solidFill>
                  <a:srgbClr val="FF0000"/>
                </a:solidFill>
                <a:cs typeface="+mj-cs"/>
              </a:rPr>
              <a:t>.............</a:t>
            </a:r>
            <a:endParaRPr lang="fr-FR" sz="3800" dirty="0"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179029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1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6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13" grpId="0" animBg="1"/>
      <p:bldP spid="18" grpId="0" animBg="1"/>
      <p:bldP spid="17" grpId="0" animBg="1"/>
      <p:bldP spid="20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سـؤال </a:t>
            </a:r>
            <a:r>
              <a:rPr lang="ar-DZ" sz="3600" b="1" dirty="0">
                <a:solidFill>
                  <a:srgbClr val="FF0000"/>
                </a:solidFill>
                <a:cs typeface="+mj-cs"/>
              </a:rPr>
              <a:t>: 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كـيـف تـؤثــر الـفــيـروســات عـلـى الـمــوارد : </a:t>
            </a:r>
            <a:r>
              <a:rPr lang="fr-FR" sz="3600" b="1" dirty="0" smtClean="0">
                <a:solidFill>
                  <a:srgbClr val="FF0000"/>
                </a:solidFill>
                <a:cs typeface="+mj-cs"/>
              </a:rPr>
              <a:t>RAM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 / </a:t>
            </a:r>
            <a:r>
              <a:rPr lang="fr-FR" sz="3600" b="1" dirty="0" smtClean="0">
                <a:solidFill>
                  <a:srgbClr val="FF0000"/>
                </a:solidFill>
                <a:cs typeface="+mj-cs"/>
              </a:rPr>
              <a:t>HDD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 ؟</a:t>
            </a:r>
            <a:endParaRPr lang="fr-FR" sz="36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19/10/2024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7392143" y="3283294"/>
            <a:ext cx="363896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قَــبْــلَ الإِصَــابــة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39416" y="1699119"/>
            <a:ext cx="1036915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FF0000"/>
                </a:solidFill>
              </a:rPr>
              <a:t>مَـنْ </a:t>
            </a:r>
            <a:r>
              <a:rPr lang="ar-DZ" sz="4400" b="1" dirty="0" smtClean="0">
                <a:solidFill>
                  <a:srgbClr val="FF0000"/>
                </a:solidFill>
                <a:cs typeface="+mj-cs"/>
              </a:rPr>
              <a:t>يَـسْـتَـفِـيـدُ ( يَـسْـتَـغِــلُ ) مِـنْ الـمَــوَارِدِ </a:t>
            </a:r>
            <a:r>
              <a:rPr lang="fr-FR" sz="3400" b="1" dirty="0" smtClean="0">
                <a:solidFill>
                  <a:srgbClr val="FF0000"/>
                </a:solidFill>
                <a:cs typeface="+mj-cs"/>
              </a:rPr>
              <a:t>RAM</a:t>
            </a:r>
            <a:r>
              <a:rPr lang="ar-DZ" sz="3400" b="1" dirty="0" smtClean="0">
                <a:solidFill>
                  <a:srgbClr val="FF0000"/>
                </a:solidFill>
                <a:cs typeface="+mj-cs"/>
              </a:rPr>
              <a:t> / </a:t>
            </a:r>
            <a:r>
              <a:rPr lang="fr-FR" sz="3400" b="1" dirty="0" smtClean="0">
                <a:solidFill>
                  <a:srgbClr val="FF0000"/>
                </a:solidFill>
                <a:cs typeface="+mj-cs"/>
              </a:rPr>
              <a:t>HDD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: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031315" y="3283295"/>
            <a:ext cx="363896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بَــعْــدَ الإِصَــابَــة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9089" y="4527553"/>
            <a:ext cx="2505075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5" name="Connecteur droit avec flèche 14"/>
          <p:cNvCxnSpPr>
            <a:endCxn id="18" idx="3"/>
          </p:cNvCxnSpPr>
          <p:nvPr/>
        </p:nvCxnSpPr>
        <p:spPr>
          <a:xfrm flipH="1">
            <a:off x="4670281" y="2479449"/>
            <a:ext cx="1137599" cy="120073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necteur droit avec flèche 15"/>
          <p:cNvCxnSpPr>
            <a:endCxn id="6" idx="1"/>
          </p:cNvCxnSpPr>
          <p:nvPr/>
        </p:nvCxnSpPr>
        <p:spPr>
          <a:xfrm>
            <a:off x="5807879" y="2479449"/>
            <a:ext cx="1584264" cy="120073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Espace réservé du contenu 21"/>
          <p:cNvSpPr txBox="1">
            <a:spLocks/>
          </p:cNvSpPr>
          <p:nvPr/>
        </p:nvSpPr>
        <p:spPr>
          <a:xfrm>
            <a:off x="7512542" y="4884016"/>
            <a:ext cx="3398168" cy="1524517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b="1" dirty="0" smtClean="0">
                <a:solidFill>
                  <a:srgbClr val="0070C0"/>
                </a:solidFill>
                <a:cs typeface="+mj-cs"/>
              </a:rPr>
              <a:t>بــــــرامــــج الـمــســتــخــدم</a:t>
            </a:r>
            <a:endParaRPr lang="fr-FR" dirty="0">
              <a:cs typeface="+mj-cs"/>
            </a:endParaRPr>
          </a:p>
        </p:txBody>
      </p:sp>
      <p:pic>
        <p:nvPicPr>
          <p:cNvPr id="14" name="Picture 1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9737" y="4527553"/>
            <a:ext cx="2505075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Espace réservé du contenu 21"/>
          <p:cNvSpPr txBox="1">
            <a:spLocks/>
          </p:cNvSpPr>
          <p:nvPr/>
        </p:nvSpPr>
        <p:spPr>
          <a:xfrm>
            <a:off x="575171" y="4884016"/>
            <a:ext cx="3398168" cy="1524517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3800" b="1" dirty="0">
                <a:solidFill>
                  <a:srgbClr val="FF0000"/>
                </a:solidFill>
                <a:cs typeface="Times New Roman" panose="02020603050405020304" pitchFamily="18" charset="0"/>
              </a:rPr>
              <a:t>.............</a:t>
            </a:r>
            <a:endParaRPr lang="fr-FR" sz="3800" dirty="0"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630575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1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6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13" grpId="0" animBg="1"/>
      <p:bldP spid="18" grpId="0" animBg="1"/>
      <p:bldP spid="17" grpId="0" animBg="1"/>
      <p:bldP spid="20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سـؤال </a:t>
            </a:r>
            <a:r>
              <a:rPr lang="ar-DZ" sz="3600" b="1" dirty="0">
                <a:solidFill>
                  <a:srgbClr val="FF0000"/>
                </a:solidFill>
                <a:cs typeface="+mj-cs"/>
              </a:rPr>
              <a:t>: 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كـيـف تـؤثــر الـفــيـروســات عـلـى الـمــوارد : </a:t>
            </a:r>
            <a:r>
              <a:rPr lang="fr-FR" sz="3600" b="1" dirty="0" smtClean="0">
                <a:solidFill>
                  <a:srgbClr val="FF0000"/>
                </a:solidFill>
                <a:cs typeface="+mj-cs"/>
              </a:rPr>
              <a:t>RAM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 / </a:t>
            </a:r>
            <a:r>
              <a:rPr lang="fr-FR" sz="3600" b="1" dirty="0" smtClean="0">
                <a:solidFill>
                  <a:srgbClr val="FF0000"/>
                </a:solidFill>
                <a:cs typeface="+mj-cs"/>
              </a:rPr>
              <a:t>HDD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 ؟</a:t>
            </a:r>
            <a:endParaRPr lang="fr-FR" sz="36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19/10/2024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7392143" y="3283294"/>
            <a:ext cx="363896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قَــبْــلَ الإِصَــابــة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39416" y="1699119"/>
            <a:ext cx="1036915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FF0000"/>
                </a:solidFill>
              </a:rPr>
              <a:t>مَـنْ </a:t>
            </a:r>
            <a:r>
              <a:rPr lang="ar-DZ" sz="4400" b="1" dirty="0" smtClean="0">
                <a:solidFill>
                  <a:srgbClr val="FF0000"/>
                </a:solidFill>
                <a:cs typeface="+mj-cs"/>
              </a:rPr>
              <a:t>يَـسْـتَـفِـيـدُ ( يَـسْـتَـغِــلُ ) مِـنْ الـمَــوَارِدِ </a:t>
            </a:r>
            <a:r>
              <a:rPr lang="fr-FR" sz="3400" b="1" dirty="0" smtClean="0">
                <a:solidFill>
                  <a:srgbClr val="FF0000"/>
                </a:solidFill>
                <a:cs typeface="+mj-cs"/>
              </a:rPr>
              <a:t>RAM</a:t>
            </a:r>
            <a:r>
              <a:rPr lang="ar-DZ" sz="3400" b="1" dirty="0" smtClean="0">
                <a:solidFill>
                  <a:srgbClr val="FF0000"/>
                </a:solidFill>
                <a:cs typeface="+mj-cs"/>
              </a:rPr>
              <a:t> / </a:t>
            </a:r>
            <a:r>
              <a:rPr lang="fr-FR" sz="3400" b="1" dirty="0" smtClean="0">
                <a:solidFill>
                  <a:srgbClr val="FF0000"/>
                </a:solidFill>
                <a:cs typeface="+mj-cs"/>
              </a:rPr>
              <a:t>HDD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: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031315" y="3283295"/>
            <a:ext cx="363896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بَــعْــدَ الإِصَــابَــة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9089" y="4527553"/>
            <a:ext cx="2505075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5" name="Connecteur droit avec flèche 14"/>
          <p:cNvCxnSpPr>
            <a:endCxn id="18" idx="3"/>
          </p:cNvCxnSpPr>
          <p:nvPr/>
        </p:nvCxnSpPr>
        <p:spPr>
          <a:xfrm flipH="1">
            <a:off x="4670281" y="2479449"/>
            <a:ext cx="1137599" cy="120073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necteur droit avec flèche 15"/>
          <p:cNvCxnSpPr>
            <a:endCxn id="6" idx="1"/>
          </p:cNvCxnSpPr>
          <p:nvPr/>
        </p:nvCxnSpPr>
        <p:spPr>
          <a:xfrm>
            <a:off x="5807879" y="2479449"/>
            <a:ext cx="1584264" cy="120073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Espace réservé du contenu 21"/>
          <p:cNvSpPr txBox="1">
            <a:spLocks/>
          </p:cNvSpPr>
          <p:nvPr/>
        </p:nvSpPr>
        <p:spPr>
          <a:xfrm>
            <a:off x="7512542" y="4884016"/>
            <a:ext cx="3398168" cy="1524517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b="1" dirty="0" smtClean="0">
                <a:solidFill>
                  <a:srgbClr val="0070C0"/>
                </a:solidFill>
                <a:cs typeface="+mj-cs"/>
              </a:rPr>
              <a:t>بــــــرامــــج الـمــســتــخــدم</a:t>
            </a:r>
            <a:endParaRPr lang="fr-FR" dirty="0">
              <a:cs typeface="+mj-cs"/>
            </a:endParaRPr>
          </a:p>
        </p:txBody>
      </p:sp>
      <p:pic>
        <p:nvPicPr>
          <p:cNvPr id="14" name="Picture 1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9737" y="4527553"/>
            <a:ext cx="2505075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Espace réservé du contenu 21"/>
          <p:cNvSpPr txBox="1">
            <a:spLocks/>
          </p:cNvSpPr>
          <p:nvPr/>
        </p:nvSpPr>
        <p:spPr>
          <a:xfrm>
            <a:off x="575171" y="4884016"/>
            <a:ext cx="3398168" cy="1524517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3800" b="1" dirty="0" smtClean="0">
                <a:solidFill>
                  <a:srgbClr val="FF0000"/>
                </a:solidFill>
                <a:cs typeface="+mj-cs"/>
              </a:rPr>
              <a:t>الـفـيـروسـات</a:t>
            </a:r>
            <a:endParaRPr lang="fr-FR" sz="3800" dirty="0"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107763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1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6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13" grpId="0" animBg="1"/>
      <p:bldP spid="18" grpId="0" animBg="1"/>
      <p:bldP spid="17" grpId="0" animBg="1"/>
      <p:bldP spid="20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>
                <a:solidFill>
                  <a:srgbClr val="FF0000"/>
                </a:solidFill>
                <a:cs typeface="+mj-cs"/>
              </a:rPr>
              <a:t> </a:t>
            </a:r>
            <a:r>
              <a:rPr lang="ar-DZ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: ( نَــشَـاط </a:t>
            </a:r>
            <a:r>
              <a:rPr lang="ar-DZ" sz="4000" b="1" smtClean="0">
                <a:solidFill>
                  <a:srgbClr val="FF0000"/>
                </a:solidFill>
                <a:cs typeface="+mj-cs"/>
              </a:rPr>
              <a:t>3 – أعـــراض الإصــابــة بـالــفـــيـــروســـات </a:t>
            </a:r>
            <a:r>
              <a:rPr lang="ar-DZ" sz="4000" b="1" dirty="0">
                <a:solidFill>
                  <a:srgbClr val="FF0000"/>
                </a:solidFill>
                <a:cs typeface="+mj-cs"/>
              </a:rPr>
              <a:t>) 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19/10/2024</a:t>
            </a:fld>
            <a:endParaRPr lang="fr-BE" dirty="0"/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625350" y="1412775"/>
            <a:ext cx="10814992" cy="494357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buFont typeface="Arial" pitchFamily="34" charset="0"/>
              <a:buNone/>
            </a:pPr>
            <a:endParaRPr lang="ar-DZ" sz="800" b="1" dirty="0" smtClean="0">
              <a:cs typeface="+mj-cs"/>
            </a:endParaRPr>
          </a:p>
          <a:p>
            <a:pPr marL="0" indent="0" algn="just" rtl="1">
              <a:lnSpc>
                <a:spcPct val="165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─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	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فـي بِـــدْءِ الـتــشـغــيــل، وفـي 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الــتــطـــبـــيـــقـــات والــبـــرمــجـــيـــات</a:t>
            </a:r>
            <a:endParaRPr lang="ar-DZ" sz="40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just" rtl="1">
              <a:lnSpc>
                <a:spcPct val="165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─ 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حـــفـــظ الــبــــيـــانــــات لـعــــدم وجــــود 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( بــســبــب الــتــنـــاســخ </a:t>
            </a:r>
            <a:r>
              <a:rPr lang="ar-DZ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)</a:t>
            </a:r>
            <a:endParaRPr lang="fr-FR" sz="40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just" rtl="1">
              <a:lnSpc>
                <a:spcPct val="175000"/>
              </a:lnSpc>
              <a:buNone/>
            </a:pPr>
            <a:endParaRPr lang="fr-FR" sz="3800" b="1" dirty="0">
              <a:solidFill>
                <a:srgbClr val="00206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790576" y="1743119"/>
            <a:ext cx="1553605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بُـــطْء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39416" y="1729384"/>
            <a:ext cx="244427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تــنــفــيــذ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6627849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build="p" animBg="1"/>
      <p:bldP spid="7" grpId="0" animBg="1"/>
      <p:bldP spid="8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>
                <a:solidFill>
                  <a:srgbClr val="FF0000"/>
                </a:solidFill>
                <a:cs typeface="+mj-cs"/>
              </a:rPr>
              <a:t> </a:t>
            </a:r>
            <a:r>
              <a:rPr lang="ar-DZ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: ( نَــشَـاط </a:t>
            </a:r>
            <a:r>
              <a:rPr lang="ar-DZ" sz="4000" b="1" smtClean="0">
                <a:solidFill>
                  <a:srgbClr val="FF0000"/>
                </a:solidFill>
                <a:cs typeface="+mj-cs"/>
              </a:rPr>
              <a:t>3 – أعـــراض الإصــابــة بـالــفـــيـــروســـات </a:t>
            </a:r>
            <a:r>
              <a:rPr lang="ar-DZ" sz="4000" b="1" dirty="0">
                <a:solidFill>
                  <a:srgbClr val="FF0000"/>
                </a:solidFill>
                <a:cs typeface="+mj-cs"/>
              </a:rPr>
              <a:t>) 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19/10/2024</a:t>
            </a:fld>
            <a:endParaRPr lang="fr-BE" dirty="0"/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625350" y="1412775"/>
            <a:ext cx="10814992" cy="494357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buFont typeface="Arial" pitchFamily="34" charset="0"/>
              <a:buNone/>
            </a:pPr>
            <a:endParaRPr lang="ar-DZ" sz="800" b="1" dirty="0" smtClean="0">
              <a:cs typeface="+mj-cs"/>
            </a:endParaRPr>
          </a:p>
          <a:p>
            <a:pPr marL="0" indent="0" algn="just" rtl="1">
              <a:lnSpc>
                <a:spcPct val="165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─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	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فـي بِـــدْءِ الـتــشـغــيــل، وفـي 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الــتــطـــبـــيـــقـــات والــبـــرمــجـــيـــات</a:t>
            </a:r>
            <a:endParaRPr lang="ar-DZ" sz="40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just" rtl="1">
              <a:lnSpc>
                <a:spcPct val="165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─ 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حـــفـــظ الــبــــيـــانــــات لـعــــدم وجــــود 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( بــســبــب الــتــنـــاســخ </a:t>
            </a:r>
            <a:r>
              <a:rPr lang="ar-DZ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)</a:t>
            </a:r>
            <a:endParaRPr lang="fr-FR" sz="40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just" rtl="1">
              <a:lnSpc>
                <a:spcPct val="175000"/>
              </a:lnSpc>
              <a:buNone/>
            </a:pPr>
            <a:endParaRPr lang="fr-FR" sz="3800" b="1" dirty="0">
              <a:solidFill>
                <a:srgbClr val="00206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790576" y="1743119"/>
            <a:ext cx="1553605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بُـــطْء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39416" y="1729384"/>
            <a:ext cx="244427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تــنــفــيــذ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184232" y="3858791"/>
            <a:ext cx="2420955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تَــعَــذُر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5829819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build="p" animBg="1"/>
      <p:bldP spid="7" grpId="0" animBg="1"/>
      <p:bldP spid="8" grpId="0" animBg="1"/>
      <p:bldP spid="13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>
                <a:solidFill>
                  <a:srgbClr val="FF0000"/>
                </a:solidFill>
                <a:cs typeface="+mj-cs"/>
              </a:rPr>
              <a:t> </a:t>
            </a:r>
            <a:r>
              <a:rPr lang="ar-DZ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: ( نَــشَـاط </a:t>
            </a:r>
            <a:r>
              <a:rPr lang="ar-DZ" sz="4000" b="1" smtClean="0">
                <a:solidFill>
                  <a:srgbClr val="FF0000"/>
                </a:solidFill>
                <a:cs typeface="+mj-cs"/>
              </a:rPr>
              <a:t>3 – أعـــراض الإصــابــة بـالــفـــيـــروســـات </a:t>
            </a:r>
            <a:r>
              <a:rPr lang="ar-DZ" sz="4000" b="1" dirty="0">
                <a:solidFill>
                  <a:srgbClr val="FF0000"/>
                </a:solidFill>
                <a:cs typeface="+mj-cs"/>
              </a:rPr>
              <a:t>) 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19/10/2024</a:t>
            </a:fld>
            <a:endParaRPr lang="fr-BE" dirty="0"/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625350" y="1412775"/>
            <a:ext cx="10814992" cy="494357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buFont typeface="Arial" pitchFamily="34" charset="0"/>
              <a:buNone/>
            </a:pPr>
            <a:endParaRPr lang="ar-DZ" sz="800" b="1" dirty="0" smtClean="0">
              <a:cs typeface="+mj-cs"/>
            </a:endParaRPr>
          </a:p>
          <a:p>
            <a:pPr marL="0" indent="0" algn="just" rtl="1">
              <a:lnSpc>
                <a:spcPct val="165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─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	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فـي بِـــدْءِ الـتــشـغــيــل، وفـي 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الــتــطـــبـــيـــقـــات والــبـــرمــجـــيـــات</a:t>
            </a:r>
            <a:endParaRPr lang="ar-DZ" sz="40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just" rtl="1">
              <a:lnSpc>
                <a:spcPct val="165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─ 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حـــفـــظ الــبــــيـــانــــات لـعــــدم وجــــود 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( بــســبــب الــتــنـــاســخ </a:t>
            </a:r>
            <a:r>
              <a:rPr lang="ar-DZ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)</a:t>
            </a:r>
            <a:endParaRPr lang="fr-FR" sz="40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just" rtl="1">
              <a:lnSpc>
                <a:spcPct val="175000"/>
              </a:lnSpc>
              <a:buNone/>
            </a:pPr>
            <a:endParaRPr lang="fr-FR" sz="3800" b="1" dirty="0">
              <a:solidFill>
                <a:srgbClr val="00206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790576" y="1743119"/>
            <a:ext cx="1553605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بُـــطْء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39416" y="1729384"/>
            <a:ext cx="244427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تــنــفــيــذ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184232" y="3858791"/>
            <a:ext cx="2420955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تَــعَــذُر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384032" y="4883448"/>
            <a:ext cx="4824535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الــمــســاحــة الـكــافــيــة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413790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build="p" animBg="1"/>
      <p:bldP spid="7" grpId="0" animBg="1"/>
      <p:bldP spid="8" grpId="0" animBg="1"/>
      <p:bldP spid="13" grpId="0" animBg="1"/>
      <p:bldP spid="9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800" b="1" dirty="0" smtClean="0">
                <a:solidFill>
                  <a:srgbClr val="FF0000"/>
                </a:solidFill>
                <a:cs typeface="+mj-cs"/>
              </a:rPr>
              <a:t>ســؤال </a:t>
            </a:r>
            <a:r>
              <a:rPr lang="ar-DZ" sz="3800" b="1" dirty="0">
                <a:solidFill>
                  <a:srgbClr val="FF0000"/>
                </a:solidFill>
                <a:cs typeface="+mj-cs"/>
              </a:rPr>
              <a:t>: </a:t>
            </a:r>
            <a:r>
              <a:rPr lang="ar-DZ" sz="3800" b="1" dirty="0" smtClean="0">
                <a:solidFill>
                  <a:srgbClr val="FF0000"/>
                </a:solidFill>
                <a:cs typeface="+mj-cs"/>
              </a:rPr>
              <a:t>كـيـف تُــؤَثِّــرُ الـفــيــروســات عـلـى مـلـفـات الـحــاســوب ؟</a:t>
            </a:r>
            <a:endParaRPr lang="fr-FR" sz="3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19/10/2024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7392143" y="3283294"/>
            <a:ext cx="363896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قَــبْــلَ الإِصَــابــة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39416" y="1699119"/>
            <a:ext cx="1036915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FF0000"/>
                </a:solidFill>
                <a:cs typeface="+mj-cs"/>
              </a:rPr>
              <a:t>مِــلَــفَــاتُ الـحَــاسُــوبِ تَــكُــونُ :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031315" y="3283295"/>
            <a:ext cx="363896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بَــعْــدَ الإِصَــابَــة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9089" y="4527553"/>
            <a:ext cx="2505075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5" name="Connecteur droit avec flèche 14"/>
          <p:cNvCxnSpPr>
            <a:endCxn id="18" idx="3"/>
          </p:cNvCxnSpPr>
          <p:nvPr/>
        </p:nvCxnSpPr>
        <p:spPr>
          <a:xfrm flipH="1">
            <a:off x="4670281" y="2479449"/>
            <a:ext cx="1137599" cy="120073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necteur droit avec flèche 15"/>
          <p:cNvCxnSpPr>
            <a:endCxn id="6" idx="1"/>
          </p:cNvCxnSpPr>
          <p:nvPr/>
        </p:nvCxnSpPr>
        <p:spPr>
          <a:xfrm>
            <a:off x="5807879" y="2479449"/>
            <a:ext cx="1584264" cy="120073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Espace réservé du contenu 21"/>
          <p:cNvSpPr txBox="1">
            <a:spLocks/>
          </p:cNvSpPr>
          <p:nvPr/>
        </p:nvSpPr>
        <p:spPr>
          <a:xfrm>
            <a:off x="7512542" y="4884016"/>
            <a:ext cx="3398168" cy="1524517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.............</a:t>
            </a:r>
            <a:endParaRPr lang="fr-FR" sz="4000" dirty="0">
              <a:cs typeface="+mj-cs"/>
            </a:endParaRPr>
          </a:p>
        </p:txBody>
      </p:sp>
      <p:pic>
        <p:nvPicPr>
          <p:cNvPr id="14" name="Picture 1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9737" y="4527553"/>
            <a:ext cx="2505075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Espace réservé du contenu 21"/>
          <p:cNvSpPr txBox="1">
            <a:spLocks/>
          </p:cNvSpPr>
          <p:nvPr/>
        </p:nvSpPr>
        <p:spPr>
          <a:xfrm>
            <a:off x="575171" y="4527554"/>
            <a:ext cx="3398168" cy="188098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................</a:t>
            </a:r>
            <a:endParaRPr lang="fr-FR" sz="3600" dirty="0"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773635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1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6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13" grpId="0" animBg="1"/>
      <p:bldP spid="18" grpId="0" animBg="1"/>
      <p:bldP spid="17" grpId="0" animBg="1"/>
      <p:bldP spid="20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800" b="1" dirty="0" smtClean="0">
                <a:solidFill>
                  <a:srgbClr val="FF0000"/>
                </a:solidFill>
                <a:cs typeface="+mj-cs"/>
              </a:rPr>
              <a:t>ســؤال </a:t>
            </a:r>
            <a:r>
              <a:rPr lang="ar-DZ" sz="3800" b="1" dirty="0">
                <a:solidFill>
                  <a:srgbClr val="FF0000"/>
                </a:solidFill>
                <a:cs typeface="+mj-cs"/>
              </a:rPr>
              <a:t>: </a:t>
            </a:r>
            <a:r>
              <a:rPr lang="ar-DZ" sz="3800" b="1" dirty="0" smtClean="0">
                <a:solidFill>
                  <a:srgbClr val="FF0000"/>
                </a:solidFill>
                <a:cs typeface="+mj-cs"/>
              </a:rPr>
              <a:t>كـيـف تُــؤَثِّــرُ الـفــيــروســات عـلـى مـلـفـات الـحــاســوب ؟</a:t>
            </a:r>
            <a:endParaRPr lang="fr-FR" sz="3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19/10/2024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7392143" y="3283294"/>
            <a:ext cx="363896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قَــبْــلَ الإِصَــابــة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39416" y="1699119"/>
            <a:ext cx="1036915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FF0000"/>
                </a:solidFill>
                <a:cs typeface="+mj-cs"/>
              </a:rPr>
              <a:t>مِــلَــفَــاتُ الـحَــاسُــوبِ تَــكُــونُ :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031315" y="3283295"/>
            <a:ext cx="363896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بَــعْــدَ الإِصَــابَــة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9089" y="4527553"/>
            <a:ext cx="2505075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5" name="Connecteur droit avec flèche 14"/>
          <p:cNvCxnSpPr>
            <a:endCxn id="18" idx="3"/>
          </p:cNvCxnSpPr>
          <p:nvPr/>
        </p:nvCxnSpPr>
        <p:spPr>
          <a:xfrm flipH="1">
            <a:off x="4670281" y="2479449"/>
            <a:ext cx="1137599" cy="120073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necteur droit avec flèche 15"/>
          <p:cNvCxnSpPr>
            <a:endCxn id="6" idx="1"/>
          </p:cNvCxnSpPr>
          <p:nvPr/>
        </p:nvCxnSpPr>
        <p:spPr>
          <a:xfrm>
            <a:off x="5807879" y="2479449"/>
            <a:ext cx="1584264" cy="120073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Espace réservé du contenu 21"/>
          <p:cNvSpPr txBox="1">
            <a:spLocks/>
          </p:cNvSpPr>
          <p:nvPr/>
        </p:nvSpPr>
        <p:spPr>
          <a:xfrm>
            <a:off x="7512542" y="4884016"/>
            <a:ext cx="3398168" cy="1524517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سَـــلِـــيــمَــةً</a:t>
            </a:r>
            <a:endParaRPr lang="fr-FR" sz="4000" dirty="0">
              <a:cs typeface="+mj-cs"/>
            </a:endParaRPr>
          </a:p>
        </p:txBody>
      </p:sp>
      <p:pic>
        <p:nvPicPr>
          <p:cNvPr id="14" name="Picture 1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9737" y="4527553"/>
            <a:ext cx="2505075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Espace réservé du contenu 21"/>
          <p:cNvSpPr txBox="1">
            <a:spLocks/>
          </p:cNvSpPr>
          <p:nvPr/>
        </p:nvSpPr>
        <p:spPr>
          <a:xfrm>
            <a:off x="575171" y="4527554"/>
            <a:ext cx="3398168" cy="188098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3600" b="1" dirty="0">
                <a:solidFill>
                  <a:srgbClr val="FF0000"/>
                </a:solidFill>
                <a:cs typeface="Times New Roman" panose="02020603050405020304" pitchFamily="18" charset="0"/>
              </a:rPr>
              <a:t>................</a:t>
            </a:r>
            <a:endParaRPr lang="fr-FR" sz="3600" dirty="0"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225985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1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6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13" grpId="0" animBg="1"/>
      <p:bldP spid="18" grpId="0" animBg="1"/>
      <p:bldP spid="17" grpId="0" animBg="1"/>
      <p:bldP spid="20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800" b="1" dirty="0" smtClean="0">
                <a:solidFill>
                  <a:srgbClr val="FF0000"/>
                </a:solidFill>
                <a:cs typeface="+mj-cs"/>
              </a:rPr>
              <a:t>ســؤال </a:t>
            </a:r>
            <a:r>
              <a:rPr lang="ar-DZ" sz="3800" b="1" dirty="0">
                <a:solidFill>
                  <a:srgbClr val="FF0000"/>
                </a:solidFill>
                <a:cs typeface="+mj-cs"/>
              </a:rPr>
              <a:t>: </a:t>
            </a:r>
            <a:r>
              <a:rPr lang="ar-DZ" sz="3800" b="1" dirty="0" smtClean="0">
                <a:solidFill>
                  <a:srgbClr val="FF0000"/>
                </a:solidFill>
                <a:cs typeface="+mj-cs"/>
              </a:rPr>
              <a:t>كـيـف تُــؤَثِّــرُ الـفــيــروســات عـلـى مـلـفـات الـحــاســوب ؟</a:t>
            </a:r>
            <a:endParaRPr lang="fr-FR" sz="3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19/10/2024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7392143" y="3283294"/>
            <a:ext cx="363896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قَــبْــلَ الإِصَــابــة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39416" y="1699119"/>
            <a:ext cx="1036915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FF0000"/>
                </a:solidFill>
                <a:cs typeface="+mj-cs"/>
              </a:rPr>
              <a:t>مِــلَــفَــاتُ الـحَــاسُــوبِ تَــكُــونُ :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031315" y="3283295"/>
            <a:ext cx="363896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بَــعْــدَ الإِصَــابَــة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9089" y="4527553"/>
            <a:ext cx="2505075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5" name="Connecteur droit avec flèche 14"/>
          <p:cNvCxnSpPr>
            <a:endCxn id="18" idx="3"/>
          </p:cNvCxnSpPr>
          <p:nvPr/>
        </p:nvCxnSpPr>
        <p:spPr>
          <a:xfrm flipH="1">
            <a:off x="4670281" y="2479449"/>
            <a:ext cx="1137599" cy="120073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necteur droit avec flèche 15"/>
          <p:cNvCxnSpPr>
            <a:endCxn id="6" idx="1"/>
          </p:cNvCxnSpPr>
          <p:nvPr/>
        </p:nvCxnSpPr>
        <p:spPr>
          <a:xfrm>
            <a:off x="5807879" y="2479449"/>
            <a:ext cx="1584264" cy="120073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Espace réservé du contenu 21"/>
          <p:cNvSpPr txBox="1">
            <a:spLocks/>
          </p:cNvSpPr>
          <p:nvPr/>
        </p:nvSpPr>
        <p:spPr>
          <a:xfrm>
            <a:off x="7512542" y="4884016"/>
            <a:ext cx="3398168" cy="1524517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سَـــلِـــيــمَــةً</a:t>
            </a:r>
            <a:endParaRPr lang="fr-FR" sz="4000" dirty="0">
              <a:cs typeface="+mj-cs"/>
            </a:endParaRPr>
          </a:p>
        </p:txBody>
      </p:sp>
      <p:pic>
        <p:nvPicPr>
          <p:cNvPr id="14" name="Picture 1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9737" y="4527553"/>
            <a:ext cx="2505075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Espace réservé du contenu 21"/>
          <p:cNvSpPr txBox="1">
            <a:spLocks/>
          </p:cNvSpPr>
          <p:nvPr/>
        </p:nvSpPr>
        <p:spPr>
          <a:xfrm>
            <a:off x="575171" y="4527554"/>
            <a:ext cx="3398168" cy="188098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مُـخْـتَــفِــيَــة</a:t>
            </a:r>
          </a:p>
          <a:p>
            <a:pPr marL="0" indent="0" algn="ctr" rtl="1">
              <a:buNone/>
            </a:pP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 مُــتْــلَــفَــة</a:t>
            </a:r>
            <a:endParaRPr lang="fr-FR" sz="3600" dirty="0"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354194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1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6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13" grpId="0" animBg="1"/>
      <p:bldP spid="18" grpId="0" animBg="1"/>
      <p:bldP spid="17" grpId="0" animBg="1"/>
      <p:bldP spid="20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>
                <a:solidFill>
                  <a:srgbClr val="FF0000"/>
                </a:solidFill>
                <a:cs typeface="+mj-cs"/>
              </a:rPr>
              <a:t> </a:t>
            </a:r>
            <a:r>
              <a:rPr lang="ar-DZ" sz="4000" b="1" u="sng" dirty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>
                <a:solidFill>
                  <a:srgbClr val="FF0000"/>
                </a:solidFill>
                <a:cs typeface="+mj-cs"/>
              </a:rPr>
              <a:t> :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( 2. أعـــراض </a:t>
            </a:r>
            <a:r>
              <a:rPr lang="ar-DZ" sz="4000" b="1" dirty="0">
                <a:solidFill>
                  <a:srgbClr val="FF0000"/>
                </a:solidFill>
                <a:cs typeface="+mj-cs"/>
              </a:rPr>
              <a:t>الإصــابــة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بـالــفــيــروســـات  -  تــابـع ) 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19/10/2024</a:t>
            </a:fld>
            <a:endParaRPr lang="fr-BE" dirty="0"/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625350" y="1412775"/>
            <a:ext cx="10814992" cy="494357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buFont typeface="Arial" pitchFamily="34" charset="0"/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─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	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بـعـض الــمـلــفــات ، تَـعَــذُّر 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أو 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 إلــى 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لا تُــفْــتَــحُ ولَا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تُــنَــفَّــذُ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─	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رســـائــل الـخـــطــأ </a:t>
            </a:r>
            <a:endParaRPr lang="ar-DZ" sz="40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93449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build="p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>
                <a:solidFill>
                  <a:srgbClr val="FF0000"/>
                </a:solidFill>
                <a:cs typeface="+mj-cs"/>
              </a:rPr>
              <a:t> </a:t>
            </a:r>
            <a:r>
              <a:rPr lang="ar-DZ" sz="4000" b="1" u="sng" dirty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>
                <a:solidFill>
                  <a:srgbClr val="FF0000"/>
                </a:solidFill>
                <a:cs typeface="+mj-cs"/>
              </a:rPr>
              <a:t> :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( 2. أعـــراض </a:t>
            </a:r>
            <a:r>
              <a:rPr lang="ar-DZ" sz="4000" b="1" dirty="0">
                <a:solidFill>
                  <a:srgbClr val="FF0000"/>
                </a:solidFill>
                <a:cs typeface="+mj-cs"/>
              </a:rPr>
              <a:t>الإصــابــة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بـالــفــيــروســـات  -  تــابـع ) 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19/10/2024</a:t>
            </a:fld>
            <a:endParaRPr lang="fr-BE" dirty="0"/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625350" y="1412775"/>
            <a:ext cx="10814992" cy="494357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buFont typeface="Arial" pitchFamily="34" charset="0"/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─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	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بـعـض الــمـلــفــات ، تَـعَــذُّر 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أو 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 إلــى 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لا تُــفْــتَــحُ ولَا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تُــنَــفَّــذُ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─	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رســـائــل الـخـــطــأ </a:t>
            </a:r>
            <a:endParaRPr lang="ar-DZ" sz="40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328248" y="1691414"/>
            <a:ext cx="2447981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اِخْــتِــفَــاء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893351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build="p" animBg="1"/>
      <p:bldP spid="7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>
                <a:solidFill>
                  <a:srgbClr val="FF0000"/>
                </a:solidFill>
                <a:cs typeface="+mj-cs"/>
              </a:rPr>
              <a:t> </a:t>
            </a:r>
            <a:r>
              <a:rPr lang="ar-DZ" sz="4000" b="1" u="sng" dirty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>
                <a:solidFill>
                  <a:srgbClr val="FF0000"/>
                </a:solidFill>
                <a:cs typeface="+mj-cs"/>
              </a:rPr>
              <a:t> :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( 2. أعـــراض </a:t>
            </a:r>
            <a:r>
              <a:rPr lang="ar-DZ" sz="4000" b="1" dirty="0">
                <a:solidFill>
                  <a:srgbClr val="FF0000"/>
                </a:solidFill>
                <a:cs typeface="+mj-cs"/>
              </a:rPr>
              <a:t>الإصــابــة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بـالــفــيــروســـات  -  تــابـع ) 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19/10/2024</a:t>
            </a:fld>
            <a:endParaRPr lang="fr-BE" dirty="0"/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625350" y="1412775"/>
            <a:ext cx="10814992" cy="494357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buFont typeface="Arial" pitchFamily="34" charset="0"/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─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	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بـعـض الــمـلــفــات ، تَـعَــذُّر 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أو 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 إلــى 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لا تُــفْــتَــحُ ولَا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تُــنَــفَّــذُ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─	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رســـائــل الـخـــطــأ </a:t>
            </a:r>
            <a:endParaRPr lang="ar-DZ" sz="40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328248" y="1691414"/>
            <a:ext cx="2447981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اِخْــتِــفَــاء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93743" y="1677967"/>
            <a:ext cx="244427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فــتــحــهـا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429917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build="p" animBg="1"/>
      <p:bldP spid="7" grpId="0" animBg="1"/>
      <p:bldP spid="8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>
                <a:solidFill>
                  <a:srgbClr val="FF0000"/>
                </a:solidFill>
                <a:cs typeface="+mj-cs"/>
              </a:rPr>
              <a:t> </a:t>
            </a:r>
            <a:r>
              <a:rPr lang="ar-DZ" sz="4000" b="1" u="sng" dirty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>
                <a:solidFill>
                  <a:srgbClr val="FF0000"/>
                </a:solidFill>
                <a:cs typeface="+mj-cs"/>
              </a:rPr>
              <a:t> :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( 2. أعـــراض </a:t>
            </a:r>
            <a:r>
              <a:rPr lang="ar-DZ" sz="4000" b="1" dirty="0">
                <a:solidFill>
                  <a:srgbClr val="FF0000"/>
                </a:solidFill>
                <a:cs typeface="+mj-cs"/>
              </a:rPr>
              <a:t>الإصــابــة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بـالــفــيــروســـات  -  تــابـع ) 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19/10/2024</a:t>
            </a:fld>
            <a:endParaRPr lang="fr-BE" dirty="0"/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625350" y="1412775"/>
            <a:ext cx="10814992" cy="494357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buFont typeface="Arial" pitchFamily="34" charset="0"/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─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	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بـعـض الــمـلــفــات ، تَـعَــذُّر 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أو 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 إلــى 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لا تُــفْــتَــحُ ولَا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تُــنَــفَّــذُ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─	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رســـائــل الـخـــطــأ </a:t>
            </a:r>
            <a:endParaRPr lang="ar-DZ" sz="40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328248" y="1691414"/>
            <a:ext cx="2447981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اِخْــتِــفَــاء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93743" y="1677967"/>
            <a:ext cx="244427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فــتــحــهـا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824192" y="2710042"/>
            <a:ext cx="2832119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تـحــويــلـهـا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9411677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build="p" animBg="1"/>
      <p:bldP spid="7" grpId="0" animBg="1"/>
      <p:bldP spid="8" grpId="0" animBg="1"/>
      <p:bldP spid="13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>
                <a:solidFill>
                  <a:srgbClr val="FF0000"/>
                </a:solidFill>
                <a:cs typeface="+mj-cs"/>
              </a:rPr>
              <a:t> </a:t>
            </a:r>
            <a:r>
              <a:rPr lang="ar-DZ" sz="4000" b="1" u="sng" dirty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>
                <a:solidFill>
                  <a:srgbClr val="FF0000"/>
                </a:solidFill>
                <a:cs typeface="+mj-cs"/>
              </a:rPr>
              <a:t> :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( 2. أعـــراض </a:t>
            </a:r>
            <a:r>
              <a:rPr lang="ar-DZ" sz="4000" b="1" dirty="0">
                <a:solidFill>
                  <a:srgbClr val="FF0000"/>
                </a:solidFill>
                <a:cs typeface="+mj-cs"/>
              </a:rPr>
              <a:t>الإصــابــة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بـالــفــيــروســـات  -  تــابـع ) 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19/10/2024</a:t>
            </a:fld>
            <a:endParaRPr lang="fr-BE" dirty="0"/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625350" y="1412775"/>
            <a:ext cx="10814992" cy="494357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buFont typeface="Arial" pitchFamily="34" charset="0"/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─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	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بـعـض الــمـلــفــات ، تَـعَــذُّر 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أو 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 إلــى 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لا تُــفْــتَــحُ ولَا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تُــنَــفَّــذُ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─	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رســـائــل الـخـــطــأ </a:t>
            </a:r>
            <a:endParaRPr lang="ar-DZ" sz="40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328248" y="1691414"/>
            <a:ext cx="2447981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اِخْــتِــفَــاء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93743" y="1677967"/>
            <a:ext cx="244427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فــتــحــهـا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824192" y="2710042"/>
            <a:ext cx="2832119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تـحــويــلـهـا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956538" y="2696594"/>
            <a:ext cx="525658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اِخْــتِــصَــارَات  </a:t>
            </a:r>
            <a:r>
              <a:rPr lang="fr-FR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Raccourcis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9635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build="p" animBg="1"/>
      <p:bldP spid="7" grpId="0" animBg="1"/>
      <p:bldP spid="8" grpId="0" animBg="1"/>
      <p:bldP spid="13" grpId="0" animBg="1"/>
      <p:bldP spid="9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400" b="1" dirty="0" smtClean="0">
                <a:solidFill>
                  <a:srgbClr val="FF0000"/>
                </a:solidFill>
                <a:cs typeface="+mj-cs"/>
              </a:rPr>
              <a:t>ســؤال </a:t>
            </a:r>
            <a:r>
              <a:rPr lang="ar-DZ" sz="3400" b="1" dirty="0">
                <a:solidFill>
                  <a:srgbClr val="FF0000"/>
                </a:solidFill>
                <a:cs typeface="+mj-cs"/>
              </a:rPr>
              <a:t>: </a:t>
            </a:r>
            <a:r>
              <a:rPr lang="ar-DZ" sz="3400" b="1" dirty="0" smtClean="0">
                <a:solidFill>
                  <a:srgbClr val="FF0000"/>
                </a:solidFill>
                <a:cs typeface="+mj-cs"/>
              </a:rPr>
              <a:t>كـيـف يُــؤَثِّــرُ تَــلَــفُ الـمـلـفـات </a:t>
            </a:r>
            <a:r>
              <a:rPr lang="ar-DZ" sz="3400" b="1" dirty="0">
                <a:solidFill>
                  <a:srgbClr val="FF0000"/>
                </a:solidFill>
                <a:cs typeface="+mj-cs"/>
              </a:rPr>
              <a:t>عـلـى </a:t>
            </a:r>
            <a:r>
              <a:rPr lang="ar-DZ" sz="3400" b="1" dirty="0" smtClean="0">
                <a:solidFill>
                  <a:srgbClr val="FF0000"/>
                </a:solidFill>
                <a:cs typeface="+mj-cs"/>
              </a:rPr>
              <a:t>الـبــرامـج الَّـتِي تـحـتـاجـهـا ؟</a:t>
            </a:r>
            <a:endParaRPr lang="fr-FR" sz="3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19/10/2024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7608168" y="3544440"/>
            <a:ext cx="381642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نــظــام الـتــشـغـــيــل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09600" y="1699119"/>
            <a:ext cx="1081499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>
                <a:solidFill>
                  <a:srgbClr val="FF0000"/>
                </a:solidFill>
              </a:rPr>
              <a:t>تَــلَــفُ </a:t>
            </a:r>
            <a:r>
              <a:rPr lang="ar-DZ" sz="4400" b="1" dirty="0" smtClean="0">
                <a:solidFill>
                  <a:srgbClr val="FF0000"/>
                </a:solidFill>
                <a:cs typeface="+mj-cs"/>
              </a:rPr>
              <a:t>مِــلَــفَــاتُ الـحَـــاسُــوبِ يُــؤَدِي إِلـى :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13422" y="3544440"/>
            <a:ext cx="412858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الـبــرامـج الـتـطـبـيــقـيـة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8743" y="4158435"/>
            <a:ext cx="2505075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5" name="Connecteur droit avec flèche 14"/>
          <p:cNvCxnSpPr>
            <a:endCxn id="18" idx="3"/>
          </p:cNvCxnSpPr>
          <p:nvPr/>
        </p:nvCxnSpPr>
        <p:spPr>
          <a:xfrm flipH="1">
            <a:off x="4742004" y="2492896"/>
            <a:ext cx="1055994" cy="144843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necteur droit avec flèche 15"/>
          <p:cNvCxnSpPr>
            <a:endCxn id="6" idx="1"/>
          </p:cNvCxnSpPr>
          <p:nvPr/>
        </p:nvCxnSpPr>
        <p:spPr>
          <a:xfrm>
            <a:off x="6168008" y="2477137"/>
            <a:ext cx="1440160" cy="146419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Espace réservé du contenu 21"/>
          <p:cNvSpPr txBox="1">
            <a:spLocks/>
          </p:cNvSpPr>
          <p:nvPr/>
        </p:nvSpPr>
        <p:spPr>
          <a:xfrm>
            <a:off x="3352800" y="4844609"/>
            <a:ext cx="5328592" cy="1524517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......................</a:t>
            </a:r>
            <a:endParaRPr lang="fr-FR" sz="4000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1" name="Espace réservé du contenu 21"/>
          <p:cNvSpPr txBox="1">
            <a:spLocks/>
          </p:cNvSpPr>
          <p:nvPr/>
        </p:nvSpPr>
        <p:spPr>
          <a:xfrm>
            <a:off x="8664162" y="2683685"/>
            <a:ext cx="2109284" cy="99077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........</a:t>
            </a:r>
            <a:endParaRPr lang="fr-FR" sz="4000" dirty="0">
              <a:cs typeface="+mj-cs"/>
            </a:endParaRPr>
          </a:p>
        </p:txBody>
      </p:sp>
      <p:sp>
        <p:nvSpPr>
          <p:cNvPr id="32" name="Espace réservé du contenu 21"/>
          <p:cNvSpPr txBox="1">
            <a:spLocks/>
          </p:cNvSpPr>
          <p:nvPr/>
        </p:nvSpPr>
        <p:spPr>
          <a:xfrm>
            <a:off x="1296942" y="2683685"/>
            <a:ext cx="2109284" cy="99077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........</a:t>
            </a:r>
            <a:endParaRPr lang="fr-FR" sz="4000" dirty="0"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946065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5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8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3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13" grpId="0" animBg="1"/>
      <p:bldP spid="18" grpId="0" animBg="1"/>
      <p:bldP spid="17" grpId="0" animBg="1"/>
      <p:bldP spid="31" grpId="0" animBg="1"/>
      <p:bldP spid="32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400" b="1" dirty="0" smtClean="0">
                <a:solidFill>
                  <a:srgbClr val="FF0000"/>
                </a:solidFill>
                <a:cs typeface="+mj-cs"/>
              </a:rPr>
              <a:t>ســؤال </a:t>
            </a:r>
            <a:r>
              <a:rPr lang="ar-DZ" sz="3400" b="1" dirty="0">
                <a:solidFill>
                  <a:srgbClr val="FF0000"/>
                </a:solidFill>
                <a:cs typeface="+mj-cs"/>
              </a:rPr>
              <a:t>: </a:t>
            </a:r>
            <a:r>
              <a:rPr lang="ar-DZ" sz="3400" b="1" dirty="0" smtClean="0">
                <a:solidFill>
                  <a:srgbClr val="FF0000"/>
                </a:solidFill>
                <a:cs typeface="+mj-cs"/>
              </a:rPr>
              <a:t>كـيـف يُــؤَثِّــرُ تَــلَــفُ الـمـلـفـات </a:t>
            </a:r>
            <a:r>
              <a:rPr lang="ar-DZ" sz="3400" b="1" dirty="0">
                <a:solidFill>
                  <a:srgbClr val="FF0000"/>
                </a:solidFill>
                <a:cs typeface="+mj-cs"/>
              </a:rPr>
              <a:t>عـلـى </a:t>
            </a:r>
            <a:r>
              <a:rPr lang="ar-DZ" sz="3400" b="1" dirty="0" smtClean="0">
                <a:solidFill>
                  <a:srgbClr val="FF0000"/>
                </a:solidFill>
                <a:cs typeface="+mj-cs"/>
              </a:rPr>
              <a:t>الـبــرامـج الَّـتِي تـحـتـاجـهـا ؟</a:t>
            </a:r>
            <a:endParaRPr lang="fr-FR" sz="3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19/10/2024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7608168" y="3544440"/>
            <a:ext cx="381642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نــظــام الـتــشـغـــيــل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09600" y="1699119"/>
            <a:ext cx="1081499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>
                <a:solidFill>
                  <a:srgbClr val="FF0000"/>
                </a:solidFill>
              </a:rPr>
              <a:t>تَــلَــفُ </a:t>
            </a:r>
            <a:r>
              <a:rPr lang="ar-DZ" sz="4400" b="1" dirty="0" smtClean="0">
                <a:solidFill>
                  <a:srgbClr val="FF0000"/>
                </a:solidFill>
                <a:cs typeface="+mj-cs"/>
              </a:rPr>
              <a:t>مِــلَــفَــاتُ الـحَـــاسُــوبِ يُــؤَدِي إِلـى :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13422" y="3544440"/>
            <a:ext cx="412858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الـبــرامـج الـتـطـبـيــقـيـة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8743" y="4158435"/>
            <a:ext cx="2505075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5" name="Connecteur droit avec flèche 14"/>
          <p:cNvCxnSpPr>
            <a:endCxn id="18" idx="3"/>
          </p:cNvCxnSpPr>
          <p:nvPr/>
        </p:nvCxnSpPr>
        <p:spPr>
          <a:xfrm flipH="1">
            <a:off x="4742004" y="2492896"/>
            <a:ext cx="1055994" cy="144843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necteur droit avec flèche 15"/>
          <p:cNvCxnSpPr>
            <a:endCxn id="6" idx="1"/>
          </p:cNvCxnSpPr>
          <p:nvPr/>
        </p:nvCxnSpPr>
        <p:spPr>
          <a:xfrm>
            <a:off x="6168008" y="2477137"/>
            <a:ext cx="1440160" cy="146419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Espace réservé du contenu 21"/>
          <p:cNvSpPr txBox="1">
            <a:spLocks/>
          </p:cNvSpPr>
          <p:nvPr/>
        </p:nvSpPr>
        <p:spPr>
          <a:xfrm>
            <a:off x="3352800" y="4844609"/>
            <a:ext cx="5328592" cy="1524517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رســائــل .............</a:t>
            </a:r>
            <a:endParaRPr lang="fr-FR" sz="4000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1" name="Espace réservé du contenu 21"/>
          <p:cNvSpPr txBox="1">
            <a:spLocks/>
          </p:cNvSpPr>
          <p:nvPr/>
        </p:nvSpPr>
        <p:spPr>
          <a:xfrm>
            <a:off x="8664162" y="2683685"/>
            <a:ext cx="2109284" cy="99077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خَــلَــل</a:t>
            </a:r>
            <a:endParaRPr lang="fr-FR" sz="4000" dirty="0">
              <a:cs typeface="+mj-cs"/>
            </a:endParaRPr>
          </a:p>
        </p:txBody>
      </p:sp>
      <p:sp>
        <p:nvSpPr>
          <p:cNvPr id="32" name="Espace réservé du contenu 21"/>
          <p:cNvSpPr txBox="1">
            <a:spLocks/>
          </p:cNvSpPr>
          <p:nvPr/>
        </p:nvSpPr>
        <p:spPr>
          <a:xfrm>
            <a:off x="1296942" y="2683685"/>
            <a:ext cx="2109284" cy="99077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خَــلَــل</a:t>
            </a:r>
            <a:endParaRPr lang="fr-FR" sz="4000" dirty="0"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874254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5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8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3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13" grpId="0" animBg="1"/>
      <p:bldP spid="18" grpId="0" animBg="1"/>
      <p:bldP spid="17" grpId="0" animBg="1"/>
      <p:bldP spid="31" grpId="0" animBg="1"/>
      <p:bldP spid="32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400" b="1" dirty="0" smtClean="0">
                <a:solidFill>
                  <a:srgbClr val="FF0000"/>
                </a:solidFill>
                <a:cs typeface="+mj-cs"/>
              </a:rPr>
              <a:t>ســؤال </a:t>
            </a:r>
            <a:r>
              <a:rPr lang="ar-DZ" sz="3400" b="1" dirty="0">
                <a:solidFill>
                  <a:srgbClr val="FF0000"/>
                </a:solidFill>
                <a:cs typeface="+mj-cs"/>
              </a:rPr>
              <a:t>: </a:t>
            </a:r>
            <a:r>
              <a:rPr lang="ar-DZ" sz="3400" b="1" dirty="0" smtClean="0">
                <a:solidFill>
                  <a:srgbClr val="FF0000"/>
                </a:solidFill>
                <a:cs typeface="+mj-cs"/>
              </a:rPr>
              <a:t>كـيـف يُــؤَثِّــرُ تَــلَــفُ الـمـلـفـات </a:t>
            </a:r>
            <a:r>
              <a:rPr lang="ar-DZ" sz="3400" b="1" dirty="0">
                <a:solidFill>
                  <a:srgbClr val="FF0000"/>
                </a:solidFill>
                <a:cs typeface="+mj-cs"/>
              </a:rPr>
              <a:t>عـلـى </a:t>
            </a:r>
            <a:r>
              <a:rPr lang="ar-DZ" sz="3400" b="1" dirty="0" smtClean="0">
                <a:solidFill>
                  <a:srgbClr val="FF0000"/>
                </a:solidFill>
                <a:cs typeface="+mj-cs"/>
              </a:rPr>
              <a:t>الـبــرامـج الَّـتِي تـحـتـاجـهـا ؟</a:t>
            </a:r>
            <a:endParaRPr lang="fr-FR" sz="3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19/10/2024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7608168" y="3544440"/>
            <a:ext cx="381642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نــظــام الـتــشـغـــيــل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09600" y="1699119"/>
            <a:ext cx="1081499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>
                <a:solidFill>
                  <a:srgbClr val="FF0000"/>
                </a:solidFill>
              </a:rPr>
              <a:t>تَــلَــفُ </a:t>
            </a:r>
            <a:r>
              <a:rPr lang="ar-DZ" sz="4400" b="1" dirty="0" smtClean="0">
                <a:solidFill>
                  <a:srgbClr val="FF0000"/>
                </a:solidFill>
                <a:cs typeface="+mj-cs"/>
              </a:rPr>
              <a:t>مِــلَــفَــاتُ الـحَـــاسُــوبِ يُــؤَدِي إِلـى :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13422" y="3544440"/>
            <a:ext cx="412858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الـبــرامـج الـتـطـبـيــقـيـة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8743" y="4158435"/>
            <a:ext cx="2505075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5" name="Connecteur droit avec flèche 14"/>
          <p:cNvCxnSpPr>
            <a:endCxn id="18" idx="3"/>
          </p:cNvCxnSpPr>
          <p:nvPr/>
        </p:nvCxnSpPr>
        <p:spPr>
          <a:xfrm flipH="1">
            <a:off x="4742004" y="2492896"/>
            <a:ext cx="1055994" cy="144843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necteur droit avec flèche 15"/>
          <p:cNvCxnSpPr>
            <a:endCxn id="6" idx="1"/>
          </p:cNvCxnSpPr>
          <p:nvPr/>
        </p:nvCxnSpPr>
        <p:spPr>
          <a:xfrm>
            <a:off x="6168008" y="2477137"/>
            <a:ext cx="1440160" cy="146419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Espace réservé du contenu 21"/>
          <p:cNvSpPr txBox="1">
            <a:spLocks/>
          </p:cNvSpPr>
          <p:nvPr/>
        </p:nvSpPr>
        <p:spPr>
          <a:xfrm>
            <a:off x="3352800" y="4844609"/>
            <a:ext cx="5328592" cy="1524517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رســائــل الـخــطــأ</a:t>
            </a:r>
            <a:endParaRPr lang="fr-FR" sz="4000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1" name="Espace réservé du contenu 21"/>
          <p:cNvSpPr txBox="1">
            <a:spLocks/>
          </p:cNvSpPr>
          <p:nvPr/>
        </p:nvSpPr>
        <p:spPr>
          <a:xfrm>
            <a:off x="8664162" y="2683685"/>
            <a:ext cx="2109284" cy="99077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خَــلَــل</a:t>
            </a:r>
            <a:endParaRPr lang="fr-FR" sz="4000" dirty="0">
              <a:cs typeface="+mj-cs"/>
            </a:endParaRPr>
          </a:p>
        </p:txBody>
      </p:sp>
      <p:sp>
        <p:nvSpPr>
          <p:cNvPr id="32" name="Espace réservé du contenu 21"/>
          <p:cNvSpPr txBox="1">
            <a:spLocks/>
          </p:cNvSpPr>
          <p:nvPr/>
        </p:nvSpPr>
        <p:spPr>
          <a:xfrm>
            <a:off x="1296942" y="2683685"/>
            <a:ext cx="2109284" cy="99077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خَــلَــل</a:t>
            </a:r>
            <a:endParaRPr lang="fr-FR" sz="4000" dirty="0"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031941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5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8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3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13" grpId="0" animBg="1"/>
      <p:bldP spid="18" grpId="0" animBg="1"/>
      <p:bldP spid="17" grpId="0" animBg="1"/>
      <p:bldP spid="31" grpId="0" animBg="1"/>
      <p:bldP spid="32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>
                <a:solidFill>
                  <a:srgbClr val="FF0000"/>
                </a:solidFill>
                <a:cs typeface="+mj-cs"/>
              </a:rPr>
              <a:t> </a:t>
            </a:r>
            <a:r>
              <a:rPr lang="ar-DZ" sz="4000" b="1" u="sng" dirty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>
                <a:solidFill>
                  <a:srgbClr val="FF0000"/>
                </a:solidFill>
                <a:cs typeface="+mj-cs"/>
              </a:rPr>
              <a:t> :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( 2. أعـــراض </a:t>
            </a:r>
            <a:r>
              <a:rPr lang="ar-DZ" sz="4000" b="1" dirty="0">
                <a:solidFill>
                  <a:srgbClr val="FF0000"/>
                </a:solidFill>
                <a:cs typeface="+mj-cs"/>
              </a:rPr>
              <a:t>الإصــابــة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بـالــفــيــروســـات  -  تــابـع ) 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19/10/2024</a:t>
            </a:fld>
            <a:endParaRPr lang="fr-BE" dirty="0"/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625350" y="1412775"/>
            <a:ext cx="10814992" cy="494357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buFont typeface="Arial" pitchFamily="34" charset="0"/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─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	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بـعـض الــمـلــفــات ، تَـعَــذُّر 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أو 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 إلــى 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لا تُــفْــتَــحُ ولَا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تُــنَــفَّــذُ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─	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رســـائــل الـخـــطــأ </a:t>
            </a:r>
            <a:endParaRPr lang="ar-DZ" sz="40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328248" y="1691414"/>
            <a:ext cx="2447981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اِخْــتِــفَــاء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93743" y="1677967"/>
            <a:ext cx="244427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فــتــحــهـا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824192" y="2710042"/>
            <a:ext cx="2832119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تـحــويــلـهـا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956538" y="2696594"/>
            <a:ext cx="525658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اِخْــتِــصَــارَات  </a:t>
            </a:r>
            <a:r>
              <a:rPr lang="fr-FR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Raccourcis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5229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build="p" animBg="1"/>
      <p:bldP spid="7" grpId="0" animBg="1"/>
      <p:bldP spid="8" grpId="0" animBg="1"/>
      <p:bldP spid="13" grpId="0" animBg="1"/>
      <p:bldP spid="9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>
                <a:solidFill>
                  <a:srgbClr val="FF0000"/>
                </a:solidFill>
                <a:cs typeface="+mj-cs"/>
              </a:rPr>
              <a:t> </a:t>
            </a:r>
            <a:r>
              <a:rPr lang="ar-DZ" sz="4000" b="1" u="sng" dirty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>
                <a:solidFill>
                  <a:srgbClr val="FF0000"/>
                </a:solidFill>
                <a:cs typeface="+mj-cs"/>
              </a:rPr>
              <a:t> :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( 2. أعـــراض </a:t>
            </a:r>
            <a:r>
              <a:rPr lang="ar-DZ" sz="4000" b="1" dirty="0">
                <a:solidFill>
                  <a:srgbClr val="FF0000"/>
                </a:solidFill>
                <a:cs typeface="+mj-cs"/>
              </a:rPr>
              <a:t>الإصــابــة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بـالــفــيــروســـات  -  تــابـع ) 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19/10/2024</a:t>
            </a:fld>
            <a:endParaRPr lang="fr-BE" dirty="0"/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625350" y="1412775"/>
            <a:ext cx="10814992" cy="494357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buFont typeface="Arial" pitchFamily="34" charset="0"/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─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	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بـعـض الــمـلــفــات ، تَـعَــذُّر 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أو 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 إلــى 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لا تُــفْــتَــحُ ولَا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تُــنَــفَّــذُ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─	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رســـائــل الـخـــطــأ </a:t>
            </a:r>
            <a:endParaRPr lang="ar-DZ" sz="40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328248" y="1691414"/>
            <a:ext cx="2447981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اِخْــتِــفَــاء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93743" y="1677967"/>
            <a:ext cx="244427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فــتــحــهـا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824192" y="2710042"/>
            <a:ext cx="2832119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تـحــويــلـهـا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956538" y="2696594"/>
            <a:ext cx="525658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اِخْــتِــصَــارَات  </a:t>
            </a:r>
            <a:r>
              <a:rPr lang="fr-FR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Raccourcis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023992" y="4692426"/>
            <a:ext cx="4104165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تِــكْــرَار عَــــرْضِ 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727503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build="p" animBg="1"/>
      <p:bldP spid="7" grpId="0" animBg="1"/>
      <p:bldP spid="8" grpId="0" animBg="1"/>
      <p:bldP spid="13" grpId="0" animBg="1"/>
      <p:bldP spid="9" grpId="0" animBg="1"/>
      <p:bldP spid="10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sz="4800" b="1" dirty="0">
                <a:solidFill>
                  <a:srgbClr val="FF0000"/>
                </a:solidFill>
                <a:cs typeface="+mj-cs"/>
              </a:rPr>
              <a:t>3.	الــوقـــايـــة مـن 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الــفــيـــروســــات 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 smtClean="0">
                <a:cs typeface="+mj-cs"/>
              </a:rPr>
              <a:t>بـعــد </a:t>
            </a:r>
            <a:r>
              <a:rPr lang="ar-DZ" sz="4400" b="1" dirty="0" smtClean="0"/>
              <a:t>مـعــرفــة </a:t>
            </a:r>
            <a:r>
              <a:rPr lang="ar-DZ" sz="4400" b="1" dirty="0"/>
              <a:t>أعــراض الإصــابــة، فــمــا هــي </a:t>
            </a:r>
            <a:r>
              <a:rPr lang="ar-DZ" sz="4400" b="1" dirty="0" smtClean="0"/>
              <a:t>الـطُــرُق </a:t>
            </a:r>
            <a:r>
              <a:rPr lang="ar-DZ" sz="4400" b="1" dirty="0"/>
              <a:t>الَّـتِي تــســمــح لــنــا  بِـوِقَـــايَـــة الـحـــاســوب مـن الــفـــيـــروســـات ؟ </a:t>
            </a:r>
            <a:endParaRPr lang="ar-DZ" sz="44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5400" b="1" u="sng" dirty="0">
                <a:solidFill>
                  <a:srgbClr val="0070C0"/>
                </a:solidFill>
                <a:cs typeface="+mj-cs"/>
              </a:rPr>
              <a:t>نـشـاط </a:t>
            </a:r>
            <a:r>
              <a:rPr lang="ar-DZ" sz="5400" b="1" u="sng" dirty="0" smtClean="0">
                <a:solidFill>
                  <a:srgbClr val="0070C0"/>
                </a:solidFill>
                <a:cs typeface="+mj-cs"/>
              </a:rPr>
              <a:t>4</a:t>
            </a:r>
            <a:r>
              <a:rPr lang="ar-DZ" sz="5400" b="1" dirty="0" smtClean="0">
                <a:solidFill>
                  <a:srgbClr val="0070C0"/>
                </a:solidFill>
                <a:cs typeface="+mj-cs"/>
              </a:rPr>
              <a:t> :</a:t>
            </a:r>
            <a:endParaRPr lang="fr-FR" sz="5400" i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073648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/>
      <p:bldP spid="5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ســؤال </a:t>
            </a:r>
            <a:r>
              <a:rPr lang="ar-DZ" sz="3600" b="1" dirty="0">
                <a:solidFill>
                  <a:srgbClr val="FF0000"/>
                </a:solidFill>
                <a:cs typeface="+mj-cs"/>
              </a:rPr>
              <a:t>: 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هـل تَــلَــفُ </a:t>
            </a:r>
            <a:r>
              <a:rPr lang="ar-DZ" sz="3600" b="1" dirty="0">
                <a:solidFill>
                  <a:srgbClr val="FF0000"/>
                </a:solidFill>
                <a:cs typeface="+mj-cs"/>
              </a:rPr>
              <a:t>الـمـلـفـات 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رَاجِـعٌ دَائِـمًـا إلـى الـبـرامـج الـخــبــيــثـة ؟</a:t>
            </a:r>
            <a:endParaRPr lang="fr-FR" sz="36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19/10/2024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7608168" y="3544440"/>
            <a:ext cx="381642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الـبـرامـج الـخـبـيـثـة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09600" y="1699119"/>
            <a:ext cx="1081499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FF0000"/>
                </a:solidFill>
              </a:rPr>
              <a:t>ضَــيَــاعُ الـمــلــفــات </a:t>
            </a:r>
            <a:r>
              <a:rPr lang="ar-DZ" sz="4400" b="1" dirty="0" smtClean="0">
                <a:solidFill>
                  <a:srgbClr val="FF0000"/>
                </a:solidFill>
                <a:cs typeface="+mj-cs"/>
              </a:rPr>
              <a:t>قَــدْ يَــكُــون بِــسَــبَــبِ :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13422" y="3544440"/>
            <a:ext cx="412858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أخـطـار</a:t>
            </a:r>
            <a:r>
              <a:rPr lang="fr-FR" sz="3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3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تُـهَـدِّدُ الـحـاسـوب</a:t>
            </a:r>
            <a:endParaRPr lang="fr-FR" sz="38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8743" y="4158435"/>
            <a:ext cx="2505075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5" name="Connecteur droit avec flèche 14"/>
          <p:cNvCxnSpPr>
            <a:endCxn id="18" idx="3"/>
          </p:cNvCxnSpPr>
          <p:nvPr/>
        </p:nvCxnSpPr>
        <p:spPr>
          <a:xfrm flipH="1">
            <a:off x="4742004" y="2492896"/>
            <a:ext cx="1055994" cy="144843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necteur droit avec flèche 15"/>
          <p:cNvCxnSpPr>
            <a:endCxn id="6" idx="1"/>
          </p:cNvCxnSpPr>
          <p:nvPr/>
        </p:nvCxnSpPr>
        <p:spPr>
          <a:xfrm>
            <a:off x="6168008" y="2477137"/>
            <a:ext cx="1440160" cy="146419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Espace réservé du contenu 21"/>
          <p:cNvSpPr txBox="1">
            <a:spLocks/>
          </p:cNvSpPr>
          <p:nvPr/>
        </p:nvSpPr>
        <p:spPr>
          <a:xfrm>
            <a:off x="4228556" y="4826004"/>
            <a:ext cx="3577079" cy="1524517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sz="3900" b="1" dirty="0" smtClean="0">
                <a:solidFill>
                  <a:srgbClr val="FF0000"/>
                </a:solidFill>
                <a:cs typeface="+mj-cs"/>
              </a:rPr>
              <a:t>...............</a:t>
            </a:r>
            <a:endParaRPr lang="fr-FR" sz="3900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1" name="Espace réservé du contenu 21"/>
          <p:cNvSpPr txBox="1">
            <a:spLocks/>
          </p:cNvSpPr>
          <p:nvPr/>
        </p:nvSpPr>
        <p:spPr>
          <a:xfrm>
            <a:off x="7914995" y="4211157"/>
            <a:ext cx="3528392" cy="1231326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sz="3400" b="1" dirty="0" smtClean="0">
                <a:solidFill>
                  <a:srgbClr val="0070C0"/>
                </a:solidFill>
                <a:cs typeface="+mj-cs"/>
              </a:rPr>
              <a:t>................</a:t>
            </a:r>
            <a:endParaRPr lang="fr-FR" sz="3400" dirty="0">
              <a:cs typeface="+mj-cs"/>
            </a:endParaRPr>
          </a:p>
        </p:txBody>
      </p:sp>
      <p:sp>
        <p:nvSpPr>
          <p:cNvPr id="32" name="Espace réservé du contenu 21"/>
          <p:cNvSpPr txBox="1">
            <a:spLocks/>
          </p:cNvSpPr>
          <p:nvPr/>
        </p:nvSpPr>
        <p:spPr>
          <a:xfrm>
            <a:off x="291585" y="4211157"/>
            <a:ext cx="3835981" cy="2145195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lnSpc>
                <a:spcPct val="75000"/>
              </a:lnSpc>
              <a:buFont typeface="Arial" pitchFamily="34" charset="0"/>
              <a:buNone/>
            </a:pPr>
            <a:r>
              <a:rPr lang="ar-DZ" b="1" dirty="0" smtClean="0">
                <a:solidFill>
                  <a:srgbClr val="0070C0"/>
                </a:solidFill>
                <a:cs typeface="+mj-cs"/>
              </a:rPr>
              <a:t>.....................</a:t>
            </a:r>
            <a:endParaRPr lang="fr-FR" dirty="0"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0279327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7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0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5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13" grpId="0" animBg="1"/>
      <p:bldP spid="18" grpId="0" animBg="1"/>
      <p:bldP spid="17" grpId="0" animBg="1"/>
      <p:bldP spid="31" grpId="0" animBg="1"/>
      <p:bldP spid="32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ســؤال </a:t>
            </a:r>
            <a:r>
              <a:rPr lang="ar-DZ" sz="3600" b="1" dirty="0">
                <a:solidFill>
                  <a:srgbClr val="FF0000"/>
                </a:solidFill>
                <a:cs typeface="+mj-cs"/>
              </a:rPr>
              <a:t>: 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هـل تَــلَــفُ </a:t>
            </a:r>
            <a:r>
              <a:rPr lang="ar-DZ" sz="3600" b="1" dirty="0">
                <a:solidFill>
                  <a:srgbClr val="FF0000"/>
                </a:solidFill>
                <a:cs typeface="+mj-cs"/>
              </a:rPr>
              <a:t>الـمـلـفـات 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رَاجِـعٌ دَائِـمًـا إلـى الـبـرامـج الـخــبــيــثـة ؟</a:t>
            </a:r>
            <a:endParaRPr lang="fr-FR" sz="36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19/10/2024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7608168" y="3544440"/>
            <a:ext cx="381642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الـبـرامـج الـخـبـيـثـة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09600" y="1699119"/>
            <a:ext cx="1081499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FF0000"/>
                </a:solidFill>
              </a:rPr>
              <a:t>ضَــيَــاعُ الـمــلــفــات </a:t>
            </a:r>
            <a:r>
              <a:rPr lang="ar-DZ" sz="4400" b="1" dirty="0" smtClean="0">
                <a:solidFill>
                  <a:srgbClr val="FF0000"/>
                </a:solidFill>
                <a:cs typeface="+mj-cs"/>
              </a:rPr>
              <a:t>قَــدْ يَــكُــون بِــسَــبَــبِ :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13422" y="3544440"/>
            <a:ext cx="412858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أخـطـار</a:t>
            </a:r>
            <a:r>
              <a:rPr lang="fr-FR" sz="3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3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تُـهَـدِّدُ الـحـاسـوب</a:t>
            </a:r>
            <a:endParaRPr lang="fr-FR" sz="38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8743" y="4158435"/>
            <a:ext cx="2505075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5" name="Connecteur droit avec flèche 14"/>
          <p:cNvCxnSpPr>
            <a:endCxn id="18" idx="3"/>
          </p:cNvCxnSpPr>
          <p:nvPr/>
        </p:nvCxnSpPr>
        <p:spPr>
          <a:xfrm flipH="1">
            <a:off x="4742004" y="2492896"/>
            <a:ext cx="1055994" cy="144843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necteur droit avec flèche 15"/>
          <p:cNvCxnSpPr>
            <a:endCxn id="6" idx="1"/>
          </p:cNvCxnSpPr>
          <p:nvPr/>
        </p:nvCxnSpPr>
        <p:spPr>
          <a:xfrm>
            <a:off x="6168008" y="2477137"/>
            <a:ext cx="1440160" cy="146419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Espace réservé du contenu 21"/>
          <p:cNvSpPr txBox="1">
            <a:spLocks/>
          </p:cNvSpPr>
          <p:nvPr/>
        </p:nvSpPr>
        <p:spPr>
          <a:xfrm>
            <a:off x="4228556" y="4826004"/>
            <a:ext cx="3577079" cy="1524517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3900" b="1" dirty="0">
                <a:solidFill>
                  <a:srgbClr val="FF0000"/>
                </a:solidFill>
                <a:cs typeface="Times New Roman" panose="02020603050405020304" pitchFamily="18" charset="0"/>
              </a:rPr>
              <a:t>...............</a:t>
            </a:r>
            <a:endParaRPr lang="fr-FR" sz="3900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1" name="Espace réservé du contenu 21"/>
          <p:cNvSpPr txBox="1">
            <a:spLocks/>
          </p:cNvSpPr>
          <p:nvPr/>
        </p:nvSpPr>
        <p:spPr>
          <a:xfrm>
            <a:off x="7914995" y="4211157"/>
            <a:ext cx="3528392" cy="1231326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sz="3400" b="1" dirty="0" smtClean="0">
                <a:solidFill>
                  <a:srgbClr val="0070C0"/>
                </a:solidFill>
                <a:cs typeface="+mj-cs"/>
              </a:rPr>
              <a:t>بـمـخـتـلـف أنــواعــهـا</a:t>
            </a:r>
            <a:endParaRPr lang="fr-FR" sz="3400" dirty="0">
              <a:cs typeface="+mj-cs"/>
            </a:endParaRPr>
          </a:p>
        </p:txBody>
      </p:sp>
      <p:sp>
        <p:nvSpPr>
          <p:cNvPr id="32" name="Espace réservé du contenu 21"/>
          <p:cNvSpPr txBox="1">
            <a:spLocks/>
          </p:cNvSpPr>
          <p:nvPr/>
        </p:nvSpPr>
        <p:spPr>
          <a:xfrm>
            <a:off x="291585" y="4211157"/>
            <a:ext cx="3835981" cy="2145195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lnSpc>
                <a:spcPct val="75000"/>
              </a:lnSpc>
              <a:buFont typeface="Arial" pitchFamily="34" charset="0"/>
              <a:buNone/>
            </a:pPr>
            <a:r>
              <a:rPr lang="ar-DZ" b="1" dirty="0" smtClean="0">
                <a:solidFill>
                  <a:srgbClr val="0070C0"/>
                </a:solidFill>
                <a:cs typeface="+mj-cs"/>
              </a:rPr>
              <a:t>اضطرابات التيار، الحـرارة المرتفعة الـســوائــل ، الـصـدمـات ...</a:t>
            </a:r>
            <a:endParaRPr lang="fr-FR" dirty="0"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6518579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7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0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5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13" grpId="0" animBg="1"/>
      <p:bldP spid="18" grpId="0" animBg="1"/>
      <p:bldP spid="17" grpId="0" animBg="1"/>
      <p:bldP spid="31" grpId="0" animBg="1"/>
      <p:bldP spid="32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ســؤال </a:t>
            </a:r>
            <a:r>
              <a:rPr lang="ar-DZ" sz="3600" b="1" dirty="0">
                <a:solidFill>
                  <a:srgbClr val="FF0000"/>
                </a:solidFill>
                <a:cs typeface="+mj-cs"/>
              </a:rPr>
              <a:t>: 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هـل تَــلَــفُ </a:t>
            </a:r>
            <a:r>
              <a:rPr lang="ar-DZ" sz="3600" b="1" dirty="0">
                <a:solidFill>
                  <a:srgbClr val="FF0000"/>
                </a:solidFill>
                <a:cs typeface="+mj-cs"/>
              </a:rPr>
              <a:t>الـمـلـفـات 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رَاجِـعٌ دَائِـمًـا إلـى الـبـرامـج الـخــبــيــثـة ؟</a:t>
            </a:r>
            <a:endParaRPr lang="fr-FR" sz="36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19/10/2024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7608168" y="3544440"/>
            <a:ext cx="381642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الـبـرامـج الـخـبـيـثـة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09600" y="1699119"/>
            <a:ext cx="1081499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FF0000"/>
                </a:solidFill>
              </a:rPr>
              <a:t>ضَــيَــاعُ الـمــلــفــات </a:t>
            </a:r>
            <a:r>
              <a:rPr lang="ar-DZ" sz="4400" b="1" dirty="0" smtClean="0">
                <a:solidFill>
                  <a:srgbClr val="FF0000"/>
                </a:solidFill>
                <a:cs typeface="+mj-cs"/>
              </a:rPr>
              <a:t>قَــدْ يَــكُــون بِــسَــبَــبِ :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13422" y="3544440"/>
            <a:ext cx="412858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أخـطـار</a:t>
            </a:r>
            <a:r>
              <a:rPr lang="fr-FR" sz="3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3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تُـهَـدِّدُ الـحـاسـوب</a:t>
            </a:r>
            <a:endParaRPr lang="fr-FR" sz="38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8743" y="4158435"/>
            <a:ext cx="2505075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5" name="Connecteur droit avec flèche 14"/>
          <p:cNvCxnSpPr>
            <a:endCxn id="18" idx="3"/>
          </p:cNvCxnSpPr>
          <p:nvPr/>
        </p:nvCxnSpPr>
        <p:spPr>
          <a:xfrm flipH="1">
            <a:off x="4742004" y="2492896"/>
            <a:ext cx="1055994" cy="144843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necteur droit avec flèche 15"/>
          <p:cNvCxnSpPr>
            <a:endCxn id="6" idx="1"/>
          </p:cNvCxnSpPr>
          <p:nvPr/>
        </p:nvCxnSpPr>
        <p:spPr>
          <a:xfrm>
            <a:off x="6168008" y="2477137"/>
            <a:ext cx="1440160" cy="146419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Espace réservé du contenu 21"/>
          <p:cNvSpPr txBox="1">
            <a:spLocks/>
          </p:cNvSpPr>
          <p:nvPr/>
        </p:nvSpPr>
        <p:spPr>
          <a:xfrm>
            <a:off x="4228556" y="4826004"/>
            <a:ext cx="3577079" cy="1524517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sz="3900" b="1" dirty="0" smtClean="0">
                <a:solidFill>
                  <a:srgbClr val="FF0000"/>
                </a:solidFill>
                <a:cs typeface="+mj-cs"/>
              </a:rPr>
              <a:t>نُـــسَــخ اِحْــتِــيـَـاطِـيَـة</a:t>
            </a:r>
            <a:endParaRPr lang="fr-FR" sz="3900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1" name="Espace réservé du contenu 21"/>
          <p:cNvSpPr txBox="1">
            <a:spLocks/>
          </p:cNvSpPr>
          <p:nvPr/>
        </p:nvSpPr>
        <p:spPr>
          <a:xfrm>
            <a:off x="7914995" y="4211157"/>
            <a:ext cx="3528392" cy="1231326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sz="3400" b="1" dirty="0" smtClean="0">
                <a:solidFill>
                  <a:srgbClr val="0070C0"/>
                </a:solidFill>
                <a:cs typeface="+mj-cs"/>
              </a:rPr>
              <a:t>بـمـخـتـلـف أنــواعــهـا</a:t>
            </a:r>
            <a:endParaRPr lang="fr-FR" sz="3400" dirty="0">
              <a:cs typeface="+mj-cs"/>
            </a:endParaRPr>
          </a:p>
        </p:txBody>
      </p:sp>
      <p:sp>
        <p:nvSpPr>
          <p:cNvPr id="32" name="Espace réservé du contenu 21"/>
          <p:cNvSpPr txBox="1">
            <a:spLocks/>
          </p:cNvSpPr>
          <p:nvPr/>
        </p:nvSpPr>
        <p:spPr>
          <a:xfrm>
            <a:off x="291585" y="4211157"/>
            <a:ext cx="3835981" cy="2145195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lnSpc>
                <a:spcPct val="75000"/>
              </a:lnSpc>
              <a:buFont typeface="Arial" pitchFamily="34" charset="0"/>
              <a:buNone/>
            </a:pPr>
            <a:r>
              <a:rPr lang="ar-DZ" b="1" dirty="0" smtClean="0">
                <a:solidFill>
                  <a:srgbClr val="0070C0"/>
                </a:solidFill>
                <a:cs typeface="+mj-cs"/>
              </a:rPr>
              <a:t>اضطرابات التيار، الحـرارة المرتفعة الـســوائــل ، الـصـدمـات ...</a:t>
            </a:r>
            <a:endParaRPr lang="fr-FR" dirty="0"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54494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7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0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5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13" grpId="0" animBg="1"/>
      <p:bldP spid="18" grpId="0" animBg="1"/>
      <p:bldP spid="17" grpId="0" animBg="1"/>
      <p:bldP spid="31" grpId="0" animBg="1"/>
      <p:bldP spid="32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>
                <a:solidFill>
                  <a:srgbClr val="FF0000"/>
                </a:solidFill>
                <a:cs typeface="+mj-cs"/>
              </a:rPr>
              <a:t> </a:t>
            </a:r>
            <a:r>
              <a:rPr lang="ar-DZ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: ( نَــشَـاط 4  –  </a:t>
            </a:r>
            <a:r>
              <a:rPr lang="ar-DZ" sz="4000" b="1" dirty="0">
                <a:solidFill>
                  <a:srgbClr val="FF0000"/>
                </a:solidFill>
              </a:rPr>
              <a:t>الــوقـــايـــة مـن  </a:t>
            </a:r>
            <a:r>
              <a:rPr lang="ar-DZ" sz="4000" b="1" dirty="0" smtClean="0">
                <a:solidFill>
                  <a:srgbClr val="FF0000"/>
                </a:solidFill>
              </a:rPr>
              <a:t>الــفــيـــروســــات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) 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19/10/2024</a:t>
            </a:fld>
            <a:endParaRPr lang="fr-BE" dirty="0"/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625350" y="1412775"/>
            <a:ext cx="10814992" cy="494357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buFont typeface="Arial" pitchFamily="34" charset="0"/>
              <a:buNone/>
            </a:pPr>
            <a:endParaRPr lang="ar-DZ" sz="800" b="1" dirty="0" smtClean="0">
              <a:cs typeface="+mj-cs"/>
            </a:endParaRPr>
          </a:p>
          <a:p>
            <a:pPr marL="0" indent="0" algn="just" rtl="1">
              <a:buFont typeface="Arial" pitchFamily="34" charset="0"/>
              <a:buNone/>
            </a:pPr>
            <a:endParaRPr lang="ar-DZ" sz="800" b="1" dirty="0">
              <a:cs typeface="+mj-cs"/>
            </a:endParaRPr>
          </a:p>
          <a:p>
            <a:pPr marL="0" indent="0" algn="just" rtl="1">
              <a:buFont typeface="Arial" pitchFamily="34" charset="0"/>
              <a:buNone/>
            </a:pPr>
            <a:endParaRPr lang="ar-DZ" sz="800" b="1" dirty="0" smtClean="0">
              <a:cs typeface="+mj-cs"/>
            </a:endParaRPr>
          </a:p>
          <a:p>
            <a:pPr marL="0" indent="0" algn="just" rtl="1">
              <a:lnSpc>
                <a:spcPct val="165000"/>
              </a:lnSpc>
              <a:buNone/>
            </a:pP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─</a:t>
            </a:r>
            <a:r>
              <a:rPr lang="ar-DZ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	</a:t>
            </a:r>
            <a:r>
              <a:rPr lang="ar-DZ" sz="4400" b="1" u="dbl" dirty="0">
                <a:cs typeface="+mj-cs"/>
              </a:rPr>
              <a:t> </a:t>
            </a:r>
            <a:r>
              <a:rPr lang="ar-DZ" sz="4400" b="1" u="dbl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إنــشــاء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احــتــيــاطــيـة 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الــمُــهِـــمَّــة عــلـى  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( </a:t>
            </a:r>
            <a:r>
              <a:rPr lang="en-US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DVD</a:t>
            </a:r>
            <a:r>
              <a:rPr lang="ar-DZ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... 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)</a:t>
            </a:r>
          </a:p>
          <a:p>
            <a:pPr marL="0" indent="0" algn="just" rtl="1">
              <a:lnSpc>
                <a:spcPct val="165000"/>
              </a:lnSpc>
              <a:buNone/>
            </a:pPr>
            <a:endParaRPr lang="ar-DZ" sz="4400" b="1" dirty="0" smtClean="0">
              <a:cs typeface="+mj-cs"/>
            </a:endParaRPr>
          </a:p>
          <a:p>
            <a:pPr marL="0" indent="0" algn="just" rtl="1">
              <a:lnSpc>
                <a:spcPct val="165000"/>
              </a:lnSpc>
              <a:buNone/>
            </a:pPr>
            <a:endParaRPr lang="fr-FR" sz="3800" b="1" dirty="0">
              <a:solidFill>
                <a:srgbClr val="00206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588302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build="p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>
                <a:solidFill>
                  <a:srgbClr val="FF0000"/>
                </a:solidFill>
                <a:cs typeface="+mj-cs"/>
              </a:rPr>
              <a:t> </a:t>
            </a:r>
            <a:r>
              <a:rPr lang="ar-DZ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: ( نَــشَـاط 4  –  </a:t>
            </a:r>
            <a:r>
              <a:rPr lang="ar-DZ" sz="4000" b="1" dirty="0">
                <a:solidFill>
                  <a:srgbClr val="FF0000"/>
                </a:solidFill>
              </a:rPr>
              <a:t>الــوقـــايـــة مـن  </a:t>
            </a:r>
            <a:r>
              <a:rPr lang="ar-DZ" sz="4000" b="1" dirty="0" smtClean="0">
                <a:solidFill>
                  <a:srgbClr val="FF0000"/>
                </a:solidFill>
              </a:rPr>
              <a:t>الــفــيـــروســــات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) 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19/10/2024</a:t>
            </a:fld>
            <a:endParaRPr lang="fr-BE" dirty="0"/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625350" y="1412775"/>
            <a:ext cx="10814992" cy="494357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buFont typeface="Arial" pitchFamily="34" charset="0"/>
              <a:buNone/>
            </a:pPr>
            <a:endParaRPr lang="ar-DZ" sz="800" b="1" dirty="0" smtClean="0">
              <a:cs typeface="+mj-cs"/>
            </a:endParaRPr>
          </a:p>
          <a:p>
            <a:pPr marL="0" indent="0" algn="just" rtl="1">
              <a:buFont typeface="Arial" pitchFamily="34" charset="0"/>
              <a:buNone/>
            </a:pPr>
            <a:endParaRPr lang="ar-DZ" sz="800" b="1" dirty="0">
              <a:cs typeface="+mj-cs"/>
            </a:endParaRPr>
          </a:p>
          <a:p>
            <a:pPr marL="0" indent="0" algn="just" rtl="1">
              <a:buFont typeface="Arial" pitchFamily="34" charset="0"/>
              <a:buNone/>
            </a:pPr>
            <a:endParaRPr lang="ar-DZ" sz="800" b="1" dirty="0" smtClean="0">
              <a:cs typeface="+mj-cs"/>
            </a:endParaRPr>
          </a:p>
          <a:p>
            <a:pPr marL="0" indent="0" algn="just" rtl="1">
              <a:lnSpc>
                <a:spcPct val="165000"/>
              </a:lnSpc>
              <a:buNone/>
            </a:pP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─</a:t>
            </a:r>
            <a:r>
              <a:rPr lang="ar-DZ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	</a:t>
            </a:r>
            <a:r>
              <a:rPr lang="ar-DZ" sz="4400" b="1" u="dbl" dirty="0">
                <a:cs typeface="+mj-cs"/>
              </a:rPr>
              <a:t> </a:t>
            </a:r>
            <a:r>
              <a:rPr lang="ar-DZ" sz="4400" b="1" u="dbl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إنــشــاء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احــتــيــاطــيـة 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الــمُــهِـــمَّــة عــلـى  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( </a:t>
            </a:r>
            <a:r>
              <a:rPr lang="en-US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DVD</a:t>
            </a:r>
            <a:r>
              <a:rPr lang="ar-DZ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... 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)</a:t>
            </a:r>
          </a:p>
          <a:p>
            <a:pPr marL="0" indent="0" algn="just" rtl="1">
              <a:lnSpc>
                <a:spcPct val="165000"/>
              </a:lnSpc>
              <a:buNone/>
            </a:pPr>
            <a:endParaRPr lang="ar-DZ" sz="4400" b="1" dirty="0" smtClean="0">
              <a:cs typeface="+mj-cs"/>
            </a:endParaRPr>
          </a:p>
          <a:p>
            <a:pPr marL="0" indent="0" algn="just" rtl="1">
              <a:lnSpc>
                <a:spcPct val="165000"/>
              </a:lnSpc>
              <a:buNone/>
            </a:pPr>
            <a:endParaRPr lang="fr-FR" sz="3800" b="1" dirty="0">
              <a:solidFill>
                <a:srgbClr val="00206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384032" y="2121098"/>
            <a:ext cx="208823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نُــسَــخًــا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817384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build="p" animBg="1"/>
      <p:bldP spid="7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>
                <a:solidFill>
                  <a:srgbClr val="FF0000"/>
                </a:solidFill>
                <a:cs typeface="+mj-cs"/>
              </a:rPr>
              <a:t> </a:t>
            </a:r>
            <a:r>
              <a:rPr lang="ar-DZ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: ( نَــشَـاط 4  –  </a:t>
            </a:r>
            <a:r>
              <a:rPr lang="ar-DZ" sz="4000" b="1" dirty="0">
                <a:solidFill>
                  <a:srgbClr val="FF0000"/>
                </a:solidFill>
              </a:rPr>
              <a:t>الــوقـــايـــة مـن  </a:t>
            </a:r>
            <a:r>
              <a:rPr lang="ar-DZ" sz="4000" b="1" dirty="0" smtClean="0">
                <a:solidFill>
                  <a:srgbClr val="FF0000"/>
                </a:solidFill>
              </a:rPr>
              <a:t>الــفــيـــروســــات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) 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19/10/2024</a:t>
            </a:fld>
            <a:endParaRPr lang="fr-BE" dirty="0"/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625350" y="1412775"/>
            <a:ext cx="10814992" cy="494357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buFont typeface="Arial" pitchFamily="34" charset="0"/>
              <a:buNone/>
            </a:pPr>
            <a:endParaRPr lang="ar-DZ" sz="800" b="1" dirty="0" smtClean="0">
              <a:cs typeface="+mj-cs"/>
            </a:endParaRPr>
          </a:p>
          <a:p>
            <a:pPr marL="0" indent="0" algn="just" rtl="1">
              <a:buFont typeface="Arial" pitchFamily="34" charset="0"/>
              <a:buNone/>
            </a:pPr>
            <a:endParaRPr lang="ar-DZ" sz="800" b="1" dirty="0">
              <a:cs typeface="+mj-cs"/>
            </a:endParaRPr>
          </a:p>
          <a:p>
            <a:pPr marL="0" indent="0" algn="just" rtl="1">
              <a:buFont typeface="Arial" pitchFamily="34" charset="0"/>
              <a:buNone/>
            </a:pPr>
            <a:endParaRPr lang="ar-DZ" sz="800" b="1" dirty="0" smtClean="0">
              <a:cs typeface="+mj-cs"/>
            </a:endParaRPr>
          </a:p>
          <a:p>
            <a:pPr marL="0" indent="0" algn="just" rtl="1">
              <a:lnSpc>
                <a:spcPct val="165000"/>
              </a:lnSpc>
              <a:buNone/>
            </a:pP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─</a:t>
            </a:r>
            <a:r>
              <a:rPr lang="ar-DZ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	</a:t>
            </a:r>
            <a:r>
              <a:rPr lang="ar-DZ" sz="4400" b="1" u="dbl" dirty="0">
                <a:cs typeface="+mj-cs"/>
              </a:rPr>
              <a:t> </a:t>
            </a:r>
            <a:r>
              <a:rPr lang="ar-DZ" sz="4400" b="1" u="dbl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إنــشــاء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احــتــيــاطــيـة 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الــمُــهِـــمَّــة عــلـى  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( </a:t>
            </a:r>
            <a:r>
              <a:rPr lang="en-US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DVD</a:t>
            </a:r>
            <a:r>
              <a:rPr lang="ar-DZ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... 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)</a:t>
            </a:r>
          </a:p>
          <a:p>
            <a:pPr marL="0" indent="0" algn="just" rtl="1">
              <a:lnSpc>
                <a:spcPct val="165000"/>
              </a:lnSpc>
              <a:buNone/>
            </a:pPr>
            <a:endParaRPr lang="ar-DZ" sz="4400" b="1" dirty="0" smtClean="0">
              <a:cs typeface="+mj-cs"/>
            </a:endParaRPr>
          </a:p>
          <a:p>
            <a:pPr marL="0" indent="0" algn="just" rtl="1">
              <a:lnSpc>
                <a:spcPct val="165000"/>
              </a:lnSpc>
              <a:buNone/>
            </a:pPr>
            <a:endParaRPr lang="fr-FR" sz="3800" b="1" dirty="0">
              <a:solidFill>
                <a:srgbClr val="00206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384032" y="2121098"/>
            <a:ext cx="208823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نُــسَــخًــا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22513" y="2121097"/>
            <a:ext cx="244427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للـمــلــفــات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0272783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build="p" animBg="1"/>
      <p:bldP spid="7" grpId="0" animBg="1"/>
      <p:bldP spid="8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>
                <a:solidFill>
                  <a:srgbClr val="FF0000"/>
                </a:solidFill>
                <a:cs typeface="+mj-cs"/>
              </a:rPr>
              <a:t> </a:t>
            </a:r>
            <a:r>
              <a:rPr lang="ar-DZ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: ( نَــشَـاط 4  –  </a:t>
            </a:r>
            <a:r>
              <a:rPr lang="ar-DZ" sz="4000" b="1" dirty="0">
                <a:solidFill>
                  <a:srgbClr val="FF0000"/>
                </a:solidFill>
              </a:rPr>
              <a:t>الــوقـــايـــة مـن  </a:t>
            </a:r>
            <a:r>
              <a:rPr lang="ar-DZ" sz="4000" b="1" dirty="0" smtClean="0">
                <a:solidFill>
                  <a:srgbClr val="FF0000"/>
                </a:solidFill>
              </a:rPr>
              <a:t>الــفــيـــروســــات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) 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19/10/2024</a:t>
            </a:fld>
            <a:endParaRPr lang="fr-BE" dirty="0"/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625350" y="1412775"/>
            <a:ext cx="10814992" cy="494357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buFont typeface="Arial" pitchFamily="34" charset="0"/>
              <a:buNone/>
            </a:pPr>
            <a:endParaRPr lang="ar-DZ" sz="800" b="1" dirty="0" smtClean="0">
              <a:cs typeface="+mj-cs"/>
            </a:endParaRPr>
          </a:p>
          <a:p>
            <a:pPr marL="0" indent="0" algn="just" rtl="1">
              <a:buFont typeface="Arial" pitchFamily="34" charset="0"/>
              <a:buNone/>
            </a:pPr>
            <a:endParaRPr lang="ar-DZ" sz="800" b="1" dirty="0">
              <a:cs typeface="+mj-cs"/>
            </a:endParaRPr>
          </a:p>
          <a:p>
            <a:pPr marL="0" indent="0" algn="just" rtl="1">
              <a:buFont typeface="Arial" pitchFamily="34" charset="0"/>
              <a:buNone/>
            </a:pPr>
            <a:endParaRPr lang="ar-DZ" sz="800" b="1" dirty="0" smtClean="0">
              <a:cs typeface="+mj-cs"/>
            </a:endParaRPr>
          </a:p>
          <a:p>
            <a:pPr marL="0" indent="0" algn="just" rtl="1">
              <a:lnSpc>
                <a:spcPct val="165000"/>
              </a:lnSpc>
              <a:buNone/>
            </a:pP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─</a:t>
            </a:r>
            <a:r>
              <a:rPr lang="ar-DZ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	</a:t>
            </a:r>
            <a:r>
              <a:rPr lang="ar-DZ" sz="4400" b="1" u="dbl" dirty="0">
                <a:cs typeface="+mj-cs"/>
              </a:rPr>
              <a:t> </a:t>
            </a:r>
            <a:r>
              <a:rPr lang="ar-DZ" sz="4400" b="1" u="dbl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إنــشــاء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احــتــيــاطــيـة 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الــمُــهِـــمَّــة عــلـى  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( </a:t>
            </a:r>
            <a:r>
              <a:rPr lang="en-US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DVD</a:t>
            </a:r>
            <a:r>
              <a:rPr lang="ar-DZ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... 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)</a:t>
            </a:r>
          </a:p>
          <a:p>
            <a:pPr marL="0" indent="0" algn="just" rtl="1">
              <a:lnSpc>
                <a:spcPct val="165000"/>
              </a:lnSpc>
              <a:buNone/>
            </a:pPr>
            <a:endParaRPr lang="ar-DZ" sz="4400" b="1" dirty="0" smtClean="0">
              <a:cs typeface="+mj-cs"/>
            </a:endParaRPr>
          </a:p>
          <a:p>
            <a:pPr marL="0" indent="0" algn="just" rtl="1">
              <a:lnSpc>
                <a:spcPct val="165000"/>
              </a:lnSpc>
              <a:buNone/>
            </a:pPr>
            <a:endParaRPr lang="fr-FR" sz="3800" b="1" dirty="0">
              <a:solidFill>
                <a:srgbClr val="00206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384032" y="2121098"/>
            <a:ext cx="208823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نُــسَــخًــا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22513" y="2121097"/>
            <a:ext cx="244427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للـمــلــفــات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181010" y="3224734"/>
            <a:ext cx="450918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أقـــراص خـــارجــيــة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5670751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build="p" animBg="1"/>
      <p:bldP spid="7" grpId="0" animBg="1"/>
      <p:bldP spid="8" grpId="0" animBg="1"/>
      <p:bldP spid="13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ســؤال </a:t>
            </a:r>
            <a:r>
              <a:rPr lang="ar-DZ" sz="3600" b="1" dirty="0">
                <a:solidFill>
                  <a:srgbClr val="FF0000"/>
                </a:solidFill>
                <a:cs typeface="+mj-cs"/>
              </a:rPr>
              <a:t>: 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مــا هـي الـبــرامـج الَّـتِي تـلْـزَمُـنَـا لـحــمــايــة </a:t>
            </a:r>
            <a:r>
              <a:rPr lang="ar-DZ" sz="3600" b="1" dirty="0">
                <a:solidFill>
                  <a:srgbClr val="FF0000"/>
                </a:solidFill>
              </a:rPr>
              <a:t>الـحــاســوب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 ؟</a:t>
            </a:r>
            <a:endParaRPr lang="fr-FR" sz="36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19/10/2024</a:t>
            </a:fld>
            <a:endParaRPr lang="fr-BE" dirty="0"/>
          </a:p>
        </p:txBody>
      </p:sp>
      <p:sp>
        <p:nvSpPr>
          <p:cNvPr id="13" name="Rectangle 12"/>
          <p:cNvSpPr/>
          <p:nvPr/>
        </p:nvSpPr>
        <p:spPr>
          <a:xfrm>
            <a:off x="609600" y="1699119"/>
            <a:ext cx="1081499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200" b="1" dirty="0">
                <a:solidFill>
                  <a:srgbClr val="FF0000"/>
                </a:solidFill>
                <a:cs typeface="+mj-cs"/>
              </a:rPr>
              <a:t>حــمــايــة الـحــاســوب يــتــطــلــب </a:t>
            </a:r>
            <a:r>
              <a:rPr lang="ar-DZ" sz="4200" b="1" dirty="0" smtClean="0">
                <a:solidFill>
                  <a:srgbClr val="FF0000"/>
                </a:solidFill>
                <a:cs typeface="+mj-cs"/>
              </a:rPr>
              <a:t>بــرامـج الـحــمــايــة :</a:t>
            </a:r>
            <a:endParaRPr lang="fr-FR" sz="4200" b="1" dirty="0">
              <a:solidFill>
                <a:srgbClr val="0070C0"/>
              </a:solidFill>
              <a:cs typeface="+mj-cs"/>
            </a:endParaRPr>
          </a:p>
        </p:txBody>
      </p:sp>
      <p:pic>
        <p:nvPicPr>
          <p:cNvPr id="12" name="Picture 11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8743" y="4158435"/>
            <a:ext cx="2505075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5" name="Connecteur droit avec flèche 14"/>
          <p:cNvCxnSpPr>
            <a:stCxn id="13" idx="2"/>
          </p:cNvCxnSpPr>
          <p:nvPr/>
        </p:nvCxnSpPr>
        <p:spPr>
          <a:xfrm flipH="1">
            <a:off x="2104566" y="2492896"/>
            <a:ext cx="3912530" cy="113183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necteur droit avec flèche 15"/>
          <p:cNvCxnSpPr/>
          <p:nvPr/>
        </p:nvCxnSpPr>
        <p:spPr>
          <a:xfrm>
            <a:off x="5986010" y="2477137"/>
            <a:ext cx="3771544" cy="112350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Espace réservé du contenu 21"/>
          <p:cNvSpPr txBox="1">
            <a:spLocks/>
          </p:cNvSpPr>
          <p:nvPr/>
        </p:nvSpPr>
        <p:spPr>
          <a:xfrm>
            <a:off x="3352800" y="4844609"/>
            <a:ext cx="5328592" cy="1524517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sz="3900" b="1" dirty="0" smtClean="0">
                <a:solidFill>
                  <a:srgbClr val="0070C0"/>
                </a:solidFill>
                <a:cs typeface="+mj-cs"/>
              </a:rPr>
              <a:t>..................</a:t>
            </a:r>
            <a:endParaRPr lang="fr-FR" sz="3900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31" name="Espace réservé du contenu 21"/>
          <p:cNvSpPr txBox="1">
            <a:spLocks/>
          </p:cNvSpPr>
          <p:nvPr/>
        </p:nvSpPr>
        <p:spPr>
          <a:xfrm>
            <a:off x="7974168" y="3639564"/>
            <a:ext cx="3528392" cy="1243966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sz="3400" b="1" dirty="0" smtClean="0">
                <a:solidFill>
                  <a:srgbClr val="0070C0"/>
                </a:solidFill>
                <a:cs typeface="+mj-cs"/>
              </a:rPr>
              <a:t>.................</a:t>
            </a:r>
            <a:endParaRPr lang="en-US" sz="3400" dirty="0">
              <a:cs typeface="+mj-cs"/>
            </a:endParaRPr>
          </a:p>
        </p:txBody>
      </p:sp>
      <p:sp>
        <p:nvSpPr>
          <p:cNvPr id="32" name="Espace réservé du contenu 21"/>
          <p:cNvSpPr txBox="1">
            <a:spLocks/>
          </p:cNvSpPr>
          <p:nvPr/>
        </p:nvSpPr>
        <p:spPr>
          <a:xfrm>
            <a:off x="523157" y="3638303"/>
            <a:ext cx="3455505" cy="1349898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b="1" dirty="0" smtClean="0">
                <a:solidFill>
                  <a:srgbClr val="0070C0"/>
                </a:solidFill>
                <a:cs typeface="+mj-cs"/>
              </a:rPr>
              <a:t>................</a:t>
            </a:r>
            <a:endParaRPr lang="en-US" dirty="0">
              <a:cs typeface="+mj-cs"/>
            </a:endParaRPr>
          </a:p>
        </p:txBody>
      </p:sp>
      <p:cxnSp>
        <p:nvCxnSpPr>
          <p:cNvPr id="14" name="Connecteur droit avec flèche 13"/>
          <p:cNvCxnSpPr/>
          <p:nvPr/>
        </p:nvCxnSpPr>
        <p:spPr>
          <a:xfrm>
            <a:off x="5986010" y="2492896"/>
            <a:ext cx="0" cy="250478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1019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7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2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7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3" grpId="0" animBg="1"/>
      <p:bldP spid="17" grpId="0" animBg="1"/>
      <p:bldP spid="31" grpId="0" animBg="1"/>
      <p:bldP spid="32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ســؤال </a:t>
            </a:r>
            <a:r>
              <a:rPr lang="ar-DZ" sz="3600" b="1" dirty="0">
                <a:solidFill>
                  <a:srgbClr val="FF0000"/>
                </a:solidFill>
                <a:cs typeface="+mj-cs"/>
              </a:rPr>
              <a:t>: 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مــا هـي الـبــرامـج الَّـتِي تـلْـزَمُـنَـا لـحــمــايــة </a:t>
            </a:r>
            <a:r>
              <a:rPr lang="ar-DZ" sz="3600" b="1" dirty="0">
                <a:solidFill>
                  <a:srgbClr val="FF0000"/>
                </a:solidFill>
              </a:rPr>
              <a:t>الـحــاســوب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 ؟</a:t>
            </a:r>
            <a:endParaRPr lang="fr-FR" sz="36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19/10/2024</a:t>
            </a:fld>
            <a:endParaRPr lang="fr-BE" dirty="0"/>
          </a:p>
        </p:txBody>
      </p:sp>
      <p:sp>
        <p:nvSpPr>
          <p:cNvPr id="13" name="Rectangle 12"/>
          <p:cNvSpPr/>
          <p:nvPr/>
        </p:nvSpPr>
        <p:spPr>
          <a:xfrm>
            <a:off x="609600" y="1699119"/>
            <a:ext cx="1081499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200" b="1" dirty="0">
                <a:solidFill>
                  <a:srgbClr val="FF0000"/>
                </a:solidFill>
                <a:cs typeface="+mj-cs"/>
              </a:rPr>
              <a:t>حــمــايــة الـحــاســوب يــتــطــلــب </a:t>
            </a:r>
            <a:r>
              <a:rPr lang="ar-DZ" sz="4200" b="1" dirty="0" smtClean="0">
                <a:solidFill>
                  <a:srgbClr val="FF0000"/>
                </a:solidFill>
                <a:cs typeface="+mj-cs"/>
              </a:rPr>
              <a:t>بــرامـج الـحــمــايــة :</a:t>
            </a:r>
            <a:endParaRPr lang="fr-FR" sz="4200" b="1" dirty="0">
              <a:solidFill>
                <a:srgbClr val="0070C0"/>
              </a:solidFill>
              <a:cs typeface="+mj-cs"/>
            </a:endParaRPr>
          </a:p>
        </p:txBody>
      </p:sp>
      <p:pic>
        <p:nvPicPr>
          <p:cNvPr id="12" name="Picture 11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8743" y="4158435"/>
            <a:ext cx="2505075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5" name="Connecteur droit avec flèche 14"/>
          <p:cNvCxnSpPr>
            <a:stCxn id="13" idx="2"/>
          </p:cNvCxnSpPr>
          <p:nvPr/>
        </p:nvCxnSpPr>
        <p:spPr>
          <a:xfrm flipH="1">
            <a:off x="2104566" y="2492896"/>
            <a:ext cx="3912530" cy="113183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necteur droit avec flèche 15"/>
          <p:cNvCxnSpPr/>
          <p:nvPr/>
        </p:nvCxnSpPr>
        <p:spPr>
          <a:xfrm>
            <a:off x="5986010" y="2477137"/>
            <a:ext cx="3771544" cy="112350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Espace réservé du contenu 21"/>
          <p:cNvSpPr txBox="1">
            <a:spLocks/>
          </p:cNvSpPr>
          <p:nvPr/>
        </p:nvSpPr>
        <p:spPr>
          <a:xfrm>
            <a:off x="3352800" y="4844609"/>
            <a:ext cx="5328592" cy="1524517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fr-FR" sz="3900" b="1" dirty="0" smtClean="0">
                <a:solidFill>
                  <a:srgbClr val="0070C0"/>
                </a:solidFill>
                <a:cs typeface="+mj-cs"/>
              </a:rPr>
              <a:t>Antivirus</a:t>
            </a:r>
            <a:endParaRPr lang="fr-FR" sz="3900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31" name="Espace réservé du contenu 21"/>
          <p:cNvSpPr txBox="1">
            <a:spLocks/>
          </p:cNvSpPr>
          <p:nvPr/>
        </p:nvSpPr>
        <p:spPr>
          <a:xfrm>
            <a:off x="7974168" y="3639564"/>
            <a:ext cx="3528392" cy="1243966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en-US" sz="3400" b="1" dirty="0" smtClean="0">
                <a:solidFill>
                  <a:srgbClr val="0070C0"/>
                </a:solidFill>
                <a:cs typeface="+mj-cs"/>
              </a:rPr>
              <a:t>Firewall</a:t>
            </a:r>
            <a:endParaRPr lang="en-US" sz="3400" dirty="0">
              <a:cs typeface="+mj-cs"/>
            </a:endParaRPr>
          </a:p>
        </p:txBody>
      </p:sp>
      <p:sp>
        <p:nvSpPr>
          <p:cNvPr id="32" name="Espace réservé du contenu 21"/>
          <p:cNvSpPr txBox="1">
            <a:spLocks/>
          </p:cNvSpPr>
          <p:nvPr/>
        </p:nvSpPr>
        <p:spPr>
          <a:xfrm>
            <a:off x="523157" y="3638303"/>
            <a:ext cx="3455505" cy="1349898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fr-FR" b="1" dirty="0" smtClean="0">
                <a:solidFill>
                  <a:srgbClr val="0070C0"/>
                </a:solidFill>
                <a:cs typeface="+mj-cs"/>
              </a:rPr>
              <a:t>USB </a:t>
            </a:r>
            <a:r>
              <a:rPr lang="en-US" b="1" dirty="0" smtClean="0">
                <a:solidFill>
                  <a:srgbClr val="0070C0"/>
                </a:solidFill>
                <a:cs typeface="+mj-cs"/>
              </a:rPr>
              <a:t>Guard</a:t>
            </a:r>
            <a:endParaRPr lang="en-US" dirty="0">
              <a:cs typeface="+mj-cs"/>
            </a:endParaRPr>
          </a:p>
        </p:txBody>
      </p:sp>
      <p:cxnSp>
        <p:nvCxnSpPr>
          <p:cNvPr id="14" name="Connecteur droit avec flèche 13"/>
          <p:cNvCxnSpPr/>
          <p:nvPr/>
        </p:nvCxnSpPr>
        <p:spPr>
          <a:xfrm>
            <a:off x="5986010" y="2492896"/>
            <a:ext cx="0" cy="250478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4979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7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2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7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3" grpId="0" animBg="1"/>
      <p:bldP spid="17" grpId="0" animBg="1"/>
      <p:bldP spid="31" grpId="0" animBg="1"/>
      <p:bldP spid="32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>
                <a:solidFill>
                  <a:srgbClr val="FF0000"/>
                </a:solidFill>
                <a:cs typeface="+mj-cs"/>
              </a:rPr>
              <a:t> </a:t>
            </a:r>
            <a:r>
              <a:rPr lang="ar-DZ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: ( نَــشَـاط 4  –  </a:t>
            </a:r>
            <a:r>
              <a:rPr lang="ar-DZ" sz="4000" b="1" dirty="0">
                <a:solidFill>
                  <a:srgbClr val="FF0000"/>
                </a:solidFill>
              </a:rPr>
              <a:t>الــوقـــايـــة مـن  </a:t>
            </a:r>
            <a:r>
              <a:rPr lang="ar-DZ" sz="4000" b="1" dirty="0" smtClean="0">
                <a:solidFill>
                  <a:srgbClr val="FF0000"/>
                </a:solidFill>
              </a:rPr>
              <a:t>الــفــيـــروســــات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) 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19/10/2024</a:t>
            </a:fld>
            <a:endParaRPr lang="fr-BE" dirty="0"/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625350" y="1412775"/>
            <a:ext cx="10814992" cy="494357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buFont typeface="Arial" pitchFamily="34" charset="0"/>
              <a:buNone/>
            </a:pPr>
            <a:endParaRPr lang="ar-DZ" sz="800" b="1" dirty="0" smtClean="0">
              <a:cs typeface="+mj-cs"/>
            </a:endParaRPr>
          </a:p>
          <a:p>
            <a:pPr marL="0" indent="0" algn="just" rtl="1">
              <a:buFont typeface="Arial" pitchFamily="34" charset="0"/>
              <a:buNone/>
            </a:pPr>
            <a:endParaRPr lang="ar-DZ" sz="800" b="1" dirty="0">
              <a:cs typeface="+mj-cs"/>
            </a:endParaRPr>
          </a:p>
          <a:p>
            <a:pPr marL="0" indent="0" algn="just" rtl="1">
              <a:buFont typeface="Arial" pitchFamily="34" charset="0"/>
              <a:buNone/>
            </a:pPr>
            <a:endParaRPr lang="ar-DZ" sz="800" b="1" dirty="0" smtClean="0">
              <a:cs typeface="+mj-cs"/>
            </a:endParaRPr>
          </a:p>
          <a:p>
            <a:pPr marL="0" indent="0" algn="just" rtl="1">
              <a:lnSpc>
                <a:spcPct val="165000"/>
              </a:lnSpc>
              <a:buNone/>
            </a:pP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r>
              <a:rPr lang="ar-DZ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─	</a:t>
            </a:r>
            <a:r>
              <a:rPr lang="ar-DZ" sz="4400" b="1" u="dbl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تــنــصــيــب</a:t>
            </a:r>
            <a:r>
              <a:rPr lang="ar-DZ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الــضَــرُورِيَــة :</a:t>
            </a:r>
          </a:p>
          <a:p>
            <a:pPr marL="0" indent="0" algn="just" rtl="1">
              <a:lnSpc>
                <a:spcPct val="165000"/>
              </a:lnSpc>
              <a:buNone/>
            </a:pPr>
            <a:endParaRPr lang="ar-DZ" sz="4400" b="1" dirty="0" smtClean="0">
              <a:cs typeface="+mj-cs"/>
            </a:endParaRPr>
          </a:p>
          <a:p>
            <a:pPr marL="0" indent="0" algn="just" rtl="1">
              <a:lnSpc>
                <a:spcPct val="165000"/>
              </a:lnSpc>
              <a:buNone/>
            </a:pPr>
            <a:endParaRPr lang="fr-FR" sz="3800" b="1" dirty="0">
              <a:solidFill>
                <a:srgbClr val="00206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744170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build="p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>
                <a:solidFill>
                  <a:srgbClr val="FF0000"/>
                </a:solidFill>
                <a:cs typeface="+mj-cs"/>
              </a:rPr>
              <a:t> </a:t>
            </a:r>
            <a:r>
              <a:rPr lang="ar-DZ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: ( نَــشَـاط 4  –  </a:t>
            </a:r>
            <a:r>
              <a:rPr lang="ar-DZ" sz="4000" b="1" dirty="0">
                <a:solidFill>
                  <a:srgbClr val="FF0000"/>
                </a:solidFill>
              </a:rPr>
              <a:t>الــوقـــايـــة مـن  </a:t>
            </a:r>
            <a:r>
              <a:rPr lang="ar-DZ" sz="4000" b="1" dirty="0" smtClean="0">
                <a:solidFill>
                  <a:srgbClr val="FF0000"/>
                </a:solidFill>
              </a:rPr>
              <a:t>الــفــيـــروســــات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) 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19/10/2024</a:t>
            </a:fld>
            <a:endParaRPr lang="fr-BE" dirty="0"/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625350" y="1412775"/>
            <a:ext cx="10814992" cy="494357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buFont typeface="Arial" pitchFamily="34" charset="0"/>
              <a:buNone/>
            </a:pPr>
            <a:endParaRPr lang="ar-DZ" sz="800" b="1" dirty="0" smtClean="0">
              <a:cs typeface="+mj-cs"/>
            </a:endParaRPr>
          </a:p>
          <a:p>
            <a:pPr marL="0" indent="0" algn="just" rtl="1">
              <a:buFont typeface="Arial" pitchFamily="34" charset="0"/>
              <a:buNone/>
            </a:pPr>
            <a:endParaRPr lang="ar-DZ" sz="800" b="1" dirty="0">
              <a:cs typeface="+mj-cs"/>
            </a:endParaRPr>
          </a:p>
          <a:p>
            <a:pPr marL="0" indent="0" algn="just" rtl="1">
              <a:buFont typeface="Arial" pitchFamily="34" charset="0"/>
              <a:buNone/>
            </a:pPr>
            <a:endParaRPr lang="ar-DZ" sz="800" b="1" dirty="0" smtClean="0">
              <a:cs typeface="+mj-cs"/>
            </a:endParaRPr>
          </a:p>
          <a:p>
            <a:pPr marL="0" indent="0" algn="just" rtl="1">
              <a:lnSpc>
                <a:spcPct val="165000"/>
              </a:lnSpc>
              <a:buNone/>
            </a:pP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r>
              <a:rPr lang="ar-DZ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─	</a:t>
            </a:r>
            <a:r>
              <a:rPr lang="ar-DZ" sz="4400" b="1" u="dbl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تــنــصــيــب</a:t>
            </a:r>
            <a:r>
              <a:rPr lang="ar-DZ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الــضَــرُورِيَــة :</a:t>
            </a:r>
          </a:p>
          <a:p>
            <a:pPr marL="0" indent="0" algn="just" rtl="1">
              <a:lnSpc>
                <a:spcPct val="165000"/>
              </a:lnSpc>
              <a:buNone/>
            </a:pPr>
            <a:endParaRPr lang="ar-DZ" sz="4400" b="1" dirty="0" smtClean="0">
              <a:cs typeface="+mj-cs"/>
            </a:endParaRPr>
          </a:p>
          <a:p>
            <a:pPr marL="0" indent="0" algn="just" rtl="1">
              <a:lnSpc>
                <a:spcPct val="165000"/>
              </a:lnSpc>
              <a:buNone/>
            </a:pPr>
            <a:endParaRPr lang="fr-FR" sz="3800" b="1" dirty="0">
              <a:solidFill>
                <a:srgbClr val="002060"/>
              </a:solidFill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838706" y="2087742"/>
            <a:ext cx="416852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بــرامـج الـحـــمــايـــة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356860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build="p" animBg="1"/>
      <p:bldP spid="10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b="1" u="dbl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تــنــصــيــب</a:t>
            </a:r>
            <a:r>
              <a:rPr lang="ar-DZ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 </a:t>
            </a:r>
            <a:r>
              <a:rPr lang="ar-DZ" b="1" dirty="0" smtClean="0">
                <a:solidFill>
                  <a:srgbClr val="0070C0"/>
                </a:solidFill>
                <a:cs typeface="+mj-cs"/>
              </a:rPr>
              <a:t>بــرامــج الـحـــمـــايــــة </a:t>
            </a:r>
            <a:r>
              <a:rPr lang="ar-DZ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الــضَــرُورِيَــة </a:t>
            </a:r>
            <a:r>
              <a:rPr lang="ar-DZ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:</a:t>
            </a:r>
            <a:r>
              <a:rPr lang="ar-DZ" b="1" u="dbl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412776"/>
            <a:ext cx="10814992" cy="4957063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ctr" rtl="1">
              <a:buNone/>
            </a:pPr>
            <a:endParaRPr lang="ar-DZ" sz="500" baseline="-25000" dirty="0" smtClean="0"/>
          </a:p>
          <a:p>
            <a:pPr marL="0" indent="0" algn="ctr" rtl="1">
              <a:lnSpc>
                <a:spcPct val="200000"/>
              </a:lnSpc>
              <a:buNone/>
            </a:pPr>
            <a:r>
              <a:rPr lang="ar-DZ" sz="4000" baseline="-25000" dirty="0" smtClean="0"/>
              <a:t>.......................................................................................................... </a:t>
            </a:r>
            <a:r>
              <a:rPr lang="ar-DZ" sz="4000" baseline="-25000" dirty="0"/>
              <a:t>..........................................................................................................</a:t>
            </a:r>
            <a:r>
              <a:rPr lang="ar-DZ" sz="4000" b="1" dirty="0"/>
              <a:t> </a:t>
            </a:r>
            <a:r>
              <a:rPr lang="ar-DZ" sz="4000" baseline="-25000" dirty="0"/>
              <a:t>..........................................................................................................</a:t>
            </a:r>
            <a:r>
              <a:rPr lang="ar-DZ" sz="4000" b="1" dirty="0"/>
              <a:t> </a:t>
            </a:r>
            <a:endParaRPr lang="ar-DZ" sz="4000" b="1" dirty="0" smtClean="0"/>
          </a:p>
          <a:p>
            <a:pPr marL="0" indent="0" algn="r" rtl="1">
              <a:lnSpc>
                <a:spcPct val="20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مَــعَ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000" baseline="-25000" dirty="0" smtClean="0"/>
              <a:t>.......................................</a:t>
            </a:r>
            <a:r>
              <a:rPr lang="ar-DZ" sz="4000" b="1" dirty="0" smtClean="0"/>
              <a:t>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تـلـك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الــبـــرامـــج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بـانــتــظــام</a:t>
            </a:r>
            <a:endParaRPr lang="fr-FR" sz="4000" b="1" dirty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19/10/2024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1343472" y="1876491"/>
            <a:ext cx="928903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...................................                </a:t>
            </a:r>
            <a:r>
              <a:rPr lang="fr-FR" sz="4000" b="1" dirty="0" smtClean="0">
                <a:solidFill>
                  <a:srgbClr val="0070C0"/>
                </a:solidFill>
                <a:cs typeface="+mj-cs"/>
              </a:rPr>
              <a:t>Antivirus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343472" y="2996952"/>
            <a:ext cx="928903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.............................                        </a:t>
            </a:r>
            <a:r>
              <a:rPr lang="fr-FR" sz="4000" b="1" dirty="0" smtClean="0">
                <a:solidFill>
                  <a:srgbClr val="0070C0"/>
                </a:solidFill>
                <a:cs typeface="+mj-cs"/>
              </a:rPr>
              <a:t>Firewall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343472" y="4077072"/>
            <a:ext cx="928903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............................................    </a:t>
            </a:r>
            <a:r>
              <a:rPr lang="fr-FR" sz="4000" b="1" dirty="0" smtClean="0">
                <a:solidFill>
                  <a:srgbClr val="0070C0"/>
                </a:solidFill>
                <a:cs typeface="+mj-cs"/>
              </a:rPr>
              <a:t>USB </a:t>
            </a:r>
            <a:r>
              <a:rPr lang="fr-FR" sz="4000" b="1" dirty="0" err="1" smtClean="0">
                <a:solidFill>
                  <a:srgbClr val="0070C0"/>
                </a:solidFill>
                <a:cs typeface="+mj-cs"/>
              </a:rPr>
              <a:t>Guard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816080" y="5157192"/>
            <a:ext cx="294438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.................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398802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  <p:bldP spid="10" grpId="0" animBg="1"/>
      <p:bldP spid="11" grpId="0" animBg="1"/>
      <p:bldP spid="9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b="1" u="dbl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تــنــصــيــب</a:t>
            </a:r>
            <a:r>
              <a:rPr lang="ar-DZ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 </a:t>
            </a:r>
            <a:r>
              <a:rPr lang="ar-DZ" b="1" dirty="0" smtClean="0">
                <a:solidFill>
                  <a:srgbClr val="0070C0"/>
                </a:solidFill>
                <a:cs typeface="+mj-cs"/>
              </a:rPr>
              <a:t>بــرامــج الـحـــمـــايــــة </a:t>
            </a:r>
            <a:r>
              <a:rPr lang="ar-DZ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الــضَــرُورِيَــة </a:t>
            </a:r>
            <a:r>
              <a:rPr lang="ar-DZ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:</a:t>
            </a:r>
            <a:r>
              <a:rPr lang="ar-DZ" b="1" u="dbl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412776"/>
            <a:ext cx="10814992" cy="4957063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ctr" rtl="1">
              <a:buNone/>
            </a:pPr>
            <a:endParaRPr lang="ar-DZ" sz="500" baseline="-25000" dirty="0" smtClean="0"/>
          </a:p>
          <a:p>
            <a:pPr marL="0" indent="0" algn="ctr" rtl="1">
              <a:lnSpc>
                <a:spcPct val="200000"/>
              </a:lnSpc>
              <a:buNone/>
            </a:pPr>
            <a:r>
              <a:rPr lang="ar-DZ" sz="4000" baseline="-25000" dirty="0" smtClean="0"/>
              <a:t>.......................................................................................................... </a:t>
            </a:r>
            <a:r>
              <a:rPr lang="ar-DZ" sz="4000" baseline="-25000" dirty="0"/>
              <a:t>..........................................................................................................</a:t>
            </a:r>
            <a:r>
              <a:rPr lang="ar-DZ" sz="4000" b="1" dirty="0"/>
              <a:t> </a:t>
            </a:r>
            <a:r>
              <a:rPr lang="ar-DZ" sz="4000" baseline="-25000" dirty="0"/>
              <a:t>..........................................................................................................</a:t>
            </a:r>
            <a:r>
              <a:rPr lang="ar-DZ" sz="4000" b="1" dirty="0"/>
              <a:t> </a:t>
            </a:r>
            <a:endParaRPr lang="ar-DZ" sz="4000" b="1" dirty="0" smtClean="0"/>
          </a:p>
          <a:p>
            <a:pPr marL="0" indent="0" algn="r" rtl="1">
              <a:lnSpc>
                <a:spcPct val="20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مَــعَ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000" baseline="-25000" dirty="0" smtClean="0"/>
              <a:t>.......................................</a:t>
            </a:r>
            <a:r>
              <a:rPr lang="ar-DZ" sz="4000" b="1" dirty="0" smtClean="0"/>
              <a:t>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تـلـك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الــبـــرامـــج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بـانــتــظــام</a:t>
            </a:r>
            <a:endParaRPr lang="fr-FR" sz="4000" b="1" dirty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19/10/2024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1343472" y="1876491"/>
            <a:ext cx="928903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</a:rPr>
              <a:t>مُــضَــاد الـفــيـــروســــات                </a:t>
            </a:r>
            <a:r>
              <a:rPr lang="fr-FR" sz="4000" b="1" dirty="0" smtClean="0">
                <a:solidFill>
                  <a:srgbClr val="0070C0"/>
                </a:solidFill>
              </a:rPr>
              <a:t>Antivirus</a:t>
            </a:r>
            <a:r>
              <a:rPr lang="ar-DZ" sz="4000" b="1" dirty="0" smtClean="0">
                <a:solidFill>
                  <a:srgbClr val="0070C0"/>
                </a:solidFill>
              </a:rPr>
              <a:t> </a:t>
            </a:r>
            <a:endParaRPr lang="fr-FR" sz="4000" b="1" dirty="0">
              <a:solidFill>
                <a:srgbClr val="0070C0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343472" y="2996952"/>
            <a:ext cx="928903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 rtl="1"/>
            <a:r>
              <a:rPr lang="ar-DZ" sz="4000" b="1" dirty="0">
                <a:solidFill>
                  <a:srgbClr val="0070C0"/>
                </a:solidFill>
                <a:cs typeface="Times New Roman" panose="02020603050405020304" pitchFamily="18" charset="0"/>
              </a:rPr>
              <a:t>.............................                        </a:t>
            </a:r>
            <a:r>
              <a:rPr lang="fr-FR" sz="4000" b="1" dirty="0">
                <a:solidFill>
                  <a:srgbClr val="0070C0"/>
                </a:solidFill>
                <a:cs typeface="+mj-cs"/>
              </a:rPr>
              <a:t>Firewall</a:t>
            </a:r>
            <a:r>
              <a:rPr lang="ar-DZ" sz="4000" b="1" dirty="0">
                <a:solidFill>
                  <a:srgbClr val="0070C0"/>
                </a:solidFill>
                <a:cs typeface="Times New Roman" panose="02020603050405020304" pitchFamily="18" charset="0"/>
              </a:rPr>
              <a:t>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343472" y="4077072"/>
            <a:ext cx="928903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 rtl="1"/>
            <a:r>
              <a:rPr lang="ar-DZ" sz="4000" b="1" dirty="0">
                <a:solidFill>
                  <a:srgbClr val="0070C0"/>
                </a:solidFill>
                <a:cs typeface="Times New Roman" panose="02020603050405020304" pitchFamily="18" charset="0"/>
              </a:rPr>
              <a:t>............................................    </a:t>
            </a:r>
            <a:r>
              <a:rPr lang="fr-FR" sz="4000" b="1" dirty="0">
                <a:solidFill>
                  <a:srgbClr val="0070C0"/>
                </a:solidFill>
                <a:cs typeface="+mj-cs"/>
              </a:rPr>
              <a:t>USB </a:t>
            </a:r>
            <a:r>
              <a:rPr lang="fr-FR" sz="4000" b="1" dirty="0" err="1">
                <a:solidFill>
                  <a:srgbClr val="0070C0"/>
                </a:solidFill>
                <a:cs typeface="+mj-cs"/>
              </a:rPr>
              <a:t>Guard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816080" y="5148518"/>
            <a:ext cx="294438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.................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83995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  <p:bldP spid="10" grpId="0" animBg="1"/>
      <p:bldP spid="11" grpId="0" animBg="1"/>
      <p:bldP spid="12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rtl="1"/>
            <a:r>
              <a:rPr lang="ar-DZ" sz="3600" b="1" dirty="0">
                <a:solidFill>
                  <a:srgbClr val="FF0000"/>
                </a:solidFill>
              </a:rPr>
              <a:t>حــمــايــة الـحــاســوب يــتــطــلــب بــرامـج الـحــمــايــة :</a:t>
            </a:r>
            <a:endParaRPr lang="fr-FR" sz="3600" b="1" dirty="0">
              <a:solidFill>
                <a:srgbClr val="0070C0"/>
              </a:solidFill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19/10/2024</a:t>
            </a:fld>
            <a:endParaRPr lang="fr-BE" dirty="0"/>
          </a:p>
        </p:txBody>
      </p:sp>
      <p:pic>
        <p:nvPicPr>
          <p:cNvPr id="12" name="Picture 11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8743" y="4158435"/>
            <a:ext cx="2505075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5" name="Connecteur droit avec flèche 14"/>
          <p:cNvCxnSpPr>
            <a:stCxn id="2" idx="2"/>
          </p:cNvCxnSpPr>
          <p:nvPr/>
        </p:nvCxnSpPr>
        <p:spPr>
          <a:xfrm flipH="1">
            <a:off x="2135560" y="1124744"/>
            <a:ext cx="3881536" cy="247589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necteur droit avec flèche 15"/>
          <p:cNvCxnSpPr>
            <a:stCxn id="2" idx="2"/>
          </p:cNvCxnSpPr>
          <p:nvPr/>
        </p:nvCxnSpPr>
        <p:spPr>
          <a:xfrm>
            <a:off x="6017096" y="1124744"/>
            <a:ext cx="3823320" cy="247589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Espace réservé du contenu 21"/>
          <p:cNvSpPr txBox="1">
            <a:spLocks/>
          </p:cNvSpPr>
          <p:nvPr/>
        </p:nvSpPr>
        <p:spPr>
          <a:xfrm>
            <a:off x="3352800" y="4758116"/>
            <a:ext cx="5328592" cy="1524517"/>
          </a:xfrm>
          <a:prstGeom prst="cloud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fr-FR" sz="3900" b="1" dirty="0" smtClean="0">
                <a:solidFill>
                  <a:srgbClr val="FF0000"/>
                </a:solidFill>
                <a:cs typeface="+mj-cs"/>
              </a:rPr>
              <a:t>Antivirus</a:t>
            </a:r>
            <a:endParaRPr lang="fr-FR" sz="3900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1" name="Espace réservé du contenu 21"/>
          <p:cNvSpPr txBox="1">
            <a:spLocks/>
          </p:cNvSpPr>
          <p:nvPr/>
        </p:nvSpPr>
        <p:spPr>
          <a:xfrm>
            <a:off x="7993358" y="3600643"/>
            <a:ext cx="3528392" cy="1243966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en-US" sz="3400" b="1" dirty="0" smtClean="0">
                <a:solidFill>
                  <a:srgbClr val="0070C0"/>
                </a:solidFill>
                <a:cs typeface="+mj-cs"/>
              </a:rPr>
              <a:t>Firewall</a:t>
            </a:r>
            <a:endParaRPr lang="en-US" sz="3400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32" name="Espace réservé du contenu 21"/>
          <p:cNvSpPr txBox="1">
            <a:spLocks/>
          </p:cNvSpPr>
          <p:nvPr/>
        </p:nvSpPr>
        <p:spPr>
          <a:xfrm>
            <a:off x="523158" y="3638303"/>
            <a:ext cx="3162814" cy="151094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fr-FR" b="1" dirty="0" smtClean="0">
                <a:solidFill>
                  <a:srgbClr val="0070C0"/>
                </a:solidFill>
                <a:cs typeface="+mj-cs"/>
              </a:rPr>
              <a:t>USB </a:t>
            </a:r>
            <a:r>
              <a:rPr lang="en-US" b="1" dirty="0" smtClean="0">
                <a:solidFill>
                  <a:srgbClr val="0070C0"/>
                </a:solidFill>
                <a:cs typeface="+mj-cs"/>
              </a:rPr>
              <a:t>Guard</a:t>
            </a:r>
            <a:endParaRPr lang="en-US" dirty="0">
              <a:cs typeface="+mj-cs"/>
            </a:endParaRPr>
          </a:p>
        </p:txBody>
      </p:sp>
      <p:cxnSp>
        <p:nvCxnSpPr>
          <p:cNvPr id="18" name="Connecteur droit avec flèche 17"/>
          <p:cNvCxnSpPr>
            <a:stCxn id="2" idx="2"/>
            <a:endCxn id="17" idx="3"/>
          </p:cNvCxnSpPr>
          <p:nvPr/>
        </p:nvCxnSpPr>
        <p:spPr>
          <a:xfrm>
            <a:off x="6017096" y="1124744"/>
            <a:ext cx="0" cy="372053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" name="Imag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360" y="248340"/>
            <a:ext cx="11665296" cy="6468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194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1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4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7" grpId="0" animBg="1"/>
      <p:bldP spid="31" grpId="0" animBg="1"/>
      <p:bldP spid="32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b="1" u="dbl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تــنــصــيــب</a:t>
            </a:r>
            <a:r>
              <a:rPr lang="ar-DZ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 </a:t>
            </a:r>
            <a:r>
              <a:rPr lang="ar-DZ" b="1" dirty="0" smtClean="0">
                <a:solidFill>
                  <a:srgbClr val="0070C0"/>
                </a:solidFill>
                <a:cs typeface="+mj-cs"/>
              </a:rPr>
              <a:t>بــرامــج الـحـــمـــايــــة </a:t>
            </a:r>
            <a:r>
              <a:rPr lang="ar-DZ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الــضَــرُورِيَــة </a:t>
            </a:r>
            <a:r>
              <a:rPr lang="ar-DZ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:</a:t>
            </a:r>
            <a:r>
              <a:rPr lang="ar-DZ" b="1" u="dbl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412776"/>
            <a:ext cx="10814992" cy="4957063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ctr" rtl="1">
              <a:buNone/>
            </a:pPr>
            <a:endParaRPr lang="ar-DZ" sz="500" baseline="-25000" dirty="0" smtClean="0"/>
          </a:p>
          <a:p>
            <a:pPr marL="0" indent="0" algn="ctr" rtl="1">
              <a:lnSpc>
                <a:spcPct val="200000"/>
              </a:lnSpc>
              <a:buNone/>
            </a:pPr>
            <a:r>
              <a:rPr lang="ar-DZ" sz="4000" baseline="-25000" dirty="0" smtClean="0"/>
              <a:t>.......................................................................................................... </a:t>
            </a:r>
            <a:r>
              <a:rPr lang="ar-DZ" sz="4000" baseline="-25000" dirty="0"/>
              <a:t>..........................................................................................................</a:t>
            </a:r>
            <a:r>
              <a:rPr lang="ar-DZ" sz="4000" b="1" dirty="0"/>
              <a:t> </a:t>
            </a:r>
            <a:r>
              <a:rPr lang="ar-DZ" sz="4000" baseline="-25000" dirty="0"/>
              <a:t>..........................................................................................................</a:t>
            </a:r>
            <a:r>
              <a:rPr lang="ar-DZ" sz="4000" b="1" dirty="0"/>
              <a:t> </a:t>
            </a:r>
            <a:endParaRPr lang="ar-DZ" sz="4000" b="1" dirty="0" smtClean="0"/>
          </a:p>
          <a:p>
            <a:pPr marL="0" indent="0" algn="r" rtl="1">
              <a:lnSpc>
                <a:spcPct val="20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مَــعَ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000" baseline="-25000" dirty="0" smtClean="0"/>
              <a:t>.......................................</a:t>
            </a:r>
            <a:r>
              <a:rPr lang="ar-DZ" sz="4000" b="1" dirty="0" smtClean="0"/>
              <a:t>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تـلـك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الــبـــرامـــج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بـانــتــظــام</a:t>
            </a:r>
            <a:endParaRPr lang="fr-FR" sz="4000" b="1" dirty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19/10/2024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1343472" y="1876491"/>
            <a:ext cx="928903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</a:rPr>
              <a:t>مُــضَــاد الـفــيـــروســــات                </a:t>
            </a:r>
            <a:r>
              <a:rPr lang="fr-FR" sz="4000" b="1" dirty="0" smtClean="0">
                <a:solidFill>
                  <a:srgbClr val="0070C0"/>
                </a:solidFill>
              </a:rPr>
              <a:t>Antivirus</a:t>
            </a:r>
            <a:r>
              <a:rPr lang="ar-DZ" sz="4000" b="1" dirty="0" smtClean="0">
                <a:solidFill>
                  <a:srgbClr val="0070C0"/>
                </a:solidFill>
              </a:rPr>
              <a:t> </a:t>
            </a:r>
            <a:endParaRPr lang="fr-FR" sz="4000" b="1" dirty="0">
              <a:solidFill>
                <a:srgbClr val="0070C0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343472" y="2996952"/>
            <a:ext cx="928903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 rtl="1"/>
            <a:r>
              <a:rPr lang="ar-DZ" sz="4000" b="1" dirty="0">
                <a:solidFill>
                  <a:srgbClr val="0070C0"/>
                </a:solidFill>
                <a:cs typeface="Times New Roman" panose="02020603050405020304" pitchFamily="18" charset="0"/>
              </a:rPr>
              <a:t>.............................                        </a:t>
            </a:r>
            <a:r>
              <a:rPr lang="fr-FR" sz="4000" b="1" dirty="0">
                <a:solidFill>
                  <a:srgbClr val="0070C0"/>
                </a:solidFill>
                <a:cs typeface="+mj-cs"/>
              </a:rPr>
              <a:t>Firewall</a:t>
            </a:r>
            <a:r>
              <a:rPr lang="ar-DZ" sz="4000" b="1" dirty="0">
                <a:solidFill>
                  <a:srgbClr val="0070C0"/>
                </a:solidFill>
                <a:cs typeface="Times New Roman" panose="02020603050405020304" pitchFamily="18" charset="0"/>
              </a:rPr>
              <a:t>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343472" y="4077072"/>
            <a:ext cx="928903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 rtl="1"/>
            <a:r>
              <a:rPr lang="ar-DZ" sz="4000" b="1" dirty="0">
                <a:solidFill>
                  <a:srgbClr val="0070C0"/>
                </a:solidFill>
                <a:cs typeface="Times New Roman" panose="02020603050405020304" pitchFamily="18" charset="0"/>
              </a:rPr>
              <a:t>............................................    </a:t>
            </a:r>
            <a:r>
              <a:rPr lang="fr-FR" sz="4000" b="1" dirty="0">
                <a:solidFill>
                  <a:srgbClr val="0070C0"/>
                </a:solidFill>
                <a:cs typeface="+mj-cs"/>
              </a:rPr>
              <a:t>USB </a:t>
            </a:r>
            <a:r>
              <a:rPr lang="fr-FR" sz="4000" b="1" dirty="0" err="1">
                <a:solidFill>
                  <a:srgbClr val="0070C0"/>
                </a:solidFill>
                <a:cs typeface="+mj-cs"/>
              </a:rPr>
              <a:t>Guard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816080" y="5148518"/>
            <a:ext cx="294438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.................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1844501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  <p:bldP spid="10" grpId="0" animBg="1"/>
      <p:bldP spid="11" grpId="0" animBg="1"/>
      <p:bldP spid="12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b="1" u="dbl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تــنــصــيــب</a:t>
            </a:r>
            <a:r>
              <a:rPr lang="ar-DZ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 </a:t>
            </a:r>
            <a:r>
              <a:rPr lang="ar-DZ" b="1" dirty="0" smtClean="0">
                <a:solidFill>
                  <a:srgbClr val="0070C0"/>
                </a:solidFill>
                <a:cs typeface="+mj-cs"/>
              </a:rPr>
              <a:t>بــرامــج الـحـــمـــايــــة </a:t>
            </a:r>
            <a:r>
              <a:rPr lang="ar-DZ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الــضَــرُورِيَــة </a:t>
            </a:r>
            <a:r>
              <a:rPr lang="ar-DZ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:</a:t>
            </a:r>
            <a:r>
              <a:rPr lang="ar-DZ" b="1" u="dbl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412776"/>
            <a:ext cx="10814992" cy="4957063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ctr" rtl="1">
              <a:buNone/>
            </a:pPr>
            <a:endParaRPr lang="ar-DZ" sz="500" baseline="-25000" dirty="0" smtClean="0"/>
          </a:p>
          <a:p>
            <a:pPr marL="0" indent="0" algn="ctr" rtl="1">
              <a:lnSpc>
                <a:spcPct val="200000"/>
              </a:lnSpc>
              <a:buNone/>
            </a:pPr>
            <a:r>
              <a:rPr lang="ar-DZ" sz="4000" baseline="-25000" dirty="0" smtClean="0"/>
              <a:t>.......................................................................................................... </a:t>
            </a:r>
            <a:r>
              <a:rPr lang="ar-DZ" sz="4000" baseline="-25000" dirty="0"/>
              <a:t>..........................................................................................................</a:t>
            </a:r>
            <a:r>
              <a:rPr lang="ar-DZ" sz="4000" b="1" dirty="0"/>
              <a:t> </a:t>
            </a:r>
            <a:r>
              <a:rPr lang="ar-DZ" sz="4000" baseline="-25000" dirty="0"/>
              <a:t>..........................................................................................................</a:t>
            </a:r>
            <a:r>
              <a:rPr lang="ar-DZ" sz="4000" b="1" dirty="0"/>
              <a:t> </a:t>
            </a:r>
            <a:endParaRPr lang="ar-DZ" sz="4000" b="1" dirty="0" smtClean="0"/>
          </a:p>
          <a:p>
            <a:pPr marL="0" indent="0" algn="r" rtl="1">
              <a:lnSpc>
                <a:spcPct val="20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مَــعَ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000" baseline="-25000" dirty="0" smtClean="0"/>
              <a:t>.......................................</a:t>
            </a:r>
            <a:r>
              <a:rPr lang="ar-DZ" sz="4000" b="1" dirty="0" smtClean="0"/>
              <a:t>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تـلـك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الــبـــرامـــج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بـانــتــظــام</a:t>
            </a:r>
            <a:endParaRPr lang="fr-FR" sz="4000" b="1" dirty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19/10/2024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1343472" y="1876491"/>
            <a:ext cx="928903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</a:rPr>
              <a:t>مُــضَــاد الـفــيـــروســــات                </a:t>
            </a:r>
            <a:r>
              <a:rPr lang="fr-FR" sz="4000" b="1" dirty="0" smtClean="0">
                <a:solidFill>
                  <a:srgbClr val="0070C0"/>
                </a:solidFill>
              </a:rPr>
              <a:t>Antivirus</a:t>
            </a:r>
            <a:r>
              <a:rPr lang="ar-DZ" sz="4000" b="1" dirty="0" smtClean="0">
                <a:solidFill>
                  <a:srgbClr val="0070C0"/>
                </a:solidFill>
              </a:rPr>
              <a:t> </a:t>
            </a:r>
            <a:endParaRPr lang="fr-FR" sz="4000" b="1" dirty="0">
              <a:solidFill>
                <a:srgbClr val="0070C0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343472" y="2996952"/>
            <a:ext cx="928903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</a:rPr>
              <a:t>الـجِـــــدَار الــنَــــارِي                        </a:t>
            </a:r>
            <a:r>
              <a:rPr lang="fr-FR" sz="4000" b="1" dirty="0" smtClean="0">
                <a:solidFill>
                  <a:srgbClr val="0070C0"/>
                </a:solidFill>
              </a:rPr>
              <a:t>Firewall</a:t>
            </a:r>
            <a:r>
              <a:rPr lang="ar-DZ" sz="4000" b="1" dirty="0" smtClean="0">
                <a:solidFill>
                  <a:srgbClr val="0070C0"/>
                </a:solidFill>
              </a:rPr>
              <a:t> </a:t>
            </a:r>
            <a:endParaRPr lang="fr-FR" sz="4000" b="1" dirty="0">
              <a:solidFill>
                <a:srgbClr val="0070C0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343472" y="4077072"/>
            <a:ext cx="928903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 rtl="1"/>
            <a:r>
              <a:rPr lang="ar-DZ" sz="4000" b="1" dirty="0">
                <a:solidFill>
                  <a:srgbClr val="0070C0"/>
                </a:solidFill>
                <a:cs typeface="Times New Roman" panose="02020603050405020304" pitchFamily="18" charset="0"/>
              </a:rPr>
              <a:t>............................................    </a:t>
            </a:r>
            <a:r>
              <a:rPr lang="fr-FR" sz="4000" b="1" dirty="0">
                <a:solidFill>
                  <a:srgbClr val="0070C0"/>
                </a:solidFill>
                <a:cs typeface="+mj-cs"/>
              </a:rPr>
              <a:t>USB </a:t>
            </a:r>
            <a:r>
              <a:rPr lang="fr-FR" sz="4000" b="1" dirty="0" err="1">
                <a:solidFill>
                  <a:srgbClr val="0070C0"/>
                </a:solidFill>
                <a:cs typeface="+mj-cs"/>
              </a:rPr>
              <a:t>Guard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816080" y="5148518"/>
            <a:ext cx="294438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.................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1225221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  <p:bldP spid="10" grpId="0" animBg="1"/>
      <p:bldP spid="11" grpId="0" animBg="1"/>
      <p:bldP spid="12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rtl="1"/>
            <a:r>
              <a:rPr lang="ar-DZ" sz="3600" b="1" dirty="0">
                <a:solidFill>
                  <a:srgbClr val="FF0000"/>
                </a:solidFill>
              </a:rPr>
              <a:t>حــمــايــة الـحــاســوب يــتــطــلــب بــرامـج الـحــمــايــة :</a:t>
            </a:r>
            <a:endParaRPr lang="fr-FR" sz="3600" b="1" dirty="0">
              <a:solidFill>
                <a:srgbClr val="0070C0"/>
              </a:solidFill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19/10/2024</a:t>
            </a:fld>
            <a:endParaRPr lang="fr-BE" dirty="0"/>
          </a:p>
        </p:txBody>
      </p:sp>
      <p:pic>
        <p:nvPicPr>
          <p:cNvPr id="12" name="Picture 11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8743" y="4158435"/>
            <a:ext cx="2505075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5" name="Connecteur droit avec flèche 14"/>
          <p:cNvCxnSpPr>
            <a:stCxn id="2" idx="2"/>
          </p:cNvCxnSpPr>
          <p:nvPr/>
        </p:nvCxnSpPr>
        <p:spPr>
          <a:xfrm flipH="1">
            <a:off x="2135560" y="1124744"/>
            <a:ext cx="3881536" cy="247589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necteur droit avec flèche 15"/>
          <p:cNvCxnSpPr>
            <a:stCxn id="2" idx="2"/>
          </p:cNvCxnSpPr>
          <p:nvPr/>
        </p:nvCxnSpPr>
        <p:spPr>
          <a:xfrm>
            <a:off x="6017096" y="1124744"/>
            <a:ext cx="3823320" cy="247589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Espace réservé du contenu 21"/>
          <p:cNvSpPr txBox="1">
            <a:spLocks/>
          </p:cNvSpPr>
          <p:nvPr/>
        </p:nvSpPr>
        <p:spPr>
          <a:xfrm>
            <a:off x="3352800" y="4758116"/>
            <a:ext cx="5328592" cy="1524517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fr-FR" sz="3900" b="1" dirty="0" smtClean="0">
                <a:solidFill>
                  <a:srgbClr val="0070C0"/>
                </a:solidFill>
                <a:cs typeface="+mj-cs"/>
              </a:rPr>
              <a:t>Antivirus</a:t>
            </a:r>
            <a:endParaRPr lang="fr-FR" sz="3900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31" name="Espace réservé du contenu 21"/>
          <p:cNvSpPr txBox="1">
            <a:spLocks/>
          </p:cNvSpPr>
          <p:nvPr/>
        </p:nvSpPr>
        <p:spPr>
          <a:xfrm>
            <a:off x="7993358" y="3600643"/>
            <a:ext cx="3528392" cy="1243966"/>
          </a:xfrm>
          <a:prstGeom prst="cloud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en-US" sz="3400" b="1" dirty="0" smtClean="0">
                <a:solidFill>
                  <a:srgbClr val="FF0000"/>
                </a:solidFill>
                <a:cs typeface="+mj-cs"/>
              </a:rPr>
              <a:t>Firewall</a:t>
            </a:r>
            <a:endParaRPr lang="en-US" sz="3400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2" name="Espace réservé du contenu 21"/>
          <p:cNvSpPr txBox="1">
            <a:spLocks/>
          </p:cNvSpPr>
          <p:nvPr/>
        </p:nvSpPr>
        <p:spPr>
          <a:xfrm>
            <a:off x="523158" y="3638303"/>
            <a:ext cx="3162814" cy="151094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fr-FR" b="1" dirty="0" smtClean="0">
                <a:solidFill>
                  <a:srgbClr val="0070C0"/>
                </a:solidFill>
                <a:cs typeface="+mj-cs"/>
              </a:rPr>
              <a:t>USB </a:t>
            </a:r>
            <a:r>
              <a:rPr lang="en-US" b="1" dirty="0" smtClean="0">
                <a:solidFill>
                  <a:srgbClr val="0070C0"/>
                </a:solidFill>
                <a:cs typeface="+mj-cs"/>
              </a:rPr>
              <a:t>Guard</a:t>
            </a:r>
            <a:endParaRPr lang="en-US" dirty="0">
              <a:cs typeface="+mj-cs"/>
            </a:endParaRPr>
          </a:p>
        </p:txBody>
      </p:sp>
      <p:cxnSp>
        <p:nvCxnSpPr>
          <p:cNvPr id="18" name="Connecteur droit avec flèche 17"/>
          <p:cNvCxnSpPr>
            <a:stCxn id="2" idx="2"/>
            <a:endCxn id="17" idx="3"/>
          </p:cNvCxnSpPr>
          <p:nvPr/>
        </p:nvCxnSpPr>
        <p:spPr>
          <a:xfrm>
            <a:off x="6017096" y="1124744"/>
            <a:ext cx="0" cy="372053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1" name="Imag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158" y="332146"/>
            <a:ext cx="10901434" cy="6265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5604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1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4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7" grpId="0" animBg="1"/>
      <p:bldP spid="31" grpId="0" animBg="1"/>
      <p:bldP spid="32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b="1" u="dbl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تــنــصــيــب</a:t>
            </a:r>
            <a:r>
              <a:rPr lang="ar-DZ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 </a:t>
            </a:r>
            <a:r>
              <a:rPr lang="ar-DZ" b="1" dirty="0" smtClean="0">
                <a:solidFill>
                  <a:srgbClr val="0070C0"/>
                </a:solidFill>
                <a:cs typeface="+mj-cs"/>
              </a:rPr>
              <a:t>بــرامــج الـحـــمـــايــــة </a:t>
            </a:r>
            <a:r>
              <a:rPr lang="ar-DZ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الــضَــرُورِيَــة </a:t>
            </a:r>
            <a:r>
              <a:rPr lang="ar-DZ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:</a:t>
            </a:r>
            <a:r>
              <a:rPr lang="ar-DZ" b="1" u="dbl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412776"/>
            <a:ext cx="10814992" cy="4957063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ctr" rtl="1">
              <a:buNone/>
            </a:pPr>
            <a:endParaRPr lang="ar-DZ" sz="500" baseline="-25000" dirty="0" smtClean="0"/>
          </a:p>
          <a:p>
            <a:pPr marL="0" indent="0" algn="ctr" rtl="1">
              <a:lnSpc>
                <a:spcPct val="200000"/>
              </a:lnSpc>
              <a:buNone/>
            </a:pPr>
            <a:r>
              <a:rPr lang="ar-DZ" sz="4000" baseline="-25000" dirty="0" smtClean="0"/>
              <a:t>.......................................................................................................... </a:t>
            </a:r>
            <a:r>
              <a:rPr lang="ar-DZ" sz="4000" baseline="-25000" dirty="0"/>
              <a:t>..........................................................................................................</a:t>
            </a:r>
            <a:r>
              <a:rPr lang="ar-DZ" sz="4000" b="1" dirty="0"/>
              <a:t> </a:t>
            </a:r>
            <a:r>
              <a:rPr lang="ar-DZ" sz="4000" baseline="-25000" dirty="0"/>
              <a:t>..........................................................................................................</a:t>
            </a:r>
            <a:r>
              <a:rPr lang="ar-DZ" sz="4000" b="1" dirty="0"/>
              <a:t> </a:t>
            </a:r>
            <a:endParaRPr lang="ar-DZ" sz="4000" b="1" dirty="0" smtClean="0"/>
          </a:p>
          <a:p>
            <a:pPr marL="0" indent="0" algn="r" rtl="1">
              <a:lnSpc>
                <a:spcPct val="20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مَــعَ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000" baseline="-25000" dirty="0" smtClean="0"/>
              <a:t>.......................................</a:t>
            </a:r>
            <a:r>
              <a:rPr lang="ar-DZ" sz="4000" b="1" dirty="0" smtClean="0"/>
              <a:t>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تـلـك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الــبـــرامـــج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بـانــتــظــام</a:t>
            </a:r>
            <a:endParaRPr lang="fr-FR" sz="4000" b="1" dirty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19/10/2024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1343472" y="1876491"/>
            <a:ext cx="928903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</a:rPr>
              <a:t>مُــضَــاد الـفــيـــروســــات                </a:t>
            </a:r>
            <a:r>
              <a:rPr lang="fr-FR" sz="4000" b="1" dirty="0" smtClean="0">
                <a:solidFill>
                  <a:srgbClr val="0070C0"/>
                </a:solidFill>
              </a:rPr>
              <a:t>Antivirus</a:t>
            </a:r>
            <a:r>
              <a:rPr lang="ar-DZ" sz="4000" b="1" dirty="0" smtClean="0">
                <a:solidFill>
                  <a:srgbClr val="0070C0"/>
                </a:solidFill>
              </a:rPr>
              <a:t> </a:t>
            </a:r>
            <a:endParaRPr lang="fr-FR" sz="4000" b="1" dirty="0">
              <a:solidFill>
                <a:srgbClr val="0070C0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343472" y="2996952"/>
            <a:ext cx="928903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</a:rPr>
              <a:t>الـجِـــــدَار الــنَــــارِي                        </a:t>
            </a:r>
            <a:r>
              <a:rPr lang="fr-FR" sz="4000" b="1" dirty="0" smtClean="0">
                <a:solidFill>
                  <a:srgbClr val="0070C0"/>
                </a:solidFill>
              </a:rPr>
              <a:t>Firewall</a:t>
            </a:r>
            <a:r>
              <a:rPr lang="ar-DZ" sz="4000" b="1" dirty="0" smtClean="0">
                <a:solidFill>
                  <a:srgbClr val="0070C0"/>
                </a:solidFill>
              </a:rPr>
              <a:t> </a:t>
            </a:r>
            <a:endParaRPr lang="fr-FR" sz="4000" b="1" dirty="0">
              <a:solidFill>
                <a:srgbClr val="0070C0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343472" y="4077072"/>
            <a:ext cx="928903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 rtl="1"/>
            <a:r>
              <a:rPr lang="ar-DZ" sz="4000" b="1" dirty="0">
                <a:solidFill>
                  <a:srgbClr val="0070C0"/>
                </a:solidFill>
                <a:cs typeface="Times New Roman" panose="02020603050405020304" pitchFamily="18" charset="0"/>
              </a:rPr>
              <a:t>............................................    </a:t>
            </a:r>
            <a:r>
              <a:rPr lang="fr-FR" sz="4000" b="1" dirty="0">
                <a:solidFill>
                  <a:srgbClr val="0070C0"/>
                </a:solidFill>
                <a:cs typeface="+mj-cs"/>
              </a:rPr>
              <a:t>USB </a:t>
            </a:r>
            <a:r>
              <a:rPr lang="fr-FR" sz="4000" b="1" dirty="0" err="1">
                <a:solidFill>
                  <a:srgbClr val="0070C0"/>
                </a:solidFill>
                <a:cs typeface="+mj-cs"/>
              </a:rPr>
              <a:t>Guard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816080" y="5148518"/>
            <a:ext cx="294438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.................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532960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  <p:bldP spid="10" grpId="0" animBg="1"/>
      <p:bldP spid="11" grpId="0" animBg="1"/>
      <p:bldP spid="12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b="1" u="dbl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تــنــصــيــب</a:t>
            </a:r>
            <a:r>
              <a:rPr lang="ar-DZ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 </a:t>
            </a:r>
            <a:r>
              <a:rPr lang="ar-DZ" b="1" dirty="0" smtClean="0">
                <a:solidFill>
                  <a:srgbClr val="0070C0"/>
                </a:solidFill>
                <a:cs typeface="+mj-cs"/>
              </a:rPr>
              <a:t>بــرامــج الـحـــمـــايــــة </a:t>
            </a:r>
            <a:r>
              <a:rPr lang="ar-DZ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الــضَــرُورِيَــة </a:t>
            </a:r>
            <a:r>
              <a:rPr lang="ar-DZ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:</a:t>
            </a:r>
            <a:r>
              <a:rPr lang="ar-DZ" b="1" u="dbl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412776"/>
            <a:ext cx="10814992" cy="4957063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ctr" rtl="1">
              <a:buNone/>
            </a:pPr>
            <a:endParaRPr lang="ar-DZ" sz="500" baseline="-25000" dirty="0" smtClean="0"/>
          </a:p>
          <a:p>
            <a:pPr marL="0" indent="0" algn="ctr" rtl="1">
              <a:lnSpc>
                <a:spcPct val="200000"/>
              </a:lnSpc>
              <a:buNone/>
            </a:pPr>
            <a:r>
              <a:rPr lang="ar-DZ" sz="4000" baseline="-25000" dirty="0" smtClean="0"/>
              <a:t>.......................................................................................................... </a:t>
            </a:r>
            <a:r>
              <a:rPr lang="ar-DZ" sz="4000" baseline="-25000" dirty="0"/>
              <a:t>..........................................................................................................</a:t>
            </a:r>
            <a:r>
              <a:rPr lang="ar-DZ" sz="4000" b="1" dirty="0"/>
              <a:t> </a:t>
            </a:r>
            <a:r>
              <a:rPr lang="ar-DZ" sz="4000" baseline="-25000" dirty="0"/>
              <a:t>..........................................................................................................</a:t>
            </a:r>
            <a:r>
              <a:rPr lang="ar-DZ" sz="4000" b="1" dirty="0"/>
              <a:t> </a:t>
            </a:r>
            <a:endParaRPr lang="ar-DZ" sz="4000" b="1" dirty="0" smtClean="0"/>
          </a:p>
          <a:p>
            <a:pPr marL="0" indent="0" algn="r" rtl="1">
              <a:lnSpc>
                <a:spcPct val="20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مَــعَ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000" baseline="-25000" dirty="0" smtClean="0"/>
              <a:t>.......................................</a:t>
            </a:r>
            <a:r>
              <a:rPr lang="ar-DZ" sz="4000" b="1" dirty="0" smtClean="0"/>
              <a:t>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تـلـك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الــبـــرامـــج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بـانــتــظــام</a:t>
            </a:r>
            <a:endParaRPr lang="fr-FR" sz="4000" b="1" dirty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19/10/2024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1343472" y="1876491"/>
            <a:ext cx="928903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</a:rPr>
              <a:t>مُــضَــاد الـفــيـــروســــات                </a:t>
            </a:r>
            <a:r>
              <a:rPr lang="fr-FR" sz="4000" b="1" dirty="0" smtClean="0">
                <a:solidFill>
                  <a:srgbClr val="0070C0"/>
                </a:solidFill>
              </a:rPr>
              <a:t>Antivirus</a:t>
            </a:r>
            <a:r>
              <a:rPr lang="ar-DZ" sz="4000" b="1" dirty="0" smtClean="0">
                <a:solidFill>
                  <a:srgbClr val="0070C0"/>
                </a:solidFill>
              </a:rPr>
              <a:t> </a:t>
            </a:r>
            <a:endParaRPr lang="fr-FR" sz="4000" b="1" dirty="0">
              <a:solidFill>
                <a:srgbClr val="0070C0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343472" y="2996952"/>
            <a:ext cx="928903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</a:rPr>
              <a:t>الـجِـــــدَار الــنَــــارِي                        </a:t>
            </a:r>
            <a:r>
              <a:rPr lang="fr-FR" sz="4000" b="1" dirty="0" smtClean="0">
                <a:solidFill>
                  <a:srgbClr val="0070C0"/>
                </a:solidFill>
              </a:rPr>
              <a:t>Firewall</a:t>
            </a:r>
            <a:r>
              <a:rPr lang="ar-DZ" sz="4000" b="1" dirty="0" smtClean="0">
                <a:solidFill>
                  <a:srgbClr val="0070C0"/>
                </a:solidFill>
              </a:rPr>
              <a:t> </a:t>
            </a:r>
            <a:endParaRPr lang="fr-FR" sz="4000" b="1" dirty="0">
              <a:solidFill>
                <a:srgbClr val="0070C0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343472" y="4077072"/>
            <a:ext cx="928903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</a:rPr>
              <a:t>بـرنـامـج مـراقـبـة ذاكــرة الـفــلاش    </a:t>
            </a:r>
            <a:r>
              <a:rPr lang="fr-FR" sz="4000" b="1" dirty="0" smtClean="0">
                <a:solidFill>
                  <a:srgbClr val="0070C0"/>
                </a:solidFill>
              </a:rPr>
              <a:t>USB </a:t>
            </a:r>
            <a:r>
              <a:rPr lang="fr-FR" sz="4000" b="1" dirty="0" err="1" smtClean="0">
                <a:solidFill>
                  <a:srgbClr val="0070C0"/>
                </a:solidFill>
              </a:rPr>
              <a:t>Guard</a:t>
            </a:r>
            <a:endParaRPr lang="fr-FR" sz="4000" b="1" dirty="0">
              <a:solidFill>
                <a:srgbClr val="0070C0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816080" y="5148518"/>
            <a:ext cx="294438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.................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8602118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  <p:bldP spid="10" grpId="0" animBg="1"/>
      <p:bldP spid="11" grpId="0" animBg="1"/>
      <p:bldP spid="12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rtl="1"/>
            <a:r>
              <a:rPr lang="ar-DZ" sz="3600" b="1" dirty="0">
                <a:solidFill>
                  <a:srgbClr val="FF0000"/>
                </a:solidFill>
              </a:rPr>
              <a:t>حــمــايــة الـحــاســوب يــتــطــلــب بــرامـج الـحــمــايــة :</a:t>
            </a:r>
            <a:endParaRPr lang="fr-FR" sz="3600" b="1" dirty="0">
              <a:solidFill>
                <a:srgbClr val="0070C0"/>
              </a:solidFill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19/10/2024</a:t>
            </a:fld>
            <a:endParaRPr lang="fr-BE" dirty="0"/>
          </a:p>
        </p:txBody>
      </p:sp>
      <p:pic>
        <p:nvPicPr>
          <p:cNvPr id="12" name="Picture 11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8743" y="4158435"/>
            <a:ext cx="2505075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5" name="Connecteur droit avec flèche 14"/>
          <p:cNvCxnSpPr>
            <a:stCxn id="2" idx="2"/>
          </p:cNvCxnSpPr>
          <p:nvPr/>
        </p:nvCxnSpPr>
        <p:spPr>
          <a:xfrm flipH="1">
            <a:off x="2135560" y="1124744"/>
            <a:ext cx="3881536" cy="247589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necteur droit avec flèche 15"/>
          <p:cNvCxnSpPr>
            <a:stCxn id="2" idx="2"/>
          </p:cNvCxnSpPr>
          <p:nvPr/>
        </p:nvCxnSpPr>
        <p:spPr>
          <a:xfrm>
            <a:off x="6017096" y="1124744"/>
            <a:ext cx="3823320" cy="247589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Espace réservé du contenu 21"/>
          <p:cNvSpPr txBox="1">
            <a:spLocks/>
          </p:cNvSpPr>
          <p:nvPr/>
        </p:nvSpPr>
        <p:spPr>
          <a:xfrm>
            <a:off x="3352800" y="4758116"/>
            <a:ext cx="5328592" cy="1524517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fr-FR" sz="3900" b="1" dirty="0" smtClean="0">
                <a:solidFill>
                  <a:srgbClr val="0070C0"/>
                </a:solidFill>
                <a:cs typeface="+mj-cs"/>
              </a:rPr>
              <a:t>Antivirus</a:t>
            </a:r>
            <a:endParaRPr lang="fr-FR" sz="3900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31" name="Espace réservé du contenu 21"/>
          <p:cNvSpPr txBox="1">
            <a:spLocks/>
          </p:cNvSpPr>
          <p:nvPr/>
        </p:nvSpPr>
        <p:spPr>
          <a:xfrm>
            <a:off x="7993358" y="3600643"/>
            <a:ext cx="3528392" cy="1243966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en-US" sz="3400" b="1" dirty="0" smtClean="0">
                <a:solidFill>
                  <a:srgbClr val="0070C0"/>
                </a:solidFill>
                <a:cs typeface="+mj-cs"/>
              </a:rPr>
              <a:t>Firewall</a:t>
            </a:r>
            <a:endParaRPr lang="en-US" sz="3400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32" name="Espace réservé du contenu 21"/>
          <p:cNvSpPr txBox="1">
            <a:spLocks/>
          </p:cNvSpPr>
          <p:nvPr/>
        </p:nvSpPr>
        <p:spPr>
          <a:xfrm>
            <a:off x="523158" y="3638303"/>
            <a:ext cx="3162814" cy="1510940"/>
          </a:xfrm>
          <a:prstGeom prst="cloud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fr-FR" b="1" dirty="0" smtClean="0">
                <a:solidFill>
                  <a:srgbClr val="FF0000"/>
                </a:solidFill>
                <a:cs typeface="+mj-cs"/>
              </a:rPr>
              <a:t>USB </a:t>
            </a:r>
            <a:r>
              <a:rPr lang="en-US" b="1" dirty="0" smtClean="0">
                <a:solidFill>
                  <a:srgbClr val="FF0000"/>
                </a:solidFill>
                <a:cs typeface="+mj-cs"/>
              </a:rPr>
              <a:t>Guard</a:t>
            </a:r>
            <a:endParaRPr lang="en-US" dirty="0">
              <a:solidFill>
                <a:srgbClr val="FF0000"/>
              </a:solidFill>
              <a:cs typeface="+mj-cs"/>
            </a:endParaRPr>
          </a:p>
        </p:txBody>
      </p:sp>
      <p:cxnSp>
        <p:nvCxnSpPr>
          <p:cNvPr id="18" name="Connecteur droit avec flèche 17"/>
          <p:cNvCxnSpPr>
            <a:stCxn id="2" idx="2"/>
            <a:endCxn id="17" idx="3"/>
          </p:cNvCxnSpPr>
          <p:nvPr/>
        </p:nvCxnSpPr>
        <p:spPr>
          <a:xfrm>
            <a:off x="6017096" y="1124744"/>
            <a:ext cx="0" cy="372053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1" name="Imag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360" y="193016"/>
            <a:ext cx="11377264" cy="6528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4905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1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4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7" grpId="0" animBg="1"/>
      <p:bldP spid="31" grpId="0" animBg="1"/>
      <p:bldP spid="32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b="1" u="dbl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تــنــصــيــب</a:t>
            </a:r>
            <a:r>
              <a:rPr lang="ar-DZ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 </a:t>
            </a:r>
            <a:r>
              <a:rPr lang="ar-DZ" b="1" dirty="0" smtClean="0">
                <a:solidFill>
                  <a:srgbClr val="0070C0"/>
                </a:solidFill>
                <a:cs typeface="+mj-cs"/>
              </a:rPr>
              <a:t>بــرامــج الـحـــمـــايــــة </a:t>
            </a:r>
            <a:r>
              <a:rPr lang="ar-DZ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الــضَــرُورِيَــة </a:t>
            </a:r>
            <a:r>
              <a:rPr lang="ar-DZ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:</a:t>
            </a:r>
            <a:r>
              <a:rPr lang="ar-DZ" b="1" u="dbl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412776"/>
            <a:ext cx="10814992" cy="4957063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ctr" rtl="1">
              <a:buNone/>
            </a:pPr>
            <a:endParaRPr lang="ar-DZ" sz="500" baseline="-25000" dirty="0" smtClean="0"/>
          </a:p>
          <a:p>
            <a:pPr marL="0" indent="0" algn="ctr" rtl="1">
              <a:lnSpc>
                <a:spcPct val="200000"/>
              </a:lnSpc>
              <a:buNone/>
            </a:pPr>
            <a:r>
              <a:rPr lang="ar-DZ" sz="4000" baseline="-25000" dirty="0" smtClean="0"/>
              <a:t>.......................................................................................................... </a:t>
            </a:r>
            <a:r>
              <a:rPr lang="ar-DZ" sz="4000" baseline="-25000" dirty="0"/>
              <a:t>..........................................................................................................</a:t>
            </a:r>
            <a:r>
              <a:rPr lang="ar-DZ" sz="4000" b="1" dirty="0"/>
              <a:t> </a:t>
            </a:r>
            <a:r>
              <a:rPr lang="ar-DZ" sz="4000" baseline="-25000" dirty="0"/>
              <a:t>..........................................................................................................</a:t>
            </a:r>
            <a:r>
              <a:rPr lang="ar-DZ" sz="4000" b="1" dirty="0"/>
              <a:t> </a:t>
            </a:r>
            <a:endParaRPr lang="ar-DZ" sz="4000" b="1" dirty="0" smtClean="0"/>
          </a:p>
          <a:p>
            <a:pPr marL="0" indent="0" algn="r" rtl="1">
              <a:lnSpc>
                <a:spcPct val="20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مَــعَ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000" baseline="-25000" dirty="0" smtClean="0"/>
              <a:t>.......................................</a:t>
            </a:r>
            <a:r>
              <a:rPr lang="ar-DZ" sz="4000" b="1" dirty="0" smtClean="0"/>
              <a:t>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تـلـك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الــبـــرامـــج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بـانــتــظــام</a:t>
            </a:r>
            <a:endParaRPr lang="fr-FR" sz="4000" b="1" dirty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19/10/2024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1343472" y="1876491"/>
            <a:ext cx="928903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</a:rPr>
              <a:t>مُــضَــاد الـفــيـــروســــات                </a:t>
            </a:r>
            <a:r>
              <a:rPr lang="fr-FR" sz="4000" b="1" dirty="0" smtClean="0">
                <a:solidFill>
                  <a:srgbClr val="0070C0"/>
                </a:solidFill>
              </a:rPr>
              <a:t>Antivirus</a:t>
            </a:r>
            <a:r>
              <a:rPr lang="ar-DZ" sz="4000" b="1" dirty="0" smtClean="0">
                <a:solidFill>
                  <a:srgbClr val="0070C0"/>
                </a:solidFill>
              </a:rPr>
              <a:t> </a:t>
            </a:r>
            <a:endParaRPr lang="fr-FR" sz="4000" b="1" dirty="0">
              <a:solidFill>
                <a:srgbClr val="0070C0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343472" y="2996952"/>
            <a:ext cx="928903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</a:rPr>
              <a:t>الـجِـــــدَار الــنَــــارِي                        </a:t>
            </a:r>
            <a:r>
              <a:rPr lang="fr-FR" sz="4000" b="1" dirty="0" smtClean="0">
                <a:solidFill>
                  <a:srgbClr val="0070C0"/>
                </a:solidFill>
              </a:rPr>
              <a:t>Firewall</a:t>
            </a:r>
            <a:r>
              <a:rPr lang="ar-DZ" sz="4000" b="1" dirty="0" smtClean="0">
                <a:solidFill>
                  <a:srgbClr val="0070C0"/>
                </a:solidFill>
              </a:rPr>
              <a:t> </a:t>
            </a:r>
            <a:endParaRPr lang="fr-FR" sz="4000" b="1" dirty="0">
              <a:solidFill>
                <a:srgbClr val="0070C0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343472" y="4077072"/>
            <a:ext cx="928903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</a:rPr>
              <a:t>بـرنـامـج مـراقـبـة ذاكــرة الـفــلاش    </a:t>
            </a:r>
            <a:r>
              <a:rPr lang="fr-FR" sz="4000" b="1" dirty="0" smtClean="0">
                <a:solidFill>
                  <a:srgbClr val="0070C0"/>
                </a:solidFill>
              </a:rPr>
              <a:t>USB </a:t>
            </a:r>
            <a:r>
              <a:rPr lang="fr-FR" sz="4000" b="1" dirty="0" err="1" smtClean="0">
                <a:solidFill>
                  <a:srgbClr val="0070C0"/>
                </a:solidFill>
              </a:rPr>
              <a:t>Guard</a:t>
            </a:r>
            <a:endParaRPr lang="fr-FR" sz="4000" b="1" dirty="0">
              <a:solidFill>
                <a:srgbClr val="0070C0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816080" y="5148518"/>
            <a:ext cx="294438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.................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783340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  <p:bldP spid="10" grpId="0" animBg="1"/>
      <p:bldP spid="11" grpId="0" animBg="1"/>
      <p:bldP spid="12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b="1" u="dbl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تــنــصــيــب</a:t>
            </a:r>
            <a:r>
              <a:rPr lang="ar-DZ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 </a:t>
            </a:r>
            <a:r>
              <a:rPr lang="ar-DZ" b="1" dirty="0" smtClean="0">
                <a:solidFill>
                  <a:srgbClr val="0070C0"/>
                </a:solidFill>
                <a:cs typeface="+mj-cs"/>
              </a:rPr>
              <a:t>بــرامــج الـحـــمـــايــــة </a:t>
            </a:r>
            <a:r>
              <a:rPr lang="ar-DZ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الــضَــرُورِيَــة </a:t>
            </a:r>
            <a:r>
              <a:rPr lang="ar-DZ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:</a:t>
            </a:r>
            <a:r>
              <a:rPr lang="ar-DZ" b="1" u="dbl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412776"/>
            <a:ext cx="10814992" cy="4957063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ctr" rtl="1">
              <a:buNone/>
            </a:pPr>
            <a:endParaRPr lang="ar-DZ" sz="500" baseline="-25000" dirty="0" smtClean="0"/>
          </a:p>
          <a:p>
            <a:pPr marL="0" indent="0" algn="ctr" rtl="1">
              <a:lnSpc>
                <a:spcPct val="200000"/>
              </a:lnSpc>
              <a:buNone/>
            </a:pPr>
            <a:r>
              <a:rPr lang="ar-DZ" sz="4000" baseline="-25000" dirty="0" smtClean="0"/>
              <a:t>.......................................................................................................... </a:t>
            </a:r>
            <a:r>
              <a:rPr lang="ar-DZ" sz="4000" baseline="-25000" dirty="0"/>
              <a:t>..........................................................................................................</a:t>
            </a:r>
            <a:r>
              <a:rPr lang="ar-DZ" sz="4000" b="1" dirty="0"/>
              <a:t> </a:t>
            </a:r>
            <a:r>
              <a:rPr lang="ar-DZ" sz="4000" baseline="-25000" dirty="0"/>
              <a:t>..........................................................................................................</a:t>
            </a:r>
            <a:r>
              <a:rPr lang="ar-DZ" sz="4000" b="1" dirty="0"/>
              <a:t> </a:t>
            </a:r>
            <a:endParaRPr lang="ar-DZ" sz="4000" b="1" dirty="0" smtClean="0"/>
          </a:p>
          <a:p>
            <a:pPr marL="0" indent="0" algn="r" rtl="1">
              <a:lnSpc>
                <a:spcPct val="20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مَــعَ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000" baseline="-25000" dirty="0" smtClean="0"/>
              <a:t>.......................................</a:t>
            </a:r>
            <a:r>
              <a:rPr lang="ar-DZ" sz="4000" b="1" dirty="0" smtClean="0"/>
              <a:t>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تـلـك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الــبـــرامـــج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بـانــتــظــام</a:t>
            </a:r>
            <a:endParaRPr lang="fr-FR" sz="4000" b="1" dirty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19/10/2024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1343472" y="1876491"/>
            <a:ext cx="928903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</a:rPr>
              <a:t>مُــضَــاد الـفــيـــروســــات                </a:t>
            </a:r>
            <a:r>
              <a:rPr lang="fr-FR" sz="4000" b="1" dirty="0" smtClean="0">
                <a:solidFill>
                  <a:srgbClr val="0070C0"/>
                </a:solidFill>
              </a:rPr>
              <a:t>Antivirus</a:t>
            </a:r>
            <a:r>
              <a:rPr lang="ar-DZ" sz="4000" b="1" dirty="0" smtClean="0">
                <a:solidFill>
                  <a:srgbClr val="0070C0"/>
                </a:solidFill>
              </a:rPr>
              <a:t> </a:t>
            </a:r>
            <a:endParaRPr lang="fr-FR" sz="4000" b="1" dirty="0">
              <a:solidFill>
                <a:srgbClr val="0070C0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343472" y="2996952"/>
            <a:ext cx="928903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</a:rPr>
              <a:t>الـجِـــــدَار الــنَــــارِي                        </a:t>
            </a:r>
            <a:r>
              <a:rPr lang="fr-FR" sz="4000" b="1" dirty="0" smtClean="0">
                <a:solidFill>
                  <a:srgbClr val="0070C0"/>
                </a:solidFill>
              </a:rPr>
              <a:t>Firewall</a:t>
            </a:r>
            <a:r>
              <a:rPr lang="ar-DZ" sz="4000" b="1" dirty="0" smtClean="0">
                <a:solidFill>
                  <a:srgbClr val="0070C0"/>
                </a:solidFill>
              </a:rPr>
              <a:t> </a:t>
            </a:r>
            <a:endParaRPr lang="fr-FR" sz="4000" b="1" dirty="0">
              <a:solidFill>
                <a:srgbClr val="0070C0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343472" y="4077072"/>
            <a:ext cx="928903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</a:rPr>
              <a:t>بـرنـامـج مـراقـبـة ذاكــرة الـفــلاش    </a:t>
            </a:r>
            <a:r>
              <a:rPr lang="fr-FR" sz="4000" b="1" dirty="0" smtClean="0">
                <a:solidFill>
                  <a:srgbClr val="0070C0"/>
                </a:solidFill>
              </a:rPr>
              <a:t>USB </a:t>
            </a:r>
            <a:r>
              <a:rPr lang="fr-FR" sz="4000" b="1" dirty="0" err="1" smtClean="0">
                <a:solidFill>
                  <a:srgbClr val="0070C0"/>
                </a:solidFill>
              </a:rPr>
              <a:t>Guard</a:t>
            </a:r>
            <a:endParaRPr lang="fr-FR" sz="4000" b="1" dirty="0">
              <a:solidFill>
                <a:srgbClr val="0070C0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816080" y="5157192"/>
            <a:ext cx="294438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تَــحْــدِيــثِ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294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  <p:bldP spid="10" grpId="0" animBg="1"/>
      <p:bldP spid="11" grpId="0" animBg="1"/>
      <p:bldP spid="9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ســؤال </a:t>
            </a:r>
            <a:r>
              <a:rPr lang="ar-DZ" sz="4000" b="1" dirty="0">
                <a:solidFill>
                  <a:srgbClr val="FF0000"/>
                </a:solidFill>
                <a:cs typeface="+mj-cs"/>
              </a:rPr>
              <a:t>: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هـل تَــزْوِيــدُ الـحـاســوب بـبـرامـج الـحــمــايــة كـافــيـا ؟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19/10/2024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7608168" y="3544440"/>
            <a:ext cx="381642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2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</a:t>
            </a:r>
            <a:endParaRPr lang="fr-FR" sz="32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09600" y="1699119"/>
            <a:ext cx="1081499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FF0000"/>
                </a:solidFill>
                <a:cs typeface="+mj-cs"/>
              </a:rPr>
              <a:t>بــرامـج الـحــمــايــة تــتــطــلــب : 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13422" y="3544440"/>
            <a:ext cx="412858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</a:t>
            </a:r>
            <a:endParaRPr lang="fr-FR" sz="36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" name="Connecteur droit avec flèche 14"/>
          <p:cNvCxnSpPr>
            <a:endCxn id="18" idx="3"/>
          </p:cNvCxnSpPr>
          <p:nvPr/>
        </p:nvCxnSpPr>
        <p:spPr>
          <a:xfrm flipH="1">
            <a:off x="4742004" y="2492896"/>
            <a:ext cx="1055994" cy="144843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necteur droit avec flèche 15"/>
          <p:cNvCxnSpPr>
            <a:endCxn id="6" idx="1"/>
          </p:cNvCxnSpPr>
          <p:nvPr/>
        </p:nvCxnSpPr>
        <p:spPr>
          <a:xfrm>
            <a:off x="6168008" y="2477137"/>
            <a:ext cx="1440160" cy="146419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Espace réservé du contenu 21"/>
          <p:cNvSpPr txBox="1">
            <a:spLocks/>
          </p:cNvSpPr>
          <p:nvPr/>
        </p:nvSpPr>
        <p:spPr>
          <a:xfrm>
            <a:off x="7752184" y="4771116"/>
            <a:ext cx="3528392" cy="1250855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sz="3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</a:t>
            </a:r>
            <a:endParaRPr lang="fr-FR" sz="34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32" name="Espace réservé du contenu 21"/>
          <p:cNvSpPr txBox="1">
            <a:spLocks/>
          </p:cNvSpPr>
          <p:nvPr/>
        </p:nvSpPr>
        <p:spPr>
          <a:xfrm>
            <a:off x="506607" y="4511032"/>
            <a:ext cx="4797305" cy="151094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sz="3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</a:t>
            </a:r>
            <a:endParaRPr lang="fr-FR" sz="30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495735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3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6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13" grpId="0" animBg="1"/>
      <p:bldP spid="18" grpId="0" animBg="1"/>
      <p:bldP spid="31" grpId="0" animBg="1"/>
      <p:bldP spid="32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ســؤال </a:t>
            </a:r>
            <a:r>
              <a:rPr lang="ar-DZ" sz="4000" b="1" dirty="0">
                <a:solidFill>
                  <a:srgbClr val="FF0000"/>
                </a:solidFill>
                <a:cs typeface="+mj-cs"/>
              </a:rPr>
              <a:t>: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هـل تَــزْوِيــدُ الـحـاســوب بـبـرامـج الـحــمــايــة كـافــيـا ؟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19/10/2024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7608168" y="3544440"/>
            <a:ext cx="381642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2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الـتـحـديـ</a:t>
            </a:r>
            <a:r>
              <a:rPr lang="ar-DZ" sz="32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DZ" sz="32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ث </a:t>
            </a:r>
            <a:r>
              <a:rPr lang="fr-FR" sz="32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Mise </a:t>
            </a:r>
            <a:r>
              <a:rPr lang="ar-DZ" sz="32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à</a:t>
            </a:r>
            <a:r>
              <a:rPr lang="fr-FR" sz="32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Jour</a:t>
            </a:r>
            <a:endParaRPr lang="fr-FR" sz="32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09600" y="1699119"/>
            <a:ext cx="1081499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FF0000"/>
                </a:solidFill>
                <a:cs typeface="+mj-cs"/>
              </a:rPr>
              <a:t>بــرامـج الـحــمــايــة تــتــطــلــب : 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13422" y="3544440"/>
            <a:ext cx="412858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الاســتــغــلال</a:t>
            </a:r>
            <a:r>
              <a:rPr lang="fr-FR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Analyser </a:t>
            </a:r>
            <a:endParaRPr lang="fr-FR" sz="36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" name="Connecteur droit avec flèche 14"/>
          <p:cNvCxnSpPr>
            <a:endCxn id="18" idx="3"/>
          </p:cNvCxnSpPr>
          <p:nvPr/>
        </p:nvCxnSpPr>
        <p:spPr>
          <a:xfrm flipH="1">
            <a:off x="4742004" y="2492896"/>
            <a:ext cx="1055994" cy="144843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necteur droit avec flèche 15"/>
          <p:cNvCxnSpPr>
            <a:endCxn id="6" idx="1"/>
          </p:cNvCxnSpPr>
          <p:nvPr/>
        </p:nvCxnSpPr>
        <p:spPr>
          <a:xfrm>
            <a:off x="6168008" y="2477137"/>
            <a:ext cx="1440160" cy="146419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Espace réservé du contenu 21"/>
          <p:cNvSpPr txBox="1">
            <a:spLocks/>
          </p:cNvSpPr>
          <p:nvPr/>
        </p:nvSpPr>
        <p:spPr>
          <a:xfrm>
            <a:off x="7752184" y="4771116"/>
            <a:ext cx="3528392" cy="1250855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sz="3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</a:t>
            </a:r>
            <a:endParaRPr lang="fr-FR" sz="34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32" name="Espace réservé du contenu 21"/>
          <p:cNvSpPr txBox="1">
            <a:spLocks/>
          </p:cNvSpPr>
          <p:nvPr/>
        </p:nvSpPr>
        <p:spPr>
          <a:xfrm>
            <a:off x="506607" y="4511032"/>
            <a:ext cx="4797305" cy="151094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sz="3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</a:t>
            </a:r>
            <a:endParaRPr lang="fr-FR" sz="30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4883156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3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6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13" grpId="0" animBg="1"/>
      <p:bldP spid="18" grpId="0" animBg="1"/>
      <p:bldP spid="31" grpId="0" animBg="1"/>
      <p:bldP spid="32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ســؤال </a:t>
            </a:r>
            <a:r>
              <a:rPr lang="ar-DZ" sz="4000" b="1" dirty="0">
                <a:solidFill>
                  <a:srgbClr val="FF0000"/>
                </a:solidFill>
                <a:cs typeface="+mj-cs"/>
              </a:rPr>
              <a:t>: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هـل تَــزْوِيــدُ الـحـاســوب بـبـرامـج الـحــمــايــة كـافــيـا ؟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19/10/2024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7608168" y="3544440"/>
            <a:ext cx="381642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2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الـتـحـديـ</a:t>
            </a:r>
            <a:r>
              <a:rPr lang="ar-DZ" sz="32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DZ" sz="32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ث </a:t>
            </a:r>
            <a:r>
              <a:rPr lang="fr-FR" sz="32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Mise </a:t>
            </a:r>
            <a:r>
              <a:rPr lang="ar-DZ" sz="32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à</a:t>
            </a:r>
            <a:r>
              <a:rPr lang="fr-FR" sz="32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Jour</a:t>
            </a:r>
            <a:endParaRPr lang="fr-FR" sz="32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09600" y="1699119"/>
            <a:ext cx="1081499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FF0000"/>
                </a:solidFill>
                <a:cs typeface="+mj-cs"/>
              </a:rPr>
              <a:t>بــرامـج الـحــمــايــة تــتــطــلــب : 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13422" y="3544440"/>
            <a:ext cx="412858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الاســتــغــلال</a:t>
            </a:r>
            <a:r>
              <a:rPr lang="fr-FR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Analyser </a:t>
            </a:r>
            <a:endParaRPr lang="fr-FR" sz="36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" name="Connecteur droit avec flèche 14"/>
          <p:cNvCxnSpPr>
            <a:endCxn id="18" idx="3"/>
          </p:cNvCxnSpPr>
          <p:nvPr/>
        </p:nvCxnSpPr>
        <p:spPr>
          <a:xfrm flipH="1">
            <a:off x="4742004" y="2492896"/>
            <a:ext cx="1055994" cy="144843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necteur droit avec flèche 15"/>
          <p:cNvCxnSpPr>
            <a:endCxn id="6" idx="1"/>
          </p:cNvCxnSpPr>
          <p:nvPr/>
        </p:nvCxnSpPr>
        <p:spPr>
          <a:xfrm>
            <a:off x="6168008" y="2477137"/>
            <a:ext cx="1440160" cy="146419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Espace réservé du contenu 21"/>
          <p:cNvSpPr txBox="1">
            <a:spLocks/>
          </p:cNvSpPr>
          <p:nvPr/>
        </p:nvSpPr>
        <p:spPr>
          <a:xfrm>
            <a:off x="7752184" y="4771116"/>
            <a:ext cx="3528392" cy="1250855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sz="3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لـتـحـســيــنـهـا</a:t>
            </a:r>
            <a:endParaRPr lang="fr-FR" sz="34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32" name="Espace réservé du contenu 21"/>
          <p:cNvSpPr txBox="1">
            <a:spLocks/>
          </p:cNvSpPr>
          <p:nvPr/>
        </p:nvSpPr>
        <p:spPr>
          <a:xfrm>
            <a:off x="506607" y="4511032"/>
            <a:ext cx="4797305" cy="151094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sz="3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الأقــراص الـمـنــقــولـة الـمـلـفــات الـمُـحَــمَّــلَــة</a:t>
            </a:r>
            <a:endParaRPr lang="fr-FR" sz="30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6734397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3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6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13" grpId="0" animBg="1"/>
      <p:bldP spid="18" grpId="0" animBg="1"/>
      <p:bldP spid="31" grpId="0" animBg="1"/>
      <p:bldP spid="32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>
                <a:solidFill>
                  <a:srgbClr val="FF0000"/>
                </a:solidFill>
                <a:cs typeface="+mj-cs"/>
              </a:rPr>
              <a:t> </a:t>
            </a:r>
            <a:r>
              <a:rPr lang="ar-DZ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: ( </a:t>
            </a:r>
            <a:r>
              <a:rPr lang="ar-DZ" sz="4000" b="1" dirty="0" smtClean="0">
                <a:solidFill>
                  <a:srgbClr val="FF0000"/>
                </a:solidFill>
              </a:rPr>
              <a:t>الــوقـــايـــة </a:t>
            </a:r>
            <a:r>
              <a:rPr lang="ar-DZ" sz="4000" b="1" dirty="0">
                <a:solidFill>
                  <a:srgbClr val="FF0000"/>
                </a:solidFill>
              </a:rPr>
              <a:t>مـن  </a:t>
            </a:r>
            <a:r>
              <a:rPr lang="ar-DZ" sz="4000" b="1" dirty="0" smtClean="0">
                <a:solidFill>
                  <a:srgbClr val="FF0000"/>
                </a:solidFill>
              </a:rPr>
              <a:t>الــفــيـــروســــات –  تـــابــع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) 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19/10/2024</a:t>
            </a:fld>
            <a:endParaRPr lang="fr-BE" dirty="0"/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625350" y="1412775"/>
            <a:ext cx="10814992" cy="494357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buFont typeface="Arial" pitchFamily="34" charset="0"/>
              <a:buNone/>
            </a:pPr>
            <a:endParaRPr lang="ar-DZ" sz="800" b="1" dirty="0" smtClean="0">
              <a:cs typeface="+mj-cs"/>
            </a:endParaRPr>
          </a:p>
          <a:p>
            <a:pPr marL="0" indent="0" algn="just" rtl="1">
              <a:lnSpc>
                <a:spcPct val="175000"/>
              </a:lnSpc>
              <a:buNone/>
            </a:pP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─</a:t>
            </a:r>
            <a:r>
              <a:rPr lang="ar-DZ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	</a:t>
            </a:r>
            <a:r>
              <a:rPr lang="ar-DZ" sz="4400" b="1" u="db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u="dbl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اســتـعــمــال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لا 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سِــيَّــمَـا عــنــد الـوُلُـــوجِ إلـى الأقـــراص 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والـمــلـفــات 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مـن الأنـتـرنــت </a:t>
            </a:r>
            <a:endParaRPr lang="ar-DZ" sz="4400" b="1" dirty="0" smtClean="0">
              <a:cs typeface="+mj-cs"/>
            </a:endParaRPr>
          </a:p>
          <a:p>
            <a:pPr marL="0" indent="0" algn="just" rtl="1">
              <a:lnSpc>
                <a:spcPct val="165000"/>
              </a:lnSpc>
              <a:buNone/>
            </a:pPr>
            <a:endParaRPr lang="fr-FR" sz="3800" b="1" dirty="0">
              <a:solidFill>
                <a:srgbClr val="00206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277399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build="p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>
                <a:solidFill>
                  <a:srgbClr val="FF0000"/>
                </a:solidFill>
                <a:cs typeface="+mj-cs"/>
              </a:rPr>
              <a:t> </a:t>
            </a:r>
            <a:r>
              <a:rPr lang="ar-DZ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: ( </a:t>
            </a:r>
            <a:r>
              <a:rPr lang="ar-DZ" sz="4000" b="1" dirty="0" smtClean="0">
                <a:solidFill>
                  <a:srgbClr val="FF0000"/>
                </a:solidFill>
              </a:rPr>
              <a:t>الــوقـــايـــة </a:t>
            </a:r>
            <a:r>
              <a:rPr lang="ar-DZ" sz="4000" b="1" dirty="0">
                <a:solidFill>
                  <a:srgbClr val="FF0000"/>
                </a:solidFill>
              </a:rPr>
              <a:t>مـن  </a:t>
            </a:r>
            <a:r>
              <a:rPr lang="ar-DZ" sz="4000" b="1" dirty="0" smtClean="0">
                <a:solidFill>
                  <a:srgbClr val="FF0000"/>
                </a:solidFill>
              </a:rPr>
              <a:t>الــفــيـــروســــات –  تـــابــع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) 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19/10/2024</a:t>
            </a:fld>
            <a:endParaRPr lang="fr-BE" dirty="0"/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625350" y="1412775"/>
            <a:ext cx="10814992" cy="494357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buFont typeface="Arial" pitchFamily="34" charset="0"/>
              <a:buNone/>
            </a:pPr>
            <a:endParaRPr lang="ar-DZ" sz="800" b="1" dirty="0" smtClean="0">
              <a:cs typeface="+mj-cs"/>
            </a:endParaRPr>
          </a:p>
          <a:p>
            <a:pPr marL="0" indent="0" algn="just" rtl="1">
              <a:lnSpc>
                <a:spcPct val="175000"/>
              </a:lnSpc>
              <a:buNone/>
            </a:pP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─</a:t>
            </a:r>
            <a:r>
              <a:rPr lang="ar-DZ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	</a:t>
            </a:r>
            <a:r>
              <a:rPr lang="ar-DZ" sz="4400" b="1" u="db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u="dbl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اســتـعــمــال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لا 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سِــيَّــمَـا عــنــد الـوُلُـــوجِ إلـى الأقـــراص 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والـمــلـفــات 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مـن الأنـتـرنــت </a:t>
            </a:r>
            <a:endParaRPr lang="ar-DZ" sz="4400" b="1" dirty="0" smtClean="0">
              <a:cs typeface="+mj-cs"/>
            </a:endParaRPr>
          </a:p>
          <a:p>
            <a:pPr marL="0" indent="0" algn="just" rtl="1">
              <a:lnSpc>
                <a:spcPct val="165000"/>
              </a:lnSpc>
              <a:buNone/>
            </a:pPr>
            <a:endParaRPr lang="fr-FR" sz="3800" b="1" dirty="0">
              <a:solidFill>
                <a:srgbClr val="00206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927648" y="1867486"/>
            <a:ext cx="480547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مـضــاد الـفــيــروســات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089403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build="p" animBg="1"/>
      <p:bldP spid="7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>
                <a:solidFill>
                  <a:srgbClr val="FF0000"/>
                </a:solidFill>
                <a:cs typeface="+mj-cs"/>
              </a:rPr>
              <a:t> </a:t>
            </a:r>
            <a:r>
              <a:rPr lang="ar-DZ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: ( </a:t>
            </a:r>
            <a:r>
              <a:rPr lang="ar-DZ" sz="4000" b="1" dirty="0" smtClean="0">
                <a:solidFill>
                  <a:srgbClr val="FF0000"/>
                </a:solidFill>
              </a:rPr>
              <a:t>الــوقـــايـــة </a:t>
            </a:r>
            <a:r>
              <a:rPr lang="ar-DZ" sz="4000" b="1" dirty="0">
                <a:solidFill>
                  <a:srgbClr val="FF0000"/>
                </a:solidFill>
              </a:rPr>
              <a:t>مـن  </a:t>
            </a:r>
            <a:r>
              <a:rPr lang="ar-DZ" sz="4000" b="1" dirty="0" smtClean="0">
                <a:solidFill>
                  <a:srgbClr val="FF0000"/>
                </a:solidFill>
              </a:rPr>
              <a:t>الــفــيـــروســــات –  تـــابــع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) 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19/10/2024</a:t>
            </a:fld>
            <a:endParaRPr lang="fr-BE" dirty="0"/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625350" y="1412775"/>
            <a:ext cx="10814992" cy="494357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buFont typeface="Arial" pitchFamily="34" charset="0"/>
              <a:buNone/>
            </a:pPr>
            <a:endParaRPr lang="ar-DZ" sz="800" b="1" dirty="0" smtClean="0">
              <a:cs typeface="+mj-cs"/>
            </a:endParaRPr>
          </a:p>
          <a:p>
            <a:pPr marL="0" indent="0" algn="just" rtl="1">
              <a:lnSpc>
                <a:spcPct val="175000"/>
              </a:lnSpc>
              <a:buNone/>
            </a:pP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─</a:t>
            </a:r>
            <a:r>
              <a:rPr lang="ar-DZ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	</a:t>
            </a:r>
            <a:r>
              <a:rPr lang="ar-DZ" sz="4400" b="1" u="db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u="dbl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اســتـعــمــال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لا 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سِــيَّــمَـا عــنــد الـوُلُـــوجِ إلـى الأقـــراص 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والـمــلـفــات 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مـن الأنـتـرنــت </a:t>
            </a:r>
            <a:endParaRPr lang="ar-DZ" sz="4400" b="1" dirty="0" smtClean="0">
              <a:cs typeface="+mj-cs"/>
            </a:endParaRPr>
          </a:p>
          <a:p>
            <a:pPr marL="0" indent="0" algn="just" rtl="1">
              <a:lnSpc>
                <a:spcPct val="165000"/>
              </a:lnSpc>
              <a:buNone/>
            </a:pPr>
            <a:endParaRPr lang="fr-FR" sz="3800" b="1" dirty="0">
              <a:solidFill>
                <a:srgbClr val="00206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927648" y="1867486"/>
            <a:ext cx="480547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مـضــاد الـفــيــروســات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39416" y="3027453"/>
            <a:ext cx="288032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الـمــنــقــولــة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9860487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build="p" animBg="1"/>
      <p:bldP spid="7" grpId="0" animBg="1"/>
      <p:bldP spid="13" grpId="0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>
                <a:solidFill>
                  <a:srgbClr val="FF0000"/>
                </a:solidFill>
                <a:cs typeface="+mj-cs"/>
              </a:rPr>
              <a:t> </a:t>
            </a:r>
            <a:r>
              <a:rPr lang="ar-DZ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: ( </a:t>
            </a:r>
            <a:r>
              <a:rPr lang="ar-DZ" sz="4000" b="1" dirty="0" smtClean="0">
                <a:solidFill>
                  <a:srgbClr val="FF0000"/>
                </a:solidFill>
              </a:rPr>
              <a:t>الــوقـــايـــة </a:t>
            </a:r>
            <a:r>
              <a:rPr lang="ar-DZ" sz="4000" b="1" dirty="0">
                <a:solidFill>
                  <a:srgbClr val="FF0000"/>
                </a:solidFill>
              </a:rPr>
              <a:t>مـن  </a:t>
            </a:r>
            <a:r>
              <a:rPr lang="ar-DZ" sz="4000" b="1" dirty="0" smtClean="0">
                <a:solidFill>
                  <a:srgbClr val="FF0000"/>
                </a:solidFill>
              </a:rPr>
              <a:t>الــفــيـــروســــات –  تـــابــع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) 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19/10/2024</a:t>
            </a:fld>
            <a:endParaRPr lang="fr-BE" dirty="0"/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625350" y="1412775"/>
            <a:ext cx="10814992" cy="494357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buFont typeface="Arial" pitchFamily="34" charset="0"/>
              <a:buNone/>
            </a:pPr>
            <a:endParaRPr lang="ar-DZ" sz="800" b="1" dirty="0" smtClean="0">
              <a:cs typeface="+mj-cs"/>
            </a:endParaRPr>
          </a:p>
          <a:p>
            <a:pPr marL="0" indent="0" algn="just" rtl="1">
              <a:lnSpc>
                <a:spcPct val="175000"/>
              </a:lnSpc>
              <a:buNone/>
            </a:pP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─</a:t>
            </a:r>
            <a:r>
              <a:rPr lang="ar-DZ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	</a:t>
            </a:r>
            <a:r>
              <a:rPr lang="ar-DZ" sz="4400" b="1" u="db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u="dbl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اســتـعــمــال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لا 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سِــيَّــمَـا عــنــد الـوُلُـــوجِ إلـى الأقـــراص 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والـمــلـفــات 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مـن الأنـتـرنــت </a:t>
            </a:r>
            <a:endParaRPr lang="ar-DZ" sz="4400" b="1" dirty="0" smtClean="0">
              <a:cs typeface="+mj-cs"/>
            </a:endParaRPr>
          </a:p>
          <a:p>
            <a:pPr marL="0" indent="0" algn="just" rtl="1">
              <a:lnSpc>
                <a:spcPct val="165000"/>
              </a:lnSpc>
              <a:buNone/>
            </a:pPr>
            <a:endParaRPr lang="fr-FR" sz="3800" b="1" dirty="0">
              <a:solidFill>
                <a:srgbClr val="00206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927648" y="1867486"/>
            <a:ext cx="480547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مـضــاد الـفــيــروســات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39416" y="3027453"/>
            <a:ext cx="288032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الـمــنــقــولــة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168008" y="4203225"/>
            <a:ext cx="258434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الـمُـحَــمَّــلَــةِ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0578772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build="p" animBg="1"/>
      <p:bldP spid="7" grpId="0" animBg="1"/>
      <p:bldP spid="13" grpId="0" animBg="1"/>
      <p:bldP spid="10" grpId="0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b="1" dirty="0" smtClean="0">
                <a:solidFill>
                  <a:srgbClr val="FF0000"/>
                </a:solidFill>
                <a:cs typeface="+mj-cs"/>
              </a:rPr>
              <a:t>ســؤال </a:t>
            </a:r>
            <a:r>
              <a:rPr lang="ar-DZ" b="1" dirty="0">
                <a:solidFill>
                  <a:srgbClr val="FF0000"/>
                </a:solidFill>
                <a:cs typeface="+mj-cs"/>
              </a:rPr>
              <a:t>: 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هـل كــل الـمــواقــع آمــنــة أو مــضــمـــونــة ؟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19/10/2024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7608168" y="3544440"/>
            <a:ext cx="381642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غــيــر 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آمِـــنَــة 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09600" y="1699119"/>
            <a:ext cx="1081499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FF0000"/>
                </a:solidFill>
                <a:cs typeface="+mj-cs"/>
              </a:rPr>
              <a:t>مــواقــع الويــب  </a:t>
            </a:r>
            <a:r>
              <a:rPr lang="fr-FR" sz="4400" b="1" dirty="0">
                <a:solidFill>
                  <a:srgbClr val="FF0000"/>
                </a:solidFill>
                <a:cs typeface="+mj-cs"/>
              </a:rPr>
              <a:t>Sites </a:t>
            </a:r>
            <a:r>
              <a:rPr lang="fr-FR" sz="4400" b="1" dirty="0" smtClean="0">
                <a:solidFill>
                  <a:srgbClr val="FF0000"/>
                </a:solidFill>
                <a:cs typeface="+mj-cs"/>
              </a:rPr>
              <a:t>Web</a:t>
            </a:r>
            <a:r>
              <a:rPr lang="ar-DZ" sz="4400" b="1" dirty="0" smtClean="0">
                <a:solidFill>
                  <a:srgbClr val="FF0000"/>
                </a:solidFill>
                <a:cs typeface="+mj-cs"/>
              </a:rPr>
              <a:t>  :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13422" y="3544440"/>
            <a:ext cx="388800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آمِـــنَــة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" name="Connecteur droit avec flèche 14"/>
          <p:cNvCxnSpPr>
            <a:endCxn id="18" idx="3"/>
          </p:cNvCxnSpPr>
          <p:nvPr/>
        </p:nvCxnSpPr>
        <p:spPr>
          <a:xfrm flipH="1">
            <a:off x="4501422" y="2492896"/>
            <a:ext cx="1296576" cy="144843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necteur droit avec flèche 15"/>
          <p:cNvCxnSpPr>
            <a:endCxn id="6" idx="1"/>
          </p:cNvCxnSpPr>
          <p:nvPr/>
        </p:nvCxnSpPr>
        <p:spPr>
          <a:xfrm>
            <a:off x="6168008" y="2477137"/>
            <a:ext cx="1440160" cy="146419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Espace réservé du contenu 21"/>
          <p:cNvSpPr txBox="1">
            <a:spLocks/>
          </p:cNvSpPr>
          <p:nvPr/>
        </p:nvSpPr>
        <p:spPr>
          <a:xfrm>
            <a:off x="7608168" y="4759761"/>
            <a:ext cx="3816424" cy="126000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</a:t>
            </a:r>
            <a:endParaRPr lang="fr-FR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32" name="Espace réservé du contenu 21"/>
          <p:cNvSpPr txBox="1">
            <a:spLocks/>
          </p:cNvSpPr>
          <p:nvPr/>
        </p:nvSpPr>
        <p:spPr>
          <a:xfrm>
            <a:off x="609600" y="4759761"/>
            <a:ext cx="4140000" cy="126000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</a:t>
            </a:r>
            <a:endParaRPr lang="fr-FR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789904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1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4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13" grpId="0" animBg="1"/>
      <p:bldP spid="18" grpId="0" animBg="1"/>
      <p:bldP spid="31" grpId="0" animBg="1"/>
      <p:bldP spid="32" grpId="0" animBg="1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b="1" dirty="0" smtClean="0">
                <a:solidFill>
                  <a:srgbClr val="FF0000"/>
                </a:solidFill>
                <a:cs typeface="+mj-cs"/>
              </a:rPr>
              <a:t>ســؤال </a:t>
            </a:r>
            <a:r>
              <a:rPr lang="ar-DZ" b="1" dirty="0">
                <a:solidFill>
                  <a:srgbClr val="FF0000"/>
                </a:solidFill>
                <a:cs typeface="+mj-cs"/>
              </a:rPr>
              <a:t>: 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هـل كــل الـمــواقــع آمــنــة أو مــضــمـــونــة ؟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19/10/2024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7608168" y="3544440"/>
            <a:ext cx="381642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غــيــر 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آمِـــنَــة 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09600" y="1699119"/>
            <a:ext cx="1081499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FF0000"/>
                </a:solidFill>
                <a:cs typeface="+mj-cs"/>
              </a:rPr>
              <a:t>مــواقــع الويــب  </a:t>
            </a:r>
            <a:r>
              <a:rPr lang="fr-FR" sz="4400" b="1" dirty="0">
                <a:solidFill>
                  <a:srgbClr val="FF0000"/>
                </a:solidFill>
                <a:cs typeface="+mj-cs"/>
              </a:rPr>
              <a:t>Sites </a:t>
            </a:r>
            <a:r>
              <a:rPr lang="fr-FR" sz="4400" b="1" dirty="0" smtClean="0">
                <a:solidFill>
                  <a:srgbClr val="FF0000"/>
                </a:solidFill>
                <a:cs typeface="+mj-cs"/>
              </a:rPr>
              <a:t>Web</a:t>
            </a:r>
            <a:r>
              <a:rPr lang="ar-DZ" sz="4400" b="1" dirty="0" smtClean="0">
                <a:solidFill>
                  <a:srgbClr val="FF0000"/>
                </a:solidFill>
                <a:cs typeface="+mj-cs"/>
              </a:rPr>
              <a:t>  :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13422" y="3544440"/>
            <a:ext cx="388800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آمِـــنَــة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" name="Connecteur droit avec flèche 14"/>
          <p:cNvCxnSpPr>
            <a:endCxn id="18" idx="3"/>
          </p:cNvCxnSpPr>
          <p:nvPr/>
        </p:nvCxnSpPr>
        <p:spPr>
          <a:xfrm flipH="1">
            <a:off x="4501422" y="2492896"/>
            <a:ext cx="1296576" cy="144843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necteur droit avec flèche 15"/>
          <p:cNvCxnSpPr>
            <a:endCxn id="6" idx="1"/>
          </p:cNvCxnSpPr>
          <p:nvPr/>
        </p:nvCxnSpPr>
        <p:spPr>
          <a:xfrm>
            <a:off x="6168008" y="2477137"/>
            <a:ext cx="1440160" cy="146419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Espace réservé du contenu 21"/>
          <p:cNvSpPr txBox="1">
            <a:spLocks/>
          </p:cNvSpPr>
          <p:nvPr/>
        </p:nvSpPr>
        <p:spPr>
          <a:xfrm>
            <a:off x="7608168" y="4759761"/>
            <a:ext cx="3816424" cy="126000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fr-FR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http</a:t>
            </a:r>
            <a:r>
              <a:rPr lang="fr-FR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://</a:t>
            </a:r>
            <a:endParaRPr lang="fr-FR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2" name="Espace réservé du contenu 21"/>
          <p:cNvSpPr txBox="1">
            <a:spLocks/>
          </p:cNvSpPr>
          <p:nvPr/>
        </p:nvSpPr>
        <p:spPr>
          <a:xfrm>
            <a:off x="609600" y="4759761"/>
            <a:ext cx="4140000" cy="126000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fr-FR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https</a:t>
            </a:r>
            <a:r>
              <a:rPr lang="fr-FR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://</a:t>
            </a:r>
            <a:endParaRPr lang="fr-FR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35322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1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4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13" grpId="0" animBg="1"/>
      <p:bldP spid="18" grpId="0" animBg="1"/>
      <p:bldP spid="31" grpId="0" animBg="1"/>
      <p:bldP spid="32" grpId="0" animBg="1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>
                <a:solidFill>
                  <a:srgbClr val="FF0000"/>
                </a:solidFill>
                <a:cs typeface="+mj-cs"/>
              </a:rPr>
              <a:t> </a:t>
            </a:r>
            <a:r>
              <a:rPr lang="ar-DZ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: ( </a:t>
            </a:r>
            <a:r>
              <a:rPr lang="ar-DZ" sz="4000" b="1" dirty="0" smtClean="0">
                <a:solidFill>
                  <a:srgbClr val="FF0000"/>
                </a:solidFill>
              </a:rPr>
              <a:t>الــوقـــايـــة </a:t>
            </a:r>
            <a:r>
              <a:rPr lang="ar-DZ" sz="4000" b="1" dirty="0">
                <a:solidFill>
                  <a:srgbClr val="FF0000"/>
                </a:solidFill>
              </a:rPr>
              <a:t>مـن  </a:t>
            </a:r>
            <a:r>
              <a:rPr lang="ar-DZ" sz="4000" b="1" dirty="0" smtClean="0">
                <a:solidFill>
                  <a:srgbClr val="FF0000"/>
                </a:solidFill>
              </a:rPr>
              <a:t>الــفــيـــروســــات –  تـــابــع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) 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19/10/2024</a:t>
            </a:fld>
            <a:endParaRPr lang="fr-BE" dirty="0"/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625350" y="1412775"/>
            <a:ext cx="10814992" cy="494357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buFont typeface="Arial" pitchFamily="34" charset="0"/>
              <a:buNone/>
            </a:pPr>
            <a:endParaRPr lang="ar-DZ" sz="800" b="1" dirty="0" smtClean="0">
              <a:cs typeface="+mj-cs"/>
            </a:endParaRPr>
          </a:p>
          <a:p>
            <a:pPr marL="0" indent="0" algn="just" rtl="1">
              <a:lnSpc>
                <a:spcPct val="165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─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	</a:t>
            </a:r>
            <a:r>
              <a:rPr lang="ar-DZ" sz="4000" b="1" u="dbl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تـحــمـــيـــل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</a:t>
            </a:r>
            <a:r>
              <a:rPr lang="ar-DZ" sz="1400" b="1" spc="-15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مـن مـواقـع</a:t>
            </a:r>
            <a:r>
              <a:rPr lang="ar-DZ" sz="1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وتــبــادل الـمــلــفــات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مـع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أشــخــاص 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بِـهِـمْ</a:t>
            </a:r>
          </a:p>
          <a:p>
            <a:pPr marL="0" indent="0" algn="just" rtl="1">
              <a:lnSpc>
                <a:spcPct val="165000"/>
              </a:lnSpc>
              <a:buNone/>
            </a:pPr>
            <a:r>
              <a:rPr lang="fr-FR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-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الـتـعــامـل بِـحَـذَرٍ مع 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الـمـجـهـولـة 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 </a:t>
            </a:r>
            <a:r>
              <a:rPr lang="ar-DZ" sz="4000" b="1" u="db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والـمُــرْفَــقَــة بــمــلـفــات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أو 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مُــرِيــبَــةٍ </a:t>
            </a:r>
            <a:endParaRPr lang="fr-FR" sz="40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373609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build="p" animBg="1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>
                <a:solidFill>
                  <a:srgbClr val="FF0000"/>
                </a:solidFill>
                <a:cs typeface="+mj-cs"/>
              </a:rPr>
              <a:t> </a:t>
            </a:r>
            <a:r>
              <a:rPr lang="ar-DZ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: ( </a:t>
            </a:r>
            <a:r>
              <a:rPr lang="ar-DZ" sz="4000" b="1" dirty="0" smtClean="0">
                <a:solidFill>
                  <a:srgbClr val="FF0000"/>
                </a:solidFill>
              </a:rPr>
              <a:t>الــوقـــايـــة </a:t>
            </a:r>
            <a:r>
              <a:rPr lang="ar-DZ" sz="4000" b="1" dirty="0">
                <a:solidFill>
                  <a:srgbClr val="FF0000"/>
                </a:solidFill>
              </a:rPr>
              <a:t>مـن  </a:t>
            </a:r>
            <a:r>
              <a:rPr lang="ar-DZ" sz="4000" b="1" dirty="0" smtClean="0">
                <a:solidFill>
                  <a:srgbClr val="FF0000"/>
                </a:solidFill>
              </a:rPr>
              <a:t>الــفــيـــروســــات –  تـــابــع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) 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19/10/2024</a:t>
            </a:fld>
            <a:endParaRPr lang="fr-BE" dirty="0"/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625350" y="1412775"/>
            <a:ext cx="10814992" cy="494357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buFont typeface="Arial" pitchFamily="34" charset="0"/>
              <a:buNone/>
            </a:pPr>
            <a:endParaRPr lang="ar-DZ" sz="800" b="1" dirty="0" smtClean="0">
              <a:cs typeface="+mj-cs"/>
            </a:endParaRPr>
          </a:p>
          <a:p>
            <a:pPr marL="0" indent="0" algn="just" rtl="1">
              <a:lnSpc>
                <a:spcPct val="165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─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	</a:t>
            </a:r>
            <a:r>
              <a:rPr lang="ar-DZ" sz="4000" b="1" u="dbl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تـحــمـــيـــل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</a:t>
            </a:r>
            <a:r>
              <a:rPr lang="ar-DZ" sz="1400" b="1" spc="-15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مـن مـواقـع</a:t>
            </a:r>
            <a:r>
              <a:rPr lang="ar-DZ" sz="1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وتــبــادل الـمــلــفــات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مـع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أشــخــاص 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بِـهِـمْ</a:t>
            </a:r>
          </a:p>
          <a:p>
            <a:pPr marL="0" indent="0" algn="just" rtl="1">
              <a:lnSpc>
                <a:spcPct val="165000"/>
              </a:lnSpc>
              <a:buNone/>
            </a:pPr>
            <a:r>
              <a:rPr lang="fr-FR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-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الـتـعــامـل بِـحَـذَرٍ مع 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الـمـجـهـولـة 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 </a:t>
            </a:r>
            <a:r>
              <a:rPr lang="ar-DZ" sz="4000" b="1" u="db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والـمُــرْفَــقَــة بــمــلـفــات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أو 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مُــرِيــبَــةٍ </a:t>
            </a:r>
            <a:endParaRPr lang="fr-FR" sz="40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735960" y="1733416"/>
            <a:ext cx="259228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الـبــرامــج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40388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build="p" animBg="1"/>
      <p:bldP spid="7" grpId="0" animBg="1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>
                <a:solidFill>
                  <a:srgbClr val="FF0000"/>
                </a:solidFill>
                <a:cs typeface="+mj-cs"/>
              </a:rPr>
              <a:t> </a:t>
            </a:r>
            <a:r>
              <a:rPr lang="ar-DZ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: ( </a:t>
            </a:r>
            <a:r>
              <a:rPr lang="ar-DZ" sz="4000" b="1" dirty="0" smtClean="0">
                <a:solidFill>
                  <a:srgbClr val="FF0000"/>
                </a:solidFill>
              </a:rPr>
              <a:t>الــوقـــايـــة </a:t>
            </a:r>
            <a:r>
              <a:rPr lang="ar-DZ" sz="4000" b="1" dirty="0">
                <a:solidFill>
                  <a:srgbClr val="FF0000"/>
                </a:solidFill>
              </a:rPr>
              <a:t>مـن  </a:t>
            </a:r>
            <a:r>
              <a:rPr lang="ar-DZ" sz="4000" b="1" dirty="0" smtClean="0">
                <a:solidFill>
                  <a:srgbClr val="FF0000"/>
                </a:solidFill>
              </a:rPr>
              <a:t>الــفــيـــروســــات –  تـــابــع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) 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19/10/2024</a:t>
            </a:fld>
            <a:endParaRPr lang="fr-BE" dirty="0"/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625350" y="1412775"/>
            <a:ext cx="10814992" cy="494357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buFont typeface="Arial" pitchFamily="34" charset="0"/>
              <a:buNone/>
            </a:pPr>
            <a:endParaRPr lang="ar-DZ" sz="800" b="1" dirty="0" smtClean="0">
              <a:cs typeface="+mj-cs"/>
            </a:endParaRPr>
          </a:p>
          <a:p>
            <a:pPr marL="0" indent="0" algn="just" rtl="1">
              <a:lnSpc>
                <a:spcPct val="165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─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	</a:t>
            </a:r>
            <a:r>
              <a:rPr lang="ar-DZ" sz="4000" b="1" u="dbl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تـحــمـــيـــل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</a:t>
            </a:r>
            <a:r>
              <a:rPr lang="ar-DZ" sz="1400" b="1" spc="-15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مـن مـواقـع</a:t>
            </a:r>
            <a:r>
              <a:rPr lang="ar-DZ" sz="1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وتــبــادل الـمــلــفــات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مـع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أشــخــاص 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بِـهِـمْ</a:t>
            </a:r>
          </a:p>
          <a:p>
            <a:pPr marL="0" indent="0" algn="just" rtl="1">
              <a:lnSpc>
                <a:spcPct val="165000"/>
              </a:lnSpc>
              <a:buNone/>
            </a:pPr>
            <a:r>
              <a:rPr lang="fr-FR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-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الـتـعــامـل بِـحَـذَرٍ مع 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الـمـجـهـولـة 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 </a:t>
            </a:r>
            <a:r>
              <a:rPr lang="ar-DZ" sz="4000" b="1" u="db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والـمُــرْفَــقَــة بــمــلـفــات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أو 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مُــرِيــبَــةٍ </a:t>
            </a:r>
            <a:endParaRPr lang="fr-FR" sz="40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735960" y="1733416"/>
            <a:ext cx="259228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الـبــرامــج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58734" y="1742544"/>
            <a:ext cx="245694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مَـضْـمُـونَـة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710590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build="p" animBg="1"/>
      <p:bldP spid="7" grpId="0" animBg="1"/>
      <p:bldP spid="8" grpId="0" animBg="1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>
                <a:solidFill>
                  <a:srgbClr val="FF0000"/>
                </a:solidFill>
                <a:cs typeface="+mj-cs"/>
              </a:rPr>
              <a:t> </a:t>
            </a:r>
            <a:r>
              <a:rPr lang="ar-DZ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: ( </a:t>
            </a:r>
            <a:r>
              <a:rPr lang="ar-DZ" sz="4000" b="1" dirty="0" smtClean="0">
                <a:solidFill>
                  <a:srgbClr val="FF0000"/>
                </a:solidFill>
              </a:rPr>
              <a:t>الــوقـــايـــة </a:t>
            </a:r>
            <a:r>
              <a:rPr lang="ar-DZ" sz="4000" b="1" dirty="0">
                <a:solidFill>
                  <a:srgbClr val="FF0000"/>
                </a:solidFill>
              </a:rPr>
              <a:t>مـن  </a:t>
            </a:r>
            <a:r>
              <a:rPr lang="ar-DZ" sz="4000" b="1" dirty="0" smtClean="0">
                <a:solidFill>
                  <a:srgbClr val="FF0000"/>
                </a:solidFill>
              </a:rPr>
              <a:t>الــفــيـــروســــات –  تـــابــع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) 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19/10/2024</a:t>
            </a:fld>
            <a:endParaRPr lang="fr-BE" dirty="0"/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625350" y="1412775"/>
            <a:ext cx="10814992" cy="494357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buFont typeface="Arial" pitchFamily="34" charset="0"/>
              <a:buNone/>
            </a:pPr>
            <a:endParaRPr lang="ar-DZ" sz="800" b="1" dirty="0" smtClean="0">
              <a:cs typeface="+mj-cs"/>
            </a:endParaRPr>
          </a:p>
          <a:p>
            <a:pPr marL="0" indent="0" algn="just" rtl="1">
              <a:lnSpc>
                <a:spcPct val="165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─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	</a:t>
            </a:r>
            <a:r>
              <a:rPr lang="ar-DZ" sz="4000" b="1" u="dbl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تـحــمـــيـــل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</a:t>
            </a:r>
            <a:r>
              <a:rPr lang="ar-DZ" sz="1400" b="1" spc="-15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مـن مـواقـع</a:t>
            </a:r>
            <a:r>
              <a:rPr lang="ar-DZ" sz="1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وتــبــادل الـمــلــفــات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مـع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أشــخــاص 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بِـهِـمْ</a:t>
            </a:r>
          </a:p>
          <a:p>
            <a:pPr marL="0" indent="0" algn="just" rtl="1">
              <a:lnSpc>
                <a:spcPct val="165000"/>
              </a:lnSpc>
              <a:buNone/>
            </a:pPr>
            <a:r>
              <a:rPr lang="fr-FR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-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الـتـعــامـل بِـحَـذَرٍ مع 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الـمـجـهـولـة 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 </a:t>
            </a:r>
            <a:r>
              <a:rPr lang="ar-DZ" sz="4000" b="1" u="db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والـمُــرْفَــقَــة بــمــلـفــات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أو 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مُــرِيــبَــةٍ </a:t>
            </a:r>
            <a:endParaRPr lang="fr-FR" sz="40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735960" y="1733416"/>
            <a:ext cx="259228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الـبــرامــج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711624" y="2732380"/>
            <a:ext cx="237626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مَــوْثُــوقٌ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58734" y="1742544"/>
            <a:ext cx="245694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مَـضْـمُـونَـة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152340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build="p" animBg="1"/>
      <p:bldP spid="7" grpId="0" animBg="1"/>
      <p:bldP spid="13" grpId="0" animBg="1"/>
      <p:bldP spid="8" grpId="0" animBg="1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ســؤال </a:t>
            </a:r>
            <a:r>
              <a:rPr lang="ar-DZ" sz="4000" b="1" dirty="0">
                <a:solidFill>
                  <a:srgbClr val="FF0000"/>
                </a:solidFill>
                <a:cs typeface="+mj-cs"/>
              </a:rPr>
              <a:t>: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هـل كـل الـرســائــل الإلـكـتــرونـيـة آمــنـة ومـضـمـونـة ؟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19/10/2024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7608168" y="3544440"/>
            <a:ext cx="381642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09600" y="1699119"/>
            <a:ext cx="1081499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>
                <a:solidFill>
                  <a:srgbClr val="FF0000"/>
                </a:solidFill>
                <a:cs typeface="+mj-cs"/>
              </a:rPr>
              <a:t>الـرســائــل </a:t>
            </a:r>
            <a:r>
              <a:rPr lang="ar-DZ" sz="4400" b="1" dirty="0" smtClean="0">
                <a:solidFill>
                  <a:srgbClr val="FF0000"/>
                </a:solidFill>
                <a:cs typeface="+mj-cs"/>
              </a:rPr>
              <a:t>الـمــجــهــولــة</a:t>
            </a:r>
            <a:r>
              <a:rPr lang="fr-FR" sz="44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sz="4400" b="1" dirty="0" smtClean="0">
                <a:solidFill>
                  <a:srgbClr val="FF0000"/>
                </a:solidFill>
                <a:cs typeface="+mj-cs"/>
              </a:rPr>
              <a:t>قَــدْ تَــضُـمُ : 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13422" y="3544440"/>
            <a:ext cx="388800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" name="Connecteur droit avec flèche 14"/>
          <p:cNvCxnSpPr>
            <a:endCxn id="18" idx="3"/>
          </p:cNvCxnSpPr>
          <p:nvPr/>
        </p:nvCxnSpPr>
        <p:spPr>
          <a:xfrm flipH="1">
            <a:off x="4501422" y="2492896"/>
            <a:ext cx="1296576" cy="144843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necteur droit avec flèche 15"/>
          <p:cNvCxnSpPr>
            <a:endCxn id="6" idx="1"/>
          </p:cNvCxnSpPr>
          <p:nvPr/>
        </p:nvCxnSpPr>
        <p:spPr>
          <a:xfrm>
            <a:off x="6168008" y="2477137"/>
            <a:ext cx="1440160" cy="146419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Espace réservé du contenu 21"/>
          <p:cNvSpPr txBox="1">
            <a:spLocks/>
          </p:cNvSpPr>
          <p:nvPr/>
        </p:nvSpPr>
        <p:spPr>
          <a:xfrm>
            <a:off x="7392144" y="4818934"/>
            <a:ext cx="4032448" cy="126000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36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</a:t>
            </a:r>
            <a:endParaRPr lang="fr-FR" sz="36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32" name="Espace réservé du contenu 21"/>
          <p:cNvSpPr txBox="1">
            <a:spLocks/>
          </p:cNvSpPr>
          <p:nvPr/>
        </p:nvSpPr>
        <p:spPr>
          <a:xfrm>
            <a:off x="487422" y="4818934"/>
            <a:ext cx="4140000" cy="126000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36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</a:t>
            </a:r>
            <a:endParaRPr lang="fr-FR" sz="36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893867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1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4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13" grpId="0" animBg="1"/>
      <p:bldP spid="18" grpId="0" animBg="1"/>
      <p:bldP spid="31" grpId="0" animBg="1"/>
      <p:bldP spid="32" grpId="0" animBg="1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ســؤال </a:t>
            </a:r>
            <a:r>
              <a:rPr lang="ar-DZ" sz="4000" b="1" dirty="0">
                <a:solidFill>
                  <a:srgbClr val="FF0000"/>
                </a:solidFill>
                <a:cs typeface="+mj-cs"/>
              </a:rPr>
              <a:t>: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هـل كـل الـرســائــل الإلـكـتــرونـيـة آمــنـة ومـضـمـونـة ؟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19/10/2024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7608168" y="3544440"/>
            <a:ext cx="381642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مــلــفــات مُــرْفَــقَــة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09600" y="1699119"/>
            <a:ext cx="1081499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>
                <a:solidFill>
                  <a:srgbClr val="FF0000"/>
                </a:solidFill>
                <a:cs typeface="+mj-cs"/>
              </a:rPr>
              <a:t>الـرســائــل </a:t>
            </a:r>
            <a:r>
              <a:rPr lang="ar-DZ" sz="4400" b="1" dirty="0" smtClean="0">
                <a:solidFill>
                  <a:srgbClr val="FF0000"/>
                </a:solidFill>
                <a:cs typeface="+mj-cs"/>
              </a:rPr>
              <a:t>الـمــجــهــولــة</a:t>
            </a:r>
            <a:r>
              <a:rPr lang="fr-FR" sz="44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sz="4400" b="1" dirty="0" smtClean="0">
                <a:solidFill>
                  <a:srgbClr val="FF0000"/>
                </a:solidFill>
                <a:cs typeface="+mj-cs"/>
              </a:rPr>
              <a:t>قَــدْ تَــضُـمُ : 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13422" y="3544440"/>
            <a:ext cx="388800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روابــط مُـرِيـــبَــة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" name="Connecteur droit avec flèche 14"/>
          <p:cNvCxnSpPr>
            <a:endCxn id="18" idx="3"/>
          </p:cNvCxnSpPr>
          <p:nvPr/>
        </p:nvCxnSpPr>
        <p:spPr>
          <a:xfrm flipH="1">
            <a:off x="4501422" y="2492896"/>
            <a:ext cx="1296576" cy="144843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necteur droit avec flèche 15"/>
          <p:cNvCxnSpPr>
            <a:endCxn id="6" idx="1"/>
          </p:cNvCxnSpPr>
          <p:nvPr/>
        </p:nvCxnSpPr>
        <p:spPr>
          <a:xfrm>
            <a:off x="6168008" y="2477137"/>
            <a:ext cx="1440160" cy="146419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Espace réservé du contenu 21"/>
          <p:cNvSpPr txBox="1">
            <a:spLocks/>
          </p:cNvSpPr>
          <p:nvPr/>
        </p:nvSpPr>
        <p:spPr>
          <a:xfrm>
            <a:off x="7392144" y="4818934"/>
            <a:ext cx="4032448" cy="126000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fr-FR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Pièces Jointes</a:t>
            </a:r>
            <a:endParaRPr lang="fr-FR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2" name="Espace réservé du contenu 21"/>
          <p:cNvSpPr txBox="1">
            <a:spLocks/>
          </p:cNvSpPr>
          <p:nvPr/>
        </p:nvSpPr>
        <p:spPr>
          <a:xfrm>
            <a:off x="487422" y="4818934"/>
            <a:ext cx="4140000" cy="126000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fr-FR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Liens suspects</a:t>
            </a:r>
            <a:endParaRPr lang="fr-FR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277724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1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4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13" grpId="0" animBg="1"/>
      <p:bldP spid="18" grpId="0" animBg="1"/>
      <p:bldP spid="31" grpId="0" animBg="1"/>
      <p:bldP spid="32" grpId="0" animBg="1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>
                <a:solidFill>
                  <a:srgbClr val="FF0000"/>
                </a:solidFill>
                <a:cs typeface="+mj-cs"/>
              </a:rPr>
              <a:t> </a:t>
            </a:r>
            <a:r>
              <a:rPr lang="ar-DZ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: ( </a:t>
            </a:r>
            <a:r>
              <a:rPr lang="ar-DZ" sz="4000" b="1" dirty="0" smtClean="0">
                <a:solidFill>
                  <a:srgbClr val="FF0000"/>
                </a:solidFill>
              </a:rPr>
              <a:t>الــوقـــايـــة </a:t>
            </a:r>
            <a:r>
              <a:rPr lang="ar-DZ" sz="4000" b="1" dirty="0">
                <a:solidFill>
                  <a:srgbClr val="FF0000"/>
                </a:solidFill>
              </a:rPr>
              <a:t>مـن  </a:t>
            </a:r>
            <a:r>
              <a:rPr lang="ar-DZ" sz="4000" b="1" dirty="0" smtClean="0">
                <a:solidFill>
                  <a:srgbClr val="FF0000"/>
                </a:solidFill>
              </a:rPr>
              <a:t>الــفــيـــروســــات –  تـــابــع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) 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19/10/2024</a:t>
            </a:fld>
            <a:endParaRPr lang="fr-BE" dirty="0"/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625350" y="1412775"/>
            <a:ext cx="10814992" cy="494357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buFont typeface="Arial" pitchFamily="34" charset="0"/>
              <a:buNone/>
            </a:pPr>
            <a:endParaRPr lang="ar-DZ" sz="800" b="1" dirty="0" smtClean="0">
              <a:cs typeface="+mj-cs"/>
            </a:endParaRPr>
          </a:p>
          <a:p>
            <a:pPr marL="0" indent="0" algn="just" rtl="1">
              <a:lnSpc>
                <a:spcPct val="165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─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	</a:t>
            </a:r>
            <a:r>
              <a:rPr lang="ar-DZ" sz="4000" b="1" u="dbl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تـحــمـــيـــل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</a:t>
            </a:r>
            <a:r>
              <a:rPr lang="ar-DZ" sz="1400" b="1" spc="-15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مـن مـواقـع</a:t>
            </a:r>
            <a:r>
              <a:rPr lang="ar-DZ" sz="1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وتــبــادل الـمــلــفــات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مـع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أشــخــاص 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بِـهِـمْ</a:t>
            </a:r>
          </a:p>
          <a:p>
            <a:pPr marL="0" indent="0" algn="just" rtl="1">
              <a:lnSpc>
                <a:spcPct val="165000"/>
              </a:lnSpc>
              <a:buNone/>
            </a:pPr>
            <a:r>
              <a:rPr lang="fr-FR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-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الـتـعــامـل بِـحَـذَرٍ مع 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الـمـجـهـولـة 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 </a:t>
            </a:r>
            <a:r>
              <a:rPr lang="ar-DZ" sz="4000" b="1" u="db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والـمُــرْفَــقَــة بــمــلـفــات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أو 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مُــرِيــبَــةٍ </a:t>
            </a:r>
            <a:endParaRPr lang="fr-FR" sz="40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735960" y="1733416"/>
            <a:ext cx="259228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الـبــرامــج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711624" y="2732380"/>
            <a:ext cx="237626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مَــوْثُــوقٌ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58734" y="1742544"/>
            <a:ext cx="245694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مَـضْـمُـونَـة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1066454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build="p" animBg="1"/>
      <p:bldP spid="7" grpId="0" animBg="1"/>
      <p:bldP spid="13" grpId="0" animBg="1"/>
      <p:bldP spid="8" grpId="0" animBg="1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>
                <a:solidFill>
                  <a:srgbClr val="FF0000"/>
                </a:solidFill>
                <a:cs typeface="+mj-cs"/>
              </a:rPr>
              <a:t> </a:t>
            </a:r>
            <a:r>
              <a:rPr lang="ar-DZ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: ( </a:t>
            </a:r>
            <a:r>
              <a:rPr lang="ar-DZ" sz="4000" b="1" dirty="0" smtClean="0">
                <a:solidFill>
                  <a:srgbClr val="FF0000"/>
                </a:solidFill>
              </a:rPr>
              <a:t>الــوقـــايـــة </a:t>
            </a:r>
            <a:r>
              <a:rPr lang="ar-DZ" sz="4000" b="1" dirty="0">
                <a:solidFill>
                  <a:srgbClr val="FF0000"/>
                </a:solidFill>
              </a:rPr>
              <a:t>مـن  </a:t>
            </a:r>
            <a:r>
              <a:rPr lang="ar-DZ" sz="4000" b="1" dirty="0" smtClean="0">
                <a:solidFill>
                  <a:srgbClr val="FF0000"/>
                </a:solidFill>
              </a:rPr>
              <a:t>الــفــيـــروســــات –  تـــابــع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) 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19/10/2024</a:t>
            </a:fld>
            <a:endParaRPr lang="fr-BE" dirty="0"/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625350" y="1412775"/>
            <a:ext cx="10814992" cy="494357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buFont typeface="Arial" pitchFamily="34" charset="0"/>
              <a:buNone/>
            </a:pPr>
            <a:endParaRPr lang="ar-DZ" sz="800" b="1" dirty="0" smtClean="0">
              <a:cs typeface="+mj-cs"/>
            </a:endParaRPr>
          </a:p>
          <a:p>
            <a:pPr marL="0" indent="0" algn="just" rtl="1">
              <a:lnSpc>
                <a:spcPct val="165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─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	</a:t>
            </a:r>
            <a:r>
              <a:rPr lang="ar-DZ" sz="4000" b="1" u="dbl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تـحــمـــيـــل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</a:t>
            </a:r>
            <a:r>
              <a:rPr lang="ar-DZ" sz="1400" b="1" spc="-15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مـن مـواقـع</a:t>
            </a:r>
            <a:r>
              <a:rPr lang="ar-DZ" sz="1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وتــبــادل الـمــلــفــات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مـع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أشــخــاص 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بِـهِـمْ</a:t>
            </a:r>
          </a:p>
          <a:p>
            <a:pPr marL="0" indent="0" algn="just" rtl="1">
              <a:lnSpc>
                <a:spcPct val="165000"/>
              </a:lnSpc>
              <a:buNone/>
            </a:pPr>
            <a:r>
              <a:rPr lang="fr-FR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-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الـتـعــامـل بِـحَـذَرٍ مع 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الـمـجـهـولـة 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 </a:t>
            </a:r>
            <a:r>
              <a:rPr lang="ar-DZ" sz="4000" b="1" u="db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والـمُــرْفَــقَــة بــمــلـفــات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أو 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مُــرِيــبَــةٍ </a:t>
            </a:r>
            <a:endParaRPr lang="fr-FR" sz="40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735960" y="1733416"/>
            <a:ext cx="259228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الـبــرامــج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711624" y="2732380"/>
            <a:ext cx="237626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مَــوْثُــوقٌ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58734" y="1742544"/>
            <a:ext cx="245694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مَـضْـمُـونَـة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899072" y="3859359"/>
            <a:ext cx="453650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الـرسـائـل الإلـكـتـرونـيـة 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7828588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build="p" animBg="1"/>
      <p:bldP spid="7" grpId="0" animBg="1"/>
      <p:bldP spid="13" grpId="0" animBg="1"/>
      <p:bldP spid="8" grpId="0" animBg="1"/>
      <p:bldP spid="9" grpId="0" animBg="1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>
                <a:solidFill>
                  <a:srgbClr val="FF0000"/>
                </a:solidFill>
                <a:cs typeface="+mj-cs"/>
              </a:rPr>
              <a:t> </a:t>
            </a:r>
            <a:r>
              <a:rPr lang="ar-DZ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: ( </a:t>
            </a:r>
            <a:r>
              <a:rPr lang="ar-DZ" sz="4000" b="1" dirty="0" smtClean="0">
                <a:solidFill>
                  <a:srgbClr val="FF0000"/>
                </a:solidFill>
              </a:rPr>
              <a:t>الــوقـــايـــة </a:t>
            </a:r>
            <a:r>
              <a:rPr lang="ar-DZ" sz="4000" b="1" dirty="0">
                <a:solidFill>
                  <a:srgbClr val="FF0000"/>
                </a:solidFill>
              </a:rPr>
              <a:t>مـن  </a:t>
            </a:r>
            <a:r>
              <a:rPr lang="ar-DZ" sz="4000" b="1" dirty="0" smtClean="0">
                <a:solidFill>
                  <a:srgbClr val="FF0000"/>
                </a:solidFill>
              </a:rPr>
              <a:t>الــفــيـــروســــات –  تـــابــع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) 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19/10/2024</a:t>
            </a:fld>
            <a:endParaRPr lang="fr-BE" dirty="0"/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625350" y="1412775"/>
            <a:ext cx="10814992" cy="494357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buFont typeface="Arial" pitchFamily="34" charset="0"/>
              <a:buNone/>
            </a:pPr>
            <a:endParaRPr lang="ar-DZ" sz="800" b="1" dirty="0" smtClean="0">
              <a:cs typeface="+mj-cs"/>
            </a:endParaRPr>
          </a:p>
          <a:p>
            <a:pPr marL="0" indent="0" algn="just" rtl="1">
              <a:lnSpc>
                <a:spcPct val="165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─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	</a:t>
            </a:r>
            <a:r>
              <a:rPr lang="ar-DZ" sz="4000" b="1" u="dbl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تـحــمـــيـــل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</a:t>
            </a:r>
            <a:r>
              <a:rPr lang="ar-DZ" sz="1400" b="1" spc="-15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مـن مـواقـع</a:t>
            </a:r>
            <a:r>
              <a:rPr lang="ar-DZ" sz="1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وتــبــادل الـمــلــفــات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مـع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أشــخــاص 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بِـهِـمْ</a:t>
            </a:r>
          </a:p>
          <a:p>
            <a:pPr marL="0" indent="0" algn="just" rtl="1">
              <a:lnSpc>
                <a:spcPct val="165000"/>
              </a:lnSpc>
              <a:buNone/>
            </a:pPr>
            <a:r>
              <a:rPr lang="fr-FR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-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الـتـعــامـل بِـحَـذَرٍ مع 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الـمـجـهـولـة 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 </a:t>
            </a:r>
            <a:r>
              <a:rPr lang="ar-DZ" sz="4000" b="1" u="db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والـمُــرْفَــقَــة بــمــلـفــات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أو 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مُــرِيــبَــةٍ </a:t>
            </a:r>
            <a:endParaRPr lang="fr-FR" sz="40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735960" y="1733416"/>
            <a:ext cx="259228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الـبــرامــج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711624" y="2732380"/>
            <a:ext cx="237626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مَــوْثُــوقٌ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58734" y="1742544"/>
            <a:ext cx="245694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مَـضْـمُـونَـة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899072" y="3859359"/>
            <a:ext cx="453650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الـرسـائـل الإلـكـتـرونـيـة 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9192344" y="4868146"/>
            <a:ext cx="211978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الـمَـصْـدَرِ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2718373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build="p" animBg="1"/>
      <p:bldP spid="7" grpId="0" animBg="1"/>
      <p:bldP spid="13" grpId="0" animBg="1"/>
      <p:bldP spid="8" grpId="0" animBg="1"/>
      <p:bldP spid="9" grpId="0" animBg="1"/>
      <p:bldP spid="11" grpId="0" animBg="1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>
                <a:solidFill>
                  <a:srgbClr val="FF0000"/>
                </a:solidFill>
                <a:cs typeface="+mj-cs"/>
              </a:rPr>
              <a:t> </a:t>
            </a:r>
            <a:r>
              <a:rPr lang="ar-DZ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: ( </a:t>
            </a:r>
            <a:r>
              <a:rPr lang="ar-DZ" sz="4000" b="1" dirty="0" smtClean="0">
                <a:solidFill>
                  <a:srgbClr val="FF0000"/>
                </a:solidFill>
              </a:rPr>
              <a:t>الــوقـــايـــة </a:t>
            </a:r>
            <a:r>
              <a:rPr lang="ar-DZ" sz="4000" b="1" dirty="0">
                <a:solidFill>
                  <a:srgbClr val="FF0000"/>
                </a:solidFill>
              </a:rPr>
              <a:t>مـن  </a:t>
            </a:r>
            <a:r>
              <a:rPr lang="ar-DZ" sz="4000" b="1" dirty="0" smtClean="0">
                <a:solidFill>
                  <a:srgbClr val="FF0000"/>
                </a:solidFill>
              </a:rPr>
              <a:t>الــفــيـــروســــات –  تـــابــع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) 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19/10/2024</a:t>
            </a:fld>
            <a:endParaRPr lang="fr-BE" dirty="0"/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625350" y="1412775"/>
            <a:ext cx="10814992" cy="494357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buFont typeface="Arial" pitchFamily="34" charset="0"/>
              <a:buNone/>
            </a:pPr>
            <a:endParaRPr lang="ar-DZ" sz="800" b="1" dirty="0" smtClean="0">
              <a:cs typeface="+mj-cs"/>
            </a:endParaRPr>
          </a:p>
          <a:p>
            <a:pPr marL="0" indent="0" algn="just" rtl="1">
              <a:lnSpc>
                <a:spcPct val="165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─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	</a:t>
            </a:r>
            <a:r>
              <a:rPr lang="ar-DZ" sz="4000" b="1" u="dbl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تـحــمـــيـــل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</a:t>
            </a:r>
            <a:r>
              <a:rPr lang="ar-DZ" sz="1400" b="1" spc="-15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مـن مـواقـع</a:t>
            </a:r>
            <a:r>
              <a:rPr lang="ar-DZ" sz="1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وتــبــادل الـمــلــفــات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مـع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أشــخــاص 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بِـهِـمْ</a:t>
            </a:r>
          </a:p>
          <a:p>
            <a:pPr marL="0" indent="0" algn="just" rtl="1">
              <a:lnSpc>
                <a:spcPct val="165000"/>
              </a:lnSpc>
              <a:buNone/>
            </a:pPr>
            <a:r>
              <a:rPr lang="fr-FR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-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الـتـعــامـل بِـحَـذَرٍ مع 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الـمـجـهـولـة 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 </a:t>
            </a:r>
            <a:r>
              <a:rPr lang="ar-DZ" sz="4000" b="1" u="db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والـمُــرْفَــقَــة بــمــلـفــات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أو 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مُــرِيــبَــةٍ </a:t>
            </a:r>
            <a:endParaRPr lang="fr-FR" sz="40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735960" y="1733416"/>
            <a:ext cx="259228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الـبــرامــج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711624" y="2732380"/>
            <a:ext cx="237626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مَــوْثُــوقٌ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58734" y="1742544"/>
            <a:ext cx="245694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مَـضْـمُـونَـة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899072" y="3859359"/>
            <a:ext cx="453650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الـرسـائـل الإلـكـتـرونـيـة 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9192344" y="4868146"/>
            <a:ext cx="211978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الـمَـصْـدَرِ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394508" y="4864387"/>
            <a:ext cx="211978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رَوَابِــطٍ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8167029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build="p" animBg="1"/>
      <p:bldP spid="7" grpId="0" animBg="1"/>
      <p:bldP spid="13" grpId="0" animBg="1"/>
      <p:bldP spid="8" grpId="0" animBg="1"/>
      <p:bldP spid="9" grpId="0" animBg="1"/>
      <p:bldP spid="11" grpId="0" animBg="1"/>
      <p:bldP spid="12" grpId="0" animBg="1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4.</a:t>
            </a:r>
            <a:r>
              <a:rPr lang="fr-FR" sz="48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مــضــاد الــفــيـــروســــات 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>
                <a:cs typeface="+mj-cs"/>
              </a:rPr>
              <a:t>عَــيِّــنْ مــضــاد فــيــروســات واذْكُـــرْ </a:t>
            </a:r>
            <a:r>
              <a:rPr lang="ar-DZ" sz="4400" b="1" dirty="0" smtClean="0">
                <a:cs typeface="+mj-cs"/>
              </a:rPr>
              <a:t>بَــعْــضَ وَظَــائِــفِــه </a:t>
            </a:r>
            <a:r>
              <a:rPr lang="ar-DZ" sz="4400" b="1" dirty="0">
                <a:cs typeface="+mj-cs"/>
              </a:rPr>
              <a:t>/ خَــدَمَــاتِـهِ </a:t>
            </a:r>
            <a:endParaRPr lang="ar-DZ" sz="44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5400" b="1" u="sng" dirty="0">
                <a:solidFill>
                  <a:srgbClr val="0070C0"/>
                </a:solidFill>
                <a:cs typeface="+mj-cs"/>
              </a:rPr>
              <a:t>نـشـاط </a:t>
            </a:r>
            <a:r>
              <a:rPr lang="fr-FR" sz="5400" b="1" u="sng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5</a:t>
            </a:r>
            <a:r>
              <a:rPr lang="ar-DZ" sz="5400" b="1" dirty="0" smtClean="0">
                <a:solidFill>
                  <a:srgbClr val="0070C0"/>
                </a:solidFill>
                <a:cs typeface="+mj-cs"/>
              </a:rPr>
              <a:t> :</a:t>
            </a:r>
            <a:endParaRPr lang="fr-FR" sz="5400" i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198842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/>
      <p:bldP spid="5" grpId="0" animBg="1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rtl="1"/>
            <a:r>
              <a:rPr lang="ar-DZ" b="1" dirty="0" smtClean="0">
                <a:solidFill>
                  <a:srgbClr val="FF0000"/>
                </a:solidFill>
                <a:cs typeface="+mj-cs"/>
              </a:rPr>
              <a:t>بــرامـج الـحــمــايــة  هـي عــدة </a:t>
            </a:r>
            <a:r>
              <a:rPr lang="ar-DZ" b="1" dirty="0">
                <a:solidFill>
                  <a:srgbClr val="FF0000"/>
                </a:solidFill>
              </a:rPr>
              <a:t>أنــواع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 أهــمـهـا :</a:t>
            </a:r>
            <a:endParaRPr lang="fr-FR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19/10/2024</a:t>
            </a:fld>
            <a:endParaRPr lang="fr-BE" dirty="0"/>
          </a:p>
        </p:txBody>
      </p:sp>
      <p:pic>
        <p:nvPicPr>
          <p:cNvPr id="12" name="Picture 11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8743" y="4158435"/>
            <a:ext cx="2505075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5" name="Connecteur droit avec flèche 14"/>
          <p:cNvCxnSpPr>
            <a:stCxn id="2" idx="2"/>
          </p:cNvCxnSpPr>
          <p:nvPr/>
        </p:nvCxnSpPr>
        <p:spPr>
          <a:xfrm flipH="1">
            <a:off x="2135560" y="1124744"/>
            <a:ext cx="3881536" cy="247589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necteur droit avec flèche 15"/>
          <p:cNvCxnSpPr>
            <a:stCxn id="2" idx="2"/>
          </p:cNvCxnSpPr>
          <p:nvPr/>
        </p:nvCxnSpPr>
        <p:spPr>
          <a:xfrm>
            <a:off x="6017096" y="1124744"/>
            <a:ext cx="3823320" cy="247589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Espace réservé du contenu 21"/>
          <p:cNvSpPr txBox="1">
            <a:spLocks/>
          </p:cNvSpPr>
          <p:nvPr/>
        </p:nvSpPr>
        <p:spPr>
          <a:xfrm>
            <a:off x="3352800" y="4758116"/>
            <a:ext cx="5328592" cy="1524517"/>
          </a:xfrm>
          <a:prstGeom prst="cloud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fr-FR" sz="3900" b="1" dirty="0" smtClean="0">
                <a:solidFill>
                  <a:srgbClr val="FF0000"/>
                </a:solidFill>
                <a:cs typeface="+mj-cs"/>
              </a:rPr>
              <a:t>Antivirus</a:t>
            </a:r>
            <a:endParaRPr lang="fr-FR" sz="3900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1" name="Espace réservé du contenu 21"/>
          <p:cNvSpPr txBox="1">
            <a:spLocks/>
          </p:cNvSpPr>
          <p:nvPr/>
        </p:nvSpPr>
        <p:spPr>
          <a:xfrm>
            <a:off x="7993358" y="3600643"/>
            <a:ext cx="3528392" cy="1243966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en-US" sz="3400" b="1" dirty="0" smtClean="0">
                <a:solidFill>
                  <a:srgbClr val="0070C0"/>
                </a:solidFill>
                <a:cs typeface="+mj-cs"/>
              </a:rPr>
              <a:t>Firewall</a:t>
            </a:r>
            <a:endParaRPr lang="en-US" sz="3400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32" name="Espace réservé du contenu 21"/>
          <p:cNvSpPr txBox="1">
            <a:spLocks/>
          </p:cNvSpPr>
          <p:nvPr/>
        </p:nvSpPr>
        <p:spPr>
          <a:xfrm>
            <a:off x="523158" y="3638303"/>
            <a:ext cx="3162814" cy="151094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fr-FR" b="1" dirty="0" smtClean="0">
                <a:solidFill>
                  <a:srgbClr val="0070C0"/>
                </a:solidFill>
                <a:cs typeface="+mj-cs"/>
              </a:rPr>
              <a:t>USB </a:t>
            </a:r>
            <a:r>
              <a:rPr lang="en-US" b="1" dirty="0" smtClean="0">
                <a:solidFill>
                  <a:srgbClr val="0070C0"/>
                </a:solidFill>
                <a:cs typeface="+mj-cs"/>
              </a:rPr>
              <a:t>Guard</a:t>
            </a:r>
            <a:endParaRPr lang="en-US" dirty="0">
              <a:cs typeface="+mj-cs"/>
            </a:endParaRPr>
          </a:p>
        </p:txBody>
      </p:sp>
      <p:cxnSp>
        <p:nvCxnSpPr>
          <p:cNvPr id="18" name="Connecteur droit avec flèche 17"/>
          <p:cNvCxnSpPr>
            <a:stCxn id="2" idx="2"/>
            <a:endCxn id="17" idx="3"/>
          </p:cNvCxnSpPr>
          <p:nvPr/>
        </p:nvCxnSpPr>
        <p:spPr>
          <a:xfrm>
            <a:off x="6017096" y="1124744"/>
            <a:ext cx="0" cy="372053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" name="Imag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208" y="215450"/>
            <a:ext cx="11665296" cy="6468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537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1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4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7" grpId="0" animBg="1"/>
      <p:bldP spid="31" grpId="0" animBg="1"/>
      <p:bldP spid="32" grpId="0" animBg="1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rtl="1"/>
            <a:r>
              <a:rPr lang="ar-DZ" sz="4000" b="1" dirty="0">
                <a:solidFill>
                  <a:srgbClr val="FF0000"/>
                </a:solidFill>
                <a:cs typeface="+mj-cs"/>
              </a:rPr>
              <a:t>حــمــايــة الـحــاســوب يــتــطــلــب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مــضــاد الـفــيــروســات </a:t>
            </a:r>
            <a:r>
              <a:rPr lang="ar-DZ" sz="4000" b="1" dirty="0">
                <a:solidFill>
                  <a:srgbClr val="FF0000"/>
                </a:solidFill>
                <a:cs typeface="+mj-cs"/>
              </a:rPr>
              <a:t>: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19/10/2024</a:t>
            </a:fld>
            <a:endParaRPr lang="fr-BE" dirty="0"/>
          </a:p>
        </p:txBody>
      </p:sp>
      <p:pic>
        <p:nvPicPr>
          <p:cNvPr id="12" name="Picture 11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4558" y="2326163"/>
            <a:ext cx="2505075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7" name="Espace réservé du contenu 21"/>
          <p:cNvSpPr txBox="1">
            <a:spLocks/>
          </p:cNvSpPr>
          <p:nvPr/>
        </p:nvSpPr>
        <p:spPr>
          <a:xfrm>
            <a:off x="3456457" y="3657306"/>
            <a:ext cx="5328592" cy="1524517"/>
          </a:xfrm>
          <a:prstGeom prst="cloud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fr-FR" sz="3900" b="1" dirty="0" smtClean="0">
                <a:solidFill>
                  <a:srgbClr val="FF0000"/>
                </a:solidFill>
                <a:cs typeface="+mj-cs"/>
              </a:rPr>
              <a:t>Antivirus</a:t>
            </a:r>
            <a:endParaRPr lang="fr-FR" sz="3900" dirty="0">
              <a:solidFill>
                <a:srgbClr val="FF0000"/>
              </a:solidFill>
              <a:cs typeface="+mj-cs"/>
            </a:endParaRPr>
          </a:p>
        </p:txBody>
      </p:sp>
      <p:cxnSp>
        <p:nvCxnSpPr>
          <p:cNvPr id="18" name="Connecteur droit avec flèche 17"/>
          <p:cNvCxnSpPr>
            <a:stCxn id="2" idx="2"/>
            <a:endCxn id="12" idx="0"/>
          </p:cNvCxnSpPr>
          <p:nvPr/>
        </p:nvCxnSpPr>
        <p:spPr>
          <a:xfrm>
            <a:off x="6017096" y="1124744"/>
            <a:ext cx="0" cy="120141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7" name="Imag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113" y="401262"/>
            <a:ext cx="11521280" cy="6420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9317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7" grpId="0" animBg="1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rtl="1"/>
            <a:r>
              <a:rPr lang="ar-DZ" sz="4000" b="1" dirty="0">
                <a:solidFill>
                  <a:srgbClr val="FF0000"/>
                </a:solidFill>
                <a:cs typeface="+mj-cs"/>
              </a:rPr>
              <a:t>حــمــايــة الـحــاســوب يــتــطــلــب مــضــاد الـفــيــروســات :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19/10/2024</a:t>
            </a:fld>
            <a:endParaRPr lang="fr-BE" dirty="0"/>
          </a:p>
        </p:txBody>
      </p:sp>
      <p:sp>
        <p:nvSpPr>
          <p:cNvPr id="17" name="Espace réservé du contenu 21"/>
          <p:cNvSpPr txBox="1">
            <a:spLocks/>
          </p:cNvSpPr>
          <p:nvPr/>
        </p:nvSpPr>
        <p:spPr>
          <a:xfrm>
            <a:off x="3575720" y="1212591"/>
            <a:ext cx="5328592" cy="1524517"/>
          </a:xfrm>
          <a:prstGeom prst="cloud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fr-FR" sz="3900" b="1" dirty="0" smtClean="0">
                <a:solidFill>
                  <a:srgbClr val="FF0000"/>
                </a:solidFill>
                <a:cs typeface="+mj-cs"/>
              </a:rPr>
              <a:t>Antivirus</a:t>
            </a:r>
            <a:endParaRPr lang="fr-FR" sz="3900" dirty="0">
              <a:solidFill>
                <a:srgbClr val="FF0000"/>
              </a:solidFill>
              <a:cs typeface="+mj-cs"/>
            </a:endParaRP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200" y="272153"/>
            <a:ext cx="11665296" cy="6449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0705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7" grpId="0" animBg="1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rtl="1"/>
            <a:r>
              <a:rPr lang="ar-DZ" sz="4000" b="1" dirty="0">
                <a:solidFill>
                  <a:srgbClr val="FF0000"/>
                </a:solidFill>
                <a:cs typeface="+mj-cs"/>
              </a:rPr>
              <a:t>حــمــايــة الـحــاســوب يــتــطــلــب مــضــاد الـفــيــروســات :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19/10/2024</a:t>
            </a:fld>
            <a:endParaRPr lang="fr-BE" dirty="0"/>
          </a:p>
        </p:txBody>
      </p:sp>
      <p:sp>
        <p:nvSpPr>
          <p:cNvPr id="17" name="Espace réservé du contenu 21"/>
          <p:cNvSpPr txBox="1">
            <a:spLocks/>
          </p:cNvSpPr>
          <p:nvPr/>
        </p:nvSpPr>
        <p:spPr>
          <a:xfrm>
            <a:off x="3575720" y="1212591"/>
            <a:ext cx="5328592" cy="1524517"/>
          </a:xfrm>
          <a:prstGeom prst="cloud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fr-FR" sz="3900" b="1" dirty="0" smtClean="0">
                <a:solidFill>
                  <a:srgbClr val="FF0000"/>
                </a:solidFill>
                <a:cs typeface="+mj-cs"/>
              </a:rPr>
              <a:t>Antivirus</a:t>
            </a:r>
            <a:endParaRPr lang="fr-FR" sz="3900" dirty="0">
              <a:solidFill>
                <a:srgbClr val="FF0000"/>
              </a:solidFill>
              <a:cs typeface="+mj-cs"/>
            </a:endParaRP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508" y="336256"/>
            <a:ext cx="11305256" cy="6277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9148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7" grpId="0" animBg="1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rtl="1"/>
            <a:r>
              <a:rPr lang="ar-DZ" sz="4000" b="1" dirty="0">
                <a:solidFill>
                  <a:srgbClr val="FF0000"/>
                </a:solidFill>
                <a:cs typeface="+mj-cs"/>
              </a:rPr>
              <a:t>حــمــايــة الـحــاســوب يــتــطــلــب مــضــاد الـفــيــروســات :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19/10/2024</a:t>
            </a:fld>
            <a:endParaRPr lang="fr-BE" dirty="0"/>
          </a:p>
        </p:txBody>
      </p:sp>
      <p:sp>
        <p:nvSpPr>
          <p:cNvPr id="17" name="Espace réservé du contenu 21"/>
          <p:cNvSpPr txBox="1">
            <a:spLocks/>
          </p:cNvSpPr>
          <p:nvPr/>
        </p:nvSpPr>
        <p:spPr>
          <a:xfrm>
            <a:off x="3575720" y="1212591"/>
            <a:ext cx="5328592" cy="1524517"/>
          </a:xfrm>
          <a:prstGeom prst="cloud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fr-FR" sz="3900" b="1" dirty="0" smtClean="0">
                <a:solidFill>
                  <a:srgbClr val="FF0000"/>
                </a:solidFill>
                <a:cs typeface="+mj-cs"/>
              </a:rPr>
              <a:t>Antivirus</a:t>
            </a:r>
            <a:endParaRPr lang="fr-FR" sz="3900" dirty="0">
              <a:solidFill>
                <a:srgbClr val="FF0000"/>
              </a:solidFill>
              <a:cs typeface="+mj-cs"/>
            </a:endParaRPr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776" y="232916"/>
            <a:ext cx="11593288" cy="6392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1642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7" grpId="0" animBg="1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u="sng" dirty="0">
                <a:solidFill>
                  <a:srgbClr val="FF0000"/>
                </a:solidFill>
                <a:cs typeface="+mj-cs"/>
              </a:rPr>
              <a:t>أتـذكـر </a:t>
            </a:r>
            <a:r>
              <a:rPr lang="ar-DZ" b="1" u="sng" dirty="0" smtClean="0">
                <a:solidFill>
                  <a:srgbClr val="FF0000"/>
                </a:solidFill>
                <a:cs typeface="+mj-cs"/>
              </a:rPr>
              <a:t>( 4</a:t>
            </a:r>
            <a:r>
              <a:rPr lang="ar-DZ" b="1" u="sng" dirty="0">
                <a:solidFill>
                  <a:srgbClr val="FF0000"/>
                </a:solidFill>
                <a:cs typeface="+mj-cs"/>
              </a:rPr>
              <a:t>. مــضــاد </a:t>
            </a:r>
            <a:r>
              <a:rPr lang="ar-DZ" b="1" u="sng" dirty="0" smtClean="0">
                <a:solidFill>
                  <a:srgbClr val="FF0000"/>
                </a:solidFill>
                <a:cs typeface="+mj-cs"/>
              </a:rPr>
              <a:t>الــفـــيــــروســـــات </a:t>
            </a:r>
            <a:r>
              <a:rPr lang="ar-DZ" b="1" u="sng" dirty="0">
                <a:solidFill>
                  <a:srgbClr val="FF0000"/>
                </a:solidFill>
                <a:cs typeface="+mj-cs"/>
              </a:rPr>
              <a:t>)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algn="just" rtl="1">
              <a:lnSpc>
                <a:spcPct val="114000"/>
              </a:lnSpc>
              <a:buFont typeface="Wingdings" panose="05000000000000000000" pitchFamily="2" charset="2"/>
              <a:buChar char="v"/>
            </a:pP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 هــو </a:t>
            </a:r>
            <a:r>
              <a:rPr lang="ar-DZ" sz="4400" baseline="-25000" dirty="0" smtClean="0">
                <a:solidFill>
                  <a:srgbClr val="002060"/>
                </a:solidFill>
                <a:cs typeface="+mj-cs"/>
              </a:rPr>
              <a:t>........................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 يـســمـح </a:t>
            </a:r>
            <a:r>
              <a:rPr lang="ar-DZ" sz="4400" baseline="-25000" dirty="0" smtClean="0">
                <a:solidFill>
                  <a:srgbClr val="002060"/>
                </a:solidFill>
              </a:rPr>
              <a:t>........................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 الـحـاســوب بـحـيـث </a:t>
            </a:r>
            <a:r>
              <a:rPr lang="ar-DZ" sz="4400" b="1" dirty="0">
                <a:solidFill>
                  <a:srgbClr val="002060"/>
                </a:solidFill>
                <a:cs typeface="+mj-cs"/>
              </a:rPr>
              <a:t>يــعــمــل عــلـى  : </a:t>
            </a:r>
            <a:endParaRPr lang="ar-DZ" sz="44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14000"/>
              </a:lnSpc>
              <a:buNone/>
            </a:pP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─</a:t>
            </a:r>
            <a:r>
              <a:rPr lang="ar-DZ" sz="4400" b="1" baseline="-25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اِكْــتِــشَــاف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..........................................................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وَ  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</a:t>
            </a:r>
            <a:endParaRPr lang="ar-DZ" sz="44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just" rtl="1">
              <a:lnSpc>
                <a:spcPct val="114000"/>
              </a:lnSpc>
              <a:buNone/>
            </a:pP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 دُخُــولِـهـا</a:t>
            </a:r>
          </a:p>
          <a:p>
            <a:pPr marL="0" indent="0" algn="just" rtl="1">
              <a:lnSpc>
                <a:spcPct val="114000"/>
              </a:lnSpc>
              <a:buNone/>
            </a:pPr>
            <a:r>
              <a:rPr lang="ar-DZ" sz="4400" b="1" baseline="-25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─ إِزَالَــتِـهَــا أَوْ 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مَـفْـعُــولِـهَـا </a:t>
            </a:r>
            <a:r>
              <a:rPr lang="ar-DZ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( </a:t>
            </a:r>
            <a:r>
              <a:rPr lang="fr-FR" sz="3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Mise</a:t>
            </a:r>
            <a:r>
              <a:rPr lang="en-US" sz="3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en </a:t>
            </a:r>
            <a:r>
              <a:rPr lang="fr-FR" sz="3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Quarantaine</a:t>
            </a:r>
            <a:r>
              <a:rPr lang="ar-DZ" sz="3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)</a:t>
            </a:r>
            <a:endParaRPr lang="fr-FR" sz="44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just" rtl="1">
              <a:lnSpc>
                <a:spcPct val="114000"/>
              </a:lnSpc>
              <a:buNone/>
            </a:pPr>
            <a:endParaRPr lang="fr-FR" sz="44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19/10/2024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3227549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u="sng" dirty="0">
                <a:solidFill>
                  <a:srgbClr val="FF0000"/>
                </a:solidFill>
                <a:cs typeface="+mj-cs"/>
              </a:rPr>
              <a:t>أتـذكـر </a:t>
            </a:r>
            <a:r>
              <a:rPr lang="ar-DZ" b="1" u="sng" dirty="0" smtClean="0">
                <a:solidFill>
                  <a:srgbClr val="FF0000"/>
                </a:solidFill>
                <a:cs typeface="+mj-cs"/>
              </a:rPr>
              <a:t>( 4</a:t>
            </a:r>
            <a:r>
              <a:rPr lang="ar-DZ" b="1" u="sng" dirty="0">
                <a:solidFill>
                  <a:srgbClr val="FF0000"/>
                </a:solidFill>
                <a:cs typeface="+mj-cs"/>
              </a:rPr>
              <a:t>. مــضــاد </a:t>
            </a:r>
            <a:r>
              <a:rPr lang="ar-DZ" b="1" u="sng" dirty="0" smtClean="0">
                <a:solidFill>
                  <a:srgbClr val="FF0000"/>
                </a:solidFill>
                <a:cs typeface="+mj-cs"/>
              </a:rPr>
              <a:t>الــفـــيــــروســـــات </a:t>
            </a:r>
            <a:r>
              <a:rPr lang="ar-DZ" b="1" u="sng" dirty="0">
                <a:solidFill>
                  <a:srgbClr val="FF0000"/>
                </a:solidFill>
                <a:cs typeface="+mj-cs"/>
              </a:rPr>
              <a:t>)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algn="just" rtl="1">
              <a:lnSpc>
                <a:spcPct val="114000"/>
              </a:lnSpc>
              <a:buFont typeface="Wingdings" panose="05000000000000000000" pitchFamily="2" charset="2"/>
              <a:buChar char="v"/>
            </a:pP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 هــو </a:t>
            </a:r>
            <a:r>
              <a:rPr lang="ar-DZ" sz="4400" baseline="-25000" dirty="0" smtClean="0">
                <a:solidFill>
                  <a:srgbClr val="002060"/>
                </a:solidFill>
                <a:cs typeface="+mj-cs"/>
              </a:rPr>
              <a:t>........................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 يـســمـح </a:t>
            </a:r>
            <a:r>
              <a:rPr lang="ar-DZ" sz="4400" baseline="-25000" dirty="0" smtClean="0">
                <a:solidFill>
                  <a:srgbClr val="002060"/>
                </a:solidFill>
              </a:rPr>
              <a:t>........................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 الـحـاســوب بـحـيـث </a:t>
            </a:r>
            <a:r>
              <a:rPr lang="ar-DZ" sz="4400" b="1" dirty="0">
                <a:solidFill>
                  <a:srgbClr val="002060"/>
                </a:solidFill>
                <a:cs typeface="+mj-cs"/>
              </a:rPr>
              <a:t>يــعــمــل عــلـى  : </a:t>
            </a:r>
            <a:endParaRPr lang="ar-DZ" sz="44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14000"/>
              </a:lnSpc>
              <a:buNone/>
            </a:pP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─</a:t>
            </a:r>
            <a:r>
              <a:rPr lang="ar-DZ" sz="4400" b="1" baseline="-25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اِكْــتِــشَــاف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..........................................................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وَ  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</a:t>
            </a:r>
            <a:endParaRPr lang="ar-DZ" sz="44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just" rtl="1">
              <a:lnSpc>
                <a:spcPct val="114000"/>
              </a:lnSpc>
              <a:buNone/>
            </a:pP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 دُخُــولِـهـا</a:t>
            </a:r>
          </a:p>
          <a:p>
            <a:pPr marL="0" indent="0" algn="just" rtl="1">
              <a:lnSpc>
                <a:spcPct val="114000"/>
              </a:lnSpc>
              <a:buNone/>
            </a:pPr>
            <a:r>
              <a:rPr lang="ar-DZ" sz="4400" b="1" baseline="-25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─ إِزَالَــتِـهَــا أَوْ 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مَـفْـعُــولِـهَـا </a:t>
            </a:r>
            <a:r>
              <a:rPr lang="ar-DZ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( </a:t>
            </a:r>
            <a:r>
              <a:rPr lang="fr-FR" sz="3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Mise</a:t>
            </a:r>
            <a:r>
              <a:rPr lang="en-US" sz="3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en </a:t>
            </a:r>
            <a:r>
              <a:rPr lang="fr-FR" sz="3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Quarantaine</a:t>
            </a:r>
            <a:r>
              <a:rPr lang="ar-DZ" sz="3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)</a:t>
            </a:r>
            <a:endParaRPr lang="fr-FR" sz="44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just" rtl="1">
              <a:lnSpc>
                <a:spcPct val="114000"/>
              </a:lnSpc>
              <a:buNone/>
            </a:pPr>
            <a:endParaRPr lang="fr-FR" sz="44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19/10/2024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7608168" y="1467198"/>
            <a:ext cx="223224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</a:rPr>
              <a:t>بــرنــامــج</a:t>
            </a:r>
            <a:endParaRPr lang="fr-FR" sz="40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5627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u="sng" dirty="0">
                <a:solidFill>
                  <a:srgbClr val="FF0000"/>
                </a:solidFill>
                <a:cs typeface="+mj-cs"/>
              </a:rPr>
              <a:t>أتـذكـر </a:t>
            </a:r>
            <a:r>
              <a:rPr lang="ar-DZ" b="1" u="sng" dirty="0" smtClean="0">
                <a:solidFill>
                  <a:srgbClr val="FF0000"/>
                </a:solidFill>
                <a:cs typeface="+mj-cs"/>
              </a:rPr>
              <a:t>( 4</a:t>
            </a:r>
            <a:r>
              <a:rPr lang="ar-DZ" b="1" u="sng" dirty="0">
                <a:solidFill>
                  <a:srgbClr val="FF0000"/>
                </a:solidFill>
                <a:cs typeface="+mj-cs"/>
              </a:rPr>
              <a:t>. مــضــاد </a:t>
            </a:r>
            <a:r>
              <a:rPr lang="ar-DZ" b="1" u="sng" dirty="0" smtClean="0">
                <a:solidFill>
                  <a:srgbClr val="FF0000"/>
                </a:solidFill>
                <a:cs typeface="+mj-cs"/>
              </a:rPr>
              <a:t>الــفـــيــــروســـــات </a:t>
            </a:r>
            <a:r>
              <a:rPr lang="ar-DZ" b="1" u="sng" dirty="0">
                <a:solidFill>
                  <a:srgbClr val="FF0000"/>
                </a:solidFill>
                <a:cs typeface="+mj-cs"/>
              </a:rPr>
              <a:t>)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algn="just" rtl="1">
              <a:lnSpc>
                <a:spcPct val="114000"/>
              </a:lnSpc>
              <a:buFont typeface="Wingdings" panose="05000000000000000000" pitchFamily="2" charset="2"/>
              <a:buChar char="v"/>
            </a:pP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 هــو </a:t>
            </a:r>
            <a:r>
              <a:rPr lang="ar-DZ" sz="4400" baseline="-25000" dirty="0" smtClean="0">
                <a:solidFill>
                  <a:srgbClr val="002060"/>
                </a:solidFill>
                <a:cs typeface="+mj-cs"/>
              </a:rPr>
              <a:t>........................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 يـســمـح </a:t>
            </a:r>
            <a:r>
              <a:rPr lang="ar-DZ" sz="4400" baseline="-25000" dirty="0" smtClean="0">
                <a:solidFill>
                  <a:srgbClr val="002060"/>
                </a:solidFill>
              </a:rPr>
              <a:t>........................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 الـحـاســوب بـحـيـث </a:t>
            </a:r>
            <a:r>
              <a:rPr lang="ar-DZ" sz="4400" b="1" dirty="0">
                <a:solidFill>
                  <a:srgbClr val="002060"/>
                </a:solidFill>
                <a:cs typeface="+mj-cs"/>
              </a:rPr>
              <a:t>يــعــمــل عــلـى  : </a:t>
            </a:r>
            <a:endParaRPr lang="ar-DZ" sz="44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14000"/>
              </a:lnSpc>
              <a:buNone/>
            </a:pP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─</a:t>
            </a:r>
            <a:r>
              <a:rPr lang="ar-DZ" sz="4400" b="1" baseline="-25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اِكْــتِــشَــاف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..........................................................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وَ  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</a:t>
            </a:r>
            <a:endParaRPr lang="ar-DZ" sz="44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just" rtl="1">
              <a:lnSpc>
                <a:spcPct val="114000"/>
              </a:lnSpc>
              <a:buNone/>
            </a:pP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 دُخُــولِـهـا</a:t>
            </a:r>
          </a:p>
          <a:p>
            <a:pPr marL="0" indent="0" algn="just" rtl="1">
              <a:lnSpc>
                <a:spcPct val="114000"/>
              </a:lnSpc>
              <a:buNone/>
            </a:pPr>
            <a:r>
              <a:rPr lang="ar-DZ" sz="4400" b="1" baseline="-25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─ إِزَالَــتِـهَــا أَوْ 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مَـفْـعُــولِـهَـا </a:t>
            </a:r>
            <a:r>
              <a:rPr lang="ar-DZ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( </a:t>
            </a:r>
            <a:r>
              <a:rPr lang="fr-FR" sz="3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Mise</a:t>
            </a:r>
            <a:r>
              <a:rPr lang="en-US" sz="3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en </a:t>
            </a:r>
            <a:r>
              <a:rPr lang="fr-FR" sz="3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Quarantaine</a:t>
            </a:r>
            <a:r>
              <a:rPr lang="ar-DZ" sz="3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)</a:t>
            </a:r>
            <a:endParaRPr lang="fr-FR" sz="44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just" rtl="1">
              <a:lnSpc>
                <a:spcPct val="114000"/>
              </a:lnSpc>
              <a:buNone/>
            </a:pPr>
            <a:endParaRPr lang="fr-FR" sz="44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19/10/2024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7608168" y="1467198"/>
            <a:ext cx="223224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</a:rPr>
              <a:t>بــرنــامــج</a:t>
            </a:r>
            <a:endParaRPr lang="fr-FR" sz="4000" b="1" dirty="0">
              <a:solidFill>
                <a:srgbClr val="0070C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028996" y="1467198"/>
            <a:ext cx="2219881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بـحــمــايــة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3372229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  <p:bldP spid="7" grpId="0" animBg="1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u="sng" dirty="0">
                <a:solidFill>
                  <a:srgbClr val="FF0000"/>
                </a:solidFill>
                <a:cs typeface="+mj-cs"/>
              </a:rPr>
              <a:t>أتـذكـر </a:t>
            </a:r>
            <a:r>
              <a:rPr lang="ar-DZ" b="1" u="sng" dirty="0" smtClean="0">
                <a:solidFill>
                  <a:srgbClr val="FF0000"/>
                </a:solidFill>
                <a:cs typeface="+mj-cs"/>
              </a:rPr>
              <a:t>( 4</a:t>
            </a:r>
            <a:r>
              <a:rPr lang="ar-DZ" b="1" u="sng" dirty="0">
                <a:solidFill>
                  <a:srgbClr val="FF0000"/>
                </a:solidFill>
                <a:cs typeface="+mj-cs"/>
              </a:rPr>
              <a:t>. مــضــاد </a:t>
            </a:r>
            <a:r>
              <a:rPr lang="ar-DZ" b="1" u="sng" dirty="0" smtClean="0">
                <a:solidFill>
                  <a:srgbClr val="FF0000"/>
                </a:solidFill>
                <a:cs typeface="+mj-cs"/>
              </a:rPr>
              <a:t>الــفـــيــــروســـــات </a:t>
            </a:r>
            <a:r>
              <a:rPr lang="ar-DZ" b="1" u="sng" dirty="0">
                <a:solidFill>
                  <a:srgbClr val="FF0000"/>
                </a:solidFill>
                <a:cs typeface="+mj-cs"/>
              </a:rPr>
              <a:t>)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algn="just" rtl="1">
              <a:lnSpc>
                <a:spcPct val="114000"/>
              </a:lnSpc>
              <a:buFont typeface="Wingdings" panose="05000000000000000000" pitchFamily="2" charset="2"/>
              <a:buChar char="v"/>
            </a:pP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 هــو </a:t>
            </a:r>
            <a:r>
              <a:rPr lang="ar-DZ" sz="4400" baseline="-25000" dirty="0" smtClean="0">
                <a:solidFill>
                  <a:srgbClr val="002060"/>
                </a:solidFill>
                <a:cs typeface="+mj-cs"/>
              </a:rPr>
              <a:t>........................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 يـســمـح </a:t>
            </a:r>
            <a:r>
              <a:rPr lang="ar-DZ" sz="4400" baseline="-25000" dirty="0" smtClean="0">
                <a:solidFill>
                  <a:srgbClr val="002060"/>
                </a:solidFill>
              </a:rPr>
              <a:t>........................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 الـحـاســوب بـحـيـث </a:t>
            </a:r>
            <a:r>
              <a:rPr lang="ar-DZ" sz="4400" b="1" dirty="0">
                <a:solidFill>
                  <a:srgbClr val="002060"/>
                </a:solidFill>
                <a:cs typeface="+mj-cs"/>
              </a:rPr>
              <a:t>يــعــمــل عــلـى  : </a:t>
            </a:r>
            <a:endParaRPr lang="ar-DZ" sz="44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14000"/>
              </a:lnSpc>
              <a:buNone/>
            </a:pP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─</a:t>
            </a:r>
            <a:r>
              <a:rPr lang="ar-DZ" sz="4400" b="1" baseline="-25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اِكْــتِــشَــاف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..........................................................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وَ  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</a:t>
            </a:r>
            <a:endParaRPr lang="ar-DZ" sz="44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just" rtl="1">
              <a:lnSpc>
                <a:spcPct val="114000"/>
              </a:lnSpc>
              <a:buNone/>
            </a:pP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 دُخُــولِـهـا</a:t>
            </a:r>
          </a:p>
          <a:p>
            <a:pPr marL="0" indent="0" algn="just" rtl="1">
              <a:lnSpc>
                <a:spcPct val="114000"/>
              </a:lnSpc>
              <a:buNone/>
            </a:pPr>
            <a:r>
              <a:rPr lang="ar-DZ" sz="4400" b="1" baseline="-25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─ إِزَالَــتِـهَــا أَوْ 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مَـفْـعُــولِـهَـا </a:t>
            </a:r>
            <a:r>
              <a:rPr lang="ar-DZ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( </a:t>
            </a:r>
            <a:r>
              <a:rPr lang="fr-FR" sz="3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Mise</a:t>
            </a:r>
            <a:r>
              <a:rPr lang="en-US" sz="3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en </a:t>
            </a:r>
            <a:r>
              <a:rPr lang="fr-FR" sz="3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Quarantaine</a:t>
            </a:r>
            <a:r>
              <a:rPr lang="ar-DZ" sz="3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)</a:t>
            </a:r>
            <a:endParaRPr lang="fr-FR" sz="44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just" rtl="1">
              <a:lnSpc>
                <a:spcPct val="114000"/>
              </a:lnSpc>
              <a:buNone/>
            </a:pPr>
            <a:endParaRPr lang="fr-FR" sz="44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19/10/2024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7608168" y="1467198"/>
            <a:ext cx="223224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</a:rPr>
              <a:t>بــرنــامــج</a:t>
            </a:r>
            <a:endParaRPr lang="fr-FR" sz="4000" b="1" dirty="0">
              <a:solidFill>
                <a:srgbClr val="0070C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028996" y="1467198"/>
            <a:ext cx="2219881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بـحــمــايــة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316796" y="3131294"/>
            <a:ext cx="540060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الـبــرمــجــيــات الـخــبــيـــثــة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127448" y="3138765"/>
            <a:ext cx="134651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مَــنْــعِ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2039648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  <p:bldP spid="7" grpId="0" animBg="1"/>
      <p:bldP spid="9" grpId="0" animBg="1"/>
      <p:bldP spid="10" grpId="0" animBg="1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u="sng" dirty="0">
                <a:solidFill>
                  <a:srgbClr val="FF0000"/>
                </a:solidFill>
                <a:cs typeface="+mj-cs"/>
              </a:rPr>
              <a:t>أتـذكـر </a:t>
            </a:r>
            <a:r>
              <a:rPr lang="ar-DZ" b="1" u="sng" dirty="0" smtClean="0">
                <a:solidFill>
                  <a:srgbClr val="FF0000"/>
                </a:solidFill>
                <a:cs typeface="+mj-cs"/>
              </a:rPr>
              <a:t>( 4</a:t>
            </a:r>
            <a:r>
              <a:rPr lang="ar-DZ" b="1" u="sng" dirty="0">
                <a:solidFill>
                  <a:srgbClr val="FF0000"/>
                </a:solidFill>
                <a:cs typeface="+mj-cs"/>
              </a:rPr>
              <a:t>. مــضــاد </a:t>
            </a:r>
            <a:r>
              <a:rPr lang="ar-DZ" b="1" u="sng" dirty="0" smtClean="0">
                <a:solidFill>
                  <a:srgbClr val="FF0000"/>
                </a:solidFill>
                <a:cs typeface="+mj-cs"/>
              </a:rPr>
              <a:t>الــفـــيــــروســـــات </a:t>
            </a:r>
            <a:r>
              <a:rPr lang="ar-DZ" b="1" u="sng" dirty="0">
                <a:solidFill>
                  <a:srgbClr val="FF0000"/>
                </a:solidFill>
                <a:cs typeface="+mj-cs"/>
              </a:rPr>
              <a:t>)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algn="just" rtl="1">
              <a:lnSpc>
                <a:spcPct val="114000"/>
              </a:lnSpc>
              <a:buFont typeface="Wingdings" panose="05000000000000000000" pitchFamily="2" charset="2"/>
              <a:buChar char="v"/>
            </a:pP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 هــو </a:t>
            </a:r>
            <a:r>
              <a:rPr lang="ar-DZ" sz="4400" baseline="-25000" dirty="0" smtClean="0">
                <a:solidFill>
                  <a:srgbClr val="002060"/>
                </a:solidFill>
                <a:cs typeface="+mj-cs"/>
              </a:rPr>
              <a:t>........................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 يـســمـح </a:t>
            </a:r>
            <a:r>
              <a:rPr lang="ar-DZ" sz="4400" baseline="-25000" dirty="0" smtClean="0">
                <a:solidFill>
                  <a:srgbClr val="002060"/>
                </a:solidFill>
              </a:rPr>
              <a:t>........................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 الـحـاســوب بـحـيـث </a:t>
            </a:r>
            <a:r>
              <a:rPr lang="ar-DZ" sz="4400" b="1" dirty="0">
                <a:solidFill>
                  <a:srgbClr val="002060"/>
                </a:solidFill>
                <a:cs typeface="+mj-cs"/>
              </a:rPr>
              <a:t>يــعــمــل عــلـى  : </a:t>
            </a:r>
            <a:endParaRPr lang="ar-DZ" sz="44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14000"/>
              </a:lnSpc>
              <a:buNone/>
            </a:pP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─</a:t>
            </a:r>
            <a:r>
              <a:rPr lang="ar-DZ" sz="4400" b="1" baseline="-25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اِكْــتِــشَــاف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..........................................................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وَ  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</a:t>
            </a:r>
            <a:endParaRPr lang="ar-DZ" sz="44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just" rtl="1">
              <a:lnSpc>
                <a:spcPct val="114000"/>
              </a:lnSpc>
              <a:buNone/>
            </a:pP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 دُخُــولِـهـا</a:t>
            </a:r>
          </a:p>
          <a:p>
            <a:pPr marL="0" indent="0" algn="just" rtl="1">
              <a:lnSpc>
                <a:spcPct val="114000"/>
              </a:lnSpc>
              <a:buNone/>
            </a:pPr>
            <a:r>
              <a:rPr lang="ar-DZ" sz="4400" b="1" baseline="-25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─ إِزَالَــتِـهَــا أَوْ 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مَـفْـعُــولِـهَـا </a:t>
            </a:r>
            <a:r>
              <a:rPr lang="ar-DZ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( </a:t>
            </a:r>
            <a:r>
              <a:rPr lang="fr-FR" sz="3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Mise</a:t>
            </a:r>
            <a:r>
              <a:rPr lang="en-US" sz="3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en </a:t>
            </a:r>
            <a:r>
              <a:rPr lang="fr-FR" sz="3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Quarantaine</a:t>
            </a:r>
            <a:r>
              <a:rPr lang="ar-DZ" sz="3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)</a:t>
            </a:r>
            <a:endParaRPr lang="fr-FR" sz="44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just" rtl="1">
              <a:lnSpc>
                <a:spcPct val="114000"/>
              </a:lnSpc>
              <a:buNone/>
            </a:pPr>
            <a:endParaRPr lang="fr-FR" sz="44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19/10/2024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7608168" y="1467198"/>
            <a:ext cx="223224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</a:rPr>
              <a:t>بــرنــامــج</a:t>
            </a:r>
            <a:endParaRPr lang="fr-FR" sz="4000" b="1" dirty="0">
              <a:solidFill>
                <a:srgbClr val="0070C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028996" y="1467198"/>
            <a:ext cx="2219881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بـحــمــايــة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316796" y="3131294"/>
            <a:ext cx="540060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الـبــرمــجــيــات الـخــبــيـــثــة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127448" y="3138765"/>
            <a:ext cx="134651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مَــنْــعِ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888088" y="4931197"/>
            <a:ext cx="168409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إِبْــطَـــالِ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1653078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  <p:bldP spid="7" grpId="0" animBg="1"/>
      <p:bldP spid="9" grpId="0" animBg="1"/>
      <p:bldP spid="10" grpId="0" animBg="1"/>
      <p:bldP spid="12" grpId="0" animBg="1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u="sng" dirty="0">
                <a:solidFill>
                  <a:srgbClr val="FF0000"/>
                </a:solidFill>
                <a:cs typeface="+mj-cs"/>
              </a:rPr>
              <a:t>أتـذكـر </a:t>
            </a:r>
            <a:r>
              <a:rPr lang="ar-DZ" b="1" u="sng" dirty="0" smtClean="0">
                <a:solidFill>
                  <a:srgbClr val="FF0000"/>
                </a:solidFill>
                <a:cs typeface="+mj-cs"/>
              </a:rPr>
              <a:t>( 4</a:t>
            </a:r>
            <a:r>
              <a:rPr lang="ar-DZ" b="1" u="sng" dirty="0">
                <a:solidFill>
                  <a:srgbClr val="FF0000"/>
                </a:solidFill>
                <a:cs typeface="+mj-cs"/>
              </a:rPr>
              <a:t>. مــضــاد </a:t>
            </a:r>
            <a:r>
              <a:rPr lang="ar-DZ" b="1" u="sng" dirty="0" smtClean="0">
                <a:solidFill>
                  <a:srgbClr val="FF0000"/>
                </a:solidFill>
                <a:cs typeface="+mj-cs"/>
              </a:rPr>
              <a:t>الــفـــيــــروســـــات  –  تــابــع </a:t>
            </a:r>
            <a:r>
              <a:rPr lang="ar-DZ" b="1" u="sng" dirty="0">
                <a:solidFill>
                  <a:srgbClr val="FF0000"/>
                </a:solidFill>
                <a:cs typeface="+mj-cs"/>
              </a:rPr>
              <a:t>)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ct val="135000"/>
              </a:lnSpc>
              <a:buNone/>
            </a:pP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─ 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وكــذلــك إصــلاح</a:t>
            </a:r>
            <a:r>
              <a:rPr lang="ar-DZ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dirty="0">
                <a:solidFill>
                  <a:srgbClr val="002060"/>
                </a:solidFill>
                <a:cs typeface="+mj-cs"/>
              </a:rPr>
              <a:t>الَّـتي 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اِرْتَــبَــطَــتْ </a:t>
            </a:r>
            <a:r>
              <a:rPr lang="ar-DZ" sz="4400" b="1" dirty="0">
                <a:solidFill>
                  <a:srgbClr val="002060"/>
                </a:solidFill>
                <a:cs typeface="+mj-cs"/>
              </a:rPr>
              <a:t>بـهـا 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الــفــيــروســات أو </a:t>
            </a:r>
            <a:r>
              <a:rPr lang="ar-DZ" sz="4400" baseline="-25000" dirty="0">
                <a:solidFill>
                  <a:srgbClr val="002060"/>
                </a:solidFill>
                <a:cs typeface="+mj-cs"/>
              </a:rPr>
              <a:t>........................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 </a:t>
            </a:r>
          </a:p>
          <a:p>
            <a:pPr marL="0" indent="0" algn="just" rtl="1">
              <a:lnSpc>
                <a:spcPct val="114000"/>
              </a:lnSpc>
              <a:buNone/>
            </a:pPr>
            <a:endParaRPr lang="ar-DZ" sz="1500" b="1" dirty="0" smtClean="0">
              <a:solidFill>
                <a:srgbClr val="002060"/>
              </a:solidFill>
              <a:cs typeface="+mj-cs"/>
            </a:endParaRPr>
          </a:p>
          <a:p>
            <a:pPr algn="just" rtl="1">
              <a:lnSpc>
                <a:spcPct val="125000"/>
              </a:lnSpc>
              <a:buFont typeface="Wingdings" panose="05000000000000000000" pitchFamily="2" charset="2"/>
              <a:buChar char="v"/>
            </a:pP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 مِــنْ أَشْــهَـــرِ مُــضَـــادَاتِ الــفَــيْـــرُوسَـــــات</a:t>
            </a:r>
            <a:r>
              <a:rPr lang="ar-DZ" sz="4400" b="1" dirty="0">
                <a:solidFill>
                  <a:srgbClr val="002060"/>
                </a:solidFill>
                <a:cs typeface="+mj-cs"/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: </a:t>
            </a:r>
            <a:r>
              <a:rPr lang="ar-DZ" sz="44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............................................................................................................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 </a:t>
            </a:r>
          </a:p>
          <a:p>
            <a:pPr marL="0" indent="0" algn="just" rtl="1">
              <a:lnSpc>
                <a:spcPct val="114000"/>
              </a:lnSpc>
              <a:buNone/>
            </a:pPr>
            <a:endParaRPr lang="fr-FR" sz="44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19/10/2024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185750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u="sng" dirty="0">
                <a:solidFill>
                  <a:srgbClr val="FF0000"/>
                </a:solidFill>
                <a:cs typeface="+mj-cs"/>
              </a:rPr>
              <a:t>أتـذكـر </a:t>
            </a:r>
            <a:r>
              <a:rPr lang="ar-DZ" b="1" u="sng" dirty="0" smtClean="0">
                <a:solidFill>
                  <a:srgbClr val="FF0000"/>
                </a:solidFill>
                <a:cs typeface="+mj-cs"/>
              </a:rPr>
              <a:t>( 4</a:t>
            </a:r>
            <a:r>
              <a:rPr lang="ar-DZ" b="1" u="sng" dirty="0">
                <a:solidFill>
                  <a:srgbClr val="FF0000"/>
                </a:solidFill>
                <a:cs typeface="+mj-cs"/>
              </a:rPr>
              <a:t>. مــضــاد </a:t>
            </a:r>
            <a:r>
              <a:rPr lang="ar-DZ" b="1" u="sng" dirty="0" smtClean="0">
                <a:solidFill>
                  <a:srgbClr val="FF0000"/>
                </a:solidFill>
                <a:cs typeface="+mj-cs"/>
              </a:rPr>
              <a:t>الــفـــيــــروســـــات  –  تــابــع </a:t>
            </a:r>
            <a:r>
              <a:rPr lang="ar-DZ" b="1" u="sng" dirty="0">
                <a:solidFill>
                  <a:srgbClr val="FF0000"/>
                </a:solidFill>
                <a:cs typeface="+mj-cs"/>
              </a:rPr>
              <a:t>)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ct val="135000"/>
              </a:lnSpc>
              <a:buNone/>
            </a:pP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─ 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وكــذلــك إصــلاح</a:t>
            </a:r>
            <a:r>
              <a:rPr lang="ar-DZ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dirty="0">
                <a:solidFill>
                  <a:srgbClr val="002060"/>
                </a:solidFill>
                <a:cs typeface="+mj-cs"/>
              </a:rPr>
              <a:t>الَّـتي 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اِرْتَــبَــطَــتْ </a:t>
            </a:r>
            <a:r>
              <a:rPr lang="ar-DZ" sz="4400" b="1" dirty="0">
                <a:solidFill>
                  <a:srgbClr val="002060"/>
                </a:solidFill>
                <a:cs typeface="+mj-cs"/>
              </a:rPr>
              <a:t>بـهـا 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الــفــيــروســات أو </a:t>
            </a:r>
            <a:r>
              <a:rPr lang="ar-DZ" sz="4400" baseline="-25000" dirty="0">
                <a:solidFill>
                  <a:srgbClr val="002060"/>
                </a:solidFill>
                <a:cs typeface="+mj-cs"/>
              </a:rPr>
              <a:t>........................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 </a:t>
            </a:r>
          </a:p>
          <a:p>
            <a:pPr marL="0" indent="0" algn="just" rtl="1">
              <a:lnSpc>
                <a:spcPct val="114000"/>
              </a:lnSpc>
              <a:buNone/>
            </a:pPr>
            <a:endParaRPr lang="ar-DZ" sz="1500" b="1" dirty="0" smtClean="0">
              <a:solidFill>
                <a:srgbClr val="002060"/>
              </a:solidFill>
              <a:cs typeface="+mj-cs"/>
            </a:endParaRPr>
          </a:p>
          <a:p>
            <a:pPr algn="just" rtl="1">
              <a:lnSpc>
                <a:spcPct val="125000"/>
              </a:lnSpc>
              <a:buFont typeface="Wingdings" panose="05000000000000000000" pitchFamily="2" charset="2"/>
              <a:buChar char="v"/>
            </a:pP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 مِــنْ أَشْــهَـــرِ مُــضَـــادَاتِ الــفَــيْـــرُوسَـــــات</a:t>
            </a:r>
            <a:r>
              <a:rPr lang="ar-DZ" sz="4400" b="1" dirty="0">
                <a:solidFill>
                  <a:srgbClr val="002060"/>
                </a:solidFill>
                <a:cs typeface="+mj-cs"/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: </a:t>
            </a:r>
            <a:r>
              <a:rPr lang="ar-DZ" sz="44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............................................................................................................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 </a:t>
            </a:r>
          </a:p>
          <a:p>
            <a:pPr marL="0" indent="0" algn="just" rtl="1">
              <a:lnSpc>
                <a:spcPct val="114000"/>
              </a:lnSpc>
              <a:buNone/>
            </a:pPr>
            <a:endParaRPr lang="fr-FR" sz="44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19/10/2024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4772962" y="1590034"/>
            <a:ext cx="280831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</a:rPr>
              <a:t>الـمــلــفــات</a:t>
            </a:r>
            <a:endParaRPr lang="fr-FR" sz="40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79696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u="sng" dirty="0">
                <a:solidFill>
                  <a:srgbClr val="FF0000"/>
                </a:solidFill>
                <a:cs typeface="+mj-cs"/>
              </a:rPr>
              <a:t>أتـذكـر </a:t>
            </a:r>
            <a:r>
              <a:rPr lang="ar-DZ" b="1" u="sng" dirty="0" smtClean="0">
                <a:solidFill>
                  <a:srgbClr val="FF0000"/>
                </a:solidFill>
                <a:cs typeface="+mj-cs"/>
              </a:rPr>
              <a:t>( 4</a:t>
            </a:r>
            <a:r>
              <a:rPr lang="ar-DZ" b="1" u="sng" dirty="0">
                <a:solidFill>
                  <a:srgbClr val="FF0000"/>
                </a:solidFill>
                <a:cs typeface="+mj-cs"/>
              </a:rPr>
              <a:t>. مــضــاد </a:t>
            </a:r>
            <a:r>
              <a:rPr lang="ar-DZ" b="1" u="sng" dirty="0" smtClean="0">
                <a:solidFill>
                  <a:srgbClr val="FF0000"/>
                </a:solidFill>
                <a:cs typeface="+mj-cs"/>
              </a:rPr>
              <a:t>الــفـــيــــروســـــات  –  تــابــع </a:t>
            </a:r>
            <a:r>
              <a:rPr lang="ar-DZ" b="1" u="sng" dirty="0">
                <a:solidFill>
                  <a:srgbClr val="FF0000"/>
                </a:solidFill>
                <a:cs typeface="+mj-cs"/>
              </a:rPr>
              <a:t>)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ct val="135000"/>
              </a:lnSpc>
              <a:buNone/>
            </a:pP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─ 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وكــذلــك إصــلاح</a:t>
            </a:r>
            <a:r>
              <a:rPr lang="ar-DZ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dirty="0">
                <a:solidFill>
                  <a:srgbClr val="002060"/>
                </a:solidFill>
                <a:cs typeface="+mj-cs"/>
              </a:rPr>
              <a:t>الَّـتي 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اِرْتَــبَــطَــتْ </a:t>
            </a:r>
            <a:r>
              <a:rPr lang="ar-DZ" sz="4400" b="1" dirty="0">
                <a:solidFill>
                  <a:srgbClr val="002060"/>
                </a:solidFill>
                <a:cs typeface="+mj-cs"/>
              </a:rPr>
              <a:t>بـهـا 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الــفــيــروســات أو </a:t>
            </a:r>
            <a:r>
              <a:rPr lang="ar-DZ" sz="4400" baseline="-25000" dirty="0">
                <a:solidFill>
                  <a:srgbClr val="002060"/>
                </a:solidFill>
                <a:cs typeface="+mj-cs"/>
              </a:rPr>
              <a:t>........................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 </a:t>
            </a:r>
          </a:p>
          <a:p>
            <a:pPr marL="0" indent="0" algn="just" rtl="1">
              <a:lnSpc>
                <a:spcPct val="114000"/>
              </a:lnSpc>
              <a:buNone/>
            </a:pPr>
            <a:endParaRPr lang="ar-DZ" sz="1500" b="1" dirty="0" smtClean="0">
              <a:solidFill>
                <a:srgbClr val="002060"/>
              </a:solidFill>
              <a:cs typeface="+mj-cs"/>
            </a:endParaRPr>
          </a:p>
          <a:p>
            <a:pPr algn="just" rtl="1">
              <a:lnSpc>
                <a:spcPct val="125000"/>
              </a:lnSpc>
              <a:buFont typeface="Wingdings" panose="05000000000000000000" pitchFamily="2" charset="2"/>
              <a:buChar char="v"/>
            </a:pP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 مِــنْ أَشْــهَـــرِ مُــضَـــادَاتِ الــفَــيْـــرُوسَـــــات</a:t>
            </a:r>
            <a:r>
              <a:rPr lang="ar-DZ" sz="4400" b="1" dirty="0">
                <a:solidFill>
                  <a:srgbClr val="002060"/>
                </a:solidFill>
                <a:cs typeface="+mj-cs"/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: </a:t>
            </a:r>
            <a:r>
              <a:rPr lang="ar-DZ" sz="44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............................................................................................................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 </a:t>
            </a:r>
          </a:p>
          <a:p>
            <a:pPr marL="0" indent="0" algn="just" rtl="1">
              <a:lnSpc>
                <a:spcPct val="114000"/>
              </a:lnSpc>
              <a:buNone/>
            </a:pPr>
            <a:endParaRPr lang="fr-FR" sz="44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19/10/2024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4772962" y="1590034"/>
            <a:ext cx="280831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</a:rPr>
              <a:t>الـمــلــفــات</a:t>
            </a:r>
            <a:endParaRPr lang="fr-FR" sz="4000" b="1" dirty="0">
              <a:solidFill>
                <a:srgbClr val="0070C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663952" y="2489933"/>
            <a:ext cx="2219881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حَــذْفِــهَـا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2856789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  <p:bldP spid="7" grpId="0" animBg="1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u="sng" dirty="0">
                <a:solidFill>
                  <a:srgbClr val="FF0000"/>
                </a:solidFill>
                <a:cs typeface="+mj-cs"/>
              </a:rPr>
              <a:t>أتـذكـر </a:t>
            </a:r>
            <a:r>
              <a:rPr lang="ar-DZ" b="1" u="sng" dirty="0" smtClean="0">
                <a:solidFill>
                  <a:srgbClr val="FF0000"/>
                </a:solidFill>
                <a:cs typeface="+mj-cs"/>
              </a:rPr>
              <a:t>( 4</a:t>
            </a:r>
            <a:r>
              <a:rPr lang="ar-DZ" b="1" u="sng" dirty="0">
                <a:solidFill>
                  <a:srgbClr val="FF0000"/>
                </a:solidFill>
                <a:cs typeface="+mj-cs"/>
              </a:rPr>
              <a:t>. مــضــاد </a:t>
            </a:r>
            <a:r>
              <a:rPr lang="ar-DZ" b="1" u="sng" dirty="0" smtClean="0">
                <a:solidFill>
                  <a:srgbClr val="FF0000"/>
                </a:solidFill>
                <a:cs typeface="+mj-cs"/>
              </a:rPr>
              <a:t>الــفـــيــــروســـــات  –  تــابــع </a:t>
            </a:r>
            <a:r>
              <a:rPr lang="ar-DZ" b="1" u="sng" dirty="0">
                <a:solidFill>
                  <a:srgbClr val="FF0000"/>
                </a:solidFill>
                <a:cs typeface="+mj-cs"/>
              </a:rPr>
              <a:t>)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ct val="135000"/>
              </a:lnSpc>
              <a:buNone/>
            </a:pP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─ 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وكــذلــك إصــلاح</a:t>
            </a:r>
            <a:r>
              <a:rPr lang="ar-DZ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dirty="0">
                <a:solidFill>
                  <a:srgbClr val="002060"/>
                </a:solidFill>
                <a:cs typeface="+mj-cs"/>
              </a:rPr>
              <a:t>الَّـتي 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اِرْتَــبَــطَــتْ </a:t>
            </a:r>
            <a:r>
              <a:rPr lang="ar-DZ" sz="4400" b="1" dirty="0">
                <a:solidFill>
                  <a:srgbClr val="002060"/>
                </a:solidFill>
                <a:cs typeface="+mj-cs"/>
              </a:rPr>
              <a:t>بـهـا 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الــفــيــروســات أو </a:t>
            </a:r>
            <a:r>
              <a:rPr lang="ar-DZ" sz="4400" baseline="-25000" dirty="0">
                <a:solidFill>
                  <a:srgbClr val="002060"/>
                </a:solidFill>
                <a:cs typeface="+mj-cs"/>
              </a:rPr>
              <a:t>........................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 </a:t>
            </a:r>
          </a:p>
          <a:p>
            <a:pPr marL="0" indent="0" algn="just" rtl="1">
              <a:lnSpc>
                <a:spcPct val="114000"/>
              </a:lnSpc>
              <a:buNone/>
            </a:pPr>
            <a:endParaRPr lang="ar-DZ" sz="1500" b="1" dirty="0" smtClean="0">
              <a:solidFill>
                <a:srgbClr val="002060"/>
              </a:solidFill>
              <a:cs typeface="+mj-cs"/>
            </a:endParaRPr>
          </a:p>
          <a:p>
            <a:pPr algn="just" rtl="1">
              <a:lnSpc>
                <a:spcPct val="125000"/>
              </a:lnSpc>
              <a:buFont typeface="Wingdings" panose="05000000000000000000" pitchFamily="2" charset="2"/>
              <a:buChar char="v"/>
            </a:pP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 مِــنْ أَشْــهَـــرِ مُــضَـــادَاتِ الــفَــيْـــرُوسَـــــات</a:t>
            </a:r>
            <a:r>
              <a:rPr lang="ar-DZ" sz="4400" b="1" dirty="0">
                <a:solidFill>
                  <a:srgbClr val="002060"/>
                </a:solidFill>
                <a:cs typeface="+mj-cs"/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: </a:t>
            </a:r>
            <a:r>
              <a:rPr lang="ar-DZ" sz="44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............................................................................................................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 </a:t>
            </a:r>
          </a:p>
          <a:p>
            <a:pPr marL="0" indent="0" algn="just" rtl="1">
              <a:lnSpc>
                <a:spcPct val="114000"/>
              </a:lnSpc>
              <a:buNone/>
            </a:pPr>
            <a:endParaRPr lang="fr-FR" sz="44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19/10/2024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4772962" y="1590034"/>
            <a:ext cx="280831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</a:rPr>
              <a:t>الـمــلــفــات</a:t>
            </a:r>
            <a:endParaRPr lang="fr-FR" sz="4000" b="1" dirty="0">
              <a:solidFill>
                <a:srgbClr val="0070C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663952" y="2489933"/>
            <a:ext cx="2219881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حَــذْفِــهَـا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68524" y="4797152"/>
            <a:ext cx="1029714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 smtClean="0">
                <a:solidFill>
                  <a:srgbClr val="0070C0"/>
                </a:solidFill>
                <a:cs typeface="+mj-cs"/>
              </a:rPr>
              <a:t>Kaspersky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  ،   </a:t>
            </a:r>
            <a:r>
              <a:rPr lang="fr-FR" sz="4000" b="1" dirty="0" smtClean="0">
                <a:solidFill>
                  <a:srgbClr val="0070C0"/>
                </a:solidFill>
                <a:cs typeface="+mj-cs"/>
              </a:rPr>
              <a:t>Avira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  ،  </a:t>
            </a:r>
            <a:r>
              <a:rPr lang="fr-FR" sz="4000" b="1" dirty="0" smtClean="0">
                <a:solidFill>
                  <a:srgbClr val="0070C0"/>
                </a:solidFill>
                <a:cs typeface="+mj-cs"/>
              </a:rPr>
              <a:t>Avast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  ،  </a:t>
            </a:r>
            <a:r>
              <a:rPr lang="fr-FR" sz="4000" b="1" dirty="0" smtClean="0">
                <a:solidFill>
                  <a:srgbClr val="0070C0"/>
                </a:solidFill>
                <a:cs typeface="+mj-cs"/>
              </a:rPr>
              <a:t>AVG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  ،  </a:t>
            </a:r>
            <a:r>
              <a:rPr lang="fr-FR" sz="4000" b="1" dirty="0" smtClean="0">
                <a:solidFill>
                  <a:srgbClr val="0070C0"/>
                </a:solidFill>
                <a:cs typeface="+mj-cs"/>
              </a:rPr>
              <a:t>Norton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6109642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  <p:bldP spid="7" grpId="0" animBg="1"/>
      <p:bldP spid="9" grpId="0" animBg="1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600" b="1" dirty="0">
                <a:solidFill>
                  <a:srgbClr val="FF0000"/>
                </a:solidFill>
                <a:cs typeface="+mj-cs"/>
              </a:rPr>
              <a:t> نَــشَــاط 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6 </a:t>
            </a:r>
            <a:r>
              <a:rPr lang="ar-DZ" sz="3600" b="1" dirty="0">
                <a:solidFill>
                  <a:srgbClr val="FF0000"/>
                </a:solidFill>
                <a:cs typeface="+mj-cs"/>
              </a:rPr>
              <a:t>: 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اســتــغــلال مــضــاد الــفــيـــروســات </a:t>
            </a:r>
            <a:r>
              <a:rPr lang="fr-FR" sz="3600" b="1" dirty="0">
                <a:solidFill>
                  <a:srgbClr val="0070C0"/>
                </a:solidFill>
              </a:rPr>
              <a:t>VirusTotal.com</a:t>
            </a:r>
            <a:endParaRPr lang="fr-FR" sz="3600" i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ctr" rtl="1">
              <a:lnSpc>
                <a:spcPct val="125000"/>
              </a:lnSpc>
              <a:buNone/>
            </a:pPr>
            <a:endParaRPr lang="fr-FR" sz="2000" b="1" dirty="0" smtClean="0">
              <a:cs typeface="+mj-cs"/>
            </a:endParaRPr>
          </a:p>
          <a:p>
            <a:pPr marL="0" indent="0" algn="ctr" rtl="1">
              <a:buNone/>
            </a:pPr>
            <a:r>
              <a:rPr lang="ar-DZ" sz="4800" b="1" dirty="0" smtClean="0">
                <a:solidFill>
                  <a:schemeClr val="tx1"/>
                </a:solidFill>
                <a:cs typeface="+mj-cs"/>
              </a:rPr>
              <a:t>فَــحْـــص الــمـــلــــفـــــات والــرَوَابِــــط</a:t>
            </a:r>
          </a:p>
          <a:p>
            <a:pPr marL="0" indent="0" algn="ctr" rtl="1">
              <a:buNone/>
            </a:pPr>
            <a:r>
              <a:rPr lang="ar-DZ" sz="4800" b="1" dirty="0" smtClean="0">
                <a:solidFill>
                  <a:schemeClr val="tx1"/>
                </a:solidFill>
                <a:cs typeface="+mj-cs"/>
              </a:rPr>
              <a:t> بـاســتــغــلال مــضــادات الـفــيــروســـات </a:t>
            </a:r>
          </a:p>
          <a:p>
            <a:pPr marL="0" indent="0" algn="ctr" rtl="1">
              <a:buNone/>
            </a:pPr>
            <a:r>
              <a:rPr lang="ar-DZ" sz="4800" b="1" dirty="0" smtClean="0">
                <a:solidFill>
                  <a:schemeClr val="tx1"/>
                </a:solidFill>
                <a:cs typeface="+mj-cs"/>
              </a:rPr>
              <a:t>الــمــتــوفـــرة فـي الـمــوقــع الـمــمــتــاز : </a:t>
            </a:r>
            <a:endParaRPr lang="fr-FR" sz="4800" b="1" dirty="0" smtClean="0">
              <a:solidFill>
                <a:schemeClr val="tx1"/>
              </a:solidFill>
              <a:cs typeface="+mj-cs"/>
            </a:endParaRPr>
          </a:p>
          <a:p>
            <a:pPr marL="0" indent="0" algn="ctr" rtl="1">
              <a:buNone/>
            </a:pPr>
            <a:r>
              <a:rPr lang="ar-DZ" sz="4400" b="1" dirty="0" smtClean="0">
                <a:solidFill>
                  <a:srgbClr val="FF0000"/>
                </a:solidFill>
                <a:cs typeface="+mj-cs"/>
              </a:rPr>
              <a:t>«</a:t>
            </a:r>
            <a:r>
              <a:rPr lang="fr-FR" sz="44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fr-FR" sz="4400" b="1" dirty="0" smtClean="0">
                <a:solidFill>
                  <a:srgbClr val="0070C0"/>
                </a:solidFill>
              </a:rPr>
              <a:t>VirusTotal.com</a:t>
            </a:r>
            <a:r>
              <a:rPr lang="fr-FR" sz="4400" b="1" dirty="0" smtClean="0">
                <a:solidFill>
                  <a:srgbClr val="002060"/>
                </a:solidFill>
              </a:rPr>
              <a:t> </a:t>
            </a:r>
            <a:r>
              <a:rPr lang="ar-DZ" sz="4400" b="1" dirty="0" smtClean="0">
                <a:solidFill>
                  <a:srgbClr val="FF0000"/>
                </a:solidFill>
                <a:cs typeface="+mj-cs"/>
              </a:rPr>
              <a:t>»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19/10/2024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956309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7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7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7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7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75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75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75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75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75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u="sng" dirty="0">
                <a:solidFill>
                  <a:srgbClr val="FF0000"/>
                </a:solidFill>
              </a:rPr>
              <a:t>واجــب مـنـزلـي</a:t>
            </a:r>
            <a:r>
              <a:rPr lang="ar-DZ" sz="4800" b="1" dirty="0">
                <a:solidFill>
                  <a:srgbClr val="FF0000"/>
                </a:solidFill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: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12568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SA" sz="4400" b="1" dirty="0">
                <a:cs typeface="+mj-cs"/>
              </a:rPr>
              <a:t>أ - </a:t>
            </a:r>
            <a:r>
              <a:rPr lang="ar-SA" sz="4000" b="1" dirty="0">
                <a:cs typeface="+mj-cs"/>
              </a:rPr>
              <a:t>مــا هــي أَبْـــرَزِ أســبـــاب الــعــــدوى بـالـفــيـــروســـات  ؟ عَــلِّــلْ إِجَـــابَــتَــك .</a:t>
            </a:r>
            <a:endParaRPr lang="fr-FR" sz="4000" dirty="0">
              <a:cs typeface="+mj-cs"/>
            </a:endParaRPr>
          </a:p>
          <a:p>
            <a:pPr marL="0" indent="0" algn="just" rtl="1">
              <a:buNone/>
            </a:pPr>
            <a:endParaRPr lang="fr-FR" sz="500" dirty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SA" sz="4400" b="1" dirty="0">
                <a:cs typeface="+mj-cs"/>
              </a:rPr>
              <a:t>ب – </a:t>
            </a:r>
            <a:r>
              <a:rPr lang="ar-DZ" sz="4000" b="1" dirty="0">
                <a:cs typeface="+mj-cs"/>
              </a:rPr>
              <a:t>ومــا هــو الـحــل الأمــثــل لـحــمــايــة الــبــيـــانــات مـن الــضَّـيــاع ( مَـهْــمَـا كـان الـســبــب </a:t>
            </a:r>
            <a:r>
              <a:rPr lang="ar-DZ" sz="4000" b="1" dirty="0" smtClean="0">
                <a:cs typeface="+mj-cs"/>
              </a:rPr>
              <a:t>) ؟ </a:t>
            </a:r>
            <a:r>
              <a:rPr lang="ar-DZ" sz="4000" b="1" dirty="0">
                <a:cs typeface="+mj-cs"/>
              </a:rPr>
              <a:t>عَــلِّــلْ إِجَـــابَـــتَــكَ </a:t>
            </a:r>
            <a:r>
              <a:rPr lang="ar-DZ" sz="4000" b="1" dirty="0" smtClean="0">
                <a:cs typeface="+mj-cs"/>
              </a:rPr>
              <a:t>.</a:t>
            </a:r>
            <a:endParaRPr lang="fr-FR" sz="4000" dirty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19/10/2024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7804189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uiExpand="1" build="p" animBg="1"/>
    </p:bld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à coins arrondis 8"/>
          <p:cNvSpPr/>
          <p:nvPr/>
        </p:nvSpPr>
        <p:spPr bwMode="auto">
          <a:xfrm>
            <a:off x="10668000" y="2786058"/>
            <a:ext cx="7143800" cy="785818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endParaRPr lang="fr-FR" sz="2400">
              <a:solidFill>
                <a:prstClr val="white"/>
              </a:solidFill>
            </a:endParaRPr>
          </a:p>
        </p:txBody>
      </p:sp>
      <p:pic>
        <p:nvPicPr>
          <p:cNvPr id="2054" name="Picture 7" descr="algeria_flags_3dclipart_www"/>
          <p:cNvPicPr>
            <a:picLocks noChangeAspect="1" noChangeArrowheads="1" noCrop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939214" y="-71462"/>
            <a:ext cx="1728787" cy="1223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5" name="Picture 7" descr="algeria_flags_3dclipart_www"/>
          <p:cNvPicPr>
            <a:picLocks noChangeAspect="1" noChangeArrowheads="1" noCrop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4000" y="0"/>
            <a:ext cx="1728788" cy="1223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Espace réservé de la date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B4B70AF9-3FB6-400F-9757-12747EE37EB3}" type="datetime1">
              <a:rPr lang="fr-FR" smtClean="0"/>
              <a:t>19/10/2024</a:t>
            </a:fld>
            <a:endParaRPr lang="fr-FR" dirty="0"/>
          </a:p>
        </p:txBody>
      </p:sp>
      <p:sp>
        <p:nvSpPr>
          <p:cNvPr id="6" name="Rectangle à coins arrondis 5"/>
          <p:cNvSpPr/>
          <p:nvPr/>
        </p:nvSpPr>
        <p:spPr>
          <a:xfrm>
            <a:off x="938770" y="2012966"/>
            <a:ext cx="9793088" cy="3456385"/>
          </a:xfrm>
          <a:prstGeom prst="roundRect">
            <a:avLst>
              <a:gd name="adj" fmla="val 26762"/>
            </a:avLst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 defTabSz="1009650" rt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ar-DZ" altLang="zh-CN" sz="6000" b="1" u="sng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itchFamily="18" charset="0"/>
              </a:rPr>
              <a:t>شـــكـــــــــــرا لـــكــم</a:t>
            </a:r>
          </a:p>
          <a:p>
            <a:pPr lvl="0" algn="ctr" defTabSz="1009650" rt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ar-DZ" altLang="zh-CN" sz="6000" b="1" u="sng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itchFamily="18" charset="0"/>
                <a:cs typeface="+mj-cs"/>
              </a:rPr>
              <a:t>بالـتـوفـيـق للـجــمـيـع</a:t>
            </a:r>
            <a:endParaRPr lang="ar-SA" altLang="zh-CN" sz="60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itchFamily="34" charset="0"/>
              <a:cs typeface="+mj-cs"/>
            </a:endParaRPr>
          </a:p>
          <a:p>
            <a:pPr algn="ctr" rtl="1"/>
            <a:endParaRPr lang="fr-FR" sz="50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6636055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b="1" dirty="0">
                <a:solidFill>
                  <a:srgbClr val="FF0000"/>
                </a:solidFill>
                <a:cs typeface="+mj-cs"/>
              </a:rPr>
              <a:t> نَــشَــاط 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7 </a:t>
            </a:r>
            <a:r>
              <a:rPr lang="ar-DZ" b="1" dirty="0">
                <a:solidFill>
                  <a:srgbClr val="FF0000"/>
                </a:solidFill>
                <a:cs typeface="+mj-cs"/>
              </a:rPr>
              <a:t>: 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تــثـبــيــت مــضـــاد الــفـــيـــروســــات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ctr" rtl="1">
              <a:lnSpc>
                <a:spcPct val="125000"/>
              </a:lnSpc>
              <a:buNone/>
            </a:pPr>
            <a:endParaRPr lang="fr-FR" sz="2000" b="1" dirty="0" smtClean="0">
              <a:cs typeface="+mj-cs"/>
            </a:endParaRPr>
          </a:p>
          <a:p>
            <a:pPr marL="0" indent="0" algn="ctr" rtl="1">
              <a:buNone/>
            </a:pPr>
            <a:r>
              <a:rPr lang="ar-DZ" sz="4400" b="1" dirty="0" smtClean="0">
                <a:solidFill>
                  <a:schemeClr val="tx1"/>
                </a:solidFill>
                <a:cs typeface="+mj-cs"/>
              </a:rPr>
              <a:t>تــثـبــيــت مــضــاد الـفــيــروســـات </a:t>
            </a:r>
            <a:r>
              <a:rPr lang="fr-FR" sz="4000" b="1" dirty="0" smtClean="0">
                <a:solidFill>
                  <a:srgbClr val="002060"/>
                </a:solidFill>
                <a:cs typeface="+mj-cs"/>
              </a:rPr>
              <a:t>Avast  Antivirus</a:t>
            </a:r>
            <a:endParaRPr lang="ar-DZ" sz="4400" b="1" dirty="0" smtClean="0">
              <a:solidFill>
                <a:srgbClr val="002060"/>
              </a:solidFill>
              <a:cs typeface="+mj-cs"/>
            </a:endParaRPr>
          </a:p>
          <a:p>
            <a:pPr marL="0" indent="0" algn="ctr" rtl="1">
              <a:buNone/>
            </a:pP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في </a:t>
            </a:r>
            <a:r>
              <a:rPr lang="ar-DZ" sz="4400" b="1" dirty="0" smtClean="0">
                <a:solidFill>
                  <a:srgbClr val="0070C0"/>
                </a:solidFill>
              </a:rPr>
              <a:t>حَـــاسُــوب اِفْـــتِـــرَاضِـي</a:t>
            </a:r>
          </a:p>
          <a:p>
            <a:pPr marL="0" indent="0" algn="ctr" rtl="1">
              <a:buNone/>
            </a:pPr>
            <a:r>
              <a:rPr lang="ar-DZ" sz="4400" b="1" dirty="0" smtClean="0">
                <a:solidFill>
                  <a:schemeClr val="tx1"/>
                </a:solidFill>
                <a:cs typeface="+mj-cs"/>
              </a:rPr>
              <a:t>بـاســتــغـــلال بــرمــجــيــة الـمُــحَـــاكَـــاة</a:t>
            </a:r>
          </a:p>
          <a:p>
            <a:pPr marL="0" indent="0" algn="ctr" rtl="1">
              <a:buNone/>
            </a:pPr>
            <a:r>
              <a:rPr lang="ar-DZ" sz="4400" b="1" dirty="0" smtClean="0">
                <a:solidFill>
                  <a:srgbClr val="FF0000"/>
                </a:solidFill>
                <a:cs typeface="+mj-cs"/>
              </a:rPr>
              <a:t>«</a:t>
            </a:r>
            <a:r>
              <a:rPr lang="fr-FR" sz="4400" b="1" dirty="0" smtClean="0">
                <a:solidFill>
                  <a:srgbClr val="FF0000"/>
                </a:solidFill>
                <a:cs typeface="+mj-cs"/>
              </a:rPr>
              <a:t> Oracle VM </a:t>
            </a:r>
            <a:r>
              <a:rPr lang="fr-FR" sz="4400" b="1" dirty="0" err="1" smtClean="0">
                <a:solidFill>
                  <a:srgbClr val="FF0000"/>
                </a:solidFill>
                <a:cs typeface="+mj-cs"/>
              </a:rPr>
              <a:t>VirtualBox</a:t>
            </a:r>
            <a:r>
              <a:rPr lang="fr-FR" sz="44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sz="4400" b="1" dirty="0" smtClean="0">
                <a:solidFill>
                  <a:srgbClr val="FF0000"/>
                </a:solidFill>
                <a:cs typeface="+mj-cs"/>
              </a:rPr>
              <a:t>»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19/10/2024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63296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7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7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7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7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75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75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75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75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75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uiExpand="1" build="p" animBg="1"/>
    </p:bld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odèle par défaut">
  <a:themeElements>
    <a:clrScheme name="Module">
      <a:dk1>
        <a:sysClr val="windowText" lastClr="000000"/>
      </a:dk1>
      <a:lt1>
        <a:sysClr val="window" lastClr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Modèle par défaut">
      <a:majorFont>
        <a:latin typeface="Times New Roman"/>
        <a:ea typeface="SimSun"/>
        <a:cs typeface=""/>
      </a:majorFont>
      <a:minorFont>
        <a:latin typeface="Times New Roman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8" charset="0"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Times New Roman" pitchFamily="18" charset="0"/>
            <a:ea typeface="SimSun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8" charset="0"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Times New Roman" pitchFamily="18" charset="0"/>
            <a:ea typeface="SimSun" pitchFamily="2" charset="-122"/>
          </a:defRPr>
        </a:defPPr>
      </a:lstStyle>
    </a:lnDef>
  </a:objectDefaults>
  <a:extraClrSchemeLst>
    <a:extraClrScheme>
      <a:clrScheme name="Modèle par défau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Foundry</Template>
  <TotalTime>25280</TotalTime>
  <Words>2787</Words>
  <Application>Microsoft Office PowerPoint</Application>
  <PresentationFormat>Grand écran</PresentationFormat>
  <Paragraphs>843</Paragraphs>
  <Slides>117</Slides>
  <Notes>6</Notes>
  <HiddenSlides>0</HiddenSlides>
  <MMClips>0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117</vt:i4>
      </vt:variant>
    </vt:vector>
  </HeadingPairs>
  <TitlesOfParts>
    <vt:vector size="127" baseType="lpstr">
      <vt:lpstr>Arial Unicode MS</vt:lpstr>
      <vt:lpstr>SimSun</vt:lpstr>
      <vt:lpstr>SimSun</vt:lpstr>
      <vt:lpstr>Arial</vt:lpstr>
      <vt:lpstr>Calibri</vt:lpstr>
      <vt:lpstr>Droid Sans Fallback</vt:lpstr>
      <vt:lpstr>Times New Roman</vt:lpstr>
      <vt:lpstr>Wingdings</vt:lpstr>
      <vt:lpstr>Thème Office</vt:lpstr>
      <vt:lpstr>Modèle par défaut</vt:lpstr>
      <vt:lpstr>Présentation PowerPoint</vt:lpstr>
      <vt:lpstr>Présentation PowerPoint</vt:lpstr>
      <vt:lpstr>الإشــكــالــيــة :</vt:lpstr>
      <vt:lpstr>الإجــابــة :</vt:lpstr>
      <vt:lpstr>الإجــابــة :</vt:lpstr>
      <vt:lpstr>الإجــابــة :</vt:lpstr>
      <vt:lpstr>Présentation PowerPoint</vt:lpstr>
      <vt:lpstr>Présentation PowerPoint</vt:lpstr>
      <vt:lpstr>Présentation PowerPoint</vt:lpstr>
      <vt:lpstr>1. الـبـرمـجـيــات الـخــبــيــثـة  Malwares</vt:lpstr>
      <vt:lpstr>سـؤال : لـيـس كـلُ الـبـرامـجُ نَـافِـعَـةً فَـكَـيْـفَ تُـسَـمَـى الـضَـارَةَ مِـنْهَـا؟</vt:lpstr>
      <vt:lpstr>سـؤال : لـيـس كـلُ الـبـرامـجُ نَـافِـعَـةً فَـكَـيْـفَ تُـسَـمَـى الـضَـارَةَ مِـنْهَـا؟</vt:lpstr>
      <vt:lpstr>سـؤال : لـيـس كـلُ الـبـرامـجُ نَـافِـعَـةً فَـكَـيْـفَ تُـسَـمَـى الـضَـارَةَ مِـنْهَـا؟</vt:lpstr>
      <vt:lpstr>سـؤال : لـيـس كـلُ الـبـرامـجُ نَـافِـعَـةً فَـكَـيْـفَ تُـسَـمَـى الـضَـارَةَ مِـنْهَـا؟</vt:lpstr>
      <vt:lpstr>سـؤال : لـيـس كـلُ الـبـرامـجُ نَـافِـعَـةً فَـكَـيْـفَ تُـسَـمَـى الـضَـارَةَ مِـنْهَـا؟</vt:lpstr>
      <vt:lpstr>سـؤال : لـيـس كـلُ الـبـرامـجُ نَـافِـعَـةً فَـكَـيْـفَ تُـسَـمَـى الـضَـارَةَ مِـنْهَـا؟</vt:lpstr>
      <vt:lpstr>أتـذكـر </vt:lpstr>
      <vt:lpstr>أتـذكـر </vt:lpstr>
      <vt:lpstr>أتـذكـر </vt:lpstr>
      <vt:lpstr>أتـذكـر </vt:lpstr>
      <vt:lpstr>أتـذكـر </vt:lpstr>
      <vt:lpstr>أتـذكـر </vt:lpstr>
      <vt:lpstr>2.1 أنــواع الـبــرمــجــيــات الـخــبـــيـــثــة</vt:lpstr>
      <vt:lpstr>أتـذكـر  ( 2.1 أنــواع الـبــرمــجــيــات الـخــبـــيـــثــة )</vt:lpstr>
      <vt:lpstr>أتـذكـر  ( 2.1 أنــواع الـبــرمــجــيــات الـخــبـــيـــثــة )</vt:lpstr>
      <vt:lpstr>أتـذكـر  ( 2.1 أنــواع الـبــرمــجــيــات الـخــبـــيـــثــة )</vt:lpstr>
      <vt:lpstr>أتـذكـر  ( 2.1 أنــواع الـبــرمــجــيــات الـخــبـــيـــثــة )</vt:lpstr>
      <vt:lpstr>أتـذكـر  ( 2.1 أنــواع الـبــرمــجــيــات الـخــبـــيـــثــة  –  تـــابــع )</vt:lpstr>
      <vt:lpstr>أتـذكـر  ( 2.1 أنــواع الـبــرمــجــيــات الـخــبـــيـــثــة  –  تـــابــع )</vt:lpstr>
      <vt:lpstr>أتـذكـر  ( 2.1 أنــواع الـبــرمــجــيــات الـخــبـــيـــثــة  –  تـــابــع )</vt:lpstr>
      <vt:lpstr>أتـذكـر  ( 2.1 أنــواع الـبــرمــجــيــات الـخــبـــيـــثــة  –  تـــابــع )</vt:lpstr>
      <vt:lpstr>2. أعـــراض الإصــابــة بـالــفــيـــروســــات </vt:lpstr>
      <vt:lpstr>سـؤال : كـيـف يـكـون بِــدْءُ الـتـشــغــيـل وتـنـفــيــذ الـبــرامـج في الـحـــالــتــيــن :</vt:lpstr>
      <vt:lpstr>سـؤال : كـيـف يـكـون بِــدْءُ الـتـشــغــيـل وتـنـفــيــذ الـبــرامـج في الـحـــالــتــيــن :</vt:lpstr>
      <vt:lpstr>سـؤال : كـيـف يـكـون بِــدْءُ الـتـشــغــيـل وتـنـفــيــذ الـبــرامـج في الـحـــالــتــيــن :</vt:lpstr>
      <vt:lpstr> أتـذكـر: ( نَــشَـاط 3 – أعـــراض الإصــابــة بـالــفـــيـــروســـات ) </vt:lpstr>
      <vt:lpstr> أتـذكـر: ( نَــشَـاط 3 – أعـــراض الإصــابــة بـالــفـــيـــروســـات ) </vt:lpstr>
      <vt:lpstr>سـؤال : كـيـف تـؤثــر الـفــيـروســات عـلـى الـمــوارد : RAM / HDD ؟</vt:lpstr>
      <vt:lpstr>سـؤال : كـيـف تـؤثــر الـفــيـروســات عـلـى الـمــوارد : RAM / HDD ؟</vt:lpstr>
      <vt:lpstr>سـؤال : كـيـف تـؤثــر الـفــيـروســات عـلـى الـمــوارد : RAM / HDD ؟</vt:lpstr>
      <vt:lpstr> أتـذكـر: ( نَــشَـاط 3 – أعـــراض الإصــابــة بـالــفـــيـــروســـات ) </vt:lpstr>
      <vt:lpstr> أتـذكـر: ( نَــشَـاط 3 – أعـــراض الإصــابــة بـالــفـــيـــروســـات ) </vt:lpstr>
      <vt:lpstr> أتـذكـر: ( نَــشَـاط 3 – أعـــراض الإصــابــة بـالــفـــيـــروســـات ) </vt:lpstr>
      <vt:lpstr>ســؤال : كـيـف تُــؤَثِّــرُ الـفــيــروســات عـلـى مـلـفـات الـحــاســوب ؟</vt:lpstr>
      <vt:lpstr>ســؤال : كـيـف تُــؤَثِّــرُ الـفــيــروســات عـلـى مـلـفـات الـحــاســوب ؟</vt:lpstr>
      <vt:lpstr>ســؤال : كـيـف تُــؤَثِّــرُ الـفــيــروســات عـلـى مـلـفـات الـحــاســوب ؟</vt:lpstr>
      <vt:lpstr> أتـذكـر : ( 2. أعـــراض الإصــابــة بـالــفــيــروســـات  -  تــابـع ) </vt:lpstr>
      <vt:lpstr> أتـذكـر : ( 2. أعـــراض الإصــابــة بـالــفــيــروســـات  -  تــابـع ) </vt:lpstr>
      <vt:lpstr> أتـذكـر : ( 2. أعـــراض الإصــابــة بـالــفــيــروســـات  -  تــابـع ) </vt:lpstr>
      <vt:lpstr> أتـذكـر : ( 2. أعـــراض الإصــابــة بـالــفــيــروســـات  -  تــابـع ) </vt:lpstr>
      <vt:lpstr> أتـذكـر : ( 2. أعـــراض الإصــابــة بـالــفــيــروســـات  -  تــابـع ) </vt:lpstr>
      <vt:lpstr>ســؤال : كـيـف يُــؤَثِّــرُ تَــلَــفُ الـمـلـفـات عـلـى الـبــرامـج الَّـتِي تـحـتـاجـهـا ؟</vt:lpstr>
      <vt:lpstr>ســؤال : كـيـف يُــؤَثِّــرُ تَــلَــفُ الـمـلـفـات عـلـى الـبــرامـج الَّـتِي تـحـتـاجـهـا ؟</vt:lpstr>
      <vt:lpstr>ســؤال : كـيـف يُــؤَثِّــرُ تَــلَــفُ الـمـلـفـات عـلـى الـبــرامـج الَّـتِي تـحـتـاجـهـا ؟</vt:lpstr>
      <vt:lpstr> أتـذكـر : ( 2. أعـــراض الإصــابــة بـالــفــيــروســـات  -  تــابـع ) </vt:lpstr>
      <vt:lpstr> أتـذكـر : ( 2. أعـــراض الإصــابــة بـالــفــيــروســـات  -  تــابـع ) </vt:lpstr>
      <vt:lpstr> 3. الــوقـــايـــة مـن  الــفــيـــروســــات </vt:lpstr>
      <vt:lpstr>ســؤال : هـل تَــلَــفُ الـمـلـفـات رَاجِـعٌ دَائِـمًـا إلـى الـبـرامـج الـخــبــيــثـة ؟</vt:lpstr>
      <vt:lpstr>ســؤال : هـل تَــلَــفُ الـمـلـفـات رَاجِـعٌ دَائِـمًـا إلـى الـبـرامـج الـخــبــيــثـة ؟</vt:lpstr>
      <vt:lpstr>ســؤال : هـل تَــلَــفُ الـمـلـفـات رَاجِـعٌ دَائِـمًـا إلـى الـبـرامـج الـخــبــيــثـة ؟</vt:lpstr>
      <vt:lpstr> أتـذكـر: ( نَــشَـاط 4  –  الــوقـــايـــة مـن  الــفــيـــروســــات ) </vt:lpstr>
      <vt:lpstr> أتـذكـر: ( نَــشَـاط 4  –  الــوقـــايـــة مـن  الــفــيـــروســــات ) </vt:lpstr>
      <vt:lpstr> أتـذكـر: ( نَــشَـاط 4  –  الــوقـــايـــة مـن  الــفــيـــروســــات ) </vt:lpstr>
      <vt:lpstr> أتـذكـر: ( نَــشَـاط 4  –  الــوقـــايـــة مـن  الــفــيـــروســــات ) </vt:lpstr>
      <vt:lpstr>ســؤال : مــا هـي الـبــرامـج الَّـتِي تـلْـزَمُـنَـا لـحــمــايــة الـحــاســوب ؟</vt:lpstr>
      <vt:lpstr>ســؤال : مــا هـي الـبــرامـج الَّـتِي تـلْـزَمُـنَـا لـحــمــايــة الـحــاســوب ؟</vt:lpstr>
      <vt:lpstr> أتـذكـر: ( نَــشَـاط 4  –  الــوقـــايـــة مـن  الــفــيـــروســــات ) </vt:lpstr>
      <vt:lpstr> أتـذكـر: ( نَــشَـاط 4  –  الــوقـــايـــة مـن  الــفــيـــروســــات ) </vt:lpstr>
      <vt:lpstr>تــنــصــيــب   بــرامــج الـحـــمـــايــــة  الــضَــرُورِيَــة : </vt:lpstr>
      <vt:lpstr>تــنــصــيــب   بــرامــج الـحـــمـــايــــة  الــضَــرُورِيَــة : </vt:lpstr>
      <vt:lpstr>حــمــايــة الـحــاســوب يــتــطــلــب بــرامـج الـحــمــايــة :</vt:lpstr>
      <vt:lpstr>تــنــصــيــب   بــرامــج الـحـــمـــايــــة  الــضَــرُورِيَــة : </vt:lpstr>
      <vt:lpstr>تــنــصــيــب   بــرامــج الـحـــمـــايــــة  الــضَــرُورِيَــة : </vt:lpstr>
      <vt:lpstr>حــمــايــة الـحــاســوب يــتــطــلــب بــرامـج الـحــمــايــة :</vt:lpstr>
      <vt:lpstr>تــنــصــيــب   بــرامــج الـحـــمـــايــــة  الــضَــرُورِيَــة : </vt:lpstr>
      <vt:lpstr>تــنــصــيــب   بــرامــج الـحـــمـــايــــة  الــضَــرُورِيَــة : </vt:lpstr>
      <vt:lpstr>حــمــايــة الـحــاســوب يــتــطــلــب بــرامـج الـحــمــايــة :</vt:lpstr>
      <vt:lpstr>تــنــصــيــب   بــرامــج الـحـــمـــايــــة  الــضَــرُورِيَــة : </vt:lpstr>
      <vt:lpstr>تــنــصــيــب   بــرامــج الـحـــمـــايــــة  الــضَــرُورِيَــة : </vt:lpstr>
      <vt:lpstr>ســؤال : هـل تَــزْوِيــدُ الـحـاســوب بـبـرامـج الـحــمــايــة كـافــيـا ؟</vt:lpstr>
      <vt:lpstr>ســؤال : هـل تَــزْوِيــدُ الـحـاســوب بـبـرامـج الـحــمــايــة كـافــيـا ؟</vt:lpstr>
      <vt:lpstr>ســؤال : هـل تَــزْوِيــدُ الـحـاســوب بـبـرامـج الـحــمــايــة كـافــيـا ؟</vt:lpstr>
      <vt:lpstr> أتـذكـر: ( الــوقـــايـــة مـن  الــفــيـــروســــات –  تـــابــع ) </vt:lpstr>
      <vt:lpstr> أتـذكـر: ( الــوقـــايـــة مـن  الــفــيـــروســــات –  تـــابــع ) </vt:lpstr>
      <vt:lpstr> أتـذكـر: ( الــوقـــايـــة مـن  الــفــيـــروســــات –  تـــابــع ) </vt:lpstr>
      <vt:lpstr> أتـذكـر: ( الــوقـــايـــة مـن  الــفــيـــروســــات –  تـــابــع ) </vt:lpstr>
      <vt:lpstr>ســؤال : هـل كــل الـمــواقــع آمــنــة أو مــضــمـــونــة ؟</vt:lpstr>
      <vt:lpstr>ســؤال : هـل كــل الـمــواقــع آمــنــة أو مــضــمـــونــة ؟</vt:lpstr>
      <vt:lpstr> أتـذكـر: ( الــوقـــايـــة مـن  الــفــيـــروســــات –  تـــابــع ) </vt:lpstr>
      <vt:lpstr> أتـذكـر: ( الــوقـــايـــة مـن  الــفــيـــروســــات –  تـــابــع ) </vt:lpstr>
      <vt:lpstr> أتـذكـر: ( الــوقـــايـــة مـن  الــفــيـــروســــات –  تـــابــع ) </vt:lpstr>
      <vt:lpstr> أتـذكـر: ( الــوقـــايـــة مـن  الــفــيـــروســــات –  تـــابــع ) </vt:lpstr>
      <vt:lpstr>ســؤال : هـل كـل الـرســائــل الإلـكـتــرونـيـة آمــنـة ومـضـمـونـة ؟</vt:lpstr>
      <vt:lpstr>ســؤال : هـل كـل الـرســائــل الإلـكـتــرونـيـة آمــنـة ومـضـمـونـة ؟</vt:lpstr>
      <vt:lpstr> أتـذكـر: ( الــوقـــايـــة مـن  الــفــيـــروســــات –  تـــابــع ) </vt:lpstr>
      <vt:lpstr> أتـذكـر: ( الــوقـــايـــة مـن  الــفــيـــروســــات –  تـــابــع ) </vt:lpstr>
      <vt:lpstr> أتـذكـر: ( الــوقـــايـــة مـن  الــفــيـــروســــات –  تـــابــع ) </vt:lpstr>
      <vt:lpstr> أتـذكـر: ( الــوقـــايـــة مـن  الــفــيـــروســــات –  تـــابــع ) </vt:lpstr>
      <vt:lpstr> 4. مــضــاد الــفــيـــروســــات </vt:lpstr>
      <vt:lpstr>بــرامـج الـحــمــايــة  هـي عــدة أنــواع أهــمـهـا :</vt:lpstr>
      <vt:lpstr>حــمــايــة الـحــاســوب يــتــطــلــب مــضــاد الـفــيــروســات :</vt:lpstr>
      <vt:lpstr>حــمــايــة الـحــاســوب يــتــطــلــب مــضــاد الـفــيــروســات :</vt:lpstr>
      <vt:lpstr>حــمــايــة الـحــاســوب يــتــطــلــب مــضــاد الـفــيــروســات :</vt:lpstr>
      <vt:lpstr>حــمــايــة الـحــاســوب يــتــطــلــب مــضــاد الـفــيــروســات :</vt:lpstr>
      <vt:lpstr>أتـذكـر ( 4. مــضــاد الــفـــيــــروســـــات )</vt:lpstr>
      <vt:lpstr>أتـذكـر ( 4. مــضــاد الــفـــيــــروســـــات )</vt:lpstr>
      <vt:lpstr>أتـذكـر ( 4. مــضــاد الــفـــيــــروســـــات )</vt:lpstr>
      <vt:lpstr>أتـذكـر ( 4. مــضــاد الــفـــيــــروســـــات )</vt:lpstr>
      <vt:lpstr>أتـذكـر ( 4. مــضــاد الــفـــيــــروســـــات )</vt:lpstr>
      <vt:lpstr>أتـذكـر ( 4. مــضــاد الــفـــيــــروســـــات  –  تــابــع )</vt:lpstr>
      <vt:lpstr>أتـذكـر ( 4. مــضــاد الــفـــيــــروســـــات  –  تــابــع )</vt:lpstr>
      <vt:lpstr>أتـذكـر ( 4. مــضــاد الــفـــيــــروســـــات  –  تــابــع )</vt:lpstr>
      <vt:lpstr>أتـذكـر ( 4. مــضــاد الــفـــيــــروســـــات  –  تــابــع )</vt:lpstr>
      <vt:lpstr> نَــشَــاط 6 : اســتــغــلال مــضــاد الــفــيـــروســات VirusTotal.com</vt:lpstr>
      <vt:lpstr>واجــب مـنـزلـي :</vt:lpstr>
      <vt:lpstr>Présentation PowerPoint</vt:lpstr>
      <vt:lpstr> نَــشَــاط 7 : تــثـبــيــت مــضـــاد الــفـــيـــروســــات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Shm</dc:creator>
  <cp:lastModifiedBy>Dual</cp:lastModifiedBy>
  <cp:revision>1265</cp:revision>
  <dcterms:created xsi:type="dcterms:W3CDTF">2015-11-30T21:00:22Z</dcterms:created>
  <dcterms:modified xsi:type="dcterms:W3CDTF">2024-10-19T15:45:04Z</dcterms:modified>
</cp:coreProperties>
</file>