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8"/>
  </p:notesMasterIdLst>
  <p:sldIdLst>
    <p:sldId id="273" r:id="rId3"/>
    <p:sldId id="291" r:id="rId4"/>
    <p:sldId id="258" r:id="rId5"/>
    <p:sldId id="447" r:id="rId6"/>
    <p:sldId id="540" r:id="rId7"/>
    <p:sldId id="292" r:id="rId8"/>
    <p:sldId id="595" r:id="rId9"/>
    <p:sldId id="596" r:id="rId10"/>
    <p:sldId id="293" r:id="rId11"/>
    <p:sldId id="529" r:id="rId12"/>
    <p:sldId id="541" r:id="rId13"/>
    <p:sldId id="599" r:id="rId14"/>
    <p:sldId id="598" r:id="rId15"/>
    <p:sldId id="597" r:id="rId16"/>
    <p:sldId id="542" r:id="rId17"/>
    <p:sldId id="543" r:id="rId18"/>
    <p:sldId id="601" r:id="rId19"/>
    <p:sldId id="600" r:id="rId20"/>
    <p:sldId id="561" r:id="rId21"/>
    <p:sldId id="564" r:id="rId22"/>
    <p:sldId id="653" r:id="rId23"/>
    <p:sldId id="563" r:id="rId24"/>
    <p:sldId id="544" r:id="rId25"/>
    <p:sldId id="602" r:id="rId26"/>
    <p:sldId id="545" r:id="rId27"/>
    <p:sldId id="652" r:id="rId28"/>
    <p:sldId id="604" r:id="rId29"/>
    <p:sldId id="603" r:id="rId30"/>
    <p:sldId id="395" r:id="rId31"/>
    <p:sldId id="519" r:id="rId32"/>
    <p:sldId id="546" r:id="rId33"/>
    <p:sldId id="520" r:id="rId34"/>
    <p:sldId id="547" r:id="rId35"/>
    <p:sldId id="607" r:id="rId36"/>
    <p:sldId id="606" r:id="rId37"/>
    <p:sldId id="605" r:id="rId38"/>
    <p:sldId id="521" r:id="rId39"/>
    <p:sldId id="403" r:id="rId40"/>
    <p:sldId id="548" r:id="rId41"/>
    <p:sldId id="608" r:id="rId42"/>
    <p:sldId id="489" r:id="rId43"/>
    <p:sldId id="523" r:id="rId44"/>
    <p:sldId id="549" r:id="rId45"/>
    <p:sldId id="610" r:id="rId46"/>
    <p:sldId id="609" r:id="rId47"/>
    <p:sldId id="550" r:id="rId48"/>
    <p:sldId id="490" r:id="rId49"/>
    <p:sldId id="551" r:id="rId50"/>
    <p:sldId id="553" r:id="rId51"/>
    <p:sldId id="491" r:id="rId52"/>
    <p:sldId id="465" r:id="rId53"/>
    <p:sldId id="554" r:id="rId54"/>
    <p:sldId id="611" r:id="rId55"/>
    <p:sldId id="612" r:id="rId56"/>
    <p:sldId id="453" r:id="rId57"/>
    <p:sldId id="556" r:id="rId58"/>
    <p:sldId id="613" r:id="rId59"/>
    <p:sldId id="494" r:id="rId60"/>
    <p:sldId id="557" r:id="rId61"/>
    <p:sldId id="618" r:id="rId62"/>
    <p:sldId id="617" r:id="rId63"/>
    <p:sldId id="616" r:id="rId64"/>
    <p:sldId id="615" r:id="rId65"/>
    <p:sldId id="614" r:id="rId66"/>
    <p:sldId id="496" r:id="rId67"/>
    <p:sldId id="559" r:id="rId68"/>
    <p:sldId id="621" r:id="rId69"/>
    <p:sldId id="560" r:id="rId70"/>
    <p:sldId id="622" r:id="rId71"/>
    <p:sldId id="495" r:id="rId72"/>
    <p:sldId id="558" r:id="rId73"/>
    <p:sldId id="620" r:id="rId74"/>
    <p:sldId id="619" r:id="rId75"/>
    <p:sldId id="497" r:id="rId76"/>
    <p:sldId id="498" r:id="rId77"/>
    <p:sldId id="565" r:id="rId78"/>
    <p:sldId id="624" r:id="rId79"/>
    <p:sldId id="623" r:id="rId80"/>
    <p:sldId id="625" r:id="rId81"/>
    <p:sldId id="626" r:id="rId82"/>
    <p:sldId id="503" r:id="rId83"/>
    <p:sldId id="627" r:id="rId84"/>
    <p:sldId id="566" r:id="rId85"/>
    <p:sldId id="629" r:id="rId86"/>
    <p:sldId id="628" r:id="rId87"/>
    <p:sldId id="506" r:id="rId88"/>
    <p:sldId id="567" r:id="rId89"/>
    <p:sldId id="568" r:id="rId90"/>
    <p:sldId id="631" r:id="rId91"/>
    <p:sldId id="630" r:id="rId92"/>
    <p:sldId id="504" r:id="rId93"/>
    <p:sldId id="569" r:id="rId94"/>
    <p:sldId id="637" r:id="rId95"/>
    <p:sldId id="636" r:id="rId96"/>
    <p:sldId id="635" r:id="rId97"/>
    <p:sldId id="634" r:id="rId98"/>
    <p:sldId id="633" r:id="rId99"/>
    <p:sldId id="632" r:id="rId100"/>
    <p:sldId id="449" r:id="rId101"/>
    <p:sldId id="507" r:id="rId102"/>
    <p:sldId id="516" r:id="rId103"/>
    <p:sldId id="572" r:id="rId104"/>
    <p:sldId id="571" r:id="rId105"/>
    <p:sldId id="508" r:id="rId106"/>
    <p:sldId id="573" r:id="rId107"/>
    <p:sldId id="515" r:id="rId108"/>
    <p:sldId id="574" r:id="rId109"/>
    <p:sldId id="511" r:id="rId110"/>
    <p:sldId id="512" r:id="rId111"/>
    <p:sldId id="577" r:id="rId112"/>
    <p:sldId id="513" r:id="rId113"/>
    <p:sldId id="576" r:id="rId114"/>
    <p:sldId id="514" r:id="rId115"/>
    <p:sldId id="578" r:id="rId116"/>
    <p:sldId id="522" r:id="rId117"/>
    <p:sldId id="538" r:id="rId118"/>
    <p:sldId id="654" r:id="rId119"/>
    <p:sldId id="539" r:id="rId120"/>
    <p:sldId id="579" r:id="rId121"/>
    <p:sldId id="530" r:id="rId122"/>
    <p:sldId id="655" r:id="rId123"/>
    <p:sldId id="531" r:id="rId124"/>
    <p:sldId id="580" r:id="rId125"/>
    <p:sldId id="656" r:id="rId126"/>
    <p:sldId id="588" r:id="rId127"/>
    <p:sldId id="582" r:id="rId128"/>
    <p:sldId id="591" r:id="rId129"/>
    <p:sldId id="592" r:id="rId130"/>
    <p:sldId id="593" r:id="rId131"/>
    <p:sldId id="594" r:id="rId132"/>
    <p:sldId id="589" r:id="rId133"/>
    <p:sldId id="590" r:id="rId134"/>
    <p:sldId id="584" r:id="rId135"/>
    <p:sldId id="583" r:id="rId136"/>
    <p:sldId id="585" r:id="rId137"/>
    <p:sldId id="537" r:id="rId138"/>
    <p:sldId id="586" r:id="rId139"/>
    <p:sldId id="640" r:id="rId140"/>
    <p:sldId id="526" r:id="rId141"/>
    <p:sldId id="639" r:id="rId142"/>
    <p:sldId id="638" r:id="rId143"/>
    <p:sldId id="587" r:id="rId144"/>
    <p:sldId id="642" r:id="rId145"/>
    <p:sldId id="641" r:id="rId146"/>
    <p:sldId id="525" r:id="rId147"/>
    <p:sldId id="458" r:id="rId148"/>
    <p:sldId id="534" r:id="rId149"/>
    <p:sldId id="644" r:id="rId150"/>
    <p:sldId id="643" r:id="rId151"/>
    <p:sldId id="649" r:id="rId152"/>
    <p:sldId id="650" r:id="rId153"/>
    <p:sldId id="648" r:id="rId154"/>
    <p:sldId id="647" r:id="rId155"/>
    <p:sldId id="528" r:id="rId156"/>
    <p:sldId id="536" r:id="rId157"/>
    <p:sldId id="651" r:id="rId158"/>
    <p:sldId id="657" r:id="rId159"/>
    <p:sldId id="659" r:id="rId160"/>
    <p:sldId id="662" r:id="rId161"/>
    <p:sldId id="664" r:id="rId162"/>
    <p:sldId id="708" r:id="rId163"/>
    <p:sldId id="668" r:id="rId164"/>
    <p:sldId id="709" r:id="rId165"/>
    <p:sldId id="667" r:id="rId166"/>
    <p:sldId id="710" r:id="rId167"/>
    <p:sldId id="666" r:id="rId168"/>
    <p:sldId id="711" r:id="rId169"/>
    <p:sldId id="665" r:id="rId170"/>
    <p:sldId id="660" r:id="rId171"/>
    <p:sldId id="676" r:id="rId172"/>
    <p:sldId id="672" r:id="rId173"/>
    <p:sldId id="675" r:id="rId174"/>
    <p:sldId id="674" r:id="rId175"/>
    <p:sldId id="673" r:id="rId176"/>
    <p:sldId id="677" r:id="rId177"/>
    <p:sldId id="679" r:id="rId178"/>
    <p:sldId id="678" r:id="rId179"/>
    <p:sldId id="681" r:id="rId180"/>
    <p:sldId id="682" r:id="rId181"/>
    <p:sldId id="680" r:id="rId182"/>
    <p:sldId id="683" r:id="rId183"/>
    <p:sldId id="685" r:id="rId184"/>
    <p:sldId id="686" r:id="rId185"/>
    <p:sldId id="684" r:id="rId186"/>
    <p:sldId id="689" r:id="rId187"/>
    <p:sldId id="688" r:id="rId188"/>
    <p:sldId id="687" r:id="rId189"/>
    <p:sldId id="694" r:id="rId190"/>
    <p:sldId id="691" r:id="rId191"/>
    <p:sldId id="696" r:id="rId192"/>
    <p:sldId id="695" r:id="rId193"/>
    <p:sldId id="697" r:id="rId194"/>
    <p:sldId id="698" r:id="rId195"/>
    <p:sldId id="701" r:id="rId196"/>
    <p:sldId id="704" r:id="rId197"/>
    <p:sldId id="703" r:id="rId198"/>
    <p:sldId id="702" r:id="rId199"/>
    <p:sldId id="699" r:id="rId200"/>
    <p:sldId id="707" r:id="rId201"/>
    <p:sldId id="706" r:id="rId202"/>
    <p:sldId id="705" r:id="rId203"/>
    <p:sldId id="700" r:id="rId204"/>
    <p:sldId id="392" r:id="rId205"/>
    <p:sldId id="338" r:id="rId206"/>
    <p:sldId id="669" r:id="rId20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al" initials="D" lastIdx="0" clrIdx="0">
    <p:extLst>
      <p:ext uri="{19B8F6BF-5375-455C-9EA6-DF929625EA0E}">
        <p15:presenceInfo xmlns:p15="http://schemas.microsoft.com/office/powerpoint/2012/main" userId="Du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84" autoAdjust="0"/>
    <p:restoredTop sz="94434" autoAdjust="0"/>
  </p:normalViewPr>
  <p:slideViewPr>
    <p:cSldViewPr>
      <p:cViewPr varScale="1">
        <p:scale>
          <a:sx n="68" d="100"/>
          <a:sy n="68" d="100"/>
        </p:scale>
        <p:origin x="48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4" Type="http://schemas.openxmlformats.org/officeDocument/2006/relationships/slide" Target="slides/slide22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31" Type="http://schemas.openxmlformats.org/officeDocument/2006/relationships/slide" Target="slides/slide129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208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189" Type="http://schemas.openxmlformats.org/officeDocument/2006/relationships/slide" Target="slides/slide187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95" Type="http://schemas.openxmlformats.org/officeDocument/2006/relationships/slide" Target="slides/slide193.xml"/><Relationship Id="rId209" Type="http://schemas.openxmlformats.org/officeDocument/2006/relationships/commentAuthors" Target="commentAuthors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10" Type="http://schemas.openxmlformats.org/officeDocument/2006/relationships/presProps" Target="presProps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viewProps" Target="viewProps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theme" Target="theme/theme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slide" Target="slides/slide200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26/10/2024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03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7448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1222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26/10/2024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26/10/2024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26/10/2024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26/10/2024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26/10/2024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26/10/2024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26/10/2024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26/10/2024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26/10/2024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26/10/2024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26/10/2024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26/10/2024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26/10/2024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26/10/2024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26/10/2024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26/10/2024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26/10/2024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26/10/2024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26/10/2024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26/10/2024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26/10/2024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26/10/2024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26/10/2024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26/10/2024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26/10/2024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26/10/2024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ة :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......................................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: 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u="sng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26/10/2024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19290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r>
              <a:rPr lang="ar-DZ" sz="4400" b="1" dirty="0" smtClean="0">
                <a:cs typeface="+mj-cs"/>
              </a:rPr>
              <a:t>يَـضُـمُّ </a:t>
            </a:r>
            <a:r>
              <a:rPr lang="ar-DZ" sz="4400" b="1" dirty="0">
                <a:cs typeface="+mj-cs"/>
              </a:rPr>
              <a:t>مـقـهـى الأنـتـرنـت عِـــدَّة حــواسـيـب وطـابـعـة واحــدة، ومـع ذلـك بـإمـكـان رُوَّادِه طـبـاعـة الـمـسـتـنـدات مـن أيِّ حــاســوب، فـمــا هـي الـوسـيـلـة الّـتي يـتِـمُّ اسـتـعـمـالـهـا لـتــمـكـيـن كـلِّ الـحـواسـيـب مـن اسـتـخـدام تـلـك </a:t>
            </a:r>
            <a:r>
              <a:rPr lang="ar-DZ" sz="4400" b="1" dirty="0" smtClean="0">
                <a:cs typeface="+mj-cs"/>
              </a:rPr>
              <a:t>الـطــابـعــة</a:t>
            </a:r>
            <a:r>
              <a:rPr lang="fr-FR" sz="4400" b="1" dirty="0" smtClean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؟</a:t>
            </a: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ar-DZ" sz="4400" b="1" dirty="0">
                <a:cs typeface="+mj-cs"/>
              </a:rPr>
              <a:t>الـوســيــلـة هـي </a:t>
            </a:r>
            <a:r>
              <a:rPr lang="ar-DZ" sz="3600" b="1" dirty="0" smtClean="0">
                <a:cs typeface="+mj-cs"/>
              </a:rPr>
              <a:t>: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3600" baseline="-25000" dirty="0" smtClean="0">
                <a:cs typeface="+mj-cs"/>
              </a:rPr>
              <a:t>......................................................................................................................................</a:t>
            </a: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ar-DZ" sz="4400" b="1" dirty="0">
                <a:cs typeface="+mj-cs"/>
              </a:rPr>
              <a:t>الـوســيــلـة هـي </a:t>
            </a:r>
            <a:r>
              <a:rPr lang="ar-DZ" sz="3600" b="1" dirty="0" smtClean="0">
                <a:cs typeface="+mj-cs"/>
              </a:rPr>
              <a:t>: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3600" baseline="-25000" dirty="0" smtClean="0">
                <a:cs typeface="+mj-cs"/>
              </a:rPr>
              <a:t>......................................................................................................................................</a:t>
            </a: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11424" y="2707231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B050"/>
                </a:solidFill>
              </a:rPr>
              <a:t>الــشـــبـــكــــة الــمــحـــلـــيــة </a:t>
            </a:r>
            <a:r>
              <a:rPr lang="fr-FR" sz="4400" b="1" dirty="0" smtClean="0">
                <a:solidFill>
                  <a:srgbClr val="00B050"/>
                </a:solidFill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</a:rPr>
              <a:t> </a:t>
            </a:r>
            <a:r>
              <a:rPr lang="fr-FR" sz="4400" b="1" dirty="0" smtClean="0">
                <a:solidFill>
                  <a:srgbClr val="00B050"/>
                </a:solidFill>
              </a:rPr>
              <a:t>Réseau Local</a:t>
            </a:r>
            <a:endParaRPr lang="fr-FR" sz="4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4058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ة :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......................................</a:t>
            </a:r>
            <a:r>
              <a:rPr lang="fr-FR" sz="4000" b="1" dirty="0">
                <a:solidFill>
                  <a:srgbClr val="00B050"/>
                </a:solidFill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26/10/2024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الــشـــبــــكـــــة الــمــحـــلـــيــة</a:t>
            </a:r>
            <a:r>
              <a:rPr lang="fr-FR" sz="4000" b="1" dirty="0" smtClean="0">
                <a:solidFill>
                  <a:srgbClr val="00B050"/>
                </a:solidFill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26/10/2024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374785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الــشـــبــــكـــــة الــمــحـــلـــيــة</a:t>
            </a:r>
            <a:r>
              <a:rPr lang="fr-FR" sz="4000" b="1" dirty="0" smtClean="0">
                <a:solidFill>
                  <a:srgbClr val="00B050"/>
                </a:solidFill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 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26/10/2024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Réseau Local ( LAN )</a:t>
            </a:r>
            <a:endParaRPr lang="ar-SA" altLang="zh-CN" sz="4000" b="1" dirty="0">
              <a:ln w="0"/>
              <a:solidFill>
                <a:prstClr val="black"/>
              </a:solidFill>
              <a:latin typeface="Arial" pitchFamily="34" charset="0"/>
            </a:endParaRPr>
          </a:p>
          <a:p>
            <a:pPr algn="ctr"/>
            <a:endParaRPr lang="fr-FR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224" y="4716258"/>
            <a:ext cx="3636498" cy="2216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487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تـعــريـف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الـشـبـكـة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الـمـحــلـيـة  </a:t>
            </a:r>
            <a:r>
              <a:rPr lang="fr-FR" sz="48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/>
              <a:t>ا</a:t>
            </a:r>
            <a:r>
              <a:rPr lang="ar-SA" sz="4400" b="1" dirty="0" smtClean="0"/>
              <a:t>ش</a:t>
            </a:r>
            <a:r>
              <a:rPr lang="ar-DZ" sz="4400" b="1" dirty="0" smtClean="0"/>
              <a:t>ـــرح الــكــلــمــة</a:t>
            </a:r>
            <a:r>
              <a:rPr lang="fr-FR" sz="4400" b="1" dirty="0" smtClean="0"/>
              <a:t> </a:t>
            </a:r>
            <a:r>
              <a:rPr lang="ar-DZ" sz="4400" b="1" dirty="0" smtClean="0"/>
              <a:t> « </a:t>
            </a:r>
            <a:r>
              <a:rPr lang="ar-DZ" sz="4400" b="1" u="dbl" dirty="0" smtClean="0"/>
              <a:t>الــشــبــكــة</a:t>
            </a:r>
            <a:r>
              <a:rPr lang="ar-DZ" sz="4400" b="1" dirty="0" smtClean="0"/>
              <a:t> » لُــغَــةً</a:t>
            </a:r>
            <a:r>
              <a:rPr lang="ar-DZ" sz="4400" b="1" dirty="0"/>
              <a:t>، </a:t>
            </a:r>
            <a:r>
              <a:rPr lang="ar-DZ" sz="4400" b="1" dirty="0" smtClean="0"/>
              <a:t>ثُــم </a:t>
            </a:r>
            <a:r>
              <a:rPr lang="ar-DZ" sz="4400" b="1" dirty="0"/>
              <a:t>عَـــرِّفْ </a:t>
            </a:r>
            <a:r>
              <a:rPr lang="ar-DZ" sz="4400" b="1" dirty="0" smtClean="0"/>
              <a:t>الــشـــبــكــة الــمــحــلـــيــة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مـا 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هـي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الـشــبــكــ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الَّـتِي تـعـرفـونـهـا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حَــدِّدْ دَوْرَ كُـل شـبـكـة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6240016" y="1650505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fr-FR" sz="3600" b="1" dirty="0" smtClean="0">
                <a:solidFill>
                  <a:srgbClr val="00B0F0"/>
                </a:solidFill>
                <a:cs typeface="+mj-cs"/>
              </a:rPr>
              <a:t>…………………..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783208" y="4013447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..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.................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09600" y="1650504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600" b="1" dirty="0" smtClean="0">
                <a:solidFill>
                  <a:srgbClr val="00B0F0"/>
                </a:solidFill>
                <a:cs typeface="+mj-cs"/>
              </a:rPr>
              <a:t>…………………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536432" y="4013448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.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................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.. 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3187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مـا 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هـي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الـشــبــكــ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الَّـتِي تـعـرفـونـهـا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حَــدِّدْ دَوْرَ كُـل شـبـكـة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6240016" y="1650505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شـبـكـات 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ف 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الـسـلـكـي /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ن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ق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783208" y="4013447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</a:t>
            </a:r>
            <a:r>
              <a:rPr lang="ar-DZ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.................</a:t>
            </a: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09600" y="1650504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</a:t>
            </a:r>
            <a:r>
              <a:rPr lang="ar-DZ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.................</a:t>
            </a: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536432" y="4013448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</a:t>
            </a:r>
            <a:r>
              <a:rPr lang="ar-DZ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.................</a:t>
            </a: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3213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مـا 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هـي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الـشــبــكــ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الَّـتِي تـعـرفـونـهـا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حَــدِّدْ دَوْرَ كُـل شـبـكـة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6240016" y="1650505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شـبـكـات 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ف 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الـسـلـكـي /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ن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ق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783208" y="4013447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</a:t>
            </a:r>
            <a:r>
              <a:rPr lang="ar-DZ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.................</a:t>
            </a: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09600" y="1650504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>
                <a:solidFill>
                  <a:srgbClr val="00B0F0"/>
                </a:solidFill>
                <a:cs typeface="+mj-cs"/>
              </a:rPr>
              <a:t>شـبـكـات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الـطــرق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536432" y="4013448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</a:t>
            </a:r>
            <a:r>
              <a:rPr lang="ar-DZ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.................</a:t>
            </a: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7740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مـا 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هـي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الـشــبــكــ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الَّـتِي تـعـرفـونـهـا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حَــدِّدْ دَوْرَ كُـل شـبـكـة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6240016" y="1650505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شـبـكـات 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ف 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الـسـلـكـي /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ن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ق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783208" y="4013447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</a:t>
            </a:r>
            <a:r>
              <a:rPr lang="ar-DZ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.................</a:t>
            </a:r>
            <a:r>
              <a:rPr lang="ar-SA" sz="3600" b="1" dirty="0">
                <a:solidFill>
                  <a:srgbClr val="00B0F0"/>
                </a:solidFill>
                <a:cs typeface="Times New Roman" panose="02020603050405020304" pitchFamily="18" charset="0"/>
              </a:rPr>
              <a:t>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09600" y="1650504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>
                <a:solidFill>
                  <a:srgbClr val="00B0F0"/>
                </a:solidFill>
                <a:cs typeface="+mj-cs"/>
              </a:rPr>
              <a:t>شـبـكـات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الـطــرق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536432" y="4013448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شـبـكـة الـكـهـربــاء ، </a:t>
            </a:r>
            <a:r>
              <a:rPr lang="ar-SA" sz="3600" b="1" dirty="0">
                <a:solidFill>
                  <a:srgbClr val="00B0F0"/>
                </a:solidFill>
                <a:cs typeface="+mj-cs"/>
              </a:rPr>
              <a:t>شـبـكـة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الــمــاء ... 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8850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مـا 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هـي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الـشــبــكــ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الَّـتِي تـعـرفـونـهـا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حَــدِّدْ دَوْرَ كُـل شـبـكـة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6240016" y="1650505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شـبـكـات 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ف 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الـسـلـكـي /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ن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ق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783208" y="4013447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smtClean="0">
                <a:solidFill>
                  <a:srgbClr val="00B0F0"/>
                </a:solidFill>
                <a:cs typeface="+mj-cs"/>
              </a:rPr>
              <a:t>شـبـكـة الـصــيـد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، شـبـكـة الـمــرمـى ... </a:t>
            </a:r>
            <a:endParaRPr lang="fr-FR" sz="20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09600" y="1650504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>
                <a:solidFill>
                  <a:srgbClr val="00B0F0"/>
                </a:solidFill>
                <a:cs typeface="+mj-cs"/>
              </a:rPr>
              <a:t>شـبـكـات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الـطــرق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536432" y="4013448"/>
            <a:ext cx="5342384" cy="168478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شـبـكـة الـكـهـربــاء ، </a:t>
            </a:r>
            <a:r>
              <a:rPr lang="ar-SA" sz="3600" b="1" dirty="0">
                <a:solidFill>
                  <a:srgbClr val="00B0F0"/>
                </a:solidFill>
                <a:cs typeface="+mj-cs"/>
              </a:rPr>
              <a:t>شـبـكـة 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الــمــاء ... </a:t>
            </a:r>
            <a:endParaRPr lang="fr-FR" sz="3600" b="1" dirty="0">
              <a:solidFill>
                <a:srgbClr val="00B0F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46321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مــاذا يـجـمـع هــذه الـشــبـكـ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مـاذا تـع</a:t>
            </a:r>
            <a:r>
              <a:rPr lang="ar-DZ" sz="3600" b="1" dirty="0">
                <a:solidFill>
                  <a:srgbClr val="FF0000"/>
                </a:solidFill>
              </a:rPr>
              <a:t>ـ</a:t>
            </a:r>
            <a:r>
              <a:rPr lang="ar-DZ" sz="3600" b="1" dirty="0" smtClean="0">
                <a:solidFill>
                  <a:srgbClr val="FF0000"/>
                </a:solidFill>
              </a:rPr>
              <a:t>ـني الـ</a:t>
            </a:r>
            <a:r>
              <a:rPr lang="ar-SA" sz="3600" b="1" dirty="0" smtClean="0">
                <a:solidFill>
                  <a:srgbClr val="FF0000"/>
                </a:solidFill>
              </a:rPr>
              <a:t>شـبـكـة</a:t>
            </a:r>
            <a:r>
              <a:rPr lang="ar-DZ" sz="3600" b="1" dirty="0" smtClean="0">
                <a:solidFill>
                  <a:srgbClr val="FF0000"/>
                </a:solidFill>
              </a:rPr>
              <a:t> لُـغَــةً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076220" y="2767528"/>
            <a:ext cx="3096344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839416" y="2767529"/>
            <a:ext cx="2834625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24192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74930" y="4063672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>
                <a:solidFill>
                  <a:srgbClr val="00B0F0"/>
                </a:solidFill>
              </a:rPr>
              <a:t>شـ</a:t>
            </a:r>
            <a:r>
              <a:rPr lang="ar-DZ" sz="3600" b="1" dirty="0">
                <a:solidFill>
                  <a:srgbClr val="00B0F0"/>
                </a:solidFill>
              </a:rPr>
              <a:t>ـ</a:t>
            </a:r>
            <a:r>
              <a:rPr lang="ar-SA" sz="3600" b="1" dirty="0">
                <a:solidFill>
                  <a:srgbClr val="00B0F0"/>
                </a:solidFill>
              </a:rPr>
              <a:t>ب</a:t>
            </a:r>
            <a:r>
              <a:rPr lang="ar-DZ" sz="3600" b="1" dirty="0">
                <a:solidFill>
                  <a:srgbClr val="00B0F0"/>
                </a:solidFill>
              </a:rPr>
              <a:t>ـ</a:t>
            </a:r>
            <a:r>
              <a:rPr lang="ar-SA" sz="3600" b="1" dirty="0">
                <a:solidFill>
                  <a:srgbClr val="00B0F0"/>
                </a:solidFill>
              </a:rPr>
              <a:t>ـ</a:t>
            </a:r>
            <a:r>
              <a:rPr lang="ar-SA" sz="3600" b="1" dirty="0" err="1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600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4599783" y="5108706"/>
            <a:ext cx="2834625" cy="120061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94110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مــاذا يـجـمـع هــذه الـشــبـكـ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مـاذا تـعــني الـ</a:t>
            </a:r>
            <a:r>
              <a:rPr lang="ar-SA" sz="3600" b="1" dirty="0" smtClean="0">
                <a:solidFill>
                  <a:srgbClr val="FF0000"/>
                </a:solidFill>
              </a:rPr>
              <a:t>شـبـكـة</a:t>
            </a:r>
            <a:r>
              <a:rPr lang="ar-DZ" sz="3600" b="1" dirty="0" smtClean="0">
                <a:solidFill>
                  <a:srgbClr val="FF0000"/>
                </a:solidFill>
              </a:rPr>
              <a:t> لُـغَــةً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076220" y="2767528"/>
            <a:ext cx="3096344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24192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74930" y="4063672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600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4599783" y="5108706"/>
            <a:ext cx="2834625" cy="120061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839416" y="2767529"/>
            <a:ext cx="2834625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7681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2" grpId="0" animBg="1"/>
      <p:bldP spid="13" grpId="0" animBg="1"/>
      <p:bldP spid="14" grpId="0" animBg="1"/>
      <p:bldP spid="11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مــاذا يـجـمـع هــذه الـشــبـكـ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مـاذا تـعــني الـ</a:t>
            </a:r>
            <a:r>
              <a:rPr lang="ar-SA" sz="3600" b="1" dirty="0" smtClean="0">
                <a:solidFill>
                  <a:srgbClr val="FF0000"/>
                </a:solidFill>
              </a:rPr>
              <a:t>شـبـكـة</a:t>
            </a:r>
            <a:r>
              <a:rPr lang="ar-DZ" sz="3600" b="1" dirty="0" smtClean="0">
                <a:solidFill>
                  <a:srgbClr val="FF0000"/>
                </a:solidFill>
              </a:rPr>
              <a:t> لُـغَــةً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076220" y="2767528"/>
            <a:ext cx="3096344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839416" y="2767529"/>
            <a:ext cx="2834625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24192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74930" y="4063672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600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4599783" y="5108706"/>
            <a:ext cx="2834625" cy="120061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4916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مــاذا يـجـمـع هــذه الـشــبـكـ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ات </a:t>
            </a:r>
            <a:r>
              <a:rPr lang="ar-DZ" sz="3600" b="1" dirty="0" smtClean="0">
                <a:solidFill>
                  <a:srgbClr val="FF0000"/>
                </a:solidFill>
              </a:rPr>
              <a:t>؟</a:t>
            </a:r>
            <a:r>
              <a:rPr lang="ar-SA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مـاذا تـعــني الـ</a:t>
            </a:r>
            <a:r>
              <a:rPr lang="ar-SA" sz="3600" b="1" dirty="0" smtClean="0">
                <a:solidFill>
                  <a:srgbClr val="FF0000"/>
                </a:solidFill>
              </a:rPr>
              <a:t>شـبـكـة</a:t>
            </a:r>
            <a:r>
              <a:rPr lang="ar-DZ" sz="3600" b="1" dirty="0" smtClean="0">
                <a:solidFill>
                  <a:srgbClr val="FF0000"/>
                </a:solidFill>
              </a:rPr>
              <a:t> لُـغَــةً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076220" y="2767528"/>
            <a:ext cx="3096344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839416" y="2767529"/>
            <a:ext cx="2834625" cy="129614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24192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074930" y="4063672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600" y="1772816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4599783" y="5108706"/>
            <a:ext cx="2834625" cy="120061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181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مــاذا تــعــنـي كــلــمــة الــ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ش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ـب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ـكـ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ة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لُــغَـــةً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153126" y="2767528"/>
            <a:ext cx="3096344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sz="3000" b="1" u="sng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sz="3000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961274" y="2767528"/>
            <a:ext cx="2834625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76220" y="1772816"/>
            <a:ext cx="33483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57818" y="1770993"/>
            <a:ext cx="3078342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1772816"/>
            <a:ext cx="30783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961274" y="4437112"/>
            <a:ext cx="10288196" cy="209174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B0F0"/>
                </a:solidFill>
                <a:cs typeface="+mj-cs"/>
              </a:rPr>
              <a:t>الـ</a:t>
            </a:r>
            <a:r>
              <a:rPr lang="ar-SA" sz="3600" b="1" dirty="0">
                <a:solidFill>
                  <a:srgbClr val="00B0F0"/>
                </a:solidFill>
                <a:cs typeface="+mj-cs"/>
              </a:rPr>
              <a:t>شـ</a:t>
            </a:r>
            <a:r>
              <a:rPr lang="ar-DZ" sz="3600" b="1" dirty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>
                <a:solidFill>
                  <a:srgbClr val="00B0F0"/>
                </a:solidFill>
                <a:cs typeface="+mj-cs"/>
              </a:rPr>
              <a:t>ب</a:t>
            </a:r>
            <a:r>
              <a:rPr lang="ar-DZ" sz="3600" b="1" dirty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>
                <a:solidFill>
                  <a:srgbClr val="00B0F0"/>
                </a:solidFill>
                <a:cs typeface="+mj-cs"/>
              </a:rPr>
              <a:t>ـك</a:t>
            </a:r>
            <a:r>
              <a:rPr lang="ar-DZ" sz="3600" b="1" dirty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>
                <a:solidFill>
                  <a:srgbClr val="00B0F0"/>
                </a:solidFill>
                <a:cs typeface="+mj-cs"/>
              </a:rPr>
              <a:t>ـة</a:t>
            </a:r>
            <a:r>
              <a:rPr lang="ar-DZ" sz="3600" b="1" dirty="0">
                <a:solidFill>
                  <a:srgbClr val="00B0F0"/>
                </a:solidFill>
                <a:cs typeface="+mj-cs"/>
              </a:rPr>
              <a:t> لُــغَــةً : 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............. </a:t>
            </a:r>
            <a:r>
              <a:rPr lang="ar-DZ" sz="3600" b="1" u="sng" dirty="0">
                <a:solidFill>
                  <a:srgbClr val="FF0000"/>
                </a:solidFill>
                <a:cs typeface="+mj-cs"/>
              </a:rPr>
              <a:t>مُــتَــرَابِــطَــة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تَـهْــدُفُ لـتـحــقــيــق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................. </a:t>
            </a:r>
            <a:r>
              <a:rPr lang="ar-DZ" sz="3600" b="1" dirty="0">
                <a:solidFill>
                  <a:srgbClr val="002060"/>
                </a:solidFill>
                <a:cs typeface="+mj-cs"/>
              </a:rPr>
              <a:t>مُــحَــدَّدَة</a:t>
            </a:r>
            <a:endParaRPr lang="fr-FR" sz="36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4557200" y="2767528"/>
            <a:ext cx="2834625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sz="3000" b="1" u="sng" dirty="0" smtClean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sz="3000" b="1" u="sng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1732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مــاذا تــعــنـي كــلــمــة الــ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ش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ـب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ـكـ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ة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لُــغَـــةً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153126" y="2767528"/>
            <a:ext cx="3096344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sz="3000" b="1" u="sng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sz="3000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961274" y="2767528"/>
            <a:ext cx="2834625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76220" y="1772816"/>
            <a:ext cx="33483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57818" y="1770993"/>
            <a:ext cx="3078342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1772816"/>
            <a:ext cx="30783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4557200" y="2767528"/>
            <a:ext cx="2834625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sz="3000" b="1" u="sng" dirty="0" smtClean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sz="3000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961274" y="4433598"/>
            <a:ext cx="10288196" cy="209174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الـ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ـك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ـة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 لُــغَــةً : </a:t>
            </a:r>
            <a:r>
              <a:rPr lang="ar-DZ" sz="3600" b="1" u="sng" dirty="0" smtClean="0">
                <a:solidFill>
                  <a:srgbClr val="00B0F0"/>
                </a:solidFill>
                <a:cs typeface="+mj-cs"/>
              </a:rPr>
              <a:t>عــنــاصــر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مُــتَــرَابِــطَــة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2060"/>
                </a:solidFill>
                <a:cs typeface="Times New Roman" panose="02020603050405020304" pitchFamily="18" charset="0"/>
              </a:rPr>
              <a:t>تَـهْــدُفُ لـتـحــقــيــق ................. مُــحَــدَّدَة</a:t>
            </a:r>
            <a:endParaRPr lang="fr-FR" sz="36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7724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1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مــاذا تــعــنـي كــلــمــة الــ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ش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ـب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ـكـ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ة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لُــغَـــةً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Espace réservé du contenu 21"/>
          <p:cNvSpPr txBox="1">
            <a:spLocks noGrp="1"/>
          </p:cNvSpPr>
          <p:nvPr>
            <p:ph idx="1"/>
          </p:nvPr>
        </p:nvSpPr>
        <p:spPr>
          <a:xfrm>
            <a:off x="8153126" y="2767528"/>
            <a:ext cx="3096344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F0"/>
                </a:solidFill>
                <a:cs typeface="+mj-cs"/>
              </a:rPr>
              <a:t>مـحــطــات </a:t>
            </a:r>
            <a:r>
              <a:rPr lang="ar-DZ" sz="3000" b="1" u="sng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sz="3000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961274" y="2767528"/>
            <a:ext cx="2834625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b="1" dirty="0" smtClean="0">
                <a:solidFill>
                  <a:srgbClr val="00B0F0"/>
                </a:solidFill>
                <a:cs typeface="+mj-cs"/>
              </a:rPr>
              <a:t>طـ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b="1" dirty="0" smtClean="0">
                <a:solidFill>
                  <a:srgbClr val="00B0F0"/>
                </a:solidFill>
                <a:cs typeface="+mj-cs"/>
              </a:rPr>
              <a:t>ـرق</a:t>
            </a:r>
            <a:r>
              <a:rPr lang="ar-DZ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76220" y="1772816"/>
            <a:ext cx="33483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ال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ه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ات</a:t>
            </a:r>
            <a:r>
              <a:rPr lang="ar-DZ" sz="3600" b="1" dirty="0" smtClean="0">
                <a:solidFill>
                  <a:srgbClr val="00B0F0"/>
                </a:solidFill>
              </a:rPr>
              <a:t>ــ</a:t>
            </a:r>
            <a:r>
              <a:rPr lang="ar-SA" sz="3600" b="1" dirty="0" smtClean="0">
                <a:solidFill>
                  <a:srgbClr val="00B0F0"/>
                </a:solidFill>
              </a:rPr>
              <a:t>ف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57818" y="1770993"/>
            <a:ext cx="3078342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كـة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الـمــرمـى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1772816"/>
            <a:ext cx="30783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solidFill>
                  <a:srgbClr val="00B0F0"/>
                </a:solidFill>
              </a:rPr>
              <a:t>ش</a:t>
            </a:r>
            <a:r>
              <a:rPr lang="ar-DZ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</a:rPr>
              <a:t>ـ</a:t>
            </a:r>
            <a:r>
              <a:rPr lang="ar-SA" sz="3600" b="1" dirty="0" err="1" smtClean="0">
                <a:solidFill>
                  <a:srgbClr val="00B0F0"/>
                </a:solidFill>
              </a:rPr>
              <a:t>بـكـات</a:t>
            </a:r>
            <a:r>
              <a:rPr lang="ar-SA" sz="3600" b="1" dirty="0" smtClean="0">
                <a:solidFill>
                  <a:srgbClr val="00B0F0"/>
                </a:solidFill>
              </a:rPr>
              <a:t> </a:t>
            </a:r>
            <a:r>
              <a:rPr lang="ar-SA" sz="3600" b="1" dirty="0">
                <a:solidFill>
                  <a:srgbClr val="00B0F0"/>
                </a:solidFill>
              </a:rPr>
              <a:t>الـطــرق</a:t>
            </a:r>
            <a:endParaRPr lang="fr-FR" sz="3600" b="1" dirty="0">
              <a:solidFill>
                <a:srgbClr val="00B0F0"/>
              </a:solidFill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4557200" y="2767528"/>
            <a:ext cx="2834625" cy="138155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F0"/>
                </a:solidFill>
                <a:cs typeface="+mj-cs"/>
              </a:rPr>
              <a:t>خــيـــوط </a:t>
            </a:r>
            <a:r>
              <a:rPr lang="ar-DZ" sz="3000" b="1" u="sng" dirty="0" smtClean="0">
                <a:solidFill>
                  <a:srgbClr val="FF0000"/>
                </a:solidFill>
                <a:cs typeface="+mj-cs"/>
              </a:rPr>
              <a:t>مـتــرابــطــة</a:t>
            </a:r>
            <a:endParaRPr lang="fr-FR" sz="3000" b="1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961274" y="4433598"/>
            <a:ext cx="10288196" cy="209174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الـ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شـ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ب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ـك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ـة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 لُــغَــةً : </a:t>
            </a:r>
            <a:r>
              <a:rPr lang="ar-DZ" sz="3600" b="1" u="sng" dirty="0" smtClean="0">
                <a:solidFill>
                  <a:srgbClr val="00B0F0"/>
                </a:solidFill>
                <a:cs typeface="+mj-cs"/>
              </a:rPr>
              <a:t>عــنــاصــر</a:t>
            </a:r>
            <a:r>
              <a:rPr lang="ar-SA" sz="3600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مُــتَــرَابِــطَــة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تَـهْــدُفُ لــتــحـــقــيــق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مَــصْــلَـحَـةٍ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مُــحَــدَّدَةٍ</a:t>
            </a:r>
            <a:endParaRPr lang="fr-FR" sz="36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77965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1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مــمــا تــتــألــف الـشــبــكــة الـمــحــلــيــة 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8033138" y="5007612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.................</a:t>
            </a:r>
            <a:endParaRPr lang="fr-FR" sz="4400" dirty="0">
              <a:cs typeface="+mj-cs"/>
            </a:endParaRPr>
          </a:p>
        </p:txBody>
      </p:sp>
      <p:sp>
        <p:nvSpPr>
          <p:cNvPr id="6" name="Espace réservé du contenu 21"/>
          <p:cNvSpPr txBox="1">
            <a:spLocks/>
          </p:cNvSpPr>
          <p:nvPr/>
        </p:nvSpPr>
        <p:spPr>
          <a:xfrm>
            <a:off x="983432" y="5014398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مــشــاركــة ...............</a:t>
            </a:r>
            <a:endParaRPr lang="fr-FR" sz="44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8999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مــمــا تــتــألــف الـشــبــكــة الـمــحــلــيــة 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8026424" y="4995587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الأجــهــزة</a:t>
            </a:r>
            <a:endParaRPr lang="fr-FR" sz="4400" dirty="0">
              <a:cs typeface="+mj-cs"/>
            </a:endParaRPr>
          </a:p>
        </p:txBody>
      </p:sp>
      <p:sp>
        <p:nvSpPr>
          <p:cNvPr id="7" name="Espace réservé du contenu 21"/>
          <p:cNvSpPr txBox="1">
            <a:spLocks/>
          </p:cNvSpPr>
          <p:nvPr/>
        </p:nvSpPr>
        <p:spPr>
          <a:xfrm>
            <a:off x="983432" y="5014398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مــشــاركــة ...............</a:t>
            </a:r>
            <a:endParaRPr lang="fr-FR" sz="44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6951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مــمــا تــتــألــف الـشــبــكــة الـمــحــلــيــة 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8026424" y="4995587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الأجــهــزة</a:t>
            </a:r>
            <a:endParaRPr lang="fr-FR" sz="4400" dirty="0">
              <a:cs typeface="+mj-cs"/>
            </a:endParaRPr>
          </a:p>
        </p:txBody>
      </p:sp>
      <p:sp>
        <p:nvSpPr>
          <p:cNvPr id="6" name="Espace réservé du contenu 21"/>
          <p:cNvSpPr txBox="1">
            <a:spLocks/>
          </p:cNvSpPr>
          <p:nvPr/>
        </p:nvSpPr>
        <p:spPr>
          <a:xfrm>
            <a:off x="983432" y="4995587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مــشــاركــة الــمــوارد</a:t>
            </a:r>
            <a:endParaRPr lang="fr-FR" sz="44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68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مـجــمــوعــة 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الـمــتَّــصِـلــة بـبـعــضـهـا الـبــعــض بِـغَــرَضِ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ومــشــاركــة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</a:rPr>
              <a:t>1. تـعــريـف الـشـبـكـة الـمـحــلـيـة  </a:t>
            </a:r>
            <a:r>
              <a:rPr lang="fr-FR" b="1" dirty="0">
                <a:solidFill>
                  <a:srgbClr val="FF0000"/>
                </a:solidFill>
              </a:rPr>
              <a:t>LAN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7056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مـجــمــوعــة 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الـمــتَّــصِـلــة بـبـعــضـهـا الـبــعــض بِـغَــرَضِ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ومــشــاركــة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</a:rPr>
              <a:t>1. تـعــريـف الـشـبـكـة الـمـحــلـيـة  </a:t>
            </a:r>
            <a:r>
              <a:rPr lang="fr-FR" b="1" dirty="0">
                <a:solidFill>
                  <a:srgbClr val="FF0000"/>
                </a:solidFill>
              </a:rPr>
              <a:t>LAN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99656" y="2585784"/>
            <a:ext cx="41776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أجــهــزة الـحــاســوب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0900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مـجــمــوعــة 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الـمــتَّــصِـلــة بـبـعــضـهـا الـبــعــض بِـغَــرَضِ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ومــشــاركــة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</a:rPr>
              <a:t>1. تـعــريـف الـشـبـكـة الـمـحــلـيـة  </a:t>
            </a:r>
            <a:r>
              <a:rPr lang="fr-FR" b="1" dirty="0">
                <a:solidFill>
                  <a:srgbClr val="FF0000"/>
                </a:solidFill>
              </a:rPr>
              <a:t>LAN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99656" y="2585784"/>
            <a:ext cx="41776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أجــهــزة الـحــاســوب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11488" y="3604606"/>
            <a:ext cx="27239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الـتَّــوَاصُــلِ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7654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مـجــمــوعــة 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الـمــتَّــصِـلــة بـبـعــضـهـا الـبــعــض بِـغَــرَضِ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ومــشــاركــة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FF0000"/>
                </a:solidFill>
              </a:rPr>
              <a:t>1. تـعــريـف الـشـبـكـة الـمـحــلـيـة  </a:t>
            </a:r>
            <a:r>
              <a:rPr lang="fr-FR" b="1" dirty="0">
                <a:solidFill>
                  <a:srgbClr val="FF0000"/>
                </a:solidFill>
              </a:rPr>
              <a:t>LAN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99656" y="2585784"/>
            <a:ext cx="41776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أجــهــزة الـحــاســوب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11488" y="3604606"/>
            <a:ext cx="272394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الـتَّــوَاصُــلِ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43472" y="4507431"/>
            <a:ext cx="97294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الــمَــــوَارِدِ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(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طـــابــعـــة ، مــلــفـــات ، بـــرامـــج ...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5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تــصــنــيــف </a:t>
            </a:r>
            <a:r>
              <a:rPr lang="ar-DZ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</a:t>
            </a:r>
            <a:endParaRPr lang="fr-FR" sz="66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نــشــاط </a:t>
            </a:r>
            <a:r>
              <a:rPr lang="ar-DZ" sz="4800" b="1" u="sng" dirty="0">
                <a:solidFill>
                  <a:srgbClr val="0070C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800" b="1" dirty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بـاِعْـــتِـــبَـــارِ </a:t>
            </a:r>
            <a:r>
              <a:rPr lang="ar-DZ" sz="4800" b="1" dirty="0">
                <a:cs typeface="+mj-cs"/>
              </a:rPr>
              <a:t>« </a:t>
            </a:r>
            <a:r>
              <a:rPr lang="ar-DZ" sz="4800" b="1" dirty="0" smtClean="0">
                <a:cs typeface="+mj-cs"/>
              </a:rPr>
              <a:t>وســـيـــلــة الــرَبْـــطِ </a:t>
            </a:r>
            <a:r>
              <a:rPr lang="ar-DZ" sz="4800" b="1" dirty="0">
                <a:cs typeface="+mj-cs"/>
              </a:rPr>
              <a:t>» </a:t>
            </a:r>
            <a:r>
              <a:rPr lang="ar-DZ" sz="4800" b="1" dirty="0" smtClean="0">
                <a:cs typeface="+mj-cs"/>
              </a:rPr>
              <a:t>كَــمِــعْـــيَــــار </a:t>
            </a:r>
            <a:r>
              <a:rPr lang="ar-DZ" sz="4800" b="1" dirty="0">
                <a:cs typeface="+mj-cs"/>
              </a:rPr>
              <a:t>حَـــدِّدْ نــوعــي </a:t>
            </a:r>
            <a:r>
              <a:rPr lang="ar-DZ" sz="4800" b="1" dirty="0" smtClean="0">
                <a:cs typeface="+mj-cs"/>
              </a:rPr>
              <a:t>الــشـــبـــكـــة </a:t>
            </a: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– وســــيــــلـــة </a:t>
            </a:r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</a:t>
            </a:r>
            <a:endParaRPr lang="fr-FR" sz="5400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5695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تـصــنــيــف شــبــكــة يـتـطـلـب اخــتــيــار مـعــيــار فـمـاذا يُـمَـثِّـل </a:t>
            </a:r>
            <a:r>
              <a:rPr lang="ar-DZ" sz="3400" b="1" dirty="0" smtClean="0">
                <a:solidFill>
                  <a:srgbClr val="FF0000"/>
                </a:solidFill>
              </a:rPr>
              <a:t>؟</a:t>
            </a:r>
            <a:endParaRPr lang="fr-FR" sz="3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1480592" y="4565762"/>
            <a:ext cx="9446840" cy="157456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الـمِــعْــيَــار : ...........................</a:t>
            </a:r>
            <a:endParaRPr lang="fr-FR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075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تـصــنــيــف شــبــكــة يـتـطـلـب اخــتــيــار مـعــيــار فـمـاذا يُـمَـثِّـل </a:t>
            </a:r>
            <a:r>
              <a:rPr lang="ar-DZ" sz="3400" b="1" dirty="0" smtClean="0">
                <a:solidFill>
                  <a:srgbClr val="FF0000"/>
                </a:solidFill>
              </a:rPr>
              <a:t>؟</a:t>
            </a:r>
            <a:endParaRPr lang="fr-FR" sz="3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1480592" y="4565762"/>
            <a:ext cx="9446840" cy="157456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الـمِــعْـــيَـــار :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الــجــانــب الَّـذِي</a:t>
            </a:r>
          </a:p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نَــنْــظُــرُ مِــنْــهُ إلــى الـشــبـــكــة</a:t>
            </a:r>
            <a:endParaRPr lang="fr-FR" sz="4400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035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مـا هـي الـمـعــايــيــر الـمــتــبــعــة عــنـد تـصـنــيــف شــبـكـة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Espace réservé du contenu 21"/>
          <p:cNvSpPr txBox="1">
            <a:spLocks/>
          </p:cNvSpPr>
          <p:nvPr/>
        </p:nvSpPr>
        <p:spPr>
          <a:xfrm>
            <a:off x="6888088" y="1484784"/>
            <a:ext cx="4557083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</a:t>
            </a:r>
            <a:endParaRPr lang="fr-FR" dirty="0">
              <a:cs typeface="+mj-cs"/>
            </a:endParaRPr>
          </a:p>
        </p:txBody>
      </p:sp>
      <p:sp>
        <p:nvSpPr>
          <p:cNvPr id="7" name="Espace réservé du contenu 21"/>
          <p:cNvSpPr txBox="1">
            <a:spLocks/>
          </p:cNvSpPr>
          <p:nvPr/>
        </p:nvSpPr>
        <p:spPr>
          <a:xfrm>
            <a:off x="998366" y="1496035"/>
            <a:ext cx="488161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endParaRPr lang="fr-FR" dirty="0">
              <a:cs typeface="+mj-cs"/>
            </a:endParaRPr>
          </a:p>
        </p:txBody>
      </p:sp>
      <p:sp>
        <p:nvSpPr>
          <p:cNvPr id="8" name="Espace réservé du contenu 21"/>
          <p:cNvSpPr txBox="1">
            <a:spLocks/>
          </p:cNvSpPr>
          <p:nvPr/>
        </p:nvSpPr>
        <p:spPr>
          <a:xfrm>
            <a:off x="6109790" y="4803243"/>
            <a:ext cx="532044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endParaRPr lang="fr-FR" dirty="0"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983431" y="4814494"/>
            <a:ext cx="510578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</a:t>
            </a:r>
            <a:endParaRPr lang="fr-FR" sz="3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6990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مـا هـي الـمـعــايــيــر الـمــتــبــعــة عــنـد تـصـنــيــف شــبـكـة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Espace réservé du contenu 21"/>
          <p:cNvSpPr txBox="1">
            <a:spLocks/>
          </p:cNvSpPr>
          <p:nvPr/>
        </p:nvSpPr>
        <p:spPr>
          <a:xfrm>
            <a:off x="6888088" y="1484784"/>
            <a:ext cx="4557083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وســيــلــة الــربــط</a:t>
            </a:r>
            <a:endParaRPr lang="fr-FR" dirty="0"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983431" y="4814494"/>
            <a:ext cx="510578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</a:t>
            </a:r>
            <a:endParaRPr lang="fr-FR" sz="3000" dirty="0"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109790" y="4803243"/>
            <a:ext cx="532044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endParaRPr lang="fr-FR" dirty="0">
              <a:cs typeface="+mj-cs"/>
            </a:endParaRPr>
          </a:p>
        </p:txBody>
      </p: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998366" y="1496035"/>
            <a:ext cx="488161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2227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0" grpId="0" animBg="1"/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مـا هـي الـمـعــايــيــر الـمــتــبــعــة عــنـد تـصـنــيــف شــبـكـة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Espace réservé du contenu 21"/>
          <p:cNvSpPr txBox="1">
            <a:spLocks/>
          </p:cNvSpPr>
          <p:nvPr/>
        </p:nvSpPr>
        <p:spPr>
          <a:xfrm>
            <a:off x="6888088" y="1484784"/>
            <a:ext cx="4557083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وســيــلــة الــربــط</a:t>
            </a:r>
            <a:endParaRPr lang="fr-FR" dirty="0">
              <a:cs typeface="+mj-cs"/>
            </a:endParaRPr>
          </a:p>
        </p:txBody>
      </p:sp>
      <p:sp>
        <p:nvSpPr>
          <p:cNvPr id="7" name="Espace réservé du contenu 21"/>
          <p:cNvSpPr txBox="1">
            <a:spLocks/>
          </p:cNvSpPr>
          <p:nvPr/>
        </p:nvSpPr>
        <p:spPr>
          <a:xfrm>
            <a:off x="998366" y="1496035"/>
            <a:ext cx="488161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الامـتــداد الـجــغــرافـي</a:t>
            </a:r>
            <a:endParaRPr lang="fr-FR" dirty="0"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983431" y="4814494"/>
            <a:ext cx="510578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</a:t>
            </a:r>
            <a:endParaRPr lang="fr-FR" sz="3000" dirty="0">
              <a:cs typeface="+mj-cs"/>
            </a:endParaRPr>
          </a:p>
        </p:txBody>
      </p:sp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109790" y="4803243"/>
            <a:ext cx="532044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412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مـا هـي الـمـعــايــيــر الـمــتــبــعــة عــنـد تـصـنــيــف شــبـكـة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Espace réservé du contenu 21"/>
          <p:cNvSpPr txBox="1">
            <a:spLocks/>
          </p:cNvSpPr>
          <p:nvPr/>
        </p:nvSpPr>
        <p:spPr>
          <a:xfrm>
            <a:off x="6888088" y="1484784"/>
            <a:ext cx="4557083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وســيــلــة الــربــط</a:t>
            </a:r>
            <a:endParaRPr lang="fr-FR" dirty="0">
              <a:cs typeface="+mj-cs"/>
            </a:endParaRPr>
          </a:p>
        </p:txBody>
      </p:sp>
      <p:sp>
        <p:nvSpPr>
          <p:cNvPr id="7" name="Espace réservé du contenu 21"/>
          <p:cNvSpPr txBox="1">
            <a:spLocks/>
          </p:cNvSpPr>
          <p:nvPr/>
        </p:nvSpPr>
        <p:spPr>
          <a:xfrm>
            <a:off x="998366" y="1496035"/>
            <a:ext cx="488161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الامـتــداد الـجــغــرافـي</a:t>
            </a:r>
            <a:endParaRPr lang="fr-FR" dirty="0">
              <a:cs typeface="+mj-cs"/>
            </a:endParaRPr>
          </a:p>
        </p:txBody>
      </p:sp>
      <p:sp>
        <p:nvSpPr>
          <p:cNvPr id="8" name="Espace réservé du contenu 21"/>
          <p:cNvSpPr txBox="1">
            <a:spLocks/>
          </p:cNvSpPr>
          <p:nvPr/>
        </p:nvSpPr>
        <p:spPr>
          <a:xfrm>
            <a:off x="6109790" y="4803243"/>
            <a:ext cx="532044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الـعــلاقــة الـوظــيـــفــيــة</a:t>
            </a:r>
            <a:endParaRPr lang="fr-FR" dirty="0"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983431" y="4814494"/>
            <a:ext cx="510578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</a:t>
            </a:r>
            <a:endParaRPr lang="fr-FR" sz="3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065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مـا هـي الـمـعــايــيــر الـمــتــبــعــة عــنـد تـصـنــيــف شــبـكـة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20" name="Espace réservé du contenu 19" descr="F:\_Wrk\1. Courses\1ـ الـسـنـة الـدراسـيـة 2020 - 2021\الـمـجــال 1  - بــيـئـة الـتـعــامــل مــع الـحــاســوب\2ـ  الـدروس\_Files\Images INF 2\LAN 2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340768"/>
            <a:ext cx="10441160" cy="5184576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Espace réservé du contenu 21"/>
          <p:cNvSpPr txBox="1">
            <a:spLocks/>
          </p:cNvSpPr>
          <p:nvPr/>
        </p:nvSpPr>
        <p:spPr>
          <a:xfrm>
            <a:off x="6888088" y="1484784"/>
            <a:ext cx="4557083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وســيــلــة الــربــط</a:t>
            </a:r>
            <a:endParaRPr lang="fr-FR" dirty="0">
              <a:cs typeface="+mj-cs"/>
            </a:endParaRPr>
          </a:p>
        </p:txBody>
      </p:sp>
      <p:sp>
        <p:nvSpPr>
          <p:cNvPr id="7" name="Espace réservé du contenu 21"/>
          <p:cNvSpPr txBox="1">
            <a:spLocks/>
          </p:cNvSpPr>
          <p:nvPr/>
        </p:nvSpPr>
        <p:spPr>
          <a:xfrm>
            <a:off x="998366" y="1496035"/>
            <a:ext cx="488161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الامـتــداد الـجــغــرافـي</a:t>
            </a:r>
            <a:endParaRPr lang="fr-FR" dirty="0">
              <a:cs typeface="+mj-cs"/>
            </a:endParaRPr>
          </a:p>
        </p:txBody>
      </p:sp>
      <p:sp>
        <p:nvSpPr>
          <p:cNvPr id="8" name="Espace réservé du contenu 21"/>
          <p:cNvSpPr txBox="1">
            <a:spLocks/>
          </p:cNvSpPr>
          <p:nvPr/>
        </p:nvSpPr>
        <p:spPr>
          <a:xfrm>
            <a:off x="6109790" y="4803243"/>
            <a:ext cx="532044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الـعــلاقــة الـوظــيـــفــيــة</a:t>
            </a:r>
            <a:endParaRPr lang="fr-FR" dirty="0"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983431" y="4814494"/>
            <a:ext cx="5105780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الـربــط</a:t>
            </a:r>
            <a:endParaRPr lang="fr-FR" sz="3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103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تــصــنــيــف </a:t>
            </a:r>
            <a:r>
              <a:rPr lang="ar-DZ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</a:t>
            </a:r>
            <a:endParaRPr lang="fr-FR" sz="66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نــشــاط </a:t>
            </a:r>
            <a:r>
              <a:rPr lang="ar-DZ" sz="4800" b="1" u="sng" dirty="0">
                <a:solidFill>
                  <a:srgbClr val="0070C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800" b="1" dirty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بـاِعْـــتِـــبَـــارِ </a:t>
            </a:r>
            <a:r>
              <a:rPr lang="ar-DZ" sz="4800" b="1" dirty="0">
                <a:cs typeface="+mj-cs"/>
              </a:rPr>
              <a:t>« </a:t>
            </a:r>
            <a:r>
              <a:rPr lang="ar-DZ" sz="4800" b="1" dirty="0" smtClean="0">
                <a:cs typeface="+mj-cs"/>
              </a:rPr>
              <a:t>وســـيـــلــة الــرَبْـــطِ </a:t>
            </a:r>
            <a:r>
              <a:rPr lang="ar-DZ" sz="4800" b="1" dirty="0">
                <a:cs typeface="+mj-cs"/>
              </a:rPr>
              <a:t>» </a:t>
            </a:r>
            <a:r>
              <a:rPr lang="ar-DZ" sz="4800" b="1" dirty="0" smtClean="0">
                <a:cs typeface="+mj-cs"/>
              </a:rPr>
              <a:t>كَــمِــعْـــيَــــار </a:t>
            </a:r>
            <a:r>
              <a:rPr lang="ar-DZ" sz="4800" b="1" dirty="0">
                <a:cs typeface="+mj-cs"/>
              </a:rPr>
              <a:t>حَـــدِّدْ نــوعــي </a:t>
            </a:r>
            <a:r>
              <a:rPr lang="ar-DZ" sz="4800" b="1" dirty="0" smtClean="0">
                <a:cs typeface="+mj-cs"/>
              </a:rPr>
              <a:t>الــشـــبـــكـــة </a:t>
            </a: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– وســــيــــلـــة </a:t>
            </a:r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</a:t>
            </a:r>
            <a:endParaRPr lang="fr-FR" sz="5400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6505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82165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 أو الألــيــاف الــبـصــريــة</a:t>
                      </a:r>
                      <a:endParaRPr lang="fr-FR" sz="40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3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تـحـت الـحـمـراء</a:t>
                      </a:r>
                      <a:r>
                        <a:rPr lang="fr-FR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1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498056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 أو الألــيــاف الــبـصــريــة</a:t>
                      </a:r>
                      <a:endParaRPr lang="fr-FR" sz="40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DZ" sz="3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..........................</a:t>
                      </a: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تـحـت الـحـمـراء</a:t>
                      </a:r>
                      <a:r>
                        <a:rPr lang="fr-FR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13322" y="206393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9519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وســـيـــلــة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الــربـــط 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498056"/>
              </p:ext>
            </p:extLst>
          </p:nvPr>
        </p:nvGraphicFramePr>
        <p:xfrm>
          <a:off x="767406" y="1484784"/>
          <a:ext cx="10524043" cy="432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9912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ربــــط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الأجــــهـــــزة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يــكــون بـالأســــــلاك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40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40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الـنـحــاســـيــة أو الألــيــاف الــبـصــريــة</a:t>
                      </a:r>
                      <a:endParaRPr lang="fr-FR" sz="40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32873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DZ" sz="3200" b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الــربـــط يــكــون بــواســطــة إشــــــــارات</a:t>
                      </a: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الـراديــو ( </a:t>
                      </a:r>
                      <a:r>
                        <a:rPr lang="fr-FR" sz="34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Wifi</a:t>
                      </a:r>
                      <a:r>
                        <a:rPr lang="fr-FR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fr-FR" sz="34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Bluetooth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) ،</a:t>
                      </a:r>
                      <a:r>
                        <a:rPr lang="fr-FR" sz="38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الأشـعـة</a:t>
                      </a:r>
                      <a:endParaRPr lang="fr-FR" sz="38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تـحـت الـحـمـراء</a:t>
                      </a:r>
                      <a:r>
                        <a:rPr lang="fr-FR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8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أو الأقـمـار الـصـنـاعــيـة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13322" y="206393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25290" y="4230335"/>
            <a:ext cx="35283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شــبــكــة لا ســلــكــيــة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0787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تــصــنــيــف </a:t>
            </a:r>
            <a:r>
              <a:rPr lang="ar-DZ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</a:t>
            </a:r>
            <a:endParaRPr lang="fr-FR" sz="66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نــشــاط 3 :</a:t>
            </a:r>
            <a:r>
              <a:rPr lang="ar-DZ" sz="4800" b="1" dirty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بـاِعْـــتِـــبَـــار « </a:t>
            </a:r>
            <a:r>
              <a:rPr lang="ar-DZ" sz="4800" b="1" u="sng" dirty="0" smtClean="0">
                <a:cs typeface="+mj-cs"/>
              </a:rPr>
              <a:t>الــمـــســــاحــــة</a:t>
            </a:r>
            <a:r>
              <a:rPr lang="ar-DZ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الَّـتِي </a:t>
            </a:r>
            <a:r>
              <a:rPr lang="ar-DZ" sz="4800" b="1" dirty="0" smtClean="0">
                <a:cs typeface="+mj-cs"/>
              </a:rPr>
              <a:t>تــحــتــلــهــا شــبــكــة </a:t>
            </a:r>
            <a:r>
              <a:rPr lang="ar-DZ" sz="4800" b="1" dirty="0">
                <a:cs typeface="+mj-cs"/>
              </a:rPr>
              <a:t>» </a:t>
            </a:r>
            <a:r>
              <a:rPr lang="ar-DZ" sz="4800" b="1" dirty="0" smtClean="0">
                <a:cs typeface="+mj-cs"/>
              </a:rPr>
              <a:t>كَــمِــعْـــيَــــار </a:t>
            </a:r>
            <a:r>
              <a:rPr lang="ar-DZ" sz="4800" b="1" dirty="0">
                <a:cs typeface="+mj-cs"/>
              </a:rPr>
              <a:t>حَـــدِّدْ أنــواع </a:t>
            </a:r>
            <a:r>
              <a:rPr lang="ar-DZ" sz="4800" b="1" dirty="0" smtClean="0">
                <a:cs typeface="+mj-cs"/>
              </a:rPr>
              <a:t>الــشـــبـــكـــات </a:t>
            </a: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–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5400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0963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.........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7075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مـحـلــيـة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>
                <a:solidFill>
                  <a:srgbClr val="0070C0"/>
                </a:solidFill>
                <a:cs typeface="Times New Roman" panose="02020603050405020304" pitchFamily="18" charset="0"/>
              </a:rPr>
              <a:t>.........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8921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22" grpId="0" animBg="1"/>
      <p:bldP spid="23" grpId="0" animBg="1"/>
      <p:bldP spid="21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مـحـلــيـة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إقـلـيـمـيـة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9918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19" grpId="0" animBg="1"/>
      <p:bldP spid="22" grpId="0" animBg="1"/>
      <p:bldP spid="23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تــصــنــيــف </a:t>
            </a:r>
            <a:r>
              <a:rPr lang="ar-DZ" sz="4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حــســب </a:t>
            </a:r>
            <a:r>
              <a:rPr lang="ar-DZ" sz="4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الـجــغـــرافــي 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حــســب 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الامــتـــداد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الـجــغـــرافــي 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الـشـبـكـة قــد تـكـون :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13" idx="2"/>
          </p:cNvCxnSpPr>
          <p:nvPr/>
        </p:nvCxnSpPr>
        <p:spPr>
          <a:xfrm flipH="1">
            <a:off x="2104566" y="2492896"/>
            <a:ext cx="3912530" cy="11318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5986010" y="2477137"/>
            <a:ext cx="3771544" cy="1123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8328248" y="4561298"/>
            <a:ext cx="3528392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L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ocal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986010" y="2492896"/>
            <a:ext cx="0" cy="129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56240" y="3668853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مـحـلــيـة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LAN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03529" y="3789040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إقـلـيـمـيـة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MAN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4366" y="36963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واسـعـة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WAN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232819" y="4561298"/>
            <a:ext cx="3743494" cy="124396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W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ide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sz="3400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sz="3400" dirty="0">
              <a:cs typeface="+mj-cs"/>
            </a:endParaRPr>
          </a:p>
        </p:txBody>
      </p:sp>
      <p:sp>
        <p:nvSpPr>
          <p:cNvPr id="23" name="Espace réservé du contenu 21"/>
          <p:cNvSpPr txBox="1">
            <a:spLocks noGrp="1"/>
          </p:cNvSpPr>
          <p:nvPr>
            <p:ph idx="1"/>
          </p:nvPr>
        </p:nvSpPr>
        <p:spPr>
          <a:xfrm>
            <a:off x="4051501" y="4548719"/>
            <a:ext cx="4104456" cy="1545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en-US" b="1" dirty="0" smtClean="0">
                <a:solidFill>
                  <a:srgbClr val="FF0000"/>
                </a:solidFill>
                <a:cs typeface="+mj-cs"/>
              </a:rPr>
              <a:t>M</a:t>
            </a:r>
            <a:r>
              <a:rPr lang="en-US" b="1" dirty="0" smtClean="0">
                <a:solidFill>
                  <a:srgbClr val="0070C0"/>
                </a:solidFill>
                <a:cs typeface="+mj-cs"/>
              </a:rPr>
              <a:t>etropolitan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rea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N</a:t>
            </a:r>
            <a:r>
              <a:rPr lang="fr-FR" b="1" dirty="0" smtClean="0">
                <a:solidFill>
                  <a:srgbClr val="0070C0"/>
                </a:solidFill>
                <a:cs typeface="+mj-cs"/>
              </a:rPr>
              <a:t>etwork</a:t>
            </a:r>
            <a:endParaRPr lang="en-US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11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31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الامــتـــداد الـجــغـــرافــي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705184"/>
              </p:ext>
            </p:extLst>
          </p:nvPr>
        </p:nvGraphicFramePr>
        <p:xfrm>
          <a:off x="767406" y="1570512"/>
          <a:ext cx="10524043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 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5290" y="192998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.........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LAN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7408" y="192943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..........................................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5290" y="3425488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200" b="1" dirty="0" smtClean="0">
                <a:solidFill>
                  <a:srgbClr val="0070C0"/>
                </a:solidFill>
                <a:cs typeface="+mj-cs"/>
              </a:rPr>
              <a:t>MAN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5191" y="3422410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..........................................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25290" y="48794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WAN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..........................................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69107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الامــتـــداد الـجــغـــرافــي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705184"/>
              </p:ext>
            </p:extLst>
          </p:nvPr>
        </p:nvGraphicFramePr>
        <p:xfrm>
          <a:off x="767406" y="1570512"/>
          <a:ext cx="10524043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 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5290" y="192998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مـحـلــيـة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LAN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7408" y="192943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بِــنَــايَــةً أو بِــنَــايَــاتٍ مُــتَـجَــاوِرَةٍ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5290" y="3425488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200" b="1" dirty="0" smtClean="0">
                <a:solidFill>
                  <a:srgbClr val="0070C0"/>
                </a:solidFill>
                <a:cs typeface="+mj-cs"/>
              </a:rPr>
              <a:t>MAN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5191" y="3422410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..........................................</a:t>
            </a:r>
            <a:endParaRPr lang="ar-DZ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25290" y="48794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WAN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..........................................</a:t>
            </a:r>
          </a:p>
        </p:txBody>
      </p:sp>
    </p:spTree>
    <p:extLst>
      <p:ext uri="{BB962C8B-B14F-4D97-AF65-F5344CB8AC3E}">
        <p14:creationId xmlns:p14="http://schemas.microsoft.com/office/powerpoint/2010/main" val="159497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الامــتـــداد الـجــغـــرافــي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705184"/>
              </p:ext>
            </p:extLst>
          </p:nvPr>
        </p:nvGraphicFramePr>
        <p:xfrm>
          <a:off x="767406" y="1570512"/>
          <a:ext cx="10524043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 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5290" y="192998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مـحـلــيـة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LAN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7408" y="192943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بِــنَــايَــةً أو بِــنَــايَــاتٍ مُــتَـجَــاوِرَةٍ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5290" y="3425488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إقـلـيـمـيـة </a:t>
            </a:r>
            <a:r>
              <a:rPr lang="fr-FR" sz="3200" b="1" dirty="0" smtClean="0">
                <a:solidFill>
                  <a:srgbClr val="0070C0"/>
                </a:solidFill>
                <a:cs typeface="+mj-cs"/>
              </a:rPr>
              <a:t>MAN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5191" y="3422410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مَـدِيــنَـةً أو </a:t>
            </a:r>
            <a:r>
              <a:rPr lang="ar-DZ" sz="3600" b="1" dirty="0" smtClean="0">
                <a:solidFill>
                  <a:srgbClr val="0070C0"/>
                </a:solidFill>
              </a:rPr>
              <a:t>مَـدِيـنَـتَـيْـنِ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مُــتَـجَـاوِرَتَـيْـن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25290" y="48794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.........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WAN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..........................................</a:t>
            </a:r>
          </a:p>
        </p:txBody>
      </p:sp>
    </p:spTree>
    <p:extLst>
      <p:ext uri="{BB962C8B-B14F-4D97-AF65-F5344CB8AC3E}">
        <p14:creationId xmlns:p14="http://schemas.microsoft.com/office/powerpoint/2010/main" val="295668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الامــتـــداد الـجــغـــرافــي </a:t>
            </a:r>
            <a:r>
              <a:rPr lang="ar-DZ" sz="4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705184"/>
              </p:ext>
            </p:extLst>
          </p:nvPr>
        </p:nvGraphicFramePr>
        <p:xfrm>
          <a:off x="767406" y="1570512"/>
          <a:ext cx="10524043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52621"/>
                <a:gridCol w="6971422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 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تُـغَــطِّـي 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25290" y="192998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مـحـلــيـة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LAN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7408" y="192943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بِــنَــايَــةً أو بِــنَــايَــاتٍ مُــتَـجَــاوِرَةٍ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5290" y="3425488"/>
            <a:ext cx="3600400" cy="795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شـبكة إقـلـيـمـيـة </a:t>
            </a:r>
            <a:r>
              <a:rPr lang="fr-FR" sz="3200" b="1" dirty="0" smtClean="0">
                <a:solidFill>
                  <a:srgbClr val="0070C0"/>
                </a:solidFill>
                <a:cs typeface="+mj-cs"/>
              </a:rPr>
              <a:t>MAN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5191" y="3422410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مَـدِيــنَـةً أو </a:t>
            </a:r>
            <a:r>
              <a:rPr lang="ar-DZ" sz="3600" b="1" dirty="0" smtClean="0">
                <a:solidFill>
                  <a:srgbClr val="0070C0"/>
                </a:solidFill>
              </a:rPr>
              <a:t>مَـدِيـنَـتَـيْـنِ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مُــتَـجَـاوِرَتَـيْـن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25290" y="4879464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شـبـكـة واسـعـة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WAN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بَــلَــدًا ، </a:t>
            </a:r>
            <a:r>
              <a:rPr lang="ar-DZ" sz="3600" b="1" dirty="0" smtClean="0">
                <a:solidFill>
                  <a:srgbClr val="0070C0"/>
                </a:solidFill>
              </a:rPr>
              <a:t>قَـــارَةً أو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الأَرْضَ بِـأَكْــمَــلِـهَـا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6020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تــصــنــيــف </a:t>
            </a:r>
            <a:r>
              <a:rPr lang="ar-DZ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</a:t>
            </a:r>
            <a:endParaRPr lang="fr-FR" sz="66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نــشــاط 4 :</a:t>
            </a:r>
            <a:r>
              <a:rPr lang="ar-DZ" sz="48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بـاِعْـــتِـــبَـــار « وظـــيـــفــة </a:t>
            </a:r>
            <a:r>
              <a:rPr lang="ar-DZ" sz="4400" b="1" dirty="0">
                <a:cs typeface="+mj-cs"/>
              </a:rPr>
              <a:t>جـهــاز فــي الـشــبـكـة وعــلاقــتـه </a:t>
            </a:r>
            <a:r>
              <a:rPr lang="ar-DZ" sz="4400" b="1" dirty="0" smtClean="0">
                <a:cs typeface="+mj-cs"/>
              </a:rPr>
              <a:t>بالأجـهــزة </a:t>
            </a:r>
            <a:r>
              <a:rPr lang="ar-DZ" sz="4400" b="1" dirty="0">
                <a:cs typeface="+mj-cs"/>
              </a:rPr>
              <a:t>الأخــرى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» </a:t>
            </a:r>
            <a:r>
              <a:rPr lang="ar-DZ" sz="4400" b="1" dirty="0" smtClean="0">
                <a:cs typeface="+mj-cs"/>
              </a:rPr>
              <a:t>كَــمِـعْـــيَـــار حَــدِّدْ نَــوْعَـيْ الــشــبــكــة مـع بَـيَـانِ خـصـائـص كـل نــوع</a:t>
            </a:r>
            <a:endParaRPr lang="ar-DZ" sz="2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sz="5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–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الـعــلاقــة الـوظــيــفــيــة  </a:t>
            </a:r>
            <a:endParaRPr lang="fr-FR" sz="5400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711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مَــا هـي نَـوْعَـيْ الــشــبــكــة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حَــسْــبَ الـعــلاقــة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الـوظــيــفــيـة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Server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4678667" y="4158435"/>
            <a:ext cx="2497453" cy="15901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.............</a:t>
            </a:r>
            <a:endParaRPr lang="fr-FR" sz="36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933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70478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793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17" grpId="0" animBg="1"/>
      <p:bldP spid="31" grpId="0" animBg="1"/>
      <p:bldP spid="1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مَــا هـي نَـوْعَـيْ الــشــبــكــة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حَــسْــبَ الـعــلاقــة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الـوظــيــفــيـة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Server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والـزَبُــونِ</a:t>
            </a:r>
            <a:endParaRPr lang="fr-FR" dirty="0">
              <a:cs typeface="+mj-cs"/>
            </a:endParaRPr>
          </a:p>
        </p:txBody>
      </p:sp>
      <p:sp>
        <p:nvSpPr>
          <p:cNvPr id="20" name="Espace réservé du contenu 21"/>
          <p:cNvSpPr txBox="1">
            <a:spLocks/>
          </p:cNvSpPr>
          <p:nvPr/>
        </p:nvSpPr>
        <p:spPr>
          <a:xfrm>
            <a:off x="4696597" y="4162918"/>
            <a:ext cx="2497453" cy="15901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.............</a:t>
            </a:r>
            <a:endParaRPr lang="fr-FR" sz="3600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609599" y="4670478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</a:t>
            </a:r>
            <a:endParaRPr lang="fr-F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0358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20" grpId="0" animBg="1"/>
      <p:bldP spid="1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مَــا هـي نَـوْعَـيْ الــشــبــكــة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حَــسْــبَ الـعــلاقــة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الـوظــيــفــيـة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Server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والـزَبُــونِ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69681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</a:t>
            </a:r>
            <a:endParaRPr lang="fr-FR" dirty="0">
              <a:cs typeface="+mj-cs"/>
            </a:endParaRPr>
          </a:p>
        </p:txBody>
      </p:sp>
      <p:sp>
        <p:nvSpPr>
          <p:cNvPr id="20" name="Espace réservé du contenu 21"/>
          <p:cNvSpPr txBox="1">
            <a:spLocks/>
          </p:cNvSpPr>
          <p:nvPr/>
        </p:nvSpPr>
        <p:spPr>
          <a:xfrm>
            <a:off x="4696597" y="4162918"/>
            <a:ext cx="2497453" cy="15901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FF0000"/>
                </a:solidFill>
                <a:cs typeface="+mj-cs"/>
              </a:rPr>
              <a:t>.............</a:t>
            </a:r>
            <a:endParaRPr lang="fr-FR" sz="3600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2366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مَــا هـي نَـوْعَـيْ الــشــبــكــة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حَــسْــبَ الـعــلاقــة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الـوظــيــفــيـة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Server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الـشــبــكــات حَــسْــبَ الـعــلاقــة الـوظــيــفــيــة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Peer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567272" y="4653136"/>
            <a:ext cx="4001336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والـزَبُــونِ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669681"/>
            <a:ext cx="3686201" cy="99077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</a:t>
            </a:r>
            <a:endParaRPr lang="fr-FR" dirty="0">
              <a:cs typeface="+mj-cs"/>
            </a:endParaRPr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4667843" y="5275359"/>
            <a:ext cx="2644717" cy="110596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حـواسـيـب</a:t>
            </a:r>
            <a:endParaRPr lang="fr-FR" sz="3600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5583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  <p:bldP spid="1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ـك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ـة </a:t>
            </a:r>
            <a:r>
              <a:rPr lang="ar-SA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والـزَبُــونِ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</a:t>
            </a:r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/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مـثـال شــبــكــة مـن </a:t>
            </a:r>
            <a:r>
              <a:rPr lang="ar-DZ" sz="4400" b="1" dirty="0">
                <a:solidFill>
                  <a:srgbClr val="FF0000"/>
                </a:solidFill>
                <a:cs typeface="+mj-cs"/>
              </a:rPr>
              <a:t>نــوع الـخَــادِمِ والــزَبُــونِ 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23" name="Image 2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09714"/>
            <a:ext cx="10814992" cy="465558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Espace réservé du contenu 2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DZ" sz="2400" dirty="0" smtClean="0"/>
          </a:p>
          <a:p>
            <a:pPr marL="6643688" indent="0" algn="r" rtl="1">
              <a:buNone/>
            </a:pPr>
            <a:r>
              <a:rPr lang="ar-DZ" b="1" dirty="0" smtClean="0">
                <a:cs typeface="+mj-cs"/>
              </a:rPr>
              <a:t> </a:t>
            </a:r>
            <a:endParaRPr lang="fr-FR" b="1" dirty="0">
              <a:cs typeface="+mj-cs"/>
            </a:endParaRPr>
          </a:p>
        </p:txBody>
      </p:sp>
      <p:sp>
        <p:nvSpPr>
          <p:cNvPr id="29" name="Espace réservé du contenu 21"/>
          <p:cNvSpPr txBox="1">
            <a:spLocks/>
          </p:cNvSpPr>
          <p:nvPr/>
        </p:nvSpPr>
        <p:spPr>
          <a:xfrm>
            <a:off x="5375920" y="4797152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1487488" y="1772973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6626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29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ـك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ـة </a:t>
            </a:r>
            <a:r>
              <a:rPr lang="ar-SA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والـزَبُــونِ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</a:t>
            </a:r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/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مـثـال شــبــكــة مـن </a:t>
            </a:r>
            <a:r>
              <a:rPr lang="ar-DZ" sz="4400" b="1" dirty="0">
                <a:solidFill>
                  <a:srgbClr val="FF0000"/>
                </a:solidFill>
                <a:cs typeface="+mj-cs"/>
              </a:rPr>
              <a:t>نــوع الـخَــادِمِ والــزَبُــونِ 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23" name="Image 2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09714"/>
            <a:ext cx="10814992" cy="465558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Espace réservé du contenu 2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DZ" sz="2400" dirty="0" smtClean="0"/>
          </a:p>
          <a:p>
            <a:pPr marL="6643688" indent="0" algn="r" rtl="1">
              <a:buNone/>
            </a:pPr>
            <a:r>
              <a:rPr lang="ar-DZ" b="1" dirty="0" smtClean="0">
                <a:cs typeface="+mj-cs"/>
              </a:rPr>
              <a:t> </a:t>
            </a:r>
            <a:endParaRPr lang="fr-FR" b="1" dirty="0">
              <a:cs typeface="+mj-cs"/>
            </a:endParaRPr>
          </a:p>
        </p:txBody>
      </p:sp>
      <p:sp>
        <p:nvSpPr>
          <p:cNvPr id="29" name="Espace réservé du contenu 21"/>
          <p:cNvSpPr txBox="1">
            <a:spLocks/>
          </p:cNvSpPr>
          <p:nvPr/>
        </p:nvSpPr>
        <p:spPr>
          <a:xfrm>
            <a:off x="5375920" y="4797152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خَـــادِم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9" name="Espace réservé du contenu 21"/>
          <p:cNvSpPr txBox="1">
            <a:spLocks/>
          </p:cNvSpPr>
          <p:nvPr/>
        </p:nvSpPr>
        <p:spPr>
          <a:xfrm>
            <a:off x="1487488" y="1772973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3109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29" grpId="0" animBg="1"/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ـك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ـة </a:t>
            </a:r>
            <a:r>
              <a:rPr lang="ar-SA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والـزَبُــونِ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</a:t>
            </a:r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/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مـثـال شــبــكــة مـن </a:t>
            </a:r>
            <a:r>
              <a:rPr lang="ar-DZ" sz="4400" b="1" dirty="0">
                <a:solidFill>
                  <a:srgbClr val="FF0000"/>
                </a:solidFill>
                <a:cs typeface="+mj-cs"/>
              </a:rPr>
              <a:t>نــوع الـخَــادِمِ والــزَبُــونِ 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23" name="Image 2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09714"/>
            <a:ext cx="10814992" cy="465558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Espace réservé du contenu 2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DZ" sz="2400" dirty="0" smtClean="0"/>
          </a:p>
          <a:p>
            <a:pPr marL="6643688" indent="0" algn="r" rtl="1">
              <a:buNone/>
            </a:pPr>
            <a:r>
              <a:rPr lang="ar-DZ" b="1" dirty="0" smtClean="0">
                <a:cs typeface="+mj-cs"/>
              </a:rPr>
              <a:t> </a:t>
            </a:r>
            <a:endParaRPr lang="fr-FR" b="1" dirty="0">
              <a:cs typeface="+mj-cs"/>
            </a:endParaRPr>
          </a:p>
        </p:txBody>
      </p:sp>
      <p:sp>
        <p:nvSpPr>
          <p:cNvPr id="29" name="Espace réservé du contenu 21"/>
          <p:cNvSpPr txBox="1">
            <a:spLocks/>
          </p:cNvSpPr>
          <p:nvPr/>
        </p:nvSpPr>
        <p:spPr>
          <a:xfrm>
            <a:off x="5375920" y="4797152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خَـــادِم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1487488" y="1772973"/>
            <a:ext cx="2203140" cy="88239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زَبَــائِــن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7790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29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الـخَــادِمِ والــزَبُــونِ  </a:t>
            </a:r>
            <a:r>
              <a:rPr lang="fr-F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8192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uiExpand="1" build="p" animBg="1"/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والــزَبُــونِ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7568" y="2407221"/>
            <a:ext cx="4439260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حــاسـوبٍ جِــد مُـتَـطَـوِرٍ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928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والــزَبُــونِ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7568" y="2407221"/>
            <a:ext cx="4439260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حــاسـوبٍ جِــد مُـتَـطَـوِرٍ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62578" y="3095854"/>
            <a:ext cx="3897918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حــواســيــبٍ أخــرى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579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1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والــزَبُــونِ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7568" y="2407221"/>
            <a:ext cx="4439260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حــاسـوبٍ جِــد مُـتَـطَـوِرٍ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62578" y="3095854"/>
            <a:ext cx="3897918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حــواســيــبٍ أخــرى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25728" y="3884563"/>
            <a:ext cx="356105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الـحـاسـوب الـخَــادِم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413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11" grpId="0" animBg="1"/>
      <p:bldP spid="1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والــزَبُــونِ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7568" y="2407221"/>
            <a:ext cx="4439260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حــاسـوبٍ جِــد مُـتَـطَـوِرٍ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62578" y="3095854"/>
            <a:ext cx="3897918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حــواســيــبٍ أخــرى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25728" y="3884563"/>
            <a:ext cx="356105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الـحـاسـوب الـخَــادِم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5400" y="3749784"/>
            <a:ext cx="1872207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الـزَبــائِــن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897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11" grpId="0" animBg="1"/>
      <p:bldP spid="12" grpId="0" animBg="1"/>
      <p:bldP spid="1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والــزَبُــونِ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7568" y="2407221"/>
            <a:ext cx="4439260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حــاسـوبٍ جِــد مُـتَـطَـوِرٍ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62578" y="3095854"/>
            <a:ext cx="3897918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حــواســيــبٍ أخــرى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25728" y="3884563"/>
            <a:ext cx="356105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الـحـاسـوب الـخَــادِم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5400" y="3749784"/>
            <a:ext cx="1872207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الـزَبــائِــن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67759" y="4625442"/>
            <a:ext cx="1940223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الـطِـبَـاعَـة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3321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14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شـ</a:t>
            </a:r>
            <a:r>
              <a:rPr lang="ar-DZ" sz="3800" b="1" dirty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ـبــكـ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ة </a:t>
            </a:r>
            <a:r>
              <a:rPr lang="ar-SA" sz="38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SA" sz="3800" b="1" dirty="0" smtClean="0">
                <a:solidFill>
                  <a:srgbClr val="002060"/>
                </a:solidFill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just" rtl="1">
              <a:lnSpc>
                <a:spcPct val="114000"/>
              </a:lnSpc>
              <a:buFontTx/>
              <a:buChar char="-"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تــتــكــون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عـلى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الأقــل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Server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عـــاديــة  </a:t>
            </a: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Clients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يُــزَوِّدُ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الـحـواســيـب الأخـرى </a:t>
            </a:r>
            <a:r>
              <a:rPr lang="ar-DZ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بــمــخــتــلــف الــمـــوارد والـخـــدمـــات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خــدمــة </a:t>
            </a:r>
            <a:r>
              <a:rPr lang="ar-DZ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تـحــمــيــل الـمــلـفــات، اســتــغـــلال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إلــخ</a:t>
            </a:r>
            <a:endParaRPr lang="ar-DZ" sz="4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1555951"/>
            <a:ext cx="6624736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الـخَــادِمِ والــزَبُــونِ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Client / Server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07568" y="2407221"/>
            <a:ext cx="4439260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حــاسـوبٍ جِــد مُـتَـطَـوِرٍ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62578" y="3095854"/>
            <a:ext cx="3897918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حــواســيــبٍ أخــرى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25728" y="3884563"/>
            <a:ext cx="356105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الـحـاسـوب الـخَــادِم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5400" y="3749784"/>
            <a:ext cx="1872207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الـزَبــائِــن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67759" y="4625442"/>
            <a:ext cx="1940223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الـطِـبَـاعَـة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43672" y="5273442"/>
            <a:ext cx="2344217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الـبــرامــج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7433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3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مـن </a:t>
            </a:r>
            <a:r>
              <a:rPr lang="ar-SA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لِلــنِّـــد   </a:t>
            </a:r>
            <a:r>
              <a:rPr lang="fr-F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مـثـال شــبــكــة مـن </a:t>
            </a:r>
            <a:r>
              <a:rPr lang="ar-DZ" sz="4400" b="1" dirty="0">
                <a:solidFill>
                  <a:srgbClr val="FF0000"/>
                </a:solidFill>
              </a:rPr>
              <a:t>نــوع </a:t>
            </a:r>
            <a:r>
              <a:rPr lang="ar-DZ" sz="4400" b="1" dirty="0" smtClean="0">
                <a:solidFill>
                  <a:srgbClr val="FF0000"/>
                </a:solidFill>
              </a:rPr>
              <a:t>الـنِّــد للـنِّــد 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408" y="3356992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 flipV="1">
            <a:off x="4094421" y="37461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4094420" y="42793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8017861" y="471678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...........</a:t>
            </a:r>
          </a:p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زبــون 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3367857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72765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.........</a:t>
            </a:r>
          </a:p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زبـون 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5583"/>
            <a:ext cx="1597968" cy="1245660"/>
          </a:xfrm>
          <a:prstGeom prst="rect">
            <a:avLst/>
          </a:prstGeom>
        </p:spPr>
      </p:pic>
      <p:sp>
        <p:nvSpPr>
          <p:cNvPr id="19" name="Espace réservé du contenu 18"/>
          <p:cNvSpPr txBox="1">
            <a:spLocks/>
          </p:cNvSpPr>
          <p:nvPr/>
        </p:nvSpPr>
        <p:spPr>
          <a:xfrm>
            <a:off x="10048199" y="2717346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مـلـفـات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3544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20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مـن </a:t>
            </a:r>
            <a:r>
              <a:rPr lang="ar-SA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لِلــنِّـــد   </a:t>
            </a:r>
            <a:r>
              <a:rPr lang="fr-F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مـثـال شــبــكــة مـن </a:t>
            </a:r>
            <a:r>
              <a:rPr lang="ar-DZ" sz="4400" b="1" dirty="0">
                <a:solidFill>
                  <a:srgbClr val="FF0000"/>
                </a:solidFill>
              </a:rPr>
              <a:t>نــوع </a:t>
            </a:r>
            <a:r>
              <a:rPr lang="ar-DZ" sz="4400" b="1" dirty="0" smtClean="0">
                <a:solidFill>
                  <a:srgbClr val="FF0000"/>
                </a:solidFill>
              </a:rPr>
              <a:t>الـنِّــد للـنِّــد 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408" y="3356992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 flipV="1">
            <a:off x="4094421" y="37461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4094420" y="42793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8017861" y="471678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مــلــفــات </a:t>
            </a:r>
            <a:r>
              <a:rPr lang="ar-DZ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زبــون 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.........</a:t>
            </a:r>
            <a:endParaRPr lang="fr-FR" sz="3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3367857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72765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.........</a:t>
            </a:r>
          </a:p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زبـون 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5583"/>
            <a:ext cx="1597968" cy="1245660"/>
          </a:xfrm>
          <a:prstGeom prst="rect">
            <a:avLst/>
          </a:prstGeom>
        </p:spPr>
      </p:pic>
      <p:sp>
        <p:nvSpPr>
          <p:cNvPr id="19" name="Espace réservé du contenu 18"/>
          <p:cNvSpPr txBox="1">
            <a:spLocks/>
          </p:cNvSpPr>
          <p:nvPr/>
        </p:nvSpPr>
        <p:spPr>
          <a:xfrm>
            <a:off x="10048199" y="2717346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مـلـفـات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97614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20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مـن </a:t>
            </a:r>
            <a:r>
              <a:rPr lang="ar-SA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لِلــنِّـــد   </a:t>
            </a:r>
            <a:r>
              <a:rPr lang="fr-F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مـثـال شــبــكــة مـن </a:t>
            </a:r>
            <a:r>
              <a:rPr lang="ar-DZ" sz="4400" b="1" dirty="0">
                <a:solidFill>
                  <a:srgbClr val="FF0000"/>
                </a:solidFill>
              </a:rPr>
              <a:t>نــوع </a:t>
            </a:r>
            <a:r>
              <a:rPr lang="ar-DZ" sz="4400" b="1" dirty="0" smtClean="0">
                <a:solidFill>
                  <a:srgbClr val="FF0000"/>
                </a:solidFill>
              </a:rPr>
              <a:t>الـنِّــد للـنِّــد 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408" y="3356992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 flipV="1">
            <a:off x="4094421" y="37461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4094420" y="42793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8017861" y="471678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مــلــفــات 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زبــون طــبــاعـة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3367857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72765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.........</a:t>
            </a:r>
          </a:p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زبـون 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5583"/>
            <a:ext cx="1597968" cy="1245660"/>
          </a:xfrm>
          <a:prstGeom prst="rect">
            <a:avLst/>
          </a:prstGeom>
        </p:spPr>
      </p:pic>
      <p:sp>
        <p:nvSpPr>
          <p:cNvPr id="19" name="Espace réservé du contenu 18"/>
          <p:cNvSpPr txBox="1">
            <a:spLocks/>
          </p:cNvSpPr>
          <p:nvPr/>
        </p:nvSpPr>
        <p:spPr>
          <a:xfrm>
            <a:off x="10048199" y="2717346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مـلـفـات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2929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20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مـن </a:t>
            </a:r>
            <a:r>
              <a:rPr lang="ar-SA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لِلــنِّـــد   </a:t>
            </a:r>
            <a:r>
              <a:rPr lang="fr-F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مـثـال شــبــكــة مـن </a:t>
            </a:r>
            <a:r>
              <a:rPr lang="ar-DZ" sz="4400" b="1" dirty="0">
                <a:solidFill>
                  <a:srgbClr val="FF0000"/>
                </a:solidFill>
              </a:rPr>
              <a:t>نــوع </a:t>
            </a:r>
            <a:r>
              <a:rPr lang="ar-DZ" sz="4400" b="1" dirty="0" smtClean="0">
                <a:solidFill>
                  <a:srgbClr val="FF0000"/>
                </a:solidFill>
              </a:rPr>
              <a:t>الـنِّــد للـنِّــد 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408" y="3356992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 flipV="1">
            <a:off x="4094421" y="37461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4094420" y="42793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8017861" y="471678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مــلــفــات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زبــون طــبــاعـة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3367857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72765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طِــبَــاعَــة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زبـون </a:t>
            </a:r>
            <a:r>
              <a:rPr lang="ar-DZ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</a:t>
            </a:r>
            <a:endParaRPr lang="fr-FR" sz="30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5583"/>
            <a:ext cx="1597968" cy="1245660"/>
          </a:xfrm>
          <a:prstGeom prst="rect">
            <a:avLst/>
          </a:prstGeom>
        </p:spPr>
      </p:pic>
      <p:sp>
        <p:nvSpPr>
          <p:cNvPr id="19" name="Espace réservé du contenu 18"/>
          <p:cNvSpPr txBox="1">
            <a:spLocks/>
          </p:cNvSpPr>
          <p:nvPr/>
        </p:nvSpPr>
        <p:spPr>
          <a:xfrm>
            <a:off x="10048199" y="2717346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مـلـفـات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1611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20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مـن </a:t>
            </a:r>
            <a:r>
              <a:rPr lang="ar-SA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ar-DZ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لِلــنِّـــد   </a:t>
            </a:r>
            <a:r>
              <a:rPr lang="fr-FR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 /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Peer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1031315" y="1699119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مـثـال شــبــكــة مـن </a:t>
            </a:r>
            <a:r>
              <a:rPr lang="ar-DZ" sz="4400" b="1" dirty="0">
                <a:solidFill>
                  <a:srgbClr val="FF0000"/>
                </a:solidFill>
              </a:rPr>
              <a:t>نــوع </a:t>
            </a:r>
            <a:r>
              <a:rPr lang="ar-DZ" sz="4400" b="1" dirty="0" smtClean="0">
                <a:solidFill>
                  <a:srgbClr val="FF0000"/>
                </a:solidFill>
              </a:rPr>
              <a:t>الـنِّــد للـنِّــد 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408" y="3356992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/>
          <p:nvPr/>
        </p:nvCxnSpPr>
        <p:spPr>
          <a:xfrm flipH="1" flipV="1">
            <a:off x="4094421" y="37461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4094420" y="4279376"/>
            <a:ext cx="38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8017861" y="4716786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مــلــفــات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زبــون طــبــاعـة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737" y="3367857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575171" y="4727651"/>
            <a:ext cx="3398168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خــادم طِــبَــاعَــة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زبـون مــلــفــات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5583"/>
            <a:ext cx="1597968" cy="1245660"/>
          </a:xfrm>
          <a:prstGeom prst="rect">
            <a:avLst/>
          </a:prstGeom>
        </p:spPr>
      </p:pic>
      <p:sp>
        <p:nvSpPr>
          <p:cNvPr id="19" name="Espace réservé du contenu 18"/>
          <p:cNvSpPr txBox="1">
            <a:spLocks/>
          </p:cNvSpPr>
          <p:nvPr/>
        </p:nvSpPr>
        <p:spPr>
          <a:xfrm>
            <a:off x="10048199" y="2717346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مـلـفـات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9089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7" grpId="0" animBg="1"/>
      <p:bldP spid="20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تــابـع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 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SA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تــتــألــف مــن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عَـــادَةً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مـا تـكـون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بـنـفـس 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يُــمْـكِـنُ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لأيِّ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حـــاســوبٍ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أن يـكـون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فـي نـفـس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الـوقــت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بـالـتَــنَــاوُبِ</a:t>
            </a:r>
          </a:p>
        </p:txBody>
      </p:sp>
      <p:sp>
        <p:nvSpPr>
          <p:cNvPr id="7" name="Rectangle 6"/>
          <p:cNvSpPr/>
          <p:nvPr/>
        </p:nvSpPr>
        <p:spPr>
          <a:xfrm>
            <a:off x="839416" y="1700888"/>
            <a:ext cx="6336704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 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Peer / Peer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8323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uiExpand="1" build="p" animBg="1"/>
      <p:bldP spid="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تــابـع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 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SA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تــتــألــف مــن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عَـــادَةً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مـا تـكـون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بـنـفـس 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يُــمْـكِـنُ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لأيِّ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حـــاســوبٍ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أن يـكـون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فـي نـفـس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الـوقــت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بـالـتَــنَــاوُبِ</a:t>
            </a:r>
          </a:p>
        </p:txBody>
      </p:sp>
      <p:sp>
        <p:nvSpPr>
          <p:cNvPr id="7" name="Rectangle 6"/>
          <p:cNvSpPr/>
          <p:nvPr/>
        </p:nvSpPr>
        <p:spPr>
          <a:xfrm>
            <a:off x="839416" y="1700888"/>
            <a:ext cx="6336704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 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Peer / Peer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75920" y="2723191"/>
            <a:ext cx="280831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حـــواســـيـــبٍ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76741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تــابـع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 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SA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تــتــألــف مــن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عَـــادَةً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مـا تـكـون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بـنـفـس 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يُــمْـكِـنُ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لأيِّ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حـــاســوبٍ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أن يـكـون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فـي نـفـس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الـوقــت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بـالـتَــنَــاوُبِ</a:t>
            </a:r>
          </a:p>
        </p:txBody>
      </p:sp>
      <p:sp>
        <p:nvSpPr>
          <p:cNvPr id="7" name="Rectangle 6"/>
          <p:cNvSpPr/>
          <p:nvPr/>
        </p:nvSpPr>
        <p:spPr>
          <a:xfrm>
            <a:off x="839416" y="1700888"/>
            <a:ext cx="6336704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 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Peer / Peer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75920" y="2723191"/>
            <a:ext cx="280831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حـــواســـيـــبٍ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9416" y="3644664"/>
            <a:ext cx="104549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الـخـــصـــائــص الــتـــقـــنـــيــة ( الـسُــرْعَـــة ، الــسِّــعَـــة ... )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5511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1" grpId="0" animBg="1"/>
      <p:bldP spid="1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–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الـعــلاقــة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الـوظــيــفــيــة 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</a:t>
            </a:r>
            <a:r>
              <a:rPr lang="ar-DZ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 </a:t>
            </a:r>
            <a:r>
              <a:rPr lang="ar-DZ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تــابـع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 )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1000" b="1" dirty="0" smtClean="0">
              <a:cs typeface="+mj-cs"/>
            </a:endParaRPr>
          </a:p>
          <a:p>
            <a:pPr algn="just" rtl="1">
              <a:lnSpc>
                <a:spcPct val="135000"/>
              </a:lnSpc>
              <a:buFont typeface="Wingdings" panose="05000000000000000000" pitchFamily="2" charset="2"/>
              <a:buChar char="v"/>
            </a:pPr>
            <a:r>
              <a:rPr lang="fr-FR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ـبــكـ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SA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SA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نــوع </a:t>
            </a:r>
            <a:r>
              <a:rPr lang="ar-DZ" sz="3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cs typeface="+mj-cs"/>
              </a:rPr>
              <a:t> </a:t>
            </a:r>
            <a:endParaRPr lang="ar-DZ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تــتــألــف مــن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عَـــادَةً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مـا تـكـون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بـنـفـس  </a:t>
            </a:r>
            <a:r>
              <a:rPr lang="ar-DZ" sz="3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fr-FR" sz="38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يُــمْـكِـنُ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لأيِّ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حـــاســوبٍ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أن يـكـون</a:t>
            </a:r>
            <a:r>
              <a:rPr lang="ar-DZ" sz="3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28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وذلـك فـي نـفـس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الـوقــت 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بـالـتَــنَــاوُبِ</a:t>
            </a:r>
          </a:p>
        </p:txBody>
      </p:sp>
      <p:sp>
        <p:nvSpPr>
          <p:cNvPr id="7" name="Rectangle 6"/>
          <p:cNvSpPr/>
          <p:nvPr/>
        </p:nvSpPr>
        <p:spPr>
          <a:xfrm>
            <a:off x="839416" y="1700888"/>
            <a:ext cx="6336704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الــنِّـــد لِلــنِّـــد  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Peer / Peer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75920" y="2723191"/>
            <a:ext cx="280831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حـــواســـيـــبٍ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1424" y="4566137"/>
            <a:ext cx="3777082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خَـــادِمًـــا أو زَبُـــونًــا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9416" y="3644664"/>
            <a:ext cx="104549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الـخـــصـــائــص الــتـــقـــنـــيــة ( الـسُــرْعَـــة ، الــسِّــعَـــة ... )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1620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1" grpId="0" animBg="1"/>
      <p:bldP spid="12" grpId="0" animBg="1"/>
      <p:bldP spid="1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تــصــنــيــف </a:t>
            </a:r>
            <a:r>
              <a:rPr lang="ar-DZ" sz="5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الــشــبــكـــات </a:t>
            </a:r>
            <a:endParaRPr lang="fr-FR" sz="66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نــشــاط 5 :</a:t>
            </a:r>
            <a:r>
              <a:rPr lang="ar-DZ" sz="48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بـاِعْـــتِـــبَـــار «</a:t>
            </a:r>
            <a:r>
              <a:rPr lang="ar-DZ" sz="4400" b="1" dirty="0"/>
              <a:t>الـتــشــكــيــل الَّــذي تــأخــذه الـشــبــكــة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» </a:t>
            </a:r>
            <a:r>
              <a:rPr lang="ar-DZ" sz="4400" b="1" dirty="0" smtClean="0">
                <a:cs typeface="+mj-cs"/>
              </a:rPr>
              <a:t>كَــمِـعْـــيَـــار حَــدِّدْ </a:t>
            </a:r>
            <a:r>
              <a:rPr lang="ar-DZ" sz="4400" b="1" dirty="0"/>
              <a:t>أنــواع </a:t>
            </a:r>
            <a:r>
              <a:rPr lang="ar-DZ" sz="4400" b="1" dirty="0" smtClean="0">
                <a:cs typeface="+mj-cs"/>
              </a:rPr>
              <a:t>الــشــبــكــة مـع بَـيَـانِ خـصـائـص كـل نــوع</a:t>
            </a:r>
            <a:endParaRPr lang="ar-DZ" sz="2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r>
              <a:rPr lang="ar-DZ" sz="5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– </a:t>
            </a:r>
            <a:r>
              <a:rPr lang="ar-DZ" sz="4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طُــوبُــولُــوجْـــيَـــا الــربـــط   </a:t>
            </a:r>
            <a:endParaRPr lang="fr-FR" sz="5400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8811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18" name="Image 17" descr="F:\_Wrk\1. Courses\1ـ الـسـنـة الـدراسـيـة 2020 - 2021\الـمـجــال 1  - بــيـئـة الـتـعــامــل مــع الـحــاســوب\2ـ  الـدروس\_Files\Images INF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90496"/>
            <a:ext cx="10814992" cy="4358784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911424" y="5072835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82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18" name="Image 17" descr="F:\_Wrk\1. Courses\1ـ الـسـنـة الـدراسـيـة 2020 - 2021\الـمـجــال 1  - بــيـئـة الـتـعــامــل مــع الـحــاســوب\2ـ  الـدروس\_Files\Images INF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90496"/>
            <a:ext cx="10814992" cy="4358784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911424" y="5072835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781945" y="546881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الـخَــطِـي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285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Ring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 2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600202"/>
            <a:ext cx="10081120" cy="391703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5" name="Espace réservé du contenu 21"/>
          <p:cNvSpPr txBox="1">
            <a:spLocks/>
          </p:cNvSpPr>
          <p:nvPr/>
        </p:nvSpPr>
        <p:spPr>
          <a:xfrm>
            <a:off x="1434486" y="5021907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6871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60167"/>
            <a:ext cx="1872208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Anneau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Ring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 2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600202"/>
            <a:ext cx="10081120" cy="391703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5" name="Espace réservé du contenu 21"/>
          <p:cNvSpPr txBox="1">
            <a:spLocks/>
          </p:cNvSpPr>
          <p:nvPr/>
        </p:nvSpPr>
        <p:spPr>
          <a:xfrm>
            <a:off x="1434486" y="5021907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05720" y="5417656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الـحَـــلَـــقِــي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0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5" grpId="0" animBg="1"/>
      <p:bldP spid="1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173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12876" y="360167"/>
            <a:ext cx="1584176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0468" y="526053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232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3" grpId="0" animBg="1"/>
      <p:bldP spid="1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</a:rPr>
              <a:t>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ت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ُــرْسَــلُ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الـبــيـانـات إلـى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ولا يَــتِـمُّ قُــبُــولُـهـا إلا مـن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fr-FR" sz="48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الـمَـعْـنِي فـقـط</a:t>
            </a:r>
            <a:endParaRPr lang="fr-FR" sz="4800" dirty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02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18" name="Image 17" descr="F:\_Wrk\1. Courses\1ـ الـسـنـة الـدراسـيـة 2020 - 2021\الـمـجــال 1  - بــيـئـة الـتـعــامــل مــع الـحــاســوب\2ـ  الـدروس\_Files\Images INF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90496"/>
            <a:ext cx="10814992" cy="4358784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Espace réservé du contenu 21"/>
          <p:cNvSpPr txBox="1">
            <a:spLocks/>
          </p:cNvSpPr>
          <p:nvPr/>
        </p:nvSpPr>
        <p:spPr>
          <a:xfrm>
            <a:off x="911424" y="5072835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781945" y="546881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الـخَــطِـي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543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</a:rPr>
              <a:t>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ت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ُــرْسَــلُ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الـبــيـانـات إلـى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ولا يَــتِـمُّ قُــبُــولُـهـا إلا مـن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fr-FR" sz="48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الـمَـعْـنِي فـقـط</a:t>
            </a:r>
            <a:endParaRPr lang="fr-FR" sz="4800" dirty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87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</a:rPr>
              <a:t>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ت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ُــرْسَــلُ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الـبــيـانـات إلـى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ولا يَــتِـمُّ قُــبُــولُـهـا إلا مـن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fr-FR" sz="48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الـمَـعْـنِي فـقـط</a:t>
            </a:r>
            <a:endParaRPr lang="fr-FR" sz="4800" dirty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55304" y="2111784"/>
            <a:ext cx="4673624" cy="75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جـــمـــيــع الأجـــهـــزة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9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 en 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5951984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الــبَـــاصْ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3752" y="389808"/>
            <a:ext cx="1368152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</a:rPr>
              <a:t>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ت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ُــرْسَــلُ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الـبــيـانـات إلـى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ولا يَــتِـمُّ قُــبُــولُـهـا إلا مـن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</a:t>
            </a:r>
            <a:r>
              <a:rPr lang="fr-FR" sz="4800" baseline="-25000" dirty="0" smtClean="0">
                <a:solidFill>
                  <a:srgbClr val="002060"/>
                </a:solidFill>
                <a:cs typeface="+mj-cs"/>
              </a:rPr>
              <a:t>.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الـمَـعْـنِي فـقـط</a:t>
            </a:r>
            <a:endParaRPr lang="fr-FR" sz="4800" dirty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55304" y="2111784"/>
            <a:ext cx="4673624" cy="75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جـــمـــيــع الأجـــهـــزة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70076" y="3206192"/>
            <a:ext cx="2726928" cy="75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الـجـــهـــاز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31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60167"/>
            <a:ext cx="1872208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Anneau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─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تَــنْــتَــقِــلُ الــبَــيَــانَــات عــلـى مَـــدَارِ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في اتـجَـ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اهٍ وَاحِ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ـدٍ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بـحـيـ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ث الإِرْسَـ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الُ يَ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ـكُ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err="1" smtClean="0">
                <a:solidFill>
                  <a:srgbClr val="002060"/>
                </a:solidFill>
                <a:cs typeface="+mj-cs"/>
              </a:rPr>
              <a:t>ونُ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بِـ 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الـدَوْرِ</a:t>
            </a:r>
            <a:endParaRPr lang="fr-FR" sz="4800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3007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60167"/>
            <a:ext cx="1872208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Anneau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Ring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 2\Topologie img 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600202"/>
            <a:ext cx="10081120" cy="391703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5" name="Espace réservé du contenu 21"/>
          <p:cNvSpPr txBox="1">
            <a:spLocks/>
          </p:cNvSpPr>
          <p:nvPr/>
        </p:nvSpPr>
        <p:spPr>
          <a:xfrm>
            <a:off x="1434486" y="5021907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05720" y="5417656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الـحَـــلَـــقِــي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363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5" grpId="0" animBg="1"/>
      <p:bldP spid="16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60167"/>
            <a:ext cx="1872208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Anneau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─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تَــنْــتَــقِــلُ الــبَــيَــانَــات عــلـى مَـــدَارِ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في اتـجَـ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اهٍ وَاحِ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ـدٍ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بـحـيـ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ث الإِرْسَـ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الُ يَ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ـكُ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err="1" smtClean="0">
                <a:solidFill>
                  <a:srgbClr val="002060"/>
                </a:solidFill>
                <a:cs typeface="+mj-cs"/>
              </a:rPr>
              <a:t>ونُ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بِـ 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الـدَوْرِ</a:t>
            </a:r>
            <a:endParaRPr lang="fr-FR" sz="4800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771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60167"/>
            <a:ext cx="1872208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Anneau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─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تَــنْــتَــقِــلُ الــبَــيَــانَــات عــلـى مَـــدَارِ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في اتـجَـ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اهٍ وَاحِ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ـدٍ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بـحـيـ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ث الإِرْسَـ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الُ يَ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ـكُ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err="1" smtClean="0">
                <a:solidFill>
                  <a:srgbClr val="002060"/>
                </a:solidFill>
                <a:cs typeface="+mj-cs"/>
              </a:rPr>
              <a:t>ونُ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بِـ 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الـدَوْرِ</a:t>
            </a:r>
            <a:endParaRPr lang="fr-FR" sz="48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7986" y="2060848"/>
            <a:ext cx="2441944" cy="75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195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60167"/>
            <a:ext cx="1872208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Anneau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─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تَــنْــتَــقِــلُ الــبَــيَــانَــات عــلـى مَـــدَارِ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في اتـجَـ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اهٍ وَاحِ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ـدٍ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بـحـيـ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ث الإِرْسَـ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الُ يَ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ـكُ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ـ</a:t>
            </a:r>
            <a:r>
              <a:rPr lang="ar-SA" sz="4800" b="1" dirty="0" err="1" smtClean="0">
                <a:solidFill>
                  <a:srgbClr val="002060"/>
                </a:solidFill>
                <a:cs typeface="+mj-cs"/>
              </a:rPr>
              <a:t>ونُ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بِـ  </a:t>
            </a:r>
            <a:r>
              <a:rPr lang="ar-DZ" sz="48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SA" sz="48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SA" sz="4800" b="1" dirty="0">
                <a:solidFill>
                  <a:srgbClr val="002060"/>
                </a:solidFill>
                <a:cs typeface="+mj-cs"/>
              </a:rPr>
              <a:t>الـدَوْرِ</a:t>
            </a:r>
            <a:endParaRPr lang="fr-FR" sz="48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7986" y="2060848"/>
            <a:ext cx="2441944" cy="75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الـحَــلَــقَــة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20336" y="4257168"/>
            <a:ext cx="218531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تَـــبَـــادُلِ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95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طُــوبُــولُــوجْـــيَــا .................. 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…………….</a:t>
            </a:r>
            <a:r>
              <a:rPr lang="ar-DZ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051127" y="357691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12876" y="360167"/>
            <a:ext cx="1584176" cy="6205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  <a:endParaRPr lang="fr-FR" sz="3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lang="fr-FR" sz="2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1" descr="F:\_Wrk\1. Courses\1ـ الـسـنـة الـدراسـيـة 2020 - 2021\الـمـجــال 1  - بــيـئـة الـتـعــامــل مــع الـحــاســوب\2ـ  الـدروس\_Files\Images INF\LAN img 3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1" y="1437673"/>
            <a:ext cx="9937103" cy="40795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1199456" y="4949131"/>
            <a:ext cx="9165220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/>
              <a:t>الـتـصــمــيــم  أو  </a:t>
            </a:r>
            <a:r>
              <a:rPr lang="ar-DZ" sz="2800" b="1" dirty="0" smtClean="0"/>
              <a:t>الـتــشــكــيــل  ...................</a:t>
            </a:r>
            <a:endParaRPr lang="fr-FR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50468" y="5260537"/>
            <a:ext cx="2297360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18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3" grpId="0" animBg="1"/>
      <p:bldP spid="1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04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19936" y="2259938"/>
            <a:ext cx="4176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اِتِّــصَــال مَــرْكَــزِيَــة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10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19936" y="2259938"/>
            <a:ext cx="4176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اِتِّــصَــال مَــرْكَــزِيَــة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2259938"/>
            <a:ext cx="2344355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46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  <p:bldP spid="9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19936" y="2259938"/>
            <a:ext cx="4176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اِتِّــصَــال مَــرْكَــزِيَــة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2259938"/>
            <a:ext cx="2344355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13668" y="3069032"/>
            <a:ext cx="2365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الـمُــوَزِّع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76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  <p:bldP spid="9" grpId="0" animBg="1"/>
      <p:bldP spid="10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19936" y="2259938"/>
            <a:ext cx="4176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اِتِّــصَــال مَــرْكَــزِيَــة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2259938"/>
            <a:ext cx="2344355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13668" y="3069032"/>
            <a:ext cx="2365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الـمُــوَزِّع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5200" y="3698785"/>
            <a:ext cx="2168431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20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  <p:bldP spid="9" grpId="0" animBg="1"/>
      <p:bldP spid="10" grpId="0" animBg="1"/>
      <p:bldP spid="14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طُــوبُــولُــوجْــيَـا  ..................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Topologie</a:t>
            </a:r>
            <a:r>
              <a:rPr lang="fr-FR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en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……….…….</a:t>
            </a:r>
            <a:r>
              <a:rPr lang="ar-DZ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»</a:t>
            </a:r>
            <a:endParaRPr lang="fr-FR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22" name="Rectangle 21"/>
          <p:cNvSpPr/>
          <p:nvPr/>
        </p:nvSpPr>
        <p:spPr>
          <a:xfrm>
            <a:off x="6184722" y="357691"/>
            <a:ext cx="2417837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الــنَـجْــمَــة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75720" y="357512"/>
            <a:ext cx="2061616" cy="68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Etoile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340769"/>
            <a:ext cx="10959008" cy="4785398"/>
          </a:xfrm>
        </p:spPr>
        <p:txBody>
          <a:bodyPr>
            <a:normAutofit fontScale="55000" lnSpcReduction="20000"/>
          </a:bodyPr>
          <a:lstStyle/>
          <a:p>
            <a:pPr marL="0" indent="0" algn="r" rtl="1">
              <a:buNone/>
            </a:pPr>
            <a:endParaRPr lang="ar-DZ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5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نُـخَـصِّـصُ لِـكُــلِّ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سِـلْـك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ـوِي مُـ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سْـ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ـق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 لِـرَبْــطِــِ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بِـنُـ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قْ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ـطَـ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ة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 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r>
              <a:rPr lang="ar-SA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6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إرســال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الــبــيــانــات يــكــون إلـى تـلـك الـنــقــطــة : فــ </a:t>
            </a:r>
            <a:r>
              <a:rPr lang="ar-DZ" sz="64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يُــوصِــلُـهـا إلـى الـجـهــاز الـمـعــنـي وفــقــط، بــيــنــمـا يَــنْــقُـــلُــهـا </a:t>
            </a:r>
            <a:r>
              <a:rPr lang="ar-DZ" sz="6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 </a:t>
            </a:r>
            <a:r>
              <a:rPr lang="ar-DZ" sz="6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إلـى جـــمـــيــع الأجــهـــزة </a:t>
            </a:r>
            <a:endParaRPr lang="ar-DZ" sz="6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4400" dirty="0" smtClean="0">
              <a:solidFill>
                <a:srgbClr val="002060"/>
              </a:solidFill>
              <a:cs typeface="+mj-cs"/>
            </a:endParaRPr>
          </a:p>
          <a:p>
            <a:pPr marL="0" indent="0" algn="r" rtl="1">
              <a:buNone/>
            </a:pPr>
            <a:endParaRPr lang="ar-DZ" sz="1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85768" y="1484928"/>
            <a:ext cx="2125536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حــاســوب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519936" y="2259938"/>
            <a:ext cx="4176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اِتِّــصَــال مَــرْكَــزِيَــة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2259938"/>
            <a:ext cx="2344355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13668" y="3069032"/>
            <a:ext cx="2365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الـمُــوَزِّع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5200" y="3698785"/>
            <a:ext cx="2168431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الـمُـحَــوِّل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60296" y="5085184"/>
            <a:ext cx="2365464" cy="64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الـمُــوَزِّع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98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12" grpId="0" animBg="1"/>
      <p:bldP spid="13" grpId="0" animBg="1"/>
      <p:bldP spid="9" grpId="0" animBg="1"/>
      <p:bldP spid="10" grpId="0" animBg="1"/>
      <p:bldP spid="14" grpId="0" animBg="1"/>
      <p:bldP spid="1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3.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الـمــكــونـــات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الــمــاديــة للــشــبــكــة الـمـحــلــيــة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cs typeface="+mj-cs"/>
              </a:rPr>
              <a:t>مـا هـي مـكــونــات الــشــبــكــة الــمـحــلـيـة </a:t>
            </a:r>
            <a:r>
              <a:rPr lang="ar-DZ" sz="4800" b="1" dirty="0" smtClean="0">
                <a:cs typeface="+mj-cs"/>
              </a:rPr>
              <a:t>؟ 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70C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70C0"/>
                </a:solidFill>
                <a:cs typeface="+mj-cs"/>
              </a:rPr>
              <a:t>6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8436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C:\Users\Dual\Pictures\pc 2 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354930"/>
            <a:ext cx="9937104" cy="500142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2783632" y="4640787"/>
            <a:ext cx="7808416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cs typeface="+mj-cs"/>
              </a:rPr>
              <a:t>حــواســيــب  </a:t>
            </a:r>
            <a:r>
              <a:rPr lang="ar-DZ" sz="3600" b="1" dirty="0">
                <a:cs typeface="+mj-cs"/>
              </a:rPr>
              <a:t>( </a:t>
            </a:r>
            <a:r>
              <a:rPr lang="ar-DZ" sz="3600" b="1" dirty="0" smtClean="0">
                <a:cs typeface="+mj-cs"/>
              </a:rPr>
              <a:t>عـلى  الأقــل اثـنـين ) مُــزَوَّدة بـ  .................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3221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C:\Users\Dual\Pictures\pc 2 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354930"/>
            <a:ext cx="9937104" cy="500142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2783632" y="4640787"/>
            <a:ext cx="7808416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cs typeface="+mj-cs"/>
              </a:rPr>
              <a:t>حــواســيــب  </a:t>
            </a:r>
            <a:r>
              <a:rPr lang="ar-DZ" sz="3600" b="1" dirty="0">
                <a:cs typeface="+mj-cs"/>
              </a:rPr>
              <a:t>( </a:t>
            </a:r>
            <a:r>
              <a:rPr lang="ar-DZ" sz="3600" b="1" dirty="0" smtClean="0">
                <a:cs typeface="+mj-cs"/>
              </a:rPr>
              <a:t>عـلى  الأقــل اثـنـين ) مُــزَوَّدة بـ  .................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1515770"/>
            <a:ext cx="9176568" cy="320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019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C:\Users\Dual\Pictures\pc 2 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354930"/>
            <a:ext cx="9937104" cy="500142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2783632" y="4640787"/>
            <a:ext cx="7808416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cs typeface="+mj-cs"/>
              </a:rPr>
              <a:t>حــواســيــب  </a:t>
            </a:r>
            <a:r>
              <a:rPr lang="ar-DZ" sz="3600" b="1" dirty="0">
                <a:cs typeface="+mj-cs"/>
              </a:rPr>
              <a:t>( </a:t>
            </a:r>
            <a:r>
              <a:rPr lang="ar-DZ" sz="3600" b="1" dirty="0" smtClean="0">
                <a:cs typeface="+mj-cs"/>
              </a:rPr>
              <a:t>عـلى  الأقــل اثـنـين ) مُــزَوَّدة بـ  .................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35138" y="5344638"/>
            <a:ext cx="2713212" cy="661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بـطـاقـة الـشـبـكـة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1515770"/>
            <a:ext cx="9176568" cy="320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7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C:\Users\Dual\Pictures\pc 2 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354930"/>
            <a:ext cx="9937104" cy="500142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2783632" y="4640787"/>
            <a:ext cx="7808416" cy="152451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cs typeface="+mj-cs"/>
              </a:rPr>
              <a:t>حــواســيــب  </a:t>
            </a:r>
            <a:r>
              <a:rPr lang="ar-DZ" sz="3600" b="1" dirty="0">
                <a:cs typeface="+mj-cs"/>
              </a:rPr>
              <a:t>( </a:t>
            </a:r>
            <a:r>
              <a:rPr lang="ar-DZ" sz="3600" b="1" dirty="0" smtClean="0">
                <a:cs typeface="+mj-cs"/>
              </a:rPr>
              <a:t>عـلى  الأقــل اثـنـين ) مُــزَوَّدة بـ  .................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35138" y="5344638"/>
            <a:ext cx="2713212" cy="661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بـطـاقـة الـشـبـكـة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18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/>
          <p:cNvPicPr/>
          <p:nvPr/>
        </p:nvPicPr>
        <p:blipFill>
          <a:blip r:embed="rId2"/>
          <a:stretch>
            <a:fillRect/>
          </a:stretch>
        </p:blipFill>
        <p:spPr>
          <a:xfrm>
            <a:off x="983432" y="1484783"/>
            <a:ext cx="10081120" cy="4871569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1435708" y="5445223"/>
            <a:ext cx="9320584" cy="91112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Câbles à Paires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Torsadées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04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/>
          <p:cNvPicPr/>
          <p:nvPr/>
        </p:nvPicPr>
        <p:blipFill>
          <a:blip r:embed="rId2"/>
          <a:stretch>
            <a:fillRect/>
          </a:stretch>
        </p:blipFill>
        <p:spPr>
          <a:xfrm>
            <a:off x="983432" y="1484783"/>
            <a:ext cx="10081120" cy="4871569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1435708" y="5457320"/>
            <a:ext cx="9320584" cy="98313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Câbles à Paires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Torsadées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32104" y="5560571"/>
            <a:ext cx="3384376" cy="661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أَسْــلاَك مُــلْــتَــوِيَــة</a:t>
            </a:r>
            <a:endParaRPr lang="fr-FR" sz="3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60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4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356804" y="5005912"/>
            <a:ext cx="9320584" cy="143716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 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Connecteurs RJ 45 </a:t>
            </a:r>
            <a:endParaRPr lang="fr-F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99" y="2231726"/>
            <a:ext cx="3086531" cy="235300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760" y="1594253"/>
            <a:ext cx="3009524" cy="299047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940" y="1523749"/>
            <a:ext cx="3420858" cy="307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3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356804" y="5005912"/>
            <a:ext cx="9320584" cy="143716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 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Connecteurs RJ 45 </a:t>
            </a:r>
            <a:endParaRPr lang="fr-F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44072" y="5396089"/>
            <a:ext cx="3384376" cy="661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وَصْــلَات مِـنْ نَــوْعِ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99" y="2231726"/>
            <a:ext cx="3086531" cy="235300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760" y="1594253"/>
            <a:ext cx="3009524" cy="299047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940" y="1523749"/>
            <a:ext cx="3420858" cy="307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1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 2\Connecteur RJ 45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536" y="1459061"/>
            <a:ext cx="9871992" cy="3770139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356804" y="5319353"/>
            <a:ext cx="9320584" cy="122413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Connecteurs RJ 45 </a:t>
            </a:r>
            <a:endParaRPr lang="fr-F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44072" y="5486242"/>
            <a:ext cx="3384376" cy="661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وَصْــلَات مِـنْ نَــوْعِ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93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/>
          <p:nvPr/>
        </p:nvPicPr>
        <p:blipFill>
          <a:blip r:embed="rId2"/>
          <a:stretch>
            <a:fillRect/>
          </a:stretch>
        </p:blipFill>
        <p:spPr>
          <a:xfrm>
            <a:off x="1127449" y="1354929"/>
            <a:ext cx="9505056" cy="4771237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127449" y="5453409"/>
            <a:ext cx="9320584" cy="112157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Pince à Sertir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58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/>
          <p:nvPr/>
        </p:nvPicPr>
        <p:blipFill>
          <a:blip r:embed="rId2"/>
          <a:stretch>
            <a:fillRect/>
          </a:stretch>
        </p:blipFill>
        <p:spPr>
          <a:xfrm>
            <a:off x="1127449" y="1354929"/>
            <a:ext cx="9505056" cy="4771237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127449" y="5453409"/>
            <a:ext cx="9320584" cy="112157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............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Pince à Sertir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75920" y="5628142"/>
            <a:ext cx="4398121" cy="66153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آَلَــة الـضَـغْــط أو الـكَــبْــسِ</a:t>
            </a:r>
            <a:endParaRPr lang="fr-FR" sz="3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25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7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 descr="F:\_Wrk\1. Courses\1ـ الـسـنـة الـدراسـيـة 2020 - 2021\الـمـجــال 1  - بــيـئـة الـتـعــامــل مــع الـحــاســوب\2ـ  الـدروس\_Files\Images INF\Switch 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1484784"/>
            <a:ext cx="9721080" cy="4506444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1118667" y="5481514"/>
            <a:ext cx="9320584" cy="105514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dirty="0" smtClean="0">
                <a:latin typeface="Times New Roman" panose="02020603050405020304" pitchFamily="18" charset="0"/>
                <a:cs typeface="+mj-cs"/>
              </a:rPr>
              <a:t>.......</a:t>
            </a:r>
            <a:r>
              <a:rPr lang="fr-FR" dirty="0" smtClean="0">
                <a:latin typeface="Times New Roman" panose="02020603050405020304" pitchFamily="18" charset="0"/>
                <a:cs typeface="+mj-cs"/>
              </a:rPr>
              <a:t>.......</a:t>
            </a:r>
            <a:r>
              <a:rPr lang="ar-DZ" dirty="0" smtClean="0">
                <a:latin typeface="Times New Roman" panose="02020603050405020304" pitchFamily="18" charset="0"/>
                <a:cs typeface="+mj-cs"/>
              </a:rPr>
              <a:t>............</a:t>
            </a:r>
            <a:r>
              <a:rPr lang="fr-FR" dirty="0" smtClean="0">
                <a:latin typeface="Times New Roman" panose="02020603050405020304" pitchFamily="18" charset="0"/>
                <a:cs typeface="+mj-cs"/>
              </a:rPr>
              <a:t> </a:t>
            </a:r>
            <a:r>
              <a:rPr lang="en-US" sz="4000" b="1" dirty="0" smtClean="0">
                <a:cs typeface="+mj-cs"/>
              </a:rPr>
              <a:t>Switch</a:t>
            </a:r>
            <a:r>
              <a:rPr lang="fr-FR" sz="4000" b="1" dirty="0">
                <a:cs typeface="+mj-cs"/>
              </a:rPr>
              <a:t> 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6038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 descr="F:\_Wrk\1. Courses\1ـ الـسـنـة الـدراسـيـة 2020 - 2021\الـمـجــال 1  - بــيـئـة الـتـعــامــل مــع الـحــاســوب\2ـ  الـدروس\_Files\Images INF\Switch 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1484784"/>
            <a:ext cx="9721080" cy="4506444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1118667" y="5517232"/>
            <a:ext cx="9320584" cy="10801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dirty="0" smtClean="0">
                <a:latin typeface="Times New Roman" panose="02020603050405020304" pitchFamily="18" charset="0"/>
                <a:cs typeface="+mj-cs"/>
              </a:rPr>
              <a:t>.......</a:t>
            </a:r>
            <a:r>
              <a:rPr lang="fr-FR" dirty="0" smtClean="0">
                <a:latin typeface="Times New Roman" panose="02020603050405020304" pitchFamily="18" charset="0"/>
                <a:cs typeface="+mj-cs"/>
              </a:rPr>
              <a:t>.......</a:t>
            </a:r>
            <a:r>
              <a:rPr lang="ar-DZ" dirty="0" smtClean="0">
                <a:latin typeface="Times New Roman" panose="02020603050405020304" pitchFamily="18" charset="0"/>
                <a:cs typeface="+mj-cs"/>
              </a:rPr>
              <a:t>............</a:t>
            </a:r>
            <a:r>
              <a:rPr lang="fr-FR" dirty="0" smtClean="0">
                <a:latin typeface="Times New Roman" panose="02020603050405020304" pitchFamily="18" charset="0"/>
                <a:cs typeface="+mj-cs"/>
              </a:rPr>
              <a:t> </a:t>
            </a:r>
            <a:r>
              <a:rPr lang="en-US" sz="4000" b="1" dirty="0" smtClean="0">
                <a:cs typeface="+mj-cs"/>
              </a:rPr>
              <a:t>Switch</a:t>
            </a:r>
            <a:r>
              <a:rPr lang="fr-FR" sz="4000" b="1" dirty="0">
                <a:cs typeface="+mj-cs"/>
              </a:rPr>
              <a:t> 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59896" y="5661328"/>
            <a:ext cx="2188967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الـمُــحَ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ــوِّل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72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4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\Router img 8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667" y="1340768"/>
            <a:ext cx="9729861" cy="5030737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343472" y="6093296"/>
            <a:ext cx="9320584" cy="64807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dirty="0" smtClean="0">
                <a:latin typeface="Times New Roman" panose="02020603050405020304" pitchFamily="18" charset="0"/>
                <a:cs typeface="+mj-cs"/>
              </a:rPr>
              <a:t>.................</a:t>
            </a:r>
            <a:r>
              <a:rPr lang="fr-FR" sz="2800" dirty="0" smtClean="0">
                <a:latin typeface="Times New Roman" panose="02020603050405020304" pitchFamily="18" charset="0"/>
                <a:cs typeface="+mj-cs"/>
              </a:rPr>
              <a:t>.......</a:t>
            </a:r>
            <a:r>
              <a:rPr lang="ar-DZ" sz="2800" dirty="0" smtClean="0">
                <a:latin typeface="Times New Roman" panose="02020603050405020304" pitchFamily="18" charset="0"/>
                <a:cs typeface="+mj-cs"/>
              </a:rPr>
              <a:t>......</a:t>
            </a:r>
            <a:r>
              <a:rPr lang="fr-FR" sz="2800" dirty="0" smtClean="0">
                <a:latin typeface="Times New Roman" panose="02020603050405020304" pitchFamily="18" charset="0"/>
                <a:cs typeface="+mj-cs"/>
              </a:rPr>
              <a:t> </a:t>
            </a:r>
            <a:r>
              <a:rPr lang="en-US" sz="4000" b="1" dirty="0"/>
              <a:t>Router</a:t>
            </a:r>
            <a:r>
              <a:rPr lang="fr-FR" sz="4000" b="1" dirty="0" smtClean="0">
                <a:cs typeface="+mj-cs"/>
              </a:rPr>
              <a:t> 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4686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الـمـكــونــات الـمــاديـة لـشــبــكــة مـحــلــيــة الـتـشـكـيـل الـنـجــمـي</a:t>
            </a:r>
            <a:endParaRPr lang="fr-FR" sz="3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609600" y="1277345"/>
            <a:ext cx="10972800" cy="48488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 descr="F:\_Wrk\1. Courses\1ـ الـسـنـة الـدراسـيـة 2020 - 2021\الـمـجــال 1  - بــيـئـة الـتـعــامــل مــع الـحــاســوب\2ـ  الـدروس\_Files\Images INF\Router img 8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667" y="1340768"/>
            <a:ext cx="9729861" cy="5030737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1343472" y="5517232"/>
            <a:ext cx="9320584" cy="100811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2800" dirty="0" smtClean="0">
                <a:latin typeface="Times New Roman" panose="02020603050405020304" pitchFamily="18" charset="0"/>
                <a:cs typeface="+mj-cs"/>
              </a:rPr>
              <a:t>.................</a:t>
            </a:r>
            <a:r>
              <a:rPr lang="fr-FR" sz="2800" dirty="0" smtClean="0">
                <a:latin typeface="Times New Roman" panose="02020603050405020304" pitchFamily="18" charset="0"/>
                <a:cs typeface="+mj-cs"/>
              </a:rPr>
              <a:t>.......</a:t>
            </a:r>
            <a:r>
              <a:rPr lang="ar-DZ" sz="2800" dirty="0" smtClean="0">
                <a:latin typeface="Times New Roman" panose="02020603050405020304" pitchFamily="18" charset="0"/>
                <a:cs typeface="+mj-cs"/>
              </a:rPr>
              <a:t>......</a:t>
            </a:r>
            <a:r>
              <a:rPr lang="fr-FR" sz="2800" dirty="0" smtClean="0">
                <a:latin typeface="Times New Roman" panose="02020603050405020304" pitchFamily="18" charset="0"/>
                <a:cs typeface="+mj-cs"/>
              </a:rPr>
              <a:t> </a:t>
            </a:r>
            <a:r>
              <a:rPr lang="en-US" sz="4000" b="1" dirty="0"/>
              <a:t>Router</a:t>
            </a:r>
            <a:r>
              <a:rPr lang="fr-FR" sz="4000" b="1" dirty="0" smtClean="0">
                <a:cs typeface="+mj-cs"/>
              </a:rPr>
              <a:t> 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29338" y="5805344"/>
            <a:ext cx="2350838" cy="72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الــمُــوَجِّــــه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19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4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إعـــداد  الــشـــبـــكــة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الـمـحــلــيــة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/>
              <a:t>لـمـاذا لا يـكـفـي تـوصــيـل الــمـكــونــات الــمــاديــة للــشــبــكــة للاســتــفـــادة مــنـهــا ؟ فــكــيــف يَــتِــمُّ إِعْـــدَادُ الــشــبــكــة </a:t>
            </a:r>
            <a:r>
              <a:rPr lang="ar-DZ" sz="4800" b="1" dirty="0" smtClean="0"/>
              <a:t>؟ </a:t>
            </a:r>
            <a:endParaRPr lang="ar-DZ" sz="4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70C0"/>
                </a:solidFill>
                <a:cs typeface="+mj-cs"/>
              </a:rPr>
              <a:t>نـشــاط </a:t>
            </a:r>
            <a:r>
              <a:rPr lang="ar-DZ" sz="5400" b="1" u="sng" dirty="0">
                <a:solidFill>
                  <a:srgbClr val="0070C0"/>
                </a:solidFill>
                <a:cs typeface="+mj-cs"/>
              </a:rPr>
              <a:t>7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1502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بــعــد ربــط الأجـهــزة فــيــزيـــائـــيًــا ( مَـــادِيًـــا ) والـتـــأكُّـــد مـن حــســن تـوصــيــلـهـا نَــعْـــمَـــدُ إلــى 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ربــط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مَــنْــطِــقِـــيًـــا بِـضَــمِّـهـا فـي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4400" b="1" dirty="0" smtClean="0">
                <a:solidFill>
                  <a:srgbClr val="002060"/>
                </a:solidFill>
                <a:cs typeface="+mj-cs"/>
              </a:rPr>
              <a:t>Workgroup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 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واحـــدة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83139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en-US" sz="4400" b="1" dirty="0">
                <a:solidFill>
                  <a:srgbClr val="00B050"/>
                </a:solidFill>
              </a:rPr>
              <a:t>Workgroup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B050"/>
                </a:solidFill>
              </a:rPr>
              <a:t>واحـــدة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وَتَـعْــرِيــفِ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كُــلِّ حَــاسُــوبٍ 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en-US" sz="4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adresse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IP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8844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وذلـك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لـتـحــقــيــق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الـحــواســيــب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لــنــفــس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وتَــمْـهِــيـــدًا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لاســتــغـــلال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فــيـهـا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887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تـجــمــيـع مـكـونـات الـحـاسـوب كـافـيـا للاسـتـفــادة مـنـه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مــكــونــاتــه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خــدمــات الـحــاســوب 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71327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 الـبـرامـج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519783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273818" y="4382445"/>
            <a:ext cx="4438806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CPU, RAM, HDD, Clavier, Souris, Ecran ...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398990"/>
            <a:ext cx="4159144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Windows</a:t>
            </a:r>
          </a:p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Word, Excel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5494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تـجــمــيـع مـكـونـات الـحـاسـوب كـافـيـا للاسـتـفــادة مـنـه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تـجـمـيـع مــكــونــات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ـه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خــدمــات الـحــاســوب 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71327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............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الـبـرامـج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519783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273818" y="4382445"/>
            <a:ext cx="4438806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CPU, RAM, HDD, Clavier, Souris, Ecran ...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398990"/>
            <a:ext cx="4159144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Windows</a:t>
            </a:r>
          </a:p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Word, Excel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9370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تـجــمــيـع مـكـونـات الـحـاسـوب كـافـيـا للاسـتـفــادة مـنـه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تـجـمـيـع مــكــونــات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ـه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خــدمــات الـحــاســوب 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71327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إعـــداد الـبـرامـج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519783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7273818" y="4382445"/>
            <a:ext cx="4438806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CPU, RAM, HDD, Clavier, Souris, Ecran ...</a:t>
            </a:r>
            <a:endParaRPr lang="fr-FR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9" y="4398990"/>
            <a:ext cx="4159144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Windows</a:t>
            </a:r>
          </a:p>
          <a:p>
            <a:pPr marL="0" indent="0" algn="ctr" rtl="1"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Word, Excel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04791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تـوصـيـل مـكـونـات الــشــبـكـة كـافـيـا للاسـتـفــادة مـنـهـا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 مـكـونـاتـهـا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مــزايــا </a:t>
            </a:r>
            <a:r>
              <a:rPr lang="ar-DZ" sz="4000" b="1" dirty="0">
                <a:solidFill>
                  <a:srgbClr val="FF0000"/>
                </a:solidFill>
              </a:rPr>
              <a:t>الــشــبـكـة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 الـشــبــكــة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6600056" y="4382445"/>
            <a:ext cx="5112568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PC, </a:t>
            </a:r>
            <a:r>
              <a:rPr lang="fr-FR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âbles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, Connecteurs RJ 45 , Switch, Router…</a:t>
            </a:r>
            <a:endParaRPr lang="fr-FR" sz="3000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8" y="4398990"/>
            <a:ext cx="4406281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WORKGROUP</a:t>
            </a:r>
          </a:p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Adresses IP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827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تـوصـيـل مـكـونـات الــشــبـكـة كـافـيـا للاسـتـفــادة مـنـهـا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تـوصـيـل مـكـونـاتـهـا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مــزايــا </a:t>
            </a:r>
            <a:r>
              <a:rPr lang="ar-DZ" sz="4000" b="1" dirty="0">
                <a:solidFill>
                  <a:srgbClr val="FF0000"/>
                </a:solidFill>
              </a:rPr>
              <a:t>الــشــبـكـة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..........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الـشــبــكــة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6600056" y="4382445"/>
            <a:ext cx="5112568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PC, </a:t>
            </a:r>
            <a:r>
              <a:rPr lang="fr-FR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âbles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, Connecteurs RJ 45 , Switch, Router…</a:t>
            </a:r>
            <a:endParaRPr lang="fr-FR" sz="3000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8" y="4398990"/>
            <a:ext cx="4406281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WORKGROUP</a:t>
            </a:r>
          </a:p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Adresses IP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1588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تـوصـيـل مـكـونـات الــشــبـكـة كـافـيـا للاسـتـفــادة مـنـهـا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تـوصـيـل مـكـونـاتـهـا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مــزايــا </a:t>
            </a:r>
            <a:r>
              <a:rPr lang="ar-DZ" sz="4000" b="1" dirty="0">
                <a:solidFill>
                  <a:srgbClr val="FF0000"/>
                </a:solidFill>
              </a:rPr>
              <a:t>الــشــبـكـة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إعـــداد الـشــبــكــة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6600056" y="4382445"/>
            <a:ext cx="5112568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PC, </a:t>
            </a:r>
            <a:r>
              <a:rPr lang="fr-FR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âbles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, Connecteurs RJ 45 , Switch, Router…</a:t>
            </a:r>
            <a:endParaRPr lang="fr-FR" sz="3000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8" y="4398990"/>
            <a:ext cx="4406281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WORKGROUP</a:t>
            </a:r>
          </a:p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Adresses IP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67550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تـوصـيـل مـكـونـات الــشــبـكـة كـافـيـا للاسـتـفــادة مـنـهـا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تـوصـيـل مـكـونـاتـهـا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مــزايــا </a:t>
            </a:r>
            <a:r>
              <a:rPr lang="ar-DZ" sz="4000" b="1" dirty="0">
                <a:solidFill>
                  <a:srgbClr val="FF0000"/>
                </a:solidFill>
              </a:rPr>
              <a:t>الــشــبـكـة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إعـــداد الـشــبــكــة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6600056" y="4382445"/>
            <a:ext cx="5112568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PC, </a:t>
            </a:r>
            <a:r>
              <a:rPr lang="fr-FR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âbles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, Connecteurs RJ 45 , Switch, Router…</a:t>
            </a:r>
            <a:endParaRPr lang="fr-FR" sz="3000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8" y="4398990"/>
            <a:ext cx="4406281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WORKGROUP</a:t>
            </a:r>
          </a:p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Adresses IP 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6662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اســم </a:t>
            </a:r>
            <a:r>
              <a:rPr lang="ar-DZ" sz="3200" b="1" dirty="0" smtClean="0">
                <a:solidFill>
                  <a:srgbClr val="FF0000"/>
                </a:solidFill>
              </a:rPr>
              <a:t>الــشـبـكـة  </a:t>
            </a:r>
            <a:r>
              <a:rPr lang="fr-FR" sz="3200" b="1" dirty="0" err="1" smtClean="0">
                <a:solidFill>
                  <a:srgbClr val="FF0000"/>
                </a:solidFill>
              </a:rPr>
              <a:t>workgroup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 ؟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50" y="274638"/>
            <a:ext cx="10814992" cy="6446840"/>
          </a:xfrm>
        </p:spPr>
      </p:pic>
    </p:spTree>
    <p:extLst>
      <p:ext uri="{BB962C8B-B14F-4D97-AF65-F5344CB8AC3E}">
        <p14:creationId xmlns:p14="http://schemas.microsoft.com/office/powerpoint/2010/main" val="92063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اســم </a:t>
            </a:r>
            <a:r>
              <a:rPr lang="ar-DZ" sz="3200" b="1" dirty="0" smtClean="0">
                <a:solidFill>
                  <a:srgbClr val="FF0000"/>
                </a:solidFill>
              </a:rPr>
              <a:t>الــشـبـكـة  </a:t>
            </a:r>
            <a:r>
              <a:rPr lang="fr-FR" sz="3200" b="1" dirty="0" err="1" smtClean="0">
                <a:solidFill>
                  <a:srgbClr val="FF0000"/>
                </a:solidFill>
              </a:rPr>
              <a:t>workgroup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 ؟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0814991" cy="6446840"/>
          </a:xfrm>
        </p:spPr>
      </p:pic>
    </p:spTree>
    <p:extLst>
      <p:ext uri="{BB962C8B-B14F-4D97-AF65-F5344CB8AC3E}">
        <p14:creationId xmlns:p14="http://schemas.microsoft.com/office/powerpoint/2010/main" val="183340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اســم </a:t>
            </a:r>
            <a:r>
              <a:rPr lang="ar-DZ" sz="3200" b="1" dirty="0" smtClean="0">
                <a:solidFill>
                  <a:srgbClr val="FF0000"/>
                </a:solidFill>
              </a:rPr>
              <a:t>الــشـبـكـة  </a:t>
            </a:r>
            <a:r>
              <a:rPr lang="fr-FR" sz="3200" b="1" dirty="0" err="1" smtClean="0">
                <a:solidFill>
                  <a:srgbClr val="FF0000"/>
                </a:solidFill>
              </a:rPr>
              <a:t>workgroup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 ؟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0814991" cy="6446840"/>
          </a:xfrm>
        </p:spPr>
      </p:pic>
    </p:spTree>
    <p:extLst>
      <p:ext uri="{BB962C8B-B14F-4D97-AF65-F5344CB8AC3E}">
        <p14:creationId xmlns:p14="http://schemas.microsoft.com/office/powerpoint/2010/main" val="381460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اســم </a:t>
            </a:r>
            <a:r>
              <a:rPr lang="ar-DZ" sz="3200" b="1" dirty="0" smtClean="0">
                <a:solidFill>
                  <a:srgbClr val="FF0000"/>
                </a:solidFill>
              </a:rPr>
              <a:t>الــشـبـكـة  </a:t>
            </a:r>
            <a:r>
              <a:rPr lang="fr-FR" sz="3200" b="1" dirty="0" err="1" smtClean="0">
                <a:solidFill>
                  <a:srgbClr val="FF0000"/>
                </a:solidFill>
              </a:rPr>
              <a:t>workgroup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 ؟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0814991" cy="6446840"/>
          </a:xfrm>
        </p:spPr>
      </p:pic>
    </p:spTree>
    <p:extLst>
      <p:ext uri="{BB962C8B-B14F-4D97-AF65-F5344CB8AC3E}">
        <p14:creationId xmlns:p14="http://schemas.microsoft.com/office/powerpoint/2010/main" val="428982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اســم </a:t>
            </a:r>
            <a:r>
              <a:rPr lang="ar-DZ" sz="3200" b="1" dirty="0" smtClean="0">
                <a:solidFill>
                  <a:srgbClr val="FF0000"/>
                </a:solidFill>
              </a:rPr>
              <a:t>الــشـبـكـة  </a:t>
            </a:r>
            <a:r>
              <a:rPr lang="fr-FR" sz="3200" b="1" dirty="0" err="1" smtClean="0">
                <a:solidFill>
                  <a:srgbClr val="FF0000"/>
                </a:solidFill>
              </a:rPr>
              <a:t>workgroup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 ؟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0814991" cy="6446840"/>
          </a:xfrm>
        </p:spPr>
      </p:pic>
    </p:spTree>
    <p:extLst>
      <p:ext uri="{BB962C8B-B14F-4D97-AF65-F5344CB8AC3E}">
        <p14:creationId xmlns:p14="http://schemas.microsoft.com/office/powerpoint/2010/main" val="337879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هــل تـوصـيـل مـكـونـات الــشــبـكـة كـافـيـا للاسـتـفــادة مـنـهـا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08168" y="3544440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تـوصـيـل مـكـونـاتـهـا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" y="1699119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الاسـتــفــادة مـن مــزايــا </a:t>
            </a:r>
            <a:r>
              <a:rPr lang="ar-DZ" sz="4000" b="1" dirty="0">
                <a:solidFill>
                  <a:srgbClr val="FF0000"/>
                </a:solidFill>
              </a:rPr>
              <a:t>الــشــبـكـة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يـكـون بـ :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3422" y="3544440"/>
            <a:ext cx="368237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إعـــداد الـشــبــكــة</a:t>
            </a:r>
            <a:endParaRPr lang="fr-FR" sz="38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743" y="4158435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Connecteur droit avec flèche 14"/>
          <p:cNvCxnSpPr>
            <a:endCxn id="18" idx="3"/>
          </p:cNvCxnSpPr>
          <p:nvPr/>
        </p:nvCxnSpPr>
        <p:spPr>
          <a:xfrm flipH="1">
            <a:off x="4295800" y="2492896"/>
            <a:ext cx="1502198" cy="14484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6" idx="1"/>
          </p:cNvCxnSpPr>
          <p:nvPr/>
        </p:nvCxnSpPr>
        <p:spPr>
          <a:xfrm>
            <a:off x="6168008" y="2477137"/>
            <a:ext cx="1440160" cy="14641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space réservé du contenu 21"/>
          <p:cNvSpPr txBox="1">
            <a:spLocks/>
          </p:cNvSpPr>
          <p:nvPr/>
        </p:nvSpPr>
        <p:spPr>
          <a:xfrm>
            <a:off x="6600056" y="4382445"/>
            <a:ext cx="5112568" cy="2339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PC, </a:t>
            </a:r>
            <a:r>
              <a:rPr lang="fr-FR" sz="3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âbles</a:t>
            </a:r>
            <a:r>
              <a:rPr lang="fr-FR" sz="3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, Connecteurs RJ 45 , Switch, Router…</a:t>
            </a:r>
            <a:endParaRPr lang="fr-FR" sz="3000" dirty="0"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598" y="4398990"/>
            <a:ext cx="4406281" cy="2126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WORKGROUP</a:t>
            </a:r>
          </a:p>
          <a:p>
            <a:pPr algn="ctr"/>
            <a:r>
              <a:rPr lang="fr-FR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Adresses IP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28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47275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3" grpId="0" animBg="1"/>
      <p:bldP spid="18" grpId="0" animBg="1"/>
      <p:bldP spid="31" grpId="0" animBg="1"/>
      <p:bldP spid="14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: كـيـف يـتـم تـحـديــد أرقــام الـحـواســي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ـ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ـب </a:t>
            </a:r>
            <a:r>
              <a:rPr lang="fr-FR" sz="3600" b="1" dirty="0" smtClean="0">
                <a:solidFill>
                  <a:srgbClr val="00B0F0"/>
                </a:solidFill>
                <a:cs typeface="+mj-cs"/>
              </a:rPr>
              <a:t>@IP</a:t>
            </a:r>
            <a:r>
              <a:rPr lang="ar-DZ" sz="3600" b="1" dirty="0" smtClean="0">
                <a:solidFill>
                  <a:srgbClr val="00B0F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فـي الــشـبـكـة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3" name="Rectangle 12"/>
          <p:cNvSpPr/>
          <p:nvPr/>
        </p:nvSpPr>
        <p:spPr>
          <a:xfrm>
            <a:off x="609600" y="1268760"/>
            <a:ext cx="108149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تـحــديــد رقــم حـــاســوب </a:t>
            </a:r>
            <a:r>
              <a:rPr lang="fr-FR" sz="4000" b="1" dirty="0">
                <a:solidFill>
                  <a:srgbClr val="0070C0"/>
                </a:solidFill>
                <a:cs typeface="+mj-cs"/>
              </a:rPr>
              <a:t>@IP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 فـي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الــشـبـكـة يـكـون كـالـتـالـي : </a:t>
            </a:r>
            <a:endParaRPr lang="fr-FR" sz="4000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2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58" y="2708920"/>
            <a:ext cx="2505075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1124744"/>
            <a:ext cx="11928648" cy="559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9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88640"/>
            <a:ext cx="10814992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2800" b="1" dirty="0">
                <a:solidFill>
                  <a:srgbClr val="0070C0"/>
                </a:solidFill>
                <a:cs typeface="+mj-cs"/>
              </a:rPr>
              <a:t>تـحــديــد رقــم حـــاســوب </a:t>
            </a:r>
            <a:r>
              <a:rPr lang="fr-FR" sz="2800" b="1" dirty="0">
                <a:solidFill>
                  <a:srgbClr val="0070C0"/>
                </a:solidFill>
                <a:cs typeface="+mj-cs"/>
              </a:rPr>
              <a:t>@IP</a:t>
            </a:r>
            <a:r>
              <a:rPr lang="ar-DZ" sz="2800" b="1" dirty="0">
                <a:solidFill>
                  <a:srgbClr val="0070C0"/>
                </a:solidFill>
                <a:cs typeface="+mj-cs"/>
              </a:rPr>
              <a:t> فـي الــشـبـكـة يـكـون </a:t>
            </a: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كـالـتـالـي :</a:t>
            </a:r>
            <a:endParaRPr lang="fr-FR" sz="2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8640"/>
            <a:ext cx="10814991" cy="6532838"/>
          </a:xfrm>
        </p:spPr>
      </p:pic>
    </p:spTree>
    <p:extLst>
      <p:ext uri="{BB962C8B-B14F-4D97-AF65-F5344CB8AC3E}">
        <p14:creationId xmlns:p14="http://schemas.microsoft.com/office/powerpoint/2010/main" val="202489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88640"/>
            <a:ext cx="10814992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2800" b="1" dirty="0">
                <a:solidFill>
                  <a:srgbClr val="0070C0"/>
                </a:solidFill>
                <a:cs typeface="+mj-cs"/>
              </a:rPr>
              <a:t>تـحــديــد رقــم حـــاســوب </a:t>
            </a:r>
            <a:r>
              <a:rPr lang="fr-FR" sz="2800" b="1" dirty="0">
                <a:solidFill>
                  <a:srgbClr val="0070C0"/>
                </a:solidFill>
                <a:cs typeface="+mj-cs"/>
              </a:rPr>
              <a:t>@IP</a:t>
            </a:r>
            <a:r>
              <a:rPr lang="ar-DZ" sz="2800" b="1" dirty="0">
                <a:solidFill>
                  <a:srgbClr val="0070C0"/>
                </a:solidFill>
                <a:cs typeface="+mj-cs"/>
              </a:rPr>
              <a:t> فـي الــشـبـكـة يـكـون </a:t>
            </a: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كـالـتـالـي :</a:t>
            </a:r>
            <a:endParaRPr lang="fr-FR" sz="2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8640"/>
            <a:ext cx="10814991" cy="6532838"/>
          </a:xfrm>
        </p:spPr>
      </p:pic>
    </p:spTree>
    <p:extLst>
      <p:ext uri="{BB962C8B-B14F-4D97-AF65-F5344CB8AC3E}">
        <p14:creationId xmlns:p14="http://schemas.microsoft.com/office/powerpoint/2010/main" val="228391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88640"/>
            <a:ext cx="10814992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rtl="1"/>
            <a:r>
              <a:rPr lang="ar-DZ" sz="2800" b="1" dirty="0">
                <a:solidFill>
                  <a:srgbClr val="0070C0"/>
                </a:solidFill>
                <a:cs typeface="+mj-cs"/>
              </a:rPr>
              <a:t>تـحــديــد رقــم حـــاســوب </a:t>
            </a:r>
            <a:r>
              <a:rPr lang="fr-FR" sz="2800" b="1" dirty="0">
                <a:solidFill>
                  <a:srgbClr val="0070C0"/>
                </a:solidFill>
                <a:cs typeface="+mj-cs"/>
              </a:rPr>
              <a:t>@IP</a:t>
            </a:r>
            <a:r>
              <a:rPr lang="ar-DZ" sz="2800" b="1" dirty="0">
                <a:solidFill>
                  <a:srgbClr val="0070C0"/>
                </a:solidFill>
                <a:cs typeface="+mj-cs"/>
              </a:rPr>
              <a:t> فـي الــشـبـكـة يـكـون </a:t>
            </a: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كـالـتـالـي :</a:t>
            </a:r>
            <a:endParaRPr lang="fr-FR" sz="2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8640"/>
            <a:ext cx="10814991" cy="6532838"/>
          </a:xfrm>
        </p:spPr>
      </p:pic>
    </p:spTree>
    <p:extLst>
      <p:ext uri="{BB962C8B-B14F-4D97-AF65-F5344CB8AC3E}">
        <p14:creationId xmlns:p14="http://schemas.microsoft.com/office/powerpoint/2010/main" val="307002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بــعــد ربــط الأجـهــزة فــيــزيـــائـــيًــا ( مَـــادِيًـــا ) والـتـــأكُّـــد مـن حــســن تـوصــيــلـهـا نَــعْـــمَـــدُ إلــى 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ربــط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مَــنْــطِــقِـــيًـــا بِـضَــمِّـهـا فـي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4400" b="1" dirty="0" smtClean="0">
                <a:solidFill>
                  <a:srgbClr val="002060"/>
                </a:solidFill>
                <a:cs typeface="+mj-cs"/>
              </a:rPr>
              <a:t>Workgroup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 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واحـــدة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9449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بــعــد ربــط الأجـهــزة فــيــزيـــائـــيًــا ( مَـــادِيًـــا ) والـتـــأكُّـــد مـن حــســن تـوصــيــلـهـا نَــعْـــمَـــدُ إلــى 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ربــط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مَــنْــطِــقِـــيًـــا بِـضَــمِّـهـا فـي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4400" b="1" dirty="0" smtClean="0">
                <a:solidFill>
                  <a:srgbClr val="002060"/>
                </a:solidFill>
                <a:cs typeface="+mj-cs"/>
              </a:rPr>
              <a:t>Workgroup</a:t>
            </a:r>
            <a:r>
              <a:rPr lang="fr-FR" sz="44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 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واحـــدة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28048" y="3831904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الـحـواســيــب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9111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+mj-cs"/>
              </a:rPr>
              <a:t>بــعــد ربــط الأجـهــزة فــيــزيـــائـــيًــا ( مَـــادِيًـــا ) والـتـــأكُّـــد مـن حــســن تـوصــيــلـهـا نَــعْـــمَـــدُ إلــى 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ربــط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مَــنْــطِــقِـــيًـــا بِـضَــمِّـهـا فـي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en-US" sz="4400" b="1" dirty="0" smtClean="0">
                <a:solidFill>
                  <a:srgbClr val="00B050"/>
                </a:solidFill>
                <a:cs typeface="+mj-cs"/>
              </a:rPr>
              <a:t>Workgroup</a:t>
            </a:r>
            <a:r>
              <a:rPr lang="fr-FR" sz="44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  </a:t>
            </a:r>
            <a:r>
              <a:rPr lang="ar-DZ" sz="4400" b="1" dirty="0">
                <a:solidFill>
                  <a:srgbClr val="00B050"/>
                </a:solidFill>
                <a:cs typeface="+mj-cs"/>
              </a:rPr>
              <a:t>واحـــدة</a:t>
            </a:r>
            <a:endParaRPr lang="ar-DZ" sz="4400" b="1" dirty="0" smtClean="0">
              <a:solidFill>
                <a:srgbClr val="00B05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28048" y="3831904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الـحـواســيــب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67424" y="4938647"/>
            <a:ext cx="51246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مــجـــمـــوعـــة عـــمـــل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5596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8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en-US" sz="4400" b="1" dirty="0">
                <a:solidFill>
                  <a:srgbClr val="00B050"/>
                </a:solidFill>
              </a:rPr>
              <a:t>Workgroup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B050"/>
                </a:solidFill>
              </a:rPr>
              <a:t>واحـــدة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وَتَـعْــرِيــفِ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كُــلِّ حَــاسُــوبٍ 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en-US" sz="4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adresse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IP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2815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uiExpand="1" build="p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en-US" sz="4400" b="1" dirty="0">
                <a:solidFill>
                  <a:srgbClr val="00B050"/>
                </a:solidFill>
              </a:rPr>
              <a:t>Workgroup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B050"/>
                </a:solidFill>
              </a:rPr>
              <a:t>واحـــدة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وَتَـعْــرِيــفِ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كُــلِّ حَــاسُــوبٍ 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en-US" sz="4400" b="1" dirty="0" err="1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adresse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IP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)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83832" y="2946771"/>
            <a:ext cx="6204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عُـــنْــوَان مَــنْــطِــقِــي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458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5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وذلـك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لـتـحــقــيــق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الـحــواســيــب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لــنــفــس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وتَــمْـهِــيـــدًا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لاســتــغـــلال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فــيـهـا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616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وذلـك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لـتـحــقــيــق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الـحــواســيــب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لــنــفــس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وتَــمْـهِــيـــدًا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لاســتــغـــلال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فــيـهـا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92312" y="1844824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err="1" smtClean="0">
                <a:solidFill>
                  <a:srgbClr val="0070C0"/>
                </a:solidFill>
                <a:cs typeface="+mj-cs"/>
              </a:rPr>
              <a:t>إِنْـــتِــمَــاءِ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267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وذلـك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لـتـحــقــيــق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الـحــواســيــب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لــنــفــس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وتَــمْـهِــيـــدًا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لاســتــغـــلال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فــيـهـا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92312" y="1844824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err="1" smtClean="0">
                <a:solidFill>
                  <a:srgbClr val="0070C0"/>
                </a:solidFill>
                <a:cs typeface="+mj-cs"/>
              </a:rPr>
              <a:t>إِنْـــتِــمَــاءِ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74232" y="2946771"/>
            <a:ext cx="3320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الــشــبــكــة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8224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0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7 –  إعـــداد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الــشــبــكــة الـمـحــلــيــة تـابـع 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وذلـك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لـتـحــقــيــق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الـحــواســيــب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لــنــفــس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وتَــمْـهِــيـــدًا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لاســتــغـــلال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فــيـهـا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ar-DZ" sz="4400" b="1" dirty="0" smtClean="0"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92312" y="1844824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err="1" smtClean="0">
                <a:solidFill>
                  <a:srgbClr val="0070C0"/>
                </a:solidFill>
                <a:cs typeface="+mj-cs"/>
              </a:rPr>
              <a:t>إِنْـــتِــمَــاءِ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74232" y="2946771"/>
            <a:ext cx="3320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الــشــبــكــة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17096" y="4254672"/>
            <a:ext cx="49806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الـمَــوَارِدِ الـمُــشْــتَــرَكَــة 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2739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0" grpId="0" animBg="1"/>
      <p:bldP spid="8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اســتـغــلال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الــمــوارد الـمُــشْــتَــرَكَــة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600" b="1" dirty="0">
                <a:cs typeface="+mj-cs"/>
              </a:rPr>
              <a:t>مـاذا </a:t>
            </a:r>
            <a:r>
              <a:rPr lang="ar-DZ" sz="4600" b="1" dirty="0" smtClean="0">
                <a:cs typeface="+mj-cs"/>
              </a:rPr>
              <a:t>تـعـني </a:t>
            </a:r>
            <a:r>
              <a:rPr lang="ar-DZ" sz="4600" b="1" dirty="0">
                <a:cs typeface="+mj-cs"/>
              </a:rPr>
              <a:t>لـكـم </a:t>
            </a:r>
            <a:r>
              <a:rPr lang="ar-DZ" sz="4600" b="1" dirty="0" smtClean="0">
                <a:cs typeface="+mj-cs"/>
              </a:rPr>
              <a:t>مـشــاركـة </a:t>
            </a:r>
            <a:r>
              <a:rPr lang="ar-DZ" sz="4600" b="1" dirty="0">
                <a:cs typeface="+mj-cs"/>
              </a:rPr>
              <a:t>مــوارد </a:t>
            </a:r>
            <a:r>
              <a:rPr lang="ar-DZ" sz="4600" b="1" dirty="0" smtClean="0">
                <a:cs typeface="+mj-cs"/>
              </a:rPr>
              <a:t>شــبــكـة </a:t>
            </a:r>
            <a:r>
              <a:rPr lang="ar-DZ" sz="4600" b="1" dirty="0">
                <a:cs typeface="+mj-cs"/>
              </a:rPr>
              <a:t>مـحــلــيــة ؟ بَــيِّـنْ أنــواع </a:t>
            </a:r>
            <a:r>
              <a:rPr lang="ar-DZ" sz="4600" b="1" dirty="0" smtClean="0">
                <a:cs typeface="+mj-cs"/>
              </a:rPr>
              <a:t>الـمــشــاركــة الـمُــتَــاحَـة عــنـد </a:t>
            </a:r>
            <a:r>
              <a:rPr lang="ar-DZ" sz="4600" b="1" dirty="0">
                <a:cs typeface="+mj-cs"/>
              </a:rPr>
              <a:t>اســتـغــلال تـلـك </a:t>
            </a:r>
            <a:r>
              <a:rPr lang="ar-DZ" sz="4600" b="1" dirty="0" smtClean="0">
                <a:cs typeface="+mj-cs"/>
              </a:rPr>
              <a:t>الـمــوارد</a:t>
            </a:r>
            <a:r>
              <a:rPr lang="fr-FR" sz="4600" b="1" dirty="0" smtClean="0">
                <a:latin typeface="Times New Roman" panose="02020603050405020304" pitchFamily="18" charset="0"/>
                <a:cs typeface="+mj-cs"/>
              </a:rPr>
              <a:t>)</a:t>
            </a:r>
            <a:r>
              <a:rPr lang="fr-FR" sz="4600" b="1" dirty="0" smtClean="0">
                <a:cs typeface="+mj-cs"/>
              </a:rPr>
              <a:t> </a:t>
            </a:r>
            <a:r>
              <a:rPr lang="ar-DZ" sz="4600" b="1" dirty="0" smtClean="0">
                <a:cs typeface="+mj-cs"/>
              </a:rPr>
              <a:t> </a:t>
            </a:r>
            <a:r>
              <a:rPr lang="ar-DZ" sz="4600" b="1" dirty="0" smtClean="0">
                <a:cs typeface="+mj-cs"/>
              </a:rPr>
              <a:t>طــابـعـة ، قــرص </a:t>
            </a:r>
            <a:r>
              <a:rPr lang="fr-FR" sz="4600" b="1" dirty="0">
                <a:cs typeface="+mj-cs"/>
              </a:rPr>
              <a:t>HDD</a:t>
            </a:r>
            <a:r>
              <a:rPr lang="ar-DZ" sz="4600" b="1" dirty="0" smtClean="0">
                <a:cs typeface="+mj-cs"/>
              </a:rPr>
              <a:t> </a:t>
            </a:r>
            <a:r>
              <a:rPr lang="ar-DZ" sz="4600" b="1" dirty="0" smtClean="0"/>
              <a:t>،</a:t>
            </a:r>
            <a:r>
              <a:rPr lang="ar-DZ" sz="4600" b="1" dirty="0" smtClean="0">
                <a:cs typeface="+mj-cs"/>
              </a:rPr>
              <a:t>  </a:t>
            </a:r>
            <a:r>
              <a:rPr lang="ar-DZ" sz="4600" b="1" dirty="0" smtClean="0">
                <a:cs typeface="+mj-cs"/>
              </a:rPr>
              <a:t>مـجـلــد </a:t>
            </a:r>
            <a:r>
              <a:rPr lang="ar-DZ" sz="4600" b="1" dirty="0">
                <a:cs typeface="+mj-cs"/>
              </a:rPr>
              <a:t>... </a:t>
            </a:r>
            <a:r>
              <a:rPr lang="fr-FR" sz="4600" b="1" dirty="0">
                <a:latin typeface="Times New Roman" panose="02020603050405020304" pitchFamily="18" charset="0"/>
                <a:cs typeface="+mj-cs"/>
              </a:rPr>
              <a:t>(</a:t>
            </a:r>
            <a:r>
              <a:rPr lang="ar-DZ" sz="4600" b="1" dirty="0" smtClean="0">
                <a:cs typeface="+mj-cs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70C0"/>
                </a:solidFill>
                <a:cs typeface="+mj-cs"/>
              </a:rPr>
              <a:t>نـشــاط 8</a:t>
            </a:r>
            <a:r>
              <a:rPr lang="ar-DZ" sz="5400" b="1" dirty="0" smtClean="0">
                <a:solidFill>
                  <a:srgbClr val="0070C0"/>
                </a:solidFill>
                <a:cs typeface="+mj-cs"/>
              </a:rPr>
              <a:t> :</a:t>
            </a:r>
            <a:endParaRPr lang="fr-FR" sz="5400" i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3919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8  –  اســتـغــلال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الــمــوارد الـمُــشْــتَــرَكَــة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الـمــشــاركــة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تــعــنـي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لـحــواســيــب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الــمُــتَــمَــثِّــلَــة فـي 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الــطــابــعــات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قـــارئ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نـــاســخ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الأقــــراص الـرقـــمـــيـــة ... إلـــخ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25623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uiExpand="1" build="p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8  –  اســتـغــلال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الــمــوارد الـمُــشْــتَــرَكَــة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الـمــشــاركــة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تــعــنـي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لـحــواســيــب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الــمُــتَــمَــثِّــلَــة فـي 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الــطــابــعــات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قـــارئ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نـــاســخ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الأقــــراص الـرقـــمـــيـــة ... إلـــخ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47728" y="1772816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إِعْــطَــاءُ الـحَــقِّ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92344" y="2797519"/>
            <a:ext cx="19739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الـشـبـكـة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508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9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8  –  اســتـغــلال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الــمــوارد الـمُــشْــتَــرَكَــة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الـمــشــاركــة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تــعــنـي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لـحــواســيــب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الــمُــتَــمَــثِّــلَــة فـي 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الــطــابــعــات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قـــارئ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نـــاســخ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الأقــــراص الـرقـــمـــيـــة ... إلـــخ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47728" y="1772816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إِعْــطَــاءُ الـحَــقِّ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92344" y="2797519"/>
            <a:ext cx="19739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الـشـبـكـة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46420" y="2780928"/>
            <a:ext cx="37263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اسـتـغـلال مـواردهـا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9081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9" grpId="0" animBg="1"/>
      <p:bldP spid="11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: ( نَــشَـاط 8  –  اســتـغــلال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الــمــوارد الـمُــشْــتَــرَكَــة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412775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الـمــشــاركــة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تــعــنـي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لـحــواســيــب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بِــ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الــمُــتَــمَــثِّــلَــة فـي 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الــطــابــعــات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قـــارئ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نـــاســخ </a:t>
            </a: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الأقــــراص الـرقـــمـــيـــة ... إلـــخ</a:t>
            </a: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47728" y="1772816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إِعْــطَــاءُ الـحَــقِّ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92344" y="2797519"/>
            <a:ext cx="19739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الـشـبـكـة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46420" y="2780928"/>
            <a:ext cx="37263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اسـتـغـلال مـواردهـا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89214" y="3922362"/>
            <a:ext cx="30062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smtClean="0">
                <a:solidFill>
                  <a:srgbClr val="0070C0"/>
                </a:solidFill>
                <a:cs typeface="+mj-cs"/>
              </a:rPr>
              <a:t>الـوســائـــل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7182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9" grpId="0" animBg="1"/>
      <p:bldP spid="11" grpId="0" animBg="1"/>
      <p:bldP spid="12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الـمُــجَــلَــدَات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، فـي هـــذه الـحــالــة فــإنَّ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الـمــشــاركــة قــد تـكـون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تــســمـح لــنــا بـالـقــيــام بــجــمــيـع الـعــمــلــيــات مـن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6662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الـمُــجَــلَــدَات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، فـي هـــذه الـحــالــة فــإنَّ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الـمــشــاركــة قــد تـكـون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تــســمـح لــنــا بـالـقــيــام بــجــمــيـع الـعــمــلــيــات مـن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75536" y="1557928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الأقـراص الـصـلـبـة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01160" y="1572215"/>
            <a:ext cx="24167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الــمــلــفــات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04960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9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الـمُــجَــلَــدَات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، فـي هـــذه الـحــالــة فــإنَّ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الـمــشــاركــة قــد تـكـون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تــســمـح لــنــا بـالـقــيــام بــجــمــيـع الـعــمــلــيــات مـن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75536" y="1557928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الأقـراص الـصـلـبـة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01160" y="1572215"/>
            <a:ext cx="24167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الــمــلــفــات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09462" y="3371913"/>
            <a:ext cx="2025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كَــامِـــلَــةً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9287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9" grpId="0" animBg="1"/>
      <p:bldP spid="10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الـمُــجَــلَــدَات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، فـي هـــذه الـحــالــة فــإنَّ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الـمــشــاركــة قــد تـكـون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تــســمـح لــنــا بـالـقــيــام بــجــمــيـع الـعــمــلــيــات مـن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75536" y="1557928"/>
            <a:ext cx="36004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الأقـراص الـصـلـبـة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01160" y="1572215"/>
            <a:ext cx="24167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الــمــلــفــات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09462" y="3371913"/>
            <a:ext cx="2025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كَــامِـــلَــةً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19736" y="5041752"/>
            <a:ext cx="7325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قـــراءة  ،   تــغـــيـــيـــر   وحَـــذْف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6583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9" grpId="0" animBg="1"/>
      <p:bldP spid="10" grpId="0" animBg="1"/>
      <p:bldP spid="11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قــد تــكــون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تـــســمـح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لــنــا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فـقـط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2538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uiExpand="1" build="p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قــد تــكــون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تـــســمـح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لــنــا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فـقـط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75920" y="170137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مَــحْـــدُودَةً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283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: ( نَــشَـاط 8 – 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اســتـغــلال الــمــوارد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الـمُــشْــتَــرَكَــة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تـابـع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) 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625350" y="1340768"/>
            <a:ext cx="10814992" cy="4943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─ و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قــد تــكــون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والَّـتِي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تـــســمـح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لــنــا </a:t>
            </a: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400" b="1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 </a:t>
            </a:r>
            <a:r>
              <a:rPr lang="ar-DZ" sz="4400" b="1" dirty="0">
                <a:solidFill>
                  <a:srgbClr val="002060"/>
                </a:solidFill>
                <a:cs typeface="+mj-cs"/>
              </a:rPr>
              <a:t>فـقـط</a:t>
            </a:r>
            <a:r>
              <a:rPr lang="ar-DZ" sz="4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fr-FR" sz="3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75920" y="170137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مَــحْـــدُودَةً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688288" y="2664367"/>
            <a:ext cx="2025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الـقـــراءة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8459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build="p" animBg="1"/>
      <p:bldP spid="7" grpId="0" animBg="1"/>
      <p:bldP spid="10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الــــوضـــعـــــيــــة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الإدمـــــــاجــــــيـــــة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الـرســم الــبـــيــانــي  ( الــوثـــيـــقــة 1 )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Calibri" panose="020F0502020204030204" pitchFamily="34" charset="0"/>
                <a:cs typeface="Times New Roman" panose="02020603050405020304" pitchFamily="18" charset="0"/>
              </a:rPr>
              <a:t>يُــمَــثِّــلُ</a:t>
            </a: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 نــمــوذج لــشـــبـــكـــة مُـــتَّـــصِـــلَـــة بــالأنــتــرنــت </a:t>
            </a:r>
            <a:r>
              <a:rPr lang="ar-DZ" sz="4400" b="1" dirty="0" smtClean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buNone/>
            </a:pP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7022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الـرســم الــبـــيــانــي  ( الــوثـــيـــقــة 1 )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Calibri" panose="020F0502020204030204" pitchFamily="34" charset="0"/>
                <a:cs typeface="Times New Roman" panose="02020603050405020304" pitchFamily="18" charset="0"/>
              </a:rPr>
              <a:t>يُــمَــثِّــلُ</a:t>
            </a: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 نــمــوذج لــشـــبـــكـــة مُـــتَّـــصِـــلَـــة بــالأنــتــرنــت </a:t>
            </a:r>
            <a:r>
              <a:rPr lang="ar-DZ" sz="4400" b="1" dirty="0" smtClean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buNone/>
            </a:pP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2" y="383411"/>
            <a:ext cx="10764000" cy="59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0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742950" lvl="0" indent="-74295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تـــحـــــديـــــــد الأنــــــواع الأربـــــعـــــة لــــهــــذه الــــشـــــبـــــكـــــة مـــع بَــــــيَــــانِ الــــمِـــــعْــــــيَـــــــار الــــمُـــــرْتَــــــبِـــــط بِـــكُـــلِّ نَـــــــــوْعٍ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6229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sz="40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279112"/>
              </p:ext>
            </p:extLst>
          </p:nvPr>
        </p:nvGraphicFramePr>
        <p:xfrm>
          <a:off x="609600" y="1341438"/>
          <a:ext cx="10814992" cy="500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2624"/>
                <a:gridCol w="3312368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4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نـــــوع الــــشـــــبـــــــكـــــة</a:t>
                      </a:r>
                      <a:endParaRPr lang="ar-DZ" sz="44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مـ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ــعــ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ـــــ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ــار ال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ـت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ـصــنـ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ــف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وســــيــــــلـــــة الــــربــــــــط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الامـــــتــــداد الــجــــغــــرافــي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الـــعــــلاقـــــة الــوظـــيــــفـــيـــة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طـــوبــــولــــوجـــيــــا الــربـــط</a:t>
                      </a:r>
                      <a:endParaRPr lang="fr-FR" sz="3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6998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الـرســم الــبـــيــانــي  ( الــوثـــيـــقــة 1 )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Calibri" panose="020F0502020204030204" pitchFamily="34" charset="0"/>
                <a:cs typeface="Times New Roman" panose="02020603050405020304" pitchFamily="18" charset="0"/>
              </a:rPr>
              <a:t>يُــمَــثِّــلُ</a:t>
            </a: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 نــمــوذج لــشـــبـــكـــة مُـــتَّـــصِـــلَـــة بــالأنــتــرنــت </a:t>
            </a:r>
            <a:r>
              <a:rPr lang="ar-DZ" sz="4400" b="1" dirty="0" smtClean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buNone/>
            </a:pP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2" y="383411"/>
            <a:ext cx="10764000" cy="59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sz="40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279112"/>
              </p:ext>
            </p:extLst>
          </p:nvPr>
        </p:nvGraphicFramePr>
        <p:xfrm>
          <a:off x="609600" y="1341438"/>
          <a:ext cx="10814992" cy="500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2624"/>
                <a:gridCol w="3312368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4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نـــــوع الــــشـــــبـــــــكـــــة</a:t>
                      </a:r>
                      <a:endParaRPr lang="ar-DZ" sz="44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مـ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ــعــ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ـــــ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ــار ال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ـت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ـصــنـ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ــف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وســــيــــــلـــــة الــــربــــــــط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الامـــــتــــداد الــجــــغــــرافــي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الـــعــــلاقـــــة الــوظـــيــــفـــيـــة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طـــوبــــولــــوجـــيــــا الــربـــط</a:t>
                      </a:r>
                      <a:endParaRPr lang="fr-FR" sz="3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4" name="Rectangle 13"/>
          <p:cNvSpPr/>
          <p:nvPr/>
        </p:nvSpPr>
        <p:spPr>
          <a:xfrm>
            <a:off x="646384" y="2578351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ســـــلــــكــــيــــة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Filaire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79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الـرســم الــبـــيــانــي  ( الــوثـــيـــقــة 1 )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Calibri" panose="020F0502020204030204" pitchFamily="34" charset="0"/>
                <a:cs typeface="Times New Roman" panose="02020603050405020304" pitchFamily="18" charset="0"/>
              </a:rPr>
              <a:t>يُــمَــثِّــلُ</a:t>
            </a: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 نــمــوذج لــشـــبـــكـــة مُـــتَّـــصِـــلَـــة بــالأنــتــرنــت </a:t>
            </a:r>
            <a:r>
              <a:rPr lang="ar-DZ" sz="4400" b="1" dirty="0" smtClean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buNone/>
            </a:pP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2" y="383411"/>
            <a:ext cx="10764000" cy="59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34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sz="40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279112"/>
              </p:ext>
            </p:extLst>
          </p:nvPr>
        </p:nvGraphicFramePr>
        <p:xfrm>
          <a:off x="609600" y="1341438"/>
          <a:ext cx="10814992" cy="500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2624"/>
                <a:gridCol w="3312368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4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نـــــوع الــــشـــــبـــــــكـــــة</a:t>
                      </a:r>
                      <a:endParaRPr lang="ar-DZ" sz="44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مـ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ــعــ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ـــــ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ــار ال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ـت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ـصــنـ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ــف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وســــيــــــلـــــة الــــربــــــــط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الامـــــتــــداد الــجــــغــــرافــي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الـــعــــلاقـــــة الــوظـــيــــفـــيـــة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طـــوبــــولــــوجـــيــــا الــربـــط</a:t>
                      </a:r>
                      <a:endParaRPr lang="fr-FR" sz="3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4" name="Rectangle 13"/>
          <p:cNvSpPr/>
          <p:nvPr/>
        </p:nvSpPr>
        <p:spPr>
          <a:xfrm>
            <a:off x="646384" y="2578351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ســـــلــــكــــيــــة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Filaire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3392" y="3512766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مـــحــــلــــيــــة</a:t>
            </a:r>
            <a:r>
              <a:rPr lang="ar-DZ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</a:t>
            </a:r>
            <a:r>
              <a:rPr lang="fr-FR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ocal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fr-FR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rea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fr-FR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etwork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22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5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الـرســم الــبـــيــانــي  ( الــوثـــيـــقــة 1 )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Calibri" panose="020F0502020204030204" pitchFamily="34" charset="0"/>
                <a:cs typeface="Times New Roman" panose="02020603050405020304" pitchFamily="18" charset="0"/>
              </a:rPr>
              <a:t>يُــمَــثِّــلُ</a:t>
            </a: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 نــمــوذج لــشـــبـــكـــة مُـــتَّـــصِـــلَـــة بــالأنــتــرنــت </a:t>
            </a:r>
            <a:r>
              <a:rPr lang="ar-DZ" sz="4400" b="1" dirty="0" smtClean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buNone/>
            </a:pP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2" y="383411"/>
            <a:ext cx="10764000" cy="59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4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sz="40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279112"/>
              </p:ext>
            </p:extLst>
          </p:nvPr>
        </p:nvGraphicFramePr>
        <p:xfrm>
          <a:off x="609600" y="1341438"/>
          <a:ext cx="10814992" cy="500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2624"/>
                <a:gridCol w="3312368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4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نـــــوع الــــشـــــبـــــــكـــــة</a:t>
                      </a:r>
                      <a:endParaRPr lang="ar-DZ" sz="44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مـ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ــعــ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ـــــ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ــار ال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ـت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ـصــنـ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ــف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وســــيــــــلـــــة الــــربــــــــط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الامـــــتــــداد الــجــــغــــرافــي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الـــعــــلاقـــــة الــوظـــيــــفـــيـــة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طـــوبــــولــــوجـــيــــا الــربـــط</a:t>
                      </a:r>
                      <a:endParaRPr lang="fr-FR" sz="3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4" name="Rectangle 13"/>
          <p:cNvSpPr/>
          <p:nvPr/>
        </p:nvSpPr>
        <p:spPr>
          <a:xfrm>
            <a:off x="646384" y="2578351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ســـــلــــكــــيــــة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Filaire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3392" y="3512766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مـــحــــلــــيــــة</a:t>
            </a:r>
            <a:r>
              <a:rPr lang="ar-DZ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</a:t>
            </a:r>
            <a:r>
              <a:rPr lang="fr-FR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ocal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fr-FR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rea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fr-FR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etwork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2937" y="4495673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م</a:t>
            </a:r>
            <a:r>
              <a:rPr lang="ar-DZ" sz="3300" b="1" dirty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ـــ</a:t>
            </a:r>
            <a:r>
              <a:rPr lang="ar-SA" sz="3300" b="1" dirty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ن </a:t>
            </a:r>
            <a:r>
              <a:rPr lang="ar-SA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نـــوع </a:t>
            </a:r>
            <a:r>
              <a:rPr lang="ar-SA" sz="3300" b="1" dirty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الــخـــــادم </a:t>
            </a:r>
            <a:r>
              <a:rPr lang="ar-SA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والـــزبــــون</a:t>
            </a:r>
            <a:r>
              <a:rPr lang="ar-DZ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33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33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Client / Server</a:t>
            </a:r>
            <a:endParaRPr lang="fr-FR" sz="33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48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5" grpId="0" animBg="1"/>
      <p:bldP spid="16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0"/>
              </a:spcAft>
              <a:buNone/>
            </a:pP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الـرســم الــبـــيــانــي  ( الــوثـــيـــقــة 1 )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Calibri" panose="020F0502020204030204" pitchFamily="34" charset="0"/>
                <a:cs typeface="Times New Roman" panose="02020603050405020304" pitchFamily="18" charset="0"/>
              </a:rPr>
              <a:t>يُــمَــثِّــلُ</a:t>
            </a:r>
            <a:r>
              <a:rPr lang="ar-DZ" sz="4400" b="1" dirty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 نــمــوذج لــشـــبـــكـــة مُـــتَّـــصِـــلَـــة بــالأنــتــرنــت </a:t>
            </a:r>
            <a:r>
              <a:rPr lang="ar-DZ" sz="4400" b="1" dirty="0" smtClean="0">
                <a:solidFill>
                  <a:srgbClr val="00000A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  <a:p>
            <a:pPr marL="0" indent="0" algn="just" rtl="1">
              <a:buNone/>
            </a:pPr>
            <a:endParaRPr lang="ar-DZ" sz="40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2" y="383411"/>
            <a:ext cx="10764000" cy="59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2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sz="4000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279112"/>
              </p:ext>
            </p:extLst>
          </p:nvPr>
        </p:nvGraphicFramePr>
        <p:xfrm>
          <a:off x="609600" y="1341438"/>
          <a:ext cx="10814992" cy="500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2624"/>
                <a:gridCol w="3312368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44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نـــــوع الــــشـــــبـــــــكـــــة</a:t>
                      </a:r>
                      <a:endParaRPr lang="ar-DZ" sz="4400" b="1" dirty="0" smtClean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مـ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ــعــ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ـــــ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ــار ال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ـت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ـصــنـ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ـي</a:t>
                      </a:r>
                      <a:r>
                        <a:rPr lang="ar-DZ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</a:t>
                      </a:r>
                      <a:r>
                        <a:rPr lang="ar-SA" sz="36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ــف</a:t>
                      </a:r>
                      <a:endParaRPr lang="fr-FR" sz="36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وســــيــــــلـــــة الــــربــــــــط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الامـــــتــــداد الــجــــغــــرافــي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الـــعــــلاقـــــة الــوظـــيــــفـــيـــة</a:t>
                      </a:r>
                      <a:endParaRPr lang="fr-FR" sz="32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dirty="0" smtClean="0">
                          <a:solidFill>
                            <a:srgbClr val="00B050"/>
                          </a:solidFill>
                          <a:effectLst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a:t>طـــوبــــولــــوجـــيــــا الــربـــط</a:t>
                      </a:r>
                      <a:endParaRPr lang="fr-FR" sz="3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14" name="Rectangle 13"/>
          <p:cNvSpPr/>
          <p:nvPr/>
        </p:nvSpPr>
        <p:spPr>
          <a:xfrm>
            <a:off x="646384" y="2578351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ســـــلــــكــــيــــة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Filaire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3392" y="3512766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مـــحــــلــــيــــة</a:t>
            </a:r>
            <a:r>
              <a:rPr lang="ar-DZ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</a:t>
            </a:r>
            <a:r>
              <a:rPr lang="fr-FR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ocal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fr-FR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rea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fr-FR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etwork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2937" y="4495673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>
                <a:ea typeface="Calibri" panose="020F0502020204030204" pitchFamily="34" charset="0"/>
                <a:cs typeface="Traditional Arabic" panose="02020603050405020304" pitchFamily="18" charset="-78"/>
              </a:rPr>
              <a:t>شـــبـــكـــة </a:t>
            </a:r>
            <a:r>
              <a:rPr lang="ar-SA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م</a:t>
            </a:r>
            <a:r>
              <a:rPr lang="ar-DZ" sz="3300" b="1" dirty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ـــ</a:t>
            </a:r>
            <a:r>
              <a:rPr lang="ar-SA" sz="3300" b="1" dirty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ن </a:t>
            </a:r>
            <a:r>
              <a:rPr lang="ar-SA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نـــوع </a:t>
            </a:r>
            <a:r>
              <a:rPr lang="ar-SA" sz="3300" b="1" dirty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الــخـــــادم </a:t>
            </a:r>
            <a:r>
              <a:rPr lang="ar-SA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والـــزبــــون</a:t>
            </a:r>
            <a:r>
              <a:rPr lang="ar-DZ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33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ar-DZ" sz="33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fr-FR" sz="33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Client / Server</a:t>
            </a:r>
            <a:endParaRPr lang="fr-FR" sz="33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3392" y="5430088"/>
            <a:ext cx="74658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600" b="1" dirty="0" smtClean="0">
                <a:ea typeface="Calibri" panose="020F0502020204030204" pitchFamily="34" charset="0"/>
                <a:cs typeface="Traditional Arabic" panose="02020603050405020304" pitchFamily="18" charset="-78"/>
              </a:rPr>
              <a:t>الــــتــــشــكـــــيــــل </a:t>
            </a:r>
            <a:r>
              <a:rPr lang="ar-SA" sz="36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الـــنــ</a:t>
            </a:r>
            <a:r>
              <a:rPr lang="ar-DZ" sz="36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ـ</a:t>
            </a:r>
            <a:r>
              <a:rPr lang="ar-SA" sz="36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جـــمـــي</a:t>
            </a:r>
            <a:r>
              <a:rPr lang="ar-DZ" sz="3600" b="1" dirty="0" smtClean="0">
                <a:solidFill>
                  <a:srgbClr val="0070C0"/>
                </a:solidFill>
                <a:ea typeface="Calibri" panose="020F0502020204030204" pitchFamily="34" charset="0"/>
                <a:cs typeface="Traditional Arabic" panose="02020603050405020304" pitchFamily="18" charset="-78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fr-FR" sz="36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Topologie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en Etoile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80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8699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2" y="383411"/>
            <a:ext cx="10764000" cy="59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0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الــتــــواصــل بــــيـــن الــحــــواســـيـــب داخــــل الـــشـــــبـــكــــة يـــكـــون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ب‌.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الــتــواصــل بــيـن حــواســيــب الــشـــبــكـــة وشــبــكــة الأنــتــرنــت يـــكـــون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3670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الــتــــواصــل بــــيـــن الــحــــواســـيـــب داخــــل الـــشـــــبـــكــــة يـــكـــون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ب‌.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الــتــواصــل بــيـن حــواســيــب الــشـــبــكـــة وشــبــكــة الأنــتــرنــت يـــكـــون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1876636" y="2794548"/>
            <a:ext cx="8280920" cy="8504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مــن خــلال الـمَـحَــوِّل   </a:t>
            </a:r>
            <a:r>
              <a:rPr lang="fr-FR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Switch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668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2" y="383411"/>
            <a:ext cx="10764000" cy="59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3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الــتــــواصــل بــــيـــن الــحــــواســـيـــب داخــــل الـــشـــــبـــكــــة يـــكـــون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ب‌.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الــتــواصــل بــيـن حــواســيــب الــشـــبــكـــة وشــبــكــة الأنــتــرنــت يـــكـــون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343472" y="4954788"/>
            <a:ext cx="7848872" cy="8504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مــن خــلال ا</a:t>
            </a:r>
            <a:r>
              <a:rPr lang="ar-DZ" sz="4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لـمُــوَجِّــه  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Router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76636" y="2794548"/>
            <a:ext cx="8280920" cy="8504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مــن خــلال الـمَـحَــوِّل   </a:t>
            </a:r>
            <a:r>
              <a:rPr lang="fr-FR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Switch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2235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3.كــيـــف يَــــتَـــــأَثَــــــرُ الــــتـــــواصـــل فـــي الـــشــــبــــكـــة عـــنــــد تَــــعَـــطُّـــلُ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‌الـخَـــادِم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Server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‌أحــد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الـمُـخْـتَـلِـفَـة عــن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الـخــادم</a:t>
            </a:r>
          </a:p>
          <a:p>
            <a:pPr mar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ج‌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‌الـمَـحَــوِّل   </a:t>
            </a:r>
            <a:r>
              <a:rPr lang="fr-FR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Switch</a:t>
            </a:r>
            <a:endParaRPr lang="ar-DZ" sz="38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د‌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الـمُــوَجِّــه   </a:t>
            </a:r>
            <a:r>
              <a:rPr lang="fr-FR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Router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0408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914400" lvl="0" indent="-914400" algn="just" rtl="1">
              <a:spcBef>
                <a:spcPts val="1200"/>
              </a:spcBef>
              <a:spcAft>
                <a:spcPts val="800"/>
              </a:spcAft>
              <a:buAutoNum type="arabicPeriod" startAt="3"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تَــــــــأَثَـــــــــرُ الـــتـــــواصـــل فــــي الــــشــــبــــكـــــة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الـخَــادِم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8118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2" y="383411"/>
            <a:ext cx="10764000" cy="59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8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914400" lvl="0" indent="-914400" algn="just" rtl="1">
              <a:spcBef>
                <a:spcPts val="1200"/>
              </a:spcBef>
              <a:spcAft>
                <a:spcPts val="800"/>
              </a:spcAft>
              <a:buAutoNum type="arabicPeriod" startAt="3"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تَــــــــأَثَـــــــــرُ الـــتـــــواصـــل فــــي الــــشــــبــــكـــــة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الـخَــادِم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897977" y="2456992"/>
            <a:ext cx="7056784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يُــؤَثَــرُ عــلـى 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بــاقـي </a:t>
            </a:r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1404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2" y="383411"/>
            <a:ext cx="10764000" cy="59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46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914400" lvl="0" indent="-914400" algn="just" rtl="1">
              <a:spcBef>
                <a:spcPts val="1200"/>
              </a:spcBef>
              <a:spcAft>
                <a:spcPts val="800"/>
              </a:spcAft>
              <a:buAutoNum type="arabicPeriod" startAt="3"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تَــــــــأَثَـــــــــرُ الـــتـــــواصـــل فــــي الــــشــــبــــكـــــة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الـخَــادِم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897977" y="2456992"/>
            <a:ext cx="7056784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يُــؤَثَــرُ عــلـى 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بــاقـي </a:t>
            </a:r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7976" y="3586636"/>
            <a:ext cx="10310592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بـحـيــث 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يُـعَــطِّــلُ </a:t>
            </a:r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خِــدْمَــتَـيْ 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الــطــبــاعـــة والأنـ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err="1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تــرنــت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7633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‌تَــعَــطُّــلُ أحـــد الـــحـــواســـــيــــب الـــمُـــخْــــتَــــلِــــــفَــــة عـــن الــخـــــادم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42887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2" y="383411"/>
            <a:ext cx="10764000" cy="59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6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‌تَــعَــطُّــلُ أحـــد الـــحـــواســـــيــــب الـــمُـــخْــــتَــــلِــــــفَــــة عـــن الــخـــــادم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1199456" y="3249080"/>
            <a:ext cx="8784976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لا 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يُــؤَثَــرُ </a:t>
            </a:r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عــلـى 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بــاقـي </a:t>
            </a:r>
            <a:r>
              <a:rPr lang="ar-SA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034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‌الــمَــحَــوِّل </a:t>
            </a:r>
            <a:r>
              <a:rPr lang="fr-FR" sz="36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Switch</a:t>
            </a:r>
            <a:r>
              <a:rPr lang="ar-DZ" sz="36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</a:t>
            </a: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3280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2" y="383411"/>
            <a:ext cx="10764000" cy="59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‌الــمَــحَــوِّل </a:t>
            </a:r>
            <a:r>
              <a:rPr lang="fr-FR" sz="36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Switch</a:t>
            </a:r>
            <a:r>
              <a:rPr lang="ar-DZ" sz="36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</a:t>
            </a: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06044" y="1493994"/>
            <a:ext cx="5544616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يُـؤَثَــرُ عـلى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كــل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266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ج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‌الــمَــحَــوِّل </a:t>
            </a:r>
            <a:r>
              <a:rPr lang="fr-FR" sz="36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Switch</a:t>
            </a:r>
            <a:r>
              <a:rPr lang="ar-DZ" sz="36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</a:t>
            </a: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06044" y="1493994"/>
            <a:ext cx="5544616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يُـؤَثَــرُ عـلى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كــل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83432" y="2902487"/>
            <a:ext cx="10081120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بـحـيــث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يُـعَــطِّــلُ الـتـ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واصـ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 بــيــنـهـا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فــقــدان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83432" y="4347420"/>
            <a:ext cx="10081120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واص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مــع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أيِّ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جــهــاز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داخــل الــشـــبــكـــة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9864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6" grpId="0" animBg="1"/>
      <p:bldP spid="7" grpId="0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د.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الـمُــوَجِّــه </a:t>
            </a:r>
            <a:r>
              <a:rPr lang="fr-FR" sz="40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Router</a:t>
            </a:r>
            <a:r>
              <a:rPr lang="ar-DZ" sz="2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8347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.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كــيــف يـــكـــون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الــتــواصــل فـي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الــحـــــالــــتــــيـــن </a:t>
            </a:r>
            <a:r>
              <a:rPr lang="ar-DZ" sz="4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ar-DZ" sz="4800" b="1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أ‌. بــيـن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الـحـواســيــب داخــل الــشـــبــكـــة 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	ب‌. بــيـن </a:t>
            </a:r>
            <a:r>
              <a:rPr lang="ar-DZ" sz="38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حــواســيــب الــشـــبــكـــة وشــبــكــة الأنــتــرنــت  ؟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12" y="383411"/>
            <a:ext cx="10764000" cy="59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5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د.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الـمُــوَجِّــه </a:t>
            </a:r>
            <a:r>
              <a:rPr lang="fr-FR" sz="40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Router</a:t>
            </a:r>
            <a:r>
              <a:rPr lang="ar-DZ" sz="2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8444" y="1493994"/>
            <a:ext cx="5544616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يُـؤَثَــرُ عـلى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كــل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1045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د.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‌تَــعَــطُّــلُ الـمُــوَجِّــه </a:t>
            </a:r>
            <a:r>
              <a:rPr lang="fr-FR" sz="40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Router</a:t>
            </a:r>
            <a:r>
              <a:rPr lang="ar-DZ" sz="2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</a:t>
            </a:r>
          </a:p>
          <a:p>
            <a:pPr marL="0" lvl="0" indent="0" algn="just" rtl="1">
              <a:lnSpc>
                <a:spcPct val="2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8444" y="1493994"/>
            <a:ext cx="5544616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يُـؤَثَــرُ عـلى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كــل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الـحـواســيــب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5832" y="3054887"/>
            <a:ext cx="10081120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بـحـيــث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يُـعَــطِّــلُ الـتـ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واصـ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 بـالأنــتــرنــت (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فــقــدان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35832" y="4499820"/>
            <a:ext cx="10081120" cy="90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واص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 مــع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أيِّ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جــهــاز خـــارج  الــشـــبــكـــة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6995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4. مـــــا هـــــو أفَــــضــل تـــصـــمـــيـــم لــــربــــط أجــــهــــزة هــــذه الـــشـــبـــكـــة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؟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عَــــلِّــــلْ إجـــــابـــــتــــك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0725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4.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	أفَــضــل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تــــصــــمــــيـــم لــــربــــط أجـــــهــــزة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هـــذه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الــــشــــبــــكـــة هـــو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3584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4.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	أفَــضــل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تــــصــــمــــيـــم لــــربــــط أجـــــهــــزة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هـــذه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الــــشــــبــــكـــة هـــو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2290319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ش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ـك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ال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ـن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 الـ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ــس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ــيـه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3697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4.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	أفَــضــل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تــــصــــمــــيـــم لــــربــــط أجـــــهــــزة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هـــذه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الــــشــــبــــكـــة هـــو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2290319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ش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ـك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ال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ـن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 الـ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ــس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ــيـه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3298431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ف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ي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ــك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ــاد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يَـ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خْـ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لُـ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err="1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مـ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ن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ــوب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ُــ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ـود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</a:t>
            </a:r>
            <a:endParaRPr lang="fr-FR" sz="4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59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4.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	أفَــضــل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تــــصــــمــــيـــم لــــربــــط أجـــــهــــزة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هـــذه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الــــشــــبــــكـــة هـــو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2290319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ش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ـك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ال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ـن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 الـ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ــس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ــيـه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3298431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ف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ي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ــك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ــاد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يَـ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خْـ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لُـ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err="1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مـ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ن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ــوب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ُــ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ـود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</a:t>
            </a:r>
            <a:endParaRPr lang="fr-FR" sz="42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4293192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ص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ام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ـم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الأُخْـــرى إِذْ يَــتَــمَــيِّـــزُ عَــنْـهَــا بِــ  </a:t>
            </a:r>
            <a:r>
              <a:rPr lang="ar-DZ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0714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4.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	أفَــضــل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تــــصــــمــــيـــم لــــربــــط أجـــــهــــزة </a:t>
            </a:r>
            <a:r>
              <a:rPr lang="ar-DZ" sz="4800" b="1" dirty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هـــذه </a:t>
            </a: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الــــشــــبــــكـــة هـــو </a:t>
            </a:r>
            <a:r>
              <a:rPr lang="ar-DZ" sz="4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2290319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ش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ـك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ال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ـن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 الـ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ــس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ــت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ــل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ــيـه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3298431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ف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ي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ــك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ــاد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يَـ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خْـ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لُـ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err="1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وا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مـ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ن 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الـع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ــوب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م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ج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ُــ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ـود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ف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2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</a:t>
            </a:r>
            <a:endParaRPr lang="fr-FR" sz="42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4293192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ص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ام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ـم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الأُخْـــرى إِذْ يَــتَــمَــيِّـــزُ عَــنْـهَــا بِــ  </a:t>
            </a:r>
            <a:r>
              <a:rPr lang="ar-DZ" sz="44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fr-FR" sz="4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5301304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indent="-571500" algn="r" rtl="1">
              <a:buFont typeface="Wingdings" panose="05000000000000000000" pitchFamily="2" charset="2"/>
              <a:buChar char="ü"/>
            </a:pP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الـت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ـش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ـغ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و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يـع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( إ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ض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ـاف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ـة ح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اس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يــب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8861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endParaRPr lang="ar-DZ" sz="38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1350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endParaRPr lang="ar-DZ" sz="38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1358988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lvl="0" indent="-571500" algn="r" rtl="1">
              <a:buFont typeface="Wingdings" panose="05000000000000000000" pitchFamily="2" charset="2"/>
              <a:buChar char="ü"/>
            </a:pP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ـــان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ُّـ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حــاســوب لا يُــؤَثِّــرُ )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3690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endParaRPr lang="ar-DZ" sz="38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1358988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lvl="0" indent="-571500" algn="r" rtl="1">
              <a:buFont typeface="Wingdings" panose="05000000000000000000" pitchFamily="2" charset="2"/>
              <a:buChar char="ü"/>
            </a:pP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ـــان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ُّـ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حــاســوب لا يُــؤَثِّــرُ )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385320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lvl="0" indent="-571500" algn="r" rtl="1">
              <a:buFont typeface="Wingdings" panose="05000000000000000000" pitchFamily="2" charset="2"/>
              <a:buChar char="ü"/>
            </a:pP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قَــابِــلِــيَــةِ الإِرْسَــالِ وَالِاسْــتِــقْــبَــالِ فِـي آَنٍ وَاحِــدٍ وَبِــدُونِ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3339740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 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ــأ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 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ـاد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496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.............................................................................................</a:t>
            </a:r>
            <a:endParaRPr lang="ar-DZ" sz="38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spcBef>
                <a:spcPts val="1200"/>
              </a:spcBef>
              <a:spcAft>
                <a:spcPts val="800"/>
              </a:spcAft>
              <a:buNone/>
            </a:pPr>
            <a:endParaRPr lang="ar-DZ" sz="38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9416" y="1358988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lvl="0" indent="-571500" algn="r" rtl="1">
              <a:buFont typeface="Wingdings" panose="05000000000000000000" pitchFamily="2" charset="2"/>
              <a:buChar char="ü"/>
            </a:pP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ــول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ة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ـــان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ــع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ُّـ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حــاســوب لا يُــؤَثِّــرُ )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385320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lvl="0" indent="-571500" algn="r" rtl="1">
              <a:buFont typeface="Wingdings" panose="05000000000000000000" pitchFamily="2" charset="2"/>
              <a:buChar char="ü"/>
            </a:pP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قَــابِــلِــيَــةِ الإِرْسَــالِ وَالِاسْــتِــقْــبَــالِ فِـي آَنٍ وَاحِــدٍ وَبِــدُونِ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prstClr val="black">
                      <a:alpha val="40000"/>
                    </a:prst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3339740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 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ــأ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 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ـاد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ٍ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4302642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indent="-571500" algn="r" rtl="1">
              <a:buFont typeface="Wingdings" panose="05000000000000000000" pitchFamily="2" charset="2"/>
              <a:buChar char="ü"/>
            </a:pP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الـح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اظ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ع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ـى الـخ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وص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َّ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ــة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ـيـ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ل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الــب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ـان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ــات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6" y="5157192"/>
            <a:ext cx="10369152" cy="864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  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ـى الـج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ــاز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ـع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ـن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ِّ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ف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ــق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ــط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1220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"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ومـن الـجــديــر بـالـذكــر أنَّ تَـعَــطُّــلَ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الـمُـحَــوِّل </a:t>
            </a:r>
            <a:r>
              <a:rPr lang="fr-FR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Switch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فـي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شـــبــكــة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ذات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الـتــشــكــيــل الـنــجــمـي يُــؤَدِي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إلـى تَــعَــطُّــلِ الـتــواصـل داخــل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الـشــبـكـة،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لـكـن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بـإمـكــانــنـا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تـجــاوز هــذا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الـمــشــكــل بــتـوفــيــر مُــحَــوِّل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احــتــيــاطـي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لاســتــبــدال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الـمُـحَــوِّل الـمُــعَــطَّــل وبــذلـك </a:t>
            </a: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نَــسْــتَــرِجِــعُ الـتَّــوَاصُــل فـي وَقْــتٍ وَجِــيــزٍ 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+mj-cs"/>
              </a:rPr>
              <a:t>"</a:t>
            </a:r>
            <a:endParaRPr lang="ar-DZ" sz="44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3600" b="1" dirty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ar-DZ" sz="1800" b="1" dirty="0" smtClean="0">
              <a:solidFill>
                <a:srgbClr val="00000A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0167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واجــب مـنـزلـي</a:t>
            </a:r>
            <a:r>
              <a:rPr lang="ar-DZ" sz="4800" b="1" dirty="0">
                <a:solidFill>
                  <a:srgbClr val="FF000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r" rtl="1">
              <a:buNone/>
            </a:pPr>
            <a:r>
              <a:rPr lang="ar-SA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 –</a:t>
            </a:r>
            <a:r>
              <a:rPr lang="ar-SA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مــا هــو الـفَـــرْقَ بـيـن مــكــونـــات شــبــكــة مــحــلــيــة فـي الـحــالــتــيــن :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800100" lvl="0" indent="6350" algn="r" rtl="1"/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شــبــكــة </a:t>
            </a:r>
            <a:r>
              <a:rPr lang="ar-SA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مـحــلــيــة ســـلـــكـــيـــة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800100" lvl="0" indent="6350" algn="r" rtl="1"/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شــبــكــة مـحــلــيــة لا </a:t>
            </a:r>
            <a:r>
              <a:rPr lang="ar-SA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ســلــكــيــة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buNone/>
            </a:pPr>
            <a:endParaRPr lang="fr-FR" sz="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 –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قَـــارِنْ بـيـن الــمُــحَــوِّل   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Switch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 والــمُـــوَزِّع  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Hub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8041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26/10/2024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Times New Roman" panose="02020603050405020304" pitchFamily="18" charset="0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Times New Roman" panose="02020603050405020304" pitchFamily="18" charset="0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2800" b="1" dirty="0" smtClean="0">
              <a:cs typeface="+mj-cs"/>
            </a:endParaRPr>
          </a:p>
          <a:p>
            <a:pPr marL="0" lvl="0" indent="0" algn="just" rtl="1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ar-DZ" sz="4800" b="1" dirty="0" smtClean="0">
                <a:solidFill>
                  <a:srgbClr val="00206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2. حَـــدِّد الأنـــواع الأربـعــة لـهــذه الــشــبــكــة مـع بـــيــان الــمِــعْـــيَـــار الــمُــرْتَــبِــط بِــكُــلِّ نَـــوْعٍ</a:t>
            </a:r>
            <a:endParaRPr lang="ar-DZ" sz="18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26/10/2024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699" y="298465"/>
            <a:ext cx="9504000" cy="606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5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26498</TotalTime>
  <Words>6504</Words>
  <Application>Microsoft Office PowerPoint</Application>
  <PresentationFormat>Grand écran</PresentationFormat>
  <Paragraphs>1362</Paragraphs>
  <Slides>205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205</vt:i4>
      </vt:variant>
    </vt:vector>
  </HeadingPairs>
  <TitlesOfParts>
    <vt:vector size="218" baseType="lpstr">
      <vt:lpstr>Arial Unicode MS</vt:lpstr>
      <vt:lpstr>宋体</vt:lpstr>
      <vt:lpstr>宋体</vt:lpstr>
      <vt:lpstr>Arial</vt:lpstr>
      <vt:lpstr>Calibri</vt:lpstr>
      <vt:lpstr>Droid Sans Fallback</vt:lpstr>
      <vt:lpstr>FreeSans</vt:lpstr>
      <vt:lpstr>Liberation Serif</vt:lpstr>
      <vt:lpstr>Times New Roman</vt:lpstr>
      <vt:lpstr>Traditional Arabic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Présentation PowerPoint</vt:lpstr>
      <vt:lpstr>Présentation PowerPoint</vt:lpstr>
      <vt:lpstr>Présentation PowerPoint</vt:lpstr>
      <vt:lpstr>1. تـعــريـف الـشـبـكـة الـمـحــلـيـة  LAN</vt:lpstr>
      <vt:lpstr>سـؤال : مـا هـي  الـشــبــكــات الَّـتِي تـعـرفـونـهـا ؟ حَــدِّدْ دَوْرَ كُـل شـبـكـة</vt:lpstr>
      <vt:lpstr>سـؤال : مـا هـي  الـشــبــكــات الَّـتِي تـعـرفـونـهـا ؟ حَــدِّدْ دَوْرَ كُـل شـبـكـة</vt:lpstr>
      <vt:lpstr>سـؤال : مـا هـي  الـشــبــكــات الَّـتِي تـعـرفـونـهـا ؟ حَــدِّدْ دَوْرَ كُـل شـبـكـة</vt:lpstr>
      <vt:lpstr>سـؤال : مـا هـي  الـشــبــكــات الَّـتِي تـعـرفـونـهـا ؟ حَــدِّدْ دَوْرَ كُـل شـبـكـة</vt:lpstr>
      <vt:lpstr>سـؤال : مـا هـي  الـشــبــكــات الَّـتِي تـعـرفـونـهـا ؟ حَــدِّدْ دَوْرَ كُـل شـبـكـة</vt:lpstr>
      <vt:lpstr>ســؤال : مــاذا يـجـمـع هــذه الـشــبـكـات ؟ مـاذا تـعــني الـشـبـكـة لُـغَــةً ؟</vt:lpstr>
      <vt:lpstr>ســؤال : مــاذا يـجـمـع هــذه الـشــبـكـات ؟ مـاذا تـعــني الـشـبـكـة لُـغَــةً ؟</vt:lpstr>
      <vt:lpstr>ســؤال : مــاذا يـجـمـع هــذه الـشــبـكـات ؟ مـاذا تـعــني الـشـبـكـة لُـغَــةً ؟</vt:lpstr>
      <vt:lpstr>ســؤال : مــاذا يـجـمـع هــذه الـشــبـكـات ؟ مـاذا تـعــني الـشـبـكـة لُـغَــةً ؟</vt:lpstr>
      <vt:lpstr>ســـؤال : مــاذا تــعــنـي كــلــمــة الــشــبــكــة لُــغَـــةً ؟</vt:lpstr>
      <vt:lpstr>ســـؤال : مــاذا تــعــنـي كــلــمــة الــشــبــكــة لُــغَـــةً ؟</vt:lpstr>
      <vt:lpstr>ســـؤال : مــاذا تــعــنـي كــلــمــة الــشــبــكــة لُــغَـــةً ؟</vt:lpstr>
      <vt:lpstr>ســـؤال : مــمــا تــتــألــف الـشــبــكــة الـمــحــلــيــة ؟</vt:lpstr>
      <vt:lpstr>ســـؤال : مــمــا تــتــألــف الـشــبــكــة الـمــحــلــيــة ؟</vt:lpstr>
      <vt:lpstr>ســـؤال : مــمــا تــتــألــف الـشــبــكــة الـمــحــلــيــة ؟</vt:lpstr>
      <vt:lpstr>أتـذكـر </vt:lpstr>
      <vt:lpstr>أتـذكـر </vt:lpstr>
      <vt:lpstr>أتـذكـر </vt:lpstr>
      <vt:lpstr>أتـذكـر </vt:lpstr>
      <vt:lpstr>2. تــصــنــيــف الــشــبــكـــات </vt:lpstr>
      <vt:lpstr>ســؤال : تـصــنــيــف شــبــكــة يـتـطـلـب اخــتــيــار مـعــيــار فـمـاذا يُـمَـثِّـل ؟</vt:lpstr>
      <vt:lpstr>ســؤال : تـصــنــيــف شــبــكــة يـتـطـلـب اخــتــيــار مـعــيــار فـمـاذا يُـمَـثِّـل ؟</vt:lpstr>
      <vt:lpstr>ســؤال :  مـا هـي الـمـعــايــيــر الـمــتــبــعــة عــنـد تـصـنــيــف شــبـكـة ؟</vt:lpstr>
      <vt:lpstr>ســؤال :  مـا هـي الـمـعــايــيــر الـمــتــبــعــة عــنـد تـصـنــيــف شــبـكـة ؟</vt:lpstr>
      <vt:lpstr>ســؤال :  مـا هـي الـمـعــايــيــر الـمــتــبــعــة عــنـد تـصـنــيــف شــبـكـة ؟</vt:lpstr>
      <vt:lpstr>ســؤال :  مـا هـي الـمـعــايــيــر الـمــتــبــعــة عــنـد تـصـنــيــف شــبـكـة ؟</vt:lpstr>
      <vt:lpstr>ســؤال :  مـا هـي الـمـعــايــيــر الـمــتــبــعــة عــنـد تـصـنــيــف شــبـكـة ؟</vt:lpstr>
      <vt:lpstr>2. تــصــنــيــف الــشــبــكـــات </vt:lpstr>
      <vt:lpstr>أتـذكـر  ( 1.2 وســـيـــلــة الــربـــط )</vt:lpstr>
      <vt:lpstr>أتـذكـر  ( 1.2 وســـيـــلــة الــربـــط )</vt:lpstr>
      <vt:lpstr>أتـذكـر  ( 1.2 وســـيـــلــة الــربـــط )</vt:lpstr>
      <vt:lpstr>2. تــصــنــيــف الــشــبــكـــات </vt:lpstr>
      <vt:lpstr>تــصــنــيــف الــشــبــكـــات حــســب الامــتـــداد الـجــغـــرافــي </vt:lpstr>
      <vt:lpstr>تــصــنــيــف الــشــبــكـــات حــســب الامــتـــداد الـجــغـــرافــي </vt:lpstr>
      <vt:lpstr>تــصــنــيــف الــشــبــكـــات حــســب الامــتـــداد الـجــغـــرافــي </vt:lpstr>
      <vt:lpstr>تــصــنــيــف الــشــبــكـــات حــســب الامــتـــداد الـجــغـــرافــي </vt:lpstr>
      <vt:lpstr>أتـذكـر  ( 2.2 الامــتـــداد الـجــغـــرافــي )</vt:lpstr>
      <vt:lpstr>أتـذكـر  ( 2.2 الامــتـــداد الـجــغـــرافــي )</vt:lpstr>
      <vt:lpstr>أتـذكـر  ( 2.2 الامــتـــداد الـجــغـــرافــي )</vt:lpstr>
      <vt:lpstr>أتـذكـر  ( 2.2 الامــتـــداد الـجــغـــرافــي )</vt:lpstr>
      <vt:lpstr>2. تــصــنــيــف الــشــبــكـــات </vt:lpstr>
      <vt:lpstr>ســؤال : مَــا هـي نَـوْعَـيْ الــشــبــكــة حَــسْــبَ الـعــلاقــة الـوظــيــفــيـة ؟</vt:lpstr>
      <vt:lpstr>ســؤال : مَــا هـي نَـوْعَـيْ الــشــبــكــة حَــسْــبَ الـعــلاقــة الـوظــيــفــيـة ؟</vt:lpstr>
      <vt:lpstr>ســؤال : مَــا هـي نَـوْعَـيْ الــشــبــكــة حَــسْــبَ الـعــلاقــة الـوظــيــفــيـة ؟</vt:lpstr>
      <vt:lpstr>ســؤال : مَــا هـي نَـوْعَـيْ الــشــبــكــة حَــسْــبَ الـعــلاقــة الـوظــيــفــيـة ؟</vt:lpstr>
      <vt:lpstr>شــبــكــة مـن نــوع  « الـخَــادِمِ والـزَبُــونِ Client / Server »</vt:lpstr>
      <vt:lpstr>شــبــكــة مـن نــوع  « الـخَــادِمِ والـزَبُــونِ Client / Server »</vt:lpstr>
      <vt:lpstr>شــبــكــة مـن نــوع  « الـخَــادِمِ والـزَبُــونِ Client / Server »</vt:lpstr>
      <vt:lpstr> أتـذكـر : ( 3.2 – الـعــلاقــة الـوظــيــفــيــة ) </vt:lpstr>
      <vt:lpstr> أتـذكـر : ( 3.2 – الـعــلاقــة الـوظــيــفــيــة ) </vt:lpstr>
      <vt:lpstr> أتـذكـر : ( 3.2 – الـعــلاقــة الـوظــيــفــيــة ) </vt:lpstr>
      <vt:lpstr> أتـذكـر : ( 3.2 – الـعــلاقــة الـوظــيــفــيــة ) </vt:lpstr>
      <vt:lpstr> أتـذكـر : ( 3.2 – الـعــلاقــة الـوظــيــفــيــة ) </vt:lpstr>
      <vt:lpstr> أتـذكـر : ( 3.2 – الـعــلاقــة الـوظــيــفــيــة ) </vt:lpstr>
      <vt:lpstr> أتـذكـر : ( 3.2 – الـعــلاقــة الـوظــيــفــيــة ) </vt:lpstr>
      <vt:lpstr>شـــبــكــة مـن نــوع  « الــنِّـــد لِلــنِّـــد   Peer / Peer »</vt:lpstr>
      <vt:lpstr>شـــبــكــة مـن نــوع  « الــنِّـــد لِلــنِّـــد   Peer / Peer »</vt:lpstr>
      <vt:lpstr>شـــبــكــة مـن نــوع  « الــنِّـــد لِلــنِّـــد   Peer / Peer »</vt:lpstr>
      <vt:lpstr>شـــبــكــة مـن نــوع  « الــنِّـــد لِلــنِّـــد   Peer / Peer »</vt:lpstr>
      <vt:lpstr>شـــبــكــة مـن نــوع  « الــنِّـــد لِلــنِّـــد   Peer / Peer »</vt:lpstr>
      <vt:lpstr> أتـذكـر : ( 3.2 – الـعــلاقــة الـوظــيــفــيــة  –  تــابـع ) </vt:lpstr>
      <vt:lpstr> أتـذكـر : ( 3.2 – الـعــلاقــة الـوظــيــفــيــة  –  تــابـع ) </vt:lpstr>
      <vt:lpstr> أتـذكـر : ( 3.2 – الـعــلاقــة الـوظــيــفــيــة  –  تــابـع ) </vt:lpstr>
      <vt:lpstr> أتـذكـر : ( 3.2 – الـعــلاقــة الـوظــيــفــيــة  –  تــابـع ) </vt:lpstr>
      <vt:lpstr>2. تــصــنــيــف الــشــبــكـــات </vt:lpstr>
      <vt:lpstr>طُــوبُــولُــوجْـــيَــا ..................   «   Topologie en ………….»</vt:lpstr>
      <vt:lpstr>طُــوبُــولُــوجْـــيَــا ..................   «   Topologie en 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 «   Topologie en ………….»</vt:lpstr>
      <vt:lpstr>طُــوبُــولُــوجْـــيَــا ..................   «   Topologie en ………….»</vt:lpstr>
      <vt:lpstr>طُــوبُــولُــوجْـــيَــا ..................   «   Topologie en ………….»</vt:lpstr>
      <vt:lpstr>طُــوبُــولُــوجْـــيَــا ..................   «   Topologie en ………….»</vt:lpstr>
      <vt:lpstr>طُــوبُــولُــوجْـــيَــا ..................   «   Topologie en 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طُــوبُــولُــوجْـــيَــا ..................  «   Topologie en …………….»</vt:lpstr>
      <vt:lpstr>طُــوبُــولُــوجْــيَـا  .................. « . Topologie en  ……….…….»</vt:lpstr>
      <vt:lpstr>طُــوبُــولُــوجْـــيَــا ..................  «   Topologie en …………….»</vt:lpstr>
      <vt:lpstr>طُــوبُــولُــوجْــيَـا  .................. « . Topologie en  ……….…….»</vt:lpstr>
      <vt:lpstr>طُــوبُــولُــوجْــيَـا  .................. « . Topologie en  ……….…….»</vt:lpstr>
      <vt:lpstr>طُــوبُــولُــوجْــيَـا  .................. « . Topologie en  ……….…….»</vt:lpstr>
      <vt:lpstr>طُــوبُــولُــوجْــيَـا  .................. « . Topologie en  ……….…….»</vt:lpstr>
      <vt:lpstr>طُــوبُــولُــوجْــيَـا  .................. « . Topologie en  ……….…….»</vt:lpstr>
      <vt:lpstr>طُــوبُــولُــوجْــيَـا  .................. « . Topologie en  ……….…….»</vt:lpstr>
      <vt:lpstr>3. الـمــكــونـــات الــمــاديــة للــشــبــكــة الـمـحــلــيــة 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 الـمـكــونــات الـمــاديـة لـشــبــكــة مـحــلــيــة الـتـشـكـيـل الـنـجــمـي</vt:lpstr>
      <vt:lpstr>4. إعـــداد  الــشـــبـــكــة الـمـحــلــيــة </vt:lpstr>
      <vt:lpstr> أتـذكـر: ( نَــشَـاط 7 –  إعـــداد الــشــبــكــة الـمـحــلــيــة ) </vt:lpstr>
      <vt:lpstr> أتـذكـر: ( نَــشَـاط 7 –  إعـــداد الــشــبــكــة الـمـحــلــيــة تـابـع ) </vt:lpstr>
      <vt:lpstr> أتـذكـر: ( نَــشَـاط 7 –  إعـــداد الــشــبــكــة الـمـحــلــيــة تـابـع ) </vt:lpstr>
      <vt:lpstr>ســؤال : هــل تـجــمــيـع مـكـونـات الـحـاسـوب كـافـيـا للاسـتـفــادة مـنـه ؟</vt:lpstr>
      <vt:lpstr>ســؤال : هــل تـجــمــيـع مـكـونـات الـحـاسـوب كـافـيـا للاسـتـفــادة مـنـه ؟</vt:lpstr>
      <vt:lpstr>ســؤال : هــل تـجــمــيـع مـكـونـات الـحـاسـوب كـافـيـا للاسـتـفــادة مـنـه ؟</vt:lpstr>
      <vt:lpstr>ســؤال : هــل تـوصـيـل مـكـونـات الــشــبـكـة كـافـيـا للاسـتـفــادة مـنـهـا ؟</vt:lpstr>
      <vt:lpstr>ســؤال : هــل تـوصـيـل مـكـونـات الــشــبـكـة كـافـيـا للاسـتـفــادة مـنـهـا ؟</vt:lpstr>
      <vt:lpstr>ســؤال : هــل تـوصـيـل مـكـونـات الــشــبـكـة كـافـيـا للاسـتـفــادة مـنـهـا ؟</vt:lpstr>
      <vt:lpstr>ســؤال : هــل تـوصـيـل مـكـونـات الــشــبـكـة كـافـيـا للاسـتـفــادة مـنـهـا ؟</vt:lpstr>
      <vt:lpstr>ســؤال : كـيـف يـتـم تـحـديــد اســم الــشـبـكـة  workgroup  ؟</vt:lpstr>
      <vt:lpstr>ســؤال : كـيـف يـتـم تـحـديــد اســم الــشـبـكـة  workgroup  ؟</vt:lpstr>
      <vt:lpstr>ســؤال : كـيـف يـتـم تـحـديــد اســم الــشـبـكـة  workgroup  ؟</vt:lpstr>
      <vt:lpstr>ســؤال : كـيـف يـتـم تـحـديــد اســم الــشـبـكـة  workgroup  ؟</vt:lpstr>
      <vt:lpstr>ســؤال : كـيـف يـتـم تـحـديــد اســم الــشـبـكـة  workgroup  ؟</vt:lpstr>
      <vt:lpstr>ســؤال : هــل تـوصـيـل مـكـونـات الــشــبـكـة كـافـيـا للاسـتـفــادة مـنـهـا ؟</vt:lpstr>
      <vt:lpstr>ســؤال : كـيـف يـتـم تـحـديــد أرقــام الـحـواســيــب @IP فـي الــشـبـكـة ؟</vt:lpstr>
      <vt:lpstr>تـحــديــد رقــم حـــاســوب @IP فـي الــشـبـكـة يـكـون كـالـتـالـي :</vt:lpstr>
      <vt:lpstr>تـحــديــد رقــم حـــاســوب @IP فـي الــشـبـكـة يـكـون كـالـتـالـي :</vt:lpstr>
      <vt:lpstr>تـحــديــد رقــم حـــاســوب @IP فـي الــشـبـكـة يـكـون كـالـتـالـي :</vt:lpstr>
      <vt:lpstr> أتـذكـر: ( نَــشَـاط 7 –  إعـــداد الــشــبــكــة الـمـحــلــيــة ) </vt:lpstr>
      <vt:lpstr> أتـذكـر: ( نَــشَـاط 7 –  إعـــداد الــشــبــكــة الـمـحــلــيــة ) </vt:lpstr>
      <vt:lpstr> أتـذكـر: ( نَــشَـاط 7 –  إعـــداد الــشــبــكــة الـمـحــلــيــة ) </vt:lpstr>
      <vt:lpstr> أتـذكـر: ( نَــشَـاط 7 –  إعـــداد الــشــبــكــة الـمـحــلــيــة تـابـع ) </vt:lpstr>
      <vt:lpstr> أتـذكـر: ( نَــشَـاط 7 –  إعـــداد الــشــبــكــة الـمـحــلــيــة تـابـع ) </vt:lpstr>
      <vt:lpstr> أتـذكـر: ( نَــشَـاط 7 –  إعـــداد الــشــبــكــة الـمـحــلــيــة تـابـع ) </vt:lpstr>
      <vt:lpstr> أتـذكـر: ( نَــشَـاط 7 –  إعـــداد الــشــبــكــة الـمـحــلــيــة تـابـع ) </vt:lpstr>
      <vt:lpstr> أتـذكـر: ( نَــشَـاط 7 –  إعـــداد الــشــبــكــة الـمـحــلــيــة تـابـع ) </vt:lpstr>
      <vt:lpstr> أتـذكـر: ( نَــشَـاط 7 –  إعـــداد الــشــبــكــة الـمـحــلــيــة تـابـع ) </vt:lpstr>
      <vt:lpstr>5. اســتـغــلال الــمــوارد الـمُــشْــتَــرَكَــة </vt:lpstr>
      <vt:lpstr> أتـذكـر: ( نَــشَـاط 8  –  اســتـغــلال الــمــوارد الـمُــشْــتَــرَكَــة ) </vt:lpstr>
      <vt:lpstr> أتـذكـر: ( نَــشَـاط 8  –  اســتـغــلال الــمــوارد الـمُــشْــتَــرَكَــة ) </vt:lpstr>
      <vt:lpstr> أتـذكـر: ( نَــشَـاط 8  –  اســتـغــلال الــمــوارد الـمُــشْــتَــرَكَــة ) </vt:lpstr>
      <vt:lpstr> أتـذكـر: ( نَــشَـاط 8  –  اســتـغــلال الــمــوارد الـمُــشْــتَــرَكَــة ) </vt:lpstr>
      <vt:lpstr> أتـذكـر: ( نَــشَـاط 8 –  اســتـغــلال الــمــوارد الـمُــشْــتَــرَكَــة تـابـع ) </vt:lpstr>
      <vt:lpstr> أتـذكـر: ( نَــشَـاط 8 –  اســتـغــلال الــمــوارد الـمُــشْــتَــرَكَــة تـابـع ) </vt:lpstr>
      <vt:lpstr> أتـذكـر: ( نَــشَـاط 8 –  اســتـغــلال الــمــوارد الـمُــشْــتَــرَكَــة تـابـع ) </vt:lpstr>
      <vt:lpstr> أتـذكـر: ( نَــشَـاط 8 –  اســتـغــلال الــمــوارد الـمُــشْــتَــرَكَــة تـابـع ) </vt:lpstr>
      <vt:lpstr> أتـذكـر: ( نَــشَـاط 8 –  اســتـغــلال الــمــوارد الـمُــشْــتَــرَكَــة تـابـع ) </vt:lpstr>
      <vt:lpstr> أتـذكـر: ( نَــشَـاط 8 –  اســتـغــلال الــمــوارد الـمُــشْــتَــرَكَــة تـابـع ) </vt:lpstr>
      <vt:lpstr> أتـذكـر: ( نَــشَـاط 8 –  اســتـغــلال الــمــوارد الـمُــشْــتَــرَكَــة تـابـع ) </vt:lpstr>
      <vt:lpstr> الــــوضـــعـــــيــــة الإدمـــــــاجــــــيـــــة :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واجــب مـنـزلـي :</vt:lpstr>
      <vt:lpstr>Présentation PowerPoint</vt:lpstr>
      <vt:lpstr> الــوضــعــــيـــة الإدمــــاجـــيــــة  ــ  تـــابــع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1612</cp:revision>
  <dcterms:created xsi:type="dcterms:W3CDTF">2015-11-30T21:00:22Z</dcterms:created>
  <dcterms:modified xsi:type="dcterms:W3CDTF">2024-10-26T14:16:12Z</dcterms:modified>
</cp:coreProperties>
</file>