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4"/>
  </p:notesMasterIdLst>
  <p:sldIdLst>
    <p:sldId id="273" r:id="rId3"/>
    <p:sldId id="291" r:id="rId4"/>
    <p:sldId id="258" r:id="rId5"/>
    <p:sldId id="362" r:id="rId6"/>
    <p:sldId id="419" r:id="rId7"/>
    <p:sldId id="292" r:id="rId8"/>
    <p:sldId id="293" r:id="rId9"/>
    <p:sldId id="444" r:id="rId10"/>
    <p:sldId id="446" r:id="rId11"/>
    <p:sldId id="445" r:id="rId12"/>
    <p:sldId id="447" r:id="rId13"/>
    <p:sldId id="448" r:id="rId14"/>
    <p:sldId id="449" r:id="rId15"/>
    <p:sldId id="450" r:id="rId16"/>
    <p:sldId id="451" r:id="rId17"/>
    <p:sldId id="439" r:id="rId18"/>
    <p:sldId id="394" r:id="rId19"/>
    <p:sldId id="420" r:id="rId20"/>
    <p:sldId id="395" r:id="rId21"/>
    <p:sldId id="440" r:id="rId22"/>
    <p:sldId id="396" r:id="rId23"/>
    <p:sldId id="421" r:id="rId24"/>
    <p:sldId id="366" r:id="rId25"/>
    <p:sldId id="452" r:id="rId26"/>
    <p:sldId id="400" r:id="rId27"/>
    <p:sldId id="397" r:id="rId28"/>
    <p:sldId id="403" r:id="rId29"/>
    <p:sldId id="422" r:id="rId30"/>
    <p:sldId id="455" r:id="rId31"/>
    <p:sldId id="454" r:id="rId32"/>
    <p:sldId id="453" r:id="rId33"/>
    <p:sldId id="404" r:id="rId34"/>
    <p:sldId id="423" r:id="rId35"/>
    <p:sldId id="401" r:id="rId36"/>
    <p:sldId id="406" r:id="rId37"/>
    <p:sldId id="424" r:id="rId38"/>
    <p:sldId id="457" r:id="rId39"/>
    <p:sldId id="456" r:id="rId40"/>
    <p:sldId id="405" r:id="rId41"/>
    <p:sldId id="425" r:id="rId42"/>
    <p:sldId id="408" r:id="rId43"/>
    <p:sldId id="409" r:id="rId44"/>
    <p:sldId id="410" r:id="rId45"/>
    <p:sldId id="428" r:id="rId46"/>
    <p:sldId id="430" r:id="rId47"/>
    <p:sldId id="426" r:id="rId48"/>
    <p:sldId id="459" r:id="rId49"/>
    <p:sldId id="458" r:id="rId50"/>
    <p:sldId id="431" r:id="rId51"/>
    <p:sldId id="427" r:id="rId52"/>
    <p:sldId id="461" r:id="rId53"/>
    <p:sldId id="460" r:id="rId54"/>
    <p:sldId id="432" r:id="rId55"/>
    <p:sldId id="429" r:id="rId56"/>
    <p:sldId id="463" r:id="rId57"/>
    <p:sldId id="462" r:id="rId58"/>
    <p:sldId id="411" r:id="rId59"/>
    <p:sldId id="412" r:id="rId60"/>
    <p:sldId id="433" r:id="rId61"/>
    <p:sldId id="413" r:id="rId62"/>
    <p:sldId id="464" r:id="rId63"/>
    <p:sldId id="466" r:id="rId64"/>
    <p:sldId id="467" r:id="rId65"/>
    <p:sldId id="497" r:id="rId66"/>
    <p:sldId id="496" r:id="rId67"/>
    <p:sldId id="495" r:id="rId68"/>
    <p:sldId id="469" r:id="rId69"/>
    <p:sldId id="501" r:id="rId70"/>
    <p:sldId id="500" r:id="rId71"/>
    <p:sldId id="499" r:id="rId72"/>
    <p:sldId id="498" r:id="rId73"/>
    <p:sldId id="505" r:id="rId74"/>
    <p:sldId id="504" r:id="rId75"/>
    <p:sldId id="503" r:id="rId76"/>
    <p:sldId id="502" r:id="rId77"/>
    <p:sldId id="510" r:id="rId78"/>
    <p:sldId id="506" r:id="rId79"/>
    <p:sldId id="539" r:id="rId80"/>
    <p:sldId id="538" r:id="rId81"/>
    <p:sldId id="537" r:id="rId82"/>
    <p:sldId id="536" r:id="rId83"/>
    <p:sldId id="533" r:id="rId84"/>
    <p:sldId id="534" r:id="rId85"/>
    <p:sldId id="535" r:id="rId86"/>
    <p:sldId id="517" r:id="rId87"/>
    <p:sldId id="519" r:id="rId88"/>
    <p:sldId id="414" r:id="rId89"/>
    <p:sldId id="471" r:id="rId90"/>
    <p:sldId id="472" r:id="rId91"/>
    <p:sldId id="473" r:id="rId92"/>
    <p:sldId id="415" r:id="rId93"/>
    <p:sldId id="474" r:id="rId94"/>
    <p:sldId id="520" r:id="rId95"/>
    <p:sldId id="522" r:id="rId96"/>
    <p:sldId id="518" r:id="rId97"/>
    <p:sldId id="417" r:id="rId98"/>
    <p:sldId id="478" r:id="rId99"/>
    <p:sldId id="476" r:id="rId100"/>
    <p:sldId id="477" r:id="rId101"/>
    <p:sldId id="418" r:id="rId102"/>
    <p:sldId id="479" r:id="rId103"/>
    <p:sldId id="480" r:id="rId104"/>
    <p:sldId id="481" r:id="rId105"/>
    <p:sldId id="482" r:id="rId106"/>
    <p:sldId id="483" r:id="rId107"/>
    <p:sldId id="531" r:id="rId108"/>
    <p:sldId id="530" r:id="rId109"/>
    <p:sldId id="529" r:id="rId110"/>
    <p:sldId id="528" r:id="rId111"/>
    <p:sldId id="489" r:id="rId112"/>
    <p:sldId id="527" r:id="rId113"/>
    <p:sldId id="526" r:id="rId114"/>
    <p:sldId id="525" r:id="rId115"/>
    <p:sldId id="524" r:id="rId116"/>
    <p:sldId id="532" r:id="rId117"/>
    <p:sldId id="392" r:id="rId118"/>
    <p:sldId id="492" r:id="rId119"/>
    <p:sldId id="491" r:id="rId120"/>
    <p:sldId id="338" r:id="rId121"/>
    <p:sldId id="494" r:id="rId122"/>
    <p:sldId id="493" r:id="rId1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4" autoAdjust="0"/>
    <p:restoredTop sz="94434" autoAdjust="0"/>
  </p:normalViewPr>
  <p:slideViewPr>
    <p:cSldViewPr>
      <p:cViewPr varScale="1">
        <p:scale>
          <a:sx n="71" d="100"/>
          <a:sy n="71" d="100"/>
        </p:scale>
        <p:origin x="46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05/10/2024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05/10/2024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05/10/2024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05/10/2024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05/10/2024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05/10/2024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05/10/2024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05/10/2024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05/10/2024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05/10/2024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05/10/2024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05/10/2024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05/10/2024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05/10/2024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05/10/2024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05/10/2024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05/10/2024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05/10/2024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05/10/2024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05/10/2024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05/10/2024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05/10/2024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05/10/2024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05/10/2024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05/10/2024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05/10/2024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05/10/2024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05/10/2024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800" b="1" dirty="0"/>
              <a:t>يـتـألـف الـحـاسـوب مـن عِــدَّة وحــدات ( مــكــونــات ) بـحـيـث يــتِــمُّ صـنـاعـتـهـا عَــادَةً مــن طـــرف شــركــات مـخـتـلـفـة، فـالـحـاســوب يـكـون فـي الـبـدايــة </a:t>
            </a:r>
            <a:r>
              <a:rPr lang="ar-DZ" sz="4800" b="1" dirty="0" smtClean="0"/>
              <a:t>مُـجَــزَّأً ، </a:t>
            </a:r>
            <a:r>
              <a:rPr lang="ar-DZ" sz="4800" b="1" dirty="0"/>
              <a:t>فـمـاذا يـنـبـغـي الـقــيــام بــه للـحـصـول عـلـى جـهــاز </a:t>
            </a:r>
            <a:r>
              <a:rPr lang="ar-DZ" sz="4800" b="1" dirty="0" smtClean="0"/>
              <a:t>كـامـل</a:t>
            </a:r>
            <a:r>
              <a:rPr lang="fr-FR" sz="4800" b="1" dirty="0" smtClean="0"/>
              <a:t> </a:t>
            </a:r>
            <a:r>
              <a:rPr lang="ar-DZ" sz="4800" b="1" dirty="0" smtClean="0">
                <a:cs typeface="+mj-cs"/>
              </a:rPr>
              <a:t>؟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4503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2520" y="2118568"/>
            <a:ext cx="10369152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تــجـــمـــيـــع الـحــــاســـوب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Assemblage de l’Ordinateur</a:t>
            </a:r>
            <a:endParaRPr lang="fr-FR" sz="36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797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20710"/>
            <a:ext cx="10693188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تــجـــمـــيـــع الـحــــاســـوب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05/10/2024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تــعــريــف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الـحــاســـوب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/>
              <a:t>قـــارِنْ </a:t>
            </a:r>
            <a:r>
              <a:rPr lang="ar-DZ" sz="4800" b="1" dirty="0"/>
              <a:t>بـيـن الآلــة الـحــاســبــة والـحــاســوب ثــمَ عَـــرِّفْ </a:t>
            </a:r>
            <a:r>
              <a:rPr lang="ar-DZ" sz="4800" b="1" dirty="0" smtClean="0"/>
              <a:t>الـحــاســوب </a:t>
            </a:r>
            <a:r>
              <a:rPr lang="ar-DZ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الـمـعــلــومـات الَّـتِي تَــتَـعَــامَـلُ مـعـهـا </a:t>
            </a:r>
            <a:r>
              <a:rPr lang="ar-DZ" sz="3500" b="1" dirty="0">
                <a:solidFill>
                  <a:srgbClr val="FF0000"/>
                </a:solidFill>
              </a:rPr>
              <a:t>الآلــة الـحـاسـبـة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77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الـمـعــلــومـات الَّـتِي تَــتَـعَــامَـلُ مـعـهـا </a:t>
            </a:r>
            <a:r>
              <a:rPr lang="ar-DZ" sz="3500" b="1" dirty="0">
                <a:solidFill>
                  <a:srgbClr val="FF0000"/>
                </a:solidFill>
              </a:rPr>
              <a:t>الآلــة الـحـاسـبـة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23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كـيـف تَــتَـعَــامَـلُ </a:t>
            </a:r>
            <a:r>
              <a:rPr lang="ar-DZ" sz="4000" b="1" dirty="0">
                <a:solidFill>
                  <a:srgbClr val="FF0000"/>
                </a:solidFill>
              </a:rPr>
              <a:t>الآلــة الـحـاسـبـة مـع الأعــــداد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376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كـيـف تَــتَـعَــامَـلُ </a:t>
            </a:r>
            <a:r>
              <a:rPr lang="ar-DZ" sz="4000" b="1" dirty="0">
                <a:solidFill>
                  <a:srgbClr val="FF0000"/>
                </a:solidFill>
              </a:rPr>
              <a:t>الآلــة الـحـاسـبـة مـع الأعــــداد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227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</a:t>
            </a:r>
            <a:r>
              <a:rPr lang="ar-DZ" sz="3800" b="1" dirty="0">
                <a:solidFill>
                  <a:srgbClr val="FF0000"/>
                </a:solidFill>
              </a:rPr>
              <a:t>مـاذا يـحــدث بـعْـدَ إِجْـــرَاءِ الـعَـمَـلِــيَــاتِ عَـلَى الأعــــداد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958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</a:t>
            </a:r>
            <a:r>
              <a:rPr lang="ar-DZ" sz="3800" b="1" dirty="0">
                <a:solidFill>
                  <a:srgbClr val="FF0000"/>
                </a:solidFill>
              </a:rPr>
              <a:t>مـاذا يـحــدث بـعْـدَ إِجْـــرَاءِ الـعَـمَـلِــيَــاتِ عَـلَى الأعــــداد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1315" y="4608760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3" name="Connecteur droit avec flèche 12"/>
          <p:cNvCxnSpPr>
            <a:endCxn id="12" idx="3"/>
          </p:cNvCxnSpPr>
          <p:nvPr/>
        </p:nvCxnSpPr>
        <p:spPr>
          <a:xfrm flipH="1">
            <a:off x="3321923" y="5005649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Nuage 13"/>
          <p:cNvSpPr/>
          <p:nvPr/>
        </p:nvSpPr>
        <p:spPr>
          <a:xfrm>
            <a:off x="939486" y="3536967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إظــهــار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207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الـمــعــلــومـات الَّـتِي يَــتَـعَـــامَــلُ مـعـهـا </a:t>
            </a:r>
            <a:r>
              <a:rPr lang="ar-DZ" sz="3500" b="1" dirty="0">
                <a:solidFill>
                  <a:srgbClr val="FF0000"/>
                </a:solidFill>
              </a:rPr>
              <a:t>الـحــاســوب</a:t>
            </a:r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3600" b="1" dirty="0">
                <a:solidFill>
                  <a:srgbClr val="FF0000"/>
                </a:solidFill>
              </a:rPr>
              <a:t>الـحــاســوب   </a:t>
            </a:r>
            <a:r>
              <a:rPr lang="fr-FR" sz="3200" b="1" dirty="0">
                <a:solidFill>
                  <a:srgbClr val="FF0000"/>
                </a:solidFill>
              </a:rPr>
              <a:t>Ordinateur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1315" y="4608760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3" name="Connecteur droit avec flèche 12"/>
          <p:cNvCxnSpPr>
            <a:endCxn id="12" idx="3"/>
          </p:cNvCxnSpPr>
          <p:nvPr/>
        </p:nvCxnSpPr>
        <p:spPr>
          <a:xfrm flipH="1">
            <a:off x="3321923" y="5005649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Nuage 13"/>
          <p:cNvSpPr/>
          <p:nvPr/>
        </p:nvSpPr>
        <p:spPr>
          <a:xfrm>
            <a:off x="939486" y="3536967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إظــهــار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533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الـمــعــلــومـات الَّـتِي يَــتَـعَـــامَــلُ مـعـهـا </a:t>
            </a:r>
            <a:r>
              <a:rPr lang="ar-DZ" sz="3500" b="1" dirty="0">
                <a:solidFill>
                  <a:srgbClr val="FF0000"/>
                </a:solidFill>
              </a:rPr>
              <a:t>الـحــاســوب</a:t>
            </a:r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3600" b="1" dirty="0">
                <a:solidFill>
                  <a:srgbClr val="FF0000"/>
                </a:solidFill>
              </a:rPr>
              <a:t>الـحــاســوب   </a:t>
            </a:r>
            <a:r>
              <a:rPr lang="fr-FR" sz="3200" b="1" dirty="0">
                <a:solidFill>
                  <a:srgbClr val="FF0000"/>
                </a:solidFill>
              </a:rPr>
              <a:t>Ordinateur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1315" y="4608760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3" name="Connecteur droit avec flèche 12"/>
          <p:cNvCxnSpPr>
            <a:endCxn id="12" idx="3"/>
          </p:cNvCxnSpPr>
          <p:nvPr/>
        </p:nvCxnSpPr>
        <p:spPr>
          <a:xfrm flipH="1">
            <a:off x="3321923" y="5005649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Nuage 13"/>
          <p:cNvSpPr/>
          <p:nvPr/>
        </p:nvSpPr>
        <p:spPr>
          <a:xfrm>
            <a:off x="939486" y="3536967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إظــهــار</a:t>
            </a:r>
            <a:endParaRPr lang="fr-FR" sz="3200" dirty="0">
              <a:cs typeface="+mj-cs"/>
            </a:endParaRPr>
          </a:p>
        </p:txBody>
      </p:sp>
      <p:sp>
        <p:nvSpPr>
          <p:cNvPr id="16" name="Espace réservé du contenu 18"/>
          <p:cNvSpPr txBox="1">
            <a:spLocks/>
          </p:cNvSpPr>
          <p:nvPr/>
        </p:nvSpPr>
        <p:spPr>
          <a:xfrm>
            <a:off x="9281833" y="29161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2800" b="1" smtClean="0">
                <a:solidFill>
                  <a:srgbClr val="0070C0"/>
                </a:solidFill>
                <a:cs typeface="+mj-cs"/>
              </a:rPr>
              <a:t>كـل الأنـواع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870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9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 smtClean="0">
                <a:solidFill>
                  <a:srgbClr val="FF0000"/>
                </a:solidFill>
                <a:cs typeface="+mj-cs"/>
              </a:rPr>
              <a:t>ســؤال : مـاهـي الـمــعــلــومـات الَّـتِي يَــتَـعَـــامَــلُ مـعـهـا </a:t>
            </a:r>
            <a:r>
              <a:rPr lang="ar-DZ" sz="3500" b="1" dirty="0" smtClean="0">
                <a:solidFill>
                  <a:srgbClr val="FF0000"/>
                </a:solidFill>
              </a:rPr>
              <a:t>الـحــاســوب</a:t>
            </a:r>
            <a:r>
              <a:rPr lang="ar-DZ" sz="35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5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86470" y="5585263"/>
            <a:ext cx="50886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الـتــخــزيـــن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الـحــاســوب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Ordinateur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كـل الأنـواع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8" idx="2"/>
          </p:cNvCxnSpPr>
          <p:nvPr/>
        </p:nvCxnSpPr>
        <p:spPr>
          <a:xfrm>
            <a:off x="2176619" y="5085184"/>
            <a:ext cx="1409851" cy="8969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Nuage 17"/>
          <p:cNvSpPr/>
          <p:nvPr/>
        </p:nvSpPr>
        <p:spPr>
          <a:xfrm>
            <a:off x="9023055" y="515791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20" name="Nuage 19"/>
          <p:cNvSpPr/>
          <p:nvPr/>
        </p:nvSpPr>
        <p:spPr>
          <a:xfrm>
            <a:off x="963248" y="3284983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إظــهــار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241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9" grpId="0" animBg="1"/>
      <p:bldP spid="18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وإظـهـارهـا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وإظـهـارهـا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اِسْــتِــقْــبَــال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7648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48128" y="4577242"/>
            <a:ext cx="26929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تـخــزيــنـهـا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130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تـصـنــيــف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مـكـونــات الـحــاســـوب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بـالاعـتـمــاد عــلـى تـعــريــف </a:t>
            </a:r>
            <a:r>
              <a:rPr lang="ar-DZ" sz="4800" b="1" dirty="0" smtClean="0">
                <a:cs typeface="+mj-cs"/>
              </a:rPr>
              <a:t>الـحــاســوب، </a:t>
            </a:r>
            <a:r>
              <a:rPr lang="ar-DZ" sz="4800" b="1" dirty="0">
                <a:cs typeface="+mj-cs"/>
              </a:rPr>
              <a:t>صَـنِّـفْ مــكــونـــات الـحــاســوب حــســب </a:t>
            </a:r>
            <a:r>
              <a:rPr lang="ar-DZ" sz="4800" b="1" dirty="0" smtClean="0">
                <a:cs typeface="+mj-cs"/>
              </a:rPr>
              <a:t>وظـيــفــتـهـا بِـدُونِ  ( تـعــيــيــنـهـا ) </a:t>
            </a:r>
            <a:r>
              <a:rPr lang="ar-DZ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95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اِسْــتِــقْــبَــال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7648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48128" y="4577242"/>
            <a:ext cx="26929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تـخــزيــنـهـا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518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95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854472" y="2951836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الإِدْخَــال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6625" y="2951837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الإِخْــرَاج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78471" y="4696528"/>
            <a:ext cx="25992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الـمُـعَــالَــجَـة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36197" y="4419433"/>
            <a:ext cx="274817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الـتـخـــزيـــن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0544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: تَـنْـقَـسِـمُ مـكـونـات الـحـاسـوب إلـى قِـسْـمَـيْـنِ مَـا هُـمَـا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Composants Matériels de l’Ordinateur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الـمُــكَــوِنَــات الـمَــادِيَـــة لِلْـحَــاسُـــوب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</p:cNvCxnSpPr>
          <p:nvPr/>
        </p:nvCxnSpPr>
        <p:spPr>
          <a:xfrm flipH="1">
            <a:off x="4669632" y="2278561"/>
            <a:ext cx="1361905" cy="8843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</p:cNvCxnSpPr>
          <p:nvPr/>
        </p:nvCxnSpPr>
        <p:spPr>
          <a:xfrm>
            <a:off x="6031537" y="2278561"/>
            <a:ext cx="1360607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4669632" y="4475212"/>
            <a:ext cx="1210994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606164"/>
            <a:ext cx="1309792" cy="7268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4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: تَـنْـقَـسِـمُ مـكـونـات الـحـاسـوب إلـى قِـسْـمَـيْـنِ مَـا هُـمَـا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277231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مُـكَـوِنَـات  خَــارِجِــيَــة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Composants Internes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Composants Matériels de l’Ordinateur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الـمُــكَــوِنَــات الـمَــادِيَـــة لِلْـحَــاسُـــوب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92144" y="4139777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900" b="1" dirty="0">
                <a:solidFill>
                  <a:srgbClr val="0070C0"/>
                </a:solidFill>
              </a:rPr>
              <a:t> </a:t>
            </a:r>
            <a:r>
              <a:rPr lang="fr-FR" sz="2900" b="1" dirty="0">
                <a:solidFill>
                  <a:srgbClr val="0070C0"/>
                </a:solidFill>
              </a:rPr>
              <a:t>Composants </a:t>
            </a:r>
            <a:r>
              <a:rPr lang="fr-FR" sz="2900" b="1" dirty="0" smtClean="0">
                <a:solidFill>
                  <a:srgbClr val="0070C0"/>
                </a:solidFill>
              </a:rPr>
              <a:t>Externes</a:t>
            </a:r>
            <a:endParaRPr lang="fr-FR" sz="29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18" idx="3"/>
          </p:cNvCxnSpPr>
          <p:nvPr/>
        </p:nvCxnSpPr>
        <p:spPr>
          <a:xfrm flipH="1">
            <a:off x="4669632" y="2278561"/>
            <a:ext cx="1361905" cy="8843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360607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669632" y="4475212"/>
            <a:ext cx="1210994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606164"/>
            <a:ext cx="1309792" cy="7268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30666" y="2766041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مُــكَــوِنَــات  دَاخِــلِــيَــة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522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3.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تَـعْــيِــيــن مُــكَــوِنَـــات الـحَـــاسُــوب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4147391"/>
            <a:ext cx="3337142" cy="17298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وَحَـــدَات الإدْخَـــال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Périphériques d’Entrée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4147391"/>
            <a:ext cx="3409150" cy="17298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وَحَـــدَات الإخْـــرَاج 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Périphériques</a:t>
            </a:r>
            <a:r>
              <a:rPr lang="en-US" sz="3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000" b="1" dirty="0">
                <a:solidFill>
                  <a:srgbClr val="0070C0"/>
                </a:solidFill>
                <a:cs typeface="+mj-cs"/>
              </a:rPr>
              <a:t>de </a:t>
            </a:r>
            <a:r>
              <a:rPr lang="en-US" sz="3000" b="1" dirty="0" smtClean="0">
                <a:solidFill>
                  <a:srgbClr val="0070C0"/>
                </a:solidFill>
                <a:cs typeface="+mj-cs"/>
              </a:rPr>
              <a:t>Sortie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2051865"/>
            <a:ext cx="10000444" cy="13142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الـمُــكَــوِنَـــات  الـخَـــارِجِـــيَـــة</a:t>
            </a:r>
            <a:endParaRPr lang="ar-DZ" sz="44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3366072"/>
            <a:ext cx="1591721" cy="1646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3366072"/>
            <a:ext cx="1662431" cy="1646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2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1.3 – الـمـكــونــات الـخـارجــيـة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(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Périphériques d’Entrée/Sortie 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fr-FR" sz="48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4400" b="1" dirty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4400" b="1" dirty="0" smtClean="0">
                <a:cs typeface="+mj-cs"/>
              </a:rPr>
              <a:t>تــعــتــبــر </a:t>
            </a:r>
            <a:r>
              <a:rPr lang="ar-DZ" sz="4400" b="1" dirty="0">
                <a:cs typeface="+mj-cs"/>
              </a:rPr>
              <a:t>وحــدات الإدخــال مــكــونــات خــارجــيــة بـحــيـث تـتـواجــد حــول الـوحــدة الـمـركــزيـة،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حَــدِّدْ </a:t>
            </a:r>
            <a:r>
              <a:rPr lang="ar-DZ" sz="4400" b="1" dirty="0">
                <a:solidFill>
                  <a:schemeClr val="tx1"/>
                </a:solidFill>
                <a:cs typeface="+mj-cs"/>
              </a:rPr>
              <a:t>بـعـض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>
                <a:solidFill>
                  <a:srgbClr val="0070C0"/>
                </a:solidFill>
                <a:cs typeface="+mj-cs"/>
              </a:rPr>
              <a:t>وحــدات </a:t>
            </a: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الإدخـــال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>
                <a:cs typeface="+mj-cs"/>
              </a:rPr>
              <a:t>ومــاذا تــســتــنــتــج ؟  </a:t>
            </a:r>
            <a:endParaRPr lang="ar-DZ" sz="46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أ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749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1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737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213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24376" y="381468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الـمـيـكـرفــون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3632" y="3917920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الـمـاسـح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090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24376" y="381468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الـمـيـكـرفــون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3632" y="3917920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الـمـاسـح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77988" y="5068070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الـقـلـم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36083" y="506807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شـاشـة لـمـسـيـة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1284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الإدخـــال </a:t>
            </a:r>
            <a:r>
              <a:rPr lang="ar-DZ" sz="4400" b="1" dirty="0" smtClean="0">
                <a:solidFill>
                  <a:schemeClr val="tx2"/>
                </a:solidFill>
              </a:rPr>
              <a:t>تَــشْــمُــلُ جــمــيــع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الّـتي يَـتِـمُّ مـن خــلالـهـا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الـمـعـلـومـات وإدخــالـهـا إلـى وحــدة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أ – وَحَـــدَات الإِدْخَـــال ( 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4000" i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4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072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الإدخـــال </a:t>
            </a:r>
            <a:r>
              <a:rPr lang="ar-DZ" sz="4400" b="1" dirty="0" smtClean="0">
                <a:solidFill>
                  <a:schemeClr val="tx2"/>
                </a:solidFill>
              </a:rPr>
              <a:t>تَــشْــمُــلُ جــمــيــع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الّـتي يَـتِـمُّ مـن خــلالـهـا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الـمـعـلـومـات وإدخــالـهـا إلـى وحــدة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1772816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الـمُـكَــوِنَـــات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54400" y="2770740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إِنْــتَــاج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51784" y="3798878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الــمُـعَــالَــجَــة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122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1.3 – الـمـكــونــات الـخـارجــيـة ( </a:t>
            </a:r>
            <a:r>
              <a:rPr lang="fr-FR" sz="3000" b="1" dirty="0">
                <a:solidFill>
                  <a:srgbClr val="FF0000"/>
                </a:solidFill>
              </a:rPr>
              <a:t>Périphériques d’Entrée/Sortie </a:t>
            </a:r>
            <a:r>
              <a:rPr lang="ar-DZ" sz="3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نَـشَـاط </a:t>
            </a:r>
            <a:r>
              <a:rPr lang="ar-DZ" sz="4800" b="1" u="sng" dirty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4800" b="1" dirty="0" smtClean="0">
                <a:cs typeface="+mj-cs"/>
              </a:rPr>
              <a:t>تـتـواجـد وح</a:t>
            </a:r>
            <a:r>
              <a:rPr lang="ar-DZ" sz="4800" b="1" dirty="0">
                <a:cs typeface="+mj-cs"/>
              </a:rPr>
              <a:t>ـ</a:t>
            </a:r>
            <a:r>
              <a:rPr lang="ar-DZ" sz="4800" b="1" dirty="0" smtClean="0">
                <a:cs typeface="+mj-cs"/>
              </a:rPr>
              <a:t>ـدات الإخــراج حــول الـوِحْــدَة الـمـركــزيـة، 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حَــدِّدْ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بـعـض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u="sng" dirty="0">
                <a:solidFill>
                  <a:srgbClr val="0070C0"/>
                </a:solidFill>
                <a:cs typeface="+mj-cs"/>
              </a:rPr>
              <a:t>وحــدات الإخــراج</a:t>
            </a:r>
            <a:r>
              <a:rPr lang="ar-DZ" sz="4800" b="1" dirty="0" smtClean="0">
                <a:cs typeface="+mj-cs"/>
              </a:rPr>
              <a:t>، </a:t>
            </a:r>
            <a:r>
              <a:rPr lang="ar-DZ" sz="4800" b="1" dirty="0">
                <a:cs typeface="+mj-cs"/>
              </a:rPr>
              <a:t>ومــاذا تــســتــنــتــج ؟ 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ب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وَحَــدَات الإِخْــراج (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Périphériques de Sort</a:t>
            </a:r>
            <a:r>
              <a:rPr lang="fr-FR" sz="3600" b="1" dirty="0">
                <a:solidFill>
                  <a:srgbClr val="00B050"/>
                </a:solidFill>
                <a:cs typeface="+mj-cs"/>
              </a:rPr>
              <a:t>i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e</a:t>
            </a:r>
            <a:r>
              <a:rPr lang="ar-DZ" sz="3800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10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98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64568" y="206084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الـشـــاشـــة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Ecran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860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64568" y="206084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الـشـــاشـــة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Ecran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55837" y="332108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الــطـــابــعـــة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Imprimante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220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64568" y="206084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الـشـــاشـــة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Ecran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55837" y="332108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الــطـــابــعـــة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Imprimante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64568" y="4545224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الـســمــاعـــات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Ecouteurs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36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الإخــراج تَـضُـمُّ الـمـكــونــات الّـتي تـسـمـح لـنـا 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نـتـائـج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4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ب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وَحَــدَات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الإِخْــراج ( </a:t>
            </a:r>
            <a:r>
              <a:rPr lang="fr-FR" sz="3600" b="1" dirty="0">
                <a:solidFill>
                  <a:srgbClr val="00B050"/>
                </a:solidFill>
                <a:cs typeface="+mj-cs"/>
              </a:rPr>
              <a:t>Périphériques de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Sortie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983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الإخــراج تَـضُـمُّ الـمـكــونــات الّـتي تـسـمـح لـنـا 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نـتـائـج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878441" y="3234215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إِظْــهَــار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07568" y="3212976"/>
            <a:ext cx="34968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الــمُــعَـــالَـــجَــة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251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 2.3 –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الـمـكــونــات الـداخــلــيــة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(</a:t>
            </a:r>
            <a:r>
              <a:rPr lang="fr-FR" sz="4000" b="1" dirty="0">
                <a:solidFill>
                  <a:srgbClr val="FF0000"/>
                </a:solidFill>
                <a:cs typeface="+mj-cs"/>
              </a:rPr>
              <a:t>Unité Centrale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تـضُـمُّ </a:t>
            </a:r>
            <a:r>
              <a:rPr lang="ar-DZ" sz="4000" b="1" dirty="0">
                <a:cs typeface="+mj-cs"/>
              </a:rPr>
              <a:t>الـوحــدة الـمــركــزيــة جـمـيــع الـمـكـونــات الـداخــلــيـة، والَّـتِي تـقــوم بـعــمــلـيــات الـمـعــالـجـة والـتـخــزيــن </a:t>
            </a:r>
            <a:r>
              <a:rPr lang="ar-DZ" sz="4000" b="1" dirty="0" smtClean="0">
                <a:cs typeface="+mj-cs"/>
              </a:rPr>
              <a:t>وغــيــرهـا</a:t>
            </a:r>
            <a:r>
              <a:rPr lang="ar-DZ" b="1" dirty="0" smtClean="0">
                <a:cs typeface="+mj-cs"/>
              </a:rPr>
              <a:t>.</a:t>
            </a: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B050"/>
                </a:solidFill>
                <a:cs typeface="+mj-cs"/>
              </a:rPr>
              <a:t>نــشــاط 5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4000" b="1" dirty="0" smtClean="0">
                <a:cs typeface="+mj-cs"/>
              </a:rPr>
              <a:t>عَــيِّــنْ </a:t>
            </a:r>
            <a:r>
              <a:rPr lang="ar-DZ" sz="4000" b="1" dirty="0">
                <a:cs typeface="+mj-cs"/>
              </a:rPr>
              <a:t>بـعـض الـمــكــونــات الـداخــلــيــة مـع إبـــراز دَوْر كــل مــكــون </a:t>
            </a:r>
            <a:r>
              <a:rPr lang="ar-DZ" sz="4000" b="1" dirty="0" smtClean="0">
                <a:cs typeface="+mj-cs"/>
              </a:rPr>
              <a:t>، ومــاذا </a:t>
            </a:r>
            <a:r>
              <a:rPr lang="ar-DZ" sz="4000" b="1" dirty="0">
                <a:cs typeface="+mj-cs"/>
              </a:rPr>
              <a:t>تــســتــنــتــج ؟</a:t>
            </a:r>
            <a:endParaRPr lang="ar-DZ" sz="4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65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50443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54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71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2680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95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1283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4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2579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916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2579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7457" y="3565440"/>
            <a:ext cx="338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الـمـعـالـج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الـمـركـزي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2400" b="1" dirty="0" smtClean="0">
                <a:solidFill>
                  <a:srgbClr val="0070C0"/>
                </a:solidFill>
                <a:cs typeface="+mj-cs"/>
              </a:rPr>
              <a:t>CPU</a:t>
            </a:r>
            <a:endParaRPr lang="fr-FR" sz="2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639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2579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7457" y="3565440"/>
            <a:ext cx="338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الـمـعـالـج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الـمـركـزي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2400" b="1" dirty="0" smtClean="0">
                <a:solidFill>
                  <a:srgbClr val="0070C0"/>
                </a:solidFill>
                <a:cs typeface="+mj-cs"/>
              </a:rPr>
              <a:t>CPU</a:t>
            </a:r>
            <a:endParaRPr lang="fr-FR" sz="2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6294" y="491088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الـذاكــرة الـحــيـة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RAM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7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95616" y="220486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</a:rPr>
              <a:t>الـذَاكِـرَة الـمَـيِّـتَـة </a:t>
            </a:r>
            <a:r>
              <a:rPr lang="fr-FR" sz="3000" b="1" dirty="0" smtClean="0">
                <a:solidFill>
                  <a:srgbClr val="0070C0"/>
                </a:solidFill>
              </a:rPr>
              <a:t> </a:t>
            </a:r>
            <a:r>
              <a:rPr lang="fr-FR" sz="2600" b="1" dirty="0" smtClean="0">
                <a:solidFill>
                  <a:srgbClr val="0070C0"/>
                </a:solidFill>
              </a:rPr>
              <a:t>ROM</a:t>
            </a:r>
            <a:endParaRPr lang="fr-FR" sz="2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79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95616" y="220486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</a:rPr>
              <a:t>الـذَاكِـرَة الـمَـيِّـتَـة </a:t>
            </a:r>
            <a:r>
              <a:rPr lang="fr-FR" sz="3000" b="1" dirty="0" smtClean="0">
                <a:solidFill>
                  <a:srgbClr val="0070C0"/>
                </a:solidFill>
              </a:rPr>
              <a:t> </a:t>
            </a:r>
            <a:r>
              <a:rPr lang="fr-FR" sz="2600" b="1" dirty="0" smtClean="0">
                <a:solidFill>
                  <a:srgbClr val="0070C0"/>
                </a:solidFill>
              </a:rPr>
              <a:t>ROM</a:t>
            </a:r>
            <a:endParaRPr lang="fr-FR" sz="26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9628" y="3657060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الـقُــرْص الـصَّـلْـب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HDD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040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95616" y="220486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</a:rPr>
              <a:t>الـذَاكِـرَة الـمَـيِّـتَـة </a:t>
            </a:r>
            <a:r>
              <a:rPr lang="fr-FR" sz="3000" b="1" dirty="0" smtClean="0">
                <a:solidFill>
                  <a:srgbClr val="0070C0"/>
                </a:solidFill>
              </a:rPr>
              <a:t> </a:t>
            </a:r>
            <a:r>
              <a:rPr lang="fr-FR" sz="2600" b="1" dirty="0" smtClean="0">
                <a:solidFill>
                  <a:srgbClr val="0070C0"/>
                </a:solidFill>
              </a:rPr>
              <a:t>ROM</a:t>
            </a:r>
            <a:endParaRPr lang="fr-FR" sz="26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9628" y="3657060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الـقُــرْص الـصَّـلْـب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HDD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38464" y="506639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عُـلْـبَـة الإِمْـدَاد بالـكـهـربـاء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429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2680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6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4248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232029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الـشـبـكـة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278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4248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232029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الـشـبـكـة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46754" y="3493574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بـيـانـيـة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6961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4248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232029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الـشـبـكـة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46754" y="3493574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بـيـانـيـة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06816" y="4793673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الـصـوت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71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0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000" b="1" u="sng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30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000" b="1" dirty="0">
                <a:cs typeface="+mj-cs"/>
              </a:rPr>
              <a:t>ضـع أرقــام </a:t>
            </a:r>
            <a:r>
              <a:rPr lang="ar-DZ" sz="3000" b="1" dirty="0" smtClean="0">
                <a:cs typeface="+mj-cs"/>
              </a:rPr>
              <a:t>الـعــبـارات الــتـالـيـة </a:t>
            </a:r>
            <a:r>
              <a:rPr lang="ar-DZ" sz="3000" b="1" dirty="0">
                <a:cs typeface="+mj-cs"/>
              </a:rPr>
              <a:t>فـي أَمَـاكِــنِـهَـا </a:t>
            </a:r>
            <a:r>
              <a:rPr lang="ar-DZ" sz="3000" b="1" dirty="0" smtClean="0">
                <a:cs typeface="+mj-cs"/>
              </a:rPr>
              <a:t>الـمـنـاســبـة </a:t>
            </a:r>
            <a:r>
              <a:rPr lang="ar-DZ" sz="3000" b="1" dirty="0">
                <a:cs typeface="+mj-cs"/>
              </a:rPr>
              <a:t>فـي </a:t>
            </a:r>
            <a:r>
              <a:rPr lang="ar-DZ" sz="3000" b="1" dirty="0" smtClean="0">
                <a:cs typeface="+mj-cs"/>
              </a:rPr>
              <a:t>الـجـدول </a:t>
            </a:r>
            <a:endParaRPr lang="fr-FR" sz="3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72288"/>
              </p:ext>
            </p:extLst>
          </p:nvPr>
        </p:nvGraphicFramePr>
        <p:xfrm>
          <a:off x="818069" y="1093913"/>
          <a:ext cx="10429169" cy="507139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070846"/>
                <a:gridCol w="5358323"/>
              </a:tblGrid>
              <a:tr h="1234864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u="none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j-cs"/>
                        </a:rPr>
                        <a:t>1</a:t>
                      </a:r>
                      <a:r>
                        <a:rPr lang="ar-DZ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. تَــشْــمُــلُ الــذاكـــرة الــحــــيـــة </a:t>
                      </a:r>
                      <a:r>
                        <a:rPr lang="fr-FR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RAM </a:t>
                      </a:r>
                      <a:r>
                        <a:rPr lang="ar-DZ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والـذاكــرة الــمـــيـــتــة </a:t>
                      </a:r>
                      <a:r>
                        <a:rPr lang="fr-FR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ROM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2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 تُــخَـــزِّنُ الـمـعــلــومــات بــصفـة دائـمـة لا تــتــأثــر بـانــقـطـــاع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الــتــيــار الـكـهــربــائـي</a:t>
                      </a:r>
                      <a:endParaRPr lang="fr-FR" sz="2800" b="1" u="non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78842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3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 تَــشْــمُــلُ الأقــــــراص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CD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DVD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FlashDisk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،</a:t>
                      </a:r>
                      <a:r>
                        <a:rPr lang="ar-DZ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SD </a:t>
                      </a:r>
                      <a:r>
                        <a:rPr lang="fr-FR" sz="2800" b="1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Card</a:t>
                      </a:r>
                      <a:endParaRPr lang="fr-FR" sz="2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4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تـخــزن الـمــعــلــومــات بـصـفـة مـؤقــتـة تــتـأثــر بـانـقـطــاع  الــتــيــار الـكـهــربــائـي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842"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5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تـحــتــوي عــلـى ذاكــرة عـــشــوائــيــة فـــائــــقــة الــســـرعــــة 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6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تــحـــتــــوي عـلـى وحــــدة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ضـــروريـــــة 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هـي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أكــبــر وحـــدات الــتــخــــزيـــن سِــعَـــةً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78842"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7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تــضــم وحـــــــدات خــــــارجـــــيـــة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مــنــــقــــولــــة للــتــخـــزيـــن الــدائـــم 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8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تـــحـــــوي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ذاكــــــرة مــــــدمــــجـــــة بــ « لــــوحــــة الأم » ضـــروريـــة لـلإقــــــلاع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76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0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000" b="1" u="sng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30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000" b="1" dirty="0">
                <a:cs typeface="+mj-cs"/>
              </a:rPr>
              <a:t>ضـع أرقــام </a:t>
            </a:r>
            <a:r>
              <a:rPr lang="ar-DZ" sz="3000" b="1" dirty="0" smtClean="0">
                <a:cs typeface="+mj-cs"/>
              </a:rPr>
              <a:t>الـعــبـارات الــتـالـيـة </a:t>
            </a:r>
            <a:r>
              <a:rPr lang="ar-DZ" sz="3000" b="1" dirty="0">
                <a:cs typeface="+mj-cs"/>
              </a:rPr>
              <a:t>فـي أَمَـاكِــنِـهَـا </a:t>
            </a:r>
            <a:r>
              <a:rPr lang="ar-DZ" sz="3000" b="1" dirty="0" smtClean="0">
                <a:cs typeface="+mj-cs"/>
              </a:rPr>
              <a:t>الـمـنـاســبـة </a:t>
            </a:r>
            <a:r>
              <a:rPr lang="ar-DZ" sz="3000" b="1" dirty="0">
                <a:cs typeface="+mj-cs"/>
              </a:rPr>
              <a:t>فـي </a:t>
            </a:r>
            <a:r>
              <a:rPr lang="ar-DZ" sz="3000" b="1" dirty="0" smtClean="0">
                <a:cs typeface="+mj-cs"/>
              </a:rPr>
              <a:t>الـجـدول </a:t>
            </a:r>
            <a:endParaRPr lang="fr-FR" sz="3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67836"/>
              </p:ext>
            </p:extLst>
          </p:nvPr>
        </p:nvGraphicFramePr>
        <p:xfrm>
          <a:off x="892352" y="1285580"/>
          <a:ext cx="10275061" cy="423709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95916"/>
                <a:gridCol w="3379504"/>
                <a:gridCol w="4399641"/>
              </a:tblGrid>
              <a:tr h="125496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نــوع</a:t>
                      </a:r>
                      <a:r>
                        <a:rPr lang="ar-DZ" sz="3000" b="1" u="none" kern="1200" baseline="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 الــذاكــرة</a:t>
                      </a:r>
                      <a:endParaRPr lang="fr-FR" sz="3000" b="1" u="none" kern="1200" dirty="0" smtClean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الـذاكــرة الـمــركــزيــة</a:t>
                      </a:r>
                      <a:endParaRPr lang="fr-FR" sz="30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وحــدات الـتـخــزيــن الـثـانــويــة</a:t>
                      </a:r>
                      <a:endParaRPr lang="fr-FR" sz="32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98213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الـخــصــائـص</a:t>
                      </a:r>
                      <a:endParaRPr lang="fr-FR" sz="40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12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0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000" b="1" u="sng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30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000" b="1" dirty="0">
                <a:cs typeface="+mj-cs"/>
              </a:rPr>
              <a:t>ضـع أرقــام </a:t>
            </a:r>
            <a:r>
              <a:rPr lang="ar-DZ" sz="3000" b="1" dirty="0" smtClean="0">
                <a:cs typeface="+mj-cs"/>
              </a:rPr>
              <a:t>الـعــبـارات الــتـالـيـة </a:t>
            </a:r>
            <a:r>
              <a:rPr lang="ar-DZ" sz="3000" b="1" dirty="0">
                <a:cs typeface="+mj-cs"/>
              </a:rPr>
              <a:t>فـي أَمَـاكِــنِـهَـا </a:t>
            </a:r>
            <a:r>
              <a:rPr lang="ar-DZ" sz="3000" b="1" dirty="0" smtClean="0">
                <a:cs typeface="+mj-cs"/>
              </a:rPr>
              <a:t>الـمـنـاســبـة </a:t>
            </a:r>
            <a:r>
              <a:rPr lang="ar-DZ" sz="3000" b="1" dirty="0">
                <a:cs typeface="+mj-cs"/>
              </a:rPr>
              <a:t>فـي </a:t>
            </a:r>
            <a:r>
              <a:rPr lang="ar-DZ" sz="3000" b="1" dirty="0" smtClean="0">
                <a:cs typeface="+mj-cs"/>
              </a:rPr>
              <a:t>الـجـدول </a:t>
            </a:r>
            <a:endParaRPr lang="fr-FR" sz="3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67836"/>
              </p:ext>
            </p:extLst>
          </p:nvPr>
        </p:nvGraphicFramePr>
        <p:xfrm>
          <a:off x="892352" y="1285580"/>
          <a:ext cx="10275061" cy="423709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95916"/>
                <a:gridCol w="3379504"/>
                <a:gridCol w="4399641"/>
              </a:tblGrid>
              <a:tr h="125496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نــوع</a:t>
                      </a:r>
                      <a:r>
                        <a:rPr lang="ar-DZ" sz="3000" b="1" u="none" kern="1200" baseline="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 الــذاكــرة</a:t>
                      </a:r>
                      <a:endParaRPr lang="fr-FR" sz="3000" b="1" u="none" kern="1200" dirty="0" smtClean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الـذاكــرة الـمــركــزيــة</a:t>
                      </a:r>
                      <a:endParaRPr lang="fr-FR" sz="30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وحــدات الـتـخــزيــن الـثـانــويــة</a:t>
                      </a:r>
                      <a:endParaRPr lang="fr-FR" sz="32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98213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الـخــصــائـص</a:t>
                      </a:r>
                      <a:endParaRPr lang="fr-FR" sz="40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68314" y="3417302"/>
            <a:ext cx="668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①</a:t>
            </a:r>
            <a:endParaRPr lang="fr-FR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94883" y="3402054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④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20013" y="3407503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③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06334" y="3418899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②</a:t>
            </a:r>
            <a:endParaRPr lang="fr-FR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3692" y="3418899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</a:rPr>
              <a:t>⑥</a:t>
            </a:r>
            <a:endParaRPr lang="fr-FR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47371" y="3402055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</a:rPr>
              <a:t>⑦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1767" y="3402055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⑤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72413" y="3417302"/>
            <a:ext cx="668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⑧</a:t>
            </a:r>
            <a:endParaRPr lang="fr-FR" sz="32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546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fr-FR" sz="4400" b="1" u="sng" dirty="0">
                <a:solidFill>
                  <a:srgbClr val="00B050"/>
                </a:solidFill>
                <a:cs typeface="+mj-cs"/>
              </a:rPr>
              <a:t>7</a:t>
            </a:r>
            <a:r>
              <a:rPr lang="ar-DZ" sz="44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حَــلِّــلْ  جــيـدا مــحــتــوى الــصــفــحــة 4 ، فـمـاذا تـسـتـنـتـج 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أ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تــمـثــيــل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الـمـعــلــومــات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32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تــمـثــيــل </a:t>
            </a:r>
            <a:r>
              <a:rPr lang="ar-DZ" sz="3600" b="1" dirty="0" smtClean="0">
                <a:solidFill>
                  <a:srgbClr val="00B050"/>
                </a:solidFill>
              </a:rPr>
              <a:t>الـمـعــلــومــات  ــ  تـــابـع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cs typeface="+mj-cs"/>
              </a:rPr>
              <a:t>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58" y="945328"/>
            <a:ext cx="10803182" cy="54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2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تــمـثــيــل الـمـعــلــومــات ــ  تـــابـع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cs typeface="+mj-cs"/>
              </a:rPr>
              <a:t>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305360"/>
            <a:ext cx="8460000" cy="60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1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الـحــاســوب </a:t>
            </a:r>
            <a:r>
              <a:rPr lang="ar-DZ" sz="4400" b="1" dirty="0">
                <a:cs typeface="+mj-cs"/>
              </a:rPr>
              <a:t>لا يَـفْـهَـمُ </a:t>
            </a:r>
            <a:r>
              <a:rPr lang="ar-DZ" sz="4400" b="1" dirty="0" smtClean="0">
                <a:cs typeface="+mj-cs"/>
              </a:rPr>
              <a:t>إِلَّا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لا بُــدَ 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وذلـك بـاســتـعــمــال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997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الـحــاســوب </a:t>
            </a:r>
            <a:r>
              <a:rPr lang="ar-DZ" sz="4400" b="1" dirty="0">
                <a:cs typeface="+mj-cs"/>
              </a:rPr>
              <a:t>لا يَـفْـهَـمُ </a:t>
            </a:r>
            <a:r>
              <a:rPr lang="ar-DZ" sz="4400" b="1" dirty="0" smtClean="0">
                <a:cs typeface="+mj-cs"/>
              </a:rPr>
              <a:t>إِلَّا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لا بُــدَ 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وذلـك بـاســتـعــمــال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919536" y="1613046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لُــغَــةَ الآلَـــة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866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الـحــاســوب </a:t>
            </a:r>
            <a:r>
              <a:rPr lang="ar-DZ" sz="4400" b="1" dirty="0">
                <a:cs typeface="+mj-cs"/>
              </a:rPr>
              <a:t>لا يَـفْـهَـمُ </a:t>
            </a:r>
            <a:r>
              <a:rPr lang="ar-DZ" sz="4400" b="1" dirty="0" smtClean="0">
                <a:cs typeface="+mj-cs"/>
              </a:rPr>
              <a:t>إِلَّا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لا بُــدَ 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وذلـك بـاســتـعــمــال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919536" y="1613046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لُــغَــةَ الآلَـــة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0216" y="3645024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تــمــثــيــلـهـا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8259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الـحــاســوب </a:t>
            </a:r>
            <a:r>
              <a:rPr lang="ar-DZ" sz="4400" b="1" dirty="0">
                <a:cs typeface="+mj-cs"/>
              </a:rPr>
              <a:t>لا يَـفْـهَـمُ </a:t>
            </a:r>
            <a:r>
              <a:rPr lang="ar-DZ" sz="4400" b="1" dirty="0" smtClean="0">
                <a:cs typeface="+mj-cs"/>
              </a:rPr>
              <a:t>إِلَّا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لا بُــدَ 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وذلـك بـاســتـعــمــال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919536" y="1613046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لُــغَــةَ الآلَـــة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0216" y="3645024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تــمــثــيــلـهـا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6725" y="3645024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الأَصْـفَــارِ والآحَــادِ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653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تــمــثــيــل </a:t>
            </a:r>
            <a:r>
              <a:rPr lang="ar-DZ" sz="4400" b="1" dirty="0">
                <a:cs typeface="+mj-cs"/>
              </a:rPr>
              <a:t>الـمــعــلــومــات 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بِـ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</a:t>
            </a:r>
            <a:r>
              <a:rPr lang="ar-DZ" sz="4400" b="1" dirty="0" smtClean="0"/>
              <a:t> تَـتَـأَلَـفُ </a:t>
            </a:r>
            <a:r>
              <a:rPr lang="ar-DZ" sz="4400" b="1" dirty="0"/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/>
              <a:t>بـحـيـث عــدد </a:t>
            </a:r>
            <a:r>
              <a:rPr lang="ar-DZ" sz="4400" b="1" dirty="0" smtClean="0"/>
              <a:t>تـلـك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0657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تــمــثــيــل </a:t>
            </a:r>
            <a:r>
              <a:rPr lang="ar-DZ" sz="4400" b="1" dirty="0">
                <a:cs typeface="+mj-cs"/>
              </a:rPr>
              <a:t>الـمــعــلــومــات 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بِـ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</a:t>
            </a:r>
            <a:r>
              <a:rPr lang="ar-DZ" sz="4400" b="1" dirty="0" smtClean="0"/>
              <a:t> تَـتَـأَلَـفُ </a:t>
            </a:r>
            <a:r>
              <a:rPr lang="ar-DZ" sz="4400" b="1" dirty="0"/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/>
              <a:t>بـحـيـث عــدد </a:t>
            </a:r>
            <a:r>
              <a:rPr lang="ar-DZ" sz="4400" b="1" dirty="0" smtClean="0"/>
              <a:t>تـلـك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7408" y="1657333"/>
            <a:ext cx="335379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 كُــلِ حَـــْرفٍ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1723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تــمــثــيــل </a:t>
            </a:r>
            <a:r>
              <a:rPr lang="ar-DZ" sz="4400" b="1" dirty="0">
                <a:cs typeface="+mj-cs"/>
              </a:rPr>
              <a:t>الـمــعــلــومــات 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بِـ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</a:t>
            </a:r>
            <a:r>
              <a:rPr lang="ar-DZ" sz="4400" b="1" dirty="0" smtClean="0"/>
              <a:t> تَـتَـأَلَـفُ </a:t>
            </a:r>
            <a:r>
              <a:rPr lang="ar-DZ" sz="4400" b="1" dirty="0"/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/>
              <a:t>بـحـيـث عــدد </a:t>
            </a:r>
            <a:r>
              <a:rPr lang="ar-DZ" sz="4400" b="1" dirty="0" smtClean="0"/>
              <a:t>تـلـك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7408" y="1657333"/>
            <a:ext cx="335379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 كُــلِ حَـــْرفٍ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4152" y="2621891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7776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تــمــثــيــل </a:t>
            </a:r>
            <a:r>
              <a:rPr lang="ar-DZ" sz="4400" b="1" dirty="0">
                <a:cs typeface="+mj-cs"/>
              </a:rPr>
              <a:t>الـمــعــلــومــات 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بِـ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</a:t>
            </a:r>
            <a:r>
              <a:rPr lang="ar-DZ" sz="4400" b="1" dirty="0" smtClean="0"/>
              <a:t> تَـتَـأَلَـفُ </a:t>
            </a:r>
            <a:r>
              <a:rPr lang="ar-DZ" sz="4400" b="1" dirty="0"/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/>
              <a:t>بـحـيـث عــدد </a:t>
            </a:r>
            <a:r>
              <a:rPr lang="ar-DZ" sz="4400" b="1" dirty="0" smtClean="0"/>
              <a:t>تـلـك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7408" y="1657333"/>
            <a:ext cx="335379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 كُــلِ حَـــْرفٍ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99456" y="2621891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الأَصْـفَــارِ والآحَــادِ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4152" y="2621891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7245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تــمــثــيــل </a:t>
            </a:r>
            <a:r>
              <a:rPr lang="ar-DZ" sz="4400" b="1" dirty="0">
                <a:cs typeface="+mj-cs"/>
              </a:rPr>
              <a:t>الـمــعــلــومــات 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بِـ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</a:t>
            </a:r>
            <a:r>
              <a:rPr lang="ar-DZ" sz="4400" b="1" dirty="0" smtClean="0"/>
              <a:t> تَـتَـأَلَـفُ </a:t>
            </a:r>
            <a:r>
              <a:rPr lang="ar-DZ" sz="4400" b="1" dirty="0"/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/>
              <a:t>بـحـيـث عــدد </a:t>
            </a:r>
            <a:r>
              <a:rPr lang="ar-DZ" sz="4400" b="1" dirty="0" smtClean="0"/>
              <a:t>تـلـك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7408" y="1657333"/>
            <a:ext cx="335379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 كُــلِ حَـــْرفٍ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00256" y="4653136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99456" y="2621891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الأَصْـفَــارِ والآحَــادِ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4152" y="2621891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06289" y="3633461"/>
            <a:ext cx="3640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الأَصْـفَــارِ والآحَــادِ </a:t>
            </a:r>
            <a:endParaRPr lang="fr-FR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27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/>
              <a:t>كــلُّ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</a:t>
            </a:r>
            <a:r>
              <a:rPr lang="ar-DZ" sz="4400" b="1" dirty="0" smtClean="0"/>
              <a:t> بـحــيــث </a:t>
            </a:r>
            <a:r>
              <a:rPr lang="ar-DZ" sz="4400" b="1" dirty="0"/>
              <a:t>تـخــزيــن حـــرف مُـعَــيَّـنٍ </a:t>
            </a:r>
            <a:r>
              <a:rPr lang="ar-DZ" sz="4400" b="1" dirty="0" smtClean="0"/>
              <a:t>يَــتِـمُّ بـتـخــزيــن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80176" y="1657332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743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/>
              <a:t>كــلُّ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</a:t>
            </a:r>
            <a:r>
              <a:rPr lang="ar-DZ" sz="4400" b="1" dirty="0" smtClean="0"/>
              <a:t> بـحــيــث </a:t>
            </a:r>
            <a:r>
              <a:rPr lang="ar-DZ" sz="4400" b="1" dirty="0"/>
              <a:t>تـخــزيــن حـــرف مُـعَــيَّـنٍ </a:t>
            </a:r>
            <a:r>
              <a:rPr lang="ar-DZ" sz="4400" b="1" dirty="0" smtClean="0"/>
              <a:t>يَــتِـمُّ بـتـخــزيــن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57332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80176" y="1657332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015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/>
              <a:t>كــلُّ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</a:t>
            </a:r>
            <a:r>
              <a:rPr lang="ar-DZ" sz="4400" b="1" dirty="0" smtClean="0"/>
              <a:t> بـحــيــث </a:t>
            </a:r>
            <a:r>
              <a:rPr lang="ar-DZ" sz="4400" b="1" dirty="0"/>
              <a:t>تـخــزيــن حـــرف مُـعَــيَّـنٍ </a:t>
            </a:r>
            <a:r>
              <a:rPr lang="ar-DZ" sz="4400" b="1" dirty="0" smtClean="0"/>
              <a:t>يَــتِـمُّ بـتـخــزيــن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57332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80176" y="1657332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84032" y="2758345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وَاحِــدٍ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فَـقَـطْ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429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/>
              <a:t>كــلُّ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</a:t>
            </a:r>
            <a:r>
              <a:rPr lang="ar-DZ" sz="4400" b="1" dirty="0" smtClean="0"/>
              <a:t> بـحــيــث </a:t>
            </a:r>
            <a:r>
              <a:rPr lang="ar-DZ" sz="4400" b="1" dirty="0"/>
              <a:t>تـخــزيــن حـــرف مُـعَــيَّـنٍ </a:t>
            </a:r>
            <a:r>
              <a:rPr lang="ar-DZ" sz="4400" b="1" dirty="0" smtClean="0"/>
              <a:t>يَــتِـمُّ بـتـخــزيــن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57332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80176" y="1657332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13638" y="3671342"/>
            <a:ext cx="23711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الـشِــفْــرَة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84032" y="2758345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وَاحِــدٍ فَـقَـطْ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584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0" grpId="0" animBg="1"/>
      <p:bldP spid="1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/>
              <a:t>كــلُّ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</a:t>
            </a:r>
            <a:r>
              <a:rPr lang="ar-DZ" sz="4400" b="1" dirty="0" smtClean="0"/>
              <a:t> بـحــيــث </a:t>
            </a:r>
            <a:r>
              <a:rPr lang="ar-DZ" sz="4400" b="1" dirty="0"/>
              <a:t>تـخــزيــن حـــرف مُـعَــيَّـنٍ </a:t>
            </a:r>
            <a:r>
              <a:rPr lang="ar-DZ" sz="4400" b="1" dirty="0" smtClean="0"/>
              <a:t>يَــتِـمُّ بـتـخــزيــن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57332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83742" y="4644818"/>
            <a:ext cx="23531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الـحـــرف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80176" y="1657332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شِــفْــرَةٍ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13638" y="3671342"/>
            <a:ext cx="23711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الـشِــفْــرَة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84032" y="2758345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وَاحِــدٍ فَـقَـطْ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363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10" grpId="0" animBg="1"/>
      <p:bldP spid="1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وتـلـك الـسِّــعَــة تُـسَــمَـى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cs typeface="+mj-cs"/>
              </a:rPr>
              <a:t>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449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وتـلـك الـسِّــعَــة تُـسَــمَـى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cs typeface="+mj-cs"/>
              </a:rPr>
              <a:t>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6066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وتـلـك الـسِّــعَــة تُـسَــمَـى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cs typeface="+mj-cs"/>
              </a:rPr>
              <a:t>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695400" y="2650359"/>
            <a:ext cx="40545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69321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وتـلـك الـسِّــعَــة تُـسَــمَـى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cs typeface="+mj-cs"/>
              </a:rPr>
              <a:t>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852300" y="3499319"/>
            <a:ext cx="4752529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000" b="1" dirty="0" smtClean="0">
                <a:solidFill>
                  <a:srgbClr val="0070C0"/>
                </a:solidFill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5400" y="2650359"/>
            <a:ext cx="40545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4041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وتـلـك الـسِّــعَــة تُـسَــمَـى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cs typeface="+mj-cs"/>
              </a:rPr>
              <a:t>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852300" y="3499319"/>
            <a:ext cx="4752529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000" b="1" dirty="0" smtClean="0">
                <a:solidFill>
                  <a:srgbClr val="0070C0"/>
                </a:solidFill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5400" y="2650359"/>
            <a:ext cx="40545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35560" y="4638646"/>
            <a:ext cx="39715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قِــيَــاسِ الـذَاكِــرَةِ </a:t>
            </a:r>
            <a:endParaRPr lang="fr-FR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016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وتــلــك الــسِّــعَـــة تُــسَــمَــى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</a:t>
            </a:r>
            <a:r>
              <a:rPr lang="ar-DZ" sz="4400" b="1" dirty="0" smtClean="0">
                <a:cs typeface="+mj-cs"/>
              </a:rPr>
              <a:t> وهــي 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351584" y="3530462"/>
            <a:ext cx="3171989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بَــايْــتْ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5400" y="2650359"/>
            <a:ext cx="40545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35560" y="4638646"/>
            <a:ext cx="39715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قِــيَــاسِ الـذَاكِــرَةِ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589" y="245266"/>
            <a:ext cx="7380000" cy="611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7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وتــلــك الــسِّــعَـــة تُــسَــمَــى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</a:t>
            </a:r>
            <a:r>
              <a:rPr lang="ar-DZ" sz="4400" b="1" dirty="0" smtClean="0">
                <a:cs typeface="+mj-cs"/>
              </a:rPr>
              <a:t> وهــي 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351584" y="3530462"/>
            <a:ext cx="3171989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بَــايْــتْ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5400" y="2650359"/>
            <a:ext cx="40545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35560" y="4638646"/>
            <a:ext cx="39715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قِــيَــاسِ الـذَاكِــرَةِ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546" y="245247"/>
            <a:ext cx="7380000" cy="61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2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>
                <a:cs typeface="+mj-cs"/>
              </a:rPr>
              <a:t>الـسِّــعَـــة الـلازمــة لـتـخــزيــن حـــرف واحـــد 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</a:t>
            </a:r>
            <a:r>
              <a:rPr lang="ar-DZ" sz="4400" b="1" dirty="0" smtClean="0">
                <a:cs typeface="+mj-cs"/>
              </a:rPr>
              <a:t> وتــلــك الــسِّــعَـــة تُــسَــمَــى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</a:t>
            </a:r>
            <a:r>
              <a:rPr lang="ar-DZ" sz="4400" b="1" dirty="0" smtClean="0">
                <a:cs typeface="+mj-cs"/>
              </a:rPr>
              <a:t> وهــي الـوحـــدة الأســـاســـيـــة لِـ 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</a:t>
            </a:r>
            <a:r>
              <a:rPr lang="ar-DZ" sz="4400" dirty="0" smtClean="0">
                <a:solidFill>
                  <a:schemeClr val="tx2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351584" y="3530462"/>
            <a:ext cx="3171989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بَــايْــتْ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5400" y="2650359"/>
            <a:ext cx="40545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36912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خـانـات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35560" y="4638646"/>
            <a:ext cx="39715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قِــيَــاسِ الـذَاكِــرَةِ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036" y="230662"/>
            <a:ext cx="7380000" cy="61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73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─ وحــدة قــيــاس الـمـســافــة هـي : </a:t>
            </a:r>
            <a:r>
              <a:rPr lang="ar-DZ" sz="36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..................................................</a:t>
            </a:r>
            <a:r>
              <a:rPr lang="ar-DZ" sz="3600" b="1" dirty="0" smtClean="0">
                <a:cs typeface="+mj-cs"/>
              </a:rPr>
              <a:t>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1" name="Nuage 10"/>
          <p:cNvSpPr/>
          <p:nvPr/>
        </p:nvSpPr>
        <p:spPr>
          <a:xfrm>
            <a:off x="623392" y="1412776"/>
            <a:ext cx="5256584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مِــتْــرْ</a:t>
            </a:r>
            <a:r>
              <a:rPr lang="fr-FR" sz="3400" b="1" dirty="0" smtClean="0">
                <a:cs typeface="+mj-cs"/>
              </a:rPr>
              <a:t> </a:t>
            </a:r>
            <a:r>
              <a:rPr lang="fr-FR" sz="3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mètre (m</a:t>
            </a:r>
            <a:r>
              <a:rPr lang="fr-FR" sz="3400" b="1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) :</a:t>
            </a:r>
            <a:r>
              <a:rPr lang="fr-FR" sz="3400" b="1" dirty="0" smtClean="0">
                <a:cs typeface="+mj-cs"/>
              </a:rPr>
              <a:t> </a:t>
            </a:r>
            <a:endParaRPr lang="ar-DZ" sz="3400" b="1" dirty="0" smtClean="0"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3303486"/>
            <a:ext cx="9684000" cy="3037501"/>
          </a:xfrm>
          <a:prstGeom prst="rect">
            <a:avLst/>
          </a:prstGeom>
        </p:spPr>
      </p:pic>
      <p:sp>
        <p:nvSpPr>
          <p:cNvPr id="9" name="Nuage 8"/>
          <p:cNvSpPr/>
          <p:nvPr/>
        </p:nvSpPr>
        <p:spPr>
          <a:xfrm>
            <a:off x="1631832" y="2683451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200" b="1" dirty="0">
                <a:solidFill>
                  <a:srgbClr val="00B050"/>
                </a:solidFill>
              </a:rPr>
              <a:t>مـضـاعــفــات</a:t>
            </a:r>
            <a:endParaRPr lang="ar-DZ" sz="3400" b="1" dirty="0" smtClean="0">
              <a:cs typeface="+mj-cs"/>
            </a:endParaRPr>
          </a:p>
        </p:txBody>
      </p:sp>
      <p:sp>
        <p:nvSpPr>
          <p:cNvPr id="10" name="Nuage 9"/>
          <p:cNvSpPr/>
          <p:nvPr/>
        </p:nvSpPr>
        <p:spPr>
          <a:xfrm>
            <a:off x="6528212" y="2622114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200" b="1" dirty="0" smtClean="0">
                <a:solidFill>
                  <a:srgbClr val="00B050"/>
                </a:solidFill>
              </a:rPr>
              <a:t>أجـــزاء</a:t>
            </a:r>
            <a:endParaRPr lang="ar-DZ" sz="3400" b="1" dirty="0" smtClean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806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9" grpId="0" animBg="1"/>
      <p:bldP spid="1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3600" b="1" dirty="0">
                <a:solidFill>
                  <a:prstClr val="black"/>
                </a:solidFill>
                <a:cs typeface="Times New Roman" panose="02020603050405020304" pitchFamily="18" charset="0"/>
              </a:rPr>
              <a:t> ─ وحــدة قــيــاس الـوزن هـي : </a:t>
            </a:r>
            <a:r>
              <a:rPr lang="ar-DZ" sz="3600" baseline="-25000" dirty="0">
                <a:solidFill>
                  <a:srgbClr val="1F497D"/>
                </a:solidFill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DZ" sz="3600" b="1" dirty="0">
                <a:solidFill>
                  <a:prstClr val="black"/>
                </a:solidFill>
                <a:cs typeface="Times New Roman" panose="02020603050405020304" pitchFamily="18" charset="0"/>
              </a:rPr>
              <a:t>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11" name="Nuage 10"/>
          <p:cNvSpPr/>
          <p:nvPr/>
        </p:nvSpPr>
        <p:spPr>
          <a:xfrm>
            <a:off x="839416" y="1412776"/>
            <a:ext cx="568879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غَــــرَام</a:t>
            </a:r>
            <a:r>
              <a:rPr lang="fr-FR" sz="3400" b="1" dirty="0" smtClean="0">
                <a:cs typeface="+mj-cs"/>
              </a:rPr>
              <a:t> </a:t>
            </a:r>
            <a:r>
              <a:rPr lang="fr-FR" sz="3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gramme (g</a:t>
            </a:r>
            <a:r>
              <a:rPr lang="fr-FR" sz="3400" b="1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) :</a:t>
            </a:r>
            <a:endParaRPr lang="ar-DZ" sz="3400" b="1" dirty="0" smtClean="0"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3527902"/>
            <a:ext cx="10368000" cy="2764800"/>
          </a:xfrm>
          <a:prstGeom prst="rect">
            <a:avLst/>
          </a:prstGeom>
        </p:spPr>
      </p:pic>
      <p:sp>
        <p:nvSpPr>
          <p:cNvPr id="12" name="Nuage 11"/>
          <p:cNvSpPr/>
          <p:nvPr/>
        </p:nvSpPr>
        <p:spPr>
          <a:xfrm>
            <a:off x="1343472" y="2591636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200" b="1" dirty="0">
                <a:solidFill>
                  <a:srgbClr val="00B050"/>
                </a:solidFill>
              </a:rPr>
              <a:t>مـضـاعــفــات</a:t>
            </a:r>
            <a:endParaRPr lang="ar-DZ" sz="3400" b="1" dirty="0" smtClean="0">
              <a:cs typeface="+mj-cs"/>
            </a:endParaRPr>
          </a:p>
        </p:txBody>
      </p:sp>
      <p:sp>
        <p:nvSpPr>
          <p:cNvPr id="13" name="Nuage 12"/>
          <p:cNvSpPr/>
          <p:nvPr/>
        </p:nvSpPr>
        <p:spPr>
          <a:xfrm>
            <a:off x="6888088" y="2599271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400" b="1" dirty="0"/>
              <a:t> </a:t>
            </a:r>
            <a:r>
              <a:rPr lang="ar-DZ" sz="3200" b="1" dirty="0" smtClean="0">
                <a:solidFill>
                  <a:srgbClr val="00B050"/>
                </a:solidFill>
              </a:rPr>
              <a:t>أجـــزاء</a:t>
            </a:r>
            <a:endParaRPr lang="ar-DZ" sz="3400" b="1" dirty="0"/>
          </a:p>
        </p:txBody>
      </p:sp>
    </p:spTree>
    <p:extLst>
      <p:ext uri="{BB962C8B-B14F-4D97-AF65-F5344CB8AC3E}">
        <p14:creationId xmlns:p14="http://schemas.microsoft.com/office/powerpoint/2010/main" val="162552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2" grpId="0" animBg="1"/>
      <p:bldP spid="1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الـمـعــلــومــات وقــيـــاس الـــذاكـــرة  ــ  تـــابــع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ب – مـضـاعــفــات وحــدة قــيــاس الــذاكــرة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Byte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763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82" y="509170"/>
            <a:ext cx="10728000" cy="576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5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096" y="283276"/>
            <a:ext cx="9756000" cy="609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34" y="991657"/>
            <a:ext cx="10656000" cy="540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7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131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6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96" y="3645024"/>
            <a:ext cx="10368000" cy="27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2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82586"/>
            <a:ext cx="6480000" cy="651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6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ج – تـطــبــيــقــات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 :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>
                <a:solidFill>
                  <a:srgbClr val="0070C0"/>
                </a:solidFill>
                <a:latin typeface="Liberation Serif"/>
                <a:ea typeface="Droid Sans Fallback"/>
                <a:cs typeface="+mj-cs"/>
              </a:rPr>
              <a:t>تــطــبــيـق 1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81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1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063" y="301592"/>
            <a:ext cx="9432000" cy="60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6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ج 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تـطــبــيــقــات :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8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ج 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تـطــبــيــقــات :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063" y="307139"/>
            <a:ext cx="9432000" cy="60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6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 :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259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68" y="319004"/>
            <a:ext cx="10368000" cy="603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332655"/>
            <a:ext cx="10800000" cy="58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9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68" y="319004"/>
            <a:ext cx="10368000" cy="603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الــــوضـــعـــــيــــة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الإدمـــــــاجــــــيـــــة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تَــــمَّ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تـــخــــزيـــــن مــــلـــفــــات حــجــمــهــا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5 GB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فـــي ذاكـــرة الـــفــــلاش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Flash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Disk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بــحـــيـــث الـــسِّـــعَــــــة الــمُــــتَــــوَفِّـــــرَةَ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( </a:t>
            </a:r>
            <a:r>
              <a:rPr lang="en-US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Espace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Libre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) 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فِـــــيــــهـــا قَــــبْـــلَ الـــتـــــخــــــزيـــــــن هــــي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7 168 MB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</a:p>
          <a:p>
            <a:pPr marL="0" indent="0" algn="just" rtl="1">
              <a:buNone/>
            </a:pPr>
            <a:endParaRPr lang="ar-DZ" sz="16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1. فَــــمَــــــا </a:t>
            </a:r>
            <a:r>
              <a:rPr lang="ar-DZ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هـــي الـــمــــســــــــاحــــــة الــــمُـــــتَــــــبَـــــقِــــــيَـــــة فـــي ذاكـــــرة الــــفــــــلاش بـــــعــــد الـــتــــخـــــزيـــــــن </a:t>
            </a:r>
            <a:r>
              <a:rPr lang="ar-DZ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؟   </a:t>
            </a:r>
            <a:endParaRPr lang="fr-FR" sz="4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746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125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3873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61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876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776" y="52275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=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( 5 – 7 )   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1435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2. قـــــمـــــنـــــا بـــــعْـــــدَ ذلــك بِــــحَـــذْفِ مِــــلَــــف </a:t>
            </a:r>
            <a:r>
              <a:rPr lang="en-US" sz="36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400" b="1" dirty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حَـــجْـــمُــــهُ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3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GB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مــــن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تـــلـــك الــذاكـــرة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فــهــل بـــإمـــكـــانــــنــــا أن نُـــخَــــزِّنَ فــــيـــهـــا مــــلــــف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آخـــــر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4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حَـــجْـــمُــــهُ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5122 MB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؟</a:t>
            </a:r>
            <a:r>
              <a:rPr lang="ar-DZ" sz="48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عَــــلِّـــلْ إِجَــــــابَــــتَــــك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</a:p>
          <a:p>
            <a:pPr marL="0" indent="0" algn="just" rtl="1">
              <a:buNone/>
            </a:pPr>
            <a:endParaRPr lang="ar-DZ" sz="16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5191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993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722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</a:t>
            </a:r>
            <a:r>
              <a:rPr lang="ar-DZ" sz="4000" b="1" dirty="0" smtClean="0">
                <a:solidFill>
                  <a:srgbClr val="0070C0"/>
                </a:solidFill>
              </a:rPr>
              <a:t>الـمــلــف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هـــو   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5122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636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</a:t>
            </a:r>
            <a:r>
              <a:rPr lang="ar-DZ" sz="4000" b="1" dirty="0" smtClean="0">
                <a:solidFill>
                  <a:srgbClr val="0070C0"/>
                </a:solidFill>
              </a:rPr>
              <a:t>الـمــلــف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هـــو   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5122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</a:rPr>
              <a:t>   وَبِــمَــا  أَنَّ    :  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5120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5122</a:t>
            </a:r>
            <a:endParaRPr lang="fr-FR" sz="32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910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</a:t>
            </a:r>
            <a:r>
              <a:rPr lang="ar-DZ" sz="4000" b="1" dirty="0" smtClean="0">
                <a:solidFill>
                  <a:srgbClr val="0070C0"/>
                </a:solidFill>
              </a:rPr>
              <a:t>الـمــلــف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هـــو   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5122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</a:rPr>
              <a:t>   وَبِــمَــا  أَنَّ    :  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5120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5122</a:t>
            </a:r>
            <a:endParaRPr lang="fr-FR" sz="32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776" y="52275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40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   فَـإِذَنْ لَا يُــمْــكِــنُــنَــا تَــخْـــزِيــنُ </a:t>
            </a:r>
            <a:r>
              <a:rPr lang="ar-DZ" sz="3600" b="1" dirty="0" smtClean="0">
                <a:solidFill>
                  <a:srgbClr val="0070C0"/>
                </a:solidFill>
              </a:rPr>
              <a:t>الــمِــلَــف  </a:t>
            </a:r>
            <a:r>
              <a:rPr lang="fr-FR" sz="3600" b="1" dirty="0" smtClean="0">
                <a:solidFill>
                  <a:srgbClr val="0070C0"/>
                </a:solidFill>
              </a:rPr>
              <a:t>:</a:t>
            </a:r>
            <a:r>
              <a:rPr lang="ar-DZ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3600" b="1" dirty="0">
                <a:solidFill>
                  <a:srgbClr val="0070C0"/>
                </a:solidFill>
              </a:rPr>
              <a:t>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916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14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أ.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قـــارِنْ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بَــيْـنَ الـذاكــرة الـحَــيَّــة  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RAM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والـقـــرص الـصــلــب  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HDD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فـي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الـخـصـائـص الـتـالـيـة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4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مـنـزلـي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>
                <a:solidFill>
                  <a:srgbClr val="FF0000"/>
                </a:solidFill>
              </a:rPr>
              <a:t>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1642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واجــب مـنـزلـي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14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ب.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تـعــتــبــر الـذاكــرة الـمَــيِــتَّـة  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ROM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أســاســيــة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الـحــاســوب بـحــيــث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يَــتِـمُ تــخــزيــن نــظــام </a:t>
            </a:r>
            <a:r>
              <a:rPr lang="en-US" sz="40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BIOS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فــيـهـا ، فــمــا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Liberation Serif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هـــو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دَوْرُ هــذا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الـنــظــام 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BIOS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)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؟</a:t>
            </a:r>
            <a:endParaRPr lang="fr-FR" sz="4400" b="1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433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05/10/2024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مـنـزلـي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>
                <a:solidFill>
                  <a:srgbClr val="FF0000"/>
                </a:solidFill>
              </a:rPr>
              <a:t>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4417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تــصــحــيــح الـواجــب الـمــنــزلـي :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فَـــائِـــقَـــةَ جِـــدَا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</a:rPr>
              <a:t>صــغــيـــرة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مُــؤَقَـــتٌ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83832" y="5477222"/>
            <a:ext cx="3441352" cy="968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بــيــانــات ومــلــفــات الـبــرامــج الـنــشــطــة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بـطــيــئـة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كــبــيــرة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دَائِــــمٌ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267" y="5477222"/>
            <a:ext cx="3803650" cy="968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الـبـــرامــج الـمُــثَــبَــتَــة والـمـلـفـات الـشـخـصـيـة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854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24020</TotalTime>
  <Words>4188</Words>
  <Application>Microsoft Office PowerPoint</Application>
  <PresentationFormat>Grand écran</PresentationFormat>
  <Paragraphs>966</Paragraphs>
  <Slides>121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121</vt:i4>
      </vt:variant>
    </vt:vector>
  </HeadingPairs>
  <TitlesOfParts>
    <vt:vector size="132" baseType="lpstr">
      <vt:lpstr>Arial Unicode MS</vt:lpstr>
      <vt:lpstr>SimSun</vt:lpstr>
      <vt:lpstr>Arial</vt:lpstr>
      <vt:lpstr>Calibri</vt:lpstr>
      <vt:lpstr>Droid Sans Fallback</vt:lpstr>
      <vt:lpstr>FreeSans</vt:lpstr>
      <vt:lpstr>Liberation Serif</vt:lpstr>
      <vt:lpstr>Times New Roman</vt:lpstr>
      <vt:lpstr>Traditional Arabic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1. تــعــريــف الـحــاســـوب </vt:lpstr>
      <vt:lpstr>ســؤال : مـاهـي الـمـعــلــومـات الَّـتِي تَــتَـعَــامَـلُ مـعـهـا الآلــة الـحـاسـبـة ؟</vt:lpstr>
      <vt:lpstr>ســؤال : مـاهـي الـمـعــلــومـات الَّـتِي تَــتَـعَــامَـلُ مـعـهـا الآلــة الـحـاسـبـة ؟</vt:lpstr>
      <vt:lpstr>ســؤال : كـيـف تَــتَـعَــامَـلُ الآلــة الـحـاسـبـة مـع الأعــــداد ؟</vt:lpstr>
      <vt:lpstr>ســؤال : كـيـف تَــتَـعَــامَـلُ الآلــة الـحـاسـبـة مـع الأعــــداد ؟</vt:lpstr>
      <vt:lpstr>ســؤال : مـاذا يـحــدث بـعْـدَ إِجْـــرَاءِ الـعَـمَـلِــيَــاتِ عَـلَى الأعــــداد ؟</vt:lpstr>
      <vt:lpstr>ســؤال : مـاذا يـحــدث بـعْـدَ إِجْـــرَاءِ الـعَـمَـلِــيَــاتِ عَـلَى الأعــــداد ؟</vt:lpstr>
      <vt:lpstr>ســؤال : مـاهـي الـمــعــلــومـات الَّـتِي يَــتَـعَـــامَــلُ مـعـهـا الـحــاســوب ؟</vt:lpstr>
      <vt:lpstr>ســؤال : مـاهـي الـمــعــلــومـات الَّـتِي يَــتَـعَـــامَــلُ مـعـهـا الـحــاســوب ؟</vt:lpstr>
      <vt:lpstr>ســؤال : مـاهـي الـمــعــلــومـات الَّـتِي يَــتَـعَـــامَــلُ مـعـهـا الـحــاســوب ؟</vt:lpstr>
      <vt:lpstr>أتـذكـر </vt:lpstr>
      <vt:lpstr>أتـذكـر </vt:lpstr>
      <vt:lpstr>2. تـصـنــيــف مـكـونــات الـحــاســـوب </vt:lpstr>
      <vt:lpstr>أتـذكـر </vt:lpstr>
      <vt:lpstr>أتـذكـر </vt:lpstr>
      <vt:lpstr>أتـذكـر </vt:lpstr>
      <vt:lpstr>ســؤال : تَـنْـقَـسِـمُ مـكـونـات الـحـاسـوب إلـى قِـسْـمَـيْـنِ مَـا هُـمَـا ؟</vt:lpstr>
      <vt:lpstr>ســؤال : تَـنْـقَـسِـمُ مـكـونـات الـحـاسـوب إلـى قِـسْـمَـيْـنِ مَـا هُـمَـا ؟</vt:lpstr>
      <vt:lpstr>3. تَـعْــيِــيــن مُــكَــوِنَـــات الـحَـــاسُــوب :</vt:lpstr>
      <vt:lpstr> 1.3 – الـمـكــونــات الـخـارجــيـة ( Périphériques d’Entrée/Sortie  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أتـذكـر </vt:lpstr>
      <vt:lpstr>أتـذكـر </vt:lpstr>
      <vt:lpstr> 1.3 – الـمـكــونــات الـخـارجــيـة ( Périphériques d’Entrée/Sortie   )</vt:lpstr>
      <vt:lpstr>نَـشَــاط 4 : ب – وَحَــدَات الإِخْــراج ( Périphériques de Sortie )</vt:lpstr>
      <vt:lpstr>نَـشَــاط 4 : ب – وَحَــدَات الإِخْــراج ( Périphériques de Sortie )</vt:lpstr>
      <vt:lpstr>نَـشَــاط 4 : ب – وَحَــدَات الإِخْــراج ( Périphériques de Sortie )</vt:lpstr>
      <vt:lpstr>نَـشَــاط 4 : ب – وَحَــدَات الإِخْــراج ( Périphériques de Sortie )</vt:lpstr>
      <vt:lpstr>أتـذكـر </vt:lpstr>
      <vt:lpstr>أتـذكـر </vt:lpstr>
      <vt:lpstr> 2.3 – الـمـكــونــات الـداخــلــيــة (Unité Centrale  )</vt:lpstr>
      <vt:lpstr>نَـشَــاط 5 : الـمــكــونــات الـداخــلــيــة  (Unité Centrale  )</vt:lpstr>
      <vt:lpstr>نَـشَــاط 5 ( تــابـع ) : الـمــكــونــات الـداخــلــيــة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( تــابـع ) : الـمــكــونــات الـداخــلــيــة</vt:lpstr>
      <vt:lpstr>نَـشَــاط 5 ( تــابـع ) : الـمــكــونــات الـداخــلــيــة</vt:lpstr>
      <vt:lpstr>نَـشَــاط 5 ( تــابـع ) : الـمــكــونــات الـداخــلــيــة</vt:lpstr>
      <vt:lpstr>نَـشَــاط 5 ( تــابـع ) : الـمــكــونــات الـداخــلــيــة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6 : ضـع أرقــام الـعــبـارات الــتـالـيـة فـي أَمَـاكِــنِـهَـا الـمـنـاســبـة فـي الـجـدول </vt:lpstr>
      <vt:lpstr>نَـشَــاط 6 : ضـع أرقــام الـعــبـارات الــتـالـيـة فـي أَمَـاكِــنِـهَـا الـمـنـاســبـة فـي الـجـدول </vt:lpstr>
      <vt:lpstr>نَـشَــاط 6 : ضـع أرقــام الـعــبـارات الــتـالـيـة فـي أَمَـاكِــنِـهَـا الـمـنـاســبـة فـي الـجـدول </vt:lpstr>
      <vt:lpstr>4. تــمـثــيــل الـمـعــلــومــات وقــيـــاس الـــذاكـــرة </vt:lpstr>
      <vt:lpstr> أ – تــمـثــيــل الـمـعــلــومــات  ــ  تـــابـع</vt:lpstr>
      <vt:lpstr> أ – تــمـثــيــل الـمـعــلــومــات ــ  تـــابـع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ب – مـضـاعــفــات وحــدة قــيــاس الــذاكــرة Byte </vt:lpstr>
      <vt:lpstr> ب – مـضـاعــفــات وحــدة قــيــاس الــذاكــرة Byte </vt:lpstr>
      <vt:lpstr>4. تــمـثــيــل الـمـعــلــومــات وقــيـــاس الـــذاكـــرة  ــ  تـــابــع</vt:lpstr>
      <vt:lpstr> ب – مـضـاعــفــات وحــدة قــيــاس الــذاكــرة Byte   ـــ  تـــابــع </vt:lpstr>
      <vt:lpstr> ب – مـضـاعــفــات وحــدة قــيــاس الــذاكــرة Byte   ـــ  تـــابــع </vt:lpstr>
      <vt:lpstr> ب – مـضـاعــفــات وحــدة قــيــاس الــذاكــرة Byte   ـــ  تـــابــع </vt:lpstr>
      <vt:lpstr>4. تــمـثــيــل الـمـعــلــومــات وقــيـــاس الـــذاكـــرة </vt:lpstr>
      <vt:lpstr>4. تــمـثــيــل الـمـعــلــومــات وقــيـــاس الـــذاكـــرة </vt:lpstr>
      <vt:lpstr>4. تــمـثــيــل الـمـعــلــومــات وقــيـــاس الـــذاكـــرة </vt:lpstr>
      <vt:lpstr>4. تــمـثــيــل الـمـعــلــومــات وقــيـــاس الـــذاكـــرة </vt:lpstr>
      <vt:lpstr>4. تــمـثــيــل الـمـعــلــومــات وقــيـــاس الـــذاكـــرة </vt:lpstr>
      <vt:lpstr> ج – تـطــبــيــقــات :</vt:lpstr>
      <vt:lpstr> ج – تـطــبــيــقــات  ــ  تــطــبــيـق 1 :</vt:lpstr>
      <vt:lpstr> ج – تـطــبــيــقــات : تــطــبــيـق 1:</vt:lpstr>
      <vt:lpstr> ج – تـطــبــيــقــات : تــطــبــيـق 1:</vt:lpstr>
      <vt:lpstr> ج – تـطــبــيــقــات  ــ  تــطــبــيـق 2 :</vt:lpstr>
      <vt:lpstr> ج – تـطــبــيــقــات  ــ  تــطــبــيـق 2 :</vt:lpstr>
      <vt:lpstr> ج – تـطــبــيــقــات  ــ  تــطــبــيـق 2 :</vt:lpstr>
      <vt:lpstr> ج – تـطــبــيــقــات  ــ  تــطــبــيـق 2 :</vt:lpstr>
      <vt:lpstr> الــــوضـــعـــــيــــة الإدمـــــــاجــــــيـــــة :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واجــب مـنـزلـي :</vt:lpstr>
      <vt:lpstr> واجــب مـنـزلـي  ــ  تـــابــع</vt:lpstr>
      <vt:lpstr> واجــب مـنـزلـي  ــ  تـــابــع</vt:lpstr>
      <vt:lpstr>Présentation PowerPoint</vt:lpstr>
      <vt:lpstr> واجــب مـنـزلـي  ــ  تـــابــع</vt:lpstr>
      <vt:lpstr> تــصــحــيــح الـواجــب الـمــنــزلـي :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924</cp:revision>
  <dcterms:created xsi:type="dcterms:W3CDTF">2015-11-30T21:00:22Z</dcterms:created>
  <dcterms:modified xsi:type="dcterms:W3CDTF">2024-10-05T15:50:41Z</dcterms:modified>
</cp:coreProperties>
</file>