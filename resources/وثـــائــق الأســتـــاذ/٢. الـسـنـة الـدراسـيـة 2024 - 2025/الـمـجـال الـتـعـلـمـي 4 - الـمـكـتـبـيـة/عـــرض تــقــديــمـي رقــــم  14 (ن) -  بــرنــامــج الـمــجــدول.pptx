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28"/>
  </p:notesMasterIdLst>
  <p:sldIdLst>
    <p:sldId id="273" r:id="rId3"/>
    <p:sldId id="549" r:id="rId4"/>
    <p:sldId id="258" r:id="rId5"/>
    <p:sldId id="447" r:id="rId6"/>
    <p:sldId id="756" r:id="rId7"/>
    <p:sldId id="292" r:id="rId8"/>
    <p:sldId id="695" r:id="rId9"/>
    <p:sldId id="685" r:id="rId10"/>
    <p:sldId id="686" r:id="rId11"/>
    <p:sldId id="844" r:id="rId12"/>
    <p:sldId id="843" r:id="rId13"/>
    <p:sldId id="842" r:id="rId14"/>
    <p:sldId id="698" r:id="rId15"/>
    <p:sldId id="697" r:id="rId16"/>
    <p:sldId id="848" r:id="rId17"/>
    <p:sldId id="847" r:id="rId18"/>
    <p:sldId id="846" r:id="rId19"/>
    <p:sldId id="845" r:id="rId20"/>
    <p:sldId id="849" r:id="rId21"/>
    <p:sldId id="858" r:id="rId22"/>
    <p:sldId id="982" r:id="rId23"/>
    <p:sldId id="981" r:id="rId24"/>
    <p:sldId id="980" r:id="rId25"/>
    <p:sldId id="979" r:id="rId26"/>
    <p:sldId id="978" r:id="rId27"/>
    <p:sldId id="850" r:id="rId28"/>
    <p:sldId id="867" r:id="rId29"/>
    <p:sldId id="865" r:id="rId30"/>
    <p:sldId id="932" r:id="rId31"/>
    <p:sldId id="977" r:id="rId32"/>
    <p:sldId id="851" r:id="rId33"/>
    <p:sldId id="983" r:id="rId34"/>
    <p:sldId id="991" r:id="rId35"/>
    <p:sldId id="990" r:id="rId36"/>
    <p:sldId id="989" r:id="rId37"/>
    <p:sldId id="988" r:id="rId38"/>
    <p:sldId id="987" r:id="rId39"/>
    <p:sldId id="986" r:id="rId40"/>
    <p:sldId id="985" r:id="rId41"/>
    <p:sldId id="984" r:id="rId42"/>
    <p:sldId id="853" r:id="rId43"/>
    <p:sldId id="998" r:id="rId44"/>
    <p:sldId id="1002" r:id="rId45"/>
    <p:sldId id="1001" r:id="rId46"/>
    <p:sldId id="1000" r:id="rId47"/>
    <p:sldId id="999" r:id="rId48"/>
    <p:sldId id="880" r:id="rId49"/>
    <p:sldId id="997" r:id="rId50"/>
    <p:sldId id="996" r:id="rId51"/>
    <p:sldId id="995" r:id="rId52"/>
    <p:sldId id="691" r:id="rId53"/>
    <p:sldId id="883" r:id="rId54"/>
    <p:sldId id="889" r:id="rId55"/>
    <p:sldId id="888" r:id="rId56"/>
    <p:sldId id="886" r:id="rId57"/>
    <p:sldId id="885" r:id="rId58"/>
    <p:sldId id="884" r:id="rId59"/>
    <p:sldId id="890" r:id="rId60"/>
    <p:sldId id="892" r:id="rId61"/>
    <p:sldId id="895" r:id="rId62"/>
    <p:sldId id="894" r:id="rId63"/>
    <p:sldId id="893" r:id="rId64"/>
    <p:sldId id="966" r:id="rId65"/>
    <p:sldId id="970" r:id="rId66"/>
    <p:sldId id="969" r:id="rId67"/>
    <p:sldId id="968" r:id="rId68"/>
    <p:sldId id="967" r:id="rId69"/>
    <p:sldId id="902" r:id="rId70"/>
    <p:sldId id="906" r:id="rId71"/>
    <p:sldId id="994" r:id="rId72"/>
    <p:sldId id="993" r:id="rId73"/>
    <p:sldId id="992" r:id="rId74"/>
    <p:sldId id="904" r:id="rId75"/>
    <p:sldId id="905" r:id="rId76"/>
    <p:sldId id="912" r:id="rId77"/>
    <p:sldId id="911" r:id="rId78"/>
    <p:sldId id="910" r:id="rId79"/>
    <p:sldId id="909" r:id="rId80"/>
    <p:sldId id="908" r:id="rId81"/>
    <p:sldId id="913" r:id="rId82"/>
    <p:sldId id="1003" r:id="rId83"/>
    <p:sldId id="1015" r:id="rId84"/>
    <p:sldId id="1014" r:id="rId85"/>
    <p:sldId id="1013" r:id="rId86"/>
    <p:sldId id="1012" r:id="rId87"/>
    <p:sldId id="1004" r:id="rId88"/>
    <p:sldId id="1007" r:id="rId89"/>
    <p:sldId id="1011" r:id="rId90"/>
    <p:sldId id="1010" r:id="rId91"/>
    <p:sldId id="1009" r:id="rId92"/>
    <p:sldId id="1008" r:id="rId93"/>
    <p:sldId id="925" r:id="rId94"/>
    <p:sldId id="933" r:id="rId95"/>
    <p:sldId id="1017" r:id="rId96"/>
    <p:sldId id="1016" r:id="rId97"/>
    <p:sldId id="940" r:id="rId98"/>
    <p:sldId id="935" r:id="rId99"/>
    <p:sldId id="939" r:id="rId100"/>
    <p:sldId id="937" r:id="rId101"/>
    <p:sldId id="942" r:id="rId102"/>
    <p:sldId id="941" r:id="rId103"/>
    <p:sldId id="929" r:id="rId104"/>
    <p:sldId id="943" r:id="rId105"/>
    <p:sldId id="944" r:id="rId106"/>
    <p:sldId id="951" r:id="rId107"/>
    <p:sldId id="950" r:id="rId108"/>
    <p:sldId id="949" r:id="rId109"/>
    <p:sldId id="948" r:id="rId110"/>
    <p:sldId id="947" r:id="rId111"/>
    <p:sldId id="946" r:id="rId112"/>
    <p:sldId id="945" r:id="rId113"/>
    <p:sldId id="954" r:id="rId114"/>
    <p:sldId id="953" r:id="rId115"/>
    <p:sldId id="959" r:id="rId116"/>
    <p:sldId id="958" r:id="rId117"/>
    <p:sldId id="957" r:id="rId118"/>
    <p:sldId id="955" r:id="rId119"/>
    <p:sldId id="961" r:id="rId120"/>
    <p:sldId id="960" r:id="rId121"/>
    <p:sldId id="956" r:id="rId122"/>
    <p:sldId id="964" r:id="rId123"/>
    <p:sldId id="963" r:id="rId124"/>
    <p:sldId id="962" r:id="rId125"/>
    <p:sldId id="965" r:id="rId126"/>
    <p:sldId id="338" r:id="rId12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ual" initials="D" lastIdx="0" clrIdx="0">
    <p:extLst>
      <p:ext uri="{19B8F6BF-5375-455C-9EA6-DF929625EA0E}">
        <p15:presenceInfo xmlns:p15="http://schemas.microsoft.com/office/powerpoint/2012/main" userId="Dua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4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57" autoAdjust="0"/>
    <p:restoredTop sz="94434" autoAdjust="0"/>
  </p:normalViewPr>
  <p:slideViewPr>
    <p:cSldViewPr>
      <p:cViewPr varScale="1">
        <p:scale>
          <a:sx n="71" d="100"/>
          <a:sy n="71" d="100"/>
        </p:scale>
        <p:origin x="636" y="6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5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63" Type="http://schemas.openxmlformats.org/officeDocument/2006/relationships/slide" Target="slides/slide61.xml"/><Relationship Id="rId84" Type="http://schemas.openxmlformats.org/officeDocument/2006/relationships/slide" Target="slides/slide82.xml"/><Relationship Id="rId16" Type="http://schemas.openxmlformats.org/officeDocument/2006/relationships/slide" Target="slides/slide14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123" Type="http://schemas.openxmlformats.org/officeDocument/2006/relationships/slide" Target="slides/slide121.xml"/><Relationship Id="rId128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18" Type="http://schemas.openxmlformats.org/officeDocument/2006/relationships/slide" Target="slides/slide116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124" Type="http://schemas.openxmlformats.org/officeDocument/2006/relationships/slide" Target="slides/slide122.xml"/><Relationship Id="rId129" Type="http://schemas.openxmlformats.org/officeDocument/2006/relationships/commentAuthors" Target="commentAuthors.xml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slide" Target="slides/slide112.xml"/><Relationship Id="rId119" Type="http://schemas.openxmlformats.org/officeDocument/2006/relationships/slide" Target="slides/slide117.xml"/><Relationship Id="rId44" Type="http://schemas.openxmlformats.org/officeDocument/2006/relationships/slide" Target="slides/slide42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130" Type="http://schemas.openxmlformats.org/officeDocument/2006/relationships/presProps" Target="presProps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120" Type="http://schemas.openxmlformats.org/officeDocument/2006/relationships/slide" Target="slides/slide118.xml"/><Relationship Id="rId125" Type="http://schemas.openxmlformats.org/officeDocument/2006/relationships/slide" Target="slides/slide123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slide" Target="slides/slide113.xml"/><Relationship Id="rId131" Type="http://schemas.openxmlformats.org/officeDocument/2006/relationships/viewProps" Target="viewProps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126" Type="http://schemas.openxmlformats.org/officeDocument/2006/relationships/slide" Target="slides/slide124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121" Type="http://schemas.openxmlformats.org/officeDocument/2006/relationships/slide" Target="slides/slide119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slide" Target="slides/slide11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Relationship Id="rId132" Type="http://schemas.openxmlformats.org/officeDocument/2006/relationships/theme" Target="theme/theme1.xml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27" Type="http://schemas.openxmlformats.org/officeDocument/2006/relationships/slide" Target="slides/slide12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52" Type="http://schemas.openxmlformats.org/officeDocument/2006/relationships/slide" Target="slides/slide50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122" Type="http://schemas.openxmlformats.org/officeDocument/2006/relationships/slide" Target="slides/slide120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26" Type="http://schemas.openxmlformats.org/officeDocument/2006/relationships/slide" Target="slides/slide24.xml"/><Relationship Id="rId47" Type="http://schemas.openxmlformats.org/officeDocument/2006/relationships/slide" Target="slides/slide45.xml"/><Relationship Id="rId68" Type="http://schemas.openxmlformats.org/officeDocument/2006/relationships/slide" Target="slides/slide66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707165-6FA1-4F51-AE2F-3E34D4EE60DB}" type="datetimeFigureOut">
              <a:rPr lang="fr-FR" smtClean="0"/>
              <a:pPr/>
              <a:t>26/12/2024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2BD788-2CE9-4B58-A72D-7A842BE88AE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2437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6387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fr-FR" dirty="0" smtClean="0"/>
          </a:p>
        </p:txBody>
      </p:sp>
    </p:spTree>
    <p:extLst>
      <p:ext uri="{BB962C8B-B14F-4D97-AF65-F5344CB8AC3E}">
        <p14:creationId xmlns:p14="http://schemas.microsoft.com/office/powerpoint/2010/main" val="7708524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2BD788-2CE9-4B58-A72D-7A842BE88AE5}" type="slidenum">
              <a:rPr lang="fr-FR" smtClean="0"/>
              <a:pPr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20869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2BD788-2CE9-4B58-A72D-7A842BE88AE5}" type="slidenum">
              <a:rPr lang="fr-FR" smtClean="0"/>
              <a:pPr/>
              <a:t>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655512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2BD788-2CE9-4B58-A72D-7A842BE88AE5}" type="slidenum">
              <a:rPr lang="fr-FR" smtClean="0"/>
              <a:pPr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74351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6387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7841526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1799A-AD1E-4EC4-BAE9-72E49FCD3627}" type="datetime1">
              <a:rPr lang="fr-FR" smtClean="0"/>
              <a:t>26/12/2024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01B79-79D6-441E-BF1E-BF238058A2BE}" type="datetime1">
              <a:rPr lang="fr-FR" smtClean="0"/>
              <a:t>26/12/2024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01902-2934-498C-B9CD-ABFFBDC132D2}" type="datetime1">
              <a:rPr lang="fr-FR" smtClean="0"/>
              <a:t>26/12/2024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6BA51-70A3-4108-A886-33F689CBCDCE}" type="datetime1">
              <a:rPr lang="fr-FR" smtClean="0"/>
              <a:t>26/12/2024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6FC74-5BB7-4110-9531-403E0DC6FCC3}" type="datetime1">
              <a:rPr lang="fr-FR" smtClean="0"/>
              <a:t>26/12/2024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85D57-B0FA-4850-A7A9-46BC746BF18D}" type="datetime1">
              <a:rPr lang="fr-FR" smtClean="0"/>
              <a:t>26/12/2024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3EED2-DA68-42E6-BB32-4BDF58561745}" type="datetime1">
              <a:rPr lang="fr-FR" smtClean="0"/>
              <a:t>26/12/2024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E66D5-8CED-4255-B840-C3038CA10D44}" type="datetime1">
              <a:rPr lang="fr-FR" smtClean="0"/>
              <a:t>26/12/2024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A74B6-0C57-4CBC-8085-4FAD680CE4E3}" type="datetime1">
              <a:rPr lang="fr-FR" smtClean="0"/>
              <a:t>26/12/2024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783B9-A837-41A0-BB3E-10BAC9E24798}" type="datetime1">
              <a:rPr lang="fr-FR" smtClean="0"/>
              <a:t>26/12/2024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4622B-0FD0-4642-A755-FF44A3648A33}" type="datetime1">
              <a:rPr lang="fr-FR" smtClean="0"/>
              <a:t>26/12/2024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145A6B-277E-4029-9E0B-0271FFE59EB6}" type="datetime1">
              <a:rPr lang="fr-FR" smtClean="0"/>
              <a:t>26/12/2024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27F164-2AFA-4878-B6DC-B21DA486304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303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EEAD95-047D-434C-94E6-21EBF421E084}" type="datetime1">
              <a:rPr lang="fr-FR" smtClean="0"/>
              <a:t>26/12/2024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17CCD0-4F98-4392-B995-B19C0157D76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7935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B0E85B-6058-4423-8F7A-4FBB18FA07C1}" type="datetime1">
              <a:rPr lang="fr-FR" smtClean="0"/>
              <a:t>26/12/2024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47F796-EFDC-4369-84AD-973929CACFD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415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914402" y="1981201"/>
            <a:ext cx="5077884" cy="4113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5484" y="1981201"/>
            <a:ext cx="5080000" cy="4113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BA6324-8179-42BA-9313-AB3649298C41}" type="datetime1">
              <a:rPr lang="fr-FR" smtClean="0"/>
              <a:t>26/12/2024</a:t>
            </a:fld>
            <a:endParaRPr lang="fr-F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CA6A9D-AE4D-4B9F-82A2-A8A1879CF1FD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5076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149203-36D1-40BE-98DA-9DA8422BCD53}" type="datetime1">
              <a:rPr lang="fr-FR" smtClean="0"/>
              <a:t>26/12/2024</a:t>
            </a:fld>
            <a:endParaRPr lang="fr-FR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6DD686-4B0E-404B-9A8C-39B7649B33F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0981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F477A3-8FE0-4B7E-A69A-AF8A31224535}" type="datetime1">
              <a:rPr lang="fr-FR" smtClean="0"/>
              <a:t>26/12/2024</a:t>
            </a:fld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F7A8C2-4022-4423-AD6A-3808F8CCE67A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138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4265DF-C9D6-4224-B0D0-B18720FAE376}" type="datetime1">
              <a:rPr lang="fr-FR" smtClean="0"/>
              <a:t>26/12/2024</a:t>
            </a:fld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70BB9D-EEFD-47F1-8456-A76ECCAD119E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3841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AB563E-CA6D-4202-9FD3-4E9C2001BF5C}" type="datetime1">
              <a:rPr lang="fr-FR" smtClean="0"/>
              <a:t>26/12/2024</a:t>
            </a:fld>
            <a:endParaRPr lang="fr-F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A92917-01B5-4E8C-BFEC-18FD0A17E87A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7577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BCC719-82BB-485C-9884-0955D2EDAFDA}" type="datetime1">
              <a:rPr lang="fr-FR" smtClean="0"/>
              <a:t>26/12/2024</a:t>
            </a:fld>
            <a:endParaRPr lang="fr-F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C56B6E-88B6-4A57-AEFD-EA1E6BE9AD79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3684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E81FDD-F3A2-4361-94BD-09467961B8B4}" type="datetime1">
              <a:rPr lang="fr-FR" smtClean="0"/>
              <a:t>26/12/2024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F4B7C2-8CE4-4BAD-9D0C-80765E61DE9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898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686802" y="609603"/>
            <a:ext cx="2588684" cy="5484813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914400" y="609603"/>
            <a:ext cx="7569200" cy="5484813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BB1012-3A3D-4B91-A754-A02A28E75EEE}" type="datetime1">
              <a:rPr lang="fr-FR" smtClean="0"/>
              <a:t>26/12/2024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99EC31-E3B7-4FC8-BB6A-FBF82360E3C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9342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2" y="609603"/>
            <a:ext cx="10361084" cy="1141413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BA0297-0565-4E69-9C42-831900A170AB}" type="datetime1">
              <a:rPr lang="fr-FR" smtClean="0"/>
              <a:t>26/12/2024</a:t>
            </a:fld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9E9879-8CFB-4292-8612-256D92E5B28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7374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BF9D3C-AC6F-429E-8EA4-013C4366CE2E}" type="datetime1">
              <a:rPr lang="fr-FR" smtClean="0"/>
              <a:t>26/12/2024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hf sldNum="0"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914402" y="609603"/>
            <a:ext cx="10361084" cy="114141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Cliquez pour éditer le format du texte-titre</a:t>
            </a: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2" y="1981201"/>
            <a:ext cx="10361084" cy="411321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Cliquez pour éditer le format du plan de texte</a:t>
            </a:r>
          </a:p>
          <a:p>
            <a:pPr lvl="1"/>
            <a:r>
              <a:rPr lang="en-GB" smtClean="0"/>
              <a:t>Second niveau de plan</a:t>
            </a:r>
          </a:p>
          <a:p>
            <a:pPr lvl="2"/>
            <a:r>
              <a:rPr lang="en-GB" smtClean="0"/>
              <a:t>Troisième niveau de plan</a:t>
            </a:r>
          </a:p>
          <a:p>
            <a:pPr lvl="3"/>
            <a:r>
              <a:rPr lang="en-GB" smtClean="0"/>
              <a:t>Quatrième niveau de plan</a:t>
            </a:r>
          </a:p>
          <a:p>
            <a:pPr lvl="4"/>
            <a:r>
              <a:rPr lang="en-GB" smtClean="0"/>
              <a:t>Cinquième niveau de plan</a:t>
            </a:r>
          </a:p>
          <a:p>
            <a:pPr lvl="4"/>
            <a:r>
              <a:rPr lang="en-GB" smtClean="0"/>
              <a:t>Sixième niveau de plan</a:t>
            </a:r>
          </a:p>
          <a:p>
            <a:pPr lvl="4"/>
            <a:r>
              <a:rPr lang="en-GB" smtClean="0"/>
              <a:t>Septième niveau de plan</a:t>
            </a:r>
          </a:p>
          <a:p>
            <a:pPr lvl="4"/>
            <a:r>
              <a:rPr lang="en-GB" smtClean="0"/>
              <a:t>Huitième niveau de plan</a:t>
            </a:r>
          </a:p>
          <a:p>
            <a:pPr lvl="4"/>
            <a:r>
              <a:rPr lang="en-GB" smtClean="0"/>
              <a:t>Neuvième niveau de plan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914402" y="6248403"/>
            <a:ext cx="2537884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mtClean="0">
                <a:solidFill>
                  <a:srgbClr val="000000"/>
                </a:solidFill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defTabSz="449263" fontAlgn="base">
              <a:spcBef>
                <a:spcPct val="0"/>
              </a:spcBef>
              <a:spcAft>
                <a:spcPct val="0"/>
              </a:spcAft>
              <a:buSzPct val="100000"/>
              <a:defRPr/>
            </a:pPr>
            <a:fld id="{AFBB3673-710D-4D29-AC82-167E94112C65}" type="datetime1">
              <a:rPr lang="fr-FR" sz="2400" smtClean="0"/>
              <a:pPr defTabSz="449263" fontAlgn="base">
                <a:spcBef>
                  <a:spcPct val="0"/>
                </a:spcBef>
                <a:spcAft>
                  <a:spcPct val="0"/>
                </a:spcAft>
                <a:buSzPct val="100000"/>
                <a:defRPr/>
              </a:pPr>
              <a:t>26/12/2024</a:t>
            </a:fld>
            <a:endParaRPr lang="fr-FR" sz="240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ftr"/>
          </p:nvPr>
        </p:nvSpPr>
        <p:spPr bwMode="auto">
          <a:xfrm>
            <a:off x="4165602" y="6248403"/>
            <a:ext cx="3858684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defTabSz="449263" fontAlgn="base">
              <a:spcBef>
                <a:spcPct val="0"/>
              </a:spcBef>
              <a:spcAft>
                <a:spcPct val="0"/>
              </a:spcAft>
              <a:buSzPct val="100000"/>
              <a:defRPr/>
            </a:pPr>
            <a:endParaRPr lang="fr-FR" sz="240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/>
          </p:nvPr>
        </p:nvSpPr>
        <p:spPr bwMode="auto">
          <a:xfrm>
            <a:off x="11277602" y="6629403"/>
            <a:ext cx="2537884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000">
                <a:solidFill>
                  <a:srgbClr val="000000"/>
                </a:solidFill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defTabSz="449263" fontAlgn="base">
              <a:spcBef>
                <a:spcPct val="0"/>
              </a:spcBef>
              <a:spcAft>
                <a:spcPct val="0"/>
              </a:spcAft>
              <a:buSzPct val="100000"/>
              <a:defRPr/>
            </a:pPr>
            <a:fld id="{7FD84E5A-625F-47DD-A5B9-EA1D8EC3DB43}" type="slidenum">
              <a:rPr lang="fr-FR" smtClean="0"/>
              <a:pPr defTabSz="449263" fontAlgn="base">
                <a:spcBef>
                  <a:spcPct val="0"/>
                </a:spcBef>
                <a:spcAft>
                  <a:spcPct val="0"/>
                </a:spcAft>
                <a:buSzPct val="100000"/>
                <a:defRPr/>
              </a:pPr>
              <a:t>‹N°›</a:t>
            </a:fld>
            <a:endParaRPr lang="fr-FR"/>
          </a:p>
        </p:txBody>
      </p:sp>
      <p:pic>
        <p:nvPicPr>
          <p:cNvPr id="1031" name="Picture 6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0" y="0"/>
            <a:ext cx="12192000" cy="1295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546744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hf sldNum="0" hdr="0" ftr="0"/>
  <p:txStyles>
    <p:titleStyle>
      <a:lvl1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+mj-lt"/>
          <a:ea typeface="+mj-ea"/>
          <a:cs typeface="+mj-cs"/>
        </a:defRPr>
      </a:lvl1pPr>
      <a:lvl2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2pPr>
      <a:lvl3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3pPr>
      <a:lvl4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4pPr>
      <a:lvl5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5pPr>
      <a:lvl6pPr marL="25146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6pPr>
      <a:lvl7pPr marL="29718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7pPr>
      <a:lvl8pPr marL="34290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8pPr>
      <a:lvl9pPr marL="38862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9pPr>
    </p:titleStyle>
    <p:bodyStyle>
      <a:lvl1pPr marL="342900" indent="-342900" algn="l" defTabSz="449263" rtl="0" eaLnBrk="0" fontAlgn="base" hangingPunct="0"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•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–"/>
        <a:defRPr sz="2800">
          <a:solidFill>
            <a:srgbClr val="000000"/>
          </a:solidFill>
          <a:latin typeface="+mn-lt"/>
          <a:ea typeface="+mn-ea"/>
        </a:defRPr>
      </a:lvl2pPr>
      <a:lvl3pPr marL="1143000" indent="-228600" algn="l" defTabSz="449263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•"/>
        <a:defRPr sz="2400">
          <a:solidFill>
            <a:srgbClr val="000000"/>
          </a:solidFill>
          <a:latin typeface="+mn-lt"/>
          <a:ea typeface="+mn-ea"/>
        </a:defRPr>
      </a:lvl3pPr>
      <a:lvl4pPr marL="1600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–"/>
        <a:defRPr sz="2000">
          <a:solidFill>
            <a:srgbClr val="000000"/>
          </a:solidFill>
          <a:latin typeface="+mn-lt"/>
          <a:ea typeface="+mn-ea"/>
        </a:defRPr>
      </a:lvl4pPr>
      <a:lvl5pPr marL="20574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»"/>
        <a:defRPr sz="2000">
          <a:solidFill>
            <a:srgbClr val="000000"/>
          </a:solidFill>
          <a:latin typeface="+mn-lt"/>
          <a:ea typeface="+mn-ea"/>
        </a:defRPr>
      </a:lvl5pPr>
      <a:lvl6pPr marL="25146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6pPr>
      <a:lvl7pPr marL="29718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7pPr>
      <a:lvl8pPr marL="34290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8pPr>
      <a:lvl9pPr marL="38862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à coins arrondis 8"/>
          <p:cNvSpPr/>
          <p:nvPr/>
        </p:nvSpPr>
        <p:spPr bwMode="auto">
          <a:xfrm>
            <a:off x="10668000" y="2786058"/>
            <a:ext cx="7143800" cy="785818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fr-FR" sz="2400" dirty="0">
              <a:solidFill>
                <a:prstClr val="white"/>
              </a:solidFill>
            </a:endParaRPr>
          </a:p>
        </p:txBody>
      </p:sp>
      <p:pic>
        <p:nvPicPr>
          <p:cNvPr id="2054" name="Picture 7" descr="algeria_flags_3dclipart_www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16480" y="-71462"/>
            <a:ext cx="1728787" cy="1223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5" name="Picture 7" descr="algeria_flags_3dclipart_www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32" y="0"/>
            <a:ext cx="1728788" cy="1223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Espace réservé de la date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B4B70AF9-3FB6-400F-9757-12747EE37EB3}" type="datetime1">
              <a:rPr lang="fr-FR" smtClean="0"/>
              <a:t>26/12/2024</a:t>
            </a:fld>
            <a:endParaRPr lang="fr-FR" dirty="0"/>
          </a:p>
        </p:txBody>
      </p:sp>
      <p:sp>
        <p:nvSpPr>
          <p:cNvPr id="6" name="Rectangle à coins arrondis 5"/>
          <p:cNvSpPr/>
          <p:nvPr/>
        </p:nvSpPr>
        <p:spPr>
          <a:xfrm>
            <a:off x="1127448" y="2030870"/>
            <a:ext cx="9793088" cy="3456385"/>
          </a:xfrm>
          <a:prstGeom prst="roundRect">
            <a:avLst>
              <a:gd name="adj" fmla="val 26762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defTabSz="10096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ar-DZ" altLang="zh-CN" sz="6000" b="1" u="sn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</a:rPr>
              <a:t>ثــانــويــة أسـي يــوسـف بــوغــنـي</a:t>
            </a:r>
            <a:r>
              <a:rPr lang="ar-DZ" altLang="zh-CN" sz="60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</a:rPr>
              <a:t> </a:t>
            </a:r>
          </a:p>
          <a:p>
            <a:pPr lvl="0" algn="ctr" defTabSz="100965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DZ" altLang="zh-CN" sz="6000" b="1" u="sn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  <a:cs typeface="+mj-cs"/>
              </a:rPr>
              <a:t>الـمــــادة : الـمــعـــلـــومــــاتـــيـــة</a:t>
            </a:r>
            <a:r>
              <a:rPr lang="ar-DZ" altLang="zh-CN" sz="60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  <a:cs typeface="+mj-cs"/>
              </a:rPr>
              <a:t> </a:t>
            </a:r>
            <a:endParaRPr lang="ar-SA" altLang="zh-CN" sz="6000" b="1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itchFamily="34" charset="0"/>
              <a:cs typeface="+mj-cs"/>
            </a:endParaRPr>
          </a:p>
          <a:p>
            <a:pPr algn="ctr">
              <a:lnSpc>
                <a:spcPct val="150000"/>
              </a:lnSpc>
            </a:pPr>
            <a:endParaRPr lang="fr-FR" sz="5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62344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à coins arrondis 4"/>
          <p:cNvSpPr/>
          <p:nvPr/>
        </p:nvSpPr>
        <p:spPr>
          <a:xfrm>
            <a:off x="587388" y="3645024"/>
            <a:ext cx="10693188" cy="2304256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r" rtl="1"/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ال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وح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ــــ</a:t>
            </a:r>
            <a:r>
              <a:rPr lang="ar-SA" altLang="zh-CN" sz="4000" b="1" dirty="0" err="1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دة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ال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ت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ع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ل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ي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م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ي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ة :</a:t>
            </a:r>
          </a:p>
        </p:txBody>
      </p:sp>
      <p:sp>
        <p:nvSpPr>
          <p:cNvPr id="6" name="Rectangle à coins arrondis 5"/>
          <p:cNvSpPr/>
          <p:nvPr/>
        </p:nvSpPr>
        <p:spPr>
          <a:xfrm>
            <a:off x="587388" y="950541"/>
            <a:ext cx="10801200" cy="2448272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r" rtl="1">
              <a:lnSpc>
                <a:spcPct val="135000"/>
              </a:lnSpc>
            </a:pPr>
            <a:r>
              <a:rPr lang="ar-DZ" altLang="zh-CN" sz="4000" b="1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الــمـــجــــال </a:t>
            </a:r>
            <a:r>
              <a:rPr lang="ar-DZ" altLang="zh-CN" sz="4000" b="1" u="sng" dirty="0" err="1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الــتَـــعَــــلُـــمِــي</a:t>
            </a:r>
            <a:r>
              <a:rPr lang="ar-DZ" altLang="zh-CN" sz="4000" b="1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  :  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الـــ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م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ك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ــــــ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ت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ب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يــــ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ــة</a:t>
            </a:r>
            <a:endParaRPr lang="fr-FR" sz="4000" u="sng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587388" y="188640"/>
            <a:ext cx="2016224" cy="576064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fld id="{2901635A-126F-4D9B-99FC-E41D53661A20}" type="datetime1">
              <a:rPr lang="fr-FR" sz="2400" b="1" u="sng"/>
              <a:t>26/12/2024</a:t>
            </a:fld>
            <a:endParaRPr lang="fr-BE" sz="2400" b="1" u="sng" dirty="0"/>
          </a:p>
        </p:txBody>
      </p:sp>
    </p:spTree>
    <p:extLst>
      <p:ext uri="{BB962C8B-B14F-4D97-AF65-F5344CB8AC3E}">
        <p14:creationId xmlns:p14="http://schemas.microsoft.com/office/powerpoint/2010/main" val="1159008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6000" b="1" u="sng" dirty="0" smtClean="0">
                <a:solidFill>
                  <a:srgbClr val="FF0000"/>
                </a:solidFill>
                <a:cs typeface="+mj-cs"/>
              </a:rPr>
              <a:t>الإشــكــالــيــة</a:t>
            </a:r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 :</a:t>
            </a:r>
            <a:endParaRPr lang="fr-FR" sz="6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95188"/>
            <a:ext cx="10814992" cy="506116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30000"/>
              </a:lnSpc>
              <a:buNone/>
            </a:pPr>
            <a:endParaRPr lang="fr-FR" sz="6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cs typeface="+mj-cs"/>
              </a:rPr>
              <a:t>إذَا طُـلِـبَ مـنـك إنـشــاء جــدول كــشــف الـنــقــاط وحــســاب مُــعَـــدَلَات الــمَـــوَادِ بــطــريــقــةٍ تِــلْــقَـــائِــيَــةٍ ، فــمــا هـــو الـبــرنــامـج الّـذي سَــتَــسْــتَــعْـــمِــلُــهُ ؟ </a:t>
            </a:r>
            <a:endParaRPr lang="ar-DZ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6000" b="1" u="sng" dirty="0">
                <a:solidFill>
                  <a:srgbClr val="FF0000"/>
                </a:solidFill>
                <a:cs typeface="+mj-cs"/>
              </a:rPr>
              <a:t>الإجــابــة</a:t>
            </a:r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 :</a:t>
            </a:r>
            <a:endParaRPr lang="fr-FR" sz="6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95188"/>
            <a:ext cx="10814992" cy="506116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30000"/>
              </a:lnSpc>
              <a:buNone/>
            </a:pPr>
            <a:endParaRPr lang="fr-FR" sz="600" b="1" dirty="0" smtClean="0">
              <a:cs typeface="+mj-cs"/>
            </a:endParaRPr>
          </a:p>
          <a:p>
            <a:pPr marL="0" indent="0" algn="r" rtl="1">
              <a:buNone/>
            </a:pPr>
            <a:endParaRPr lang="ar-DZ" sz="4000" b="1" dirty="0" smtClean="0">
              <a:cs typeface="+mj-cs"/>
            </a:endParaRPr>
          </a:p>
          <a:p>
            <a:pPr marL="0" indent="0" algn="r" rtl="1">
              <a:buNone/>
            </a:pPr>
            <a:endParaRPr lang="ar-DZ" sz="4000" b="1" dirty="0">
              <a:cs typeface="+mj-cs"/>
            </a:endParaRPr>
          </a:p>
          <a:p>
            <a:pPr marL="0" indent="0" algn="r" rtl="1">
              <a:buNone/>
            </a:pPr>
            <a:r>
              <a:rPr lang="ar-DZ" sz="4400" b="1" dirty="0" smtClean="0">
                <a:cs typeface="+mj-cs"/>
              </a:rPr>
              <a:t>الـبــرنـــامــج </a:t>
            </a:r>
            <a:r>
              <a:rPr lang="ar-DZ" sz="4400" b="1" dirty="0">
                <a:cs typeface="+mj-cs"/>
              </a:rPr>
              <a:t>هــو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: </a:t>
            </a:r>
            <a:r>
              <a:rPr lang="ar-DZ" sz="44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</a:t>
            </a:r>
            <a:endParaRPr lang="ar-DZ" sz="4400" baseline="-25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444500" indent="0" algn="r" rtl="1">
              <a:lnSpc>
                <a:spcPct val="120000"/>
              </a:lnSpc>
              <a:buNone/>
            </a:pPr>
            <a:endParaRPr lang="fr-FR" sz="4000" dirty="0">
              <a:cs typeface="+mj-cs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fr-FR" sz="4000" dirty="0">
              <a:cs typeface="+mj-cs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fr-FR" sz="4000" dirty="0" smtClean="0">
              <a:cs typeface="+mj-cs"/>
            </a:endParaRPr>
          </a:p>
          <a:p>
            <a:pPr marL="0" lvl="0" indent="0" algn="r" rtl="1">
              <a:buNone/>
            </a:pPr>
            <a:r>
              <a:rPr lang="ar-DZ" sz="3600" b="1" dirty="0" smtClean="0">
                <a:cs typeface="+mj-cs"/>
              </a:rPr>
              <a:t> </a:t>
            </a:r>
          </a:p>
          <a:p>
            <a:pPr marL="268288" lvl="0" indent="0" algn="r" rtl="1">
              <a:buNone/>
            </a:pPr>
            <a:endParaRPr lang="fr-FR" sz="48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857739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6000" b="1" u="sng" dirty="0">
                <a:solidFill>
                  <a:srgbClr val="FF0000"/>
                </a:solidFill>
                <a:cs typeface="+mj-cs"/>
              </a:rPr>
              <a:t>الإجــابــة</a:t>
            </a:r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 :</a:t>
            </a:r>
            <a:endParaRPr lang="fr-FR" sz="6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95188"/>
            <a:ext cx="10814992" cy="506116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30000"/>
              </a:lnSpc>
              <a:buNone/>
            </a:pPr>
            <a:endParaRPr lang="fr-FR" sz="600" b="1" dirty="0" smtClean="0">
              <a:cs typeface="+mj-cs"/>
            </a:endParaRPr>
          </a:p>
          <a:p>
            <a:pPr marL="0" indent="0" algn="r" rtl="1">
              <a:buNone/>
            </a:pPr>
            <a:endParaRPr lang="ar-DZ" sz="4000" b="1" dirty="0" smtClean="0">
              <a:cs typeface="+mj-cs"/>
            </a:endParaRPr>
          </a:p>
          <a:p>
            <a:pPr marL="0" indent="0" algn="r" rtl="1">
              <a:buNone/>
            </a:pPr>
            <a:endParaRPr lang="ar-DZ" sz="4000" b="1" dirty="0">
              <a:cs typeface="+mj-cs"/>
            </a:endParaRPr>
          </a:p>
          <a:p>
            <a:pPr marL="0" indent="0" algn="r" rtl="1">
              <a:buNone/>
            </a:pPr>
            <a:r>
              <a:rPr lang="ar-DZ" sz="4400" b="1" dirty="0" smtClean="0">
                <a:cs typeface="+mj-cs"/>
              </a:rPr>
              <a:t>الـبــرنـــامـج </a:t>
            </a:r>
            <a:r>
              <a:rPr lang="ar-DZ" sz="4400" b="1" dirty="0">
                <a:cs typeface="+mj-cs"/>
              </a:rPr>
              <a:t>هــو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: </a:t>
            </a:r>
            <a:r>
              <a:rPr lang="ar-DZ" sz="44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</a:t>
            </a:r>
            <a:endParaRPr lang="ar-DZ" sz="4400" baseline="-25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444500" indent="0" algn="r" rtl="1">
              <a:lnSpc>
                <a:spcPct val="120000"/>
              </a:lnSpc>
              <a:buNone/>
            </a:pPr>
            <a:endParaRPr lang="fr-FR" sz="4000" dirty="0">
              <a:cs typeface="+mj-cs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fr-FR" sz="4000" dirty="0">
              <a:cs typeface="+mj-cs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fr-FR" sz="4000" dirty="0" smtClean="0">
              <a:cs typeface="+mj-cs"/>
            </a:endParaRPr>
          </a:p>
          <a:p>
            <a:pPr marL="0" lvl="0" indent="0" algn="r" rtl="1">
              <a:buNone/>
            </a:pPr>
            <a:r>
              <a:rPr lang="ar-DZ" sz="3600" b="1" dirty="0" smtClean="0">
                <a:cs typeface="+mj-cs"/>
              </a:rPr>
              <a:t> </a:t>
            </a:r>
          </a:p>
          <a:p>
            <a:pPr marL="268288" lvl="0" indent="0" algn="r" rtl="1">
              <a:buNone/>
            </a:pPr>
            <a:endParaRPr lang="fr-FR" sz="48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1343472" y="3031993"/>
            <a:ext cx="626469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271463" algn="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الــمُــجَــدْوِل    ( </a:t>
            </a: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Excel</a:t>
            </a:r>
            <a:r>
              <a:rPr lang="ar-DZ" sz="4400" b="1" dirty="0" smtClean="0">
                <a:solidFill>
                  <a:srgbClr val="0070C0"/>
                </a:solidFill>
              </a:rPr>
              <a:t> </a:t>
            </a:r>
            <a:r>
              <a:rPr lang="fr-FR" sz="44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)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977476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à coins arrondis 4"/>
          <p:cNvSpPr/>
          <p:nvPr/>
        </p:nvSpPr>
        <p:spPr>
          <a:xfrm>
            <a:off x="587388" y="2966770"/>
            <a:ext cx="10801200" cy="16200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ال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وح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ــــ</a:t>
            </a:r>
            <a:r>
              <a:rPr lang="ar-SA" altLang="zh-CN" sz="4000" b="1" dirty="0" err="1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دة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ال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ت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ع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ل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ي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م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ي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ة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: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</a:t>
            </a:r>
            <a:r>
              <a:rPr lang="ar-DZ" sz="4000" b="1" dirty="0" smtClean="0">
                <a:solidFill>
                  <a:srgbClr val="0070C0"/>
                </a:solidFill>
              </a:rPr>
              <a:t>الــمُــــجَـــــدْوِل</a:t>
            </a:r>
            <a:endParaRPr lang="ar-SA" altLang="zh-CN" sz="4000" b="1" dirty="0">
              <a:solidFill>
                <a:srgbClr val="00B050"/>
              </a:solidFill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587388" y="950541"/>
            <a:ext cx="10801200" cy="16200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rtl="1">
              <a:lnSpc>
                <a:spcPct val="135000"/>
              </a:lnSpc>
            </a:pPr>
            <a:r>
              <a:rPr lang="ar-DZ" altLang="zh-CN" sz="4000" b="1" u="sng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الــمـــجــــال </a:t>
            </a:r>
            <a:r>
              <a:rPr lang="ar-DZ" altLang="zh-CN" sz="4000" b="1" u="sng" dirty="0" err="1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الــتَـــعَــــلُـــمِــي</a:t>
            </a:r>
            <a:r>
              <a:rPr lang="ar-DZ" altLang="zh-CN" sz="4000" b="1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  :  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الـــ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م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ك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ــــــ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ت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ب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يــــ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ــة</a:t>
            </a:r>
            <a:endParaRPr lang="fr-FR" sz="4000" u="sng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587388" y="188640"/>
            <a:ext cx="2016224" cy="576064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fld id="{2901635A-126F-4D9B-99FC-E41D53661A20}" type="datetime1">
              <a:rPr lang="fr-FR" sz="2400" b="1"/>
              <a:t>26/12/2024</a:t>
            </a:fld>
            <a:endParaRPr lang="fr-BE" sz="2400" b="1" dirty="0"/>
          </a:p>
        </p:txBody>
      </p:sp>
      <p:sp>
        <p:nvSpPr>
          <p:cNvPr id="9" name="Rectangle à coins arrondis 8"/>
          <p:cNvSpPr/>
          <p:nvPr/>
        </p:nvSpPr>
        <p:spPr>
          <a:xfrm>
            <a:off x="587388" y="5081119"/>
            <a:ext cx="6660740" cy="1586641"/>
          </a:xfrm>
          <a:prstGeom prst="roundRect">
            <a:avLst>
              <a:gd name="adj" fmla="val 26762"/>
            </a:avLst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defTabSz="10096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fr-FR" altLang="zh-CN" sz="4000" b="1" dirty="0" smtClean="0">
                <a:ln w="0"/>
                <a:solidFill>
                  <a:prstClr val="black"/>
                </a:solidFill>
                <a:latin typeface="Times New Roman" panose="02020603050405020304" pitchFamily="18" charset="0"/>
                <a:cs typeface="+mj-cs"/>
              </a:rPr>
              <a:t>MS-EXCEL</a:t>
            </a:r>
            <a:r>
              <a:rPr lang="ar-DZ" altLang="zh-CN" sz="4000" b="1" dirty="0" smtClean="0">
                <a:ln w="0"/>
                <a:solidFill>
                  <a:prstClr val="black"/>
                </a:solidFill>
                <a:latin typeface="Arial" pitchFamily="34" charset="0"/>
                <a:cs typeface="+mj-cs"/>
              </a:rPr>
              <a:t> </a:t>
            </a:r>
            <a:r>
              <a:rPr lang="fr-FR" altLang="zh-CN" sz="4000" b="1" dirty="0" smtClean="0">
                <a:ln w="0"/>
                <a:solidFill>
                  <a:prstClr val="black"/>
                </a:solidFill>
                <a:latin typeface="Arial" pitchFamily="34" charset="0"/>
                <a:cs typeface="+mj-cs"/>
              </a:rPr>
              <a:t> </a:t>
            </a:r>
            <a:r>
              <a:rPr lang="fr-FR" altLang="zh-CN" sz="4000" b="1" dirty="0" smtClean="0">
                <a:ln w="0"/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FR" altLang="zh-CN" sz="4000" b="1" dirty="0" smtClean="0">
                <a:ln w="0"/>
                <a:solidFill>
                  <a:prstClr val="black"/>
                </a:solidFill>
                <a:latin typeface="Arial" pitchFamily="34" charset="0"/>
                <a:cs typeface="+mj-cs"/>
              </a:rPr>
              <a:t> </a:t>
            </a:r>
            <a:r>
              <a:rPr lang="fr-FR" altLang="zh-CN" sz="4000" b="1" dirty="0" smtClean="0">
                <a:ln w="0"/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MS-Office )</a:t>
            </a:r>
            <a:endParaRPr lang="ar-SA" altLang="zh-CN" sz="4000" b="1" dirty="0" smtClean="0">
              <a:ln w="0"/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fr-FR" sz="200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42811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4" grpId="0" animBg="1"/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à coins arrondis 4"/>
          <p:cNvSpPr/>
          <p:nvPr/>
        </p:nvSpPr>
        <p:spPr>
          <a:xfrm>
            <a:off x="587388" y="3645024"/>
            <a:ext cx="10693188" cy="2304256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rtl="1"/>
            <a:r>
              <a:rPr lang="ar-SA" altLang="zh-CN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مَــــــدْخَـــــــل إِلَـــى الـ</a:t>
            </a:r>
            <a:r>
              <a:rPr lang="ar-DZ" altLang="zh-CN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مُــ</a:t>
            </a:r>
            <a:r>
              <a:rPr lang="ar-DZ" altLang="zh-CN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جَ</a:t>
            </a:r>
            <a:r>
              <a:rPr lang="ar-DZ" altLang="zh-CN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ـــدول   </a:t>
            </a:r>
            <a:r>
              <a:rPr lang="fr-FR" altLang="zh-CN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MS- </a:t>
            </a:r>
            <a:r>
              <a:rPr lang="fr-FR" altLang="zh-CN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EXCEL</a:t>
            </a:r>
            <a:endParaRPr lang="ar-SA" altLang="zh-CN" sz="4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587388" y="950541"/>
            <a:ext cx="10801200" cy="2448272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r" rtl="1">
              <a:lnSpc>
                <a:spcPct val="135000"/>
              </a:lnSpc>
            </a:pPr>
            <a:r>
              <a:rPr lang="ar-DZ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+mj-cs"/>
              </a:rPr>
              <a:t>الــمـــجــــال </a:t>
            </a:r>
            <a:r>
              <a:rPr lang="ar-DZ" altLang="zh-CN" sz="4000" b="1" u="sng" dirty="0" err="1" smtClean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+mj-cs"/>
              </a:rPr>
              <a:t>الــتَـــعَــــلُـــمِــي</a:t>
            </a:r>
            <a:r>
              <a:rPr lang="ar-DZ" altLang="zh-CN" sz="4000" b="1" dirty="0" smtClean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+mj-cs"/>
              </a:rPr>
              <a:t>  :  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+mj-cs"/>
              </a:rPr>
              <a:t>الـــ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+mj-cs"/>
              </a:rPr>
              <a:t>م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+mj-cs"/>
              </a:rPr>
              <a:t>ــــ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+mj-cs"/>
              </a:rPr>
              <a:t>ك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+mj-cs"/>
              </a:rPr>
              <a:t>ــــــ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+mj-cs"/>
              </a:rPr>
              <a:t>ت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+mj-cs"/>
              </a:rPr>
              <a:t>ــــ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+mj-cs"/>
              </a:rPr>
              <a:t>ـ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+mj-cs"/>
              </a:rPr>
              <a:t>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+mj-cs"/>
              </a:rPr>
              <a:t>ب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+mj-cs"/>
              </a:rPr>
              <a:t>ـــ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+mj-cs"/>
              </a:rPr>
              <a:t>ـ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+mj-cs"/>
              </a:rPr>
              <a:t>ـــ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+mj-cs"/>
              </a:rPr>
              <a:t>يــــ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+mj-cs"/>
              </a:rPr>
              <a:t>ــة</a:t>
            </a:r>
            <a:endParaRPr lang="fr-FR" sz="4000" u="sng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587388" y="188640"/>
            <a:ext cx="2016224" cy="576064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fld id="{2901635A-126F-4D9B-99FC-E41D53661A20}" type="datetime1">
              <a:rPr lang="fr-FR" sz="2400" b="1" u="sng"/>
              <a:t>26/12/2024</a:t>
            </a:fld>
            <a:endParaRPr lang="fr-BE" sz="2400" b="1" u="sng" dirty="0"/>
          </a:p>
        </p:txBody>
      </p:sp>
    </p:spTree>
    <p:extLst>
      <p:ext uri="{BB962C8B-B14F-4D97-AF65-F5344CB8AC3E}">
        <p14:creationId xmlns:p14="http://schemas.microsoft.com/office/powerpoint/2010/main" val="573437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1. مــفــاهــيــم </a:t>
            </a:r>
            <a:r>
              <a:rPr lang="ar-DZ" sz="4800" b="1" dirty="0">
                <a:solidFill>
                  <a:srgbClr val="FF0000"/>
                </a:solidFill>
                <a:cs typeface="+mj-cs"/>
              </a:rPr>
              <a:t>أســـاســـيـــة عــن الـمُــجَــدْوِل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r" rtl="1"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نــشـــاط </a:t>
            </a:r>
            <a:r>
              <a:rPr lang="ar-DZ" sz="5400" b="1" u="sng" dirty="0">
                <a:solidFill>
                  <a:srgbClr val="00B050"/>
                </a:solidFill>
                <a:cs typeface="Times New Roman" panose="02020603050405020304" pitchFamily="18" charset="0"/>
              </a:rPr>
              <a:t>1</a:t>
            </a:r>
            <a:r>
              <a:rPr lang="ar-DZ" sz="5400" b="1" dirty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54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:</a:t>
            </a: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مــاذا تـعــرفــون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عــن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بــرنــامـج الــمـجــدول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EXCEL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؟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تــعـــريـــف 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الــمــجــدول  </a:t>
            </a:r>
            <a:r>
              <a:rPr lang="fr-FR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EXCEL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488489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(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1.1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 تـعـــريــف </a:t>
            </a:r>
            <a:r>
              <a:rPr lang="ar-DZ" sz="4800" b="1" dirty="0">
                <a:solidFill>
                  <a:srgbClr val="00B050"/>
                </a:solidFill>
              </a:rPr>
              <a:t>الــمــجــدول  </a:t>
            </a:r>
            <a:r>
              <a:rPr lang="fr-FR" sz="4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EXCEL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cs typeface="+mj-cs"/>
              </a:rPr>
              <a:t>هــو بــرنــامــج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يــســمــح بـ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( تـــتــألَّــف مــن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نــصـوص ، أعـــداد ،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... )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مــع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فــيـهـا وكــذلـك يــقــوم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بــ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الــمــرتــبــطــة بــمــعــطــيــات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مُــحَــدَّدةٍ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205451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(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1.1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 تـعـــريــف </a:t>
            </a:r>
            <a:r>
              <a:rPr lang="ar-DZ" sz="4800" b="1" dirty="0">
                <a:solidFill>
                  <a:srgbClr val="00B050"/>
                </a:solidFill>
              </a:rPr>
              <a:t>الــمــجــدول  </a:t>
            </a:r>
            <a:r>
              <a:rPr lang="fr-FR" sz="4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EXCEL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cs typeface="+mj-cs"/>
              </a:rPr>
              <a:t>هــو بــرنــامــج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يــســمــح بـ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( تـــتــألَّــف مــن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نــصـوص ، أعـــداد ،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... )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مــع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فــيـهـا وكــذلـك يــقــوم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بــ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الــمــرتــبــطــة بــمــعــطــيــات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مُــحَــدَّدةٍ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2999656" y="1628800"/>
            <a:ext cx="324036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إنــشــاء </a:t>
            </a:r>
            <a:r>
              <a:rPr lang="ar-DZ" sz="4000" b="1" dirty="0">
                <a:solidFill>
                  <a:srgbClr val="0070C0"/>
                </a:solidFill>
                <a:cs typeface="+mj-cs"/>
              </a:rPr>
              <a:t>الـجــداول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630624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(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1.1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 تـعـــريــف </a:t>
            </a:r>
            <a:r>
              <a:rPr lang="ar-DZ" sz="4800" b="1" dirty="0">
                <a:solidFill>
                  <a:srgbClr val="00B050"/>
                </a:solidFill>
              </a:rPr>
              <a:t>الــمــجــدول  </a:t>
            </a:r>
            <a:r>
              <a:rPr lang="fr-FR" sz="4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EXCEL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cs typeface="+mj-cs"/>
              </a:rPr>
              <a:t>هــو بــرنــامــج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يــســمــح بـ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( تـــتــألَّــف مــن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نــصـوص ، أعـــداد ،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... )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مــع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فــيـهـا وكــذلـك يــقــوم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بــ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الــمــرتــبــطــة بــمــعــطــيــات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مُــحَــدَّدةٍ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2999656" y="1628800"/>
            <a:ext cx="324036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إنــشــاء </a:t>
            </a:r>
            <a:r>
              <a:rPr lang="ar-DZ" sz="4000" b="1" dirty="0">
                <a:solidFill>
                  <a:srgbClr val="0070C0"/>
                </a:solidFill>
                <a:cs typeface="+mj-cs"/>
              </a:rPr>
              <a:t>الـجــداول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9416" y="2566593"/>
            <a:ext cx="378042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إجـــراء الـحــســابــات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586286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(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1.1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 تـعـــريــف </a:t>
            </a:r>
            <a:r>
              <a:rPr lang="ar-DZ" sz="4800" b="1" dirty="0">
                <a:solidFill>
                  <a:srgbClr val="00B050"/>
                </a:solidFill>
              </a:rPr>
              <a:t>الــمــجــدول  </a:t>
            </a:r>
            <a:r>
              <a:rPr lang="fr-FR" sz="4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EXCEL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cs typeface="+mj-cs"/>
              </a:rPr>
              <a:t>هــو بــرنــامــج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يــســمــح بـ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( تـــتــألَّــف مــن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نــصـوص ، أعـــداد ،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... )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مــع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فــيـهـا وكــذلـك يــقــوم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بــ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الــمــرتــبــطــة بــمــعــطــيــات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مُــحَــدَّدةٍ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2999656" y="1628800"/>
            <a:ext cx="324036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إنــشــاء </a:t>
            </a:r>
            <a:r>
              <a:rPr lang="ar-DZ" sz="4000" b="1" dirty="0">
                <a:solidFill>
                  <a:srgbClr val="0070C0"/>
                </a:solidFill>
                <a:cs typeface="+mj-cs"/>
              </a:rPr>
              <a:t>الـجــداول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9416" y="2566593"/>
            <a:ext cx="378042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إجـــراء الـحــســابــات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39416" y="3530423"/>
            <a:ext cx="619268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رســـم </a:t>
            </a:r>
            <a:r>
              <a:rPr lang="ar-DZ" sz="4000" b="1" dirty="0">
                <a:solidFill>
                  <a:srgbClr val="0070C0"/>
                </a:solidFill>
                <a:cs typeface="+mj-cs"/>
              </a:rPr>
              <a:t>مــخــتــلــف 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الــمــخــطــطــات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674920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FF0000"/>
                </a:solidFill>
                <a:cs typeface="+mj-cs"/>
              </a:rPr>
              <a:t>1. مــفــاهــيــم أســـاســـيـــة عــن الـمُــجَــدْوِل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7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نــشـــاط 2</a:t>
            </a:r>
            <a:r>
              <a:rPr lang="ar-DZ" sz="54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:</a:t>
            </a:r>
            <a:r>
              <a:rPr lang="ar-DZ" sz="1000" b="1" dirty="0">
                <a:cs typeface="+mj-cs"/>
              </a:rPr>
              <a:t> </a:t>
            </a:r>
            <a:r>
              <a:rPr lang="ar-DZ" sz="1000" b="1" dirty="0" smtClean="0">
                <a:cs typeface="+mj-cs"/>
              </a:rPr>
              <a:t> </a:t>
            </a:r>
            <a:r>
              <a:rPr lang="ar-DZ" sz="4000" b="1" dirty="0" smtClean="0">
                <a:cs typeface="+mj-cs"/>
              </a:rPr>
              <a:t>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مـــاذا يُــمَــثِّــلُ لــكـم مُــصَــنَّــف فـي بــرنــامـج 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MS-EXCEL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؟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4800" b="1" dirty="0">
                <a:solidFill>
                  <a:srgbClr val="00B050"/>
                </a:solidFill>
              </a:rPr>
              <a:t>تـعـــريــف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الــمُــصَــنَّــف   </a:t>
            </a:r>
            <a:r>
              <a:rPr lang="fr-FR" sz="4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Classeur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416721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4800" b="1" dirty="0">
                <a:solidFill>
                  <a:srgbClr val="00B050"/>
                </a:solidFill>
              </a:rPr>
              <a:t>تـعـــريــف </a:t>
            </a:r>
            <a:r>
              <a:rPr lang="ar-DZ" sz="4800" b="1" dirty="0" smtClean="0">
                <a:solidFill>
                  <a:srgbClr val="00B050"/>
                </a:solidFill>
              </a:rPr>
              <a:t>الــمُــصَــنَّــف  </a:t>
            </a:r>
            <a:r>
              <a:rPr lang="fr-FR" sz="4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Classeur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هــو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الـذي نُــنْــشِــئُــه بـاســتــعــمــال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ويَــشْــمَــلُ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افــتــراضِــيًــا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Feuilles  )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عــلـى الأقـــل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واحـــدة بـحــيــث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بـإمــكــان الـمُــصَــنَّــف أنْ يَــضُــمُّ حـتـى 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401813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4800" b="1" dirty="0">
                <a:solidFill>
                  <a:srgbClr val="00B050"/>
                </a:solidFill>
              </a:rPr>
              <a:t>تـعـــريــف </a:t>
            </a:r>
            <a:r>
              <a:rPr lang="ar-DZ" sz="4800" b="1" dirty="0" smtClean="0">
                <a:solidFill>
                  <a:srgbClr val="00B050"/>
                </a:solidFill>
              </a:rPr>
              <a:t>الــمُــصَــنَّــف  </a:t>
            </a:r>
            <a:r>
              <a:rPr lang="fr-FR" sz="4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Classeur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هــو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الـذي نُــنْــشِــئُــه بـاســتــعــمــال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ويَــشْــمَــلُ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افــتــراضِــيًــا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Feuilles  )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عــلـى الأقـــل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واحـــدة بـحــيــث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بـإمــكــان الـمُــصَــنَّــف أنْ يَــضُــمُّ حـتـى 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8832304" y="1700808"/>
            <a:ext cx="17281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الــمــلــف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67408" y="1628800"/>
            <a:ext cx="252028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الــمُــجَــدْوِل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48016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4800" b="1" dirty="0">
                <a:solidFill>
                  <a:srgbClr val="00B050"/>
                </a:solidFill>
              </a:rPr>
              <a:t>تـعـــريــف </a:t>
            </a:r>
            <a:r>
              <a:rPr lang="ar-DZ" sz="4800" b="1" dirty="0" smtClean="0">
                <a:solidFill>
                  <a:srgbClr val="00B050"/>
                </a:solidFill>
              </a:rPr>
              <a:t>الــمُــصَــنَّــف  </a:t>
            </a:r>
            <a:r>
              <a:rPr lang="fr-FR" sz="4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Classeur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هــو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الـذي نُــنْــشِــئُــه بـاســتــعــمــال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ويَــشْــمَــلُ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افــتــراضِــيًــا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Feuilles  )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عــلـى الأقـــل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واحـــدة بـحــيــث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بـإمــكــان الـمُــصَــنَّــف أنْ يَــضُــمُّ حـتـى 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8832304" y="1700808"/>
            <a:ext cx="17281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الــمــلــف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67408" y="1628800"/>
            <a:ext cx="252028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الــمُــجَــدْوِل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007768" y="2498282"/>
            <a:ext cx="283742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أوراق 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عــمــل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526380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7" grpId="0" animBg="1"/>
      <p:bldP spid="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4800" b="1" dirty="0">
                <a:solidFill>
                  <a:srgbClr val="00B050"/>
                </a:solidFill>
              </a:rPr>
              <a:t>تـعـــريــف </a:t>
            </a:r>
            <a:r>
              <a:rPr lang="ar-DZ" sz="4800" b="1" dirty="0" smtClean="0">
                <a:solidFill>
                  <a:srgbClr val="00B050"/>
                </a:solidFill>
              </a:rPr>
              <a:t>الــمُــصَــنَّــف  </a:t>
            </a:r>
            <a:r>
              <a:rPr lang="fr-FR" sz="4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Classeur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هــو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الـذي نُــنْــشِــئُــه بـاســتــعــمــال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ويَــشْــمَــلُ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افــتــراضِــيًــا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Feuilles  )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عــلـى الأقـــل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واحـــدة بـحــيــث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بـإمــكــان الـمُــصَــنَّــف أنْ يَــضُــمُّ حـتـى 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8832304" y="1700808"/>
            <a:ext cx="17281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الــمــلــف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67408" y="1628800"/>
            <a:ext cx="252028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الــمُــجَــدْوِل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007768" y="2498282"/>
            <a:ext cx="283742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أوراق 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عــمــل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312024" y="3414674"/>
            <a:ext cx="20882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ورقـــةً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43639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7" grpId="0" animBg="1"/>
      <p:bldP spid="8" grpId="0" animBg="1"/>
      <p:bldP spid="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4800" b="1" dirty="0">
                <a:solidFill>
                  <a:srgbClr val="00B050"/>
                </a:solidFill>
              </a:rPr>
              <a:t>تـعـــريــف </a:t>
            </a:r>
            <a:r>
              <a:rPr lang="ar-DZ" sz="4800" b="1" dirty="0" smtClean="0">
                <a:solidFill>
                  <a:srgbClr val="00B050"/>
                </a:solidFill>
              </a:rPr>
              <a:t>الــمُــصَــنَّــف  </a:t>
            </a:r>
            <a:r>
              <a:rPr lang="fr-FR" sz="4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Classeur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هــو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الـذي نُــنْــشِــئُــه بـاســتــعــمــال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ويَــشْــمَــلُ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افــتــراضِــيًــا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Feuilles  )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عــلـى الأقـــل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واحـــدة بـحــيــث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بـإمــكــان الـمُــصَــنَّــف أنْ يَــضُــمُّ حـتـى 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8832304" y="1700808"/>
            <a:ext cx="17281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الــمــلــف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67408" y="1628800"/>
            <a:ext cx="252028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الــمُــجَــدْوِل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007768" y="2498282"/>
            <a:ext cx="283742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أوراق 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عــمــل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312024" y="3414674"/>
            <a:ext cx="20882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ورقـــةً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11424" y="4352467"/>
            <a:ext cx="523327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256  ورقـــةً 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 عــمــل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79111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FF0000"/>
                </a:solidFill>
                <a:cs typeface="+mj-cs"/>
              </a:rPr>
              <a:t>1. مــفــاهــيــم أســـاســـيـــة عــن الـمُــجَــدْوِل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7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نــشـــاط 3</a:t>
            </a:r>
            <a:r>
              <a:rPr lang="ar-DZ" sz="54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:</a:t>
            </a:r>
            <a:r>
              <a:rPr lang="ar-DZ" sz="1000" b="1" dirty="0">
                <a:cs typeface="+mj-cs"/>
              </a:rPr>
              <a:t> </a:t>
            </a:r>
            <a:r>
              <a:rPr lang="ar-DZ" sz="1000" b="1" dirty="0" smtClean="0">
                <a:cs typeface="+mj-cs"/>
              </a:rPr>
              <a:t> </a:t>
            </a:r>
            <a:r>
              <a:rPr lang="ar-DZ" sz="4000" b="1" dirty="0" smtClean="0">
                <a:cs typeface="+mj-cs"/>
              </a:rPr>
              <a:t>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مـــاذا تُــمَــثِّــلُ لــكـم </a:t>
            </a:r>
            <a:r>
              <a:rPr lang="ar-DZ" sz="4400" b="1" dirty="0" smtClean="0"/>
              <a:t>ورقـــة عــمــل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داخــل مُــصَــنَّــفَــات 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EXCEL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؟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3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4800" b="1" dirty="0">
                <a:solidFill>
                  <a:srgbClr val="00B050"/>
                </a:solidFill>
              </a:rPr>
              <a:t>تـعـــريــف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ورقـــة  عــمــل 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fr-FR" sz="4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Feuille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08892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3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4800" b="1" dirty="0">
                <a:solidFill>
                  <a:srgbClr val="00B050"/>
                </a:solidFill>
              </a:rPr>
              <a:t>تـعـــريــف </a:t>
            </a:r>
            <a:r>
              <a:rPr lang="ar-DZ" sz="4800" b="1" dirty="0" smtClean="0">
                <a:solidFill>
                  <a:srgbClr val="00B050"/>
                </a:solidFill>
              </a:rPr>
              <a:t>ورقـــة  </a:t>
            </a:r>
            <a:r>
              <a:rPr lang="ar-DZ" sz="4800" b="1" dirty="0">
                <a:solidFill>
                  <a:srgbClr val="00B050"/>
                </a:solidFill>
              </a:rPr>
              <a:t>عــمــل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هــو ذلــك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الـمُــهَــيَّــأ لإنــشــاء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بـحــيــث يــتـألَّــف مــن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بِـحُـــروفٍ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إنـجــلــيــزيــة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، 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ar-DZ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، 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ar-DZ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، 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... 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، 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ar-DZ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؛  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،  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،  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،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 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AZ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؛  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،  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BB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،  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BC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... ، </a:t>
            </a:r>
            <a:r>
              <a:rPr lang="en-US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BZ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؛  ....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 </a:t>
            </a:r>
            <a:r>
              <a:rPr lang="ar-DZ" sz="4000" b="1" dirty="0" smtClean="0"/>
              <a:t>إذ </a:t>
            </a:r>
            <a:r>
              <a:rPr lang="ar-DZ" sz="4000" b="1" dirty="0"/>
              <a:t>يــبــلــغ </a:t>
            </a:r>
            <a:r>
              <a:rPr lang="ar-DZ" sz="4000" b="1" dirty="0" smtClean="0"/>
              <a:t>عـــدد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</a:t>
            </a:r>
            <a:r>
              <a:rPr lang="ar-DZ" sz="4000" b="1" dirty="0" smtClean="0"/>
              <a:t> 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729709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3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4800" b="1" dirty="0">
                <a:solidFill>
                  <a:srgbClr val="00B050"/>
                </a:solidFill>
              </a:rPr>
              <a:t>تـعـــريــف </a:t>
            </a:r>
            <a:r>
              <a:rPr lang="ar-DZ" sz="4800" b="1" dirty="0" smtClean="0">
                <a:solidFill>
                  <a:srgbClr val="00B050"/>
                </a:solidFill>
              </a:rPr>
              <a:t>ورقـــة  </a:t>
            </a:r>
            <a:r>
              <a:rPr lang="ar-DZ" sz="4800" b="1" dirty="0">
                <a:solidFill>
                  <a:srgbClr val="00B050"/>
                </a:solidFill>
              </a:rPr>
              <a:t>عــمــل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هــو ذلــك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الـمُــهَــيَّــأ لإنــشــاء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بـحــيــث يــتـألَّــف مــن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بِـحُـــروفٍ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إنـجــلــيــزيــة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، 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ar-DZ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، 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ar-DZ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، 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... 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، 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ar-DZ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؛  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،  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،  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،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 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AZ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؛  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،  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BB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،  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BC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... ، </a:t>
            </a:r>
            <a:r>
              <a:rPr lang="en-US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BZ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؛  ....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 </a:t>
            </a:r>
            <a:r>
              <a:rPr lang="ar-DZ" sz="4000" b="1" dirty="0" smtClean="0"/>
              <a:t>إذ </a:t>
            </a:r>
            <a:r>
              <a:rPr lang="ar-DZ" sz="4000" b="1" dirty="0"/>
              <a:t>يــبــلــغ </a:t>
            </a:r>
            <a:r>
              <a:rPr lang="ar-DZ" sz="4000" b="1" dirty="0" smtClean="0"/>
              <a:t>عـــدد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</a:t>
            </a:r>
            <a:r>
              <a:rPr lang="ar-DZ" sz="4000" b="1" dirty="0" smtClean="0"/>
              <a:t> 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104112" y="1556792"/>
            <a:ext cx="203590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الــمــكــان 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4184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3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4800" b="1" dirty="0">
                <a:solidFill>
                  <a:srgbClr val="00B050"/>
                </a:solidFill>
              </a:rPr>
              <a:t>تـعـــريــف </a:t>
            </a:r>
            <a:r>
              <a:rPr lang="ar-DZ" sz="4800" b="1" dirty="0" smtClean="0">
                <a:solidFill>
                  <a:srgbClr val="00B050"/>
                </a:solidFill>
              </a:rPr>
              <a:t>ورقـــة  </a:t>
            </a:r>
            <a:r>
              <a:rPr lang="ar-DZ" sz="4800" b="1" dirty="0">
                <a:solidFill>
                  <a:srgbClr val="00B050"/>
                </a:solidFill>
              </a:rPr>
              <a:t>عــمــل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هــو ذلــك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الـمُــهَــيَّــأ لإنــشــاء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بـحــيــث يــتـألَّــف مــن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بِـحُـــروفٍ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إنـجــلــيــزيــة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، 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ar-DZ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، 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ar-DZ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، 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... 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، 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ar-DZ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؛  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،  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،  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،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 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AZ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؛  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،  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BB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،  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BC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... ، </a:t>
            </a:r>
            <a:r>
              <a:rPr lang="en-US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BZ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؛  ....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 </a:t>
            </a:r>
            <a:r>
              <a:rPr lang="ar-DZ" sz="4000" b="1" dirty="0" smtClean="0"/>
              <a:t>إذ </a:t>
            </a:r>
            <a:r>
              <a:rPr lang="ar-DZ" sz="4000" b="1" dirty="0"/>
              <a:t>يــبــلــغ </a:t>
            </a:r>
            <a:r>
              <a:rPr lang="ar-DZ" sz="4000" b="1" dirty="0" smtClean="0"/>
              <a:t>عـــدد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</a:t>
            </a:r>
            <a:r>
              <a:rPr lang="ar-DZ" sz="4000" b="1" dirty="0" smtClean="0"/>
              <a:t> 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104112" y="1556792"/>
            <a:ext cx="203590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الــمــكــان 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98427" y="1602764"/>
            <a:ext cx="258926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الـجـــداول 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3827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3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4800" b="1" dirty="0">
                <a:solidFill>
                  <a:srgbClr val="00B050"/>
                </a:solidFill>
              </a:rPr>
              <a:t>تـعـــريــف </a:t>
            </a:r>
            <a:r>
              <a:rPr lang="ar-DZ" sz="4800" b="1" dirty="0" smtClean="0">
                <a:solidFill>
                  <a:srgbClr val="00B050"/>
                </a:solidFill>
              </a:rPr>
              <a:t>ورقـــة  </a:t>
            </a:r>
            <a:r>
              <a:rPr lang="ar-DZ" sz="4800" b="1" dirty="0">
                <a:solidFill>
                  <a:srgbClr val="00B050"/>
                </a:solidFill>
              </a:rPr>
              <a:t>عــمــل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هــو ذلــك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الـمُــهَــيَّــأ لإنــشــاء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بـحــيــث يــتـألَّــف مــن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بِـحُـــروفٍ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إنـجــلــيــزيــة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، 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ar-DZ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، 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ar-DZ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، 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... 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، 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ar-DZ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؛  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،  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،  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،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 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AZ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؛  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،  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BB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،  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BC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... ، </a:t>
            </a:r>
            <a:r>
              <a:rPr lang="en-US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BZ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؛  ....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 </a:t>
            </a:r>
            <a:r>
              <a:rPr lang="ar-DZ" sz="4000" b="1" dirty="0" smtClean="0"/>
              <a:t>إذ </a:t>
            </a:r>
            <a:r>
              <a:rPr lang="ar-DZ" sz="4000" b="1" dirty="0"/>
              <a:t>يــبــلــغ </a:t>
            </a:r>
            <a:r>
              <a:rPr lang="ar-DZ" sz="4000" b="1" dirty="0" smtClean="0"/>
              <a:t>عـــدد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</a:t>
            </a:r>
            <a:r>
              <a:rPr lang="ar-DZ" sz="4000" b="1" dirty="0" smtClean="0"/>
              <a:t> 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104112" y="1556792"/>
            <a:ext cx="203590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الــمــكــان 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98427" y="1602764"/>
            <a:ext cx="258926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الـجـــداول 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143672" y="2509216"/>
            <a:ext cx="359737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أعـــمــدة مُــعَــلَّــمَــةٍ 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2145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9" grpId="0" animBg="1"/>
      <p:bldP spid="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3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4800" b="1" dirty="0">
                <a:solidFill>
                  <a:srgbClr val="00B050"/>
                </a:solidFill>
              </a:rPr>
              <a:t>تـعـــريــف </a:t>
            </a:r>
            <a:r>
              <a:rPr lang="ar-DZ" sz="4800" b="1" dirty="0" smtClean="0">
                <a:solidFill>
                  <a:srgbClr val="00B050"/>
                </a:solidFill>
              </a:rPr>
              <a:t>ورقـــة  </a:t>
            </a:r>
            <a:r>
              <a:rPr lang="ar-DZ" sz="4800" b="1" dirty="0">
                <a:solidFill>
                  <a:srgbClr val="00B050"/>
                </a:solidFill>
              </a:rPr>
              <a:t>عــمــل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هــو ذلــك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الـمُــهَــيَّــأ لإنــشــاء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بـحــيــث يــتـألَّــف مــن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بِـحُـــروفٍ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إنـجــلــيــزيــة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، 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ar-DZ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، 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ar-DZ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، 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... 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، 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ar-DZ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؛  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،  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،  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،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 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AZ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؛  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،  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BB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،  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BC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... ، </a:t>
            </a:r>
            <a:r>
              <a:rPr lang="en-US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BZ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؛  ....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 </a:t>
            </a:r>
            <a:r>
              <a:rPr lang="ar-DZ" sz="4000" b="1" dirty="0" smtClean="0"/>
              <a:t>إذ </a:t>
            </a:r>
            <a:r>
              <a:rPr lang="ar-DZ" sz="4000" b="1" dirty="0"/>
              <a:t>يــبــلــغ </a:t>
            </a:r>
            <a:r>
              <a:rPr lang="ar-DZ" sz="4000" b="1" dirty="0" smtClean="0"/>
              <a:t>عـــدد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</a:t>
            </a:r>
            <a:r>
              <a:rPr lang="ar-DZ" sz="4000" b="1" dirty="0" smtClean="0"/>
              <a:t> 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104112" y="1556792"/>
            <a:ext cx="203590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الــمــكــان 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98427" y="1602764"/>
            <a:ext cx="258926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الـجـــداول 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143672" y="2509216"/>
            <a:ext cx="359737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أعـــمــدة مُــعَــلَّــمَــةٍ 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140021" y="5229200"/>
            <a:ext cx="150914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XFD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6859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9" grpId="0" animBg="1"/>
      <p:bldP spid="8" grpId="0" animBg="1"/>
      <p:bldP spid="1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3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4800" b="1" dirty="0">
                <a:solidFill>
                  <a:srgbClr val="00B050"/>
                </a:solidFill>
              </a:rPr>
              <a:t>تـعـــريــف </a:t>
            </a:r>
            <a:r>
              <a:rPr lang="ar-DZ" sz="4800" b="1" dirty="0" smtClean="0">
                <a:solidFill>
                  <a:srgbClr val="00B050"/>
                </a:solidFill>
              </a:rPr>
              <a:t>ورقـــة  </a:t>
            </a:r>
            <a:r>
              <a:rPr lang="ar-DZ" sz="4800" b="1" dirty="0">
                <a:solidFill>
                  <a:srgbClr val="00B050"/>
                </a:solidFill>
              </a:rPr>
              <a:t>عــمــل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هــو ذلــك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الـمُــهَــيَّــأ لإنــشــاء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بـحــيــث يــتـألَّــف مــن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بِـحُـــروفٍ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إنـجــلــيــزيــة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، 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ar-DZ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، 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ar-DZ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، 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... 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، 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ar-DZ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؛  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،  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،  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،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 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AZ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؛  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،  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BB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،  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BC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... ، </a:t>
            </a:r>
            <a:r>
              <a:rPr lang="en-US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BZ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؛  ....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 </a:t>
            </a:r>
            <a:r>
              <a:rPr lang="ar-DZ" sz="4000" b="1" dirty="0" smtClean="0"/>
              <a:t>إذ </a:t>
            </a:r>
            <a:r>
              <a:rPr lang="ar-DZ" sz="4000" b="1" dirty="0"/>
              <a:t>يــبــلــغ </a:t>
            </a:r>
            <a:r>
              <a:rPr lang="ar-DZ" sz="4000" b="1" dirty="0" smtClean="0"/>
              <a:t>عـــدد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</a:t>
            </a:r>
            <a:r>
              <a:rPr lang="ar-DZ" sz="4000" b="1" dirty="0" smtClean="0"/>
              <a:t> 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104112" y="1556792"/>
            <a:ext cx="203590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الــمــكــان 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98427" y="1602764"/>
            <a:ext cx="258926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الـجـــداول 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143672" y="2509216"/>
            <a:ext cx="359737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أعـــمــدة مُــعَــلَّــمَــةٍ 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140021" y="5229200"/>
            <a:ext cx="150914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XFD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055440" y="5354992"/>
            <a:ext cx="417646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</a:t>
            </a:r>
            <a:r>
              <a:rPr lang="ar-SA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أعـــمــدة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16 384</a:t>
            </a:r>
            <a:endParaRPr lang="fr-FR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5524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9" grpId="0" animBg="1"/>
      <p:bldP spid="8" grpId="0" animBg="1"/>
      <p:bldP spid="11" grpId="0" animBg="1"/>
      <p:bldP spid="1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3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4800" b="1" dirty="0">
                <a:solidFill>
                  <a:srgbClr val="00B050"/>
                </a:solidFill>
              </a:rPr>
              <a:t>تـعـــريــف </a:t>
            </a:r>
            <a:r>
              <a:rPr lang="ar-DZ" sz="4800" b="1" dirty="0" smtClean="0">
                <a:solidFill>
                  <a:srgbClr val="00B050"/>
                </a:solidFill>
              </a:rPr>
              <a:t>ورقـــة  </a:t>
            </a:r>
            <a:r>
              <a:rPr lang="ar-DZ" sz="4800" b="1" dirty="0">
                <a:solidFill>
                  <a:srgbClr val="00B050"/>
                </a:solidFill>
              </a:rPr>
              <a:t>عــمــل  </a:t>
            </a:r>
            <a:r>
              <a:rPr lang="ar-DZ" sz="4800" b="1" dirty="0" smtClean="0">
                <a:solidFill>
                  <a:srgbClr val="00B050"/>
                </a:solidFill>
              </a:rPr>
              <a:t>ــ  تـــابــع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وكــمــا يــتـألَّــف مــن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مــن  الــرقــــم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حــتَّـى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الـخــلــيــة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الأخــيــرة فـي أيِّ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ورقـــة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عــمــل هــي :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183039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3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4800" b="1" dirty="0">
                <a:solidFill>
                  <a:srgbClr val="00B050"/>
                </a:solidFill>
              </a:rPr>
              <a:t>تـعـــريــف </a:t>
            </a:r>
            <a:r>
              <a:rPr lang="ar-DZ" sz="4800" b="1" dirty="0" smtClean="0">
                <a:solidFill>
                  <a:srgbClr val="00B050"/>
                </a:solidFill>
              </a:rPr>
              <a:t>ورقـــة  </a:t>
            </a:r>
            <a:r>
              <a:rPr lang="ar-DZ" sz="4800" b="1" dirty="0">
                <a:solidFill>
                  <a:srgbClr val="00B050"/>
                </a:solidFill>
              </a:rPr>
              <a:t>عــمــل  </a:t>
            </a:r>
            <a:r>
              <a:rPr lang="ar-DZ" sz="4800" b="1" dirty="0" smtClean="0">
                <a:solidFill>
                  <a:srgbClr val="00B050"/>
                </a:solidFill>
              </a:rPr>
              <a:t>ــ  تـــابــع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وكــمــا يــتـألَّــف مــن 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مــن  الــرقــــم :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حــتَّـى 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الـخــلــيــة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الأخــيــرة فـي أيِّ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ورقـــة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عــمــل هــي :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  <p:sp>
        <p:nvSpPr>
          <p:cNvPr id="9" name="Rectangle 8"/>
          <p:cNvSpPr/>
          <p:nvPr/>
        </p:nvSpPr>
        <p:spPr>
          <a:xfrm>
            <a:off x="698426" y="1602764"/>
            <a:ext cx="662171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صــفـــوف مُــعَـــلَّـــمَـــةٍ أو مُـــرَقَّـــمَـــةٍ 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7094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3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4800" b="1" dirty="0">
                <a:solidFill>
                  <a:srgbClr val="00B050"/>
                </a:solidFill>
              </a:rPr>
              <a:t>تـعـــريــف </a:t>
            </a:r>
            <a:r>
              <a:rPr lang="ar-DZ" sz="4800" b="1" dirty="0" smtClean="0">
                <a:solidFill>
                  <a:srgbClr val="00B050"/>
                </a:solidFill>
              </a:rPr>
              <a:t>ورقـــة  </a:t>
            </a:r>
            <a:r>
              <a:rPr lang="ar-DZ" sz="4800" b="1" dirty="0">
                <a:solidFill>
                  <a:srgbClr val="00B050"/>
                </a:solidFill>
              </a:rPr>
              <a:t>عــمــل  </a:t>
            </a:r>
            <a:r>
              <a:rPr lang="ar-DZ" sz="4800" b="1" dirty="0" smtClean="0">
                <a:solidFill>
                  <a:srgbClr val="00B050"/>
                </a:solidFill>
              </a:rPr>
              <a:t>ــ  تـــابــع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وكــمــا يــتـألَّــف مــن 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مــن  الــرقــــم :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حــتَّـى 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الـخــلــيــة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الأخــيــرة فـي أيِّ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ورقـــة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عــمــل هــي :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  <p:sp>
        <p:nvSpPr>
          <p:cNvPr id="9" name="Rectangle 8"/>
          <p:cNvSpPr/>
          <p:nvPr/>
        </p:nvSpPr>
        <p:spPr>
          <a:xfrm>
            <a:off x="698426" y="1602764"/>
            <a:ext cx="662171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صــفـــوف مُــعَـــلَّـــمَـــةٍ أو مُـــرَقَّـــمَـــةٍ 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204367" y="2508837"/>
            <a:ext cx="86409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5914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9" grpId="0" animBg="1"/>
      <p:bldP spid="1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3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4800" b="1" dirty="0">
                <a:solidFill>
                  <a:srgbClr val="00B050"/>
                </a:solidFill>
              </a:rPr>
              <a:t>تـعـــريــف </a:t>
            </a:r>
            <a:r>
              <a:rPr lang="ar-DZ" sz="4800" b="1" dirty="0" smtClean="0">
                <a:solidFill>
                  <a:srgbClr val="00B050"/>
                </a:solidFill>
              </a:rPr>
              <a:t>ورقـــة  </a:t>
            </a:r>
            <a:r>
              <a:rPr lang="ar-DZ" sz="4800" b="1" dirty="0">
                <a:solidFill>
                  <a:srgbClr val="00B050"/>
                </a:solidFill>
              </a:rPr>
              <a:t>عــمــل  </a:t>
            </a:r>
            <a:r>
              <a:rPr lang="ar-DZ" sz="4800" b="1" dirty="0" smtClean="0">
                <a:solidFill>
                  <a:srgbClr val="00B050"/>
                </a:solidFill>
              </a:rPr>
              <a:t>ــ  تـــابــع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وكــمــا يــتـألَّــف مــن 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مــن  الــرقــــم :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حــتَّـى 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الـخــلــيــة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الأخــيــرة فـي أيِّ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ورقـــة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عــمــل هــي :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  <p:sp>
        <p:nvSpPr>
          <p:cNvPr id="9" name="Rectangle 8"/>
          <p:cNvSpPr/>
          <p:nvPr/>
        </p:nvSpPr>
        <p:spPr>
          <a:xfrm>
            <a:off x="698426" y="1602764"/>
            <a:ext cx="662171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صــفـــوف مُــعَـــلَّـــمَـــةٍ أو مُـــرَقَّـــمَـــةٍ 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204367" y="2508837"/>
            <a:ext cx="86409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847528" y="2508838"/>
            <a:ext cx="30963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en-US" sz="4000" b="1" dirty="0" smtClean="0">
                <a:solidFill>
                  <a:srgbClr val="64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4000" b="1" dirty="0">
                <a:solidFill>
                  <a:srgbClr val="64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048 576</a:t>
            </a:r>
            <a:endParaRPr lang="fr-FR" sz="4000" b="1" dirty="0">
              <a:solidFill>
                <a:srgbClr val="64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8145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9" grpId="0" animBg="1"/>
      <p:bldP spid="10" grpId="0" animBg="1"/>
      <p:bldP spid="1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3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4800" b="1" dirty="0">
                <a:solidFill>
                  <a:srgbClr val="00B050"/>
                </a:solidFill>
              </a:rPr>
              <a:t>تـعـــريــف </a:t>
            </a:r>
            <a:r>
              <a:rPr lang="ar-DZ" sz="4800" b="1" dirty="0" smtClean="0">
                <a:solidFill>
                  <a:srgbClr val="00B050"/>
                </a:solidFill>
              </a:rPr>
              <a:t>ورقـــة  </a:t>
            </a:r>
            <a:r>
              <a:rPr lang="ar-DZ" sz="4800" b="1" dirty="0">
                <a:solidFill>
                  <a:srgbClr val="00B050"/>
                </a:solidFill>
              </a:rPr>
              <a:t>عــمــل  </a:t>
            </a:r>
            <a:r>
              <a:rPr lang="ar-DZ" sz="4800" b="1" dirty="0" smtClean="0">
                <a:solidFill>
                  <a:srgbClr val="00B050"/>
                </a:solidFill>
              </a:rPr>
              <a:t>ــ  تـــابــع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وكــمــا يــتـألَّــف مــن 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مــن  الــرقــــم :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حــتَّـى 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الـخــلــيــة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الأخــيــرة فـي أيِّ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ورقـــة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عــمــل هــي :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  <p:sp>
        <p:nvSpPr>
          <p:cNvPr id="9" name="Rectangle 8"/>
          <p:cNvSpPr/>
          <p:nvPr/>
        </p:nvSpPr>
        <p:spPr>
          <a:xfrm>
            <a:off x="698426" y="1602764"/>
            <a:ext cx="662171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صــفـــوف مُــعَـــلَّـــمَـــةٍ أو مُـــرَقَّـــمَـــةٍ 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204367" y="2508837"/>
            <a:ext cx="86409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847528" y="2508838"/>
            <a:ext cx="30963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en-US" sz="4000" b="1" dirty="0" smtClean="0">
                <a:solidFill>
                  <a:srgbClr val="64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4000" b="1" dirty="0">
                <a:solidFill>
                  <a:srgbClr val="64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048 576</a:t>
            </a:r>
            <a:endParaRPr lang="fr-FR" sz="4000" b="1" dirty="0">
              <a:solidFill>
                <a:srgbClr val="64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065458" y="4542691"/>
            <a:ext cx="473770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XFD</a:t>
            </a:r>
            <a:r>
              <a:rPr lang="en-US" sz="4000" b="1" dirty="0" smtClean="0">
                <a:solidFill>
                  <a:srgbClr val="64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1048576</a:t>
            </a:r>
            <a:endParaRPr lang="fr-FR" sz="4000" b="1" dirty="0">
              <a:solidFill>
                <a:srgbClr val="64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845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9" grpId="0" animBg="1"/>
      <p:bldP spid="10" grpId="0" animBg="1"/>
      <p:bldP spid="12" grpId="0" animBg="1"/>
      <p:bldP spid="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2. الـجــداول </a:t>
            </a:r>
            <a:r>
              <a:rPr lang="ar-DZ" sz="4800" b="1" dirty="0">
                <a:solidFill>
                  <a:srgbClr val="FF0000"/>
                </a:solidFill>
                <a:cs typeface="+mj-cs"/>
              </a:rPr>
              <a:t>وخــصــائـصـهـا :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r" rtl="1"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نــشـــاط 4</a:t>
            </a:r>
            <a:r>
              <a:rPr lang="ar-DZ" sz="54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:</a:t>
            </a: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عَـــرِّفْ الـجــدول مُــبَــيِّــنًــا </a:t>
            </a:r>
            <a:r>
              <a:rPr lang="ar-DZ" sz="4400" b="1" dirty="0">
                <a:cs typeface="+mj-cs"/>
              </a:rPr>
              <a:t>الـفَــرْقَ </a:t>
            </a:r>
            <a:r>
              <a:rPr lang="ar-SA" sz="4400" b="1" dirty="0">
                <a:cs typeface="+mj-cs"/>
              </a:rPr>
              <a:t>بَ</a:t>
            </a:r>
            <a:r>
              <a:rPr lang="ar-DZ" sz="4400" b="1" dirty="0">
                <a:cs typeface="+mj-cs"/>
              </a:rPr>
              <a:t>ـ</a:t>
            </a:r>
            <a:r>
              <a:rPr lang="ar-SA" sz="4400" b="1" dirty="0">
                <a:cs typeface="+mj-cs"/>
              </a:rPr>
              <a:t>ـيْ</a:t>
            </a:r>
            <a:r>
              <a:rPr lang="ar-DZ" sz="4400" b="1" dirty="0">
                <a:cs typeface="+mj-cs"/>
              </a:rPr>
              <a:t>ــنَ  :  </a:t>
            </a:r>
            <a:r>
              <a:rPr lang="ar-SA" sz="4400" b="1" dirty="0">
                <a:cs typeface="+mj-cs"/>
              </a:rPr>
              <a:t>الـجــدول </a:t>
            </a:r>
            <a:r>
              <a:rPr lang="ar-DZ" sz="4400" b="1" dirty="0">
                <a:cs typeface="+mj-cs"/>
              </a:rPr>
              <a:t>/ </a:t>
            </a:r>
            <a:r>
              <a:rPr lang="ar-SA" sz="4400" b="1" dirty="0">
                <a:cs typeface="+mj-cs"/>
              </a:rPr>
              <a:t>وَرَقَــة عَــمَــل </a:t>
            </a:r>
            <a:r>
              <a:rPr lang="ar-DZ" sz="4400" b="1" dirty="0">
                <a:cs typeface="+mj-cs"/>
              </a:rPr>
              <a:t>.</a:t>
            </a:r>
            <a:endParaRPr lang="ar-DZ" sz="4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تـعــريــف الـجــدول  </a:t>
            </a:r>
            <a:r>
              <a:rPr lang="fr-FR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Tableau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36102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4800" b="1" dirty="0">
                <a:solidFill>
                  <a:srgbClr val="00B050"/>
                </a:solidFill>
              </a:rPr>
              <a:t>تـعـــريــف الـجــدول  </a:t>
            </a:r>
            <a:r>
              <a:rPr lang="fr-FR" sz="4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Tableau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هــو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مــجــمــوعــة مــن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الـمــتــقــاطــعــة مـع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الــمُــسْــتَــغَــلَّــةِ فــقــط داخــل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مـن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طـرف الـمـسـتخـدم ) مُــشَــكِّــلَــةً بـذلـك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بـحـيـث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تــتـمــيَّــزُ كــل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بِـ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يُـحَــدِّدُهُ رَمْــزُ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ورَقَــم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563249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4800" b="1" dirty="0">
                <a:solidFill>
                  <a:srgbClr val="00B050"/>
                </a:solidFill>
              </a:rPr>
              <a:t>تـعـــريــف الـجــدول  </a:t>
            </a:r>
            <a:r>
              <a:rPr lang="fr-FR" sz="4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Tableau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هــو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مــجــمــوعــة مــن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الـمــتــقــاطــعــة مـع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الــمُــسْــتَــغَــلَّــةِ فــقــط داخــل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مـن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طـرف الـمـسـتخـدم ) مُــشَــكِّــلَــةً بـذلـك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بـحـيـث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تــتـمــيَّــزُ كــل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بِـ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يُـحَــدِّدُهُ رَمْــزُ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ورَقَــم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4426369" y="1570669"/>
            <a:ext cx="252028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الأعــمــدة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2271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4800" b="1" dirty="0">
                <a:solidFill>
                  <a:srgbClr val="00B050"/>
                </a:solidFill>
              </a:rPr>
              <a:t>تـعـــريــف الـجــدول  </a:t>
            </a:r>
            <a:r>
              <a:rPr lang="fr-FR" sz="4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Tableau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هــو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مــجــمــوعــة مــن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الـمــتــقــاطــعــة مـع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الــمُــسْــتَــغَــلَّــةِ فــقــط داخــل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مـن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طـرف الـمـسـتخـدم ) مُــشَــكِّــلَــةً بـذلـك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بـحـيـث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تــتـمــيَّــزُ كــل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بِـ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يُـحَــدِّدُهُ رَمْــزُ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ورَقَــم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4426369" y="1570669"/>
            <a:ext cx="252028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الأعــمــدة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145864" y="2518099"/>
            <a:ext cx="215721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الـصـفــوفِّ 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7004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4800" b="1" dirty="0">
                <a:solidFill>
                  <a:srgbClr val="00B050"/>
                </a:solidFill>
              </a:rPr>
              <a:t>تـعـــريــف الـجــدول  </a:t>
            </a:r>
            <a:r>
              <a:rPr lang="fr-FR" sz="4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Tableau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هــو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مــجــمــوعــة مــن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الـمــتــقــاطــعــة مـع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الــمُــسْــتَــغَــلَّــةِ فــقــط داخــل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مـن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طـرف الـمـسـتخـدم ) مُــشَــكِّــلَــةً بـذلـك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بـحـيـث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تــتـمــيَّــزُ كــل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بِـ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يُـحَــدِّدُهُ رَمْــزُ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ورَقَــم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4426369" y="1570669"/>
            <a:ext cx="252028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الأعــمــدة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48952" y="2507151"/>
            <a:ext cx="243873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ورقــة عـمـل 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145864" y="2518099"/>
            <a:ext cx="215721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الـصـفــوفِّ 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5369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9" grpId="0" animBg="1"/>
      <p:bldP spid="8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4800" b="1" dirty="0">
                <a:solidFill>
                  <a:srgbClr val="00B050"/>
                </a:solidFill>
              </a:rPr>
              <a:t>تـعـــريــف الـجــدول  </a:t>
            </a:r>
            <a:r>
              <a:rPr lang="fr-FR" sz="4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Tableau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هــو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مــجــمــوعــة مــن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الـمــتــقــاطــعــة مـع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الــمُــسْــتَــغَــلَّــةِ فــقــط داخــل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مـن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طـرف الـمـسـتخـدم ) مُــشَــكِّــلَــةً بـذلـك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بـحـيـث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تــتـمــيَّــزُ كــل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بِـ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يُـحَــدِّدُهُ رَمْــزُ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ورَقَــم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4426369" y="1570669"/>
            <a:ext cx="252028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الأعــمــدة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48952" y="2507151"/>
            <a:ext cx="243873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ورقــة عـمـل 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145864" y="2518099"/>
            <a:ext cx="215721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الـصـفــوفِّ 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48952" y="3430391"/>
            <a:ext cx="33028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خــلايـا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Cellules</a:t>
            </a:r>
          </a:p>
        </p:txBody>
      </p:sp>
    </p:spTree>
    <p:extLst>
      <p:ext uri="{BB962C8B-B14F-4D97-AF65-F5344CB8AC3E}">
        <p14:creationId xmlns:p14="http://schemas.microsoft.com/office/powerpoint/2010/main" val="3990244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9" grpId="0" animBg="1"/>
      <p:bldP spid="8" grpId="0" animBg="1"/>
      <p:bldP spid="10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4800" b="1" dirty="0">
                <a:solidFill>
                  <a:srgbClr val="00B050"/>
                </a:solidFill>
              </a:rPr>
              <a:t>تـعـــريــف الـجــدول  </a:t>
            </a:r>
            <a:r>
              <a:rPr lang="fr-FR" sz="4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Tableau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هــو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مــجــمــوعــة مــن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الـمــتــقــاطــعــة مـع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الــمُــسْــتَــغَــلَّــةِ فــقــط داخــل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مـن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طـرف الـمـسـتخـدم ) مُــشَــكِّــلَــةً بـذلـك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بـحـيـث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تــتـمــيَّــزُ كــل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بِـ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يُـحَــدِّدُهُ رَمْــزُ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ورَقَــم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4426369" y="1570669"/>
            <a:ext cx="252028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الأعــمــدة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48952" y="2507151"/>
            <a:ext cx="243873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ورقــة عـمـل 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145864" y="2518099"/>
            <a:ext cx="215721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الـصـفــوفِّ 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48952" y="3430391"/>
            <a:ext cx="33028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خــلايـا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Cellules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19936" y="4365104"/>
            <a:ext cx="16466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ـل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ـة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ٍ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5693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9" grpId="0" animBg="1"/>
      <p:bldP spid="8" grpId="0" animBg="1"/>
      <p:bldP spid="10" grpId="0" animBg="1"/>
      <p:bldP spid="1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4800" b="1" dirty="0">
                <a:solidFill>
                  <a:srgbClr val="00B050"/>
                </a:solidFill>
              </a:rPr>
              <a:t>تـعـــريــف الـجــدول  </a:t>
            </a:r>
            <a:r>
              <a:rPr lang="fr-FR" sz="4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Tableau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هــو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مــجــمــوعــة مــن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الـمــتــقــاطــعــة مـع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الــمُــسْــتَــغَــلَّــةِ فــقــط داخــل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مـن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طـرف الـمـسـتخـدم ) مُــشَــكِّــلَــةً بـذلـك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بـحـيـث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تــتـمــيَّــزُ كــل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بِـ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يُـحَــدِّدُهُ رَمْــزُ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ورَقَــم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4426369" y="1570669"/>
            <a:ext cx="252028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الأعــمــدة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48952" y="2507151"/>
            <a:ext cx="243873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ورقــة عـمـل 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145864" y="2518099"/>
            <a:ext cx="215721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الـصـفــوفِّ 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48952" y="3430391"/>
            <a:ext cx="33028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خــلايـا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Cellules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19936" y="4365104"/>
            <a:ext cx="16466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ـل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ـة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ٍ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67408" y="4338779"/>
            <a:ext cx="402291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مَــرْجِــعٍ 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Référence</a:t>
            </a:r>
          </a:p>
        </p:txBody>
      </p:sp>
    </p:spTree>
    <p:extLst>
      <p:ext uri="{BB962C8B-B14F-4D97-AF65-F5344CB8AC3E}">
        <p14:creationId xmlns:p14="http://schemas.microsoft.com/office/powerpoint/2010/main" val="3806156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9" grpId="0" animBg="1"/>
      <p:bldP spid="8" grpId="0" animBg="1"/>
      <p:bldP spid="10" grpId="0" animBg="1"/>
      <p:bldP spid="13" grpId="0" animBg="1"/>
      <p:bldP spid="1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4800" b="1" dirty="0">
                <a:solidFill>
                  <a:srgbClr val="00B050"/>
                </a:solidFill>
              </a:rPr>
              <a:t>تـعـــريــف الـجــدول  </a:t>
            </a:r>
            <a:r>
              <a:rPr lang="fr-FR" sz="4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Tableau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هــو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مــجــمــوعــة مــن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الـمــتــقــاطــعــة مـع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الــمُــسْــتَــغَــلَّــةِ فــقــط داخــل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مـن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طـرف الـمـسـتخـدم ) مُــشَــكِّــلَــةً بـذلـك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بـحـيـث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تــتـمــيَّــزُ كــل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بِـ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يُـحَــدِّدُهُ رَمْــزُ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ورَقَــم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4426369" y="1570669"/>
            <a:ext cx="252028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الأعــمــدة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48952" y="2507151"/>
            <a:ext cx="243873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ورقــة عـمـل 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145864" y="2518099"/>
            <a:ext cx="215721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الـصـفــوفِّ 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48952" y="3430391"/>
            <a:ext cx="33028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خــلايـا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Cellules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19936" y="4365104"/>
            <a:ext cx="16466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ـل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ـة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ٍ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67408" y="4338779"/>
            <a:ext cx="402291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مَــرْجِــعٍ 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Référence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59896" y="5244319"/>
            <a:ext cx="387889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الـع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ــم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ــود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Colonne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1386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9" grpId="0" animBg="1"/>
      <p:bldP spid="8" grpId="0" animBg="1"/>
      <p:bldP spid="10" grpId="0" animBg="1"/>
      <p:bldP spid="13" grpId="0" animBg="1"/>
      <p:bldP spid="14" grpId="0" animBg="1"/>
      <p:bldP spid="1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4800" b="1" dirty="0">
                <a:solidFill>
                  <a:srgbClr val="00B050"/>
                </a:solidFill>
              </a:rPr>
              <a:t>تـعـــريــف الـجــدول  </a:t>
            </a:r>
            <a:r>
              <a:rPr lang="fr-FR" sz="4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Tableau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هــو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مــجــمــوعــة مــن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الـمــتــقــاطــعــة مـع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الــمُــسْــتَــغَــلَّــةِ فــقــط داخــل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مـن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طـرف الـمـسـتخـدم ) مُــشَــكِّــلَــةً بـذلـك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بـحـيـث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تــتـمــيَّــزُ كــل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بِـ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يُـحَــدِّدُهُ رَمْــزُ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ورَقَــم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4426369" y="1570669"/>
            <a:ext cx="252028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الأعــمــدة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48952" y="2507151"/>
            <a:ext cx="243873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ورقــة عـمـل 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145864" y="2518099"/>
            <a:ext cx="215721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الـصـفــوفِّ 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48952" y="3430391"/>
            <a:ext cx="33028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خــلايـا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Cellules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19936" y="4365104"/>
            <a:ext cx="16466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ـل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ـة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ٍ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67408" y="4338779"/>
            <a:ext cx="402291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مَــرْجِــعٍ 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Référence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59896" y="5244319"/>
            <a:ext cx="387889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الـع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ــم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ــود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Colonne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67408" y="5259300"/>
            <a:ext cx="320537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الـصَــفِّ 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Ligne</a:t>
            </a:r>
          </a:p>
        </p:txBody>
      </p:sp>
    </p:spTree>
    <p:extLst>
      <p:ext uri="{BB962C8B-B14F-4D97-AF65-F5344CB8AC3E}">
        <p14:creationId xmlns:p14="http://schemas.microsoft.com/office/powerpoint/2010/main" val="3931495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9" grpId="0" animBg="1"/>
      <p:bldP spid="8" grpId="0" animBg="1"/>
      <p:bldP spid="10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2. الـجــداول </a:t>
            </a:r>
            <a:r>
              <a:rPr lang="ar-DZ" sz="4800" b="1" dirty="0">
                <a:solidFill>
                  <a:srgbClr val="FF0000"/>
                </a:solidFill>
                <a:cs typeface="+mj-cs"/>
              </a:rPr>
              <a:t>وخــصــائـصـهـا :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r" rtl="1"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نــشـــاط 5</a:t>
            </a:r>
            <a:r>
              <a:rPr lang="ar-DZ" sz="54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:</a:t>
            </a: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مــا هـي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أنـــواع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الـبــيــانــات الـمُــمْـكِــن اســتـعــمــالـهــا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فــي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جـــداول 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EXCEL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؟ </a:t>
            </a:r>
            <a:endParaRPr lang="ar-DZ" sz="4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.2 بَــيَــانَــات الـجــداول  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23186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4800" b="1" dirty="0">
                <a:solidFill>
                  <a:srgbClr val="00B050"/>
                </a:solidFill>
              </a:rPr>
              <a:t>بَــيَــانَــات الـجــداول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90170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تُــســتــخــدم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الـجـــداول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لـ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الــبــيــانــات وإظــهــارهـا فــي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هَـــيْـــئَـــةٍ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تُــسَــهِّــلُ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للـمــســتـخــدم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الـبــيــانــات بِــشَــكْــلٍ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أفــضــل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لاِسْــتِــخْــلاصَ الــمــعــلــومــات مــنـهــا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052096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4800" b="1" dirty="0">
                <a:solidFill>
                  <a:srgbClr val="00B050"/>
                </a:solidFill>
              </a:rPr>
              <a:t>بَــيَــانَــات الـجــداول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90170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تُــســتــخــدم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الـجـــداول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لـ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الــبــيــانــات وإظــهــارهـا فــي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هَـــيْـــئَـــةٍ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تُــسَــهِّــلُ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للـمــســتـخــدم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الـبــيــانــات بِــشَــكْــلٍ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أفــضــل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لاِسْــتِــخْــلاصَ الــمــعــلــومــات مــنـهــا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3174474" y="1570239"/>
            <a:ext cx="234663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ــن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ــظـ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ـي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ــم 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0171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4800" b="1" dirty="0">
                <a:solidFill>
                  <a:srgbClr val="00B050"/>
                </a:solidFill>
              </a:rPr>
              <a:t>بَــيَــانَــات الـجــداول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90170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تُــســتــخــدم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الـجـــداول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لـ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الــبــيــانــات وإظــهــارهـا فــي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هَـــيْـــئَـــةٍ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تُــسَــهِّــلُ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للـمــســتـخــدم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الـبــيــانــات بِــشَــكْــلٍ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أفــضــل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لاِسْــتِــخْــلاصَ الــمــعــلــومــات مــنـهــا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3174474" y="1570239"/>
            <a:ext cx="234663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ــن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ــظـ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ـي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ــم 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071664" y="2508032"/>
            <a:ext cx="215721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ــرتَّ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ــبَـ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ـةٍ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846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8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4800" b="1" dirty="0">
                <a:solidFill>
                  <a:srgbClr val="00B050"/>
                </a:solidFill>
              </a:rPr>
              <a:t>بَــيَــانَــات الـجــداول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90170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تُــســتــخــدم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الـجـــداول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لـ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الــبــيــانــات وإظــهــارهـا فــي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هَـــيْـــئَـــةٍ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تُــسَــهِّــلُ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للـمــســتـخــدم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الـبــيــانــات بِــشَــكْــلٍ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أفــضــل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لاِسْــتِــخْــلاصَ الــمــعــلــومــات مــنـهــا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3174474" y="1570239"/>
            <a:ext cx="234663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ــن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ــظـ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ـي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ــم 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661795" y="3408963"/>
            <a:ext cx="393985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مُــعَــايَــنَــةَ وقـــراءةَ 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071664" y="2508032"/>
            <a:ext cx="215721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ــرتَّ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ــبَـ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ـةٍ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782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9" grpId="0" animBg="1"/>
      <p:bldP spid="8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4800" b="1" dirty="0">
                <a:solidFill>
                  <a:srgbClr val="00B050"/>
                </a:solidFill>
              </a:rPr>
              <a:t>بَــيَــانَــات الـجــداول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90170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تُــســتــخــدم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الـجـــداول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لـ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الــبــيــانــات وإظــهــارهـا فــي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هَـــيْـــئَـــةٍ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تُــسَــهِّــلُ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للـمــســتـخــدم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الـبــيــانــات بِــشَــكْــلٍ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أفــضــل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لاِسْــتِــخْــلاصَ الــمــعــلــومــات مــنـهــا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3174474" y="1570239"/>
            <a:ext cx="234663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ــن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ــظـ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ـي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ــم 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661795" y="3408963"/>
            <a:ext cx="393985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مُــعَــايَــنَــةَ وقـــراءةَ 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071664" y="2508032"/>
            <a:ext cx="215721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ــرتَّ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ــبَـ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ـةٍ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604829" y="4356724"/>
            <a:ext cx="244139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تــحــلــيــلـهــا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4873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9" grpId="0" animBg="1"/>
      <p:bldP spid="8" grpId="0" animBg="1"/>
      <p:bldP spid="10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4800" b="1" dirty="0">
                <a:solidFill>
                  <a:srgbClr val="00B050"/>
                </a:solidFill>
              </a:rPr>
              <a:t>بَــيَــانَــات الـجــداول  </a:t>
            </a:r>
            <a:r>
              <a:rPr lang="ar-DZ" sz="4800" b="1" dirty="0" smtClean="0">
                <a:solidFill>
                  <a:srgbClr val="00B050"/>
                </a:solidFill>
              </a:rPr>
              <a:t>ـــ  تـــابــع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3538" indent="0" algn="just" rtl="1">
              <a:lnSpc>
                <a:spcPts val="65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الــبــيــانــات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الّـتي تُــكْــتَــبُ فـي الـخـــلايـــا يُـــمْــكِــنُ أَنْ تــكــونَ مـن الأصــنــاف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الــتــالــيــة :</a:t>
            </a:r>
          </a:p>
          <a:p>
            <a:pPr marL="0" indent="0" algn="just" rtl="1">
              <a:lnSpc>
                <a:spcPct val="20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850753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4800" b="1" dirty="0">
                <a:solidFill>
                  <a:srgbClr val="00B050"/>
                </a:solidFill>
              </a:rPr>
              <a:t>بَــيَــانَــات الـجــداول  </a:t>
            </a:r>
            <a:r>
              <a:rPr lang="ar-DZ" sz="4800" b="1" dirty="0" smtClean="0">
                <a:solidFill>
                  <a:srgbClr val="00B050"/>
                </a:solidFill>
              </a:rPr>
              <a:t>ـــ  تـــابــع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3538" indent="0" algn="just" rtl="1">
              <a:lnSpc>
                <a:spcPts val="65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الــبــيــانــات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الّـتي تُــكْــتَــبُ فـي الـخـــلايـــا يُـــمْــكِــنُ أَنْ تــكــونَ مـن الأصــنــاف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الــتــالــيــة :</a:t>
            </a:r>
          </a:p>
          <a:p>
            <a:pPr marL="0" indent="0" algn="just" rtl="1">
              <a:lnSpc>
                <a:spcPct val="20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  <p:sp>
        <p:nvSpPr>
          <p:cNvPr id="9" name="Rectangle 8"/>
          <p:cNvSpPr/>
          <p:nvPr/>
        </p:nvSpPr>
        <p:spPr>
          <a:xfrm>
            <a:off x="1127448" y="3443000"/>
            <a:ext cx="1015312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ــص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</a:t>
            </a:r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وص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ً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ــا 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Textes 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؛     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ـــد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اد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ً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    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Nombres</a:t>
            </a:r>
          </a:p>
        </p:txBody>
      </p:sp>
    </p:spTree>
    <p:extLst>
      <p:ext uri="{BB962C8B-B14F-4D97-AF65-F5344CB8AC3E}">
        <p14:creationId xmlns:p14="http://schemas.microsoft.com/office/powerpoint/2010/main" val="296994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9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4800" b="1" dirty="0">
                <a:solidFill>
                  <a:srgbClr val="00B050"/>
                </a:solidFill>
              </a:rPr>
              <a:t>بَــيَــانَــات الـجــداول  </a:t>
            </a:r>
            <a:r>
              <a:rPr lang="ar-DZ" sz="4800" b="1" dirty="0" smtClean="0">
                <a:solidFill>
                  <a:srgbClr val="00B050"/>
                </a:solidFill>
              </a:rPr>
              <a:t>ـــ  تـــابــع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3538" indent="0" algn="just" rtl="1">
              <a:lnSpc>
                <a:spcPts val="65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الــبــيــانــات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الّـتي تُــكْــتَــبُ فـي الـخـــلايـــا يُـــمْــكِــنُ أَنْ تــكــونَ مـن الأصــنــاف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الــتــالــيــة :</a:t>
            </a:r>
          </a:p>
          <a:p>
            <a:pPr marL="0" indent="0" algn="just" rtl="1">
              <a:lnSpc>
                <a:spcPct val="20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  <p:sp>
        <p:nvSpPr>
          <p:cNvPr id="9" name="Rectangle 8"/>
          <p:cNvSpPr/>
          <p:nvPr/>
        </p:nvSpPr>
        <p:spPr>
          <a:xfrm>
            <a:off x="1127448" y="3443000"/>
            <a:ext cx="1015312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ــص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</a:t>
            </a:r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وص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ً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ــا 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Textes 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؛     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ـــد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اد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ً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    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Nombres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20153" y="4380793"/>
            <a:ext cx="1015312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ـــو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ار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يــخ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ً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ــا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Dates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؛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ـــات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ً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ـــا    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Heures </a:t>
            </a:r>
          </a:p>
        </p:txBody>
      </p:sp>
    </p:spTree>
    <p:extLst>
      <p:ext uri="{BB962C8B-B14F-4D97-AF65-F5344CB8AC3E}">
        <p14:creationId xmlns:p14="http://schemas.microsoft.com/office/powerpoint/2010/main" val="886897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9" grpId="0" animBg="1"/>
      <p:bldP spid="11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4800" b="1" dirty="0">
                <a:solidFill>
                  <a:srgbClr val="00B050"/>
                </a:solidFill>
              </a:rPr>
              <a:t>بَــيَــانَــات الـجــداول  </a:t>
            </a:r>
            <a:r>
              <a:rPr lang="ar-DZ" sz="4800" b="1" dirty="0" smtClean="0">
                <a:solidFill>
                  <a:srgbClr val="00B050"/>
                </a:solidFill>
              </a:rPr>
              <a:t>ـــ  تـــابــع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3538" indent="0" algn="just" rtl="1">
              <a:lnSpc>
                <a:spcPts val="65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الــبــيــانــات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الّـتي تُــكْــتَــبُ فـي الـخـــلايـــا يُـــمْــكِــنُ أَنْ تــكــونَ مـن الأصــنــاف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الــتــالــيــة :</a:t>
            </a:r>
          </a:p>
          <a:p>
            <a:pPr marL="0" indent="0" algn="just" rtl="1">
              <a:lnSpc>
                <a:spcPct val="20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  <p:sp>
        <p:nvSpPr>
          <p:cNvPr id="9" name="Rectangle 8"/>
          <p:cNvSpPr/>
          <p:nvPr/>
        </p:nvSpPr>
        <p:spPr>
          <a:xfrm>
            <a:off x="1127448" y="3443000"/>
            <a:ext cx="1015312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ــص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</a:t>
            </a:r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وص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ً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ــا 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Textes 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؛     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ـــد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اد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ً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    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Nombres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20153" y="4380793"/>
            <a:ext cx="1015312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ـــو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ار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يــخ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ً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ــا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Dates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؛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ـــات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ً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ـــا    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Heures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12858" y="5318586"/>
            <a:ext cx="1015312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SA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صِــيَـــغًـــا 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Formule  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؛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ar-SA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دَوَالًا   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Fonctions</a:t>
            </a:r>
          </a:p>
        </p:txBody>
      </p:sp>
    </p:spTree>
    <p:extLst>
      <p:ext uri="{BB962C8B-B14F-4D97-AF65-F5344CB8AC3E}">
        <p14:creationId xmlns:p14="http://schemas.microsoft.com/office/powerpoint/2010/main" val="1515594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9" grpId="0" animBg="1"/>
      <p:bldP spid="11" grpId="0" animBg="1"/>
      <p:bldP spid="12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3.</a:t>
            </a:r>
            <a:r>
              <a:rPr lang="ar-DZ" sz="5400" b="1" dirty="0">
                <a:solidFill>
                  <a:srgbClr val="FF0000"/>
                </a:solidFill>
                <a:cs typeface="+mj-cs"/>
              </a:rPr>
              <a:t>	الـصِّـيَـغ   </a:t>
            </a:r>
            <a:r>
              <a:rPr lang="fr-FR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Formules</a:t>
            </a:r>
            <a:r>
              <a:rPr lang="fr-FR" sz="5400" b="1" dirty="0">
                <a:solidFill>
                  <a:srgbClr val="FF0000"/>
                </a:solidFill>
                <a:cs typeface="+mj-cs"/>
              </a:rPr>
              <a:t>  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نـشــاط 6</a:t>
            </a:r>
            <a:r>
              <a:rPr lang="ar-DZ" sz="54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: </a:t>
            </a:r>
            <a:r>
              <a:rPr lang="ar-DZ" sz="1000" b="1" dirty="0" smtClean="0">
                <a:cs typeface="+mj-cs"/>
              </a:rPr>
              <a:t> </a:t>
            </a:r>
            <a:r>
              <a:rPr lang="ar-DZ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إجْــراء الـحـسـابــات فـي الـمُـجَـدول يـكـون بـاسـتـغـلال الـصـيـغ فـمـاذا تُــمَـثِــل</a:t>
            </a:r>
            <a:r>
              <a:rPr lang="ar-DZ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؟</a:t>
            </a:r>
            <a:endParaRPr lang="ar-DZ" sz="4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6000" b="1" dirty="0" smtClean="0">
                <a:solidFill>
                  <a:srgbClr val="00B050"/>
                </a:solidFill>
                <a:cs typeface="+mj-cs"/>
              </a:rPr>
              <a:t>.3 تـعـــريــف </a:t>
            </a:r>
            <a:r>
              <a:rPr lang="ar-DZ" sz="6000" b="1" dirty="0">
                <a:solidFill>
                  <a:srgbClr val="00B050"/>
                </a:solidFill>
                <a:cs typeface="+mj-cs"/>
              </a:rPr>
              <a:t>الـصِّـيَــغــة :</a:t>
            </a:r>
            <a:endParaRPr lang="fr-FR" sz="60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042448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.3 </a:t>
            </a:r>
            <a:r>
              <a:rPr lang="ar-DZ" sz="4800" b="1" dirty="0">
                <a:solidFill>
                  <a:srgbClr val="00B050"/>
                </a:solidFill>
              </a:rPr>
              <a:t>تـعـــريــف الـصِّـيَــغــة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هـي عــبــارة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 / أو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مَــسْــبُــوقَــةً بـ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يـسـاوي ) بـحــيـث يَــقُــوم الــمــســتــخـــدم بـ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داخــل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وَيَــتــولَّـى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الــبــرنــامــج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Excel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حِـــسَـــابَ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تـــلــقـــائـــيــا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بـعــد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مــن خــلال الــمِـــفْـــتَـــاح 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 </a:t>
            </a:r>
            <a:r>
              <a:rPr lang="en-US" sz="4000" b="1" dirty="0">
                <a:solidFill>
                  <a:srgbClr val="FF0000"/>
                </a:solidFill>
                <a:sym typeface="Symbol" panose="05050102010706020507" pitchFamily="18" charset="2"/>
              </a:rPr>
              <a:t>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" (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Entrée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026119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.3 </a:t>
            </a:r>
            <a:r>
              <a:rPr lang="ar-DZ" sz="4800" b="1" dirty="0">
                <a:solidFill>
                  <a:srgbClr val="00B050"/>
                </a:solidFill>
              </a:rPr>
              <a:t>تـعـــريــف الـصِّـيَــغــة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هـي عــبــارة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 / أو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مَــسْــبُــوقَــةً بـ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يـسـاوي ) بـحــيـث يَــقُــوم الــمــســتــخـــدم بـ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داخــل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وَيَــتــولَّـى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الــبــرنــامــج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Excel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حِـــسَـــابَ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تـــلــقـــائـــيــا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بـعــد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مــن خــلال الــمِـــفْـــتَـــاح 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 </a:t>
            </a:r>
            <a:r>
              <a:rPr lang="en-US" sz="4000" b="1" dirty="0">
                <a:solidFill>
                  <a:srgbClr val="FF0000"/>
                </a:solidFill>
                <a:sym typeface="Symbol" panose="05050102010706020507" pitchFamily="18" charset="2"/>
              </a:rPr>
              <a:t>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" (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Entrée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6919755" y="1628800"/>
            <a:ext cx="215335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حــسـابــيـة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058217" y="1628799"/>
            <a:ext cx="229930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مــنـطــقــيــة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3595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8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.3 </a:t>
            </a:r>
            <a:r>
              <a:rPr lang="ar-DZ" sz="4800" b="1" dirty="0">
                <a:solidFill>
                  <a:srgbClr val="00B050"/>
                </a:solidFill>
              </a:rPr>
              <a:t>تـعـــريــف الـصِّـيَــغــة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هـي عــبــارة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 / أو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مَــسْــبُــوقَــةً بـ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يـسـاوي ) بـحــيـث يَــقُــوم الــمــســتــخـــدم بـ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داخــل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وَيَــتــولَّـى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الــبــرنــامــج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Excel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حِـــسَـــابَ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تـــلــقـــائـــيــا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بـعــد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مــن خــلال الــمِـــفْـــتَـــاح 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 </a:t>
            </a:r>
            <a:r>
              <a:rPr lang="en-US" sz="4000" b="1" dirty="0">
                <a:solidFill>
                  <a:srgbClr val="FF0000"/>
                </a:solidFill>
                <a:sym typeface="Symbol" panose="05050102010706020507" pitchFamily="18" charset="2"/>
              </a:rPr>
              <a:t>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" (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Entrée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6919755" y="1628800"/>
            <a:ext cx="215335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حــسـابــيـة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058217" y="1628799"/>
            <a:ext cx="229930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مــنـطــقــيــة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113454" y="2491207"/>
            <a:ext cx="170011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الـرمـــز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2353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8" grpId="0" animBg="1"/>
      <p:bldP spid="11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.3 </a:t>
            </a:r>
            <a:r>
              <a:rPr lang="ar-DZ" sz="4800" b="1" dirty="0">
                <a:solidFill>
                  <a:srgbClr val="00B050"/>
                </a:solidFill>
              </a:rPr>
              <a:t>تـعـــريــف الـصِّـيَــغــة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هـي عــبــارة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 / أو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مَــسْــبُــوقَــةً بـ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يـسـاوي ) بـحــيـث يَــقُــوم الــمــســتــخـــدم بـ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داخــل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وَيَــتــولَّـى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الــبــرنــامــج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Excel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حِـــسَـــابَ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تـــلــقـــائـــيــا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بـعــد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مــن خــلال الــمِـــفْـــتَـــاح 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 </a:t>
            </a:r>
            <a:r>
              <a:rPr lang="en-US" sz="4000" b="1" dirty="0">
                <a:solidFill>
                  <a:srgbClr val="FF0000"/>
                </a:solidFill>
                <a:sym typeface="Symbol" panose="05050102010706020507" pitchFamily="18" charset="2"/>
              </a:rPr>
              <a:t>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" (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Entrée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6919755" y="1628800"/>
            <a:ext cx="215335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حــسـابــيـة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494491" y="3408012"/>
            <a:ext cx="247746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كــتــابــتـهــا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058217" y="1628799"/>
            <a:ext cx="229930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مــنـطــقــيــة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943872" y="3408011"/>
            <a:ext cx="183721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خــلــيــة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113454" y="2491207"/>
            <a:ext cx="170011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الـرمـــز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4811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9" grpId="0" animBg="1"/>
      <p:bldP spid="8" grpId="0" animBg="1"/>
      <p:bldP spid="10" grpId="0" animBg="1"/>
      <p:bldP spid="11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.3 </a:t>
            </a:r>
            <a:r>
              <a:rPr lang="ar-DZ" sz="4800" b="1" dirty="0">
                <a:solidFill>
                  <a:srgbClr val="00B050"/>
                </a:solidFill>
              </a:rPr>
              <a:t>تـعـــريــف الـصِّـيَــغــة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هـي عــبــارة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 / أو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مَــسْــبُــوقَــةً بـ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يـسـاوي ) بـحــيـث يَــقُــوم الــمــســتــخـــدم بـ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داخــل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وَيَــتــولَّـى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الــبــرنــامــج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Excel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حِـــسَـــابَ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تـــلــقـــائـــيــا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بـعــد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مــن خــلال الــمِـــفْـــتَـــاح 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 </a:t>
            </a:r>
            <a:r>
              <a:rPr lang="en-US" sz="4000" b="1" dirty="0">
                <a:solidFill>
                  <a:srgbClr val="FF0000"/>
                </a:solidFill>
                <a:sym typeface="Symbol" panose="05050102010706020507" pitchFamily="18" charset="2"/>
              </a:rPr>
              <a:t>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" (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Entrée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6919755" y="1628800"/>
            <a:ext cx="215335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حــسـابــيـة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494491" y="3408012"/>
            <a:ext cx="247746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كــتــابــتـهــا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058217" y="1628799"/>
            <a:ext cx="229930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مــنـطــقــيــة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943872" y="3408011"/>
            <a:ext cx="183721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خــلــيــة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113454" y="2491207"/>
            <a:ext cx="170011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الـرمـــز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511824" y="4345804"/>
            <a:ext cx="302433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نــتــيــجــتـهــا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4645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9" grpId="0" animBg="1"/>
      <p:bldP spid="8" grpId="0" animBg="1"/>
      <p:bldP spid="10" grpId="0" animBg="1"/>
      <p:bldP spid="11" grpId="0" animBg="1"/>
      <p:bldP spid="12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.3 </a:t>
            </a:r>
            <a:r>
              <a:rPr lang="ar-DZ" sz="4800" b="1" dirty="0">
                <a:solidFill>
                  <a:srgbClr val="00B050"/>
                </a:solidFill>
              </a:rPr>
              <a:t>تـعـــريــف الـصِّـيَــغــة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هـي عــبــارة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 / أو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مَــسْــبُــوقَــةً بـ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يـسـاوي ) بـحــيـث يَــقُــوم الــمــســتــخـــدم بـ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داخــل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وَيَــتــولَّـى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الــبــرنــامــج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Excel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حِـــسَـــابَ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تـــلــقـــائـــيــا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بـعــد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مــن خــلال الــمِـــفْـــتَـــاح 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 </a:t>
            </a:r>
            <a:r>
              <a:rPr lang="en-US" sz="4000" b="1" dirty="0">
                <a:solidFill>
                  <a:srgbClr val="FF0000"/>
                </a:solidFill>
                <a:sym typeface="Symbol" panose="05050102010706020507" pitchFamily="18" charset="2"/>
              </a:rPr>
              <a:t>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" (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Entrée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6919755" y="1628800"/>
            <a:ext cx="215335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حــسـابــيـة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494491" y="3408012"/>
            <a:ext cx="247746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كــتــابــتـهــا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058217" y="1628799"/>
            <a:ext cx="229930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مــنـطــقــيــة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943872" y="3408011"/>
            <a:ext cx="183721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خــلــيــة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113454" y="2491207"/>
            <a:ext cx="170011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الـرمـــز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511824" y="4345804"/>
            <a:ext cx="302433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نــتــيــجــتـهــا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832304" y="5248109"/>
            <a:ext cx="235190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تـأكــيــدهـا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0793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9" grpId="0" animBg="1"/>
      <p:bldP spid="8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6000" b="1" dirty="0" smtClean="0">
                <a:solidFill>
                  <a:srgbClr val="00B050"/>
                </a:solidFill>
                <a:cs typeface="+mj-cs"/>
              </a:rPr>
              <a:t>2.3 - أنــواع الـصِّـيَـغ</a:t>
            </a:r>
            <a:endParaRPr lang="fr-FR" sz="60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نـشــاط 7</a:t>
            </a:r>
            <a:r>
              <a:rPr lang="ar-DZ" sz="5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5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ar-DZ" sz="5400" b="1" dirty="0">
                <a:cs typeface="+mj-cs"/>
              </a:rPr>
              <a:t>حَـــدِّدْ خــصــائـص نَـــوْعَــيْ الـصـيـغ بـاعــتــبـــار الـعــبــارة الَّـتي </a:t>
            </a:r>
            <a:r>
              <a:rPr lang="ar-DZ" sz="5400" b="1" dirty="0" smtClean="0">
                <a:cs typeface="+mj-cs"/>
              </a:rPr>
              <a:t>تُــمــثِّــلُـهـا</a:t>
            </a:r>
            <a:endParaRPr lang="ar-DZ" sz="4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110510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0070C0"/>
                </a:solidFill>
                <a:cs typeface="+mj-cs"/>
              </a:rPr>
              <a:t>أ - الـصِّــيَــغ الـحـــســـابـــيــة :</a:t>
            </a:r>
            <a:endParaRPr lang="fr-FR" sz="4800" i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تـحــتــوي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أو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لـخــلايــا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والَّـتي </a:t>
            </a:r>
            <a:r>
              <a:rPr lang="ar-DZ" sz="4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تَــتَــوسَّــطُــهــا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..............................................................................................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الــتــالــيــة  :   +   ،   –   ،   *   ،   /   ،   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إلــخ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81851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0070C0"/>
                </a:solidFill>
                <a:cs typeface="+mj-cs"/>
              </a:rPr>
              <a:t>أ - الـصِّــيَــغ الـحـــســـابـــيــة :</a:t>
            </a:r>
            <a:endParaRPr lang="fr-FR" sz="4800" i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تـحــتــوي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أو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لـخــلايــا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والَّـتي </a:t>
            </a:r>
            <a:r>
              <a:rPr lang="ar-DZ" sz="4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تَــتَــوسَّــطُــهــا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..............................................................................................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الــتــالــيــة  :   +   ،   –   ،   *   ،   /   ،   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إلــخ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176120" y="2549768"/>
            <a:ext cx="215335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أعـــدادا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5432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0070C0"/>
                </a:solidFill>
                <a:cs typeface="+mj-cs"/>
              </a:rPr>
              <a:t>أ - الـصِّــيَــغ الـحـــســـابـــيــة :</a:t>
            </a:r>
            <a:endParaRPr lang="fr-FR" sz="4800" i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تـحــتــوي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أو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لـخــلايــا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والَّـتي </a:t>
            </a:r>
            <a:r>
              <a:rPr lang="ar-DZ" sz="4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تَــتَــوسَّــطُــهــا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..............................................................................................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الــتــالــيــة  :   +   ،   –   ،   *   ،   /   ،   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إلــخ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176120" y="2549768"/>
            <a:ext cx="215335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أعـــدادا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787339" y="2549768"/>
            <a:ext cx="229930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مــراجــعــا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67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8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0070C0"/>
                </a:solidFill>
                <a:cs typeface="+mj-cs"/>
              </a:rPr>
              <a:t>أ - الـصِّــيَــغ الـحـــســـابـــيــة :</a:t>
            </a:r>
            <a:endParaRPr lang="fr-FR" sz="4800" i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تـحــتــوي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أو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لـخــلايــا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والَّـتي </a:t>
            </a:r>
            <a:r>
              <a:rPr lang="ar-DZ" sz="4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تَــتَــوسَّــطُــهــا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..............................................................................................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الــتــالــيــة  :   +   ،   –   ،   *   ،   /   ،   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إلــخ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176120" y="2549768"/>
            <a:ext cx="215335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أعـــدادا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199456" y="3487561"/>
            <a:ext cx="66236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الــمُــعَـــامِـــلات الـحـــســـابـــيـــة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787339" y="2549768"/>
            <a:ext cx="229930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مــراجــعــا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7389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9" grpId="0" animBg="1"/>
      <p:bldP spid="8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0070C0"/>
                </a:solidFill>
                <a:cs typeface="+mj-cs"/>
              </a:rPr>
              <a:t>ب - </a:t>
            </a:r>
            <a:r>
              <a:rPr lang="ar-DZ" sz="4800" b="1" dirty="0">
                <a:solidFill>
                  <a:srgbClr val="0070C0"/>
                </a:solidFill>
                <a:cs typeface="+mj-cs"/>
              </a:rPr>
              <a:t>الـصِّــيَــغ </a:t>
            </a:r>
            <a:r>
              <a:rPr lang="ar-DZ" sz="4800" b="1" dirty="0" smtClean="0">
                <a:solidFill>
                  <a:srgbClr val="0070C0"/>
                </a:solidFill>
                <a:cs typeface="+mj-cs"/>
              </a:rPr>
              <a:t>الـمــنــطـــقـــيـــة </a:t>
            </a:r>
            <a:r>
              <a:rPr lang="ar-DZ" sz="4800" b="1" dirty="0">
                <a:solidFill>
                  <a:srgbClr val="0070C0"/>
                </a:solidFill>
                <a:cs typeface="+mj-cs"/>
              </a:rPr>
              <a:t>:</a:t>
            </a:r>
            <a:endParaRPr lang="fr-FR" sz="4800" i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تُــمَــثِّــلُ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بَــيْـنَ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بـاســتــغـــلال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الــتــالــيــة  :    &lt;  ،  &gt;  ،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=</a:t>
            </a:r>
            <a:r>
              <a:rPr lang="ar-DZ" sz="4000" b="1" dirty="0">
                <a:solidFill>
                  <a:srgbClr val="002060"/>
                </a:solidFill>
              </a:rPr>
              <a:t>&lt;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،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=</a:t>
            </a:r>
            <a:r>
              <a:rPr lang="ar-DZ" sz="4000" b="1" dirty="0">
                <a:solidFill>
                  <a:srgbClr val="002060"/>
                </a:solidFill>
              </a:rPr>
              <a:t>&gt;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، &lt;</a:t>
            </a:r>
            <a:r>
              <a:rPr lang="ar-DZ" sz="16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&gt; ونــتــيـــجــتـهـا إمَّــا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</a:rPr>
              <a:t>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أو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</a:rPr>
              <a:t>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177866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0070C0"/>
                </a:solidFill>
                <a:cs typeface="+mj-cs"/>
              </a:rPr>
              <a:t>ب - </a:t>
            </a:r>
            <a:r>
              <a:rPr lang="ar-DZ" sz="4800" b="1" dirty="0">
                <a:solidFill>
                  <a:srgbClr val="0070C0"/>
                </a:solidFill>
                <a:cs typeface="+mj-cs"/>
              </a:rPr>
              <a:t>الـصِّــيَــغ </a:t>
            </a:r>
            <a:r>
              <a:rPr lang="ar-DZ" sz="4800" b="1" dirty="0" smtClean="0">
                <a:solidFill>
                  <a:srgbClr val="0070C0"/>
                </a:solidFill>
                <a:cs typeface="+mj-cs"/>
              </a:rPr>
              <a:t>الـمــنــطـــقـــيـــة </a:t>
            </a:r>
            <a:r>
              <a:rPr lang="ar-DZ" sz="4800" b="1" dirty="0">
                <a:solidFill>
                  <a:srgbClr val="0070C0"/>
                </a:solidFill>
                <a:cs typeface="+mj-cs"/>
              </a:rPr>
              <a:t>:</a:t>
            </a:r>
            <a:endParaRPr lang="fr-FR" sz="4800" i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تُــمَــثِّــلُ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بَــيْـنَ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بـاســتــغـــلال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الــتــالــيــة  :    &lt;  ،  &gt;  ،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=</a:t>
            </a:r>
            <a:r>
              <a:rPr lang="ar-DZ" sz="4000" b="1" dirty="0">
                <a:solidFill>
                  <a:srgbClr val="002060"/>
                </a:solidFill>
              </a:rPr>
              <a:t>&lt;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،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=</a:t>
            </a:r>
            <a:r>
              <a:rPr lang="ar-DZ" sz="4000" b="1" dirty="0">
                <a:solidFill>
                  <a:srgbClr val="002060"/>
                </a:solidFill>
              </a:rPr>
              <a:t>&gt;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، &lt;</a:t>
            </a:r>
            <a:r>
              <a:rPr lang="ar-DZ" sz="16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&gt; ونــتــيـــجــتـهـا إمَّــا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</a:rPr>
              <a:t>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أو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</a:rPr>
              <a:t>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324675" y="2567910"/>
            <a:ext cx="240937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ــقَــ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ارَنَـ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ةً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419830" y="2549768"/>
            <a:ext cx="229930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قــيــمــتــيــن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042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8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0070C0"/>
                </a:solidFill>
                <a:cs typeface="+mj-cs"/>
              </a:rPr>
              <a:t>ب - </a:t>
            </a:r>
            <a:r>
              <a:rPr lang="ar-DZ" sz="4800" b="1" dirty="0">
                <a:solidFill>
                  <a:srgbClr val="0070C0"/>
                </a:solidFill>
                <a:cs typeface="+mj-cs"/>
              </a:rPr>
              <a:t>الـصِّــيَــغ </a:t>
            </a:r>
            <a:r>
              <a:rPr lang="ar-DZ" sz="4800" b="1" dirty="0" smtClean="0">
                <a:solidFill>
                  <a:srgbClr val="0070C0"/>
                </a:solidFill>
                <a:cs typeface="+mj-cs"/>
              </a:rPr>
              <a:t>الـمــنــطـــقـــيـــة </a:t>
            </a:r>
            <a:r>
              <a:rPr lang="ar-DZ" sz="4800" b="1" dirty="0">
                <a:solidFill>
                  <a:srgbClr val="0070C0"/>
                </a:solidFill>
                <a:cs typeface="+mj-cs"/>
              </a:rPr>
              <a:t>:</a:t>
            </a:r>
            <a:endParaRPr lang="fr-FR" sz="4800" i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تُــمَــثِّــلُ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بَــيْـنَ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بـاســتــغـــلال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الــتــالــيــة  :    &lt;  ،  &gt;  ،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=</a:t>
            </a:r>
            <a:r>
              <a:rPr lang="ar-DZ" sz="4000" b="1" dirty="0">
                <a:solidFill>
                  <a:srgbClr val="002060"/>
                </a:solidFill>
              </a:rPr>
              <a:t>&lt;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،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=</a:t>
            </a:r>
            <a:r>
              <a:rPr lang="ar-DZ" sz="4000" b="1" dirty="0">
                <a:solidFill>
                  <a:srgbClr val="002060"/>
                </a:solidFill>
              </a:rPr>
              <a:t>&gt;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، &lt;</a:t>
            </a:r>
            <a:r>
              <a:rPr lang="ar-DZ" sz="16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&gt; ونــتــيـــجــتـهـا إمَّــا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</a:rPr>
              <a:t>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أو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</a:rPr>
              <a:t>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324675" y="2567910"/>
            <a:ext cx="240937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ــقَــ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ارَنَـ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ةً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47928" y="3487561"/>
            <a:ext cx="583155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الــمُــعَـــامِـــلات الــمــنــطـــقـــيـــة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419830" y="2549768"/>
            <a:ext cx="229930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قــيــمــتــيــن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0600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9" grpId="0" animBg="1"/>
      <p:bldP spid="8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0070C0"/>
                </a:solidFill>
                <a:cs typeface="+mj-cs"/>
              </a:rPr>
              <a:t>ب - </a:t>
            </a:r>
            <a:r>
              <a:rPr lang="ar-DZ" sz="4800" b="1" dirty="0">
                <a:solidFill>
                  <a:srgbClr val="0070C0"/>
                </a:solidFill>
                <a:cs typeface="+mj-cs"/>
              </a:rPr>
              <a:t>الـصِّــيَــغ </a:t>
            </a:r>
            <a:r>
              <a:rPr lang="ar-DZ" sz="4800" b="1" dirty="0" smtClean="0">
                <a:solidFill>
                  <a:srgbClr val="0070C0"/>
                </a:solidFill>
                <a:cs typeface="+mj-cs"/>
              </a:rPr>
              <a:t>الـمــنــطـــقـــيـــة </a:t>
            </a:r>
            <a:r>
              <a:rPr lang="ar-DZ" sz="4800" b="1" dirty="0">
                <a:solidFill>
                  <a:srgbClr val="0070C0"/>
                </a:solidFill>
                <a:cs typeface="+mj-cs"/>
              </a:rPr>
              <a:t>:</a:t>
            </a:r>
            <a:endParaRPr lang="fr-FR" sz="4800" i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تُــمَــثِّــلُ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بَــيْـنَ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بـاســتــغـــلال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الــتــالــيــة  :    &lt;  ،  &gt;  ،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=</a:t>
            </a:r>
            <a:r>
              <a:rPr lang="ar-DZ" sz="4000" b="1" dirty="0">
                <a:solidFill>
                  <a:srgbClr val="002060"/>
                </a:solidFill>
              </a:rPr>
              <a:t>&lt;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،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=</a:t>
            </a:r>
            <a:r>
              <a:rPr lang="ar-DZ" sz="4000" b="1" dirty="0">
                <a:solidFill>
                  <a:srgbClr val="002060"/>
                </a:solidFill>
              </a:rPr>
              <a:t>&gt;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، &lt;</a:t>
            </a:r>
            <a:r>
              <a:rPr lang="ar-DZ" sz="16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&gt; ونــتــيـــجــتـهـا إمَّــا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</a:rPr>
              <a:t>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أو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</a:rPr>
              <a:t>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324675" y="2567910"/>
            <a:ext cx="240937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ــقَــ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ارَنَـ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ةً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47928" y="3487561"/>
            <a:ext cx="583155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الــمُــعَـــامِـــلات الــمــنــطـــقـــيـــة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419830" y="2549768"/>
            <a:ext cx="229930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قــيــمــتــيــن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847528" y="4423817"/>
            <a:ext cx="208382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VRAI </a:t>
            </a:r>
          </a:p>
        </p:txBody>
      </p:sp>
    </p:spTree>
    <p:extLst>
      <p:ext uri="{BB962C8B-B14F-4D97-AF65-F5344CB8AC3E}">
        <p14:creationId xmlns:p14="http://schemas.microsoft.com/office/powerpoint/2010/main" val="3664769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9" grpId="0" animBg="1"/>
      <p:bldP spid="8" grpId="0" animBg="1"/>
      <p:bldP spid="10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0070C0"/>
                </a:solidFill>
                <a:cs typeface="+mj-cs"/>
              </a:rPr>
              <a:t>ب - </a:t>
            </a:r>
            <a:r>
              <a:rPr lang="ar-DZ" sz="4800" b="1" dirty="0">
                <a:solidFill>
                  <a:srgbClr val="0070C0"/>
                </a:solidFill>
                <a:cs typeface="+mj-cs"/>
              </a:rPr>
              <a:t>الـصِّــيَــغ </a:t>
            </a:r>
            <a:r>
              <a:rPr lang="ar-DZ" sz="4800" b="1" dirty="0" smtClean="0">
                <a:solidFill>
                  <a:srgbClr val="0070C0"/>
                </a:solidFill>
                <a:cs typeface="+mj-cs"/>
              </a:rPr>
              <a:t>الـمــنــطـــقـــيـــة </a:t>
            </a:r>
            <a:r>
              <a:rPr lang="ar-DZ" sz="4800" b="1" dirty="0">
                <a:solidFill>
                  <a:srgbClr val="0070C0"/>
                </a:solidFill>
                <a:cs typeface="+mj-cs"/>
              </a:rPr>
              <a:t>:</a:t>
            </a:r>
            <a:endParaRPr lang="fr-FR" sz="4800" i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تُــمَــثِّــلُ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بَــيْـنَ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بـاســتــغـــلال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الــتــالــيــة  :    &lt;  ،  &gt;  ،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=</a:t>
            </a:r>
            <a:r>
              <a:rPr lang="ar-DZ" sz="4000" b="1" dirty="0">
                <a:solidFill>
                  <a:srgbClr val="002060"/>
                </a:solidFill>
              </a:rPr>
              <a:t>&lt;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،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=</a:t>
            </a:r>
            <a:r>
              <a:rPr lang="ar-DZ" sz="4000" b="1" dirty="0">
                <a:solidFill>
                  <a:srgbClr val="002060"/>
                </a:solidFill>
              </a:rPr>
              <a:t>&gt;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، &lt;</a:t>
            </a:r>
            <a:r>
              <a:rPr lang="ar-DZ" sz="16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&gt; ونــتــيـــجــتـهـا إمَّــا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</a:rPr>
              <a:t>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أو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</a:rPr>
              <a:t>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324675" y="2567910"/>
            <a:ext cx="240937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ــقَــ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ارَنَـ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ةً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47928" y="3487561"/>
            <a:ext cx="583155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الــمُــعَـــامِـــلات الــمــنــطـــقـــيـــة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419830" y="2549768"/>
            <a:ext cx="229930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قــيــمــتــيــن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847528" y="4423817"/>
            <a:ext cx="208382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VRAI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16280" y="5326864"/>
            <a:ext cx="229737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FAUX</a:t>
            </a:r>
          </a:p>
        </p:txBody>
      </p:sp>
    </p:spTree>
    <p:extLst>
      <p:ext uri="{BB962C8B-B14F-4D97-AF65-F5344CB8AC3E}">
        <p14:creationId xmlns:p14="http://schemas.microsoft.com/office/powerpoint/2010/main" val="4070874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9" grpId="0" animBg="1"/>
      <p:bldP spid="8" grpId="0" animBg="1"/>
      <p:bldP spid="10" grpId="0" animBg="1"/>
      <p:bldP spid="11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lang="ar-DZ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ar-DZ" sz="5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الـدَوَالّ </a:t>
            </a:r>
            <a:r>
              <a:rPr lang="fr-FR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Fonctions 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نـشــاط 8</a:t>
            </a:r>
            <a:r>
              <a:rPr lang="ar-DZ" sz="54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: </a:t>
            </a:r>
            <a:r>
              <a:rPr lang="ar-DZ" sz="1000" b="1" dirty="0" smtClean="0">
                <a:cs typeface="+mj-cs"/>
              </a:rPr>
              <a:t> </a:t>
            </a:r>
            <a:r>
              <a:rPr lang="ar-DZ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إجْـــرَاء الـحــســابـــات الــمُــعَــقَّــدَةِ يـكـون بـاســتـغــلال الــدَّوَالِ فـمـاذا تُــمَـثِــل </a:t>
            </a:r>
            <a:r>
              <a:rPr lang="ar-DZ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؟</a:t>
            </a:r>
            <a:endParaRPr lang="ar-DZ" sz="4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6000" b="1" dirty="0" smtClean="0">
                <a:solidFill>
                  <a:srgbClr val="00B050"/>
                </a:solidFill>
                <a:cs typeface="+mj-cs"/>
              </a:rPr>
              <a:t>.4 تـعـــريــف </a:t>
            </a:r>
            <a:r>
              <a:rPr lang="ar-DZ" sz="6000" b="1" dirty="0">
                <a:solidFill>
                  <a:srgbClr val="00B050"/>
                </a:solidFill>
                <a:cs typeface="+mj-cs"/>
              </a:rPr>
              <a:t>دالـــة :</a:t>
            </a:r>
            <a:endParaRPr lang="fr-FR" sz="60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20989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</a:t>
            </a:r>
            <a:r>
              <a:rPr lang="ar-DZ" sz="4800" b="1" dirty="0">
                <a:solidFill>
                  <a:srgbClr val="00B050"/>
                </a:solidFill>
              </a:rPr>
              <a:t>تـعـــريــف دالـــة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هــي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مُـــضْـــمَّـــنَـــةٌ ( مُــدْمَــجَــةٌ )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فـي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بــرنـــامــج الــمُــجَـــدْوِل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EXCEL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تَـــمَّ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مــن أجــل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172189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</a:t>
            </a:r>
            <a:r>
              <a:rPr lang="ar-DZ" sz="4800" b="1" dirty="0">
                <a:solidFill>
                  <a:srgbClr val="00B050"/>
                </a:solidFill>
              </a:rPr>
              <a:t>تـعـــريــف دالـــة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هــي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مُـــضْـــمَّـــنَـــةٌ ( مُــدْمَــجَــةٌ )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فـي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بــرنـــامــج الــمُــجَـــدْوِل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EXCEL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تَـــمَّ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مــن أجــل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536160" y="1802415"/>
            <a:ext cx="240937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صــيــغــة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8888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</a:t>
            </a:r>
            <a:r>
              <a:rPr lang="ar-DZ" sz="4800" b="1" dirty="0">
                <a:solidFill>
                  <a:srgbClr val="00B050"/>
                </a:solidFill>
              </a:rPr>
              <a:t>تـعـــريــف دالـــة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هــي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مُـــضْـــمَّـــنَـــةٌ ( مُــدْمَــجَــةٌ )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فـي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بــرنـــامــج الــمُــجَـــدْوِل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EXCEL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تَـــمَّ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مــن أجــل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536160" y="1802415"/>
            <a:ext cx="240937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صــيــغــة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39416" y="2689126"/>
            <a:ext cx="302433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تَــهْـــيِـــئَـــتُـهَـا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2389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7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</a:t>
            </a:r>
            <a:r>
              <a:rPr lang="ar-DZ" sz="4800" b="1" dirty="0">
                <a:solidFill>
                  <a:srgbClr val="00B050"/>
                </a:solidFill>
              </a:rPr>
              <a:t>تـعـــريــف دالـــة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هــي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مُـــضْـــمَّـــنَـــةٌ ( مُــدْمَــجَــةٌ )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فـي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بــرنـــامــج الــمُــجَـــدْوِل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EXCEL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تَـــمَّ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مــن أجــل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536160" y="1802415"/>
            <a:ext cx="240937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صــيــغــة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039653" y="3622003"/>
            <a:ext cx="329670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لاســتــغـــلالــهــا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39416" y="2689126"/>
            <a:ext cx="302433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تَــهْـــيِـــئَـــتُـهَـا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454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lang="ar-DZ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ar-DZ" sz="5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الـدَوَالّ </a:t>
            </a:r>
            <a:r>
              <a:rPr lang="fr-FR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Fonctions 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نـشــاط 9</a:t>
            </a:r>
            <a:r>
              <a:rPr lang="ar-DZ" sz="54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: </a:t>
            </a:r>
            <a:r>
              <a:rPr lang="ar-DZ" sz="1000" b="1" dirty="0" smtClean="0">
                <a:cs typeface="+mj-cs"/>
              </a:rPr>
              <a:t> </a:t>
            </a:r>
            <a:r>
              <a:rPr lang="ar-DZ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كــيــف يَــتِــمُ اســتــغــلال الــدَّوَالِ </a:t>
            </a:r>
            <a:r>
              <a:rPr lang="ar-DZ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فـي بــرنـــامــج </a:t>
            </a:r>
            <a:r>
              <a:rPr lang="ar-DZ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EXCEL</a:t>
            </a:r>
            <a:r>
              <a:rPr lang="ar-DZ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؟</a:t>
            </a:r>
            <a:endParaRPr lang="ar-DZ" sz="4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2.4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كــيــفــيــة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كـــتـــابـــة دالـــة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143398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</a:t>
            </a:r>
            <a:r>
              <a:rPr lang="ar-DZ" sz="4800" b="1" dirty="0">
                <a:solidFill>
                  <a:srgbClr val="00B050"/>
                </a:solidFill>
              </a:rPr>
              <a:t>كــيــفــيــة كـــتـــابـــة </a:t>
            </a:r>
            <a:r>
              <a:rPr lang="ar-DZ" sz="4800" b="1" dirty="0" smtClean="0">
                <a:solidFill>
                  <a:srgbClr val="00B050"/>
                </a:solidFill>
              </a:rPr>
              <a:t>دالـــة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105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.............................................................................................................................</a:t>
            </a:r>
            <a:endParaRPr lang="fr-FR" sz="4000" baseline="-250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وســـائـــطُ (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Paramètres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دالـــة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مـــا هــي إِلَّا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الـلازمــة لـهـا لإجـــراء الــعـــمـــلــيــات ، بـحــيــث الــوســائــط قــد تــكــون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،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لـخــلايــا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إلـخ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412552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</a:t>
            </a:r>
            <a:r>
              <a:rPr lang="ar-DZ" sz="4800" b="1" dirty="0">
                <a:solidFill>
                  <a:srgbClr val="00B050"/>
                </a:solidFill>
              </a:rPr>
              <a:t>كــيــفــيــة كـــتـــابـــة </a:t>
            </a:r>
            <a:r>
              <a:rPr lang="ar-DZ" sz="4800" b="1" dirty="0" smtClean="0">
                <a:solidFill>
                  <a:srgbClr val="00B050"/>
                </a:solidFill>
              </a:rPr>
              <a:t>دالـــة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105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.............................................................................................................................</a:t>
            </a:r>
            <a:endParaRPr lang="fr-FR" sz="4000" baseline="-250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وســـائـــطُ (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Paramètres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دالـــة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مـــا هــي إِلَّا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الـلازمــة لـهـا لإجـــراء الــعـــمـــلــيــات ، بـحــيــث الــوســائــط قــد تــكــون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،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لـخــلايــا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إلـخ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1055440" y="1600217"/>
            <a:ext cx="102971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fr-FR" sz="36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Nom_Fonction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</a:t>
            </a: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Paramètre1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Paramètre2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…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2597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</a:t>
            </a:r>
            <a:r>
              <a:rPr lang="ar-DZ" sz="4800" b="1" dirty="0">
                <a:solidFill>
                  <a:srgbClr val="00B050"/>
                </a:solidFill>
              </a:rPr>
              <a:t>كــيــفــيــة كـــتـــابـــة </a:t>
            </a:r>
            <a:r>
              <a:rPr lang="ar-DZ" sz="4800" b="1" dirty="0" smtClean="0">
                <a:solidFill>
                  <a:srgbClr val="00B050"/>
                </a:solidFill>
              </a:rPr>
              <a:t>دالـــة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105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.............................................................................................................................</a:t>
            </a:r>
            <a:endParaRPr lang="fr-FR" sz="4000" baseline="-250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وســـائـــطُ (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Paramètres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دالـــة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مـــا هــي إِلَّا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الـلازمــة لـهـا لإجـــراء الــعـــمـــلــيــات ، بـحــيــث الــوســائــط قــد تــكــون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،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لـخــلايــا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إلـخ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1055440" y="1600217"/>
            <a:ext cx="102971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fr-FR" sz="36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Nom_Fonction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</a:t>
            </a: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Paramètre1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Paramètre2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…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328248" y="3256401"/>
            <a:ext cx="262539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الــمُـعْــطَــيَــات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5890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</a:t>
            </a:r>
            <a:r>
              <a:rPr lang="ar-DZ" sz="4800" b="1" dirty="0">
                <a:solidFill>
                  <a:srgbClr val="00B050"/>
                </a:solidFill>
              </a:rPr>
              <a:t>كــيــفــيــة كـــتـــابـــة </a:t>
            </a:r>
            <a:r>
              <a:rPr lang="ar-DZ" sz="4800" b="1" dirty="0" smtClean="0">
                <a:solidFill>
                  <a:srgbClr val="00B050"/>
                </a:solidFill>
              </a:rPr>
              <a:t>دالـــة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105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.............................................................................................................................</a:t>
            </a:r>
            <a:endParaRPr lang="fr-FR" sz="4000" baseline="-250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وســـائـــطُ (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Paramètres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دالـــة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مـــا هــي إِلَّا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الـلازمــة لـهـا لإجـــراء الــعـــمـــلــيــات ، بـحــيــث الــوســائــط قــد تــكــون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،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لـخــلايــا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إلـخ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1055440" y="1600217"/>
            <a:ext cx="102971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fr-FR" sz="36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Nom_Fonction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</a:t>
            </a: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Paramètre1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Paramètre2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…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328248" y="3256401"/>
            <a:ext cx="262539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الــمُـعْــطَــيَــات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84584" y="4167265"/>
            <a:ext cx="262539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قِ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ــيَـ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ـمًـ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ـا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7685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  <p:bldP spid="8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</a:t>
            </a:r>
            <a:r>
              <a:rPr lang="ar-DZ" sz="4800" b="1" dirty="0">
                <a:solidFill>
                  <a:srgbClr val="00B050"/>
                </a:solidFill>
              </a:rPr>
              <a:t>كــيــفــيــة كـــتـــابـــة </a:t>
            </a:r>
            <a:r>
              <a:rPr lang="ar-DZ" sz="4800" b="1" dirty="0" smtClean="0">
                <a:solidFill>
                  <a:srgbClr val="00B050"/>
                </a:solidFill>
              </a:rPr>
              <a:t>دالـــة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105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.............................................................................................................................</a:t>
            </a:r>
            <a:endParaRPr lang="fr-FR" sz="4000" baseline="-250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وســـائـــطُ (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Paramètres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دالـــة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مـــا هــي إِلَّا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الـلازمــة لـهـا لإجـــراء الــعـــمـــلــيــات ، بـحــيــث الــوســائــط قــد تــكــون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،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لـخــلايــا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إلـخ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1055440" y="1600217"/>
            <a:ext cx="102971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fr-FR" sz="36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Nom_Fonction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</a:t>
            </a: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Paramètre1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Paramètre2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…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328248" y="3256401"/>
            <a:ext cx="262539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الــمُـعْــطَــيَــات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84584" y="4167265"/>
            <a:ext cx="262539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قِ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ــيَـ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ـمًـ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ـا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760296" y="5079310"/>
            <a:ext cx="22322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مَــراجِــعًــا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5962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  <p:bldP spid="8" grpId="0" animBg="1"/>
      <p:bldP spid="9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</a:t>
            </a:r>
            <a:r>
              <a:rPr lang="ar-DZ" sz="4800" b="1" dirty="0">
                <a:solidFill>
                  <a:srgbClr val="00B050"/>
                </a:solidFill>
              </a:rPr>
              <a:t>كــيــفــيــة كـــتـــابـــة </a:t>
            </a:r>
            <a:r>
              <a:rPr lang="ar-DZ" sz="4800" b="1" dirty="0" smtClean="0">
                <a:solidFill>
                  <a:srgbClr val="00B050"/>
                </a:solidFill>
              </a:rPr>
              <a:t>دالـــة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105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.............................................................................................................................</a:t>
            </a:r>
            <a:endParaRPr lang="fr-FR" sz="4000" baseline="-250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وســـائـــطُ (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Paramètres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دالـــة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مـــا هــي إِلَّا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الـلازمــة لـهـا لإجـــراء الــعـــمـــلــيــات ، بـحــيــث الــوســائــط قــد تــكــون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،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لـخــلايــا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إلـخ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1055440" y="1600217"/>
            <a:ext cx="102971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fr-FR" sz="36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Nom_Fonction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</a:t>
            </a: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Paramètre1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Paramètre2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…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328248" y="3256401"/>
            <a:ext cx="262539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الــمُـعْــطَــيَــات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84584" y="4167265"/>
            <a:ext cx="262539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قِ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ــيَـ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ـمًـ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ـا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760296" y="5079310"/>
            <a:ext cx="22322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مَــراجِــعًــا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135560" y="5083495"/>
            <a:ext cx="432048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نــطــاقــات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Domaines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2327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lang="ar-DZ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ar-DZ" sz="5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الـدَوَالّ </a:t>
            </a:r>
            <a:r>
              <a:rPr lang="fr-FR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Fonctions 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نـشــاط 10</a:t>
            </a:r>
            <a:r>
              <a:rPr lang="ar-DZ" sz="54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: </a:t>
            </a:r>
            <a:r>
              <a:rPr lang="ar-DZ" sz="1000" b="1" dirty="0" smtClean="0">
                <a:cs typeface="+mj-cs"/>
              </a:rPr>
              <a:t> </a:t>
            </a:r>
            <a:r>
              <a:rPr lang="ar-DZ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عَــيِّــنْ بـعـض الــدَّوَالِ الأكــثــر اســتــعــمــالا عــنــد إجْـــرَاء </a:t>
            </a:r>
            <a:r>
              <a:rPr lang="ar-DZ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الـحــســابـــات فـي </a:t>
            </a:r>
            <a:r>
              <a:rPr lang="ar-DZ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بــرنـــامــج الــمُــجَـــدْوِل  </a:t>
            </a:r>
            <a:r>
              <a:rPr lang="fr-FR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EXCEL</a:t>
            </a:r>
            <a:endParaRPr lang="ar-DZ" sz="4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3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.4 الــدَوَالّ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الــشــهـــيـــرة 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826457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3.4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الــدَوَالّ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الــشــهـــيـــرة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  <p:sp>
        <p:nvSpPr>
          <p:cNvPr id="10" name="Espace réservé du contenu 2"/>
          <p:cNvSpPr txBox="1">
            <a:spLocks/>
          </p:cNvSpPr>
          <p:nvPr/>
        </p:nvSpPr>
        <p:spPr>
          <a:xfrm>
            <a:off x="609600" y="1268761"/>
            <a:ext cx="10887000" cy="510495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r>
              <a:rPr lang="ar-DZ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15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دالــة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الـمــجــمــوع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دالــة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الـوَسَــط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الـحــســابـي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</a:t>
            </a:r>
            <a:r>
              <a:rPr lang="fr-FR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دالــة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أكــبــر قــيــمـة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دالــة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أصـغــر قــيــمـة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92645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 build="p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3.4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الــدَوَالّ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الــشــهـــيـــرة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  <p:sp>
        <p:nvSpPr>
          <p:cNvPr id="10" name="Espace réservé du contenu 2"/>
          <p:cNvSpPr txBox="1">
            <a:spLocks/>
          </p:cNvSpPr>
          <p:nvPr/>
        </p:nvSpPr>
        <p:spPr>
          <a:xfrm>
            <a:off x="609600" y="1268761"/>
            <a:ext cx="10887000" cy="510495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r>
              <a:rPr lang="ar-DZ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15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دالــة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الـمــجــمــوع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دالــة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الـوَسَــط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الـحــســابـي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</a:t>
            </a:r>
            <a:r>
              <a:rPr lang="fr-FR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دالــة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أكــبــر قــيــمـة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دالــة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أصـغــر قــيــمـة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99456" y="1712566"/>
            <a:ext cx="424085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SOMME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 )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5956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 build="p" animBg="1"/>
      <p:bldP spid="11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3.4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الــدَوَالّ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الــشــهـــيـــرة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  <p:sp>
        <p:nvSpPr>
          <p:cNvPr id="10" name="Espace réservé du contenu 2"/>
          <p:cNvSpPr txBox="1">
            <a:spLocks/>
          </p:cNvSpPr>
          <p:nvPr/>
        </p:nvSpPr>
        <p:spPr>
          <a:xfrm>
            <a:off x="609600" y="1268761"/>
            <a:ext cx="10887000" cy="510495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r>
              <a:rPr lang="ar-DZ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15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دالــة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الـمــجــمــوع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دالــة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الـوَسَــط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الـحــســابـي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</a:t>
            </a:r>
            <a:r>
              <a:rPr lang="fr-FR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دالــة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أكــبــر قــيــمـة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دالــة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أصـغــر قــيــمـة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99456" y="1712566"/>
            <a:ext cx="424085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SOMME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 )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199456" y="2636234"/>
            <a:ext cx="424085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MOYENNE(  )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7523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 build="p" animBg="1"/>
      <p:bldP spid="11" grpId="0" animBg="1"/>
      <p:bldP spid="12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3.4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الــدَوَالّ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الــشــهـــيـــرة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  <p:sp>
        <p:nvSpPr>
          <p:cNvPr id="10" name="Espace réservé du contenu 2"/>
          <p:cNvSpPr txBox="1">
            <a:spLocks/>
          </p:cNvSpPr>
          <p:nvPr/>
        </p:nvSpPr>
        <p:spPr>
          <a:xfrm>
            <a:off x="609600" y="1268761"/>
            <a:ext cx="10887000" cy="510495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r>
              <a:rPr lang="ar-DZ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15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دالــة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الـمــجــمــوع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دالــة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الـوَسَــط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الـحــســابـي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</a:t>
            </a:r>
            <a:r>
              <a:rPr lang="fr-FR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دالــة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أكــبــر قــيــمـة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دالــة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أصـغــر قــيــمـة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99456" y="1712566"/>
            <a:ext cx="424085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SOMME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 )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199456" y="2636234"/>
            <a:ext cx="424085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MOYENNE(  )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199456" y="3577704"/>
            <a:ext cx="424085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MAX(  )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8709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 build="p" animBg="1"/>
      <p:bldP spid="11" grpId="0" animBg="1"/>
      <p:bldP spid="12" grpId="0" animBg="1"/>
      <p:bldP spid="13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3.4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الــدَوَالّ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الــشــهـــيـــرة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  <p:sp>
        <p:nvSpPr>
          <p:cNvPr id="10" name="Espace réservé du contenu 2"/>
          <p:cNvSpPr txBox="1">
            <a:spLocks/>
          </p:cNvSpPr>
          <p:nvPr/>
        </p:nvSpPr>
        <p:spPr>
          <a:xfrm>
            <a:off x="609600" y="1268761"/>
            <a:ext cx="10887000" cy="510495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r>
              <a:rPr lang="ar-DZ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15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دالــة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الـمــجــمــوع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دالــة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الـوَسَــط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الـحــســابـي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</a:t>
            </a:r>
            <a:r>
              <a:rPr lang="fr-FR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دالــة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أكــبــر قــيــمـة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دالــة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أصـغــر قــيــمـة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99456" y="1712566"/>
            <a:ext cx="424085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SOMME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 )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199456" y="2636234"/>
            <a:ext cx="424085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MOYENNE(  )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199456" y="3577704"/>
            <a:ext cx="424085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MAX(  )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199456" y="4507431"/>
            <a:ext cx="424085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MIN(  )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7703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 build="p" animBg="1"/>
      <p:bldP spid="11" grpId="0" animBg="1"/>
      <p:bldP spid="12" grpId="0" animBg="1"/>
      <p:bldP spid="13" grpId="0" animBg="1"/>
      <p:bldP spid="14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3.4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الــدَوَالّ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الــشــهـــيـــرة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  <p:sp>
        <p:nvSpPr>
          <p:cNvPr id="10" name="Espace réservé du contenu 2"/>
          <p:cNvSpPr txBox="1">
            <a:spLocks/>
          </p:cNvSpPr>
          <p:nvPr/>
        </p:nvSpPr>
        <p:spPr>
          <a:xfrm>
            <a:off x="609600" y="1268761"/>
            <a:ext cx="10887000" cy="510495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r>
              <a:rPr lang="ar-DZ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15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دالــة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الـمــجــمــوع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دالــة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الـوَسَــط 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الـحــســابـي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</a:t>
            </a:r>
            <a:r>
              <a:rPr lang="fr-FR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دالــة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أكــبــر قــيــمـة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دالــة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أصـغــر قــيــمـة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99456" y="1712566"/>
            <a:ext cx="424085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SOMME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 )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199456" y="2636234"/>
            <a:ext cx="424085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MOYENNE(  )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199456" y="3577704"/>
            <a:ext cx="424085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MAX(  )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199456" y="4507431"/>
            <a:ext cx="424085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MIN(  )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3568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 build="p" animBg="1"/>
      <p:bldP spid="11" grpId="0" animBg="1"/>
      <p:bldP spid="12" grpId="0" animBg="1"/>
      <p:bldP spid="13" grpId="0" animBg="1"/>
      <p:bldP spid="9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3.4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الــدَوَالّ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الــشــهـــيـــرة  ـــ  تـــابـــع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  <p:sp>
        <p:nvSpPr>
          <p:cNvPr id="10" name="Espace réservé du contenu 2"/>
          <p:cNvSpPr txBox="1">
            <a:spLocks/>
          </p:cNvSpPr>
          <p:nvPr/>
        </p:nvSpPr>
        <p:spPr>
          <a:xfrm>
            <a:off x="609600" y="1268761"/>
            <a:ext cx="10887000" cy="510495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lnSpc>
                <a:spcPct val="75000"/>
              </a:lnSpc>
              <a:buFont typeface="Arial" pitchFamily="34" charset="0"/>
              <a:buNone/>
            </a:pPr>
            <a:r>
              <a:rPr lang="ar-DZ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5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الــ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دالـ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ـة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الــشَّـــرْطِـــيَّـــة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55000"/>
              </a:lnSpc>
              <a:spcBef>
                <a:spcPts val="0"/>
              </a:spcBef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الــ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دالـ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الـمَــنْــطِــقِــيَّــة  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وَ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ct val="155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دالـ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الـمَــنْــطِــقِــيَّــة  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أَوْ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ct val="155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الــ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دالـ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الـمَــنْــطِــقِــيَّــة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لَ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ts val="8400"/>
              </a:lnSpc>
              <a:buNone/>
            </a:pP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0911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 build="p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3.4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الــدَوَالّ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الــشــهـــيـــرة  ـــ  تـــابـــع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  <p:sp>
        <p:nvSpPr>
          <p:cNvPr id="10" name="Espace réservé du contenu 2"/>
          <p:cNvSpPr txBox="1">
            <a:spLocks/>
          </p:cNvSpPr>
          <p:nvPr/>
        </p:nvSpPr>
        <p:spPr>
          <a:xfrm>
            <a:off x="609600" y="1268761"/>
            <a:ext cx="10887000" cy="510495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lnSpc>
                <a:spcPct val="75000"/>
              </a:lnSpc>
              <a:buFont typeface="Arial" pitchFamily="34" charset="0"/>
              <a:buNone/>
            </a:pPr>
            <a:r>
              <a:rPr lang="ar-DZ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5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الــ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دالـ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ـة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الــشَّـــرْطِـــيَّـــة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55000"/>
              </a:lnSpc>
              <a:spcBef>
                <a:spcPts val="0"/>
              </a:spcBef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الــ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دالـ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الـمَــنْــطِــقِــيَّــة  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وَ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ct val="155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دالـ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الـمَــنْــطِــقِــيَّــة  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أَوْ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ct val="155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الــ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دالـ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الـمَــنْــطِــقِــيَّــة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لَ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ts val="8400"/>
              </a:lnSpc>
              <a:buNone/>
            </a:pP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199456" y="1682588"/>
            <a:ext cx="375391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SI( 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4674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 build="p" animBg="1"/>
      <p:bldP spid="11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3.4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الــدَوَالّ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الــشــهـــيـــرة  ـــ  تـــابـــع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  <p:sp>
        <p:nvSpPr>
          <p:cNvPr id="10" name="Espace réservé du contenu 2"/>
          <p:cNvSpPr txBox="1">
            <a:spLocks/>
          </p:cNvSpPr>
          <p:nvPr/>
        </p:nvSpPr>
        <p:spPr>
          <a:xfrm>
            <a:off x="609600" y="1268761"/>
            <a:ext cx="10887000" cy="510495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lnSpc>
                <a:spcPct val="75000"/>
              </a:lnSpc>
              <a:buFont typeface="Arial" pitchFamily="34" charset="0"/>
              <a:buNone/>
            </a:pPr>
            <a:r>
              <a:rPr lang="ar-DZ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5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الــ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دالـ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ـة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الــشَّـــرْطِـــيَّـــة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55000"/>
              </a:lnSpc>
              <a:spcBef>
                <a:spcPts val="0"/>
              </a:spcBef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الــ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دالـ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الـمَــنْــطِــقِــيَّــة  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وَ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ct val="155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دالـ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الـمَــنْــطِــقِــيَّــة  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أَوْ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ct val="155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الــ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دالـ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الـمَــنْــطِــقِــيَّــة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لَ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ts val="8400"/>
              </a:lnSpc>
              <a:buNone/>
            </a:pP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199456" y="1682588"/>
            <a:ext cx="375391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SI( 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203939" y="2639996"/>
            <a:ext cx="375391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ET(  )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8519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 build="p" animBg="1"/>
      <p:bldP spid="11" grpId="0" animBg="1"/>
      <p:bldP spid="8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3.4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الــدَوَالّ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الــشــهـــيـــرة  ـــ  تـــابـــع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  <p:sp>
        <p:nvSpPr>
          <p:cNvPr id="10" name="Espace réservé du contenu 2"/>
          <p:cNvSpPr txBox="1">
            <a:spLocks/>
          </p:cNvSpPr>
          <p:nvPr/>
        </p:nvSpPr>
        <p:spPr>
          <a:xfrm>
            <a:off x="609600" y="1268761"/>
            <a:ext cx="10887000" cy="510495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lnSpc>
                <a:spcPct val="75000"/>
              </a:lnSpc>
              <a:buFont typeface="Arial" pitchFamily="34" charset="0"/>
              <a:buNone/>
            </a:pPr>
            <a:r>
              <a:rPr lang="ar-DZ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5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الــ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دالـ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ـة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الــشَّـــرْطِـــيَّـــة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55000"/>
              </a:lnSpc>
              <a:spcBef>
                <a:spcPts val="0"/>
              </a:spcBef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الــ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دالـ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الـمَــنْــطِــقِــيَّــة  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وَ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ct val="155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دالـ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الـمَــنْــطِــقِــيَّــة  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أَوْ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ct val="155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الــ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دالـ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الـمَــنْــطِــقِــيَّــة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لَ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ts val="8400"/>
              </a:lnSpc>
              <a:buNone/>
            </a:pP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199456" y="1682588"/>
            <a:ext cx="375391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SI( 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203939" y="2639996"/>
            <a:ext cx="375391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ET(  )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199456" y="3706669"/>
            <a:ext cx="375391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OU(  )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8282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 build="p" animBg="1"/>
      <p:bldP spid="11" grpId="0" animBg="1"/>
      <p:bldP spid="8" grpId="0" animBg="1"/>
      <p:bldP spid="12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3.4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الــدَوَالّ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الــشــهـــيـــرة  ـــ  تـــابـــع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  <p:sp>
        <p:nvSpPr>
          <p:cNvPr id="10" name="Espace réservé du contenu 2"/>
          <p:cNvSpPr txBox="1">
            <a:spLocks/>
          </p:cNvSpPr>
          <p:nvPr/>
        </p:nvSpPr>
        <p:spPr>
          <a:xfrm>
            <a:off x="609600" y="1268761"/>
            <a:ext cx="10887000" cy="510495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lnSpc>
                <a:spcPct val="75000"/>
              </a:lnSpc>
              <a:buFont typeface="Arial" pitchFamily="34" charset="0"/>
              <a:buNone/>
            </a:pPr>
            <a:r>
              <a:rPr lang="ar-DZ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5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الــ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دالـ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ـة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الــشَّـــرْطِـــيَّـــة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55000"/>
              </a:lnSpc>
              <a:spcBef>
                <a:spcPts val="0"/>
              </a:spcBef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الــ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دالـ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الـمَــنْــطِــقِــيَّــة  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وَ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ct val="155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دالـ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الـمَــنْــطِــقِــيَّــة  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أَوْ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ct val="155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الــ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دالـ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الـمَــنْــطِــقِــيَّــة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لَ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ts val="8400"/>
              </a:lnSpc>
              <a:buNone/>
            </a:pP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199456" y="1682588"/>
            <a:ext cx="375391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SI( 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203939" y="2639996"/>
            <a:ext cx="375391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ET(  )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199456" y="3706669"/>
            <a:ext cx="375391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OU(  )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199456" y="4755122"/>
            <a:ext cx="375391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NON(  )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1321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 build="p" animBg="1"/>
      <p:bldP spid="11" grpId="0" animBg="1"/>
      <p:bldP spid="8" grpId="0" animBg="1"/>
      <p:bldP spid="12" grpId="0" animBg="1"/>
      <p:bldP spid="14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lang="ar-DZ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ar-DZ" sz="5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الـدَوَالّ </a:t>
            </a:r>
            <a:r>
              <a:rPr lang="fr-FR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Fonctions 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نـشــاط 11</a:t>
            </a:r>
            <a:r>
              <a:rPr lang="ar-DZ" sz="54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: </a:t>
            </a:r>
            <a:r>
              <a:rPr lang="ar-DZ" sz="1000" b="1" dirty="0" smtClean="0">
                <a:cs typeface="+mj-cs"/>
              </a:rPr>
              <a:t> </a:t>
            </a:r>
            <a:r>
              <a:rPr lang="ar-DZ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حَـــدِّدْ فــوائــد اسـتــغــلال الــدَّوَالِ مُــقَــارَنَــةً </a:t>
            </a:r>
            <a:r>
              <a:rPr lang="ar-DZ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بِـالـصِّــيَــغِ الـعَــادِيَــة .</a:t>
            </a:r>
            <a:endParaRPr lang="ar-DZ" sz="4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4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.4 فــوائـــد اســتــعــمــال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الــدَوَالّ 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823606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4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</a:t>
            </a:r>
            <a:r>
              <a:rPr lang="ar-DZ" sz="4800" b="1" dirty="0">
                <a:solidFill>
                  <a:srgbClr val="00B050"/>
                </a:solidFill>
              </a:rPr>
              <a:t>فــوائـــد </a:t>
            </a:r>
            <a:r>
              <a:rPr lang="ar-DZ" sz="4800" b="1" dirty="0" smtClean="0">
                <a:solidFill>
                  <a:srgbClr val="00B050"/>
                </a:solidFill>
              </a:rPr>
              <a:t>اســتــعــمــال </a:t>
            </a:r>
            <a:r>
              <a:rPr lang="ar-DZ" sz="4800" b="1" dirty="0">
                <a:solidFill>
                  <a:srgbClr val="00B050"/>
                </a:solidFill>
              </a:rPr>
              <a:t>الــدَوَالّ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2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 تــبــســيــط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</a:t>
            </a:r>
            <a:endParaRPr lang="fr-FR" sz="4000" baseline="-250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/>
              <a:t>مــثــال</a:t>
            </a:r>
            <a:r>
              <a:rPr lang="ar-DZ" sz="4000" b="1" baseline="-25000" dirty="0"/>
              <a:t>1</a:t>
            </a:r>
            <a:r>
              <a:rPr lang="ar-DZ" sz="4000" b="1" dirty="0"/>
              <a:t>  </a:t>
            </a:r>
            <a:r>
              <a:rPr lang="ar-DZ" sz="4000" b="1" dirty="0" smtClean="0"/>
              <a:t>:</a:t>
            </a:r>
          </a:p>
          <a:p>
            <a:pPr marL="0" indent="0" algn="just" rtl="1">
              <a:buNone/>
            </a:pPr>
            <a:endParaRPr lang="ar-DZ" sz="1500" b="1" dirty="0" smtClean="0"/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800" b="1" dirty="0" smtClean="0"/>
              <a:t>►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B3+B4+B5+ … </a:t>
            </a:r>
            <a:r>
              <a:rPr lang="fr-FR" sz="3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B749+B750</a:t>
            </a:r>
            <a:endParaRPr lang="ar-DZ" sz="36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471359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4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</a:t>
            </a:r>
            <a:r>
              <a:rPr lang="ar-DZ" sz="4800" b="1" dirty="0">
                <a:solidFill>
                  <a:srgbClr val="00B050"/>
                </a:solidFill>
              </a:rPr>
              <a:t>فــوائـــد </a:t>
            </a:r>
            <a:r>
              <a:rPr lang="ar-DZ" sz="4800" b="1" dirty="0" smtClean="0">
                <a:solidFill>
                  <a:srgbClr val="00B050"/>
                </a:solidFill>
              </a:rPr>
              <a:t>اســتــعــمــال </a:t>
            </a:r>
            <a:r>
              <a:rPr lang="ar-DZ" sz="4800" b="1" dirty="0">
                <a:solidFill>
                  <a:srgbClr val="00B050"/>
                </a:solidFill>
              </a:rPr>
              <a:t>الــدَوَالّ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2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 تــبــســيــط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</a:t>
            </a:r>
            <a:endParaRPr lang="fr-FR" sz="4000" baseline="-250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/>
              <a:t>مــثــال</a:t>
            </a:r>
            <a:r>
              <a:rPr lang="ar-DZ" sz="4000" b="1" baseline="-25000" dirty="0"/>
              <a:t>1</a:t>
            </a:r>
            <a:r>
              <a:rPr lang="ar-DZ" sz="4000" b="1" dirty="0"/>
              <a:t>  </a:t>
            </a:r>
            <a:r>
              <a:rPr lang="ar-DZ" sz="4000" b="1" dirty="0" smtClean="0"/>
              <a:t>:</a:t>
            </a:r>
          </a:p>
          <a:p>
            <a:pPr marL="0" indent="0" algn="just" rtl="1">
              <a:buNone/>
            </a:pPr>
            <a:endParaRPr lang="ar-DZ" sz="1500" b="1" dirty="0" smtClean="0"/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800" b="1" dirty="0" smtClean="0"/>
              <a:t>►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B3+B4+B5+ … </a:t>
            </a:r>
            <a:r>
              <a:rPr lang="fr-FR" sz="3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B749+B750</a:t>
            </a:r>
            <a:endParaRPr lang="ar-DZ" sz="36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  <p:sp>
        <p:nvSpPr>
          <p:cNvPr id="7" name="Rectangle 6"/>
          <p:cNvSpPr/>
          <p:nvPr/>
        </p:nvSpPr>
        <p:spPr>
          <a:xfrm>
            <a:off x="5735960" y="1734993"/>
            <a:ext cx="262539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صِّــيَ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غ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46674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7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4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</a:t>
            </a:r>
            <a:r>
              <a:rPr lang="ar-DZ" sz="4800" b="1" dirty="0">
                <a:solidFill>
                  <a:srgbClr val="00B050"/>
                </a:solidFill>
              </a:rPr>
              <a:t>فــوائـــد </a:t>
            </a:r>
            <a:r>
              <a:rPr lang="ar-DZ" sz="4800" b="1" dirty="0" smtClean="0">
                <a:solidFill>
                  <a:srgbClr val="00B050"/>
                </a:solidFill>
              </a:rPr>
              <a:t>اســتــعــمــال </a:t>
            </a:r>
            <a:r>
              <a:rPr lang="ar-DZ" sz="4800" b="1" dirty="0">
                <a:solidFill>
                  <a:srgbClr val="00B050"/>
                </a:solidFill>
              </a:rPr>
              <a:t>الــدَوَالّ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2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 تــبــســيــط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</a:t>
            </a:r>
            <a:endParaRPr lang="fr-FR" sz="4000" baseline="-250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/>
              <a:t>مــثــال</a:t>
            </a:r>
            <a:r>
              <a:rPr lang="ar-DZ" sz="4000" b="1" baseline="-25000" dirty="0"/>
              <a:t>1</a:t>
            </a:r>
            <a:r>
              <a:rPr lang="ar-DZ" sz="4000" b="1" dirty="0"/>
              <a:t>  </a:t>
            </a:r>
            <a:r>
              <a:rPr lang="ar-DZ" sz="4000" b="1" dirty="0" smtClean="0"/>
              <a:t>:</a:t>
            </a:r>
          </a:p>
          <a:p>
            <a:pPr marL="0" indent="0" algn="just" rtl="1">
              <a:buNone/>
            </a:pPr>
            <a:endParaRPr lang="ar-DZ" sz="1500" b="1" dirty="0" smtClean="0"/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800" b="1" dirty="0" smtClean="0"/>
              <a:t>►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B3+B4+B5+ … </a:t>
            </a:r>
            <a:r>
              <a:rPr lang="fr-FR" sz="3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B749+B750</a:t>
            </a:r>
            <a:endParaRPr lang="ar-DZ" sz="36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  <p:sp>
        <p:nvSpPr>
          <p:cNvPr id="7" name="Rectangle 6"/>
          <p:cNvSpPr/>
          <p:nvPr/>
        </p:nvSpPr>
        <p:spPr>
          <a:xfrm>
            <a:off x="5735960" y="1734993"/>
            <a:ext cx="262539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صِّــيَ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غ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338356" y="4099614"/>
            <a:ext cx="410445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FF0000"/>
                </a:solidFill>
              </a:rPr>
              <a:t>﴿</a:t>
            </a:r>
            <a:r>
              <a:rPr lang="en-US" sz="4000" b="1" dirty="0" smtClean="0">
                <a:solidFill>
                  <a:srgbClr val="FF0000"/>
                </a:solidFill>
              </a:rPr>
              <a:t>B3:B750</a:t>
            </a:r>
            <a:r>
              <a:rPr lang="ar-DZ" sz="4000" b="1" dirty="0" smtClean="0">
                <a:solidFill>
                  <a:srgbClr val="FF0000"/>
                </a:solidFill>
              </a:rPr>
              <a:t>﴾</a:t>
            </a:r>
            <a:r>
              <a:rPr lang="en-US" sz="4000" b="1" dirty="0">
                <a:solidFill>
                  <a:srgbClr val="FF0000"/>
                </a:solidFill>
              </a:rPr>
              <a:t>=Somme</a:t>
            </a:r>
            <a:endParaRPr lang="fr-FR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61335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7" grpId="0" animBg="1"/>
      <p:bldP spid="10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4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</a:t>
            </a:r>
            <a:r>
              <a:rPr lang="ar-DZ" sz="4800" b="1" dirty="0">
                <a:solidFill>
                  <a:srgbClr val="00B050"/>
                </a:solidFill>
              </a:rPr>
              <a:t>فــوائـــد </a:t>
            </a:r>
            <a:r>
              <a:rPr lang="ar-DZ" sz="4800" b="1" dirty="0" smtClean="0">
                <a:solidFill>
                  <a:srgbClr val="00B050"/>
                </a:solidFill>
              </a:rPr>
              <a:t>اســتــعــمــال الــدَوَالّ ــ تــابــع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2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تــنــفــيــذ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حــســابــات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</a:rPr>
              <a:t>أَوْ لَا</a:t>
            </a:r>
            <a:r>
              <a:rPr lang="ar-DZ" sz="4000" b="1" dirty="0"/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تــنــفــيــذهـا بـالـصِّــيَــغِ الـعَـــادِيَّـــة </a:t>
            </a:r>
          </a:p>
          <a:p>
            <a:pPr marL="0" indent="0" algn="just" rtl="1">
              <a:lnSpc>
                <a:spcPct val="150000"/>
              </a:lnSpc>
              <a:buNone/>
            </a:pPr>
            <a:endParaRPr lang="fr-FR" sz="1500" baseline="-250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مــثــال</a:t>
            </a:r>
            <a:r>
              <a:rPr lang="ar-DZ" sz="40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:</a:t>
            </a:r>
            <a:r>
              <a:rPr lang="ar-DZ" sz="1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ar-DZ" sz="38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486608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4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</a:t>
            </a:r>
            <a:r>
              <a:rPr lang="ar-DZ" sz="4800" b="1" dirty="0">
                <a:solidFill>
                  <a:srgbClr val="00B050"/>
                </a:solidFill>
              </a:rPr>
              <a:t>فــوائـــد </a:t>
            </a:r>
            <a:r>
              <a:rPr lang="ar-DZ" sz="4800" b="1" dirty="0" smtClean="0">
                <a:solidFill>
                  <a:srgbClr val="00B050"/>
                </a:solidFill>
              </a:rPr>
              <a:t>اســتــعــمــال الــدَوَالّ ــ تــابــع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2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تــنــفــيــذ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حــســابــات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</a:rPr>
              <a:t>أَوْ لَا</a:t>
            </a:r>
            <a:r>
              <a:rPr lang="ar-DZ" sz="4000" b="1" dirty="0"/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تــنــفــيــذهـا بـالـصِّــيَــغِ الـعَـــادِيَّـــة </a:t>
            </a:r>
          </a:p>
          <a:p>
            <a:pPr marL="0" indent="0" algn="just" rtl="1">
              <a:lnSpc>
                <a:spcPct val="150000"/>
              </a:lnSpc>
              <a:buNone/>
            </a:pPr>
            <a:endParaRPr lang="fr-FR" sz="1500" baseline="-250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مــثــال</a:t>
            </a:r>
            <a:r>
              <a:rPr lang="ar-DZ" sz="40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:</a:t>
            </a:r>
            <a:r>
              <a:rPr lang="ar-DZ" sz="1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ar-DZ" sz="38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  <p:sp>
        <p:nvSpPr>
          <p:cNvPr id="7" name="Rectangle 6"/>
          <p:cNvSpPr/>
          <p:nvPr/>
        </p:nvSpPr>
        <p:spPr>
          <a:xfrm>
            <a:off x="4655840" y="1722929"/>
            <a:ext cx="240460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مُــعَـــقَّـــدَة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11424" y="1722929"/>
            <a:ext cx="198467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يُــمْـكِــنُ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7009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7" grpId="0" animBg="1"/>
      <p:bldP spid="8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4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</a:t>
            </a:r>
            <a:r>
              <a:rPr lang="ar-DZ" sz="4800" b="1" dirty="0">
                <a:solidFill>
                  <a:srgbClr val="00B050"/>
                </a:solidFill>
              </a:rPr>
              <a:t>فــوائـــد </a:t>
            </a:r>
            <a:r>
              <a:rPr lang="ar-DZ" sz="4800" b="1" dirty="0" smtClean="0">
                <a:solidFill>
                  <a:srgbClr val="00B050"/>
                </a:solidFill>
              </a:rPr>
              <a:t>اســتــعــمــال الــدَوَالّ ــ تــابــع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2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تــنــفــيــذ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حــســابــات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</a:rPr>
              <a:t>أَوْ لَا</a:t>
            </a:r>
            <a:r>
              <a:rPr lang="ar-DZ" sz="4000" b="1" dirty="0"/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تــنــفــيــذهـا بـالـصِّــيَــغِ الـعَـــادِيَّـــة </a:t>
            </a:r>
          </a:p>
          <a:p>
            <a:pPr marL="0" indent="0" algn="just" rtl="1">
              <a:lnSpc>
                <a:spcPct val="150000"/>
              </a:lnSpc>
              <a:buNone/>
            </a:pPr>
            <a:endParaRPr lang="fr-FR" sz="1500" baseline="-250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مــثــال</a:t>
            </a:r>
            <a:r>
              <a:rPr lang="ar-DZ" sz="40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:</a:t>
            </a:r>
            <a:r>
              <a:rPr lang="ar-DZ" sz="1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ar-DZ" sz="38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  <p:sp>
        <p:nvSpPr>
          <p:cNvPr id="7" name="Rectangle 6"/>
          <p:cNvSpPr/>
          <p:nvPr/>
        </p:nvSpPr>
        <p:spPr>
          <a:xfrm>
            <a:off x="4655840" y="1722929"/>
            <a:ext cx="240460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مُــعَـــقَّـــدَة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108884" y="3931367"/>
            <a:ext cx="436338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FF0000"/>
                </a:solidFill>
              </a:rPr>
              <a:t>﴿C2:E7﴾=Max</a:t>
            </a:r>
            <a:endParaRPr lang="fr-FR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11424" y="1722929"/>
            <a:ext cx="198467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يُــمْـكِــنُ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6265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7" grpId="0" animBg="1"/>
      <p:bldP spid="10" grpId="0" animBg="1"/>
      <p:bldP spid="8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4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</a:t>
            </a:r>
            <a:r>
              <a:rPr lang="ar-DZ" sz="4800" b="1" dirty="0">
                <a:solidFill>
                  <a:srgbClr val="00B050"/>
                </a:solidFill>
              </a:rPr>
              <a:t>فــوائـــد </a:t>
            </a:r>
            <a:r>
              <a:rPr lang="ar-DZ" sz="4800" b="1" dirty="0" smtClean="0">
                <a:solidFill>
                  <a:srgbClr val="00B050"/>
                </a:solidFill>
              </a:rPr>
              <a:t>اســتــعــمــال الــدَوَالّ ــ تــابــع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2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تــوفــيــر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إمـكــانــيــة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</a:rPr>
              <a:t>عــنــد إجـــراء الـعــمــلــيــات وذلـك بـاســتــغـــلال </a:t>
            </a:r>
            <a:r>
              <a:rPr lang="ar-DZ" sz="4000" b="1" dirty="0" smtClean="0">
                <a:solidFill>
                  <a:srgbClr val="002060"/>
                </a:solidFill>
              </a:rPr>
              <a:t>الـدَّالَـــةَ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مــا يــســمــح بـاتِّـخــاذِ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الــقـــرارات الـمــنـــاســبــة .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009731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4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</a:t>
            </a:r>
            <a:r>
              <a:rPr lang="ar-DZ" sz="4800" b="1" dirty="0">
                <a:solidFill>
                  <a:srgbClr val="00B050"/>
                </a:solidFill>
              </a:rPr>
              <a:t>فــوائـــد </a:t>
            </a:r>
            <a:r>
              <a:rPr lang="ar-DZ" sz="4800" b="1" dirty="0" smtClean="0">
                <a:solidFill>
                  <a:srgbClr val="00B050"/>
                </a:solidFill>
              </a:rPr>
              <a:t>اســتــعــمــال الــدَوَالّ ــ تــابــع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2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تــوفــيــر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إمـكــانــيــة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</a:rPr>
              <a:t>عــنــد إجـــراء الـعــمــلــيــات وذلـك بـاســتــغـــلال </a:t>
            </a:r>
            <a:r>
              <a:rPr lang="ar-DZ" sz="4000" b="1" dirty="0" smtClean="0">
                <a:solidFill>
                  <a:srgbClr val="002060"/>
                </a:solidFill>
              </a:rPr>
              <a:t>الـدَّالَـــةَ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مــا يــســمــح بـاتِّـخــاذِ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الــقـــرارات الـمــنـــاســبــة .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  <p:sp>
        <p:nvSpPr>
          <p:cNvPr id="7" name="Rectangle 6"/>
          <p:cNvSpPr/>
          <p:nvPr/>
        </p:nvSpPr>
        <p:spPr>
          <a:xfrm>
            <a:off x="2135560" y="1700808"/>
            <a:ext cx="417646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إِدْخَـــال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الــشُـــرُوطٍ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0866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7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4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</a:t>
            </a:r>
            <a:r>
              <a:rPr lang="ar-DZ" sz="4800" b="1" dirty="0">
                <a:solidFill>
                  <a:srgbClr val="00B050"/>
                </a:solidFill>
              </a:rPr>
              <a:t>فــوائـــد </a:t>
            </a:r>
            <a:r>
              <a:rPr lang="ar-DZ" sz="4800" b="1" dirty="0" smtClean="0">
                <a:solidFill>
                  <a:srgbClr val="00B050"/>
                </a:solidFill>
              </a:rPr>
              <a:t>اســتــعــمــال الــدَوَالّ ــ تــابــع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2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تــوفــيــر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إمـكــانــيــة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</a:rPr>
              <a:t>عــنــد إجـــراء الـعــمــلــيــات وذلـك بـاســتــغـــلال </a:t>
            </a:r>
            <a:r>
              <a:rPr lang="ar-DZ" sz="4000" b="1" dirty="0" smtClean="0">
                <a:solidFill>
                  <a:srgbClr val="002060"/>
                </a:solidFill>
              </a:rPr>
              <a:t>الـدَّالَـــةَ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مــا يــســمــح بـاتِّـخــاذِ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الــقـــرارات الـمــنـــاســبــة .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  <p:sp>
        <p:nvSpPr>
          <p:cNvPr id="7" name="Rectangle 6"/>
          <p:cNvSpPr/>
          <p:nvPr/>
        </p:nvSpPr>
        <p:spPr>
          <a:xfrm>
            <a:off x="2135560" y="1700808"/>
            <a:ext cx="417646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إِدْخَـــال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الــشُـــرُوطٍ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847747" y="3524115"/>
            <a:ext cx="432048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FF0000"/>
                </a:solidFill>
              </a:rPr>
              <a:t>الــشَّــرْطِـــيَــة  </a:t>
            </a:r>
            <a:r>
              <a:rPr lang="ar-SA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 ) 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</a:t>
            </a:r>
          </a:p>
        </p:txBody>
      </p:sp>
    </p:spTree>
    <p:extLst>
      <p:ext uri="{BB962C8B-B14F-4D97-AF65-F5344CB8AC3E}">
        <p14:creationId xmlns:p14="http://schemas.microsoft.com/office/powerpoint/2010/main" val="482422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7" grpId="0" animBg="1"/>
      <p:bldP spid="10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5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.4 - </a:t>
            </a:r>
            <a:r>
              <a:rPr lang="ar-DZ" sz="4800" b="1" dirty="0">
                <a:solidFill>
                  <a:srgbClr val="00B050"/>
                </a:solidFill>
              </a:rPr>
              <a:t>وَضْـــعِـــــيَــــةٌ </a:t>
            </a:r>
            <a:r>
              <a:rPr lang="ar-DZ" sz="4800" b="1" dirty="0" err="1">
                <a:solidFill>
                  <a:srgbClr val="00B050"/>
                </a:solidFill>
              </a:rPr>
              <a:t>إِدْمَــــاجِــــيَــــةٌ</a:t>
            </a:r>
            <a:r>
              <a:rPr lang="ar-DZ" sz="4800" b="1" dirty="0">
                <a:solidFill>
                  <a:srgbClr val="00B050"/>
                </a:solidFill>
              </a:rPr>
              <a:t> 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600" b="1" u="sng" dirty="0" smtClean="0">
              <a:solidFill>
                <a:srgbClr val="0070C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600" b="1" u="sng" dirty="0" smtClean="0">
                <a:solidFill>
                  <a:srgbClr val="0070C0"/>
                </a:solidFill>
                <a:cs typeface="+mj-cs"/>
              </a:rPr>
              <a:t>نـشــاط 12</a:t>
            </a:r>
            <a:r>
              <a:rPr lang="ar-DZ" sz="4600" b="1" dirty="0" smtClean="0">
                <a:solidFill>
                  <a:srgbClr val="0070C0"/>
                </a:solidFill>
                <a:cs typeface="+mj-cs"/>
              </a:rPr>
              <a:t> :</a:t>
            </a:r>
            <a:r>
              <a:rPr lang="fr-FR" sz="4600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ar-DZ" sz="4600" b="1" dirty="0" smtClean="0">
                <a:cs typeface="+mj-cs"/>
              </a:rPr>
              <a:t>أَكْــمِــلْ بَــيَــانَــاتِ الــجَـــدْوَلِ الــتَــالِـي بِـاِسْـــتِــعْـــمَـــالِ </a:t>
            </a:r>
            <a:r>
              <a:rPr lang="ar-DZ" sz="4600" b="1" u="sng" dirty="0" smtClean="0">
                <a:solidFill>
                  <a:srgbClr val="FF0000"/>
                </a:solidFill>
                <a:cs typeface="+mj-cs"/>
              </a:rPr>
              <a:t>مَــرَاجِــعِ الــخَــلَايَــــا</a:t>
            </a:r>
            <a:r>
              <a:rPr lang="ar-DZ" sz="46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600" b="1" dirty="0" smtClean="0">
                <a:cs typeface="+mj-cs"/>
              </a:rPr>
              <a:t>ولَــيْــسَ </a:t>
            </a:r>
            <a:r>
              <a:rPr lang="ar-DZ" sz="4600" b="1" u="sng" dirty="0" smtClean="0">
                <a:cs typeface="+mj-cs"/>
              </a:rPr>
              <a:t>الــقِـــيَــمَ الــمَــحْـــفُــــوظَـــةَ </a:t>
            </a:r>
            <a:r>
              <a:rPr lang="ar-DZ" sz="4600" b="1" dirty="0" smtClean="0">
                <a:cs typeface="+mj-cs"/>
              </a:rPr>
              <a:t>فِــيـهَـا</a:t>
            </a:r>
            <a:r>
              <a:rPr lang="fr-FR" sz="4600" b="1" dirty="0" smtClean="0">
                <a:cs typeface="+mj-cs"/>
              </a:rPr>
              <a:t> </a:t>
            </a:r>
            <a:r>
              <a:rPr lang="ar-SA" sz="4600" b="1" dirty="0" smtClean="0">
                <a:cs typeface="+mj-cs"/>
              </a:rPr>
              <a:t>بِــحَـــيْـــث </a:t>
            </a:r>
            <a:r>
              <a:rPr lang="ar-SA" sz="4600" b="1" dirty="0" smtClean="0">
                <a:solidFill>
                  <a:srgbClr val="0070C0"/>
                </a:solidFill>
                <a:cs typeface="+mj-cs"/>
              </a:rPr>
              <a:t>مِ</a:t>
            </a:r>
            <a:r>
              <a:rPr lang="ar-DZ" sz="4600" b="1" dirty="0">
                <a:solidFill>
                  <a:srgbClr val="0070C0"/>
                </a:solidFill>
                <a:cs typeface="+mj-cs"/>
              </a:rPr>
              <a:t>ـ</a:t>
            </a:r>
            <a:r>
              <a:rPr lang="ar-SA" sz="4600" b="1" dirty="0" smtClean="0">
                <a:solidFill>
                  <a:srgbClr val="0070C0"/>
                </a:solidFill>
                <a:cs typeface="+mj-cs"/>
              </a:rPr>
              <a:t>ـنْ الــخَـــلِـــيـَــةِ   </a:t>
            </a:r>
            <a:r>
              <a:rPr lang="ar-SA" sz="4600" b="1" dirty="0">
                <a:solidFill>
                  <a:srgbClr val="0070C0"/>
                </a:solidFill>
                <a:cs typeface="+mj-cs"/>
              </a:rPr>
              <a:t>①  </a:t>
            </a:r>
            <a:r>
              <a:rPr lang="ar-SA" sz="4600" b="1" dirty="0" smtClean="0">
                <a:solidFill>
                  <a:srgbClr val="0070C0"/>
                </a:solidFill>
                <a:cs typeface="+mj-cs"/>
              </a:rPr>
              <a:t>إِلَـى </a:t>
            </a:r>
            <a:r>
              <a:rPr lang="ar-SA" sz="4600" b="1" dirty="0">
                <a:solidFill>
                  <a:srgbClr val="0070C0"/>
                </a:solidFill>
              </a:rPr>
              <a:t>الــخَـــلِـــيـَــةِ </a:t>
            </a:r>
            <a:r>
              <a:rPr lang="ar-SA" sz="4600" b="1" dirty="0">
                <a:solidFill>
                  <a:srgbClr val="0070C0"/>
                </a:solidFill>
                <a:cs typeface="+mj-cs"/>
              </a:rPr>
              <a:t>③  </a:t>
            </a:r>
            <a:r>
              <a:rPr lang="ar-SA" sz="4600" b="1" dirty="0" smtClean="0">
                <a:cs typeface="+mj-cs"/>
              </a:rPr>
              <a:t>يَــقُــومُ الــطَـــالِـــبُ</a:t>
            </a:r>
            <a:r>
              <a:rPr lang="ar-DZ" sz="4600" b="1" dirty="0" smtClean="0">
                <a:cs typeface="+mj-cs"/>
              </a:rPr>
              <a:t> </a:t>
            </a:r>
            <a:r>
              <a:rPr lang="ar-DZ" sz="4800" b="1" dirty="0" smtClean="0"/>
              <a:t>بـإِدْرَاجِ</a:t>
            </a:r>
            <a:r>
              <a:rPr lang="ar-DZ" sz="4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850324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5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.4 - </a:t>
            </a:r>
            <a:r>
              <a:rPr lang="ar-DZ" sz="4800" b="1" dirty="0" smtClean="0">
                <a:solidFill>
                  <a:srgbClr val="00B050"/>
                </a:solidFill>
              </a:rPr>
              <a:t>وَضْـــعِـــــيَــــةٌ </a:t>
            </a:r>
            <a:r>
              <a:rPr lang="ar-DZ" sz="4800" b="1" dirty="0" err="1" smtClean="0">
                <a:solidFill>
                  <a:srgbClr val="00B050"/>
                </a:solidFill>
              </a:rPr>
              <a:t>إِدْمَــــاجِــــيَــــةٌ</a:t>
            </a:r>
            <a:r>
              <a:rPr lang="ar-DZ" sz="4800" b="1" dirty="0" smtClean="0">
                <a:solidFill>
                  <a:srgbClr val="00B050"/>
                </a:solidFill>
              </a:rPr>
              <a:t>  ـــ  تـــابــــع 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600" b="1" u="sng" dirty="0" smtClean="0">
              <a:solidFill>
                <a:srgbClr val="0070C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الـصِّــيـغَــةِ الــمُــنَـــاسِــبَــةِ</a:t>
            </a:r>
            <a:r>
              <a:rPr lang="ar-DZ" sz="4000" b="1" dirty="0" smtClean="0">
                <a:cs typeface="+mj-cs"/>
              </a:rPr>
              <a:t>، بَــيْــنَــمَـا </a:t>
            </a:r>
            <a:r>
              <a:rPr lang="ar-SA" sz="4000" b="1" dirty="0" smtClean="0">
                <a:solidFill>
                  <a:srgbClr val="FF0000"/>
                </a:solidFill>
                <a:cs typeface="+mj-cs"/>
              </a:rPr>
              <a:t>مِـنْ ا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ل</a:t>
            </a:r>
            <a:r>
              <a:rPr lang="ar-SA" sz="4000" b="1" dirty="0" smtClean="0">
                <a:solidFill>
                  <a:srgbClr val="FF0000"/>
                </a:solidFill>
                <a:cs typeface="+mj-cs"/>
              </a:rPr>
              <a:t>ـخَــلِـــيـَـةِ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en-US" sz="4000" b="1" dirty="0">
                <a:solidFill>
                  <a:srgbClr val="FF0000"/>
                </a:solidFill>
                <a:cs typeface="+mj-cs"/>
              </a:rPr>
              <a:t>④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إِلَـى </a:t>
            </a:r>
            <a:r>
              <a:rPr lang="ar-SA" sz="4000" b="1" dirty="0">
                <a:solidFill>
                  <a:srgbClr val="FF0000"/>
                </a:solidFill>
                <a:cs typeface="+mj-cs"/>
              </a:rPr>
              <a:t>ا</a:t>
            </a:r>
            <a:r>
              <a:rPr lang="ar-DZ" sz="4000" b="1" dirty="0">
                <a:solidFill>
                  <a:srgbClr val="FF0000"/>
                </a:solidFill>
                <a:cs typeface="+mj-cs"/>
              </a:rPr>
              <a:t>ل</a:t>
            </a:r>
            <a:r>
              <a:rPr lang="ar-SA" sz="4000" b="1" dirty="0" smtClean="0">
                <a:solidFill>
                  <a:srgbClr val="FF0000"/>
                </a:solidFill>
                <a:cs typeface="+mj-cs"/>
              </a:rPr>
              <a:t>ـخَــلِـــيـَـةِ</a:t>
            </a:r>
            <a:r>
              <a:rPr lang="en-US" sz="4000" b="1" dirty="0" smtClean="0">
                <a:solidFill>
                  <a:srgbClr val="FF0000"/>
                </a:solidFill>
                <a:cs typeface="+mj-cs"/>
              </a:rPr>
              <a:t>⑦ </a:t>
            </a:r>
            <a:r>
              <a:rPr lang="ar-DZ" sz="4000" b="1" dirty="0" smtClean="0">
                <a:cs typeface="+mj-cs"/>
              </a:rPr>
              <a:t> يَــقُــوم بِـاِسْــتِــغْـــلَالِ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الـدَّالَّـــةِ </a:t>
            </a:r>
            <a:r>
              <a:rPr lang="ar-DZ" sz="4000" b="1" dirty="0">
                <a:solidFill>
                  <a:srgbClr val="FF0000"/>
                </a:solidFill>
                <a:cs typeface="+mj-cs"/>
              </a:rPr>
              <a:t>الــمُــنَـــاسِــبَــةِ </a:t>
            </a:r>
            <a:r>
              <a:rPr lang="ar-DZ" sz="4000" b="1" dirty="0" smtClean="0">
                <a:cs typeface="+mj-cs"/>
              </a:rPr>
              <a:t>عِــــلْــــمًـــا </a:t>
            </a:r>
            <a:r>
              <a:rPr lang="ar-DZ" sz="4000" b="1" dirty="0">
                <a:cs typeface="+mj-cs"/>
              </a:rPr>
              <a:t>أَنَّ </a:t>
            </a:r>
            <a:r>
              <a:rPr lang="ar-DZ" sz="4000" b="1" dirty="0" smtClean="0">
                <a:cs typeface="+mj-cs"/>
              </a:rPr>
              <a:t> :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4000" b="1" u="sng" dirty="0" smtClean="0">
                <a:solidFill>
                  <a:srgbClr val="002060"/>
                </a:solidFill>
                <a:cs typeface="+mj-cs"/>
              </a:rPr>
              <a:t>الــمُــــدَخَّـــــرَات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  </a:t>
            </a:r>
            <a:r>
              <a:rPr lang="en-US" sz="4000" b="1" dirty="0" smtClean="0">
                <a:solidFill>
                  <a:srgbClr val="002060"/>
                </a:solidFill>
                <a:cs typeface="+mj-cs"/>
              </a:rPr>
              <a:t>=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 </a:t>
            </a:r>
            <a:r>
              <a:rPr lang="en-US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الــمَــــدَاخِـــــيــــل  ‒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(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الــمَــصَــارِيـــف الأَسَــاسِــيَّــة +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الــمَــصَــارِيـــف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الـثَــانَــوِيَّــة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)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771279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5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.4 - </a:t>
            </a:r>
            <a:r>
              <a:rPr lang="ar-DZ" sz="4800" b="1" dirty="0" smtClean="0">
                <a:solidFill>
                  <a:srgbClr val="00B050"/>
                </a:solidFill>
              </a:rPr>
              <a:t>وَضْـــعِـــــيَــــةٌ </a:t>
            </a:r>
            <a:r>
              <a:rPr lang="ar-DZ" sz="4800" b="1" dirty="0" err="1" smtClean="0">
                <a:solidFill>
                  <a:srgbClr val="00B050"/>
                </a:solidFill>
              </a:rPr>
              <a:t>إِدْمَــــاجِــــيَــــةٌ</a:t>
            </a:r>
            <a:r>
              <a:rPr lang="ar-DZ" sz="4800" b="1" dirty="0" smtClean="0">
                <a:solidFill>
                  <a:srgbClr val="00B050"/>
                </a:solidFill>
              </a:rPr>
              <a:t>  ـــ  تـــابــــع 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  <p:pic>
        <p:nvPicPr>
          <p:cNvPr id="5" name="Espace réservé du contenu 4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74638"/>
            <a:ext cx="11031016" cy="6081715"/>
          </a:xfrm>
          <a:prstGeom prst="rect">
            <a:avLst/>
          </a:prstGeom>
          <a:ln w="285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883198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5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.4 - </a:t>
            </a:r>
            <a:r>
              <a:rPr lang="ar-DZ" sz="4800" b="1" dirty="0" smtClean="0">
                <a:solidFill>
                  <a:srgbClr val="00B050"/>
                </a:solidFill>
              </a:rPr>
              <a:t>وَضْـــعِـــــيَــــةٌ </a:t>
            </a:r>
            <a:r>
              <a:rPr lang="ar-DZ" sz="4800" b="1" dirty="0" err="1" smtClean="0">
                <a:solidFill>
                  <a:srgbClr val="00B050"/>
                </a:solidFill>
              </a:rPr>
              <a:t>إِدْمَــــاجِــــيَــــةٌ</a:t>
            </a:r>
            <a:r>
              <a:rPr lang="ar-DZ" sz="4800" b="1" dirty="0" smtClean="0">
                <a:solidFill>
                  <a:srgbClr val="00B050"/>
                </a:solidFill>
              </a:rPr>
              <a:t>  ـــ  تـــابــــع 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  <p:pic>
        <p:nvPicPr>
          <p:cNvPr id="5" name="Espace réservé du contenu 4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74638"/>
            <a:ext cx="11031016" cy="6081715"/>
          </a:xfrm>
          <a:prstGeom prst="rect">
            <a:avLst/>
          </a:prstGeom>
          <a:ln w="285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6" name="Rectangle 5"/>
          <p:cNvSpPr/>
          <p:nvPr/>
        </p:nvSpPr>
        <p:spPr>
          <a:xfrm>
            <a:off x="1487488" y="2132857"/>
            <a:ext cx="2160240" cy="576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=C3-D3-E3</a:t>
            </a:r>
            <a:endParaRPr lang="fr-FR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5822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5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.4 - </a:t>
            </a:r>
            <a:r>
              <a:rPr lang="ar-DZ" sz="4800" b="1" dirty="0" smtClean="0">
                <a:solidFill>
                  <a:srgbClr val="00B050"/>
                </a:solidFill>
              </a:rPr>
              <a:t>وَضْـــعِـــــيَــــةٌ </a:t>
            </a:r>
            <a:r>
              <a:rPr lang="ar-DZ" sz="4800" b="1" dirty="0" err="1" smtClean="0">
                <a:solidFill>
                  <a:srgbClr val="00B050"/>
                </a:solidFill>
              </a:rPr>
              <a:t>إِدْمَــــاجِــــيَــــةٌ</a:t>
            </a:r>
            <a:r>
              <a:rPr lang="ar-DZ" sz="4800" b="1" dirty="0" smtClean="0">
                <a:solidFill>
                  <a:srgbClr val="00B050"/>
                </a:solidFill>
              </a:rPr>
              <a:t>  ـــ  تـــابــــع 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  <p:pic>
        <p:nvPicPr>
          <p:cNvPr id="5" name="Espace réservé du contenu 4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74638"/>
            <a:ext cx="11031016" cy="6081715"/>
          </a:xfrm>
          <a:prstGeom prst="rect">
            <a:avLst/>
          </a:prstGeom>
          <a:ln w="285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6" name="Rectangle 5"/>
          <p:cNvSpPr/>
          <p:nvPr/>
        </p:nvSpPr>
        <p:spPr>
          <a:xfrm>
            <a:off x="1487488" y="2132857"/>
            <a:ext cx="2160240" cy="576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=C3-D3-E3</a:t>
            </a:r>
            <a:endParaRPr lang="fr-FR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487488" y="2854625"/>
            <a:ext cx="2160240" cy="57437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=C4-D4-E4</a:t>
            </a:r>
            <a:endParaRPr lang="fr-FR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362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5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.4 - </a:t>
            </a:r>
            <a:r>
              <a:rPr lang="ar-DZ" sz="4800" b="1" dirty="0" smtClean="0">
                <a:solidFill>
                  <a:srgbClr val="00B050"/>
                </a:solidFill>
              </a:rPr>
              <a:t>وَضْـــعِـــــيَــــةٌ </a:t>
            </a:r>
            <a:r>
              <a:rPr lang="ar-DZ" sz="4800" b="1" dirty="0" err="1" smtClean="0">
                <a:solidFill>
                  <a:srgbClr val="00B050"/>
                </a:solidFill>
              </a:rPr>
              <a:t>إِدْمَــــاجِــــيَــــةٌ</a:t>
            </a:r>
            <a:r>
              <a:rPr lang="ar-DZ" sz="4800" b="1" dirty="0" smtClean="0">
                <a:solidFill>
                  <a:srgbClr val="00B050"/>
                </a:solidFill>
              </a:rPr>
              <a:t>  ـــ  تـــابــــع 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  <p:pic>
        <p:nvPicPr>
          <p:cNvPr id="5" name="Espace réservé du contenu 4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74638"/>
            <a:ext cx="11031016" cy="6081715"/>
          </a:xfrm>
          <a:prstGeom prst="rect">
            <a:avLst/>
          </a:prstGeom>
          <a:ln w="285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6" name="Rectangle 5"/>
          <p:cNvSpPr/>
          <p:nvPr/>
        </p:nvSpPr>
        <p:spPr>
          <a:xfrm>
            <a:off x="1487488" y="2132857"/>
            <a:ext cx="2160240" cy="576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=C3-D3-E3</a:t>
            </a:r>
            <a:endParaRPr lang="fr-FR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487488" y="2854625"/>
            <a:ext cx="2160240" cy="57437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=C4-D4-E4</a:t>
            </a:r>
            <a:endParaRPr lang="fr-FR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487488" y="3519427"/>
            <a:ext cx="2160240" cy="57437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=C5-D5-E5</a:t>
            </a:r>
            <a:endParaRPr lang="fr-FR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5500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8" grpId="0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5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.4 - </a:t>
            </a:r>
            <a:r>
              <a:rPr lang="ar-DZ" sz="4800" b="1" dirty="0" smtClean="0">
                <a:solidFill>
                  <a:srgbClr val="00B050"/>
                </a:solidFill>
              </a:rPr>
              <a:t>وَضْـــعِـــــيَــــةٌ </a:t>
            </a:r>
            <a:r>
              <a:rPr lang="ar-DZ" sz="4800" b="1" dirty="0" err="1" smtClean="0">
                <a:solidFill>
                  <a:srgbClr val="00B050"/>
                </a:solidFill>
              </a:rPr>
              <a:t>إِدْمَــــاجِــــيَــــةٌ</a:t>
            </a:r>
            <a:r>
              <a:rPr lang="ar-DZ" sz="4800" b="1" dirty="0" smtClean="0">
                <a:solidFill>
                  <a:srgbClr val="00B050"/>
                </a:solidFill>
              </a:rPr>
              <a:t>  ـــ  تـــابــــع 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  <p:pic>
        <p:nvPicPr>
          <p:cNvPr id="5" name="Espace réservé du contenu 4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74638"/>
            <a:ext cx="11031016" cy="6081715"/>
          </a:xfrm>
          <a:prstGeom prst="rect">
            <a:avLst/>
          </a:prstGeom>
          <a:ln w="285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6" name="Rectangle 5"/>
          <p:cNvSpPr/>
          <p:nvPr/>
        </p:nvSpPr>
        <p:spPr>
          <a:xfrm>
            <a:off x="1487488" y="2132857"/>
            <a:ext cx="2160240" cy="576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=C3-D3-E3</a:t>
            </a:r>
            <a:endParaRPr lang="fr-FR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487488" y="2854625"/>
            <a:ext cx="2160240" cy="57437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=C4-D4-E4</a:t>
            </a:r>
            <a:endParaRPr lang="fr-FR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487488" y="3519427"/>
            <a:ext cx="2160240" cy="57437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=C5-D5-E5</a:t>
            </a:r>
            <a:endParaRPr lang="fr-FR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844684" y="4979805"/>
            <a:ext cx="2592288" cy="57437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2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=Somme(C3:C5)</a:t>
            </a:r>
            <a:endParaRPr lang="fr-FR" sz="2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4991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5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.4 - </a:t>
            </a:r>
            <a:r>
              <a:rPr lang="ar-DZ" sz="4800" b="1" dirty="0" smtClean="0">
                <a:solidFill>
                  <a:srgbClr val="00B050"/>
                </a:solidFill>
              </a:rPr>
              <a:t>وَضْـــعِـــــيَــــةٌ </a:t>
            </a:r>
            <a:r>
              <a:rPr lang="ar-DZ" sz="4800" b="1" dirty="0" err="1" smtClean="0">
                <a:solidFill>
                  <a:srgbClr val="00B050"/>
                </a:solidFill>
              </a:rPr>
              <a:t>إِدْمَــــاجِــــيَــــةٌ</a:t>
            </a:r>
            <a:r>
              <a:rPr lang="ar-DZ" sz="4800" b="1" dirty="0" smtClean="0">
                <a:solidFill>
                  <a:srgbClr val="00B050"/>
                </a:solidFill>
              </a:rPr>
              <a:t>  ـــ  تـــابــــع 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  <p:pic>
        <p:nvPicPr>
          <p:cNvPr id="5" name="Espace réservé du contenu 4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74638"/>
            <a:ext cx="11031016" cy="6081715"/>
          </a:xfrm>
          <a:prstGeom prst="rect">
            <a:avLst/>
          </a:prstGeom>
          <a:ln w="285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6" name="Rectangle 5"/>
          <p:cNvSpPr/>
          <p:nvPr/>
        </p:nvSpPr>
        <p:spPr>
          <a:xfrm>
            <a:off x="1487488" y="2132857"/>
            <a:ext cx="2160240" cy="576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=C3-D3-E3</a:t>
            </a:r>
            <a:endParaRPr lang="fr-FR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487488" y="2854625"/>
            <a:ext cx="2160240" cy="57437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=C4-D4-E4</a:t>
            </a:r>
            <a:endParaRPr lang="fr-FR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487488" y="3519427"/>
            <a:ext cx="2160240" cy="57437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=C5-D5-E5</a:t>
            </a:r>
            <a:endParaRPr lang="fr-FR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844684" y="4979805"/>
            <a:ext cx="2592288" cy="57437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2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=Somme(C3:C5)</a:t>
            </a:r>
            <a:endParaRPr lang="fr-FR" sz="2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015880" y="5679510"/>
            <a:ext cx="3384376" cy="57437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2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=Max(D3:D5 ; E3:E5)</a:t>
            </a:r>
            <a:endParaRPr lang="fr-FR" sz="2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Connecteur droit avec flèche 12"/>
          <p:cNvCxnSpPr/>
          <p:nvPr/>
        </p:nvCxnSpPr>
        <p:spPr>
          <a:xfrm flipH="1" flipV="1">
            <a:off x="6938766" y="5319147"/>
            <a:ext cx="309362" cy="414109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2834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5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.4 - </a:t>
            </a:r>
            <a:r>
              <a:rPr lang="ar-DZ" sz="4800" b="1" dirty="0" smtClean="0">
                <a:solidFill>
                  <a:srgbClr val="00B050"/>
                </a:solidFill>
              </a:rPr>
              <a:t>وَضْـــعِـــــيَــــةٌ </a:t>
            </a:r>
            <a:r>
              <a:rPr lang="ar-DZ" sz="4800" b="1" dirty="0" err="1" smtClean="0">
                <a:solidFill>
                  <a:srgbClr val="00B050"/>
                </a:solidFill>
              </a:rPr>
              <a:t>إِدْمَــــاجِــــيَــــةٌ</a:t>
            </a:r>
            <a:r>
              <a:rPr lang="ar-DZ" sz="4800" b="1" dirty="0" smtClean="0">
                <a:solidFill>
                  <a:srgbClr val="00B050"/>
                </a:solidFill>
              </a:rPr>
              <a:t>  ـــ  تـــابــــع 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  <p:pic>
        <p:nvPicPr>
          <p:cNvPr id="5" name="Espace réservé du contenu 4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74638"/>
            <a:ext cx="11031016" cy="6081715"/>
          </a:xfrm>
          <a:prstGeom prst="rect">
            <a:avLst/>
          </a:prstGeom>
          <a:ln w="285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6" name="Rectangle 5"/>
          <p:cNvSpPr/>
          <p:nvPr/>
        </p:nvSpPr>
        <p:spPr>
          <a:xfrm>
            <a:off x="1487488" y="2132857"/>
            <a:ext cx="2160240" cy="576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=C3-D3-E3</a:t>
            </a:r>
            <a:endParaRPr lang="fr-FR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487488" y="2854625"/>
            <a:ext cx="2160240" cy="57437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=C4-D4-E4</a:t>
            </a:r>
            <a:endParaRPr lang="fr-FR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487488" y="3519427"/>
            <a:ext cx="2160240" cy="57437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=C5-D5-E5</a:t>
            </a:r>
            <a:endParaRPr lang="fr-FR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844684" y="4979805"/>
            <a:ext cx="2592288" cy="57437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2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=Somme(C3:C5)</a:t>
            </a:r>
            <a:endParaRPr lang="fr-FR" sz="2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015880" y="5679510"/>
            <a:ext cx="3384376" cy="57437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2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=Max(D3:D5 ; E3:E5)</a:t>
            </a:r>
            <a:endParaRPr lang="fr-FR" sz="2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256664" y="4958112"/>
            <a:ext cx="3384376" cy="57437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2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=Min(D3:D5 ; E3:E5)</a:t>
            </a:r>
            <a:endParaRPr lang="fr-FR" sz="2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Connecteur droit avec flèche 12"/>
          <p:cNvCxnSpPr/>
          <p:nvPr/>
        </p:nvCxnSpPr>
        <p:spPr>
          <a:xfrm flipH="1" flipV="1">
            <a:off x="6938766" y="5319147"/>
            <a:ext cx="309362" cy="414109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1014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5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.4 - </a:t>
            </a:r>
            <a:r>
              <a:rPr lang="ar-DZ" sz="4800" b="1" dirty="0" smtClean="0">
                <a:solidFill>
                  <a:srgbClr val="00B050"/>
                </a:solidFill>
              </a:rPr>
              <a:t>وَضْـــعِـــــيَــــةٌ </a:t>
            </a:r>
            <a:r>
              <a:rPr lang="ar-DZ" sz="4800" b="1" dirty="0" err="1" smtClean="0">
                <a:solidFill>
                  <a:srgbClr val="00B050"/>
                </a:solidFill>
              </a:rPr>
              <a:t>إِدْمَــــاجِــــيَــــةٌ</a:t>
            </a:r>
            <a:r>
              <a:rPr lang="ar-DZ" sz="4800" b="1" dirty="0" smtClean="0">
                <a:solidFill>
                  <a:srgbClr val="00B050"/>
                </a:solidFill>
              </a:rPr>
              <a:t>  ـــ  تـــابــــع 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  <p:pic>
        <p:nvPicPr>
          <p:cNvPr id="5" name="Espace réservé du contenu 4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74638"/>
            <a:ext cx="11031016" cy="6081715"/>
          </a:xfrm>
          <a:prstGeom prst="rect">
            <a:avLst/>
          </a:prstGeom>
          <a:ln w="285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6" name="Rectangle 5"/>
          <p:cNvSpPr/>
          <p:nvPr/>
        </p:nvSpPr>
        <p:spPr>
          <a:xfrm>
            <a:off x="1487488" y="2132857"/>
            <a:ext cx="2160240" cy="576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=C3-D3-E3</a:t>
            </a:r>
            <a:endParaRPr lang="fr-FR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487488" y="2854625"/>
            <a:ext cx="2160240" cy="57437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=C4-D4-E4</a:t>
            </a:r>
            <a:endParaRPr lang="fr-FR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487488" y="3519427"/>
            <a:ext cx="2160240" cy="57437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=C5-D5-E5</a:t>
            </a:r>
            <a:endParaRPr lang="fr-FR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844684" y="4979805"/>
            <a:ext cx="2592288" cy="57437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2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=Somme(C3:C5)</a:t>
            </a:r>
            <a:endParaRPr lang="fr-FR" sz="2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015880" y="5679510"/>
            <a:ext cx="3384376" cy="57437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2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=Max(D3:D5 ; E3:E5)</a:t>
            </a:r>
            <a:endParaRPr lang="fr-FR" sz="2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256664" y="4958112"/>
            <a:ext cx="3384376" cy="57437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2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=Min(D3:D5 ; E3:E5)</a:t>
            </a:r>
            <a:endParaRPr lang="fr-FR" sz="2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271464" y="5657232"/>
            <a:ext cx="2736304" cy="57437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2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=Moyenne(F3:F5)</a:t>
            </a:r>
            <a:endParaRPr lang="fr-FR" sz="2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Connecteur droit avec flèche 12"/>
          <p:cNvCxnSpPr/>
          <p:nvPr/>
        </p:nvCxnSpPr>
        <p:spPr>
          <a:xfrm flipH="1" flipV="1">
            <a:off x="6938766" y="5319147"/>
            <a:ext cx="309362" cy="414109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Connecteur droit avec flèche 14"/>
          <p:cNvCxnSpPr/>
          <p:nvPr/>
        </p:nvCxnSpPr>
        <p:spPr>
          <a:xfrm flipV="1">
            <a:off x="2056447" y="5299044"/>
            <a:ext cx="295137" cy="434212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0787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fr-FR" sz="5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ar-DZ" sz="5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ar-DZ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5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فَـــرْز </a:t>
            </a:r>
            <a:r>
              <a:rPr lang="ar-DZ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الـبــيــانــات  </a:t>
            </a:r>
            <a:r>
              <a:rPr lang="fr-FR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 Tri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نـشــاط 12</a:t>
            </a:r>
            <a:r>
              <a:rPr lang="ar-DZ" sz="54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: </a:t>
            </a:r>
            <a:r>
              <a:rPr lang="ar-DZ" sz="1000" b="1" dirty="0" smtClean="0">
                <a:cs typeface="+mj-cs"/>
              </a:rPr>
              <a:t> </a:t>
            </a: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عَــــرِّفْ </a:t>
            </a:r>
            <a:r>
              <a:rPr lang="ar-DZ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فَــــرْزَ الــبــيــانـــات ثُـــمَ حَـــدِّدْ خـــصـــائـــصــه</a:t>
            </a:r>
            <a:endParaRPr lang="ar-DZ" sz="4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229436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.5 </a:t>
            </a:r>
            <a:r>
              <a:rPr lang="ar-DZ" sz="4800" b="1" dirty="0">
                <a:solidFill>
                  <a:srgbClr val="00B050"/>
                </a:solidFill>
              </a:rPr>
              <a:t>تـعـــريــف فـــرز الـبــيــانــات 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r>
              <a:rPr lang="ar-SA" sz="36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فـــرز بــيــانــات جـــدول هــو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تــرتــيــب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تــصــاعـــديـــا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تـــنــازلـــيـــا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حَـــسْـــبَ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الـعـــدديـــة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الــنــصــيــة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... ) الــمــوجـــودة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فِـي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982763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.5 </a:t>
            </a:r>
            <a:r>
              <a:rPr lang="ar-DZ" sz="4800" b="1" dirty="0">
                <a:solidFill>
                  <a:srgbClr val="00B050"/>
                </a:solidFill>
              </a:rPr>
              <a:t>تـعـــريــف فـــرز الـبــيــانــات 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r>
              <a:rPr lang="ar-SA" sz="36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فـــرز بــيــانــات جـــدول هــو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تــرتــيــب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تــصــاعـــديـــا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تـــنــازلـــيـــا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حَـــسْـــبَ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الـعـــدديـــة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الــنــصــيــة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... ) الــمــوجـــودة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فِـي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2639616" y="2243501"/>
            <a:ext cx="341348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ــم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ــل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ــي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ــة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إ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ـــاد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ة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473319" y="3162790"/>
            <a:ext cx="280831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ــف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ـــوف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ـه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6271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.5 </a:t>
            </a:r>
            <a:r>
              <a:rPr lang="ar-DZ" sz="4800" b="1" dirty="0">
                <a:solidFill>
                  <a:srgbClr val="00B050"/>
                </a:solidFill>
              </a:rPr>
              <a:t>تـعـــريــف فـــرز الـبــيــانــات 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r>
              <a:rPr lang="ar-SA" sz="36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فـــرز بــيــانــات جـــدول هــو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تــرتــيــب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تــصــاعـــديـــا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تـــنــازلـــيـــا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حَـــسْـــبَ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الـعـــدديـــة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الــنــصــيــة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... ) الــمــوجـــودة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فِـي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2639616" y="2243501"/>
            <a:ext cx="341348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ــم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ــل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ــي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ــة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إ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ـــاد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ة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473319" y="3162790"/>
            <a:ext cx="280831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ــف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ـــوف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ـه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092048" y="4072730"/>
            <a:ext cx="216382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الـقِــيَــم</a:t>
            </a:r>
          </a:p>
        </p:txBody>
      </p:sp>
    </p:spTree>
    <p:extLst>
      <p:ext uri="{BB962C8B-B14F-4D97-AF65-F5344CB8AC3E}">
        <p14:creationId xmlns:p14="http://schemas.microsoft.com/office/powerpoint/2010/main" val="1910274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.5 </a:t>
            </a:r>
            <a:r>
              <a:rPr lang="ar-DZ" sz="4800" b="1" dirty="0">
                <a:solidFill>
                  <a:srgbClr val="00B050"/>
                </a:solidFill>
              </a:rPr>
              <a:t>تـعـــريــف فـــرز الـبــيــانــات 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r>
              <a:rPr lang="ar-SA" sz="36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فـــرز بــيــانــات جـــدول هــو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تــرتــيــب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تــصــاعـــديـــا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تـــنــازلـــيـــا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حَـــسْـــبَ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الـعـــدديـــة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الــنــصــيــة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... ) الــمــوجـــودة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فِـي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2639616" y="2243501"/>
            <a:ext cx="341348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ــم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ــل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ــي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ــة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إ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ـــاد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ة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473319" y="3162790"/>
            <a:ext cx="280831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ــف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ـــوف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ـه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092048" y="4072730"/>
            <a:ext cx="216382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الـقِــيَــم</a:t>
            </a:r>
          </a:p>
        </p:txBody>
      </p:sp>
      <p:sp>
        <p:nvSpPr>
          <p:cNvPr id="8" name="Rectangle 7"/>
          <p:cNvSpPr/>
          <p:nvPr/>
        </p:nvSpPr>
        <p:spPr>
          <a:xfrm>
            <a:off x="7032104" y="4994213"/>
            <a:ext cx="331236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ــم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ــد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ـه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1620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  <p:bldP spid="8" grpId="0" animBg="1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.5 </a:t>
            </a:r>
            <a:r>
              <a:rPr lang="ar-DZ" sz="4800" b="1" dirty="0">
                <a:solidFill>
                  <a:srgbClr val="00B050"/>
                </a:solidFill>
              </a:rPr>
              <a:t>خــصـائـص </a:t>
            </a:r>
            <a:r>
              <a:rPr lang="ar-DZ" sz="4800" b="1" dirty="0" smtClean="0">
                <a:solidFill>
                  <a:srgbClr val="00B050"/>
                </a:solidFill>
              </a:rPr>
              <a:t>فـــرز </a:t>
            </a:r>
            <a:r>
              <a:rPr lang="ar-DZ" sz="4800" b="1" dirty="0">
                <a:solidFill>
                  <a:srgbClr val="00B050"/>
                </a:solidFill>
              </a:rPr>
              <a:t>الـبــيــانــات 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r>
              <a:rPr lang="ar-SA" sz="36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	فــي الــخـــلايـــا ذات مــحـــتــوى نــصـي يــكــون الــفـــرز حــســب الـتــرتــيــب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بــيــنـمـا فـي الـخــلايـــا الّـتي تـتــضـمَّــنُ تــواريــخ أو أوقـــات فــالـفـــرز يــكــون مـن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إلـى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الـعــكــس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144886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.5 </a:t>
            </a:r>
            <a:r>
              <a:rPr lang="ar-DZ" sz="4800" b="1" dirty="0">
                <a:solidFill>
                  <a:srgbClr val="00B050"/>
                </a:solidFill>
              </a:rPr>
              <a:t>خــصـائـص </a:t>
            </a:r>
            <a:r>
              <a:rPr lang="ar-DZ" sz="4800" b="1" dirty="0" smtClean="0">
                <a:solidFill>
                  <a:srgbClr val="00B050"/>
                </a:solidFill>
              </a:rPr>
              <a:t>فـــرز </a:t>
            </a:r>
            <a:r>
              <a:rPr lang="ar-DZ" sz="4800" b="1" dirty="0">
                <a:solidFill>
                  <a:srgbClr val="00B050"/>
                </a:solidFill>
              </a:rPr>
              <a:t>الـبــيــانــات 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r>
              <a:rPr lang="ar-SA" sz="36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	فــي الــخـــلايـــا ذات مــحـــتــوى نــصـي يــكــون الــفـــرز حــســب الـتــرتــيــب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بــيــنـمـا فـي الـخــلايـــا الّـتي تـتــضـمَّــنُ تــواريــخ أو أوقـــات فــالـفـــرز يــكــون مـن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إلـى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الـعــكــس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4007768" y="3162789"/>
            <a:ext cx="266429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لـهــِجَــائِـي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0648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.5 </a:t>
            </a:r>
            <a:r>
              <a:rPr lang="ar-DZ" sz="4800" b="1" dirty="0">
                <a:solidFill>
                  <a:srgbClr val="00B050"/>
                </a:solidFill>
              </a:rPr>
              <a:t>خــصـائـص </a:t>
            </a:r>
            <a:r>
              <a:rPr lang="ar-DZ" sz="4800" b="1" dirty="0" smtClean="0">
                <a:solidFill>
                  <a:srgbClr val="00B050"/>
                </a:solidFill>
              </a:rPr>
              <a:t>فـــرز </a:t>
            </a:r>
            <a:r>
              <a:rPr lang="ar-DZ" sz="4800" b="1" dirty="0">
                <a:solidFill>
                  <a:srgbClr val="00B050"/>
                </a:solidFill>
              </a:rPr>
              <a:t>الـبــيــانــات 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r>
              <a:rPr lang="ar-SA" sz="36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	فــي الــخـــلايـــا ذات مــحـــتــوى نــصـي يــكــون الــفـــرز حــســب الـتــرتــيــب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بــيــنـمـا فـي الـخــلايـــا الّـتي تـتــضـمَّــنُ تــواريــخ أو أوقـــات فــالـفـــرز يــكــون مـن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إلـى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الـعــكــس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4007768" y="3162789"/>
            <a:ext cx="266429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لـهــِجَــائِـي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816080" y="5013862"/>
            <a:ext cx="22322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الأَح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دَثِ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225926" y="5013861"/>
            <a:ext cx="22322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الأ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قْـــدَمِ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9916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8" grpId="0" animBg="1"/>
      <p:bldP spid="9" grpId="0" animBg="1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.5 </a:t>
            </a:r>
            <a:r>
              <a:rPr lang="ar-DZ" sz="4800" b="1" dirty="0">
                <a:solidFill>
                  <a:srgbClr val="00B050"/>
                </a:solidFill>
              </a:rPr>
              <a:t>خــصـائـص </a:t>
            </a:r>
            <a:r>
              <a:rPr lang="ar-DZ" sz="4800" b="1" dirty="0" smtClean="0">
                <a:solidFill>
                  <a:srgbClr val="00B050"/>
                </a:solidFill>
              </a:rPr>
              <a:t>فـــرز الـبــيــانــات  ـــ  تـــابـــع 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r>
              <a:rPr lang="ar-SA" sz="36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يُــمْــكِــنُ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أن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تَــتِــمَّ عــمــلــيــة الــفَـــرْزِ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فـي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عَـــمُــودٍ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أو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كــمــا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يُــمْــكِــنُ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أن تــكــون عــمــلــيــة الــفـــرز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حــســب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683557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.5 </a:t>
            </a:r>
            <a:r>
              <a:rPr lang="ar-DZ" sz="4800" b="1" dirty="0">
                <a:solidFill>
                  <a:srgbClr val="00B050"/>
                </a:solidFill>
              </a:rPr>
              <a:t>خــصـائـص </a:t>
            </a:r>
            <a:r>
              <a:rPr lang="ar-DZ" sz="4800" b="1" dirty="0" smtClean="0">
                <a:solidFill>
                  <a:srgbClr val="00B050"/>
                </a:solidFill>
              </a:rPr>
              <a:t>فـــرز الـبــيــانــات  ـــ  تـــابـــع 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r>
              <a:rPr lang="ar-SA" sz="36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يُــمْــكِــنُ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أن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تَــتِــمَّ عــمــلــيــة الــفَـــرْزِ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فـي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عَـــمُــودٍ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أو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كــمــا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يُــمْــكِــنُ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أن تــكــون عــمــلــيــة الــفـــرز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حــســب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8976320" y="3174339"/>
            <a:ext cx="20162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واحـ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ـد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5770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.5 </a:t>
            </a:r>
            <a:r>
              <a:rPr lang="ar-DZ" sz="4800" b="1" dirty="0">
                <a:solidFill>
                  <a:srgbClr val="00B050"/>
                </a:solidFill>
              </a:rPr>
              <a:t>خــصـائـص </a:t>
            </a:r>
            <a:r>
              <a:rPr lang="ar-DZ" sz="4800" b="1" dirty="0" smtClean="0">
                <a:solidFill>
                  <a:srgbClr val="00B050"/>
                </a:solidFill>
              </a:rPr>
              <a:t>فـــرز الـبــيــانــات  ـــ  تـــابـــع 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r>
              <a:rPr lang="ar-SA" sz="36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يُــمْــكِــنُ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أن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تَــتِــمَّ عــمــلــيــة الــفَـــرْزِ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فـي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عَـــمُــودٍ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أو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كــمــا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يُــمْــكِــنُ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أن تــكــون عــمــلــيــة الــفـــرز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حــســب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8976320" y="3174339"/>
            <a:ext cx="20162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واحـ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ـد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575720" y="3174338"/>
            <a:ext cx="40324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فـي 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عِـ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دَّة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أ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ـــم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ــد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ة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ٍ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074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8" grpId="0" animBg="1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.5 </a:t>
            </a:r>
            <a:r>
              <a:rPr lang="ar-DZ" sz="4800" b="1" dirty="0">
                <a:solidFill>
                  <a:srgbClr val="00B050"/>
                </a:solidFill>
              </a:rPr>
              <a:t>خــصـائـص </a:t>
            </a:r>
            <a:r>
              <a:rPr lang="ar-DZ" sz="4800" b="1" dirty="0" smtClean="0">
                <a:solidFill>
                  <a:srgbClr val="00B050"/>
                </a:solidFill>
              </a:rPr>
              <a:t>فـــرز الـبــيــانــات  ـــ  تـــابـــع 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r>
              <a:rPr lang="ar-SA" sz="36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يُــمْــكِــنُ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أن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تَــتِــمَّ عــمــلــيــة الــفَـــرْزِ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فـي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عَـــمُــودٍ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أو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كــمــا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يُــمْــكِــنُ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أن تــكــون عــمــلــيــة الــفـــرز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حــســب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8976320" y="3174339"/>
            <a:ext cx="20162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واحـ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ـد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575720" y="3174338"/>
            <a:ext cx="40324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فـي 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عِـ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دَّة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أ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ـــم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ــد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ة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ٍ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631504" y="4059520"/>
            <a:ext cx="259419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الـصُّــفُـــوف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0120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8" grpId="0" animBg="1"/>
      <p:bldP spid="9" grpId="0" animBg="1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FF0000"/>
                </a:solidFill>
                <a:cs typeface="Times New Roman" panose="02020603050405020304" pitchFamily="18" charset="0"/>
              </a:rPr>
              <a:t>واجــب مــنــزلـي </a:t>
            </a:r>
            <a:r>
              <a:rPr lang="ar-DZ" sz="4800" b="1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:</a:t>
            </a:r>
            <a:endParaRPr lang="fr-FR" sz="5400" i="1" dirty="0">
              <a:solidFill>
                <a:srgbClr val="FF000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1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Aft>
                <a:spcPts val="1000"/>
              </a:spcAft>
              <a:buClr>
                <a:srgbClr val="002060"/>
              </a:buClr>
              <a:buSzPts val="1100"/>
              <a:buNone/>
            </a:pPr>
            <a:r>
              <a:rPr lang="ar-DZ" sz="40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قَـــارِنْ </a:t>
            </a:r>
            <a:r>
              <a:rPr lang="ar-DZ" sz="40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بــيـن الـصِّــيــغِ والــدَوَالِّ مـع إبْـــرازِ فـــوائـــد اســتــعـــمـــال الــدَوَالِّ مُـــدَعِّـــمًــا إِجَـــابَـــتَــك بــأمـــثـــلـــة</a:t>
            </a:r>
            <a:r>
              <a:rPr lang="ar-DZ" sz="3600" b="1" dirty="0" smtClean="0">
                <a:solidFill>
                  <a:srgbClr val="00000A"/>
                </a:solidFill>
                <a:ea typeface="Droid Sans Fallback"/>
                <a:cs typeface="+mj-cs"/>
              </a:rPr>
              <a:t>.</a:t>
            </a:r>
            <a:endParaRPr lang="ar-DZ" sz="40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26/12/2024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188962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à coins arrondis 8"/>
          <p:cNvSpPr/>
          <p:nvPr/>
        </p:nvSpPr>
        <p:spPr bwMode="auto">
          <a:xfrm>
            <a:off x="10668000" y="2786058"/>
            <a:ext cx="7143800" cy="785818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fr-FR" sz="2400">
              <a:solidFill>
                <a:prstClr val="white"/>
              </a:solidFill>
            </a:endParaRPr>
          </a:p>
        </p:txBody>
      </p:sp>
      <p:pic>
        <p:nvPicPr>
          <p:cNvPr id="2054" name="Picture 7" descr="algeria_flags_3dclipart_www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939214" y="-71462"/>
            <a:ext cx="1728787" cy="1223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5" name="Picture 7" descr="algeria_flags_3dclipart_www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0"/>
            <a:ext cx="1728788" cy="1223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Espace réservé de la date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B4B70AF9-3FB6-400F-9757-12747EE37EB3}" type="datetime1">
              <a:rPr lang="fr-FR" smtClean="0"/>
              <a:t>26/12/2024</a:t>
            </a:fld>
            <a:endParaRPr lang="fr-FR" dirty="0"/>
          </a:p>
        </p:txBody>
      </p:sp>
      <p:sp>
        <p:nvSpPr>
          <p:cNvPr id="6" name="Rectangle à coins arrondis 5"/>
          <p:cNvSpPr/>
          <p:nvPr/>
        </p:nvSpPr>
        <p:spPr>
          <a:xfrm>
            <a:off x="938770" y="2012966"/>
            <a:ext cx="9793088" cy="3456385"/>
          </a:xfrm>
          <a:prstGeom prst="roundRect">
            <a:avLst>
              <a:gd name="adj" fmla="val 26762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defTabSz="1009650" rt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DZ" altLang="zh-CN" sz="6000" b="1" u="sn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</a:rPr>
              <a:t>شـــكـــــــــــرا لـــكــم</a:t>
            </a:r>
          </a:p>
          <a:p>
            <a:pPr lvl="0" algn="ctr" defTabSz="1009650" rt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DZ" altLang="zh-CN" sz="6000" b="1" u="sn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  <a:cs typeface="+mj-cs"/>
              </a:rPr>
              <a:t>بالـتـوفـيـق للـجــمـيـع</a:t>
            </a:r>
            <a:endParaRPr lang="ar-SA" altLang="zh-CN" sz="6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itchFamily="34" charset="0"/>
              <a:cs typeface="+mj-cs"/>
            </a:endParaRPr>
          </a:p>
          <a:p>
            <a:pPr algn="ctr" rtl="1"/>
            <a:endParaRPr lang="fr-FR" sz="5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63605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dèle par défaut">
  <a:themeElements>
    <a:clrScheme name="Modul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Modèle par défaut">
      <a:majorFont>
        <a:latin typeface="Times New Roman"/>
        <a:ea typeface="SimSun"/>
        <a:cs typeface=""/>
      </a:majorFont>
      <a:minorFont>
        <a:latin typeface="Times New Roman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8" charset="0"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8" charset="0"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  <a:ea typeface="SimSun" pitchFamily="2" charset="-122"/>
          </a:defRPr>
        </a:defPPr>
      </a:lstStyle>
    </a:lnDef>
  </a:objectDefaults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Foundry</Template>
  <TotalTime>28414</TotalTime>
  <Words>4611</Words>
  <Application>Microsoft Office PowerPoint</Application>
  <PresentationFormat>Grand écran</PresentationFormat>
  <Paragraphs>841</Paragraphs>
  <Slides>125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125</vt:i4>
      </vt:variant>
    </vt:vector>
  </HeadingPairs>
  <TitlesOfParts>
    <vt:vector size="136" baseType="lpstr">
      <vt:lpstr>Arial Unicode MS</vt:lpstr>
      <vt:lpstr>宋体</vt:lpstr>
      <vt:lpstr>宋体</vt:lpstr>
      <vt:lpstr>Arial</vt:lpstr>
      <vt:lpstr>Calibri</vt:lpstr>
      <vt:lpstr>Droid Sans Fallback</vt:lpstr>
      <vt:lpstr>Symbol</vt:lpstr>
      <vt:lpstr>Times New Roman</vt:lpstr>
      <vt:lpstr>Wingdings</vt:lpstr>
      <vt:lpstr>Thème Office</vt:lpstr>
      <vt:lpstr>Modèle par défaut</vt:lpstr>
      <vt:lpstr>Présentation PowerPoint</vt:lpstr>
      <vt:lpstr>Présentation PowerPoint</vt:lpstr>
      <vt:lpstr>الإشــكــالــيــة :</vt:lpstr>
      <vt:lpstr>الإجــابــة :</vt:lpstr>
      <vt:lpstr>الإجــابــة :</vt:lpstr>
      <vt:lpstr>Présentation PowerPoint</vt:lpstr>
      <vt:lpstr>Présentation PowerPoint</vt:lpstr>
      <vt:lpstr>1. مــفــاهــيــم أســـاســـيـــة عــن الـمُــجَــدْوِل</vt:lpstr>
      <vt:lpstr>أتـذكـر ( 1.1  تـعـــريــف الــمــجــدول  EXCEL)</vt:lpstr>
      <vt:lpstr>أتـذكـر ( 1.1  تـعـــريــف الــمــجــدول  EXCEL)</vt:lpstr>
      <vt:lpstr>أتـذكـر ( 1.1  تـعـــريــف الــمــجــدول  EXCEL)</vt:lpstr>
      <vt:lpstr>أتـذكـر ( 1.1  تـعـــريــف الــمــجــدول  EXCEL)</vt:lpstr>
      <vt:lpstr>1. مــفــاهــيــم أســـاســـيـــة عــن الـمُــجَــدْوِل</vt:lpstr>
      <vt:lpstr>أتـذكـر ( 2.1 تـعـــريــف الــمُــصَــنَّــف  Classeur )</vt:lpstr>
      <vt:lpstr>أتـذكـر ( 2.1 تـعـــريــف الــمُــصَــنَّــف  Classeur )</vt:lpstr>
      <vt:lpstr>أتـذكـر ( 2.1 تـعـــريــف الــمُــصَــنَّــف  Classeur )</vt:lpstr>
      <vt:lpstr>أتـذكـر ( 2.1 تـعـــريــف الــمُــصَــنَّــف  Classeur )</vt:lpstr>
      <vt:lpstr>أتـذكـر ( 2.1 تـعـــريــف الــمُــصَــنَّــف  Classeur )</vt:lpstr>
      <vt:lpstr>1. مــفــاهــيــم أســـاســـيـــة عــن الـمُــجَــدْوِل</vt:lpstr>
      <vt:lpstr>أتـذكـر ( 3.1 تـعـــريــف ورقـــة  عــمــل )</vt:lpstr>
      <vt:lpstr>أتـذكـر ( 3.1 تـعـــريــف ورقـــة  عــمــل )</vt:lpstr>
      <vt:lpstr>أتـذكـر ( 3.1 تـعـــريــف ورقـــة  عــمــل )</vt:lpstr>
      <vt:lpstr>أتـذكـر ( 3.1 تـعـــريــف ورقـــة  عــمــل )</vt:lpstr>
      <vt:lpstr>أتـذكـر ( 3.1 تـعـــريــف ورقـــة  عــمــل )</vt:lpstr>
      <vt:lpstr>أتـذكـر ( 3.1 تـعـــريــف ورقـــة  عــمــل )</vt:lpstr>
      <vt:lpstr>أتـذكـر ( 3.1 تـعـــريــف ورقـــة  عــمــل  ــ  تـــابــع )</vt:lpstr>
      <vt:lpstr>أتـذكـر ( 3.1 تـعـــريــف ورقـــة  عــمــل  ــ  تـــابــع )</vt:lpstr>
      <vt:lpstr>أتـذكـر ( 3.1 تـعـــريــف ورقـــة  عــمــل  ــ  تـــابــع )</vt:lpstr>
      <vt:lpstr>أتـذكـر ( 3.1 تـعـــريــف ورقـــة  عــمــل  ــ  تـــابــع )</vt:lpstr>
      <vt:lpstr>أتـذكـر ( 3.1 تـعـــريــف ورقـــة  عــمــل  ــ  تـــابــع )</vt:lpstr>
      <vt:lpstr>2. الـجــداول وخــصــائـصـهـا :</vt:lpstr>
      <vt:lpstr>أتـذكـر ( 1.2 تـعـــريــف الـجــدول  Tableau )</vt:lpstr>
      <vt:lpstr>أتـذكـر ( 1.2 تـعـــريــف الـجــدول  Tableau )</vt:lpstr>
      <vt:lpstr>أتـذكـر ( 1.2 تـعـــريــف الـجــدول  Tableau )</vt:lpstr>
      <vt:lpstr>أتـذكـر ( 1.2 تـعـــريــف الـجــدول  Tableau )</vt:lpstr>
      <vt:lpstr>أتـذكـر ( 1.2 تـعـــريــف الـجــدول  Tableau )</vt:lpstr>
      <vt:lpstr>أتـذكـر ( 1.2 تـعـــريــف الـجــدول  Tableau )</vt:lpstr>
      <vt:lpstr>أتـذكـر ( 1.2 تـعـــريــف الـجــدول  Tableau )</vt:lpstr>
      <vt:lpstr>أتـذكـر ( 1.2 تـعـــريــف الـجــدول  Tableau )</vt:lpstr>
      <vt:lpstr>أتـذكـر ( 1.2 تـعـــريــف الـجــدول  Tableau )</vt:lpstr>
      <vt:lpstr>2. الـجــداول وخــصــائـصـهـا :</vt:lpstr>
      <vt:lpstr>أتـذكـر ( 2.2 بَــيَــانَــات الـجــداول )</vt:lpstr>
      <vt:lpstr>أتـذكـر ( 2.2 بَــيَــانَــات الـجــداول )</vt:lpstr>
      <vt:lpstr>أتـذكـر ( 2.2 بَــيَــانَــات الـجــداول )</vt:lpstr>
      <vt:lpstr>أتـذكـر ( 2.2 بَــيَــانَــات الـجــداول )</vt:lpstr>
      <vt:lpstr>أتـذكـر ( 2.2 بَــيَــانَــات الـجــداول )</vt:lpstr>
      <vt:lpstr>أتـذكـر ( 2.2 بَــيَــانَــات الـجــداول  ـــ  تـــابــع )</vt:lpstr>
      <vt:lpstr>أتـذكـر ( 2.2 بَــيَــانَــات الـجــداول  ـــ  تـــابــع )</vt:lpstr>
      <vt:lpstr>أتـذكـر ( 2.2 بَــيَــانَــات الـجــداول  ـــ  تـــابــع )</vt:lpstr>
      <vt:lpstr>أتـذكـر ( 2.2 بَــيَــانَــات الـجــداول  ـــ  تـــابــع )</vt:lpstr>
      <vt:lpstr>3. الـصِّـيَـغ   Formules  :</vt:lpstr>
      <vt:lpstr>أتـذكـر ( 1.3 تـعـــريــف الـصِّـيَــغــة )</vt:lpstr>
      <vt:lpstr>أتـذكـر ( 1.3 تـعـــريــف الـصِّـيَــغــة )</vt:lpstr>
      <vt:lpstr>أتـذكـر ( 1.3 تـعـــريــف الـصِّـيَــغــة )</vt:lpstr>
      <vt:lpstr>أتـذكـر ( 1.3 تـعـــريــف الـصِّـيَــغــة )</vt:lpstr>
      <vt:lpstr>أتـذكـر ( 1.3 تـعـــريــف الـصِّـيَــغــة )</vt:lpstr>
      <vt:lpstr>أتـذكـر ( 1.3 تـعـــريــف الـصِّـيَــغــة )</vt:lpstr>
      <vt:lpstr>2.3 - أنــواع الـصِّـيَـغ</vt:lpstr>
      <vt:lpstr>أ - الـصِّــيَــغ الـحـــســـابـــيــة :</vt:lpstr>
      <vt:lpstr>أ - الـصِّــيَــغ الـحـــســـابـــيــة :</vt:lpstr>
      <vt:lpstr>أ - الـصِّــيَــغ الـحـــســـابـــيــة :</vt:lpstr>
      <vt:lpstr>أ - الـصِّــيَــغ الـحـــســـابـــيــة :</vt:lpstr>
      <vt:lpstr>ب - الـصِّــيَــغ الـمــنــطـــقـــيـــة :</vt:lpstr>
      <vt:lpstr>ب - الـصِّــيَــغ الـمــنــطـــقـــيـــة :</vt:lpstr>
      <vt:lpstr>ب - الـصِّــيَــغ الـمــنــطـــقـــيـــة :</vt:lpstr>
      <vt:lpstr>ب - الـصِّــيَــغ الـمــنــطـــقـــيـــة :</vt:lpstr>
      <vt:lpstr>ب - الـصِّــيَــغ الـمــنــطـــقـــيـــة :</vt:lpstr>
      <vt:lpstr>4. الـدَوَالّ Fonctions </vt:lpstr>
      <vt:lpstr>أتـذكـر ( 1.4 تـعـــريــف دالـــة )</vt:lpstr>
      <vt:lpstr>أتـذكـر ( 1.4 تـعـــريــف دالـــة )</vt:lpstr>
      <vt:lpstr>أتـذكـر ( 1.4 تـعـــريــف دالـــة )</vt:lpstr>
      <vt:lpstr>أتـذكـر ( 1.4 تـعـــريــف دالـــة )</vt:lpstr>
      <vt:lpstr>4. الـدَوَالّ Fonctions </vt:lpstr>
      <vt:lpstr>أتـذكـر ( 2.4 كــيــفــيــة كـــتـــابـــة دالـــة )</vt:lpstr>
      <vt:lpstr>أتـذكـر ( 2.4 كــيــفــيــة كـــتـــابـــة دالـــة )</vt:lpstr>
      <vt:lpstr>أتـذكـر ( 2.4 كــيــفــيــة كـــتـــابـــة دالـــة )</vt:lpstr>
      <vt:lpstr>أتـذكـر ( 2.4 كــيــفــيــة كـــتـــابـــة دالـــة )</vt:lpstr>
      <vt:lpstr>أتـذكـر ( 2.4 كــيــفــيــة كـــتـــابـــة دالـــة )</vt:lpstr>
      <vt:lpstr>أتـذكـر ( 2.4 كــيــفــيــة كـــتـــابـــة دالـــة )</vt:lpstr>
      <vt:lpstr>4. الـدَوَالّ Fonctions </vt:lpstr>
      <vt:lpstr>أتـذكـر ( 3.4 الــدَوَالّ الــشــهـــيـــرة )</vt:lpstr>
      <vt:lpstr>أتـذكـر ( 3.4 الــدَوَالّ الــشــهـــيـــرة )</vt:lpstr>
      <vt:lpstr>أتـذكـر ( 3.4 الــدَوَالّ الــشــهـــيـــرة )</vt:lpstr>
      <vt:lpstr>أتـذكـر ( 3.4 الــدَوَالّ الــشــهـــيـــرة )</vt:lpstr>
      <vt:lpstr>أتـذكـر ( 3.4 الــدَوَالّ الــشــهـــيـــرة )</vt:lpstr>
      <vt:lpstr>أتـذكـر ( 3.4 الــدَوَالّ الــشــهـــيـــرة )</vt:lpstr>
      <vt:lpstr>أتـذكـر ( 3.4 الــدَوَالّ الــشــهـــيـــرة  ـــ  تـــابـــع )</vt:lpstr>
      <vt:lpstr>أتـذكـر ( 3.4 الــدَوَالّ الــشــهـــيـــرة  ـــ  تـــابـــع )</vt:lpstr>
      <vt:lpstr>أتـذكـر ( 3.4 الــدَوَالّ الــشــهـــيـــرة  ـــ  تـــابـــع )</vt:lpstr>
      <vt:lpstr>أتـذكـر ( 3.4 الــدَوَالّ الــشــهـــيـــرة  ـــ  تـــابـــع )</vt:lpstr>
      <vt:lpstr>أتـذكـر ( 3.4 الــدَوَالّ الــشــهـــيـــرة  ـــ  تـــابـــع )</vt:lpstr>
      <vt:lpstr>4. الـدَوَالّ Fonctions </vt:lpstr>
      <vt:lpstr>أتـذكـر ( 4.4 فــوائـــد اســتــعــمــال الــدَوَالّ )</vt:lpstr>
      <vt:lpstr>أتـذكـر ( 4.4 فــوائـــد اســتــعــمــال الــدَوَالّ )</vt:lpstr>
      <vt:lpstr>أتـذكـر ( 4.4 فــوائـــد اســتــعــمــال الــدَوَالّ )</vt:lpstr>
      <vt:lpstr>أتـذكـر ( 4.4 فــوائـــد اســتــعــمــال الــدَوَالّ ــ تــابــع )</vt:lpstr>
      <vt:lpstr>أتـذكـر ( 4.4 فــوائـــد اســتــعــمــال الــدَوَالّ ــ تــابــع )</vt:lpstr>
      <vt:lpstr>أتـذكـر ( 4.4 فــوائـــد اســتــعــمــال الــدَوَالّ ــ تــابــع )</vt:lpstr>
      <vt:lpstr>أتـذكـر ( 4.4 فــوائـــد اســتــعــمــال الــدَوَالّ ــ تــابــع )</vt:lpstr>
      <vt:lpstr>أتـذكـر ( 4.4 فــوائـــد اســتــعــمــال الــدَوَالّ ــ تــابــع )</vt:lpstr>
      <vt:lpstr>أتـذكـر ( 4.4 فــوائـــد اســتــعــمــال الــدَوَالّ ــ تــابــع )</vt:lpstr>
      <vt:lpstr>5.4 - وَضْـــعِـــــيَــــةٌ إِدْمَــــاجِــــيَــــةٌ </vt:lpstr>
      <vt:lpstr>5.4 - وَضْـــعِـــــيَــــةٌ إِدْمَــــاجِــــيَــــةٌ  ـــ  تـــابــــع </vt:lpstr>
      <vt:lpstr>5.4 - وَضْـــعِـــــيَــــةٌ إِدْمَــــاجِــــيَــــةٌ  ـــ  تـــابــــع </vt:lpstr>
      <vt:lpstr>5.4 - وَضْـــعِـــــيَــــةٌ إِدْمَــــاجِــــيَــــةٌ  ـــ  تـــابــــع </vt:lpstr>
      <vt:lpstr>5.4 - وَضْـــعِـــــيَــــةٌ إِدْمَــــاجِــــيَــــةٌ  ـــ  تـــابــــع </vt:lpstr>
      <vt:lpstr>5.4 - وَضْـــعِـــــيَــــةٌ إِدْمَــــاجِــــيَــــةٌ  ـــ  تـــابــــع </vt:lpstr>
      <vt:lpstr>5.4 - وَضْـــعِـــــيَــــةٌ إِدْمَــــاجِــــيَــــةٌ  ـــ  تـــابــــع </vt:lpstr>
      <vt:lpstr>5.4 - وَضْـــعِـــــيَــــةٌ إِدْمَــــاجِــــيَــــةٌ  ـــ  تـــابــــع </vt:lpstr>
      <vt:lpstr>5.4 - وَضْـــعِـــــيَــــةٌ إِدْمَــــاجِــــيَــــةٌ  ـــ  تـــابــــع </vt:lpstr>
      <vt:lpstr>5.4 - وَضْـــعِـــــيَــــةٌ إِدْمَــــاجِــــيَــــةٌ  ـــ  تـــابــــع </vt:lpstr>
      <vt:lpstr>5. فَـــرْز الـبــيــانــات  Le Tri</vt:lpstr>
      <vt:lpstr>1.5 تـعـــريــف فـــرز الـبــيــانــات </vt:lpstr>
      <vt:lpstr>1.5 تـعـــريــف فـــرز الـبــيــانــات </vt:lpstr>
      <vt:lpstr>1.5 تـعـــريــف فـــرز الـبــيــانــات </vt:lpstr>
      <vt:lpstr>1.5 تـعـــريــف فـــرز الـبــيــانــات </vt:lpstr>
      <vt:lpstr>2.5 خــصـائـص فـــرز الـبــيــانــات </vt:lpstr>
      <vt:lpstr>2.5 خــصـائـص فـــرز الـبــيــانــات </vt:lpstr>
      <vt:lpstr>2.5 خــصـائـص فـــرز الـبــيــانــات </vt:lpstr>
      <vt:lpstr>2.5 خــصـائـص فـــرز الـبــيــانــات  ـــ  تـــابـــع </vt:lpstr>
      <vt:lpstr>2.5 خــصـائـص فـــرز الـبــيــانــات  ـــ  تـــابـــع </vt:lpstr>
      <vt:lpstr>2.5 خــصـائـص فـــرز الـبــيــانــات  ـــ  تـــابـــع </vt:lpstr>
      <vt:lpstr>2.5 خــصـائـص فـــرز الـبــيــانــات  ـــ  تـــابـــع </vt:lpstr>
      <vt:lpstr>واجــب مــنــزلـي :</vt:lpstr>
      <vt:lpstr>Présentation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Shm</dc:creator>
  <cp:lastModifiedBy>Dual</cp:lastModifiedBy>
  <cp:revision>2412</cp:revision>
  <dcterms:created xsi:type="dcterms:W3CDTF">2015-11-30T21:00:22Z</dcterms:created>
  <dcterms:modified xsi:type="dcterms:W3CDTF">2024-12-26T14:30:06Z</dcterms:modified>
</cp:coreProperties>
</file>