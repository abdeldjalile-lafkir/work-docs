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gif" ContentType="image/gif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98"/>
  </p:notesMasterIdLst>
  <p:sldIdLst>
    <p:sldId id="273" r:id="rId3"/>
    <p:sldId id="549" r:id="rId4"/>
    <p:sldId id="258" r:id="rId5"/>
    <p:sldId id="447" r:id="rId6"/>
    <p:sldId id="756" r:id="rId7"/>
    <p:sldId id="292" r:id="rId8"/>
    <p:sldId id="695" r:id="rId9"/>
    <p:sldId id="685" r:id="rId10"/>
    <p:sldId id="984" r:id="rId11"/>
    <p:sldId id="1041" r:id="rId12"/>
    <p:sldId id="1040" r:id="rId13"/>
    <p:sldId id="1039" r:id="rId14"/>
    <p:sldId id="1038" r:id="rId15"/>
    <p:sldId id="698" r:id="rId16"/>
    <p:sldId id="697" r:id="rId17"/>
    <p:sldId id="991" r:id="rId18"/>
    <p:sldId id="1028" r:id="rId19"/>
    <p:sldId id="990" r:id="rId20"/>
    <p:sldId id="989" r:id="rId21"/>
    <p:sldId id="988" r:id="rId22"/>
    <p:sldId id="1029" r:id="rId23"/>
    <p:sldId id="851" r:id="rId24"/>
    <p:sldId id="1068" r:id="rId25"/>
    <p:sldId id="969" r:id="rId26"/>
    <p:sldId id="996" r:id="rId27"/>
    <p:sldId id="995" r:id="rId28"/>
    <p:sldId id="994" r:id="rId29"/>
    <p:sldId id="993" r:id="rId30"/>
    <p:sldId id="992" r:id="rId31"/>
    <p:sldId id="1075" r:id="rId32"/>
    <p:sldId id="1042" r:id="rId33"/>
    <p:sldId id="1045" r:id="rId34"/>
    <p:sldId id="999" r:id="rId35"/>
    <p:sldId id="998" r:id="rId36"/>
    <p:sldId id="997" r:id="rId37"/>
    <p:sldId id="1076" r:id="rId38"/>
    <p:sldId id="1032" r:id="rId39"/>
    <p:sldId id="1050" r:id="rId40"/>
    <p:sldId id="1077" r:id="rId41"/>
    <p:sldId id="1049" r:id="rId42"/>
    <p:sldId id="1048" r:id="rId43"/>
    <p:sldId id="972" r:id="rId44"/>
    <p:sldId id="973" r:id="rId45"/>
    <p:sldId id="1006" r:id="rId46"/>
    <p:sldId id="1005" r:id="rId47"/>
    <p:sldId id="1004" r:id="rId48"/>
    <p:sldId id="1003" r:id="rId49"/>
    <p:sldId id="1002" r:id="rId50"/>
    <p:sldId id="1053" r:id="rId51"/>
    <p:sldId id="1055" r:id="rId52"/>
    <p:sldId id="1054" r:id="rId53"/>
    <p:sldId id="1057" r:id="rId54"/>
    <p:sldId id="1007" r:id="rId55"/>
    <p:sldId id="1058" r:id="rId56"/>
    <p:sldId id="1060" r:id="rId57"/>
    <p:sldId id="1059" r:id="rId58"/>
    <p:sldId id="975" r:id="rId59"/>
    <p:sldId id="976" r:id="rId60"/>
    <p:sldId id="1010" r:id="rId61"/>
    <p:sldId id="1074" r:id="rId62"/>
    <p:sldId id="1073" r:id="rId63"/>
    <p:sldId id="1072" r:id="rId64"/>
    <p:sldId id="1071" r:id="rId65"/>
    <p:sldId id="1070" r:id="rId66"/>
    <p:sldId id="977" r:id="rId67"/>
    <p:sldId id="1017" r:id="rId68"/>
    <p:sldId id="1016" r:id="rId69"/>
    <p:sldId id="1015" r:id="rId70"/>
    <p:sldId id="1014" r:id="rId71"/>
    <p:sldId id="978" r:id="rId72"/>
    <p:sldId id="1020" r:id="rId73"/>
    <p:sldId id="1019" r:id="rId74"/>
    <p:sldId id="1018" r:id="rId75"/>
    <p:sldId id="979" r:id="rId76"/>
    <p:sldId id="1062" r:id="rId77"/>
    <p:sldId id="1065" r:id="rId78"/>
    <p:sldId id="980" r:id="rId79"/>
    <p:sldId id="1021" r:id="rId80"/>
    <p:sldId id="1022" r:id="rId81"/>
    <p:sldId id="1079" r:id="rId82"/>
    <p:sldId id="1078" r:id="rId83"/>
    <p:sldId id="982" r:id="rId84"/>
    <p:sldId id="1024" r:id="rId85"/>
    <p:sldId id="1025" r:id="rId86"/>
    <p:sldId id="983" r:id="rId87"/>
    <p:sldId id="1027" r:id="rId88"/>
    <p:sldId id="1026" r:id="rId89"/>
    <p:sldId id="1067" r:id="rId90"/>
    <p:sldId id="1066" r:id="rId91"/>
    <p:sldId id="965" r:id="rId92"/>
    <p:sldId id="1030" r:id="rId93"/>
    <p:sldId id="1031" r:id="rId94"/>
    <p:sldId id="1036" r:id="rId95"/>
    <p:sldId id="1037" r:id="rId96"/>
    <p:sldId id="338" r:id="rId97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Dual" initials="D" lastIdx="0" clrIdx="0">
    <p:extLst>
      <p:ext uri="{19B8F6BF-5375-455C-9EA6-DF929625EA0E}">
        <p15:presenceInfo xmlns:p15="http://schemas.microsoft.com/office/powerpoint/2012/main" userId="Dual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88" autoAdjust="0"/>
    <p:restoredTop sz="94434" autoAdjust="0"/>
  </p:normalViewPr>
  <p:slideViewPr>
    <p:cSldViewPr>
      <p:cViewPr varScale="1">
        <p:scale>
          <a:sx n="67" d="100"/>
          <a:sy n="67" d="100"/>
        </p:scale>
        <p:origin x="654" y="60"/>
      </p:cViewPr>
      <p:guideLst>
        <p:guide orient="horz" pos="2160"/>
        <p:guide pos="384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-11232"/>
    </p:cViewPr>
  </p:sorterViewPr>
  <p:notesViewPr>
    <p:cSldViewPr>
      <p:cViewPr varScale="1">
        <p:scale>
          <a:sx n="57" d="100"/>
          <a:sy n="57" d="100"/>
        </p:scale>
        <p:origin x="2808" y="4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theme" Target="theme/theme1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103" Type="http://schemas.openxmlformats.org/officeDocument/2006/relationships/tableStyles" Target="tableStyles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commentAuthors" Target="commentAuthors.xml"/><Relationship Id="rId10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presProps" Target="pres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notesMaster" Target="notesMasters/notesMaster1.xml"/><Relationship Id="rId3" Type="http://schemas.openxmlformats.org/officeDocument/2006/relationships/slide" Target="slides/slid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7707165-6FA1-4F51-AE2F-3E34D4EE60DB}" type="datetimeFigureOut">
              <a:rPr lang="fr-FR" smtClean="0"/>
              <a:pPr/>
              <a:t>15/01/2025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commentaires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12BD788-2CE9-4B58-A72D-7A842BE88AE5}" type="slidenum">
              <a:rPr lang="fr-FR" smtClean="0"/>
              <a:pPr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1224371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dirty="0" smtClean="0"/>
          </a:p>
        </p:txBody>
      </p:sp>
    </p:spTree>
    <p:extLst>
      <p:ext uri="{BB962C8B-B14F-4D97-AF65-F5344CB8AC3E}">
        <p14:creationId xmlns:p14="http://schemas.microsoft.com/office/powerpoint/2010/main" val="77085249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83208690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6</a:t>
            </a:fld>
            <a:endParaRPr lang="fr-FR" dirty="0"/>
          </a:p>
        </p:txBody>
      </p:sp>
    </p:spTree>
    <p:extLst>
      <p:ext uri="{BB962C8B-B14F-4D97-AF65-F5344CB8AC3E}">
        <p14:creationId xmlns:p14="http://schemas.microsoft.com/office/powerpoint/2010/main" val="376555128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512BD788-2CE9-4B58-A72D-7A842BE88AE5}" type="slidenum">
              <a:rPr lang="fr-FR" smtClean="0"/>
              <a:pPr/>
              <a:t>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42743516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Espace réservé de l'image des diapositives 1"/>
          <p:cNvSpPr>
            <a:spLocks noGrp="1" noRot="1" noChangeAspect="1" noTextEdi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16387" name="Espace réservé des commentaires 2"/>
          <p:cNvSpPr>
            <a:spLocks noGrp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endParaRPr lang="fr-FR" smtClean="0"/>
          </a:p>
        </p:txBody>
      </p:sp>
    </p:spTree>
    <p:extLst>
      <p:ext uri="{BB962C8B-B14F-4D97-AF65-F5344CB8AC3E}">
        <p14:creationId xmlns:p14="http://schemas.microsoft.com/office/powerpoint/2010/main" val="7841526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fr-FR" smtClean="0"/>
              <a:t>Cliquez pour modifier le style des sous-titres du masque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E1799A-AD1E-4EC4-BAE9-72E49FCD3627}" type="datetime1">
              <a:rPr lang="fr-FR" smtClean="0"/>
              <a:t>15/01/2025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101B79-79D6-441E-BF1E-BF238058A2BE}" type="datetime1">
              <a:rPr lang="fr-FR" smtClean="0"/>
              <a:t>15/01/2025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6F01902-2934-498C-B9CD-ABFFBDC132D2}" type="datetime1">
              <a:rPr lang="fr-FR" smtClean="0"/>
              <a:t>15/01/2025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609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7600" y="1600203"/>
            <a:ext cx="53848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E76BA51-70A3-4108-A886-33F689CBCDCE}" type="datetime1">
              <a:rPr lang="fr-FR" smtClean="0"/>
              <a:t>15/01/2025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4F6FC74-5BB7-4110-9531-403E0DC6FCC3}" type="datetime1">
              <a:rPr lang="fr-FR" smtClean="0"/>
              <a:t>15/01/2025</a:t>
            </a:fld>
            <a:endParaRPr lang="fr-BE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6585D57-B0FA-4850-A7A9-46BC746BF18D}" type="datetime1">
              <a:rPr lang="fr-FR" smtClean="0"/>
              <a:t>15/01/2025</a:t>
            </a:fld>
            <a:endParaRPr lang="fr-BE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53EED2-DA68-42E6-BB32-4BDF58561745}" type="datetime1">
              <a:rPr lang="fr-FR" smtClean="0"/>
              <a:t>15/01/2025</a:t>
            </a:fld>
            <a:endParaRPr lang="fr-BE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0EE66D5-8CED-4255-B840-C3038CA10D44}" type="datetime1">
              <a:rPr lang="fr-FR" smtClean="0"/>
              <a:t>15/01/2025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BE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8A74B6-0C57-4CBC-8085-4FAD680CE4E3}" type="datetime1">
              <a:rPr lang="fr-FR" smtClean="0"/>
              <a:t>15/01/2025</a:t>
            </a:fld>
            <a:endParaRPr lang="fr-BE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9A783B9-A837-41A0-BB3E-10BAC9E24798}" type="datetime1">
              <a:rPr lang="fr-FR" smtClean="0"/>
              <a:t>15/01/2025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839200" y="274641"/>
            <a:ext cx="2743200" cy="5851525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609600" y="274641"/>
            <a:ext cx="8026400" cy="5851525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A4622B-0FD0-4642-A755-FF44A3648A33}" type="datetime1">
              <a:rPr lang="fr-FR" smtClean="0"/>
              <a:t>15/01/2025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914400" y="2130428"/>
            <a:ext cx="10363200" cy="1470025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/>
            </a:lvl1pPr>
            <a:lvl2pPr marL="457200" indent="0" algn="ctr">
              <a:buNone/>
              <a:defRPr/>
            </a:lvl2pPr>
            <a:lvl3pPr marL="914400" indent="0" algn="ctr">
              <a:buNone/>
              <a:defRPr/>
            </a:lvl3pPr>
            <a:lvl4pPr marL="1371600" indent="0" algn="ctr">
              <a:buNone/>
              <a:defRPr/>
            </a:lvl4pPr>
            <a:lvl5pPr marL="1828800" indent="0" algn="ctr">
              <a:buNone/>
              <a:defRPr/>
            </a:lvl5pPr>
            <a:lvl6pPr marL="2286000" indent="0" algn="ctr">
              <a:buNone/>
              <a:defRPr/>
            </a:lvl6pPr>
            <a:lvl7pPr marL="2743200" indent="0" algn="ctr">
              <a:buNone/>
              <a:defRPr/>
            </a:lvl7pPr>
            <a:lvl8pPr marL="3200400" indent="0" algn="ctr">
              <a:buNone/>
              <a:defRPr/>
            </a:lvl8pPr>
            <a:lvl9pPr marL="3657600" indent="0" algn="ctr">
              <a:buNone/>
              <a:defRPr/>
            </a:lvl9pPr>
          </a:lstStyle>
          <a:p>
            <a:r>
              <a:rPr lang="fr-FR" smtClean="0"/>
              <a:t>Cliquez pour modifier le style des sous-titres du masque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20145A6B-277E-4029-9E0B-0271FFE59EB6}" type="datetime1">
              <a:rPr lang="fr-FR" smtClean="0"/>
              <a:t>15/01/2025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827F164-2AFA-4878-B6DC-B21DA486304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03032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5EEAD95-047D-434C-94E6-21EBF421E084}" type="datetime1">
              <a:rPr lang="fr-FR" smtClean="0"/>
              <a:t>15/01/2025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617CCD0-4F98-4392-B995-B19C0157D768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5793517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63084" y="4406903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0E85B-6058-4423-8F7A-4FBB18FA07C1}" type="datetime1">
              <a:rPr lang="fr-FR" smtClean="0"/>
              <a:t>15/01/2025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247F796-EFDC-4369-84AD-973929CACFD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74153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914402" y="1981201"/>
            <a:ext cx="5077884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95484" y="1981201"/>
            <a:ext cx="5080000" cy="411321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6BA6324-8179-42BA-9313-AB3649298C41}" type="datetime1">
              <a:rPr lang="fr-FR" smtClean="0"/>
              <a:t>15/01/2025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CCA6A9D-AE4D-4B9F-82A2-A8A1879CF1FD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150762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93369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93369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7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B149203-36D1-40BE-98DA-9DA8422BCD53}" type="datetime1">
              <a:rPr lang="fr-FR" smtClean="0"/>
              <a:t>15/01/2025</a:t>
            </a:fld>
            <a:endParaRPr lang="fr-FR"/>
          </a:p>
        </p:txBody>
      </p:sp>
      <p:sp>
        <p:nvSpPr>
          <p:cNvPr id="8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9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6DD686-4B0E-404B-9A8C-39B7649B33F2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2709812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4F477A3-8FE0-4B7E-A69A-AF8A31224535}" type="datetime1">
              <a:rPr lang="fr-FR" smtClean="0"/>
              <a:t>15/01/2025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AF7A8C2-4022-4423-AD6A-3808F8CCE6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01383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E4265DF-C9D6-4224-B0D0-B18720FAE376}" type="datetime1">
              <a:rPr lang="fr-FR" smtClean="0"/>
              <a:t>15/01/2025</a:t>
            </a:fld>
            <a:endParaRPr lang="fr-FR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D70BB9D-EEFD-47F1-8456-A76ECCAD119E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3038411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2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4766733" y="273053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609602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4AB563E-CA6D-4202-9FD3-4E9C2001BF5C}" type="datetime1">
              <a:rPr lang="fr-FR" smtClean="0"/>
              <a:t>15/01/2025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FA92917-01B5-4E8C-BFEC-18FD0A17E87A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8675770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fr-FR" noProof="0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fr-FR" smtClean="0"/>
              <a:t>Cliquez pour modifier les styles du texte du masque</a:t>
            </a:r>
          </a:p>
        </p:txBody>
      </p:sp>
      <p:sp>
        <p:nvSpPr>
          <p:cNvPr id="5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8BCC719-82BB-485C-9884-0955D2EDAFDA}" type="datetime1">
              <a:rPr lang="fr-FR" smtClean="0"/>
              <a:t>15/01/2025</a:t>
            </a:fld>
            <a:endParaRPr lang="fr-FR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5C56B6E-88B6-4A57-AEFD-EA1E6BE9AD79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1736842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2E81FDD-F3A2-4361-94BD-09467961B8B4}" type="datetime1">
              <a:rPr lang="fr-FR" smtClean="0"/>
              <a:t>15/01/2025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F4B7C2-8CE4-4BAD-9D0C-80765E61DE9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8989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686802" y="609603"/>
            <a:ext cx="2588684" cy="5484813"/>
          </a:xfrm>
        </p:spPr>
        <p:txBody>
          <a:bodyPr vert="eaVert"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914400" y="609603"/>
            <a:ext cx="7569200" cy="5484813"/>
          </a:xfrm>
        </p:spPr>
        <p:txBody>
          <a:bodyPr vert="eaVert"/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FR"/>
          </a:p>
        </p:txBody>
      </p:sp>
      <p:sp>
        <p:nvSpPr>
          <p:cNvPr id="4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4BB1012-3A3D-4B91-A754-A02A28E75EEE}" type="datetime1">
              <a:rPr lang="fr-FR" smtClean="0"/>
              <a:t>15/01/2025</a:t>
            </a:fld>
            <a:endParaRPr lang="fr-FR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CE99EC31-E3B7-4FC8-BB6A-FBF82360E3C3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393429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sposition personnalisé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914402" y="609603"/>
            <a:ext cx="10361084" cy="1141413"/>
          </a:xfrm>
        </p:spPr>
        <p:txBody>
          <a:bodyPr/>
          <a:lstStyle/>
          <a:p>
            <a:r>
              <a:rPr lang="fr-FR" smtClean="0"/>
              <a:t>Cliquez pour modifier le style du titre</a:t>
            </a:r>
            <a:endParaRPr lang="fr-FR"/>
          </a:p>
        </p:txBody>
      </p:sp>
      <p:sp>
        <p:nvSpPr>
          <p:cNvPr id="3" name="Rectangle 3"/>
          <p:cNvSpPr>
            <a:spLocks noGrp="1" noChangeArrowheads="1"/>
          </p:cNvSpPr>
          <p:nvPr>
            <p:ph type="dt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97BA0297-0565-4E69-9C42-831900A170AB}" type="datetime1">
              <a:rPr lang="fr-FR" smtClean="0"/>
              <a:t>15/01/2025</a:t>
            </a:fld>
            <a:endParaRPr lang="fr-FR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ft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fr-FR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sldNum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39E9879-8CFB-4292-8612-256D92E5B285}" type="slidenum">
              <a:rPr lang="fr-FR"/>
              <a:pPr>
                <a:defRPr/>
              </a:pPr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17374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theme" Target="../theme/theme2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image" Target="../media/image2.png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 smtClean="0"/>
              <a:t>Cliquez pour modifier le style du titre</a:t>
            </a:r>
            <a:endParaRPr lang="fr-BE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609600" y="1600203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 smtClean="0"/>
              <a:t>Cliquez pour modifier les styles du texte du masque</a:t>
            </a:r>
          </a:p>
          <a:p>
            <a:pPr lvl="1"/>
            <a:r>
              <a:rPr lang="fr-FR" smtClean="0"/>
              <a:t>Deuxième niveau</a:t>
            </a:r>
          </a:p>
          <a:p>
            <a:pPr lvl="2"/>
            <a:r>
              <a:rPr lang="fr-FR" smtClean="0"/>
              <a:t>Troisième niveau</a:t>
            </a:r>
          </a:p>
          <a:p>
            <a:pPr lvl="3"/>
            <a:r>
              <a:rPr lang="fr-FR" smtClean="0"/>
              <a:t>Quatrième niveau</a:t>
            </a:r>
          </a:p>
          <a:p>
            <a:pPr lvl="4"/>
            <a:r>
              <a:rPr lang="fr-FR" smtClean="0"/>
              <a:t>Cinquième niveau</a:t>
            </a:r>
            <a:endParaRPr lang="fr-BE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609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2BF9D3C-AC6F-429E-8EA4-013C4366CE2E}" type="datetime1">
              <a:rPr lang="fr-FR" smtClean="0"/>
              <a:t>15/01/2025</a:t>
            </a:fld>
            <a:endParaRPr lang="fr-BE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165600" y="6356353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fr-BE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737600" y="6356353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F4668DC-857F-487D-BFFA-8C0CA5037977}" type="slidenum">
              <a:rPr lang="fr-BE" smtClean="0"/>
              <a:pPr/>
              <a:t>‹N°›</a:t>
            </a:fld>
            <a:endParaRPr lang="fr-BE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4"/>
          <a:srcRect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1"/>
          <p:cNvSpPr>
            <a:spLocks noGrp="1" noChangeArrowheads="1"/>
          </p:cNvSpPr>
          <p:nvPr>
            <p:ph type="title"/>
          </p:nvPr>
        </p:nvSpPr>
        <p:spPr bwMode="auto">
          <a:xfrm>
            <a:off x="914402" y="609603"/>
            <a:ext cx="10361084" cy="11414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texte-titre</a:t>
            </a:r>
          </a:p>
        </p:txBody>
      </p:sp>
      <p:sp>
        <p:nvSpPr>
          <p:cNvPr id="1027" name="Rectangle 2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2" y="1981201"/>
            <a:ext cx="10361084" cy="4113213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smtClean="0"/>
              <a:t>Cliquez pour éditer le format du plan de texte</a:t>
            </a:r>
          </a:p>
          <a:p>
            <a:pPr lvl="1"/>
            <a:r>
              <a:rPr lang="en-GB" smtClean="0"/>
              <a:t>Second niveau de plan</a:t>
            </a:r>
          </a:p>
          <a:p>
            <a:pPr lvl="2"/>
            <a:r>
              <a:rPr lang="en-GB" smtClean="0"/>
              <a:t>Troisième niveau de plan</a:t>
            </a:r>
          </a:p>
          <a:p>
            <a:pPr lvl="3"/>
            <a:r>
              <a:rPr lang="en-GB" smtClean="0"/>
              <a:t>Quatrième niveau de plan</a:t>
            </a:r>
          </a:p>
          <a:p>
            <a:pPr lvl="4"/>
            <a:r>
              <a:rPr lang="en-GB" smtClean="0"/>
              <a:t>Cinquième niveau de plan</a:t>
            </a:r>
          </a:p>
          <a:p>
            <a:pPr lvl="4"/>
            <a:r>
              <a:rPr lang="en-GB" smtClean="0"/>
              <a:t>Sixième niveau de plan</a:t>
            </a:r>
          </a:p>
          <a:p>
            <a:pPr lvl="4"/>
            <a:r>
              <a:rPr lang="en-GB" smtClean="0"/>
              <a:t>Septième niveau de plan</a:t>
            </a:r>
          </a:p>
          <a:p>
            <a:pPr lvl="4"/>
            <a:r>
              <a:rPr lang="en-GB" smtClean="0"/>
              <a:t>Huitième niveau de plan</a:t>
            </a:r>
          </a:p>
          <a:p>
            <a:pPr lvl="4"/>
            <a:r>
              <a:rPr lang="en-GB" smtClean="0"/>
              <a:t>Neuvième niveau de plan</a:t>
            </a:r>
          </a:p>
        </p:txBody>
      </p:sp>
      <p:sp>
        <p:nvSpPr>
          <p:cNvPr id="2" name="Rectangle 3"/>
          <p:cNvSpPr>
            <a:spLocks noGrp="1" noChangeArrowheads="1"/>
          </p:cNvSpPr>
          <p:nvPr>
            <p:ph type="dt"/>
          </p:nvPr>
        </p:nvSpPr>
        <p:spPr bwMode="auto">
          <a:xfrm>
            <a:off x="914402" y="6248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mtClean="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AFBB3673-710D-4D29-AC82-167E94112C65}" type="datetime1">
              <a:rPr lang="fr-FR" sz="2400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15/01/2025</a:t>
            </a:fld>
            <a:endParaRPr lang="fr-FR" sz="2400"/>
          </a:p>
        </p:txBody>
      </p:sp>
      <p:sp>
        <p:nvSpPr>
          <p:cNvPr id="1028" name="Rectangle 4"/>
          <p:cNvSpPr>
            <a:spLocks noGrp="1" noChangeArrowheads="1"/>
          </p:cNvSpPr>
          <p:nvPr>
            <p:ph type="ftr"/>
          </p:nvPr>
        </p:nvSpPr>
        <p:spPr bwMode="auto">
          <a:xfrm>
            <a:off x="4165602" y="6248403"/>
            <a:ext cx="38586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endParaRPr lang="fr-FR" sz="2400"/>
          </a:p>
        </p:txBody>
      </p:sp>
      <p:sp>
        <p:nvSpPr>
          <p:cNvPr id="1029" name="Rectangle 5"/>
          <p:cNvSpPr>
            <a:spLocks noGrp="1" noChangeArrowheads="1"/>
          </p:cNvSpPr>
          <p:nvPr>
            <p:ph type="sldNum"/>
          </p:nvPr>
        </p:nvSpPr>
        <p:spPr bwMode="auto">
          <a:xfrm>
            <a:off x="11277602" y="6629403"/>
            <a:ext cx="2537884" cy="455613"/>
          </a:xfrm>
          <a:prstGeom prst="rect">
            <a:avLst/>
          </a:prstGeom>
          <a:noFill/>
          <a:ln w="9525">
            <a:noFill/>
            <a:round/>
            <a:headEnd/>
            <a:tailEnd/>
          </a:ln>
          <a:effectLst/>
        </p:spPr>
        <p:txBody>
          <a:bodyPr vert="horz" wrap="square" lIns="90000" tIns="46800" rIns="90000" bIns="46800" numCol="1" anchor="t" anchorCtr="0" compatLnSpc="1">
            <a:prstTxWarp prst="textNoShape">
              <a:avLst/>
            </a:prstTxWarp>
          </a:bodyPr>
          <a:lstStyle>
            <a:lvl1pPr>
              <a:buClrTx/>
              <a:buFontTx/>
              <a:buNone/>
              <a:tabLst>
                <a:tab pos="0" algn="l"/>
                <a:tab pos="914400" algn="l"/>
                <a:tab pos="1828800" algn="l"/>
                <a:tab pos="2743200" algn="l"/>
                <a:tab pos="3657600" algn="l"/>
                <a:tab pos="4572000" algn="l"/>
                <a:tab pos="5486400" algn="l"/>
                <a:tab pos="6400800" algn="l"/>
                <a:tab pos="7315200" algn="l"/>
                <a:tab pos="8229600" algn="l"/>
                <a:tab pos="9144000" algn="l"/>
                <a:tab pos="10058400" algn="l"/>
              </a:tabLst>
              <a:defRPr sz="1000">
                <a:solidFill>
                  <a:srgbClr val="000000"/>
                </a:solidFill>
                <a:ea typeface="Arial Unicode MS" pitchFamily="34" charset="-128"/>
                <a:cs typeface="Arial Unicode MS" pitchFamily="34" charset="-128"/>
              </a:defRPr>
            </a:lvl1pPr>
          </a:lstStyle>
          <a:p>
            <a:pPr defTabSz="449263" fontAlgn="base">
              <a:spcBef>
                <a:spcPct val="0"/>
              </a:spcBef>
              <a:spcAft>
                <a:spcPct val="0"/>
              </a:spcAft>
              <a:buSzPct val="100000"/>
              <a:defRPr/>
            </a:pPr>
            <a:fld id="{7FD84E5A-625F-47DD-A5B9-EA1D8EC3DB43}" type="slidenum">
              <a:rPr lang="fr-FR" smtClean="0"/>
              <a:pPr defTabSz="449263" fontAlgn="base">
                <a:spcBef>
                  <a:spcPct val="0"/>
                </a:spcBef>
                <a:spcAft>
                  <a:spcPct val="0"/>
                </a:spcAft>
                <a:buSzPct val="100000"/>
                <a:defRPr/>
              </a:pPr>
              <a:t>‹N°›</a:t>
            </a:fld>
            <a:endParaRPr lang="fr-FR"/>
          </a:p>
        </p:txBody>
      </p:sp>
      <p:pic>
        <p:nvPicPr>
          <p:cNvPr id="1031" name="Picture 6"/>
          <p:cNvPicPr>
            <a:picLocks noChangeAspect="1" noChangeArrowheads="1"/>
          </p:cNvPicPr>
          <p:nvPr/>
        </p:nvPicPr>
        <p:blipFill>
          <a:blip r:embed="rId15" cstate="print"/>
          <a:srcRect/>
          <a:stretch>
            <a:fillRect/>
          </a:stretch>
        </p:blipFill>
        <p:spPr bwMode="auto">
          <a:xfrm>
            <a:off x="0" y="0"/>
            <a:ext cx="12192000" cy="1295400"/>
          </a:xfrm>
          <a:prstGeom prst="rect">
            <a:avLst/>
          </a:prstGeom>
          <a:noFill/>
          <a:ln w="9525">
            <a:noFill/>
            <a:round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54674497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hf sldNum="0" hdr="0" ftr="0"/>
  <p:txStyles>
    <p:titleStyle>
      <a:lvl1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+mj-lt"/>
          <a:ea typeface="+mj-ea"/>
          <a:cs typeface="+mj-cs"/>
        </a:defRPr>
      </a:lvl1pPr>
      <a:lvl2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2pPr>
      <a:lvl3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3pPr>
      <a:lvl4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4pPr>
      <a:lvl5pPr algn="ctr" defTabSz="449263" rtl="0" eaLnBrk="0" fontAlgn="base" hangingPunct="0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5pPr>
      <a:lvl6pPr marL="25146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6pPr>
      <a:lvl7pPr marL="29718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7pPr>
      <a:lvl8pPr marL="34290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8pPr>
      <a:lvl9pPr marL="3886200" indent="-228600" algn="ctr" defTabSz="449263" rtl="0" fontAlgn="base">
        <a:spcBef>
          <a:spcPct val="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4400">
          <a:solidFill>
            <a:srgbClr val="000000"/>
          </a:solidFill>
          <a:latin typeface="Times New Roman" pitchFamily="18" charset="0"/>
          <a:ea typeface="SimSun" pitchFamily="2" charset="-122"/>
        </a:defRPr>
      </a:lvl9pPr>
    </p:titleStyle>
    <p:bodyStyle>
      <a:lvl1pPr marL="342900" indent="-342900" algn="l" defTabSz="449263" rtl="0" eaLnBrk="0" fontAlgn="base" hangingPunct="0">
        <a:spcBef>
          <a:spcPts val="8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3200">
          <a:solidFill>
            <a:srgbClr val="000000"/>
          </a:solidFill>
          <a:latin typeface="+mn-lt"/>
          <a:ea typeface="+mn-ea"/>
          <a:cs typeface="+mn-cs"/>
        </a:defRPr>
      </a:lvl1pPr>
      <a:lvl2pPr marL="742950" indent="-285750" algn="l" defTabSz="449263" rtl="0" eaLnBrk="0" fontAlgn="base" hangingPunct="0">
        <a:spcBef>
          <a:spcPts val="7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800">
          <a:solidFill>
            <a:srgbClr val="000000"/>
          </a:solidFill>
          <a:latin typeface="+mn-lt"/>
          <a:ea typeface="+mn-ea"/>
        </a:defRPr>
      </a:lvl2pPr>
      <a:lvl3pPr marL="1143000" indent="-228600" algn="l" defTabSz="449263" rtl="0" eaLnBrk="0" fontAlgn="base" hangingPunct="0">
        <a:spcBef>
          <a:spcPts val="6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•"/>
        <a:defRPr sz="2400">
          <a:solidFill>
            <a:srgbClr val="000000"/>
          </a:solidFill>
          <a:latin typeface="+mn-lt"/>
          <a:ea typeface="+mn-ea"/>
        </a:defRPr>
      </a:lvl3pPr>
      <a:lvl4pPr marL="16002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–"/>
        <a:defRPr sz="2000">
          <a:solidFill>
            <a:srgbClr val="000000"/>
          </a:solidFill>
          <a:latin typeface="+mn-lt"/>
          <a:ea typeface="+mn-ea"/>
        </a:defRPr>
      </a:lvl4pPr>
      <a:lvl5pPr marL="2057400" indent="-228600" algn="l" defTabSz="449263" rtl="0" eaLnBrk="0" fontAlgn="base" hangingPunct="0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buChar char="»"/>
        <a:defRPr sz="2000">
          <a:solidFill>
            <a:srgbClr val="000000"/>
          </a:solidFill>
          <a:latin typeface="+mn-lt"/>
          <a:ea typeface="+mn-ea"/>
        </a:defRPr>
      </a:lvl5pPr>
      <a:lvl6pPr marL="25146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6pPr>
      <a:lvl7pPr marL="29718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7pPr>
      <a:lvl8pPr marL="34290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8pPr>
      <a:lvl9pPr marL="3886200" indent="-228600" algn="l" defTabSz="449263" rtl="0" fontAlgn="base">
        <a:spcBef>
          <a:spcPts val="500"/>
        </a:spcBef>
        <a:spcAft>
          <a:spcPct val="0"/>
        </a:spcAft>
        <a:buClr>
          <a:srgbClr val="000000"/>
        </a:buClr>
        <a:buSzPct val="100000"/>
        <a:buFont typeface="Times New Roman" pitchFamily="18" charset="0"/>
        <a:defRPr sz="2000">
          <a:solidFill>
            <a:srgbClr val="000000"/>
          </a:solidFill>
          <a:latin typeface="+mn-lt"/>
          <a:ea typeface="+mn-ea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8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5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gif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 dirty="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0416480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46732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15/01/2025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1127448" y="2030870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ثــانــويــة أسـي يــوسـف بــوغــنـي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 </a:t>
            </a:r>
          </a:p>
          <a:p>
            <a:pPr lvl="0" algn="ctr" defTabSz="100965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الـمــــادة : الـمــعـــلـــومــــاتـــيـــة</a:t>
            </a:r>
            <a:r>
              <a:rPr lang="ar-DZ" altLang="zh-CN" sz="6000" b="1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 </a:t>
            </a:r>
            <a:endParaRPr lang="ar-SA" altLang="zh-CN" sz="6000" b="1" dirty="0" smtClean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>
              <a:lnSpc>
                <a:spcPct val="150000"/>
              </a:lnSpc>
            </a:pPr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27623440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25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/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ال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 :</a:t>
            </a: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15/01/2025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11590085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 smtClean="0">
                <a:solidFill>
                  <a:srgbClr val="FF0000"/>
                </a:solidFill>
                <a:cs typeface="+mj-cs"/>
              </a:rPr>
              <a:t>الإشــكــالــيــة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cs typeface="+mj-cs"/>
              </a:rPr>
              <a:t>عـنـد إلـقـاء </a:t>
            </a:r>
            <a:r>
              <a:rPr lang="ar-DZ" sz="4000" b="1" dirty="0" smtClean="0">
                <a:cs typeface="+mj-cs"/>
              </a:rPr>
              <a:t>مـحـاضـرةٍ </a:t>
            </a:r>
            <a:r>
              <a:rPr lang="ar-DZ" sz="4000" b="1" dirty="0">
                <a:cs typeface="+mj-cs"/>
              </a:rPr>
              <a:t>أو تـنـشـيـط </a:t>
            </a:r>
            <a:r>
              <a:rPr lang="ar-DZ" sz="4000" b="1" dirty="0" smtClean="0">
                <a:cs typeface="+mj-cs"/>
              </a:rPr>
              <a:t>دَرْسٍ </a:t>
            </a:r>
            <a:r>
              <a:rPr lang="ar-DZ" sz="4000" b="1" dirty="0">
                <a:cs typeface="+mj-cs"/>
              </a:rPr>
              <a:t>كـثـيـرًا مـا نـسـتـعــمـل </a:t>
            </a:r>
            <a:r>
              <a:rPr lang="ar-DZ" sz="4000" b="1" dirty="0" smtClean="0">
                <a:cs typeface="+mj-cs"/>
              </a:rPr>
              <a:t>جَــهَــازَيْ </a:t>
            </a:r>
            <a:r>
              <a:rPr lang="ar-DZ" sz="4000" b="1" dirty="0">
                <a:cs typeface="+mj-cs"/>
              </a:rPr>
              <a:t>الـحـاســوب </a:t>
            </a:r>
            <a:r>
              <a:rPr lang="ar-DZ" sz="4000" b="1" dirty="0" smtClean="0">
                <a:cs typeface="+mj-cs"/>
              </a:rPr>
              <a:t>والـعــارِض </a:t>
            </a:r>
            <a:r>
              <a:rPr lang="ar-DZ" sz="4000" b="1" dirty="0">
                <a:cs typeface="+mj-cs"/>
              </a:rPr>
              <a:t>الـضـوئـي بِـغَــرَض إيـصـال الـمـعـلـومـات للـحـاضـريـن بـطـريــقـة سـهـلـة </a:t>
            </a:r>
            <a:r>
              <a:rPr lang="ar-DZ" sz="4000" b="1" dirty="0" smtClean="0">
                <a:cs typeface="+mj-cs"/>
              </a:rPr>
              <a:t>ومُــشَــوِّقَــة، </a:t>
            </a:r>
            <a:r>
              <a:rPr lang="ar-DZ" sz="4000" b="1" dirty="0">
                <a:cs typeface="+mj-cs"/>
              </a:rPr>
              <a:t>فــمــا هــي الــوســـيــلــة الَّـتِي نــســتــعــمــلـهـا </a:t>
            </a:r>
            <a:r>
              <a:rPr lang="ar-DZ" sz="4000" b="1" dirty="0" smtClean="0">
                <a:cs typeface="+mj-cs"/>
              </a:rPr>
              <a:t>غَــالِــبًــا </a:t>
            </a:r>
            <a:r>
              <a:rPr lang="ar-DZ" sz="4000" b="1" dirty="0">
                <a:cs typeface="+mj-cs"/>
              </a:rPr>
              <a:t>فـي </a:t>
            </a:r>
            <a:r>
              <a:rPr lang="ar-DZ" sz="4000" b="1" dirty="0" smtClean="0">
                <a:cs typeface="+mj-cs"/>
              </a:rPr>
              <a:t>مِــثْــلِ </a:t>
            </a:r>
            <a:r>
              <a:rPr lang="ar-DZ" sz="4000" b="1" dirty="0">
                <a:cs typeface="+mj-cs"/>
              </a:rPr>
              <a:t>هــذه </a:t>
            </a:r>
            <a:r>
              <a:rPr lang="ar-DZ" sz="4000" b="1" dirty="0" smtClean="0">
                <a:cs typeface="+mj-cs"/>
              </a:rPr>
              <a:t>الــدُرُوسِ والــمُــحَـــاضَــرَاتِ </a:t>
            </a:r>
            <a:r>
              <a:rPr lang="ar-DZ" sz="4000" b="1" dirty="0">
                <a:cs typeface="+mj-cs"/>
              </a:rPr>
              <a:t>؟ </a:t>
            </a:r>
            <a:endParaRPr lang="ar-DZ" sz="40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/>
              <a:t>الــوســـيــلــة هــي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577391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uiExpand="1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6000" b="1" u="sng" dirty="0">
                <a:solidFill>
                  <a:srgbClr val="FF0000"/>
                </a:solidFill>
                <a:cs typeface="+mj-cs"/>
              </a:rPr>
              <a:t>الإجــابــة</a:t>
            </a:r>
            <a:r>
              <a:rPr lang="ar-DZ" sz="6000" b="1" dirty="0" smtClean="0">
                <a:solidFill>
                  <a:srgbClr val="FF0000"/>
                </a:solidFill>
                <a:cs typeface="+mj-cs"/>
              </a:rPr>
              <a:t> :</a:t>
            </a:r>
            <a:endParaRPr lang="fr-FR" sz="60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95188"/>
            <a:ext cx="10814992" cy="5061165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30000"/>
              </a:lnSpc>
              <a:buNone/>
            </a:pPr>
            <a:endParaRPr lang="fr-FR" sz="6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 smtClean="0">
              <a:cs typeface="+mj-cs"/>
            </a:endParaRPr>
          </a:p>
          <a:p>
            <a:pPr marL="0" indent="0" algn="r" rtl="1">
              <a:buNone/>
            </a:pPr>
            <a:endParaRPr lang="ar-DZ" sz="4000" b="1" dirty="0">
              <a:cs typeface="+mj-cs"/>
            </a:endParaRPr>
          </a:p>
          <a:p>
            <a:pPr marL="0" indent="0" algn="r" rtl="1">
              <a:buNone/>
            </a:pPr>
            <a:r>
              <a:rPr lang="ar-DZ" sz="4400" b="1" dirty="0"/>
              <a:t>الــوســـيــلــة هــي</a:t>
            </a:r>
            <a:r>
              <a:rPr lang="ar-DZ" sz="4400" b="1" dirty="0" smtClean="0">
                <a:cs typeface="+mj-cs"/>
              </a:rPr>
              <a:t>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: </a:t>
            </a:r>
            <a:r>
              <a:rPr lang="ar-DZ" sz="4400" baseline="-250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......................................................................</a:t>
            </a:r>
            <a:endParaRPr lang="ar-DZ" sz="4400" baseline="-25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cs typeface="+mj-cs"/>
            </a:endParaRPr>
          </a:p>
          <a:p>
            <a:pPr marL="444500" indent="0" algn="r" rtl="1">
              <a:lnSpc>
                <a:spcPct val="12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>
              <a:cs typeface="+mj-cs"/>
            </a:endParaRPr>
          </a:p>
          <a:p>
            <a:pPr marL="0" indent="0" algn="r" rtl="1">
              <a:lnSpc>
                <a:spcPct val="150000"/>
              </a:lnSpc>
              <a:buNone/>
            </a:pPr>
            <a:endParaRPr lang="fr-FR" sz="4000" dirty="0" smtClean="0">
              <a:cs typeface="+mj-cs"/>
            </a:endParaRPr>
          </a:p>
          <a:p>
            <a:pPr marL="0" lvl="0" indent="0" algn="r" rtl="1">
              <a:buNone/>
            </a:pPr>
            <a:r>
              <a:rPr lang="ar-DZ" sz="3600" b="1" dirty="0" smtClean="0">
                <a:cs typeface="+mj-cs"/>
              </a:rPr>
              <a:t> </a:t>
            </a:r>
          </a:p>
          <a:p>
            <a:pPr marL="268288" lvl="0" indent="0" algn="r" rtl="1">
              <a:buNone/>
            </a:pPr>
            <a:endParaRPr lang="fr-FR" sz="4800" b="1" dirty="0"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1055440" y="3031993"/>
            <a:ext cx="63367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indent="271463" algn="ctr" rtl="1">
              <a:tabLst>
                <a:tab pos="357188" algn="l"/>
              </a:tabLst>
            </a:pPr>
            <a:r>
              <a:rPr lang="ar-DZ" sz="4400" b="1" dirty="0" smtClean="0">
                <a:solidFill>
                  <a:srgbClr val="0070C0"/>
                </a:solidFill>
              </a:rPr>
              <a:t>الــعُـــرُوض الــتَـــقْـــدِيــــمِـــيَّـــة</a:t>
            </a:r>
            <a:endParaRPr lang="fr-FR" sz="44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774769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1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/>
      <p:bldP spid="5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2966770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وح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err="1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دة</a:t>
            </a:r>
            <a:r>
              <a:rPr lang="ar-SA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ال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ت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ع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ل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ي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ة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DZ" altLang="zh-CN" sz="4000" b="1" dirty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</a:t>
            </a:r>
            <a:r>
              <a:rPr lang="ar-SA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:</a:t>
            </a:r>
            <a:r>
              <a:rPr lang="ar-DZ" altLang="zh-CN" sz="4000" b="1" dirty="0" smtClean="0">
                <a:solidFill>
                  <a:srgbClr val="00B050"/>
                </a:solidFill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  </a:t>
            </a:r>
            <a:r>
              <a:rPr lang="ar-DZ" sz="4000" b="1" dirty="0" smtClean="0">
                <a:solidFill>
                  <a:srgbClr val="0070C0"/>
                </a:solidFill>
              </a:rPr>
              <a:t>الـعُـــرُوضُ الــتَــقْــدِيـــمِــيَّــة </a:t>
            </a:r>
            <a:endParaRPr lang="ar-SA" altLang="zh-CN" sz="4000" b="1" dirty="0">
              <a:solidFill>
                <a:srgbClr val="00B050"/>
              </a:solidFill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1620000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>
              <a:lnSpc>
                <a:spcPct val="135000"/>
              </a:lnSpc>
            </a:pPr>
            <a:r>
              <a:rPr lang="ar-DZ" altLang="zh-CN" sz="4000" b="1" u="sng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الــمـــجــــال </a:t>
            </a:r>
            <a:r>
              <a:rPr lang="ar-DZ" altLang="zh-CN" sz="4000" b="1" u="sng" dirty="0" err="1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الــتَـــعَــــلُـــمِــي</a:t>
            </a:r>
            <a:r>
              <a:rPr lang="ar-DZ" altLang="zh-CN" sz="4000" b="1" dirty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Times New Roman" panose="02020603050405020304" pitchFamily="18" charset="0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anose="02020603050405020304" pitchFamily="18" charset="0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/>
              <a:t>15/01/2025</a:t>
            </a:fld>
            <a:endParaRPr lang="fr-BE" sz="2400" b="1" dirty="0"/>
          </a:p>
        </p:txBody>
      </p:sp>
      <p:sp>
        <p:nvSpPr>
          <p:cNvPr id="9" name="Rectangle à coins arrondis 8"/>
          <p:cNvSpPr/>
          <p:nvPr/>
        </p:nvSpPr>
        <p:spPr>
          <a:xfrm>
            <a:off x="587388" y="5081119"/>
            <a:ext cx="7164796" cy="1586641"/>
          </a:xfrm>
          <a:prstGeom prst="roundRect">
            <a:avLst>
              <a:gd name="adj" fmla="val 26762"/>
            </a:avLst>
          </a:prstGeom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eaLnBrk="0" fontAlgn="base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</a:pP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+mj-cs"/>
              </a:rPr>
              <a:t>MS-PowerPoint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Arial" pitchFamily="34" charset="0"/>
                <a:cs typeface="+mj-cs"/>
              </a:rPr>
              <a:t> </a:t>
            </a:r>
            <a:r>
              <a:rPr lang="fr-FR" altLang="zh-CN" sz="4000" b="1" dirty="0" smtClean="0">
                <a:ln w="0"/>
                <a:solidFill>
                  <a:prstClr val="black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MS-Office )</a:t>
            </a:r>
            <a:endParaRPr lang="ar-SA" altLang="zh-CN" sz="4000" b="1" dirty="0" smtClean="0">
              <a:ln w="0"/>
              <a:solidFill>
                <a:prstClr val="black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fr-FR" sz="2000" dirty="0"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9428117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7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4" grpId="0" animBg="1"/>
      <p:bldP spid="9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à coins arrondis 4"/>
          <p:cNvSpPr/>
          <p:nvPr/>
        </p:nvSpPr>
        <p:spPr>
          <a:xfrm>
            <a:off x="587388" y="3645024"/>
            <a:ext cx="10693188" cy="2304256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rtl="1"/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مَــــدْخَـــــل إِلَـى الـ</a:t>
            </a:r>
            <a:r>
              <a:rPr lang="ar-DZ" altLang="zh-CN" sz="44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ب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ــرنـ</a:t>
            </a:r>
            <a:r>
              <a:rPr lang="ar-DZ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</a:t>
            </a:r>
            <a:r>
              <a:rPr lang="ar-SA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ــامــج  </a:t>
            </a:r>
            <a:r>
              <a:rPr lang="fr-FR" altLang="zh-CN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Times New Roman" pitchFamily="18" charset="0"/>
              </a:rPr>
              <a:t>MS-PowerPoint</a:t>
            </a:r>
            <a:endParaRPr lang="ar-SA" altLang="zh-CN" sz="4400" b="1" dirty="0">
              <a:solidFill>
                <a:srgbClr val="0070C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itchFamily="18" charset="0"/>
              <a:ea typeface="Times New Roman" pitchFamily="18" charset="0"/>
              <a:cs typeface="Times New Roman" pitchFamily="18" charset="0"/>
            </a:endParaRPr>
          </a:p>
        </p:txBody>
      </p:sp>
      <p:sp>
        <p:nvSpPr>
          <p:cNvPr id="6" name="Rectangle à coins arrondis 5"/>
          <p:cNvSpPr/>
          <p:nvPr/>
        </p:nvSpPr>
        <p:spPr>
          <a:xfrm>
            <a:off x="587388" y="950541"/>
            <a:ext cx="10801200" cy="2448272"/>
          </a:xfrm>
          <a:prstGeom prst="round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r" rtl="1">
              <a:lnSpc>
                <a:spcPct val="135000"/>
              </a:lnSpc>
            </a:pPr>
            <a:r>
              <a:rPr lang="ar-DZ" altLang="zh-CN" sz="4000" b="1" u="sng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الــمـــجــــال </a:t>
            </a:r>
            <a:r>
              <a:rPr lang="ar-DZ" altLang="zh-CN" sz="4000" b="1" u="sng" dirty="0" err="1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الــتَـــعَــــلُـــمِــي</a:t>
            </a:r>
            <a:r>
              <a:rPr lang="ar-DZ" altLang="zh-CN" sz="4000" b="1" dirty="0" smtClean="0">
                <a:solidFill>
                  <a:srgbClr val="FF0000"/>
                </a:solidFill>
                <a:latin typeface="Times New Roman" pitchFamily="18" charset="0"/>
                <a:ea typeface="Droid Sans Fallback"/>
                <a:cs typeface="+mj-cs"/>
              </a:rPr>
              <a:t>  :  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الـــ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م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ك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ت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ب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ـــ</a:t>
            </a:r>
            <a:r>
              <a:rPr lang="ar-DZ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يــــ</a:t>
            </a:r>
            <a:r>
              <a:rPr lang="ar-SA" altLang="zh-CN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itchFamily="18" charset="0"/>
                <a:ea typeface="Times New Roman" pitchFamily="18" charset="0"/>
                <a:cs typeface="+mj-cs"/>
              </a:rPr>
              <a:t>ــة</a:t>
            </a:r>
            <a:endParaRPr lang="fr-FR" sz="4000" u="sng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4" name="Espace réservé de la date 6"/>
          <p:cNvSpPr>
            <a:spLocks noGrp="1"/>
          </p:cNvSpPr>
          <p:nvPr>
            <p:ph type="dt" sz="half" idx="10"/>
          </p:nvPr>
        </p:nvSpPr>
        <p:spPr>
          <a:xfrm>
            <a:off x="587388" y="188640"/>
            <a:ext cx="2016224" cy="576064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/>
          <a:lstStyle/>
          <a:p>
            <a:fld id="{2901635A-126F-4D9B-99FC-E41D53661A20}" type="datetime1">
              <a:rPr lang="fr-FR" sz="2400" b="1" u="sng"/>
              <a:t>15/01/2025</a:t>
            </a:fld>
            <a:endParaRPr lang="fr-BE" sz="2400" b="1" u="sng" dirty="0"/>
          </a:p>
        </p:txBody>
      </p:sp>
    </p:spTree>
    <p:extLst>
      <p:ext uri="{BB962C8B-B14F-4D97-AF65-F5344CB8AC3E}">
        <p14:creationId xmlns:p14="http://schemas.microsoft.com/office/powerpoint/2010/main" val="5734377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1. مــفــاهــيــم أســاســيــة عــن </a:t>
            </a:r>
            <a:r>
              <a:rPr lang="fr-FR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B050"/>
                </a:solidFill>
                <a:cs typeface="Times New Roman" panose="02020603050405020304" pitchFamily="18" charset="0"/>
              </a:rPr>
              <a:t>1</a:t>
            </a:r>
            <a:r>
              <a:rPr lang="ar-DZ" sz="5400" b="1" dirty="0">
                <a:solidFill>
                  <a:srgbClr val="00B050"/>
                </a:solidFill>
                <a:cs typeface="Times New Roman" panose="02020603050405020304" pitchFamily="18" charset="0"/>
              </a:rPr>
              <a:t> </a:t>
            </a:r>
            <a:r>
              <a:rPr lang="ar-DZ" sz="5400" b="1" dirty="0" smtClean="0">
                <a:solidFill>
                  <a:srgbClr val="00B050"/>
                </a:solidFill>
                <a:cs typeface="Times New Roman" panose="02020603050405020304" pitchFamily="18" charset="0"/>
              </a:rPr>
              <a:t>:</a:t>
            </a:r>
            <a:endParaRPr lang="ar-DZ" sz="1000" b="1" dirty="0" smtClean="0"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مَــاذَا </a:t>
            </a:r>
            <a:r>
              <a:rPr lang="ar-DZ" sz="4400" b="1" dirty="0" smtClean="0"/>
              <a:t>يُــمَــثِــلُ لَــكُــمْ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الــ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بَـــرْنَـــامَــجُ  </a:t>
            </a:r>
            <a:r>
              <a:rPr lang="fr-FR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cs typeface="+mj-cs"/>
              </a:rPr>
              <a:t>؟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تــعـــريـــف 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الـبــرنــامـج </a:t>
            </a:r>
            <a:r>
              <a:rPr lang="fr-FR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4884893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470163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8293846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Office</a:t>
            </a:r>
          </a:p>
        </p:txBody>
      </p:sp>
    </p:spTree>
    <p:extLst>
      <p:ext uri="{BB962C8B-B14F-4D97-AF65-F5344CB8AC3E}">
        <p14:creationId xmlns:p14="http://schemas.microsoft.com/office/powerpoint/2010/main" val="12779657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46180" y="3450198"/>
            <a:ext cx="476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عُــــرُوضٍ تَـــقْـــدِيـــمِـــيَـــةٍ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3885314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(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1.1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تـعـــريــف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الـبــرنــامـج 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PowerPoint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cs typeface="+mj-cs"/>
              </a:rPr>
              <a:t> </a:t>
            </a:r>
            <a:endParaRPr lang="ar-DZ" sz="800" b="1" dirty="0" smtClean="0">
              <a:solidFill>
                <a:srgbClr val="00206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هـــو مــن أَحَـــدِ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الــمُــمُـــيَّـــزَةِ الـمَــوْجُـــودَةِ ضِــمْــنَ الــمَــجْــمُــوعَــةِ الــمَــكْـــتَـــبِـــيَــةِ  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والَّـذِي يَــسْــمَـحُ بِـإِنْــشَــاءِ</a:t>
            </a:r>
            <a:r>
              <a:rPr lang="ar-DZ" sz="4000" baseline="-25000" dirty="0" smtClean="0">
                <a:solidFill>
                  <a:srgbClr val="002060"/>
                </a:solidFill>
                <a:cs typeface="+mj-cs"/>
              </a:rPr>
              <a:t>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أكــثــر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اِحْــتِــرَافِـــيَــة بِــفَــضْــلِ </a:t>
            </a:r>
            <a:r>
              <a:rPr lang="ar-DZ" sz="4000" baseline="-25000" dirty="0" smtClean="0">
                <a:solidFill>
                  <a:srgbClr val="002060"/>
                </a:solidFill>
              </a:rPr>
              <a:t>...............................</a:t>
            </a:r>
            <a:r>
              <a:rPr lang="ar-DZ" sz="4000" b="1" dirty="0" smtClean="0">
                <a:solidFill>
                  <a:srgbClr val="002060"/>
                </a:solidFill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cs typeface="+mj-cs"/>
              </a:rPr>
              <a:t>الــمُــتَـــنَـــوِعَـــةِ الَّـتِي </a:t>
            </a:r>
            <a:r>
              <a:rPr lang="ar-DZ" sz="4000" b="1" dirty="0">
                <a:solidFill>
                  <a:srgbClr val="002060"/>
                </a:solidFill>
                <a:cs typeface="+mj-cs"/>
              </a:rPr>
              <a:t>يُـــوَفِّــــرُهَــا للــمـــســـتـــخـــدم </a:t>
            </a:r>
            <a:endParaRPr lang="ar-DZ" sz="4000" b="1" dirty="0" smtClean="0">
              <a:solidFill>
                <a:srgbClr val="002060"/>
              </a:solidFill>
              <a:cs typeface="+mj-cs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663952" y="1590920"/>
            <a:ext cx="270030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الـبــرامــج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839416" y="2566593"/>
            <a:ext cx="34563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 Office</a:t>
            </a:r>
          </a:p>
        </p:txBody>
      </p:sp>
      <p:sp>
        <p:nvSpPr>
          <p:cNvPr id="7" name="Rectangle 6"/>
          <p:cNvSpPr/>
          <p:nvPr/>
        </p:nvSpPr>
        <p:spPr>
          <a:xfrm>
            <a:off x="2046180" y="3450198"/>
            <a:ext cx="476338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عُــــرُوضٍ تَـــقْـــدِيـــمِـــيَـــةٍ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4727848" y="4333803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الـخِــيَــارَاتِ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070238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1. مــفــاهــيــم أســاســيــة عــن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MS-PowerPoint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2229839"/>
            <a:ext cx="10814992" cy="4140000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7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نــشـــاط 2</a:t>
            </a:r>
            <a:r>
              <a:rPr lang="ar-DZ" sz="54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r>
              <a:rPr lang="ar-DZ" sz="1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1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عَــــرِّفْ الـعَـــرْض </a:t>
            </a:r>
            <a:r>
              <a:rPr lang="ar-DZ" sz="44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الــتــقـــديـــمـي</a:t>
            </a:r>
            <a:r>
              <a:rPr lang="ar-DZ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Titre 1"/>
          <p:cNvSpPr txBox="1">
            <a:spLocks/>
          </p:cNvSpPr>
          <p:nvPr/>
        </p:nvSpPr>
        <p:spPr>
          <a:xfrm>
            <a:off x="623392" y="1210742"/>
            <a:ext cx="10814992" cy="850106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vert="horz" lIns="91440" tIns="45720" rIns="91440" bIns="45720" rtlCol="0" anchor="ctr">
            <a:noAutofit/>
          </a:bodyPr>
          <a:lstStyle>
            <a:lvl1pPr algn="ctr" defTabSz="914400" rtl="0" eaLnBrk="1" latinLnBrk="0" hangingPunct="1">
              <a:spcBef>
                <a:spcPct val="0"/>
              </a:spcBef>
              <a:buNone/>
              <a:defRPr sz="4400" kern="1200"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1pPr>
            <a:lvl2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2pPr>
            <a:lvl3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3pPr>
            <a:lvl4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4pPr>
            <a:lvl5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5pPr>
            <a:lvl6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6pPr>
            <a:lvl7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7pPr>
            <a:lvl8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8pPr>
            <a:lvl9pPr>
              <a:defRPr>
                <a:solidFill>
                  <a:schemeClr val="dk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DZ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الـتـقــديــمـي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Présentation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00B05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241672146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3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" dur="75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6" dur="7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4018136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764635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2513172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34227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90023" y="4369940"/>
            <a:ext cx="208823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الـشَــرَائِــحُ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8662941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90023" y="4369940"/>
            <a:ext cx="208823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الـشَــرَائِــحُ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11325" y="4342181"/>
            <a:ext cx="1656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الـعَــرْض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14391935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SA" sz="54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 (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5400" b="1" dirty="0" smtClean="0">
                <a:solidFill>
                  <a:srgbClr val="00B050"/>
                </a:solidFill>
                <a:cs typeface="+mj-cs"/>
              </a:rPr>
              <a:t>.1 </a:t>
            </a:r>
            <a:r>
              <a:rPr lang="ar-DZ" sz="4800" b="1" dirty="0">
                <a:solidFill>
                  <a:srgbClr val="00B050"/>
                </a:solidFill>
              </a:rPr>
              <a:t>تـعـــريــف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الـعـــرض </a:t>
            </a:r>
            <a:r>
              <a:rPr lang="ar-DZ" sz="4800" b="1" dirty="0" err="1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الــتــقـــديــمـي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r>
              <a:rPr lang="ar-DZ" sz="5400" b="1" dirty="0" smtClean="0">
                <a:solidFill>
                  <a:srgbClr val="FF0000"/>
                </a:solidFill>
                <a:cs typeface="+mj-cs"/>
              </a:rPr>
              <a:t>)</a:t>
            </a:r>
            <a:endParaRPr lang="fr-FR" sz="54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يــتــألّــف مـن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عِـــدَّة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Diapositives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صــفــحـــات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) يَــتِــمُّ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فــيـهـا إضـــافـــة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إ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صــوتــيــة ... وغـــيــرهــا بـحــيــث تَــتَـمَـيَّــزُ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بــسـهــولــة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.......................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بَــيْــنَـهـا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9264352" y="1595429"/>
            <a:ext cx="136815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مــلــف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575721" y="1595429"/>
            <a:ext cx="20162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شَـــرَائِــحٍ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207568" y="2520343"/>
            <a:ext cx="217813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نــصــوص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624393" y="3427311"/>
            <a:ext cx="158417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صُّــوَرٍ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6888088" y="3435289"/>
            <a:ext cx="196211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cs typeface="+mj-cs"/>
              </a:rPr>
              <a:t>مــلــفــات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7590023" y="4369940"/>
            <a:ext cx="2088233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الـشَــرَائِــحُ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3511325" y="4342181"/>
            <a:ext cx="165618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الـعَــرْض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  <p:sp>
        <p:nvSpPr>
          <p:cNvPr id="12" name="Rectangle 11"/>
          <p:cNvSpPr/>
          <p:nvPr/>
        </p:nvSpPr>
        <p:spPr>
          <a:xfrm>
            <a:off x="805673" y="4348498"/>
            <a:ext cx="19779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cs typeface="+mj-cs"/>
              </a:rPr>
              <a:t>الانـتــقــال </a:t>
            </a:r>
            <a:endParaRPr lang="fr-FR" sz="4000" b="1" dirty="0">
              <a:solidFill>
                <a:srgbClr val="0070C0"/>
              </a:solidFill>
              <a:cs typeface="+mj-cs"/>
            </a:endParaRPr>
          </a:p>
        </p:txBody>
      </p:sp>
    </p:spTree>
    <p:extLst>
      <p:ext uri="{BB962C8B-B14F-4D97-AF65-F5344CB8AC3E}">
        <p14:creationId xmlns:p14="http://schemas.microsoft.com/office/powerpoint/2010/main" val="35279073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8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>
                      <p:stCondLst>
                        <p:cond delay="indefinite"/>
                      </p:stCondLst>
                      <p:childTnLst>
                        <p:par>
                          <p:cTn id="88" fill="hold">
                            <p:stCondLst>
                              <p:cond delay="0"/>
                            </p:stCondLst>
                            <p:childTnLst>
                              <p:par>
                                <p:cTn id="8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1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2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3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أزرار الإجـــراءات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Boutons d’action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زِرٌّ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الإِجْـــرَاء مُـــبَـــيِّــنًــا كــيــفــيــة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إِدْرَاجِـــه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فـي عـــرض تــقــديــمـي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361027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cs typeface="+mj-cs"/>
              </a:rPr>
              <a:t>2. أزرار الإجـــراءات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Boutons d’action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lnSpc>
                <a:spcPct val="150000"/>
              </a:lnSpc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3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زِرٌّ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الإِجْـــرَاء مُـــبَـــيِّــنًــا كــيــفــيــة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إِدْرَاجِـــه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فـي عـــرض تــقــديــمـي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40272" y="1804047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123681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2819208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860800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634274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245221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7688" y="3182243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41247466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</p:bld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7688" y="3182243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95600" y="4120036"/>
            <a:ext cx="401882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ــعُّـ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ـبِـي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Image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617" y="321161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756374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.2 </a:t>
            </a:r>
            <a:r>
              <a:rPr lang="ar-DZ" sz="4800" b="1" dirty="0" smtClean="0">
                <a:solidFill>
                  <a:srgbClr val="00B050"/>
                </a:solidFill>
              </a:rPr>
              <a:t>تـعــريــف </a:t>
            </a:r>
            <a:r>
              <a:rPr lang="ar-DZ" sz="4800" b="1" dirty="0">
                <a:solidFill>
                  <a:srgbClr val="00B050"/>
                </a:solidFill>
              </a:rPr>
              <a:t>ِزرُ الإجــراء</a:t>
            </a:r>
            <a:r>
              <a:rPr lang="ar-DZ" sz="4800" b="1" dirty="0" smtClean="0">
                <a:solidFill>
                  <a:srgbClr val="00B050"/>
                </a:solidFill>
              </a:rPr>
              <a:t>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هــو زِرٌّ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يَــتَّــسِــمُ بِـ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يُــبَــيِّــنُ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بـحــيــث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يُــمْــكِــنُ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فـي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تـــقـــديـــمـي وتــعـــريـــف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لَــهُ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536160" y="2244450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2783632" y="2244450"/>
            <a:ext cx="1616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ـكْـ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لٍ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9048328" y="3220140"/>
            <a:ext cx="20882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ـمَـ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لَـ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3287688" y="3182243"/>
            <a:ext cx="185858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ـه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2495600" y="4120036"/>
            <a:ext cx="401882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اط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ــعُّـ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ـبِـي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834340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2924858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3363070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926385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744" y="3556759"/>
            <a:ext cx="4493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 الـت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يـح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َّ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endParaRPr lang="ar-SA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986722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</p:bld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744" y="3556759"/>
            <a:ext cx="4493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 الـت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يـح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َّ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40016" y="4481673"/>
            <a:ext cx="2003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ــال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Image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153"/>
            <a:ext cx="4294020" cy="2513903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80047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11" grpId="0" animBg="1"/>
    </p:bld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</a:t>
            </a:r>
            <a:r>
              <a:rPr lang="ar-DZ" sz="48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الإجــراء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الأَزْرَارِ يَـــتِــمُّ مِــنْ خِـــلَالِ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عـــلامــة الــتــبــويـــب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Onglet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Insertion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ثُـمَ مـجـمـوعـة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Illustrations </a:t>
            </a:r>
            <a:r>
              <a:rPr lang="en-US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/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وَالـوُلُــوجِ إِلَـى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 </a:t>
            </a:r>
            <a:r>
              <a:rPr lang="fr-FR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Formes</a:t>
            </a:r>
            <a:endParaRPr lang="ar-DZ" sz="40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43873" y="2600163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</a:p>
        </p:txBody>
      </p:sp>
      <p:sp>
        <p:nvSpPr>
          <p:cNvPr id="10" name="Rectangle 9"/>
          <p:cNvSpPr/>
          <p:nvPr/>
        </p:nvSpPr>
        <p:spPr>
          <a:xfrm>
            <a:off x="3791744" y="3556759"/>
            <a:ext cx="4493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الـر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س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وم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 الـت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ض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8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يـح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ـي</a:t>
            </a:r>
            <a:r>
              <a:rPr lang="ar-DZ" sz="38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َّ</a:t>
            </a:r>
            <a:r>
              <a:rPr lang="ar-SA" sz="38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endParaRPr lang="ar-SA" sz="38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240016" y="4481673"/>
            <a:ext cx="200376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ــال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8928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0" grpId="0" animBg="1"/>
      <p:bldP spid="11" grpId="0" animBg="1"/>
    </p:bld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293096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7287575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015880" y="1899917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الــزِّرِ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293096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077060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015880" y="1899917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الــزِّرِ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91744" y="4293096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7" name="Rectangle 6"/>
          <p:cNvSpPr/>
          <p:nvPr/>
        </p:nvSpPr>
        <p:spPr>
          <a:xfrm>
            <a:off x="5231904" y="2905682"/>
            <a:ext cx="251897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الـفَــرْعِـــيَــة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10329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7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والــنَــقْـــرِ عَــلَـى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 </a:t>
            </a:r>
            <a:r>
              <a:rPr lang="ar-DZ" sz="4000" b="1" dirty="0" smtClean="0">
                <a:solidFill>
                  <a:srgbClr val="002060"/>
                </a:solidFill>
              </a:rPr>
              <a:t>الــمُــنَـــاسِــبِ ضِــمْــنَ الــمــجــمـــوعـــة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fr-FR" sz="40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Bottons</a:t>
            </a:r>
            <a:r>
              <a:rPr lang="en-US" sz="4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400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015880" y="1899917"/>
            <a:ext cx="1894502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الــزِّرِ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231904" y="2905682"/>
            <a:ext cx="2518971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الـفَــرْعِـــيَــة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24628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.2 إِدْرَاجُ  زِرُ  الإجــراء  ـــ  تــــابـــع 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2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1424" y="2292679"/>
            <a:ext cx="5381625" cy="12573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8" name="Bouton d’action : Suivant 7">
            <a:hlinkClick r:id="" action="ppaction://hlinkshowjump?jump=nextslide" highlightClick="1"/>
          </p:cNvPr>
          <p:cNvSpPr/>
          <p:nvPr/>
        </p:nvSpPr>
        <p:spPr>
          <a:xfrm>
            <a:off x="4149474" y="4573898"/>
            <a:ext cx="1224136" cy="720080"/>
          </a:xfrm>
          <a:prstGeom prst="actionButtonForwardNex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16080" y="1370131"/>
            <a:ext cx="4428000" cy="4898335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10" name="Bouton d'action : Précédent 9">
            <a:hlinkClick r:id="" action="ppaction://hlinkshowjump?jump=previousslide" highlightClick="1"/>
          </p:cNvPr>
          <p:cNvSpPr/>
          <p:nvPr/>
        </p:nvSpPr>
        <p:spPr>
          <a:xfrm>
            <a:off x="1806012" y="4573898"/>
            <a:ext cx="1147050" cy="681624"/>
          </a:xfrm>
          <a:prstGeom prst="actionButtonBackPrevious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1533683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الارتــبــاط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الـتَــشَــعُّـــبِــي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Lien Hypertexte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4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الارتــبــاط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الـتــشــعــبـي مُـــبَـــيِّــنًــا كــيــفــيــة إِدْرَاجِـــه فـي عـــرض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85998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0523227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</p:spTree>
    <p:extLst>
      <p:ext uri="{BB962C8B-B14F-4D97-AF65-F5344CB8AC3E}">
        <p14:creationId xmlns:p14="http://schemas.microsoft.com/office/powerpoint/2010/main" val="27254871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69182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3340" y="3175203"/>
            <a:ext cx="14797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عَــرْضٍ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913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9" grpId="0" animBg="1"/>
    </p:bldLst>
  </p:timing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45735" y="4089951"/>
            <a:ext cx="1937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3340" y="3175203"/>
            <a:ext cx="14797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عَــرْضٍ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948989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</p:bldLst>
  </p:timing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.3 </a:t>
            </a:r>
            <a:r>
              <a:rPr lang="ar-DZ" sz="4800" b="1" dirty="0">
                <a:solidFill>
                  <a:srgbClr val="00B050"/>
                </a:solidFill>
                <a:cs typeface="+mj-cs"/>
              </a:rPr>
              <a:t>تـعـــريــف الارتــبــاط الـتَــشَــعُّـــبِــي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اتّـصـال مـن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لأخـرى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نـفـس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شــريــحـة مُـحَــدَّدة فـي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آخــر، كـمـا يـمـكـن أن يـكـون إلـى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Web ،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عـنـوان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إلـى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مـلـف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7746918" y="225343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شـريـحـة </a:t>
            </a:r>
          </a:p>
        </p:txBody>
      </p:sp>
      <p:sp>
        <p:nvSpPr>
          <p:cNvPr id="7" name="Rectangle 6"/>
          <p:cNvSpPr/>
          <p:nvPr/>
        </p:nvSpPr>
        <p:spPr>
          <a:xfrm>
            <a:off x="728771" y="2263168"/>
            <a:ext cx="388843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الـعــرض 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الـتــقــديـمـي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445735" y="4089951"/>
            <a:ext cx="193702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حـة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573340" y="3175203"/>
            <a:ext cx="14797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عَــرْضٍ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821270" y="4090817"/>
            <a:ext cx="3456385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بــريــد إلـكـتـرونـي </a:t>
            </a:r>
          </a:p>
        </p:txBody>
      </p:sp>
    </p:spTree>
    <p:extLst>
      <p:ext uri="{BB962C8B-B14F-4D97-AF65-F5344CB8AC3E}">
        <p14:creationId xmlns:p14="http://schemas.microsoft.com/office/powerpoint/2010/main" val="335881300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8" grpId="0" animBg="1"/>
      <p:bldP spid="9" grpId="0" animBg="1"/>
      <p:bldP spid="10" grpId="0" animBg="1"/>
    </p:bldLst>
  </p:timing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6747120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08" y="3513887"/>
            <a:ext cx="5153025" cy="10096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4863067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08" y="3513887"/>
            <a:ext cx="5153025" cy="10096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594636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808" y="3513887"/>
            <a:ext cx="5153025" cy="10096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9" name="Image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6763" y="326652"/>
            <a:ext cx="2124075" cy="17145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4968752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</p:bldLst>
  </p:timing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424" y="4058430"/>
            <a:ext cx="6552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Lien Hypertexte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996"/>
            <a:ext cx="2124075" cy="17145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40567048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1" grpId="0" animBg="1"/>
      <p:bldP spid="8" grpId="0" animBg="1"/>
    </p:bldLst>
  </p:timing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424" y="4058430"/>
            <a:ext cx="6552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Lien Hypertexte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sp>
        <p:nvSpPr>
          <p:cNvPr id="9" name="Rectangle 8"/>
          <p:cNvSpPr/>
          <p:nvPr/>
        </p:nvSpPr>
        <p:spPr>
          <a:xfrm>
            <a:off x="911424" y="4945452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Action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6763" y="326996"/>
            <a:ext cx="2124075" cy="17145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70472780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1" grpId="0" animBg="1"/>
      <p:bldP spid="8" grpId="0" animBg="1"/>
      <p:bldP spid="9" grpId="0" animBg="1"/>
    </p:bldLst>
  </p:timing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68793" y="2501155"/>
            <a:ext cx="1253244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نــص </a:t>
            </a:r>
          </a:p>
        </p:txBody>
      </p:sp>
      <p:sp>
        <p:nvSpPr>
          <p:cNvPr id="11" name="Rectangle 10"/>
          <p:cNvSpPr/>
          <p:nvPr/>
        </p:nvSpPr>
        <p:spPr>
          <a:xfrm>
            <a:off x="911424" y="4058430"/>
            <a:ext cx="655272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Lien Hypertexte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2639616" y="2501155"/>
            <a:ext cx="1397260" cy="72176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كــائــن </a:t>
            </a:r>
          </a:p>
        </p:txBody>
      </p:sp>
      <p:sp>
        <p:nvSpPr>
          <p:cNvPr id="9" name="Rectangle 8"/>
          <p:cNvSpPr/>
          <p:nvPr/>
        </p:nvSpPr>
        <p:spPr>
          <a:xfrm>
            <a:off x="911424" y="4945452"/>
            <a:ext cx="59766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fr-FR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Commande Action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78198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0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>
                      <p:stCondLst>
                        <p:cond delay="indefinite"/>
                      </p:stCondLst>
                      <p:childTnLst>
                        <p:par>
                          <p:cTn id="58" fill="hold">
                            <p:stCondLst>
                              <p:cond delay="0"/>
                            </p:stCondLst>
                            <p:childTnLst>
                              <p:par>
                                <p:cTn id="5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11" grpId="0" animBg="1"/>
      <p:bldP spid="8" grpId="0" animBg="1"/>
      <p:bldP spid="9" grpId="0" animBg="1"/>
    </p:bldLst>
  </p:timing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.3 إِدْرَاجُ  </a:t>
            </a:r>
            <a:r>
              <a:rPr lang="ar-DZ" sz="4800" b="1" dirty="0" smtClean="0">
                <a:solidFill>
                  <a:srgbClr val="00B050"/>
                </a:solidFill>
              </a:rPr>
              <a:t>ارتــبــاط  تَــشَــعُّـــبِــي </a:t>
            </a:r>
            <a:r>
              <a:rPr lang="ar-DZ" sz="4800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2800" b="1" u="sng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أتـ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ذك</a:t>
            </a:r>
            <a:r>
              <a:rPr lang="ar-DZ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3600" b="1" u="sng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36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إِدْرَاجُ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إنــشــاء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اِرتــبــاط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تــشــعــبـي يــكــون </a:t>
            </a:r>
            <a:r>
              <a:rPr lang="ar-DZ" sz="36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  </a:t>
            </a:r>
            <a:r>
              <a:rPr lang="ar-DZ" sz="36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تــحـــديـــد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Sélection )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)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أو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( صــورة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رســم بــيــانـي ، شــكــل ... )</a:t>
            </a:r>
            <a:endParaRPr lang="fr-FR" sz="4000" b="1" dirty="0" smtClean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واســتــغــلال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…..........................................................................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 rtl="1">
              <a:lnSpc>
                <a:spcPct val="12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اســتــغــلال الأمـــر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.......................................................................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600" y="305302"/>
            <a:ext cx="10887000" cy="629205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9177096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الـحـــركـــة   </a:t>
            </a:r>
            <a:r>
              <a:rPr lang="fr-FR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</a:t>
            </a:r>
            <a:r>
              <a:rPr lang="ar-DZ" sz="480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8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4800" i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5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عَـــرِّفْ </a:t>
            </a:r>
            <a:r>
              <a:rPr lang="ar-DZ" sz="4400" b="1" dirty="0" smtClean="0"/>
              <a:t>الـحَــرَكَـــة </a:t>
            </a:r>
            <a:r>
              <a:rPr lang="ar-DZ" sz="4400" b="1" dirty="0"/>
              <a:t>مُـــبَـــيِّــنًــا نَـــوْعَـــيْــهَـا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577808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8299697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787402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1886933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3281606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6601766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</p:bldLst>
  </p:timing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3281606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2184" y="4205751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32242596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1" grpId="0" animBg="1"/>
    </p:bldLst>
  </p:timing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3281606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3281606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sp>
        <p:nvSpPr>
          <p:cNvPr id="9" name="Rectangle 8"/>
          <p:cNvSpPr/>
          <p:nvPr/>
        </p:nvSpPr>
        <p:spPr>
          <a:xfrm>
            <a:off x="1847528" y="4206983"/>
            <a:ext cx="38268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شــريــحـ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أخـــرى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7752184" y="4205751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Image 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5500" y="1421160"/>
            <a:ext cx="11880000" cy="1107062"/>
          </a:xfrm>
          <a:prstGeom prst="rect">
            <a:avLst/>
          </a:prstGeom>
          <a:ln w="127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8889150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9" grpId="0" animBg="1"/>
      <p:bldP spid="11" grpId="0" animBg="1"/>
    </p:bldLst>
  </p:timing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1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الانــتــقــالــيــة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Transitions</a:t>
            </a:r>
            <a:r>
              <a:rPr lang="fr-FR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هـي تــأثــيـــر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يــظــهــر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عــنــد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 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إلــى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عـــرض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تــقــديــمـي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816080" y="2244884"/>
            <a:ext cx="1661599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حـــركــي </a:t>
            </a:r>
          </a:p>
        </p:txBody>
      </p:sp>
      <p:sp>
        <p:nvSpPr>
          <p:cNvPr id="7" name="Rectangle 6"/>
          <p:cNvSpPr/>
          <p:nvPr/>
        </p:nvSpPr>
        <p:spPr>
          <a:xfrm>
            <a:off x="940532" y="2244884"/>
            <a:ext cx="2182936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الانــتــقـــال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752184" y="3182677"/>
            <a:ext cx="244827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ٍ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1847528" y="3168264"/>
            <a:ext cx="382686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شــريــحـ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 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أخـــرى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97579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7" grpId="0" animBg="1"/>
      <p:bldP spid="11" grpId="0" animBg="1"/>
      <p:bldP spid="8" grpId="0" animBg="1"/>
    </p:bldLst>
  </p:timing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730447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476452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74098" y="3153024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تَــطْــبِـــيـــقُـهَـا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194513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شَـــرِيــحَــةٍ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219" y="3153023"/>
            <a:ext cx="24555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الـن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74098" y="3153024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تَــطْــبِـــيـــقُـهَـا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40787" y="4065189"/>
            <a:ext cx="29596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335143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1" grpId="0" animBg="1"/>
    </p:bldLst>
  </p:timing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</a:t>
            </a:r>
            <a:r>
              <a:rPr lang="fr-FR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: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هــي مُـــؤَثِــــرَات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 Effets Visuels " 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ــن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ـو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َــ</a:t>
            </a:r>
            <a:r>
              <a:rPr lang="ar-SA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 </a:t>
            </a:r>
            <a:r>
              <a:rPr lang="ar-SA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يَــتِــمُّ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وعــلـى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﴿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صـــورة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رســـم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بـــیــانـي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، شــكــل ... ﴾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فــي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شَـــرِيــحَــةٍ مُــعَـــيَّــنَــةٍ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954888" y="2253868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ــص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ی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ـة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ٌ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804219" y="3153023"/>
            <a:ext cx="2455562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الـن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وص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4774098" y="3153024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تَــطْــبِـــيـــقُـهَـا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Rectangle 9"/>
          <p:cNvSpPr/>
          <p:nvPr/>
        </p:nvSpPr>
        <p:spPr>
          <a:xfrm>
            <a:off x="5879976" y="4983334"/>
            <a:ext cx="277920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ة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Rectangle 10"/>
          <p:cNvSpPr/>
          <p:nvPr/>
        </p:nvSpPr>
        <p:spPr>
          <a:xfrm>
            <a:off x="6340787" y="4065189"/>
            <a:ext cx="2959618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err="1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ائ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ـــن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ـات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498303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6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7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8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0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>
                      <p:stCondLst>
                        <p:cond delay="indefinite"/>
                      </p:stCondLst>
                      <p:childTnLst>
                        <p:par>
                          <p:cTn id="72" fill="hold">
                            <p:stCondLst>
                              <p:cond delay="0"/>
                            </p:stCondLst>
                            <p:childTnLst>
                              <p:par>
                                <p:cTn id="7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78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  <p:bldP spid="10" grpId="0" animBg="1"/>
      <p:bldP spid="11" grpId="0" animBg="1"/>
    </p:bldLst>
  </p:timing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581728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2930" y="1988840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يـــق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62772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2930" y="1988840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يـــق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3432" y="1988840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الــتَــنْــظِـــيـــمُ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09305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9" grpId="0" animBg="1"/>
    </p:bldLst>
  </p:timing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000" b="1" dirty="0" smtClean="0">
                <a:solidFill>
                  <a:srgbClr val="00B050"/>
                </a:solidFill>
                <a:cs typeface="+mj-cs"/>
              </a:rPr>
              <a:t>2</a:t>
            </a:r>
            <a:r>
              <a:rPr lang="ar-DZ" sz="4800" b="1" dirty="0" smtClean="0">
                <a:solidFill>
                  <a:srgbClr val="00B050"/>
                </a:solidFill>
                <a:cs typeface="+mj-cs"/>
              </a:rPr>
              <a:t>.4 </a:t>
            </a:r>
            <a:r>
              <a:rPr lang="ar-DZ" b="1" dirty="0" smtClean="0">
                <a:solidFill>
                  <a:srgbClr val="00B050"/>
                </a:solidFill>
                <a:cs typeface="+mj-cs"/>
              </a:rPr>
              <a:t>تـعــريــف الـحــركــة الـمُـخَــصَّــصــة 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تـــابـــع </a:t>
            </a:r>
            <a:endParaRPr lang="fr-FR" sz="48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15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الـهـــدف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مــنـهـا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..........................................</a:t>
            </a:r>
            <a:r>
              <a:rPr lang="ar-DZ" sz="4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،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أَفْـــكَـــارِ الـعَـــرْضِ </a:t>
            </a:r>
            <a:r>
              <a:rPr lang="ar-DZ" sz="4000" b="1" dirty="0" err="1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الــتــقــديـــمــي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4782930" y="1988840"/>
            <a:ext cx="2771797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ــش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ـــو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يـــق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7968208" y="2897497"/>
            <a:ext cx="237626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ــــم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983432" y="1988840"/>
            <a:ext cx="2649814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الــتَــنْــظِـــيـــمُ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251686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4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8" grpId="0" animBg="1"/>
      <p:bldP spid="9" grpId="0" animBg="1"/>
    </p:bldLst>
  </p:timing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اذكُـــرْ أنــواع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الـحَــرَكَـــات الـمُـخَــصَّــصَــة وبَــيِّـنْ 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2743228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اذكُـــرْ أنــواع الـحَــرَكَـــة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الـمُـخَــصَّــصَــة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وبَــيِّـنْ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6" name="Imag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32000" y="1955061"/>
            <a:ext cx="3728324" cy="3852000"/>
          </a:xfrm>
          <a:prstGeom prst="rect">
            <a:avLst/>
          </a:prstGeom>
          <a:ln w="381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959670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اذكُــرْ أنـواع الـحَــرَكَــة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الـمُـخَــصَّــصَــة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وبَــيِّـنْ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7" name="Espace réservé du contenu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63136"/>
            <a:ext cx="6721456" cy="65520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7595904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الـدخـول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d’Ouverture/Apparition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فـي مــكــانــه داخــل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7480061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r>
              <a:rPr lang="ar-SA" sz="3600" b="1" u="sng" dirty="0" smtClean="0">
                <a:solidFill>
                  <a:srgbClr val="FF0000"/>
                </a:solidFill>
                <a:cs typeface="+mj-cs"/>
              </a:rPr>
              <a:t>أتـذكـر</a:t>
            </a:r>
            <a:endParaRPr lang="ar-DZ" sz="36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الـدخـول</a:t>
            </a:r>
            <a:r>
              <a:rPr lang="ar-DZ" sz="4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6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6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d’Ouverture/Apparition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فـي مــكــانــه داخــل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231904" y="3461047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ظ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ـــار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5056684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2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الــتــوكــيــد </a:t>
            </a:r>
            <a:r>
              <a:rPr lang="fr-FR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Animation </a:t>
            </a:r>
            <a:r>
              <a:rPr lang="fr-FR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d’emphase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تَــقُــومُ بِــ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الـمــوجــود عـلـى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الـشــريــحَــة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بــطــريــقــة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الاِنْــتِــبَــاهِ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6363269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الــتــوكــيــد </a:t>
            </a:r>
            <a:r>
              <a:rPr lang="fr-FR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Animation </a:t>
            </a:r>
            <a:r>
              <a:rPr lang="fr-FR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d’emphase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تَــقُــومُ بِــ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الـمــوجــود عـلـى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الـشــريــحَــة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بــطــريــقــة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الاِنْــتِــبَــاهِ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064513" y="3191453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83628965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حــركــات </a:t>
            </a:r>
            <a:r>
              <a:rPr lang="ar-DZ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الــتــوكــيــد </a:t>
            </a:r>
            <a:r>
              <a:rPr lang="fr-FR" sz="42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Animation </a:t>
            </a:r>
            <a:r>
              <a:rPr lang="fr-FR" sz="42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d’emphase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تَــقُــومُ بِــ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الـمــوجــود عـلـى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الـشــريــحَــة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بــطــريــقــة 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الاِنْــتِــبَــاهِ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064513" y="3191453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ْــ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از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3935760" y="4206520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تَـ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ج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ـل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ـب</a:t>
            </a:r>
            <a:r>
              <a:rPr lang="ar-DZ" sz="4000" b="1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73369712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400">
        <p14:doors dir="ver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حــركـات الـخـروج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Fermeture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/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Disparition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الــكــائــن عـــن 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817151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حــركـات الـخـروج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Fermeture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/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Disparition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الــكــائــن عـــن 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149364" y="3139279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اء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86896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65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38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حــركـات الـخـروج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Animations </a:t>
            </a:r>
            <a:r>
              <a:rPr lang="fr-FR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 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Fermeture</a:t>
            </a:r>
            <a:r>
              <a:rPr lang="en-US" sz="34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/</a:t>
            </a:r>
            <a:r>
              <a:rPr lang="en-US" sz="3400" b="1" dirty="0" err="1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</a:rPr>
              <a:t>Disparition</a:t>
            </a:r>
            <a:r>
              <a:rPr lang="ar-DZ" sz="40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0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تــحــدِّد </a:t>
            </a:r>
            <a:r>
              <a:rPr lang="ar-DZ" sz="4000" b="1" dirty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كــيــفــيــة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أو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الــكــائــن عـــن الــشــريــحــة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5149364" y="3139279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خ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ـف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SA" sz="4000" b="1" dirty="0" err="1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اء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095368" y="3124355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إ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ِ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ــاد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2642835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مــســارات الـحــركــة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Trajectoires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Mouvements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مَــسَـــارَاتٍ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داخـــل الـشـــريـــحــة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29460278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مــســارات الـحــركــة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Trajectoires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Mouvements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مَــسَـــارَاتٍ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داخـــل الـشـــريـــحــة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260508" y="2998751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1825376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</p:bldLst>
  </p:timing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ـــ  تــــابـــع 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مــســارات الـحــركــة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Trajectoires </a:t>
            </a:r>
            <a:r>
              <a:rPr lang="fr-FR" sz="4000" b="1" dirty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/ </a:t>
            </a:r>
            <a:r>
              <a:rPr lang="fr-FR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Mouvements</a:t>
            </a:r>
            <a:r>
              <a:rPr lang="ar-DZ" sz="4000" b="1" dirty="0" smtClean="0">
                <a:solidFill>
                  <a:srgbClr val="0070C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200" b="1" dirty="0" smtClean="0">
                <a:solidFill>
                  <a:srgbClr val="0070C0"/>
                </a:solidFill>
                <a:ea typeface="Droid Sans Fallback"/>
                <a:cs typeface="Times New Roman" panose="02020603050405020304" pitchFamily="18" charset="0"/>
              </a:rPr>
              <a:t>:</a:t>
            </a:r>
            <a:r>
              <a:rPr lang="ar-DZ" sz="4200" b="1" dirty="0" smtClean="0">
                <a:solidFill>
                  <a:srgbClr val="00000A"/>
                </a:solidFill>
                <a:ea typeface="Droid Sans Fallback"/>
                <a:cs typeface="Times New Roman" panose="02020603050405020304" pitchFamily="18" charset="0"/>
              </a:rPr>
              <a:t>  </a:t>
            </a:r>
            <a:r>
              <a:rPr lang="ar-DZ" sz="4000" b="1" dirty="0" smtClean="0">
                <a:solidFill>
                  <a:srgbClr val="002060"/>
                </a:solidFill>
                <a:ea typeface="Droid Sans Fallback"/>
                <a:cs typeface="Times New Roman" panose="02020603050405020304" pitchFamily="18" charset="0"/>
              </a:rPr>
              <a:t>مَــسَـــارَاتٍ  </a:t>
            </a:r>
            <a:r>
              <a:rPr lang="ar-DZ" sz="4000" baseline="-25000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.......................................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الــكــائــن </a:t>
            </a:r>
            <a:r>
              <a:rPr lang="ar-DZ" sz="4000" baseline="-25000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......................................</a:t>
            </a: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داخـــل الـشـــريـــحــة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sp>
        <p:nvSpPr>
          <p:cNvPr id="5" name="Rectangle 4"/>
          <p:cNvSpPr/>
          <p:nvPr/>
        </p:nvSpPr>
        <p:spPr>
          <a:xfrm>
            <a:off x="6260508" y="2998751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ي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ـت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ـح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ك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ُ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1127448" y="3025522"/>
            <a:ext cx="2293240" cy="79377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 rtl="1"/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ع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ب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ْ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ـر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ه</a:t>
            </a:r>
            <a:r>
              <a:rPr lang="ar-DZ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َ</a:t>
            </a:r>
            <a:r>
              <a:rPr lang="ar-SA" sz="4000" b="1" dirty="0" smtClean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ـا </a:t>
            </a:r>
            <a:endParaRPr lang="ar-SA" sz="4000" b="1" dirty="0">
              <a:solidFill>
                <a:srgbClr val="0070C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0008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8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6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  <p:bldP spid="5" grpId="0" animBg="1"/>
      <p:bldP spid="6" grpId="0" animBg="1"/>
    </p:bldLst>
  </p:timing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الـحــركــات الـمُـخَــصَّــصَــة </a:t>
            </a:r>
            <a:r>
              <a:rPr lang="fr-FR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Animations</a:t>
            </a:r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i="1" dirty="0">
              <a:solidFill>
                <a:srgbClr val="00B0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340768"/>
            <a:ext cx="10814992" cy="5029071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2000" b="1" dirty="0" smtClean="0">
              <a:cs typeface="+mj-cs"/>
            </a:endParaRPr>
          </a:p>
          <a:p>
            <a:pPr marL="0" lvl="0" indent="0" algn="r" rtl="1">
              <a:spcBef>
                <a:spcPts val="0"/>
              </a:spcBef>
              <a:buNone/>
            </a:pPr>
            <a:r>
              <a:rPr lang="ar-DZ" sz="5400" b="1" u="sng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نــشـــاط </a:t>
            </a:r>
            <a:r>
              <a:rPr lang="ar-DZ" sz="5400" b="1" u="sng" dirty="0">
                <a:solidFill>
                  <a:srgbClr val="0070C0"/>
                </a:solidFill>
                <a:cs typeface="Times New Roman" panose="02020603050405020304" pitchFamily="18" charset="0"/>
              </a:rPr>
              <a:t>6</a:t>
            </a:r>
            <a:r>
              <a:rPr lang="ar-DZ" sz="5400" b="1" dirty="0" smtClean="0">
                <a:solidFill>
                  <a:srgbClr val="0070C0"/>
                </a:solidFill>
                <a:cs typeface="Times New Roman" panose="02020603050405020304" pitchFamily="18" charset="0"/>
              </a:rPr>
              <a:t> :</a:t>
            </a:r>
            <a:endParaRPr lang="ar-DZ" sz="1000" b="1" dirty="0" smtClean="0">
              <a:solidFill>
                <a:srgbClr val="0070C0"/>
              </a:solidFill>
              <a:cs typeface="+mj-cs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اذكُــرْ أنـواع الـحَــرَكَــة </a:t>
            </a: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الـمُـخَــصَّــصَــة </a:t>
            </a:r>
            <a:r>
              <a:rPr lang="ar-DZ" sz="44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وبَــيِّـنْ </a:t>
            </a:r>
            <a:endParaRPr lang="ar-DZ" sz="4400" b="1" dirty="0" smtClean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مُــمَــيِّــزَاتِـهَـا</a:t>
            </a:r>
            <a:r>
              <a:rPr lang="ar-DZ" sz="4400" b="1" dirty="0" smtClean="0"/>
              <a:t> </a:t>
            </a:r>
            <a:r>
              <a:rPr lang="ar-DZ" sz="44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7" name="Espace réservé du contenu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52" y="163136"/>
            <a:ext cx="6721456" cy="6552000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26264457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87000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3.4 أنــواع الـحــركــات الـمُـخَــصَّــصَــة </a:t>
            </a:r>
            <a:r>
              <a:rPr lang="ar-DZ" b="1" dirty="0" smtClean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  <a:endParaRPr lang="fr-FR" sz="6600" i="1" dirty="0">
              <a:solidFill>
                <a:srgbClr val="FF0000"/>
              </a:solidFill>
              <a:cs typeface="+mj-cs"/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87000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r>
              <a:rPr lang="ar-DZ" sz="8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endParaRPr lang="fr-FR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lnSpc>
                <a:spcPct val="150000"/>
              </a:lnSpc>
              <a:buNone/>
            </a:pPr>
            <a:endParaRPr lang="ar-DZ" sz="800" b="1" dirty="0" smtClean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 algn="just" rtl="1">
              <a:buNone/>
            </a:pPr>
            <a:endParaRPr lang="ar-DZ" sz="1400" b="1" dirty="0" smtClean="0">
              <a:solidFill>
                <a:srgbClr val="002060"/>
              </a:solidFill>
              <a:latin typeface="Times New Roman" panose="02020603050405020304" pitchFamily="18" charset="0"/>
              <a:cs typeface="+mj-cs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5440" y="385308"/>
            <a:ext cx="9844953" cy="5796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18919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1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قَــارِنْ بَــيْـنَ الـحــركــة الانــتــقــالــيـة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</a:t>
            </a:r>
            <a:r>
              <a:rPr lang="fr-FR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Transitions</a:t>
            </a:r>
            <a:r>
              <a:rPr lang="fr-FR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»</a:t>
            </a:r>
            <a:r>
              <a:rPr lang="fr-FR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والـحـــركـــات الــمُــخَـــصَّــصَــة 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« </a:t>
            </a:r>
            <a:r>
              <a:rPr lang="fr-FR" sz="4400" b="1" u="sng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Animations</a:t>
            </a:r>
            <a:r>
              <a:rPr lang="ar-DZ" sz="4400" b="1" dirty="0" smtClean="0">
                <a:solidFill>
                  <a:srgbClr val="FF000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»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. </a:t>
            </a:r>
            <a:endParaRPr lang="ar-DZ" sz="44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318896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2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أَنْـجِــزْ عَـــرْضًــا </a:t>
            </a:r>
            <a:r>
              <a:rPr lang="ar-DZ" sz="4000" b="1" dirty="0" err="1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تَــقْــدِيــمِــيًــا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تُــوَضِـحُ فــيـه الـمــعــلــومــات 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الأســاســيــة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لــدُوَل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الـمَـغْــرِبِ الـكَـــبِـــيـــرِ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: اِسْــمَ الــبَــلَــدِ ، عَـــدَدَ الـسُــكَــانِ ، الـمِــسَـــاحَـــةَ ، الـعُـــمْــلَــةَ ... </a:t>
            </a:r>
          </a:p>
          <a:p>
            <a:pPr marL="0" lvl="0" indent="0" algn="just" rtl="1">
              <a:lnSpc>
                <a:spcPct val="12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صُــورَتَـيْ الـعَـــلَــمِ والـخَــرِيــطَــةِ، صَــوْت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َ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الـنَـشِــيــدِ الـوَطَــنِي، فِــيــدْيُـــو لِأهَـــمِّ مَــعْـــلَــمٍ سِـــيَــاحِـي وذَلِـكَ لِــكُــلِّ </a:t>
            </a:r>
            <a:r>
              <a:rPr lang="ar-DZ" sz="4000" b="1" dirty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بَــلَــدٍ </a:t>
            </a: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بِـحَـيْـث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488392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0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 ـــ  تــــابـــع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buNone/>
            </a:pPr>
            <a:endParaRPr lang="ar-DZ" sz="1600" b="1" dirty="0" smtClean="0">
              <a:cs typeface="+mj-cs"/>
            </a:endParaRPr>
          </a:p>
          <a:p>
            <a:pPr marL="0" indent="0" algn="just" rtl="1">
              <a:lnSpc>
                <a:spcPct val="135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0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يَــقُــومُ الــطَــالِــبُ بِـاِسْــتِــغْـــلَالِ الــوَسَــائِـــلِ الــتَــالِــيَــةِ :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</a:rPr>
              <a:t>أَزْرَارُ الإجْـــرَاءاتِ                    </a:t>
            </a:r>
            <a:r>
              <a:rPr lang="fr-FR" sz="4000" b="1" dirty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Boutons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d’action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الاِرْتِــبَــاطَــاتِ الــتَــشَــعُّـــبِـــيَّـــة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Liens Hypertextes</a:t>
            </a:r>
            <a:endParaRPr lang="ar-DZ" sz="4000" b="1" dirty="0" smtClean="0">
              <a:solidFill>
                <a:srgbClr val="002060"/>
              </a:solidFill>
              <a:latin typeface="Times New Roman" panose="02020603050405020304" pitchFamily="18" charset="0"/>
              <a:ea typeface="Droid Sans Fallback"/>
              <a:cs typeface="Times New Roman" panose="02020603050405020304" pitchFamily="18" charset="0"/>
            </a:endParaRPr>
          </a:p>
          <a:p>
            <a:pPr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الـحَـــرَكَـــاتِ الــمُــخَـــصَّـــصَــة               </a:t>
            </a:r>
            <a:r>
              <a:rPr lang="fr-FR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Animations</a:t>
            </a:r>
            <a:r>
              <a:rPr lang="ar-DZ" sz="4000" b="1" dirty="0" smtClean="0">
                <a:solidFill>
                  <a:srgbClr val="002060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  </a:t>
            </a: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0" algn="just" rtl="1">
              <a:lnSpc>
                <a:spcPct val="150000"/>
              </a:lnSpc>
              <a:buFont typeface="Wingdings" panose="05000000000000000000" pitchFamily="2" charset="2"/>
              <a:buChar char="v"/>
            </a:pPr>
            <a:endParaRPr lang="ar-DZ" sz="4000" b="1" dirty="0">
              <a:solidFill>
                <a:srgbClr val="00206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</p:spTree>
    <p:extLst>
      <p:ext uri="{BB962C8B-B14F-4D97-AF65-F5344CB8AC3E}">
        <p14:creationId xmlns:p14="http://schemas.microsoft.com/office/powerpoint/2010/main" val="17638942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34" dur="1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9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42" dur="1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50" dur="1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7" name="Image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16518" y="1268760"/>
            <a:ext cx="7560840" cy="5101079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3748364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814992" cy="850106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algn="r" rtl="1"/>
            <a:r>
              <a:rPr lang="ar-DZ" sz="4800" b="1" dirty="0">
                <a:solidFill>
                  <a:srgbClr val="FF0000"/>
                </a:solidFill>
                <a:cs typeface="Times New Roman" panose="02020603050405020304" pitchFamily="18" charset="0"/>
              </a:rPr>
              <a:t>واجــب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مــنــزلـي</a:t>
            </a:r>
            <a:r>
              <a:rPr lang="fr-FR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2 </a:t>
            </a:r>
            <a:r>
              <a:rPr lang="ar-DZ" sz="4800" b="1" dirty="0" smtClean="0">
                <a:solidFill>
                  <a:srgbClr val="FF0000"/>
                </a:solidFill>
                <a:cs typeface="Times New Roman" panose="02020603050405020304" pitchFamily="18" charset="0"/>
              </a:rPr>
              <a:t> :</a:t>
            </a:r>
            <a:endParaRPr lang="fr-FR" sz="5400" i="1" dirty="0">
              <a:solidFill>
                <a:srgbClr val="FF0000"/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609600" y="1268760"/>
            <a:ext cx="10814992" cy="5101079"/>
          </a:xfr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>
            <a:noAutofit/>
          </a:bodyPr>
          <a:lstStyle/>
          <a:p>
            <a:pPr marL="0" indent="0" algn="just" rtl="1">
              <a:lnSpc>
                <a:spcPct val="150000"/>
              </a:lnSpc>
              <a:buNone/>
            </a:pPr>
            <a:endParaRPr lang="ar-DZ" sz="1100" b="1" dirty="0" smtClean="0">
              <a:cs typeface="+mj-cs"/>
            </a:endParaRPr>
          </a:p>
          <a:p>
            <a:pPr marL="0" lvl="0" indent="0" algn="just" rtl="1">
              <a:lnSpc>
                <a:spcPct val="150000"/>
              </a:lnSpc>
              <a:spcAft>
                <a:spcPts val="1000"/>
              </a:spcAft>
              <a:buClr>
                <a:srgbClr val="002060"/>
              </a:buClr>
              <a:buSzPts val="1100"/>
              <a:buNone/>
            </a:pPr>
            <a:r>
              <a:rPr lang="ar-DZ" sz="4400" b="1" dirty="0" smtClean="0">
                <a:solidFill>
                  <a:srgbClr val="00000A"/>
                </a:solidFill>
                <a:latin typeface="Times New Roman" panose="02020603050405020304" pitchFamily="18" charset="0"/>
                <a:ea typeface="Droid Sans Fallback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F838C0-FB24-4258-A41A-1B45A0225AD2}" type="datetime1">
              <a:rPr lang="fr-FR" smtClean="0"/>
              <a:t>15/01/2025</a:t>
            </a:fld>
            <a:endParaRPr lang="fr-BE" dirty="0"/>
          </a:p>
        </p:txBody>
      </p:sp>
      <p:pic>
        <p:nvPicPr>
          <p:cNvPr id="5" name="Imag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3363" y="1844822"/>
            <a:ext cx="4887016" cy="391912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pic>
        <p:nvPicPr>
          <p:cNvPr id="6" name="Image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3432" y="1844823"/>
            <a:ext cx="4824536" cy="3919127"/>
          </a:xfrm>
          <a:prstGeom prst="rect">
            <a:avLst/>
          </a:prstGeom>
          <a:ln w="28575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  <p:extLst>
      <p:ext uri="{BB962C8B-B14F-4D97-AF65-F5344CB8AC3E}">
        <p14:creationId xmlns:p14="http://schemas.microsoft.com/office/powerpoint/2010/main" val="169617494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75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0" dur="7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3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1000" fill="hold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8" dur="1000"/>
                                        <p:tgtEl>
                                          <p:spTgt spid="3">
                                            <p:bg/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" presetID="3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style.rotation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90"/>
                                          </p:val>
                                        </p:tav>
                                        <p:tav tm="100000">
                                          <p:val>
                                            <p:fltVal val="0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build="p" animBg="1"/>
    </p:bldLst>
  </p:timing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à coins arrondis 8"/>
          <p:cNvSpPr/>
          <p:nvPr/>
        </p:nvSpPr>
        <p:spPr bwMode="auto">
          <a:xfrm>
            <a:off x="10668000" y="2786058"/>
            <a:ext cx="7143800" cy="785818"/>
          </a:xfrm>
          <a:prstGeom prst="round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rtlCol="0" anchor="t" anchorCtr="0" compatLnSpc="1">
            <a:prstTxWarp prst="textNoShape">
              <a:avLst/>
            </a:prstTxWarp>
          </a:bodyPr>
          <a:lstStyle/>
          <a:p>
            <a:pPr defTabSz="449263" fontAlgn="base">
              <a:spcBef>
                <a:spcPct val="0"/>
              </a:spcBef>
              <a:spcAft>
                <a:spcPct val="0"/>
              </a:spcAft>
              <a:buClr>
                <a:srgbClr val="000000"/>
              </a:buClr>
              <a:buSzPct val="100000"/>
            </a:pPr>
            <a:endParaRPr lang="fr-FR" sz="2400">
              <a:solidFill>
                <a:prstClr val="white"/>
              </a:solidFill>
            </a:endParaRPr>
          </a:p>
        </p:txBody>
      </p:sp>
      <p:pic>
        <p:nvPicPr>
          <p:cNvPr id="2054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8939214" y="-71462"/>
            <a:ext cx="1728787" cy="12239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55" name="Picture 7" descr="algeria_flags_3dclipart_www"/>
          <p:cNvPicPr>
            <a:picLocks noChangeAspect="1" noChangeArrowheads="1" noCrop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524000" y="0"/>
            <a:ext cx="1728788" cy="122396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" name="Espace réservé de la date 1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>
              <a:defRPr/>
            </a:pPr>
            <a:fld id="{B4B70AF9-3FB6-400F-9757-12747EE37EB3}" type="datetime1">
              <a:rPr lang="fr-FR" smtClean="0"/>
              <a:t>15/01/2025</a:t>
            </a:fld>
            <a:endParaRPr lang="fr-FR" dirty="0"/>
          </a:p>
        </p:txBody>
      </p:sp>
      <p:sp>
        <p:nvSpPr>
          <p:cNvPr id="6" name="Rectangle à coins arrondis 5"/>
          <p:cNvSpPr/>
          <p:nvPr/>
        </p:nvSpPr>
        <p:spPr>
          <a:xfrm>
            <a:off x="938770" y="2012966"/>
            <a:ext cx="9793088" cy="3456385"/>
          </a:xfrm>
          <a:prstGeom prst="roundRect">
            <a:avLst>
              <a:gd name="adj" fmla="val 26762"/>
            </a:avLst>
          </a:prstGeom>
          <a:ln/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</a:rPr>
              <a:t>شـــكـــــــــــرا لـــكــم</a:t>
            </a:r>
          </a:p>
          <a:p>
            <a:pPr lvl="0" algn="ctr" defTabSz="1009650" rt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ar-DZ" altLang="zh-CN" sz="6000" b="1" u="sng" dirty="0" smtClean="0">
                <a:ln w="0"/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  <a:latin typeface="Times New Roman" pitchFamily="18" charset="0"/>
                <a:cs typeface="+mj-cs"/>
              </a:rPr>
              <a:t>بالـتـوفـيـق للـجــمـيـع</a:t>
            </a:r>
            <a:endParaRPr lang="ar-SA" altLang="zh-CN" sz="6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  <a:latin typeface="Arial" pitchFamily="34" charset="0"/>
              <a:cs typeface="+mj-cs"/>
            </a:endParaRPr>
          </a:p>
          <a:p>
            <a:pPr algn="ctr" rtl="1"/>
            <a:endParaRPr lang="fr-FR" sz="5000" b="1" dirty="0">
              <a:ln w="0"/>
              <a:solidFill>
                <a:schemeClr val="tx1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extLst>
      <p:ext uri="{BB962C8B-B14F-4D97-AF65-F5344CB8AC3E}">
        <p14:creationId xmlns:p14="http://schemas.microsoft.com/office/powerpoint/2010/main" val="366360551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1400">
        <p14:doors dir="ver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Thème Office">
  <a:themeElements>
    <a:clrScheme name="Bureau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Bureau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Modèle par défaut">
  <a:themeElements>
    <a:clrScheme name="Module">
      <a:dk1>
        <a:sysClr val="windowText" lastClr="000000"/>
      </a:dk1>
      <a:lt1>
        <a:sysClr val="window" lastClr="FFFFFF"/>
      </a:lt1>
      <a:dk2>
        <a:srgbClr val="5A6378"/>
      </a:dk2>
      <a:lt2>
        <a:srgbClr val="D4D4D6"/>
      </a:lt2>
      <a:accent1>
        <a:srgbClr val="F0AD00"/>
      </a:accent1>
      <a:accent2>
        <a:srgbClr val="60B5CC"/>
      </a:accent2>
      <a:accent3>
        <a:srgbClr val="E66C7D"/>
      </a:accent3>
      <a:accent4>
        <a:srgbClr val="6BB76D"/>
      </a:accent4>
      <a:accent5>
        <a:srgbClr val="E88651"/>
      </a:accent5>
      <a:accent6>
        <a:srgbClr val="C64847"/>
      </a:accent6>
      <a:hlink>
        <a:srgbClr val="168BBA"/>
      </a:hlink>
      <a:folHlink>
        <a:srgbClr val="680000"/>
      </a:folHlink>
    </a:clrScheme>
    <a:fontScheme name="Modèle par défaut">
      <a:majorFont>
        <a:latin typeface="Times New Roman"/>
        <a:ea typeface="SimSun"/>
        <a:cs typeface=""/>
      </a:majorFont>
      <a:minorFont>
        <a:latin typeface="Times New Roman"/>
        <a:ea typeface="SimSun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rgbClr val="00B8FF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449263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>
            <a:srgbClr val="000000"/>
          </a:buClr>
          <a:buSzPct val="100000"/>
          <a:buFont typeface="Times New Roman" pitchFamily="18" charset="0"/>
          <a:buNone/>
          <a:tabLst/>
          <a:defRPr kumimoji="0" lang="en-GB" sz="24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imes New Roman" pitchFamily="18" charset="0"/>
            <a:ea typeface="SimSun" pitchFamily="2" charset="-122"/>
          </a:defRPr>
        </a:defPPr>
      </a:lstStyle>
    </a:lnDef>
  </a:objectDefaults>
  <a:extraClrSchemeLst>
    <a:extraClrScheme>
      <a:clrScheme name="Modèle par défaut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2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Modèle par défaut 3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4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Modèle par défaut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Foundry</Template>
  <TotalTime>28703</TotalTime>
  <Words>3372</Words>
  <Application>Microsoft Office PowerPoint</Application>
  <PresentationFormat>Grand écran</PresentationFormat>
  <Paragraphs>671</Paragraphs>
  <Slides>95</Slides>
  <Notes>5</Notes>
  <HiddenSlides>0</HiddenSlides>
  <MMClips>0</MMClips>
  <ScaleCrop>false</ScaleCrop>
  <HeadingPairs>
    <vt:vector size="6" baseType="variant">
      <vt:variant>
        <vt:lpstr>Polices utilisées</vt:lpstr>
      </vt:variant>
      <vt:variant>
        <vt:i4>8</vt:i4>
      </vt:variant>
      <vt:variant>
        <vt:lpstr>Thème</vt:lpstr>
      </vt:variant>
      <vt:variant>
        <vt:i4>2</vt:i4>
      </vt:variant>
      <vt:variant>
        <vt:lpstr>Titres des diapositives</vt:lpstr>
      </vt:variant>
      <vt:variant>
        <vt:i4>95</vt:i4>
      </vt:variant>
    </vt:vector>
  </HeadingPairs>
  <TitlesOfParts>
    <vt:vector size="105" baseType="lpstr">
      <vt:lpstr>Arial Unicode MS</vt:lpstr>
      <vt:lpstr>SimSun</vt:lpstr>
      <vt:lpstr>SimSun</vt:lpstr>
      <vt:lpstr>Arial</vt:lpstr>
      <vt:lpstr>Calibri</vt:lpstr>
      <vt:lpstr>Droid Sans Fallback</vt:lpstr>
      <vt:lpstr>Times New Roman</vt:lpstr>
      <vt:lpstr>Wingdings</vt:lpstr>
      <vt:lpstr>Thème Office</vt:lpstr>
      <vt:lpstr>Modèle par défaut</vt:lpstr>
      <vt:lpstr>Présentation PowerPoint</vt:lpstr>
      <vt:lpstr>Présentation PowerPoint</vt:lpstr>
      <vt:lpstr>الإشــكــالــيــة :</vt:lpstr>
      <vt:lpstr>الإجــابــة :</vt:lpstr>
      <vt:lpstr>الإجــابــة :</vt:lpstr>
      <vt:lpstr>Présentation PowerPoint</vt:lpstr>
      <vt:lpstr>Présentation PowerPoint</vt:lpstr>
      <vt:lpstr>1. مــفــاهــيــم أســاســيــة عــن MS-PowerPoint</vt:lpstr>
      <vt:lpstr>أتـذكـر ( 1.1  تـعـــريــف الـبــرنــامـج  PowerPoint  )</vt:lpstr>
      <vt:lpstr>أتـذكـر ( 1.1  تـعـــريــف الـبــرنــامـج  PowerPoint  )</vt:lpstr>
      <vt:lpstr>أتـذكـر ( 1.1  تـعـــريــف الـبــرنــامـج  PowerPoint  )</vt:lpstr>
      <vt:lpstr>أتـذكـر ( 1.1  تـعـــريــف الـبــرنــامـج  PowerPoint  )</vt:lpstr>
      <vt:lpstr>أتـذكـر ( 1.1  تـعـــريــف الـبــرنــامـج  PowerPoint  )</vt:lpstr>
      <vt:lpstr>1. مــفــاهــيــم أســاســيــة عــن MS-PowerPoint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أتـذكـر ( 2.1 تـعـــريــف الـعـــرض الــتــقـــديــمـي )</vt:lpstr>
      <vt:lpstr>2. أزرار الإجـــراءات   Boutons d’action :</vt:lpstr>
      <vt:lpstr>2. أزرار الإجـــراءات   Boutons d’action :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1.2 تـعــريــف ِزرُ الإجــراء 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:</vt:lpstr>
      <vt:lpstr>2.2 إِدْرَاجُ  زِرُ  الإجــراء  ـــ  تــــابـــع :</vt:lpstr>
      <vt:lpstr>2.2 إِدْرَاجُ  زِرُ  الإجــراء  ـــ  تــــابـــع :</vt:lpstr>
      <vt:lpstr>2.2 إِدْرَاجُ  زِرُ  الإجــراء  ـــ  تــــابـــع :</vt:lpstr>
      <vt:lpstr>2.2 إِدْرَاجُ  زِرُ  الإجــراء  ـــ  تــــابـــع :</vt:lpstr>
      <vt:lpstr>2.2 إِدْرَاجُ  زِرُ  الإجــراء  ـــ  تــــابـــع :</vt:lpstr>
      <vt:lpstr>3. الارتــبــاط الـتَــشَــعُّـــبِــي  Lien Hypertexte 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1.3 تـعـــريــف الارتــبــاط الـتَــشَــعُّـــبِــي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2.3 إِدْرَاجُ  ارتــبــاط  تَــشَــعُّـــبِــي :</vt:lpstr>
      <vt:lpstr>4. الـحـــركـــة   Animation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1.4 تـعــريــف الـحــركــة الانــتــقــالــيــةTransitions 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Animations :</vt:lpstr>
      <vt:lpstr>2.4 تـعــريــف الـحــركــة الـمُـخَــصَّــصــة  ـــ  تـــابـــع </vt:lpstr>
      <vt:lpstr>2.4 تـعــريــف الـحــركــة الـمُـخَــصَّــصــة  ـــ  تـــابـــع </vt:lpstr>
      <vt:lpstr>2.4 تـعــريــف الـحــركــة الـمُـخَــصَّــصــة  ـــ  تـــابـــع </vt:lpstr>
      <vt:lpstr>2.4 تـعــريــف الـحــركــة الـمُـخَــصَّــصــة  ـــ  تـــابـــع 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Animations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 ـــ  تــــابـــع :</vt:lpstr>
      <vt:lpstr>3.4 أنــواع الـحــركــات الـمُـخَــصَّــصَــة Animations :</vt:lpstr>
      <vt:lpstr>3.4 أنــواع الـحــركــات الـمُـخَــصَّــصَــة :</vt:lpstr>
      <vt:lpstr>واجــب مــنــزلـي 1  :</vt:lpstr>
      <vt:lpstr>واجــب مــنــزلـي 2  :</vt:lpstr>
      <vt:lpstr>واجــب مــنــزلـي 2   ـــ  تــــابـــع :</vt:lpstr>
      <vt:lpstr>واجــب مــنــزلـي 2  :</vt:lpstr>
      <vt:lpstr>واجــب مــنــزلـي 2  :</vt:lpstr>
      <vt:lpstr>Présentation PowerPoint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Diapositive 1</dc:title>
  <dc:creator>Shm</dc:creator>
  <cp:lastModifiedBy>Dual</cp:lastModifiedBy>
  <cp:revision>2572</cp:revision>
  <dcterms:created xsi:type="dcterms:W3CDTF">2015-11-30T21:00:22Z</dcterms:created>
  <dcterms:modified xsi:type="dcterms:W3CDTF">2025-01-15T09:36:38Z</dcterms:modified>
</cp:coreProperties>
</file>