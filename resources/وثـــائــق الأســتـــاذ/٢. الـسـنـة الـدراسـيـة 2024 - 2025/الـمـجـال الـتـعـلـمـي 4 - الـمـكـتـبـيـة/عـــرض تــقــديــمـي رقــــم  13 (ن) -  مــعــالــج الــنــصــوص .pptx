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2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686" r:id="rId11"/>
    <p:sldId id="696" r:id="rId12"/>
    <p:sldId id="698" r:id="rId13"/>
    <p:sldId id="697" r:id="rId14"/>
    <p:sldId id="701" r:id="rId15"/>
    <p:sldId id="699" r:id="rId16"/>
    <p:sldId id="702" r:id="rId17"/>
    <p:sldId id="708" r:id="rId18"/>
    <p:sldId id="700" r:id="rId19"/>
    <p:sldId id="705" r:id="rId20"/>
    <p:sldId id="848" r:id="rId21"/>
    <p:sldId id="847" r:id="rId22"/>
    <p:sldId id="691" r:id="rId23"/>
    <p:sldId id="692" r:id="rId24"/>
    <p:sldId id="710" r:id="rId25"/>
    <p:sldId id="712" r:id="rId26"/>
    <p:sldId id="719" r:id="rId27"/>
    <p:sldId id="720" r:id="rId28"/>
    <p:sldId id="721" r:id="rId29"/>
    <p:sldId id="706" r:id="rId30"/>
    <p:sldId id="723" r:id="rId31"/>
    <p:sldId id="722" r:id="rId32"/>
    <p:sldId id="732" r:id="rId33"/>
    <p:sldId id="735" r:id="rId34"/>
    <p:sldId id="734" r:id="rId35"/>
    <p:sldId id="733" r:id="rId36"/>
    <p:sldId id="728" r:id="rId37"/>
    <p:sldId id="736" r:id="rId38"/>
    <p:sldId id="740" r:id="rId39"/>
    <p:sldId id="739" r:id="rId40"/>
    <p:sldId id="737" r:id="rId41"/>
    <p:sldId id="744" r:id="rId42"/>
    <p:sldId id="743" r:id="rId43"/>
    <p:sldId id="741" r:id="rId44"/>
    <p:sldId id="755" r:id="rId45"/>
    <p:sldId id="748" r:id="rId46"/>
    <p:sldId id="850" r:id="rId47"/>
    <p:sldId id="849" r:id="rId48"/>
    <p:sldId id="746" r:id="rId49"/>
    <p:sldId id="752" r:id="rId50"/>
    <p:sldId id="751" r:id="rId51"/>
    <p:sldId id="750" r:id="rId52"/>
    <p:sldId id="747" r:id="rId53"/>
    <p:sldId id="754" r:id="rId54"/>
    <p:sldId id="753" r:id="rId55"/>
    <p:sldId id="607" r:id="rId56"/>
    <p:sldId id="761" r:id="rId57"/>
    <p:sldId id="760" r:id="rId58"/>
    <p:sldId id="765" r:id="rId59"/>
    <p:sldId id="764" r:id="rId60"/>
    <p:sldId id="763" r:id="rId61"/>
    <p:sldId id="762" r:id="rId62"/>
    <p:sldId id="766" r:id="rId63"/>
    <p:sldId id="767" r:id="rId64"/>
    <p:sldId id="770" r:id="rId65"/>
    <p:sldId id="776" r:id="rId66"/>
    <p:sldId id="768" r:id="rId67"/>
    <p:sldId id="769" r:id="rId68"/>
    <p:sldId id="773" r:id="rId69"/>
    <p:sldId id="775" r:id="rId70"/>
    <p:sldId id="774" r:id="rId71"/>
    <p:sldId id="777" r:id="rId72"/>
    <p:sldId id="778" r:id="rId73"/>
    <p:sldId id="782" r:id="rId74"/>
    <p:sldId id="781" r:id="rId75"/>
    <p:sldId id="780" r:id="rId76"/>
    <p:sldId id="779" r:id="rId77"/>
    <p:sldId id="785" r:id="rId78"/>
    <p:sldId id="866" r:id="rId79"/>
    <p:sldId id="870" r:id="rId80"/>
    <p:sldId id="869" r:id="rId81"/>
    <p:sldId id="868" r:id="rId82"/>
    <p:sldId id="867" r:id="rId83"/>
    <p:sldId id="784" r:id="rId84"/>
    <p:sldId id="791" r:id="rId85"/>
    <p:sldId id="790" r:id="rId86"/>
    <p:sldId id="792" r:id="rId87"/>
    <p:sldId id="793" r:id="rId88"/>
    <p:sldId id="803" r:id="rId89"/>
    <p:sldId id="802" r:id="rId90"/>
    <p:sldId id="805" r:id="rId91"/>
    <p:sldId id="807" r:id="rId92"/>
    <p:sldId id="806" r:id="rId93"/>
    <p:sldId id="808" r:id="rId94"/>
    <p:sldId id="795" r:id="rId95"/>
    <p:sldId id="811" r:id="rId96"/>
    <p:sldId id="810" r:id="rId97"/>
    <p:sldId id="809" r:id="rId98"/>
    <p:sldId id="796" r:id="rId99"/>
    <p:sldId id="813" r:id="rId100"/>
    <p:sldId id="812" r:id="rId101"/>
    <p:sldId id="797" r:id="rId102"/>
    <p:sldId id="815" r:id="rId103"/>
    <p:sldId id="814" r:id="rId104"/>
    <p:sldId id="859" r:id="rId105"/>
    <p:sldId id="858" r:id="rId106"/>
    <p:sldId id="857" r:id="rId107"/>
    <p:sldId id="856" r:id="rId108"/>
    <p:sldId id="820" r:id="rId109"/>
    <p:sldId id="860" r:id="rId110"/>
    <p:sldId id="819" r:id="rId111"/>
    <p:sldId id="800" r:id="rId112"/>
    <p:sldId id="801" r:id="rId113"/>
    <p:sldId id="823" r:id="rId114"/>
    <p:sldId id="825" r:id="rId115"/>
    <p:sldId id="822" r:id="rId116"/>
    <p:sldId id="861" r:id="rId117"/>
    <p:sldId id="821" r:id="rId118"/>
    <p:sldId id="824" r:id="rId119"/>
    <p:sldId id="829" r:id="rId120"/>
    <p:sldId id="828" r:id="rId121"/>
    <p:sldId id="827" r:id="rId122"/>
    <p:sldId id="826" r:id="rId123"/>
    <p:sldId id="830" r:id="rId124"/>
    <p:sldId id="831" r:id="rId125"/>
    <p:sldId id="832" r:id="rId126"/>
    <p:sldId id="839" r:id="rId127"/>
    <p:sldId id="841" r:id="rId128"/>
    <p:sldId id="865" r:id="rId129"/>
    <p:sldId id="864" r:id="rId130"/>
    <p:sldId id="863" r:id="rId131"/>
    <p:sldId id="862" r:id="rId132"/>
    <p:sldId id="834" r:id="rId133"/>
    <p:sldId id="838" r:id="rId134"/>
    <p:sldId id="837" r:id="rId135"/>
    <p:sldId id="836" r:id="rId136"/>
    <p:sldId id="835" r:id="rId137"/>
    <p:sldId id="842" r:id="rId138"/>
    <p:sldId id="843" r:id="rId139"/>
    <p:sldId id="844" r:id="rId140"/>
    <p:sldId id="338" r:id="rId14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7" autoAdjust="0"/>
    <p:restoredTop sz="94434" autoAdjust="0"/>
  </p:normalViewPr>
  <p:slideViewPr>
    <p:cSldViewPr>
      <p:cViewPr varScale="1">
        <p:scale>
          <a:sx n="71" d="100"/>
          <a:sy n="71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23/11/2024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23/11/2024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23/11/2024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23/11/2024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23/11/2024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23/11/2024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23/11/2024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23/11/2024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23/11/2024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23/11/2024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23/11/2024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23/11/2024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23/11/2024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23/11/2024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23/11/2024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23/11/2024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23/11/2024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23/11/2024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23/11/2024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23/11/2024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23/11/2024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23/11/2024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23/11/2024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إذَا طُـلِـبَ </a:t>
            </a:r>
            <a:r>
              <a:rPr lang="ar-DZ" sz="4000" b="1" dirty="0" smtClean="0">
                <a:cs typeface="+mj-cs"/>
              </a:rPr>
              <a:t>مِـنْـكَ </a:t>
            </a:r>
            <a:r>
              <a:rPr lang="ar-DZ" sz="4000" b="1" dirty="0">
                <a:cs typeface="+mj-cs"/>
              </a:rPr>
              <a:t>إنـجــاز بـحــث حــول </a:t>
            </a:r>
            <a:r>
              <a:rPr lang="ar-DZ" sz="4000" b="1" u="sng" dirty="0">
                <a:cs typeface="+mj-cs"/>
              </a:rPr>
              <a:t>الـمــكــتــبــيــة</a:t>
            </a:r>
            <a:r>
              <a:rPr lang="ar-DZ" sz="4000" b="1" dirty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مَــثَــلًا، </a:t>
            </a:r>
            <a:r>
              <a:rPr lang="ar-DZ" sz="4000" b="1" dirty="0">
                <a:cs typeface="+mj-cs"/>
              </a:rPr>
              <a:t>بـحــيــث </a:t>
            </a:r>
            <a:r>
              <a:rPr lang="ar-DZ" sz="4000" b="1" dirty="0" smtClean="0">
                <a:cs typeface="+mj-cs"/>
              </a:rPr>
              <a:t>يَــكُــونُ </a:t>
            </a:r>
            <a:r>
              <a:rPr lang="ar-DZ" sz="4000" b="1" u="sng" dirty="0" smtClean="0">
                <a:cs typeface="+mj-cs"/>
              </a:rPr>
              <a:t>تَــسْــلِــيـــمُـهُ</a:t>
            </a:r>
            <a:r>
              <a:rPr lang="ar-DZ" sz="4000" b="1" dirty="0" smtClean="0">
                <a:cs typeface="+mj-cs"/>
              </a:rPr>
              <a:t> فِـي </a:t>
            </a:r>
            <a:r>
              <a:rPr lang="ar-DZ" sz="4000" b="1" u="sng" dirty="0" smtClean="0">
                <a:cs typeface="+mj-cs"/>
              </a:rPr>
              <a:t>نُــسْــخَـةٍ مَــطْــبُــوعَــةٍ ولــيــســت مَــخْـــطُـــوطَــة</a:t>
            </a:r>
            <a:r>
              <a:rPr lang="ar-DZ" sz="4000" b="1" dirty="0" smtClean="0">
                <a:cs typeface="+mj-cs"/>
              </a:rPr>
              <a:t> ، فــمــا هـــو الـبــرنـــامــج الَّــذِي </a:t>
            </a:r>
            <a:r>
              <a:rPr lang="ar-DZ" sz="4000" b="1" dirty="0">
                <a:cs typeface="+mj-cs"/>
              </a:rPr>
              <a:t>سَــتَــسْــتَــعْــمِــلُـه </a:t>
            </a:r>
            <a:r>
              <a:rPr lang="ar-DZ" sz="4000" b="1" dirty="0" smtClean="0">
                <a:cs typeface="+mj-cs"/>
              </a:rPr>
              <a:t>لإِنْــشَـــاءِ الـوَثِـــيــــقَــةِ الــمَــطْـــلُــوبَــة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3031993"/>
            <a:ext cx="66967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الـنـصـوص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MS-Word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مــعـــالـــج الــنــصــوص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23/11/2024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MS-Word</a:t>
            </a:r>
            <a:r>
              <a:rPr lang="ar-DZ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مَــــــــــدْخَــــــــــل إِلَـــى الــ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كْ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تَ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بِ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يَــــ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ــة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الــمـــجــــال </a:t>
            </a:r>
            <a:r>
              <a:rPr lang="ar-DZ" altLang="zh-CN" sz="40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الــتَـــعَــــلُـــمِــي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23/11/2024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مــفــهــوم الــمــكـــتـــبـــيــة 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Bureautique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مـــاذا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تــعــرفــون 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الـمــكـــتـــبـــيـــة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تــعـــريــف الــمَـــكْـــتَـــبِـــيَـــة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تـعـــريــف 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الـمـكـتـبـيـة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هـي مـجــمـوعـة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الـمُــوَفَّـــرَة والـمُــسْــتَــعْـــمَــلَــة لِـغَـــرَضِ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لـمـخــتــلــف 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الـمُــنْـجَــزَة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مــكــتــب خُــصُـوصًــا مـعــالــجــة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الاتـصـال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وغــيــرهــا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54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تـعـــريــف 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الـمـكـتـبـيـة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مـجــمـوعـة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الـمُــوَفَّـــرَة والـمُــسْــتَــعْـــمَــلَــة لِـغَـــرَضِ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لـمـخــتــلــف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الـمُــنْـجَــزَة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مــكــتــب خُــصُـوصًــا مـعــالــجــة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الاتـصـال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وغــيــرهــا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41650" y="1730359"/>
            <a:ext cx="48965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الــوســائــل والـتــقــنــيــات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2647319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الــتَــسْــيِــيــرِ الآًلِــي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43872" y="3430654"/>
            <a:ext cx="42484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الـمـهــامِّ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والـنــشــاطــات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0017" y="4501836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الـنـصـوص، الـصـور، الـصـوت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2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مــفــهــوم الــمــكـــتـــبـــيــة 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Bureautique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تُــمَــثِّــلُ لــكـم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الـحُـــزْمَـــة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الــمـــكـــتـــبـــيــة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الَّـتِي يَــنْــتَــمِـي إلـيـهـا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الـحُــزْمَــة الــمَـــكْـــتَـــبِـــيَـــة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</a:rPr>
              <a:t>الـحُــزْمَــة </a:t>
            </a:r>
            <a:r>
              <a:rPr lang="ar-DZ" sz="5400" b="1" dirty="0" smtClean="0">
                <a:solidFill>
                  <a:srgbClr val="00B050"/>
                </a:solidFill>
              </a:rPr>
              <a:t>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لـتــســيــيــر مـخــتــلــف الـنــشــاطــات والـمـهــامّ وإنـجــازهـا فـي أَيِّ مــكــتــبٍ  يــلــزمــنــا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(حــواســيــب،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طـابـعـات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كـمـا نـحـتـاج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فـي هــذا الـشــأن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يــتِــمُّ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مـجــمــوعــة واحـدة تُـسَـمَى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</a:rPr>
              <a:t>الـحُــزْمَــة </a:t>
            </a:r>
            <a:r>
              <a:rPr lang="ar-DZ" sz="5400" b="1" dirty="0" smtClean="0">
                <a:solidFill>
                  <a:srgbClr val="00B050"/>
                </a:solidFill>
              </a:rPr>
              <a:t>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لإنـجــاز وتــســيــيــر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مـخــتــلــف الـنــشــاطــات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والـمـهـــامّ فـي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أَيِّ مــكــتــبٍ  يــلــزمــنــا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(حــواســيــب،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طـابـعـات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كـمـا نـحـتـاج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فـي هــذا الـشــأن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يــتِــمُّ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مـجــمــوعــة واحـدة تُـسَـمَى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75720" y="2514821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وســائــل مــاديــة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771" y="5381296"/>
            <a:ext cx="8150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حـــزمــة مــكــتـــبـــيـــة  </a:t>
            </a:r>
            <a:r>
              <a:rPr lang="fr-FR" sz="4000" b="1" dirty="0">
                <a:solidFill>
                  <a:srgbClr val="FF0000"/>
                </a:solidFill>
                <a:cs typeface="+mj-cs"/>
              </a:rPr>
              <a:t>Suite Bureautique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7768" y="3484476"/>
            <a:ext cx="16941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بــرامـج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7994" y="4464799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بــرامـج مــتــكــامــلــة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914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الّـتي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صــمّــمــتـهـا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6815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الَّـتِي صَــمَّــمْــتَـهَـا 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40025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53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</a:p>
        </p:txBody>
      </p:sp>
    </p:spTree>
    <p:extLst>
      <p:ext uri="{BB962C8B-B14F-4D97-AF65-F5344CB8AC3E}">
        <p14:creationId xmlns:p14="http://schemas.microsoft.com/office/powerpoint/2010/main" val="205127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الّـتي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صــمّــمــتـهـا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40025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3432" y="5337226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cs typeface="+mj-cs"/>
              </a:rPr>
              <a:t>Open Office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</a:t>
            </a:r>
            <a:r>
              <a:rPr lang="fr-FR" sz="4000" b="1" dirty="0" err="1" smtClean="0">
                <a:solidFill>
                  <a:srgbClr val="0070C0"/>
                </a:solidFill>
                <a:cs typeface="+mj-cs"/>
              </a:rPr>
              <a:t>LibreOffice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... إلــخ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53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</a:p>
        </p:txBody>
      </p:sp>
    </p:spTree>
    <p:extLst>
      <p:ext uri="{BB962C8B-B14F-4D97-AF65-F5344CB8AC3E}">
        <p14:creationId xmlns:p14="http://schemas.microsoft.com/office/powerpoint/2010/main" val="8075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0066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</p:spTree>
    <p:extLst>
      <p:ext uri="{BB962C8B-B14F-4D97-AF65-F5344CB8AC3E}">
        <p14:creationId xmlns:p14="http://schemas.microsoft.com/office/powerpoint/2010/main" val="32185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408" y="5155503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وض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ــقـــديـ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4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الـمــســتــنــد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Document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/>
              <a:t>مـعــالــجــة </a:t>
            </a:r>
            <a:r>
              <a:rPr lang="ar-DZ" sz="4400" b="1" dirty="0"/>
              <a:t>الـنـصـوص تـكـون بـاسـتـعــمـال الـبــرنــامـج </a:t>
            </a:r>
            <a:r>
              <a:rPr lang="en-US" sz="4400" b="1" dirty="0" smtClean="0"/>
              <a:t>MS-Word </a:t>
            </a:r>
            <a:r>
              <a:rPr lang="ar-DZ" sz="4400" b="1" dirty="0" smtClean="0"/>
              <a:t> </a:t>
            </a:r>
            <a:r>
              <a:rPr lang="ar-DZ" sz="4400" b="1" dirty="0"/>
              <a:t>وذلـك مــن خـــلال </a:t>
            </a:r>
            <a:r>
              <a:rPr lang="ar-DZ" sz="4400" b="1" dirty="0" smtClean="0"/>
              <a:t>مــســتــنــد،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فــمــاذا يــمــثــل الـمــســتـــنـــد بـالــنــســبــة إلــيــكــم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الـمــســتــنــد</a:t>
            </a:r>
            <a:r>
              <a:rPr lang="fr-FR" sz="6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5985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9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7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7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176" y="3757387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لأشــكــال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39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176" y="3757387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لأشــكــال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408" y="4045633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الـفــواصـل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الـمــخــتــلــفــة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Sauts </a:t>
            </a:r>
            <a:endParaRPr lang="ar-SA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3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9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</p:spTree>
    <p:extLst>
      <p:ext uri="{BB962C8B-B14F-4D97-AF65-F5344CB8AC3E}">
        <p14:creationId xmlns:p14="http://schemas.microsoft.com/office/powerpoint/2010/main" val="251008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</p:spTree>
    <p:extLst>
      <p:ext uri="{BB962C8B-B14F-4D97-AF65-F5344CB8AC3E}">
        <p14:creationId xmlns:p14="http://schemas.microsoft.com/office/powerpoint/2010/main" val="191893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7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14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2560" y="3145706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Corps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2560" y="3145706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Corps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2560" y="449925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71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  <p:bldP spid="11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الـمــســتــنــد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Document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u="sng" dirty="0" smtClean="0">
                <a:solidFill>
                  <a:srgbClr val="00B050"/>
                </a:solidFill>
                <a:cs typeface="+mj-cs"/>
              </a:rPr>
              <a:t>نـشــاط 4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600" b="1" dirty="0" smtClean="0">
                <a:cs typeface="+mj-cs"/>
              </a:rPr>
              <a:t> </a:t>
            </a:r>
            <a:r>
              <a:rPr lang="ar-DZ" sz="3600" b="1" dirty="0">
                <a:cs typeface="+mj-cs"/>
              </a:rPr>
              <a:t>عــنــد إعـــداد وكــتــابــة أيِّ مــســتــنــد يــلــزمــنــا </a:t>
            </a:r>
            <a:r>
              <a:rPr lang="ar-DZ" sz="3600" b="1" dirty="0" smtClean="0">
                <a:cs typeface="+mj-cs"/>
              </a:rPr>
              <a:t>الـقــيـام بـعــمــلــيــتــيـن أسـاســيــتــيـن تـخـطــيـط الــصـفـحـة </a:t>
            </a:r>
            <a:r>
              <a:rPr lang="en-US" sz="3600" b="1" dirty="0" err="1">
                <a:cs typeface="+mj-cs"/>
              </a:rPr>
              <a:t>Mise</a:t>
            </a:r>
            <a:r>
              <a:rPr lang="en-US" sz="3600" b="1" dirty="0">
                <a:cs typeface="+mj-cs"/>
              </a:rPr>
              <a:t> en Page </a:t>
            </a: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وتــنــســيـق </a:t>
            </a:r>
            <a:r>
              <a:rPr lang="ar-DZ" sz="3600" b="1" dirty="0"/>
              <a:t>الــصـفـحـة </a:t>
            </a:r>
            <a:r>
              <a:rPr lang="en-US" sz="3600" b="1" dirty="0" err="1" smtClean="0">
                <a:cs typeface="+mj-cs"/>
              </a:rPr>
              <a:t>Mise</a:t>
            </a:r>
            <a:r>
              <a:rPr lang="en-US" sz="3600" b="1" dirty="0" smtClean="0">
                <a:cs typeface="+mj-cs"/>
              </a:rPr>
              <a:t> </a:t>
            </a:r>
            <a:r>
              <a:rPr lang="en-US" sz="3600" b="1" dirty="0">
                <a:cs typeface="+mj-cs"/>
              </a:rPr>
              <a:t>en </a:t>
            </a:r>
            <a:r>
              <a:rPr lang="en-US" sz="3600" b="1" dirty="0" err="1" smtClean="0">
                <a:cs typeface="+mj-cs"/>
              </a:rPr>
              <a:t>Forme</a:t>
            </a:r>
            <a:r>
              <a:rPr lang="ar-DZ" sz="3600" b="1" dirty="0" smtClean="0">
                <a:cs typeface="+mj-cs"/>
              </a:rPr>
              <a:t> ، فــ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أيــن يَــكْــمُــنُ الـفَـــرْقَ بــيــن هَــاتَــيْــنِ </a:t>
            </a:r>
            <a:r>
              <a:rPr lang="ar-DZ" sz="3600" b="1" dirty="0" smtClean="0"/>
              <a:t>الـعــمــلــيــتــيـن ؟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إعــــداد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الـمــســتــنــد</a:t>
            </a:r>
            <a:r>
              <a:rPr lang="fr-FR" sz="6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396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1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7568" y="3284984"/>
            <a:ext cx="554461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عــلاقــة لـهـا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7568" y="3284984"/>
            <a:ext cx="554461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عــلاقــة لـهـا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88088" y="4206503"/>
            <a:ext cx="2016224" cy="78850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يُــؤَثِــرُ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7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0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الأَعْــــمِــدَة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1464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5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1464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71464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0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4277417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A3  /  A4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04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4277417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A3  /  A4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35061" y="5271539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Colonnes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25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994" y="3396552"/>
            <a:ext cx="526500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مــظـهــر 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994" y="3396552"/>
            <a:ext cx="526500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مــظـهــر 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4365105"/>
            <a:ext cx="2232248" cy="7920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تُــؤَثِّـــرُ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75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420015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0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5480" y="349401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Type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5480" y="349401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15480" y="457244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Couleur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61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67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5441" y="268606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L’Espace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Interligne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5441" y="268606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L’Espace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Interligne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55441" y="3761869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L’Alignement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68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 ـــ  تـــابـــع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يُـعْــتَــبَــر </a:t>
            </a:r>
            <a:r>
              <a:rPr lang="ar-DZ" sz="4400" b="1" dirty="0">
                <a:cs typeface="+mj-cs"/>
              </a:rPr>
              <a:t>بــرنــامـج مـعــالــج الـنـصــوص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400" b="1" dirty="0">
                <a:cs typeface="+mj-cs"/>
              </a:rPr>
              <a:t> الأكــثــر </a:t>
            </a:r>
            <a:r>
              <a:rPr lang="ar-DZ" sz="4400" b="1" dirty="0" smtClean="0">
                <a:cs typeface="+mj-cs"/>
              </a:rPr>
              <a:t>شُــيُـــوعًـــا </a:t>
            </a:r>
            <a:r>
              <a:rPr lang="ar-DZ" sz="4400" b="1" dirty="0">
                <a:cs typeface="+mj-cs"/>
              </a:rPr>
              <a:t>فــي </a:t>
            </a:r>
            <a:r>
              <a:rPr lang="ar-DZ" sz="4400" b="1" dirty="0" smtClean="0">
                <a:cs typeface="+mj-cs"/>
              </a:rPr>
              <a:t>الـعـــالـــم عــنــد إعــــداد الــمـــســـتـــنـــدات نــظـــرًا لــ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 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/>
              <a:t>وتَــعَـــدُّد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055440" y="4810954"/>
            <a:ext cx="4539660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الـخــيــارات والــوســائـــل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3801189"/>
            <a:ext cx="2896913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ســهـــولــة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68208" y="4804765"/>
            <a:ext cx="3237204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اســتــعـــمـــالـــه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3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1" grpId="0" animBg="1"/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 ـــ  تـــابـــع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600" b="1" dirty="0" smtClean="0">
              <a:cs typeface="+mj-cs"/>
            </a:endParaRPr>
          </a:p>
          <a:p>
            <a:pPr marL="0" indent="0" algn="just" rtl="1">
              <a:lnSpc>
                <a:spcPts val="8500"/>
              </a:lnSpc>
              <a:buNone/>
            </a:pPr>
            <a:r>
              <a:rPr lang="ar-DZ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يُــوَفِّـــرُهــا ، وفـي هــذه الـوحــدة الأولـى ( مـن الـمـجــال الـثــانـي ) ســوف نــتــطــرَّقُ لــمــفـــاهـــيــمٍ جـــديـــدةٍ ونــقـــوم بـاســـتــغـــلال وســـائـــل حــــديـــثــة أَلَا وهــي  :</a:t>
            </a:r>
            <a:endParaRPr lang="ar-DZ" sz="4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055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0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37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11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352618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Sections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1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352618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Sections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35061" y="4455915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Publipostage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3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الأنــمـــاط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 تــنــســيــق مــســتــنــد يــمــكــنــنــا اســتـغــلال الأنــمــاط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فــمـاذا تُــمَــثِــل ؟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.1 - تـعـــريــف الـنــمــط 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909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8423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423592" y="1588573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خــصـائــص الـتَّـنــســيــق </a:t>
            </a:r>
          </a:p>
        </p:txBody>
      </p:sp>
    </p:spTree>
    <p:extLst>
      <p:ext uri="{BB962C8B-B14F-4D97-AF65-F5344CB8AC3E}">
        <p14:creationId xmlns:p14="http://schemas.microsoft.com/office/powerpoint/2010/main" val="39386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423592" y="1588573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خــصـائــص الـتَّـنــســيــق 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1944" y="3617577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تــطــبــيــقـهـا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دفــعــة واحــدة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الأنــمـــاط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حَـــدِّدْ بــعــض فـــوائـــد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الأنــمــاط عـــنــد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تــنــســـيــق مــســتـــنـــد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- فــوائــد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اسـتـعــمـال الأنــمــاط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62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4710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1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595429"/>
            <a:ext cx="30948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الـوقــت والـجـهــد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595429"/>
            <a:ext cx="30948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الـوقــت والـجـهــد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2780928"/>
            <a:ext cx="51326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ـرًا 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ـجِ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ــمً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الـقــوالـــب 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ثــم حَـــدِّدْ  خــصــائــصـهــا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الــقـــالـــب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609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2559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0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96200" y="2963011"/>
            <a:ext cx="33414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0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96200" y="2963011"/>
            <a:ext cx="33414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3432" y="2963011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2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يــتــألَّــف الــقـــالـــب غـــالـــبًــا مــن </a:t>
            </a:r>
            <a:r>
              <a:rPr lang="ar-DZ" sz="4000" b="1" dirty="0">
                <a:cs typeface="+mj-cs"/>
              </a:rPr>
              <a:t>جـــزئــيــن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الــثَــابِــتَــة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cs typeface="+mj-cs"/>
              </a:rPr>
              <a:t>الَّـتِي لا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>
                <a:cs typeface="+mj-cs"/>
              </a:rPr>
              <a:t>( مــثــلاً </a:t>
            </a:r>
            <a:r>
              <a:rPr lang="en-US" sz="4000" b="1" dirty="0">
                <a:cs typeface="+mj-cs"/>
              </a:rPr>
              <a:t>:</a:t>
            </a:r>
            <a:r>
              <a:rPr lang="ar-DZ" sz="4000" b="1" dirty="0">
                <a:cs typeface="+mj-cs"/>
              </a:rPr>
              <a:t> رأس الـصــفــحــة ...  إلــخ )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019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يــتــألَّــف الــقـــالـــب غـــالـــبًــا مــن </a:t>
            </a:r>
            <a:r>
              <a:rPr lang="ar-DZ" sz="4000" b="1" dirty="0">
                <a:cs typeface="+mj-cs"/>
              </a:rPr>
              <a:t>جـــزئــيــن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الــثَــابِــتَــة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cs typeface="+mj-cs"/>
              </a:rPr>
              <a:t>الَّـتِي لا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>
                <a:cs typeface="+mj-cs"/>
              </a:rPr>
              <a:t>( مــثــلاً </a:t>
            </a:r>
            <a:r>
              <a:rPr lang="en-US" sz="4000" b="1" dirty="0">
                <a:cs typeface="+mj-cs"/>
              </a:rPr>
              <a:t>:</a:t>
            </a:r>
            <a:r>
              <a:rPr lang="ar-DZ" sz="4000" b="1" dirty="0">
                <a:cs typeface="+mj-cs"/>
              </a:rPr>
              <a:t> رأس الـصــفــحــة ...  إلــخ )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4529" y="329325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رْغَــب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تـغــيــي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55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0943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203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282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9014" y="4167300"/>
            <a:ext cx="23042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حْ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ـذَف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8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9014" y="4167300"/>
            <a:ext cx="23042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حْ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ـذَف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16997" y="5026623"/>
            <a:ext cx="26771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1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522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2590662"/>
            <a:ext cx="34692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6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2590662"/>
            <a:ext cx="34692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0096" y="3588049"/>
            <a:ext cx="3757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0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الـمــقَـــاطِــع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</a:t>
            </a:r>
            <a:r>
              <a:rPr lang="ar-DZ" sz="4400" b="1" dirty="0"/>
              <a:t>الـمَــقَـــاطــع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ثــم حَـــدِّدْ  خــصــائــصـهــا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.3 تـعـــريــف الـمــقــطــع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667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9724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248128" y="3008175"/>
            <a:ext cx="26642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تــقــســيــم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248128" y="3008175"/>
            <a:ext cx="26642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تــقــســيــم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018779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أجــزاء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وهـــمـــيــة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53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9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26252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اِتِــجَـــاه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273418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اِتِــجَـــاه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1864" y="463330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126398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13" grpId="0" animBg="1"/>
      <p:bldP spid="9" grpId="0" animBg="1"/>
      <p:bldP spid="1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7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47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ـــش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6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092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11424" y="2943747"/>
            <a:ext cx="44927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الإطـــار أو الــمــجــال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7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42131" y="4161959"/>
            <a:ext cx="48245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خـــصــائـص الــتــخــطــيــط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424" y="2943747"/>
            <a:ext cx="44927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الإطـــار أو الــمــجــال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86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مــنـهـا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6254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مــنـهـا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775520" y="1497663"/>
            <a:ext cx="59556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تـخــطــيــطــات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Mises en Page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5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</a:t>
            </a:r>
            <a:r>
              <a:rPr lang="ar-DZ" sz="4000" b="1" dirty="0" smtClean="0"/>
              <a:t>مــنـهـا :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775520" y="1497663"/>
            <a:ext cx="59556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تـخــطــيــطــات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Mises en Page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15680" y="3356992"/>
            <a:ext cx="53795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الـفــواصـل الـمــقــطــعــيــة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33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99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0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99856" y="4293096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مَــقْــطَــعًــا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4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99856" y="4293096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مَــقْــطَــعًــا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5643" y="5285887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الـتــالــيــة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9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9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20136" y="3447159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4383473"/>
            <a:ext cx="25023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الـسَــطْــر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20136" y="3447159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1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دمــج الـمـــراســــلات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Publipostage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دمــج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الـمـــراســـلات،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ثــم حَـــدِّدْ 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خــصــائــصـهــا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.4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دمــج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الـمـــراســــلات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073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331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2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07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33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76320" y="4296474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إدراجــهـا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5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76320" y="4296474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إدراجــهـا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912" y="429647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مــواضـعٍ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60296" y="522076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مــســتــنــد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77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3828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60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5760" y="3286673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الـجــزء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الـثَّــابــت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4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</a:t>
            </a:r>
            <a:r>
              <a:rPr lang="ar-DZ" sz="4000" b="1" dirty="0" smtClean="0"/>
              <a:t>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5760" y="3286673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الـجــزء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الـثَّــابــت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0" y="4211906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الـوثــائــق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8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3394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1523421"/>
            <a:ext cx="2353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الـمــلـف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8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1523421"/>
            <a:ext cx="2353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الـمــلـف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2473427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نــســتــرجــع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48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الـربـط والـدمـج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لإنـشــاء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الـوثــائـق الــنهــائــيـة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نــقــوم  بِــرَبْــطِ  الـوثــيــقــتــيــن </a:t>
            </a:r>
            <a:r>
              <a:rPr lang="ar-DZ" sz="4000" b="1" dirty="0">
                <a:solidFill>
                  <a:srgbClr val="002060"/>
                </a:solidFill>
              </a:rPr>
              <a:t>: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945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الـربـط والـدمـج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لإنـشــاء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الـوثــائـق الــنهــائــيـة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نــقــوم  بِــرَبْــطِ  الـوثــيــقــتــيــن </a:t>
            </a:r>
            <a:r>
              <a:rPr lang="ar-DZ" sz="4000" b="1" dirty="0">
                <a:solidFill>
                  <a:srgbClr val="002060"/>
                </a:solidFill>
              </a:rPr>
              <a:t>: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95400" y="2492896"/>
            <a:ext cx="44644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64424" y="344577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ومــصــدر الــبــيــانــات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0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3496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4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70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9600" y="2421245"/>
            <a:ext cx="4406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1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0" grpId="0" animBg="1"/>
      <p:bldP spid="9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9600" y="2421245"/>
            <a:ext cx="4406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49962" y="3394376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الــوثـــائــق الــنـهــائــيــة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0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7" grpId="0" animBg="1"/>
      <p:bldP spid="10" grpId="0" animBg="1"/>
      <p:bldP spid="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2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8478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55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408587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1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مُــلْــصَــقَـــات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305738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1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مُــلْــصَــقَـــات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71864" y="463330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155157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13" grpId="0" animBg="1"/>
      <p:bldP spid="9" grpId="0" animBg="1"/>
      <p:bldP spid="11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+mj-cs"/>
              </a:rPr>
              <a:t>1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تُــــعَــــدُّ الأنـــمـــاط 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Styles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والــمــقـــاطـــع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Sections</a:t>
            </a:r>
            <a:r>
              <a:rPr lang="en-US" sz="40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مـــن أبْــــــرَزِ تــلــك الــوســـائـــل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الَّــــتِــي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يَـــــتِـــمُّ تـــوظــيـــفـــهــمــا كــثـــيـــرًا فــي عـــمـــلــــيـــــتــــي الــتــنــســـيــــق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Mise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en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Forme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والــتـــخـــطــــيـــط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Mise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en Page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عــلــى الـــتــــرتـــــيـــــب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قَـــــارِنْ بـــيــن الــتــنــســـيــــق والـــتـــخــــطــــيـــــط مــع إِبْــــــرَازِ الـــعــــلاقـــــة الـــمــــوجــــودة بـــيـــن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الــــتـــــنـــســـيــــق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SA" sz="3600" b="1" dirty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الأنــــمــــــاط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،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وبـــيـــن الـــتـــخــــطــــيـــــط والـــمـــقــــاطـــع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67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ـــ  تــــابـــع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2.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لإ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نــشـــاء مـــســـتـــنــــدات مـــتـــشـــابــهــة بــحـــيـــث تَـــتَــمَــاثَـــلُ فـــيـــمـــا بــــيــــنـــهـــا فـــي بـــعــض الأجـــــزاء وتَــــتَــــبَـــايَـــنُ فـــي أجـــــزاءٍ أخـــــرى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يـــمـــكــــنـــــنــــا تـــوظـــيــــف الـــقــــوالــــب </a:t>
            </a:r>
            <a:r>
              <a:rPr lang="en-US" sz="4000" b="1" dirty="0" err="1">
                <a:solidFill>
                  <a:srgbClr val="00000A"/>
                </a:solidFill>
                <a:latin typeface="Liberation Serif"/>
                <a:ea typeface="Droid Sans Fallback"/>
                <a:cs typeface="Calibri" panose="020F0502020204030204" pitchFamily="34" charset="0"/>
              </a:rPr>
              <a:t>Modèles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أو دمــج الـــمــــراســـــلات </a:t>
            </a:r>
            <a:r>
              <a:rPr lang="en-US" sz="4000" b="1" dirty="0" err="1">
                <a:solidFill>
                  <a:srgbClr val="00000A"/>
                </a:solidFill>
                <a:latin typeface="Liberation Serif"/>
                <a:ea typeface="Droid Sans Fallback"/>
                <a:cs typeface="Calibri" panose="020F0502020204030204" pitchFamily="34" charset="0"/>
              </a:rPr>
              <a:t>Publipostage</a:t>
            </a:r>
            <a:r>
              <a:rPr lang="en-US" sz="4000" b="1" dirty="0">
                <a:solidFill>
                  <a:srgbClr val="00000A"/>
                </a:solidFill>
                <a:latin typeface="FreeSans"/>
                <a:ea typeface="Droid Sans Fallback"/>
                <a:cs typeface="FreeSans"/>
              </a:rPr>
              <a:t>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lvl="0" indent="0" algn="just" rtl="1">
              <a:lnSpc>
                <a:spcPct val="11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قــــــارِنْ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بــــيــن هـــــاتــــيـــن الــــوســــيــــــلـــــتـــــيــــن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الـــقــــوالـــــب ودمـــج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الــمـــــراســـــلات ؛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ومــــا هــــي الـــــوســــيــــلـــــة الَّــتِـي تُــــفَــــضِّـــلُ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اِسْــــتِـــــغْــــــلَالَـــــهَــــا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؟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ولِــمَـــاذَا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؟</a:t>
            </a:r>
            <a:endParaRPr lang="ar-DZ" sz="4000" b="1" dirty="0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5545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مــنــزلـي ـــ  تــــابـــع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3.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قـــــارن بــــيــن الـــفـــواصـل الـــتــــالــــيـــة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 فــــــاصــل الـــســطــــر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فــــــاصــل الـــصـــفـــحــــة و</a:t>
            </a:r>
            <a:r>
              <a:rPr lang="ar-DZ" sz="4400" b="1" dirty="0" smtClean="0"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Traditional Arabic" panose="02020603050405020304" pitchFamily="18" charset="-78"/>
              </a:rPr>
              <a:t>الـــ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فــــاصـل الـــمــــقــــطـــــعــــي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  <a:endParaRPr lang="ar-DZ" sz="40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1162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23/11/2024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27931</TotalTime>
  <Words>5301</Words>
  <Application>Microsoft Office PowerPoint</Application>
  <PresentationFormat>Grand écran</PresentationFormat>
  <Paragraphs>948</Paragraphs>
  <Slides>139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139</vt:i4>
      </vt:variant>
    </vt:vector>
  </HeadingPairs>
  <TitlesOfParts>
    <vt:vector size="152" baseType="lpstr">
      <vt:lpstr>Arial Unicode MS</vt:lpstr>
      <vt:lpstr>SimSun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Traditional Arabic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مــفــهــوم الــمــكـــتـــبـــيــة   Bureautique</vt:lpstr>
      <vt:lpstr>أتـذكـر ( 1.1  تـعـــريــف الــمَـــكْـــتَـــبِـــيَـــة )</vt:lpstr>
      <vt:lpstr>أتـذكـر ( 1.1  تـعـــريــف الــمَـــكْـــتَـــبِـــيَـــة )</vt:lpstr>
      <vt:lpstr>1. مــفــهــوم الــمــكـــتـــبـــيــة   Bureautique</vt:lpstr>
      <vt:lpstr>أتـذكـر ( 2.1 الـحُــزْمَــة الــمَـــكْـــتَـــبِـــيَـــة )</vt:lpstr>
      <vt:lpstr>أتـذكـر ( 2.1 الـحُــزْمَــة الــمَـــكْـــتَـــبِـــيَـــة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2. مـفــهـــوم الـمــســتــنــدDocument 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2. مـفــهـــوم الـمــســتــنــدDocument 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1. الأنــمـــاط   Styles</vt:lpstr>
      <vt:lpstr>أتـذكـر ( 1.1  تـعـــريــف الــنــمــط )</vt:lpstr>
      <vt:lpstr>أتـذكـر ( 1.1  تـعـــريــف الــنــمــط )</vt:lpstr>
      <vt:lpstr>أتـذكـر ( 1.1  تـعـــريــف الــنــمــط )</vt:lpstr>
      <vt:lpstr>1. الأنــمـــاط   Styles</vt:lpstr>
      <vt:lpstr>أتـذكـر ( 2.1 - فــوائــد اسـتـعــمـال الأنــمــاط )</vt:lpstr>
      <vt:lpstr>أتـذكـر ( 2.1 - فــوائــد اسـتـعــمـال الأنــمــاط )</vt:lpstr>
      <vt:lpstr>أتـذكـر ( 2.1 - فــوائــد اسـتـعــمـال الأنــمــاط )</vt:lpstr>
      <vt:lpstr>أتـذكـر ( 2.1 - فــوائــد اسـتـعــمـال الأنــمــاط )</vt:lpstr>
      <vt:lpstr>2. الـقـــوالـــب    Modèles</vt:lpstr>
      <vt:lpstr>أتـذكـر ( 1.2 تـعـــريــف الــقـــالـــب )</vt:lpstr>
      <vt:lpstr>أتـذكـر ( 1.2 تـعـــريــف الــقـــالـــب )</vt:lpstr>
      <vt:lpstr>أتـذكـر ( 1.2 تـعـــريــف الــقـــالـــب )</vt:lpstr>
      <vt:lpstr>أتـذكـر ( 1.2 تـعـــريــف الــقـــالـــب )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3. الـمــقَـــاطِــع   Sections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( 2.3 أنــواع الـمــقــاطــع )</vt:lpstr>
      <vt:lpstr>أتـذكـر ( 2.3 أنــواع الـمــقــاطــع )</vt:lpstr>
      <vt:lpstr>أتـذكـر ( 2.3 أنــواع الـمــقــاطــع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ب - فــاصــل مـقــطــعــي (مــســتــمِــرّ  )</vt:lpstr>
      <vt:lpstr>أتـذكـر ب - فــاصــل مـقــطــعــي (مــســتــمِــرّ  )</vt:lpstr>
      <vt:lpstr>أتـذكـر ب - فــاصــل مـقــطــعــي (مــســتــمِــرّ  )</vt:lpstr>
      <vt:lpstr>4. دمــج الـمـــراســــلات   Publipostage 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2.4 خــصــائــص دمــج الـمـــراســــلات :</vt:lpstr>
      <vt:lpstr>2.4 خــصــائــص دمــج الـمـــراســــلات :</vt:lpstr>
      <vt:lpstr>2.4 خــصــائــص دمــج الـمـــراســــلات :</vt:lpstr>
      <vt:lpstr>2.4 خــصــائــص دمــج الـمـــراســــلات :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واجــب مــنــزلـي :</vt:lpstr>
      <vt:lpstr>واجــب مــنــزلـي ـــ  تــــابـــع :</vt:lpstr>
      <vt:lpstr>واجــب مــنــزلـي ـــ  تــــابـــع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2208</cp:revision>
  <dcterms:created xsi:type="dcterms:W3CDTF">2015-11-30T21:00:22Z</dcterms:created>
  <dcterms:modified xsi:type="dcterms:W3CDTF">2024-11-23T22:09:51Z</dcterms:modified>
</cp:coreProperties>
</file>