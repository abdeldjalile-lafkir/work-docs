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4"/>
  </p:notesMasterIdLst>
  <p:sldIdLst>
    <p:sldId id="387" r:id="rId3"/>
    <p:sldId id="388" r:id="rId4"/>
    <p:sldId id="389" r:id="rId5"/>
    <p:sldId id="293" r:id="rId6"/>
    <p:sldId id="461" r:id="rId7"/>
    <p:sldId id="396" r:id="rId8"/>
    <p:sldId id="462" r:id="rId9"/>
    <p:sldId id="401" r:id="rId10"/>
    <p:sldId id="403" r:id="rId11"/>
    <p:sldId id="469" r:id="rId12"/>
    <p:sldId id="468" r:id="rId13"/>
    <p:sldId id="463" r:id="rId14"/>
    <p:sldId id="464" r:id="rId15"/>
    <p:sldId id="465" r:id="rId16"/>
    <p:sldId id="466" r:id="rId17"/>
    <p:sldId id="467" r:id="rId18"/>
    <p:sldId id="470" r:id="rId19"/>
    <p:sldId id="628" r:id="rId20"/>
    <p:sldId id="473" r:id="rId21"/>
    <p:sldId id="631" r:id="rId22"/>
    <p:sldId id="630" r:id="rId23"/>
    <p:sldId id="629" r:id="rId24"/>
    <p:sldId id="627" r:id="rId25"/>
    <p:sldId id="497" r:id="rId26"/>
    <p:sldId id="632" r:id="rId27"/>
    <p:sldId id="636" r:id="rId28"/>
    <p:sldId id="634" r:id="rId29"/>
    <p:sldId id="638" r:id="rId30"/>
    <p:sldId id="637" r:id="rId31"/>
    <p:sldId id="633" r:id="rId32"/>
    <p:sldId id="640" r:id="rId33"/>
    <p:sldId id="639" r:id="rId34"/>
    <p:sldId id="485" r:id="rId35"/>
    <p:sldId id="487" r:id="rId36"/>
    <p:sldId id="486" r:id="rId37"/>
    <p:sldId id="488" r:id="rId38"/>
    <p:sldId id="491" r:id="rId39"/>
    <p:sldId id="490" r:id="rId40"/>
    <p:sldId id="489" r:id="rId41"/>
    <p:sldId id="493" r:id="rId42"/>
    <p:sldId id="496" r:id="rId43"/>
    <p:sldId id="495" r:id="rId44"/>
    <p:sldId id="494" r:id="rId45"/>
    <p:sldId id="498" r:id="rId46"/>
    <p:sldId id="407" r:id="rId47"/>
    <p:sldId id="500" r:id="rId48"/>
    <p:sldId id="504" r:id="rId49"/>
    <p:sldId id="506" r:id="rId50"/>
    <p:sldId id="505" r:id="rId51"/>
    <p:sldId id="503" r:id="rId52"/>
    <p:sldId id="507" r:id="rId53"/>
    <p:sldId id="511" r:id="rId54"/>
    <p:sldId id="509" r:id="rId55"/>
    <p:sldId id="510" r:id="rId56"/>
    <p:sldId id="513" r:id="rId57"/>
    <p:sldId id="512" r:id="rId58"/>
    <p:sldId id="517" r:id="rId59"/>
    <p:sldId id="611" r:id="rId60"/>
    <p:sldId id="515" r:id="rId61"/>
    <p:sldId id="518" r:id="rId62"/>
    <p:sldId id="525" r:id="rId63"/>
    <p:sldId id="523" r:id="rId64"/>
    <p:sldId id="528" r:id="rId65"/>
    <p:sldId id="526" r:id="rId66"/>
    <p:sldId id="519" r:id="rId67"/>
    <p:sldId id="522" r:id="rId68"/>
    <p:sldId id="521" r:id="rId69"/>
    <p:sldId id="520" r:id="rId70"/>
    <p:sldId id="529" r:id="rId71"/>
    <p:sldId id="530" r:id="rId72"/>
    <p:sldId id="537" r:id="rId73"/>
    <p:sldId id="534" r:id="rId74"/>
    <p:sldId id="536" r:id="rId75"/>
    <p:sldId id="535" r:id="rId76"/>
    <p:sldId id="533" r:id="rId77"/>
    <p:sldId id="532" r:id="rId78"/>
    <p:sldId id="531" r:id="rId79"/>
    <p:sldId id="538" r:id="rId80"/>
    <p:sldId id="539" r:id="rId81"/>
    <p:sldId id="626" r:id="rId82"/>
    <p:sldId id="541" r:id="rId83"/>
    <p:sldId id="615" r:id="rId84"/>
    <p:sldId id="620" r:id="rId85"/>
    <p:sldId id="619" r:id="rId86"/>
    <p:sldId id="618" r:id="rId87"/>
    <p:sldId id="617" r:id="rId88"/>
    <p:sldId id="616" r:id="rId89"/>
    <p:sldId id="621" r:id="rId90"/>
    <p:sldId id="622" r:id="rId91"/>
    <p:sldId id="623" r:id="rId92"/>
    <p:sldId id="624" r:id="rId93"/>
    <p:sldId id="625" r:id="rId94"/>
    <p:sldId id="548" r:id="rId95"/>
    <p:sldId id="552" r:id="rId96"/>
    <p:sldId id="555" r:id="rId97"/>
    <p:sldId id="554" r:id="rId98"/>
    <p:sldId id="553" r:id="rId99"/>
    <p:sldId id="556" r:id="rId100"/>
    <p:sldId id="557" r:id="rId101"/>
    <p:sldId id="700" r:id="rId102"/>
    <p:sldId id="683" r:id="rId103"/>
    <p:sldId id="689" r:id="rId104"/>
    <p:sldId id="685" r:id="rId105"/>
    <p:sldId id="686" r:id="rId106"/>
    <p:sldId id="690" r:id="rId107"/>
    <p:sldId id="691" r:id="rId108"/>
    <p:sldId id="687" r:id="rId109"/>
    <p:sldId id="699" r:id="rId110"/>
    <p:sldId id="562" r:id="rId111"/>
    <p:sldId id="563" r:id="rId112"/>
    <p:sldId id="564" r:id="rId113"/>
    <p:sldId id="661" r:id="rId114"/>
    <p:sldId id="569" r:id="rId115"/>
    <p:sldId id="643" r:id="rId116"/>
    <p:sldId id="698" r:id="rId117"/>
    <p:sldId id="696" r:id="rId118"/>
    <p:sldId id="642" r:id="rId119"/>
    <p:sldId id="648" r:id="rId120"/>
    <p:sldId id="649" r:id="rId121"/>
    <p:sldId id="701" r:id="rId122"/>
    <p:sldId id="707" r:id="rId123"/>
    <p:sldId id="706" r:id="rId124"/>
    <p:sldId id="704" r:id="rId125"/>
    <p:sldId id="705" r:id="rId126"/>
    <p:sldId id="703" r:id="rId127"/>
    <p:sldId id="573" r:id="rId128"/>
    <p:sldId id="656" r:id="rId129"/>
    <p:sldId id="655" r:id="rId130"/>
    <p:sldId id="657" r:id="rId131"/>
    <p:sldId id="658" r:id="rId132"/>
    <p:sldId id="586" r:id="rId133"/>
    <p:sldId id="660" r:id="rId134"/>
    <p:sldId id="659" r:id="rId135"/>
    <p:sldId id="608" r:id="rId136"/>
    <p:sldId id="650" r:id="rId137"/>
    <p:sldId id="596" r:id="rId138"/>
    <p:sldId id="612" r:id="rId139"/>
    <p:sldId id="597" r:id="rId140"/>
    <p:sldId id="610" r:id="rId141"/>
    <p:sldId id="665" r:id="rId142"/>
    <p:sldId id="664" r:id="rId143"/>
    <p:sldId id="578" r:id="rId144"/>
    <p:sldId id="594" r:id="rId145"/>
    <p:sldId id="673" r:id="rId146"/>
    <p:sldId id="579" r:id="rId147"/>
    <p:sldId id="680" r:id="rId148"/>
    <p:sldId id="681" r:id="rId149"/>
    <p:sldId id="585" r:id="rId150"/>
    <p:sldId id="666" r:id="rId151"/>
    <p:sldId id="668" r:id="rId152"/>
    <p:sldId id="671" r:id="rId153"/>
    <p:sldId id="603" r:id="rId154"/>
    <p:sldId id="672" r:id="rId155"/>
    <p:sldId id="602" r:id="rId156"/>
    <p:sldId id="601" r:id="rId157"/>
    <p:sldId id="598" r:id="rId158"/>
    <p:sldId id="682" r:id="rId159"/>
    <p:sldId id="692" r:id="rId160"/>
    <p:sldId id="697" r:id="rId161"/>
    <p:sldId id="604" r:id="rId162"/>
    <p:sldId id="451" r:id="rId16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DDD"/>
    <a:srgbClr val="74180A"/>
    <a:srgbClr val="7B524B"/>
    <a:srgbClr val="B3BD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26" autoAdjust="0"/>
    <p:restoredTop sz="92819" autoAdjust="0"/>
  </p:normalViewPr>
  <p:slideViewPr>
    <p:cSldViewPr>
      <p:cViewPr varScale="1">
        <p:scale>
          <a:sx n="68" d="100"/>
          <a:sy n="68" d="100"/>
        </p:scale>
        <p:origin x="4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slide" Target="slides/slide159.xml"/><Relationship Id="rId16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presProps" Target="presProp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889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06/04/2026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06/04/2026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06/04/2026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06/04/2026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06/04/2026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06/04/2026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06/04/2026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06/04/2026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06/04/2026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06/04/2026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06/04/2026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06/04/2026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06/04/2026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06/04/2026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06/04/2026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06/04/2026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06/04/2026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06/04/2026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06/04/2026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06/04/2026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06/04/2026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06/04/2026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06/04/2026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06/04/2026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06/04/2026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06/04/2026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06/04/2026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تـعـتـبـر الانـتـرنـت أكـبـر مـكـتـبـة إلـكـتـرونـيـة نَـظَـرًا للـمـعـلـومـات الـمُـتَـوَفِّــرَة فـي صــفــحــات الـويــب، فــمـا هـي الـتــقــنــيــة الَّـتِي يـنـبـغـي تـعـلُّـمٌـهـا لإنــشــاء صــفــحــة </a:t>
            </a:r>
            <a:r>
              <a:rPr lang="ar-DZ" sz="4800" b="1" dirty="0" smtClean="0">
                <a:cs typeface="+mj-cs"/>
              </a:rPr>
              <a:t>ويــب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400" b="1" dirty="0">
              <a:cs typeface="+mj-cs"/>
            </a:endParaRPr>
          </a:p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يـنـبـغـي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تَـعَــلُّــمُ  </a:t>
            </a:r>
            <a:r>
              <a:rPr lang="ar-DZ" sz="4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>
                <a:solidFill>
                  <a:srgbClr val="002060"/>
                </a:solidFill>
                <a:cs typeface="Times New Roman" panose="02020603050405020304" pitchFamily="18" charset="0"/>
              </a:rPr>
              <a:t>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400" b="1" dirty="0">
              <a:cs typeface="+mj-cs"/>
            </a:endParaRPr>
          </a:p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يـنـبـغـي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تَـعَــلُّــمُ  </a:t>
            </a:r>
            <a:r>
              <a:rPr lang="ar-DZ" sz="4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>
                <a:solidFill>
                  <a:srgbClr val="002060"/>
                </a:solidFill>
                <a:cs typeface="Times New Roman" panose="02020603050405020304" pitchFamily="18" charset="0"/>
              </a:rPr>
              <a:t>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631504" y="2276872"/>
            <a:ext cx="5472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تــقــنــيــة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421556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الــتـعـــلــيــمــيــة 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06/04/2026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7596844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Création d’une Page Web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17" y="-16961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الــتـعـــلــي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ـم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يــة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إنــشــاء صــفــحــة ويــب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06/04/2026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7596844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Création d’une Page Web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17" y="-16961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0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	تـعــريــف تــقــنــيــة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مــاذا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يُــمَــثِّــلُ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لَــكُــمْ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الــمُــصْــطـــلــح  الــعِـــلْـــمِــي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914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21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15480" y="2708920"/>
            <a:ext cx="9433048" cy="9900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yper</a:t>
            </a: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T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ext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u="sng" dirty="0" smtClean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M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arkup   </a:t>
            </a:r>
            <a:r>
              <a:rPr lang="en-US" sz="4400" b="1" u="sng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L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anguage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776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15480" y="2708920"/>
            <a:ext cx="9433048" cy="9900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yper</a:t>
            </a: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T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ext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u="sng" dirty="0" smtClean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M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arkup   </a:t>
            </a:r>
            <a:r>
              <a:rPr lang="en-US" sz="4400" b="1" u="sng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L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anguage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5480" y="4608892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لــغــة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تَــوْصِـيــف الــنــص الـتــشــعــبــي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669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783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1662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8559856" y="3896208"/>
            <a:ext cx="2448272" cy="64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>
                <a:solidFill>
                  <a:srgbClr val="0070C0"/>
                </a:solidFill>
                <a:cs typeface="+mj-cs"/>
              </a:rPr>
              <a:t>الـمـحــتــوى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503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8559856" y="3896208"/>
            <a:ext cx="2448272" cy="64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>
                <a:solidFill>
                  <a:srgbClr val="0070C0"/>
                </a:solidFill>
                <a:cs typeface="+mj-cs"/>
              </a:rPr>
              <a:t>الـمـحــتــوى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9063437" y="996325"/>
            <a:ext cx="2232736" cy="16254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مـعـلـومـات إضــافــيــة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473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3) مــفــهــوم الـوَسْـــم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800" b="1" dirty="0"/>
              <a:t>أكــمــل الـفــراغــات بــتـعَــريــف الــوســم وتـحــديــد خــصـائــصـه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.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282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يَــتِـمُ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خــلالـها إتـمـام وظــيـفــتــيـن وَهُـمَـا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0663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يَــتِـمُ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خــلالـها إتـمـام وظــيـفــتــيـن وَهُـمَـا 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7800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361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25969" y="1588459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611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25969" y="1588459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3798" y="250448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دَوْرَهُ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5913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25969" y="1588459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3798" y="250448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دَوْرَهُ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Pensées 7"/>
          <p:cNvSpPr/>
          <p:nvPr/>
        </p:nvSpPr>
        <p:spPr>
          <a:xfrm>
            <a:off x="6960096" y="4725144"/>
            <a:ext cx="4392488" cy="1452546"/>
          </a:xfrm>
          <a:prstGeom prst="cloudCallout">
            <a:avLst>
              <a:gd name="adj1" fmla="val -30987"/>
              <a:gd name="adj2" fmla="val -14471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endParaRPr lang="fr-FR" sz="1500" b="1" dirty="0" smtClean="0">
              <a:solidFill>
                <a:srgbClr val="FF0000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3600" b="1" dirty="0" smtClean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وَسْـــم مُـــفْـــرَد</a:t>
            </a:r>
            <a:endParaRPr lang="fr-FR" sz="3600" dirty="0">
              <a:solidFill>
                <a:srgbClr val="00000A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Pensées 8"/>
          <p:cNvSpPr/>
          <p:nvPr/>
        </p:nvSpPr>
        <p:spPr>
          <a:xfrm>
            <a:off x="825969" y="4692910"/>
            <a:ext cx="4392488" cy="1452546"/>
          </a:xfrm>
          <a:prstGeom prst="cloudCallout">
            <a:avLst>
              <a:gd name="adj1" fmla="val -24864"/>
              <a:gd name="adj2" fmla="val -20118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endParaRPr lang="fr-FR" sz="1500" b="1" dirty="0" smtClean="0">
              <a:solidFill>
                <a:srgbClr val="FF0000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3600" b="1" dirty="0" smtClean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وَسْـــم </a:t>
            </a:r>
            <a:r>
              <a:rPr lang="ar-DZ" sz="3600" b="1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مُــزْدَوَج</a:t>
            </a:r>
            <a:endParaRPr lang="fr-FR" sz="3600" dirty="0">
              <a:solidFill>
                <a:srgbClr val="00000A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90923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319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760296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46744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187131"/>
              </p:ext>
            </p:extLst>
          </p:nvPr>
        </p:nvGraphicFramePr>
        <p:xfrm>
          <a:off x="1559496" y="4653136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4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760296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46744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187131"/>
              </p:ext>
            </p:extLst>
          </p:nvPr>
        </p:nvGraphicFramePr>
        <p:xfrm>
          <a:off x="1559496" y="4653136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Pensées 7"/>
          <p:cNvSpPr/>
          <p:nvPr/>
        </p:nvSpPr>
        <p:spPr>
          <a:xfrm>
            <a:off x="4315943" y="4509032"/>
            <a:ext cx="4392488" cy="1452546"/>
          </a:xfrm>
          <a:prstGeom prst="cloudCallout">
            <a:avLst>
              <a:gd name="adj1" fmla="val 74632"/>
              <a:gd name="adj2" fmla="val -12434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endParaRPr lang="fr-FR" sz="1500" b="1" dirty="0" smtClean="0">
              <a:solidFill>
                <a:srgbClr val="FF0000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3600" b="1" dirty="0" smtClean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وَسْـــم </a:t>
            </a:r>
            <a:r>
              <a:rPr lang="ar-DZ" sz="3600" b="1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مُــزْدَوَج</a:t>
            </a:r>
            <a:endParaRPr lang="fr-FR" sz="3600" dirty="0">
              <a:solidFill>
                <a:srgbClr val="00000A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Pensées 8"/>
          <p:cNvSpPr/>
          <p:nvPr/>
        </p:nvSpPr>
        <p:spPr>
          <a:xfrm>
            <a:off x="4315943" y="4513299"/>
            <a:ext cx="4392488" cy="1452546"/>
          </a:xfrm>
          <a:prstGeom prst="cloudCallout">
            <a:avLst>
              <a:gd name="adj1" fmla="val -45987"/>
              <a:gd name="adj2" fmla="val -12712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endParaRPr lang="fr-FR" sz="1500" b="1" dirty="0" smtClean="0">
              <a:solidFill>
                <a:srgbClr val="FF0000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3600" b="1" dirty="0" smtClean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وَسْـــم </a:t>
            </a:r>
            <a:r>
              <a:rPr lang="ar-DZ" sz="3600" b="1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مُــزْدَوَج</a:t>
            </a:r>
            <a:endParaRPr lang="fr-FR" sz="3600" dirty="0">
              <a:solidFill>
                <a:srgbClr val="00000A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68184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25969" y="1588459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3798" y="250448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دَوْرَهُ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Pensées 7"/>
          <p:cNvSpPr/>
          <p:nvPr/>
        </p:nvSpPr>
        <p:spPr>
          <a:xfrm>
            <a:off x="6960096" y="4725144"/>
            <a:ext cx="4392488" cy="1452546"/>
          </a:xfrm>
          <a:prstGeom prst="cloudCallout">
            <a:avLst>
              <a:gd name="adj1" fmla="val -30987"/>
              <a:gd name="adj2" fmla="val -14471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endParaRPr lang="fr-FR" sz="1500" b="1" dirty="0" smtClean="0">
              <a:solidFill>
                <a:srgbClr val="FF0000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3600" b="1" dirty="0" smtClean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وَسْـــم مُـــفْـــرَد</a:t>
            </a:r>
            <a:endParaRPr lang="fr-FR" sz="3600" dirty="0">
              <a:solidFill>
                <a:srgbClr val="00000A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Pensées 8"/>
          <p:cNvSpPr/>
          <p:nvPr/>
        </p:nvSpPr>
        <p:spPr>
          <a:xfrm>
            <a:off x="825969" y="4692910"/>
            <a:ext cx="4392488" cy="1452546"/>
          </a:xfrm>
          <a:prstGeom prst="cloudCallout">
            <a:avLst>
              <a:gd name="adj1" fmla="val -24864"/>
              <a:gd name="adj2" fmla="val -20118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endParaRPr lang="fr-FR" sz="1500" b="1" dirty="0" smtClean="0">
              <a:solidFill>
                <a:srgbClr val="FF0000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3600" b="1" dirty="0" smtClean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وَسْـــم </a:t>
            </a:r>
            <a:r>
              <a:rPr lang="ar-DZ" sz="3600" b="1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+mj-cs"/>
              </a:rPr>
              <a:t>مُــزْدَوَج</a:t>
            </a:r>
            <a:endParaRPr lang="fr-FR" sz="3600" dirty="0">
              <a:solidFill>
                <a:srgbClr val="00000A"/>
              </a:solidFill>
              <a:effectLst/>
              <a:latin typeface="Liberation Serif"/>
              <a:ea typeface="Droid Sans Fallback"/>
              <a:cs typeface="+mj-cs"/>
            </a:endParaRPr>
          </a:p>
          <a:p>
            <a:pPr algn="r" rtl="1">
              <a:spcAft>
                <a:spcPts val="0"/>
              </a:spcAft>
            </a:pPr>
            <a:r>
              <a:rPr lang="ar-DZ" sz="1400" dirty="0">
                <a:solidFill>
                  <a:srgbClr val="FF000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02809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DZ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لـلــوُسُـــوم الـمُــزْدَوَجَــة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47998"/>
              </p:ext>
            </p:extLst>
          </p:nvPr>
        </p:nvGraphicFramePr>
        <p:xfrm>
          <a:off x="1775520" y="1700808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229322"/>
            <a:ext cx="98393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1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DZ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لـلــوُسُـــوم الـمُــزْدَوَجَــة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47998"/>
              </p:ext>
            </p:extLst>
          </p:nvPr>
        </p:nvGraphicFramePr>
        <p:xfrm>
          <a:off x="1775520" y="1700808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229322"/>
            <a:ext cx="9839325" cy="2647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74736" y="3677785"/>
            <a:ext cx="1904769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228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DZ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لـلــوُسُـــوم الـمُــزْدَوَجَــة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647998"/>
              </p:ext>
            </p:extLst>
          </p:nvPr>
        </p:nvGraphicFramePr>
        <p:xfrm>
          <a:off x="1775520" y="1700808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229322"/>
            <a:ext cx="9839325" cy="2647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74736" y="3677785"/>
            <a:ext cx="1904769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4653216"/>
            <a:ext cx="18999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8497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DZ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لـلــوُسُـــوم الـمُــزْدَوَجَــة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368572"/>
              </p:ext>
            </p:extLst>
          </p:nvPr>
        </p:nvGraphicFramePr>
        <p:xfrm>
          <a:off x="1775520" y="1696907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068303"/>
            <a:ext cx="9642784" cy="2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56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DZ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لـلــوُسُـــوم الـمُــزْدَوَجَــة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368572"/>
              </p:ext>
            </p:extLst>
          </p:nvPr>
        </p:nvGraphicFramePr>
        <p:xfrm>
          <a:off x="1775520" y="1696907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068303"/>
            <a:ext cx="9642784" cy="266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504" y="3455982"/>
            <a:ext cx="2412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تَــوْصِــيــفُـهُ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015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DZ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لـلــوُسُـــوم الـمُــزْدَوَجَــة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368572"/>
              </p:ext>
            </p:extLst>
          </p:nvPr>
        </p:nvGraphicFramePr>
        <p:xfrm>
          <a:off x="1775520" y="1696907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068303"/>
            <a:ext cx="9642784" cy="266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504" y="3455982"/>
            <a:ext cx="2412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تَــوْصِــيــفُـهُ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74736" y="4437785"/>
            <a:ext cx="2520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طَــبِــيــعَــةَ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26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8405" y="2560383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1145" y="349639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554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8405" y="2560383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1145" y="349639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67608" y="4432415"/>
            <a:ext cx="3960439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رأس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67608" y="5325953"/>
            <a:ext cx="394425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رأس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53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  <p:bldP spid="16" grpId="0" animBg="1"/>
      <p:bldP spid="1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8522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262" y="274638"/>
            <a:ext cx="8240275" cy="6264687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8403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14001" y="174114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عــنــوان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004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14001" y="174114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عــنــوان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27448" y="3632580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الـمـحــتــوى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381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133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87781" y="3986134"/>
            <a:ext cx="2484008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مـحــتــوى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340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87781" y="3986134"/>
            <a:ext cx="2484008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مـحــتــوى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43092" y="4898210"/>
            <a:ext cx="1728192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اه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982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)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الـوســوم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الـشــهــيــرة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fr-FR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800" b="1" dirty="0"/>
              <a:t>كــيــف يَــتِـمُّ إِدْرَاجُ الـفــقــرات وعـــنـــاويــنـهـا فـي صــفــحـــات الـويــب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061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الـفــقــرات  </a:t>
            </a:r>
            <a:r>
              <a:rPr lang="en-US" sz="4800" b="1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800" b="1" dirty="0">
                <a:solidFill>
                  <a:srgbClr val="00B050"/>
                </a:solidFill>
                <a:latin typeface="Liberation Serif"/>
                <a:ea typeface="Droid Sans Fallback"/>
                <a:cs typeface="FreeSans"/>
              </a:rPr>
              <a:t>eading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الـفــقــرات  </a:t>
            </a:r>
            <a:r>
              <a:rPr lang="en-US" sz="4800" b="1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800" b="1" dirty="0">
                <a:solidFill>
                  <a:srgbClr val="00B050"/>
                </a:solidFill>
                <a:latin typeface="Liberation Serif"/>
                <a:ea typeface="Droid Sans Fallback"/>
                <a:cs typeface="FreeSans"/>
              </a:rPr>
              <a:t>eading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659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035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753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21" grpId="0" animBg="1"/>
      <p:bldP spid="22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017" y="83781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5541" y="79270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017" y="1449836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41679" y="1395764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6113" y="252089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27132" y="251281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5957" y="426636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198390" y="4260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015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017" y="83781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5541" y="79270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017" y="1449836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41679" y="1395764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6113" y="252089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27132" y="251281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66948" y="314530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916544" y="3133772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2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59715" y="3632680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118592" y="3621147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2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5957" y="426636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198390" y="4260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3224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 الـفــقـــرات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fr-FR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aragraghs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/>
              <a:t>يــتِــمُ تـحــديـــد فــقــرة بــواســطــة الــوَسْـــمَـــيْــن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305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 الـفــقـــرات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fr-FR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aragraghs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/>
              <a:t>يــتِــمُ تـحــديـــد فــقــرة بــواســطــة الــوَسْـــمَـــيْــن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056440" y="388457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/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p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572" y="388457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p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192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fr-FR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الـصُّــوَرِ فـي صــفــحـــات الـويــب </a:t>
            </a:r>
            <a:r>
              <a:rPr lang="ar-DZ" sz="46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1655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4372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34984" y="3177064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326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34984" y="3177064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0840" y="5013176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عُـــنْــوَانَ أو مَــصْــدَرَ الـصُـورَةِ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847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6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4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…….…….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nom_image.format_image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endParaRPr lang="ar-DZ" sz="10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يُــتِــيـحُ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الـمُــتَــصَّــفِــحُ عــرض الـصـور والـرســومــات الَّـتي تـكــون مـن الأنــواع الـتـالــيـة فـقـط 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91256" y="1823640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1271464" y="4648952"/>
            <a:ext cx="3781944" cy="159938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fr-FR" sz="32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fr-FR" sz="32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 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DejaVu Sans"/>
              </a:rPr>
              <a:t>…….</a:t>
            </a:r>
            <a:endParaRPr lang="fr-FR" sz="3600" dirty="0">
              <a:solidFill>
                <a:srgbClr val="0070C0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8327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6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4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…….…….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nom_image.format_image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endParaRPr lang="ar-DZ" sz="10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يُــتِــيـحُ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الـمُــتَــصَّــفِــحُ عــرض الـصـور والـرســومــات الَّـتي تـكــون مـن الأنــواع الـتـالــيـة فـقـط 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91256" y="1823640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1271464" y="4648952"/>
            <a:ext cx="3781944" cy="159938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fr-FR" sz="32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fr-FR" sz="32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  </a:t>
            </a:r>
            <a:r>
              <a:rPr lang="en-US" sz="3200" b="1" dirty="0" smtClean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source</a:t>
            </a:r>
            <a:endParaRPr lang="fr-FR" sz="3600" dirty="0">
              <a:solidFill>
                <a:srgbClr val="0070C0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1156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الـقــوائــم   </a:t>
            </a:r>
            <a:r>
              <a:rPr lang="fr-FR" sz="4800" b="1" dirty="0" err="1" smtClean="0">
                <a:solidFill>
                  <a:srgbClr val="00B050"/>
                </a:solidFill>
                <a:cs typeface="+mj-cs"/>
              </a:rPr>
              <a:t>Lists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32856"/>
            <a:ext cx="10814992" cy="42369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09600" y="1203747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31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609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518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5" grpId="0"/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7928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90112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427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2" grpId="0"/>
      <p:bldP spid="15" grpId="0"/>
      <p:bldP spid="16" grpId="0"/>
      <p:bldP spid="1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7928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7928" y="324284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47928" y="380486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90112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05209" y="319082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05209" y="370082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15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0042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540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63752" y="50120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0096" y="50120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766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  <p:bldP spid="9" grpId="0"/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63752" y="5012000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0096" y="5012000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2799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الـقــوائــم   </a:t>
            </a:r>
            <a:r>
              <a:rPr lang="fr-FR" sz="4800" b="1" dirty="0" err="1" smtClean="0">
                <a:solidFill>
                  <a:srgbClr val="00B050"/>
                </a:solidFill>
                <a:cs typeface="+mj-cs"/>
              </a:rPr>
              <a:t>Lists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32856"/>
            <a:ext cx="10814992" cy="42369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إِدْرَاجُ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قَـائِـمَـة 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مُــرَتَّــبَـة فـي صــفــحـــات الـويــب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09600" y="1203747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 -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غـــيــر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nordered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5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9696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5840" y="177281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560" y="452653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999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5840" y="177281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560" y="452653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34192" y="22949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34192" y="285736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34192" y="33842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34192" y="390022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11192" y="231826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8760" y="289428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94432" y="33842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07087" y="39108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22750" y="468607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707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4125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6851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47971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48216" y="47971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935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  <p:bldP spid="9" grpId="0"/>
      <p:bldP spid="1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4797152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48216" y="4797152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229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الـجــداول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إِدْرَاجُ جــدول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صــفــحـــات الـويــب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8833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23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9930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5814" y="341410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27822" y="5242851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811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1" grpId="0"/>
      <p:bldP spid="1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5814" y="341410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27822" y="5242851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48626" y="67055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809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1" grpId="0"/>
      <p:bldP spid="12" grpId="0"/>
      <p:bldP spid="3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5814" y="341410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27822" y="5242851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9835" y="70614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7340" y="243140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80176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176" y="47972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48626" y="67055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31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6" grpId="0"/>
      <p:bldP spid="17" grpId="0"/>
      <p:bldP spid="3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5814" y="341410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27822" y="5242851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9835" y="70614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7340" y="243140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80176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176" y="47972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48626" y="67055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32281" y="465798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0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6" grpId="0"/>
      <p:bldP spid="17" grpId="0"/>
      <p:bldP spid="30" grpId="0"/>
      <p:bldP spid="3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5814" y="341410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27822" y="5242851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9835" y="70614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7340" y="243140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80176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176" y="47972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59915" y="114305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64956" y="155926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69997" y="197547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686380" y="115471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592251" y="154707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493529" y="193942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48626" y="67055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32281" y="465798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5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0" grpId="0"/>
      <p:bldP spid="3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03" y="269575"/>
            <a:ext cx="11880000" cy="58169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5814" y="341410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27822" y="5242851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9835" y="70614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7340" y="243140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80176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0176" y="47972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59915" y="114305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64956" y="155926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69997" y="197547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686380" y="115471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592251" y="154707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493529" y="193942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18476" y="33887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423517" y="380496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428558" y="422116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272464" y="340041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488488" y="381965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552090" y="419856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48626" y="67055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32281" y="465798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3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8860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580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239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894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7032104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t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5800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93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الارتـبـاطـات الـتــشــعــبــيــة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اسـتـغـلال الارتـبـاطـات الـتــشـعــبــيــة فـي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صـفـحـة 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4022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5169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510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3927158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07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  <p:bldP spid="1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4748485"/>
            <a:ext cx="22949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الـوِجْــهَــةَ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3927158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00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  <p:bldP spid="10" grpId="0" animBg="1"/>
      <p:bldP spid="1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7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911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64850" y="4257505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881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spcBef>
                <a:spcPts val="0"/>
              </a:spcBef>
              <a:buNone/>
            </a:pPr>
            <a:r>
              <a:rPr lang="fr-FR" sz="1000" b="1" dirty="0">
                <a:cs typeface="+mj-cs"/>
              </a:rPr>
              <a:t> </a:t>
            </a: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1000" b="1" u="sng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مِـــثَــــال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:</a:t>
            </a: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705"/>
            <a:ext cx="10836000" cy="1028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47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57799" y="4591007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07413"/>
            <a:ext cx="5616000" cy="6029670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4769290" y="4228367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6166" y="491435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633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2" grpId="0"/>
      <p:bldP spid="1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57799" y="4591007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86647"/>
            <a:ext cx="5688000" cy="6062822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769290" y="4228367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6166" y="491435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786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2" grpId="0"/>
      <p:bldP spid="18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28" y="274638"/>
            <a:ext cx="8028000" cy="6068713"/>
          </a:xfrm>
          <a:prstGeom prst="rect">
            <a:avLst/>
          </a:prstGeom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4769290" y="3908355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6166" y="4582390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325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6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28" y="274638"/>
            <a:ext cx="8028000" cy="6068713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3259366" y="3430668"/>
            <a:ext cx="8167131" cy="2919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 rtl="1">
              <a:spcBef>
                <a:spcPts val="1200"/>
              </a:spcBef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الـسـفـيـنـة </a:t>
            </a:r>
            <a:r>
              <a:rPr lang="ar-DZ" sz="3600" b="1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سَــيَــتِـمُ جَــرْفُـهَـا </a:t>
            </a:r>
            <a:r>
              <a:rPr lang="ar-DZ" sz="3600" b="1" dirty="0" smtClean="0">
                <a:solidFill>
                  <a:srgbClr val="0070C0"/>
                </a:solidFill>
                <a:latin typeface="Liberation Sans"/>
                <a:ea typeface="Droid Sans Fallback"/>
                <a:cs typeface="DejaVu Sans"/>
              </a:rPr>
              <a:t>إ</a:t>
            </a:r>
            <a:r>
              <a:rPr lang="ar-DZ" sz="3600" b="1" dirty="0" smtClean="0">
                <a:solidFill>
                  <a:srgbClr val="0070C0"/>
                </a:solidFill>
                <a:effectLst/>
                <a:latin typeface="Liberation Sans"/>
                <a:ea typeface="Droid Sans Fallback"/>
                <a:cs typeface="DejaVu Sans"/>
              </a:rPr>
              <a:t>لـى الـبَـحْــرِ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إِنْ لَـمْ تُـرْبَـطْ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بـالـمـيـنـاء 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9169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451"/>
            <a:ext cx="9472914" cy="6377803"/>
          </a:xfrm>
          <a:prstGeom prst="rect">
            <a:avLst/>
          </a:prstGeom>
        </p:spPr>
      </p:pic>
      <p:sp>
        <p:nvSpPr>
          <p:cNvPr id="11" name="Espace réservé du contenu 21"/>
          <p:cNvSpPr txBox="1">
            <a:spLocks/>
          </p:cNvSpPr>
          <p:nvPr/>
        </p:nvSpPr>
        <p:spPr>
          <a:xfrm>
            <a:off x="5252810" y="4067462"/>
            <a:ext cx="6141192" cy="22702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 rtl="1">
              <a:spcBef>
                <a:spcPts val="1200"/>
              </a:spcBef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تــشــبــيــه الأنــتــرنــت بـالـبــحــر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447928" y="6619"/>
            <a:ext cx="6120680" cy="22702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 rtl="1">
              <a:spcBef>
                <a:spcPts val="1200"/>
              </a:spcBef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تــشــبــيــه صــفــحة </a:t>
            </a:r>
            <a:r>
              <a:rPr lang="ar-DZ" sz="3600" b="1" dirty="0" smtClean="0">
                <a:solidFill>
                  <a:srgbClr val="000000"/>
                </a:solidFill>
                <a:latin typeface="Liberation Sans"/>
                <a:ea typeface="Droid Sans Fallback"/>
                <a:cs typeface="DejaVu Sans"/>
              </a:rPr>
              <a:t>ويــب بـالـســفــيــنــة 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7501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28" y="274638"/>
            <a:ext cx="8028000" cy="6068713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3309233" y="113721"/>
            <a:ext cx="8167131" cy="2919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 rtl="1">
              <a:spcBef>
                <a:spcPts val="1200"/>
              </a:spcBef>
              <a:spcAft>
                <a:spcPts val="0"/>
              </a:spcAft>
            </a:pPr>
            <a:r>
              <a:rPr lang="ar-DZ" sz="3600" b="1" dirty="0" smtClean="0">
                <a:solidFill>
                  <a:srgbClr val="002060"/>
                </a:solidFill>
                <a:latin typeface="Liberation Sans"/>
                <a:ea typeface="Droid Sans Fallback"/>
                <a:cs typeface="DejaVu Sans"/>
              </a:rPr>
              <a:t>الــســفــيــنــة</a:t>
            </a:r>
            <a:r>
              <a:rPr lang="ar-DZ" sz="3600" b="1" dirty="0" smtClean="0">
                <a:solidFill>
                  <a:srgbClr val="000000"/>
                </a:solidFill>
                <a:latin typeface="Liberation Sans"/>
                <a:ea typeface="Droid Sans Fallback"/>
                <a:cs typeface="DejaVu Sans"/>
              </a:rPr>
              <a:t> </a:t>
            </a:r>
            <a:r>
              <a:rPr lang="ar-DZ" sz="3600" b="1" dirty="0">
                <a:solidFill>
                  <a:srgbClr val="FF0000"/>
                </a:solidFill>
                <a:latin typeface="Liberation Sans"/>
                <a:ea typeface="Droid Sans Fallback"/>
                <a:cs typeface="DejaVu Sans"/>
              </a:rPr>
              <a:t>سَــيَــتِـمُ جَــرْفُـهَـا </a:t>
            </a:r>
            <a:r>
              <a:rPr lang="ar-DZ" sz="3600" b="1" dirty="0" smtClean="0">
                <a:solidFill>
                  <a:srgbClr val="0070C0"/>
                </a:solidFill>
                <a:latin typeface="Liberation Sans"/>
                <a:ea typeface="Droid Sans Fallback"/>
                <a:cs typeface="DejaVu Sans"/>
              </a:rPr>
              <a:t>إ</a:t>
            </a:r>
            <a:r>
              <a:rPr lang="ar-DZ" sz="3600" b="1" dirty="0" smtClean="0">
                <a:solidFill>
                  <a:srgbClr val="0070C0"/>
                </a:solidFill>
                <a:effectLst/>
                <a:latin typeface="Liberation Sans"/>
                <a:ea typeface="Droid Sans Fallback"/>
                <a:cs typeface="DejaVu Sans"/>
              </a:rPr>
              <a:t>لـى الـبَــحْـــرِ </a:t>
            </a:r>
            <a:r>
              <a:rPr lang="ar-DZ" sz="3600" b="1" dirty="0">
                <a:solidFill>
                  <a:srgbClr val="FF0000"/>
                </a:solidFill>
                <a:latin typeface="Liberation Sans"/>
                <a:ea typeface="Droid Sans Fallback"/>
                <a:cs typeface="DejaVu Sans"/>
              </a:rPr>
              <a:t>إِنْ لَــمْ تُــرْبَــطْ </a:t>
            </a:r>
            <a:r>
              <a:rPr lang="ar-DZ" sz="3600" b="1" dirty="0" smtClean="0">
                <a:solidFill>
                  <a:srgbClr val="00B050"/>
                </a:solidFill>
                <a:effectLst/>
                <a:latin typeface="Liberation Sans"/>
                <a:ea typeface="Droid Sans Fallback"/>
                <a:cs typeface="DejaVu Sans"/>
              </a:rPr>
              <a:t>بـالـمــيــنــاء </a:t>
            </a:r>
            <a:endParaRPr lang="fr-FR" sz="3600" dirty="0">
              <a:solidFill>
                <a:srgbClr val="00B050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3287688" y="3272851"/>
            <a:ext cx="8167131" cy="332450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 rtl="1">
              <a:spcBef>
                <a:spcPts val="1200"/>
              </a:spcBef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كـذلـك </a:t>
            </a:r>
            <a:r>
              <a:rPr lang="ar-DZ" sz="3600" b="1" dirty="0" smtClean="0">
                <a:solidFill>
                  <a:srgbClr val="002060"/>
                </a:solidFill>
                <a:effectLst/>
                <a:latin typeface="Liberation Sans"/>
                <a:ea typeface="Droid Sans Fallback"/>
                <a:cs typeface="DejaVu Sans"/>
              </a:rPr>
              <a:t>صـفـحـة ويــب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سـتَـضِـيـعُ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effectLst/>
                <a:latin typeface="Liberation Sans"/>
                <a:ea typeface="Droid Sans Fallback"/>
                <a:cs typeface="DejaVu Sans"/>
              </a:rPr>
              <a:t>فـي الانــتــرنــت </a:t>
            </a:r>
            <a:r>
              <a:rPr lang="ar-DZ" sz="3600" b="1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إِنْ لَــمْ تُــرْبَــطْ </a:t>
            </a:r>
            <a:r>
              <a:rPr lang="ar-DZ" sz="3600" b="1" dirty="0" smtClean="0">
                <a:solidFill>
                  <a:srgbClr val="00B050"/>
                </a:solidFill>
                <a:effectLst/>
                <a:latin typeface="Liberation Sans"/>
                <a:ea typeface="Droid Sans Fallback"/>
                <a:cs typeface="DejaVu Sans"/>
              </a:rPr>
              <a:t>بـالــصـفــحـــات الأخـــرى </a:t>
            </a:r>
            <a:endParaRPr lang="fr-FR" sz="3600" dirty="0">
              <a:solidFill>
                <a:srgbClr val="00B050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3080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5" y="327092"/>
            <a:ext cx="7164319" cy="602194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231904" y="2636912"/>
            <a:ext cx="6222915" cy="396044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 algn="ctr" rtl="1">
              <a:spcBef>
                <a:spcPts val="1200"/>
              </a:spcBef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كـذلـك صـفـحـة ويــب </a:t>
            </a:r>
            <a:r>
              <a:rPr lang="ar-DZ" sz="3600" b="1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سـتَـضِـيـعُ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فـي الانـتـرنــت </a:t>
            </a:r>
            <a:r>
              <a:rPr lang="ar-DZ" sz="3600" b="1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إِنْ لَـمْ تُـرْبَـطْ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بـالـصـفـحــات الأخـــرى 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21274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spcBef>
                <a:spcPts val="0"/>
              </a:spcBef>
              <a:buNone/>
            </a:pPr>
            <a:r>
              <a:rPr lang="fr-FR" sz="1000" b="1" dirty="0">
                <a:cs typeface="+mj-cs"/>
              </a:rPr>
              <a:t> </a:t>
            </a: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1000" b="1" u="sng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مِـــثَــــال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:</a:t>
            </a: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705"/>
            <a:ext cx="10836000" cy="1028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434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واجــب مــنــزلي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بـاســتـعــمـال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الــوُسُــوم ِالــمُــنَــاسِــبَـة أَنْــشِـئْ صــفــحــة ويــب مُـوَافِــقَــة للـوثــيــقـة " ب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9874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واجــب مــنــزلي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بـاســتـعــمـال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الــوُسُــوم ِالــمُــنَــاسِــبَـة أَنْــشِـئْ صــفــحــة ويــب مُـوَافِــقَــة للـوثــيــقـة " ب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79327"/>
            <a:ext cx="10764000" cy="6232973"/>
          </a:xfrm>
          <a:prstGeom prst="rect">
            <a:avLst/>
          </a:prstGeom>
          <a:ln w="3810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3669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font-style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class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</a:t>
            </a:r>
            <a:endParaRPr lang="ar-DZ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466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font-weight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+mj-cs"/>
              </a:rPr>
              <a:t>،</a:t>
            </a:r>
            <a:r>
              <a:rPr lang="fr-FR" sz="4400" b="1" dirty="0" smtClean="0">
                <a:solidFill>
                  <a:srgbClr val="00000A"/>
                </a:solidFill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+mj-cs"/>
              </a:rPr>
              <a:t> 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list-style-type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،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text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-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align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fr-FR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text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-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decoration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،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 </a:t>
            </a:r>
            <a:r>
              <a:rPr lang="fr-FR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border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،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fr-FR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border-collapse</a:t>
            </a:r>
            <a:endParaRPr lang="ar-DZ" sz="4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2795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773380"/>
              </p:ext>
            </p:extLst>
          </p:nvPr>
        </p:nvGraphicFramePr>
        <p:xfrm>
          <a:off x="995423" y="1334350"/>
          <a:ext cx="10080001" cy="46408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5387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تــعـــريــف  وســـم  مُـعَــيَّــن  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للــوصــول  إلـيـه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 ولإنـجــاز  عــمــلــيــات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F497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تــعـــريــف مــجــمــوعـــة مــن الــوســـوم </a:t>
                      </a:r>
                      <a:r>
                        <a:rPr lang="ar-SA" sz="30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j-cs"/>
                        </a:rPr>
                        <a:t>والــوصــول إلـيـهـا دفــعــة واحــدة</a:t>
                      </a:r>
                      <a:endParaRPr lang="fr-FR" sz="3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94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117627"/>
              </p:ext>
            </p:extLst>
          </p:nvPr>
        </p:nvGraphicFramePr>
        <p:xfrm>
          <a:off x="995423" y="1334350"/>
          <a:ext cx="10080001" cy="46408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5387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تــعـــريــف  وســـم  مُـعَــيَّــن  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للــوصــول  إلـيـه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 ولإنـجــاز  عــمــلــيــات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F497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تــعـــريــف مــجــمــوعـــة مــن الــوســـوم </a:t>
                      </a:r>
                      <a:r>
                        <a:rPr lang="ar-SA" sz="30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j-cs"/>
                        </a:rPr>
                        <a:t>والــوصــول إلـيـهـا دفــعــة واحــدة</a:t>
                      </a:r>
                      <a:endParaRPr lang="fr-FR" sz="3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36160" y="3212976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710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spcBef>
                <a:spcPts val="0"/>
              </a:spcBef>
              <a:buNone/>
            </a:pPr>
            <a:r>
              <a:rPr lang="fr-FR" sz="1000" b="1" dirty="0">
                <a:cs typeface="+mj-cs"/>
              </a:rPr>
              <a:t> </a:t>
            </a: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1000" b="1" u="sng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مِـــثَــــال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:</a:t>
            </a: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705"/>
            <a:ext cx="10836000" cy="1028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332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985703"/>
              </p:ext>
            </p:extLst>
          </p:nvPr>
        </p:nvGraphicFramePr>
        <p:xfrm>
          <a:off x="995423" y="1334350"/>
          <a:ext cx="10080001" cy="46408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5387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تــعـــريــف  وســـم  مُـعَــيَّــن  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للــوصــول  إلـيـه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 ولإنـجــاز  عــمــلــيــات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F497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تــعـــريــف مــجــمــوعـــة مــن الــوســـوم </a:t>
                      </a:r>
                      <a:r>
                        <a:rPr lang="ar-SA" sz="30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j-cs"/>
                        </a:rPr>
                        <a:t>والــوصــول إلـيـهـا دفــعــة واحــدة</a:t>
                      </a:r>
                      <a:endParaRPr lang="fr-FR" sz="3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36160" y="3212976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473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38460"/>
              </p:ext>
            </p:extLst>
          </p:nvPr>
        </p:nvGraphicFramePr>
        <p:xfrm>
          <a:off x="995423" y="1334350"/>
          <a:ext cx="10080001" cy="46408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5387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تــعـــريــف  وســـم  مُـعَــيَّــن  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للــوصــول  إلـيـه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 ولإنـجــاز  عــمــلــيــات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1061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F497D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تــعـــريــف مــجــمــوعـــة مــن الــوســـوم </a:t>
                      </a:r>
                      <a:r>
                        <a:rPr lang="ar-SA" sz="30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j-cs"/>
                        </a:rPr>
                        <a:t>والــوصــول إلـيـهـا دفــعــة واحــدة</a:t>
                      </a:r>
                      <a:endParaRPr lang="fr-FR" sz="3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36160" y="3212976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36159" y="4725144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lass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8954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10630"/>
              </p:ext>
            </p:extLst>
          </p:nvPr>
        </p:nvGraphicFramePr>
        <p:xfrm>
          <a:off x="995423" y="1334350"/>
          <a:ext cx="10080001" cy="51206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52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3048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لـتـحــديـــد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لــون خــلــفــيــة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فـي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عــنــصــر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</a:t>
                      </a:r>
                      <a:r>
                        <a:rPr lang="ar-DZ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،  </a:t>
                      </a:r>
                      <a:r>
                        <a:rPr lang="en-US" sz="4000" b="1" kern="1200" noProof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yellow</a:t>
                      </a:r>
                      <a:r>
                        <a:rPr lang="ar-DZ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،  </a:t>
                      </a:r>
                      <a:r>
                        <a:rPr lang="fr-FR" sz="4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، 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RGB(202,255,216) </a:t>
                      </a:r>
                      <a:r>
                        <a:rPr lang="ar-DZ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،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RGB(220,255,220)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4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000" b="1" kern="1200" dirty="0" smtClean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67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10630"/>
              </p:ext>
            </p:extLst>
          </p:nvPr>
        </p:nvGraphicFramePr>
        <p:xfrm>
          <a:off x="995423" y="1334350"/>
          <a:ext cx="10080001" cy="51206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52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3048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لـتـحــديـــد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لــون خــلــفــيــة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فـي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عــنــصــر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</a:t>
                      </a:r>
                      <a:r>
                        <a:rPr lang="ar-DZ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،  </a:t>
                      </a:r>
                      <a:r>
                        <a:rPr lang="en-US" sz="4000" b="1" kern="1200" noProof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yellow</a:t>
                      </a:r>
                      <a:r>
                        <a:rPr lang="ar-DZ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،  </a:t>
                      </a:r>
                      <a:r>
                        <a:rPr lang="fr-FR" sz="4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، 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RGB(202,255,216) </a:t>
                      </a:r>
                      <a:r>
                        <a:rPr lang="ar-DZ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،</a:t>
                      </a:r>
                      <a:r>
                        <a:rPr lang="fr-FR" sz="4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RGB(220,255,220)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4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000" b="1" kern="1200" dirty="0" smtClean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36160" y="4147391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089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81431"/>
              </p:ext>
            </p:extLst>
          </p:nvPr>
        </p:nvGraphicFramePr>
        <p:xfrm>
          <a:off x="995423" y="1334350"/>
          <a:ext cx="10080001" cy="4644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309702"/>
                <a:gridCol w="677029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نــوع الـخــط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(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Arial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Calibri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"Times New Roman"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40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86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81431"/>
              </p:ext>
            </p:extLst>
          </p:nvPr>
        </p:nvGraphicFramePr>
        <p:xfrm>
          <a:off x="995423" y="1334350"/>
          <a:ext cx="10080001" cy="4644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309702"/>
                <a:gridCol w="677029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نــوع الـخــط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(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Arial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Calibri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"Times New Roman"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40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96200" y="3208203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1466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81431"/>
              </p:ext>
            </p:extLst>
          </p:nvPr>
        </p:nvGraphicFramePr>
        <p:xfrm>
          <a:off x="995423" y="1334350"/>
          <a:ext cx="10080001" cy="4644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309702"/>
                <a:gridCol w="677029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نــوع الـخــط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(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Arial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Calibri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 </a:t>
                      </a:r>
                      <a:r>
                        <a:rPr lang="fr-FR" sz="36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"Times New Roman"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40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96200" y="3208203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96200" y="4810599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108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121084"/>
              </p:ext>
            </p:extLst>
          </p:nvPr>
        </p:nvGraphicFramePr>
        <p:xfrm>
          <a:off x="995423" y="1334350"/>
          <a:ext cx="10080001" cy="4644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نـــمــط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الـخــط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( عـــادي / مــائــل )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(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Normal </a:t>
                      </a:r>
                      <a:r>
                        <a:rPr lang="ar-DZ" sz="36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Italic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الـخــط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عـــادي / غــلـيـظ )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ar-DZ" sz="36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5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121084"/>
              </p:ext>
            </p:extLst>
          </p:nvPr>
        </p:nvGraphicFramePr>
        <p:xfrm>
          <a:off x="995423" y="1334350"/>
          <a:ext cx="10080001" cy="4644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نـــمــط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الـخــط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( عـــادي / مــائــل )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(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Normal </a:t>
                      </a:r>
                      <a:r>
                        <a:rPr lang="ar-DZ" sz="36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Italic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الـخــط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عـــادي / غــلـيـظ )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ar-DZ" sz="36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73189" y="322108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font-style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6126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121084"/>
              </p:ext>
            </p:extLst>
          </p:nvPr>
        </p:nvGraphicFramePr>
        <p:xfrm>
          <a:off x="995423" y="1334350"/>
          <a:ext cx="10080001" cy="464400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نـــمــط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الـخــط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( عـــادي / مــائــل )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(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Normal </a:t>
                      </a:r>
                      <a:r>
                        <a:rPr lang="ar-DZ" sz="36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Italic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+mj-cs"/>
                        </a:rPr>
                        <a:t> 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C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4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لـتـحــديــد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الـخــط</a:t>
                      </a:r>
                      <a:r>
                        <a:rPr lang="fr-FR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عـــادي / غــلـيـظ )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SA" sz="4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ar-SA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ar-DZ" sz="36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fr-FR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،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 </a:t>
                      </a: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6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3CDD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73189" y="322108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font-style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3189" y="4795463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font-weight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4339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0636"/>
              </p:ext>
            </p:extLst>
          </p:nvPr>
        </p:nvGraphicFramePr>
        <p:xfrm>
          <a:off x="995423" y="1307456"/>
          <a:ext cx="10080001" cy="471216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40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fr-FR" sz="3200" b="1" dirty="0" smtClean="0">
                          <a:solidFill>
                            <a:srgbClr val="0070C0"/>
                          </a:solidFill>
                          <a:effectLst/>
                          <a:latin typeface="+mj-lt"/>
                          <a:ea typeface="Droid Sans Fallback"/>
                          <a:cs typeface="Times New Roman" panose="02020603050405020304" pitchFamily="18" charset="0"/>
                        </a:rPr>
                        <a:t>justify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4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50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0636"/>
              </p:ext>
            </p:extLst>
          </p:nvPr>
        </p:nvGraphicFramePr>
        <p:xfrm>
          <a:off x="995423" y="1307456"/>
          <a:ext cx="10080001" cy="471216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40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fr-FR" sz="3200" b="1" dirty="0" smtClean="0">
                          <a:solidFill>
                            <a:srgbClr val="0070C0"/>
                          </a:solidFill>
                          <a:effectLst/>
                          <a:latin typeface="+mj-lt"/>
                          <a:ea typeface="Droid Sans Fallback"/>
                          <a:cs typeface="Times New Roman" panose="02020603050405020304" pitchFamily="18" charset="0"/>
                        </a:rPr>
                        <a:t>justify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4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38737" y="314096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8967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0636"/>
              </p:ext>
            </p:extLst>
          </p:nvPr>
        </p:nvGraphicFramePr>
        <p:xfrm>
          <a:off x="995423" y="1307456"/>
          <a:ext cx="10080001" cy="471216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48849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40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7775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fr-FR" sz="3200" b="1" dirty="0" smtClean="0">
                          <a:solidFill>
                            <a:srgbClr val="0070C0"/>
                          </a:solidFill>
                          <a:effectLst/>
                          <a:latin typeface="+mj-lt"/>
                          <a:ea typeface="Droid Sans Fallback"/>
                          <a:cs typeface="Times New Roman" panose="02020603050405020304" pitchFamily="18" charset="0"/>
                        </a:rPr>
                        <a:t>justify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4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38737" y="314096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38737" y="473634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ext-align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6656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108316"/>
              </p:ext>
            </p:extLst>
          </p:nvPr>
        </p:nvGraphicFramePr>
        <p:xfrm>
          <a:off x="995423" y="1307456"/>
          <a:ext cx="10080001" cy="450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21845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31549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4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تــســطــيــر   نــص</a:t>
                      </a:r>
                      <a:r>
                        <a:rPr lang="fr-FR" sz="44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4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underline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overline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blink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4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25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108316"/>
              </p:ext>
            </p:extLst>
          </p:nvPr>
        </p:nvGraphicFramePr>
        <p:xfrm>
          <a:off x="995423" y="1307456"/>
          <a:ext cx="10080001" cy="450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21845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31549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4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تــســطــيــر   نــص</a:t>
                      </a:r>
                      <a:r>
                        <a:rPr lang="fr-FR" sz="44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4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en-US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underline</a:t>
                      </a:r>
                      <a:r>
                        <a:rPr lang="ar-DZ" sz="36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overline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blink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4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4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80176" y="4291407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ext-decoration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3037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45143"/>
              </p:ext>
            </p:extLst>
          </p:nvPr>
        </p:nvGraphicFramePr>
        <p:xfrm>
          <a:off x="995423" y="1374691"/>
          <a:ext cx="10080001" cy="4716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51157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60221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الـعـــرض فـي عـــنــصــر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175px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0221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الارتــفـــاع فـي عـــنــصــر 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43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45143"/>
              </p:ext>
            </p:extLst>
          </p:nvPr>
        </p:nvGraphicFramePr>
        <p:xfrm>
          <a:off x="995423" y="1374691"/>
          <a:ext cx="10080001" cy="4716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51157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60221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الـعـــرض فـي عـــنــصــر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175px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0221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الارتــفـــاع فـي عـــنــصــر 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42965" y="3284984"/>
            <a:ext cx="3329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922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45143"/>
              </p:ext>
            </p:extLst>
          </p:nvPr>
        </p:nvGraphicFramePr>
        <p:xfrm>
          <a:off x="995423" y="1374691"/>
          <a:ext cx="10080001" cy="4716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151157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60221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الـعـــرض فـي عـــنــصــر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175px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60221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الارتــفـــاع فـي عـــنــصــر </a:t>
                      </a:r>
                      <a:endParaRPr lang="fr-FR" sz="40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42965" y="3284984"/>
            <a:ext cx="3329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8168" y="4900827"/>
            <a:ext cx="332951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98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83615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نَــمَـط  الـبُــنُــودِ فـي قــائــمـة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square</a:t>
                      </a:r>
                      <a:r>
                        <a:rPr lang="ar-DZ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disc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lower-roman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upper-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3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83615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تـحــديــد  </a:t>
                      </a:r>
                      <a:r>
                        <a:rPr lang="ar-DZ" sz="40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نَــمَـط  الـبُــنُــودِ فـي قــائــمـة</a:t>
                      </a:r>
                      <a:r>
                        <a:rPr lang="ar-DZ" sz="40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square</a:t>
                      </a:r>
                      <a:r>
                        <a:rPr lang="ar-DZ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disc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lower-roman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upper-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3573016"/>
            <a:ext cx="33843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list-style-type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836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602756"/>
              </p:ext>
            </p:extLst>
          </p:nvPr>
        </p:nvGraphicFramePr>
        <p:xfrm>
          <a:off x="983433" y="1307456"/>
          <a:ext cx="10091992" cy="471383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32749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338633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u="sng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خــصــائـص الإطـــار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فـي عـــنــصــر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u="sng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سُـــمْــك</a:t>
                      </a:r>
                      <a:r>
                        <a:rPr lang="ar-DZ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74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نَـــوْع</a:t>
                      </a:r>
                      <a:r>
                        <a:rPr lang="ar-DZ" sz="3200" b="1" dirty="0" smtClean="0">
                          <a:solidFill>
                            <a:srgbClr val="74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لَــوْن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 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2px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solid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double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baseline="0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3px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dashed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00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602756"/>
              </p:ext>
            </p:extLst>
          </p:nvPr>
        </p:nvGraphicFramePr>
        <p:xfrm>
          <a:off x="983433" y="1307456"/>
          <a:ext cx="10091992" cy="471383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32749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338633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u="sng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خــصــائـص الإطـــار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فـي عـــنــصــر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u="sng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سُـــمْــك</a:t>
                      </a:r>
                      <a:r>
                        <a:rPr lang="ar-DZ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74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نَـــوْع</a:t>
                      </a:r>
                      <a:r>
                        <a:rPr lang="ar-DZ" sz="3200" b="1" dirty="0" smtClean="0">
                          <a:solidFill>
                            <a:srgbClr val="74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لَــوْن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 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2px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solid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double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baseline="0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3px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dashed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3586463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border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124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109486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تَــوْحِـــيـــدِ  أو  فَــصْــلِ  إطـــارات  الــخَــلَايَـــا  الــمُـــتَــجَــــاوِرَةِ  دَاخِـــل  جـــدول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collapse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separate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)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86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109486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تَــوْحِـــيـــدِ  أو  فَــصْــلِ  إطـــارات  الــخَــلَايَـــا  الــمُـــتَــجَــــاوِرَةِ  دَاخِـــل  جـــدول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collapse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separate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)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9835" y="3573016"/>
            <a:ext cx="33843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8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border-collapse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112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just" rtl="1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Pts val="1400"/>
            </a:pP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الـطــريــقــة 1 : كــتَــابَــة خَــصَــائــص الــتَــنْــســيــق دَاخِــلَ  الــوُسُـــوم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36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174625" indent="-174625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2205037"/>
            <a:ext cx="114681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طُـــرُق تَــطْــبِــيــقِ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خَــصَــائِــصِ الـتـنـســيـق 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Clr>
                <a:srgbClr val="0070C0"/>
              </a:buClr>
              <a:buSzPts val="1400"/>
              <a:buNone/>
            </a:pPr>
            <a:r>
              <a:rPr lang="ar-SA" sz="36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الـطــريــقــة </a:t>
            </a: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 </a:t>
            </a:r>
            <a:r>
              <a:rPr lang="ar-SA" sz="36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: </a:t>
            </a: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كــتَــابَــة </a:t>
            </a:r>
            <a:r>
              <a:rPr lang="ar-SA" sz="36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خَــصَــائــص </a:t>
            </a: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الــتَــنْــســيــق </a:t>
            </a:r>
            <a:r>
              <a:rPr lang="ar-SA" sz="36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دَاخِــلَ  </a:t>
            </a: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الــوُسُـــوم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 </a:t>
            </a:r>
            <a:endParaRPr lang="fr-FR" sz="36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174625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70C0"/>
                </a:solidFill>
                <a:latin typeface="Times New Roman (En-têtes)"/>
                <a:ea typeface="Droid Sans Fallback"/>
                <a:cs typeface="+mj-cs"/>
              </a:rPr>
              <a:t>نَـكْــتُــبُ</a:t>
            </a:r>
            <a:r>
              <a:rPr lang="ar-DZ" sz="40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4000" b="1" u="sng" dirty="0">
                <a:solidFill>
                  <a:srgbClr val="00B050"/>
                </a:solidFill>
                <a:latin typeface="Times New Roman (En-têtes)"/>
                <a:ea typeface="Droid Sans Fallback"/>
                <a:cs typeface="+mj-cs"/>
              </a:rPr>
              <a:t>الـخَــصَــائـصَ</a:t>
            </a:r>
            <a:r>
              <a:rPr lang="ar-DZ" sz="4000" b="1" dirty="0">
                <a:solidFill>
                  <a:srgbClr val="00B050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 (En-têtes)"/>
                <a:ea typeface="Droid Sans Fallback"/>
                <a:cs typeface="+mj-cs"/>
              </a:rPr>
              <a:t>دَاخِــلَ</a:t>
            </a:r>
            <a:r>
              <a:rPr lang="ar-DZ" sz="40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وَسْــمٍ </a:t>
            </a:r>
            <a:r>
              <a:rPr lang="ar-DZ" sz="40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مُـحَــدَّدٍ </a:t>
            </a:r>
            <a:r>
              <a:rPr lang="ar-DZ" sz="40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(</a:t>
            </a:r>
            <a:r>
              <a:rPr lang="ar-DZ" sz="40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</a:rPr>
              <a:t>nom_balise</a:t>
            </a:r>
            <a:r>
              <a:rPr lang="ar-DZ" sz="40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</a:t>
            </a:r>
            <a:r>
              <a:rPr lang="en-US" sz="36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h1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  : </a:t>
            </a:r>
            <a:r>
              <a:rPr lang="en-US" sz="36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36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،  </a:t>
            </a:r>
            <a:r>
              <a:rPr lang="en-US" sz="3600" b="1" dirty="0" smtClean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h2</a:t>
            </a:r>
            <a:r>
              <a:rPr lang="ar-DZ" sz="36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،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h3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،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p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،  </a:t>
            </a:r>
            <a:r>
              <a:rPr lang="en-US" sz="3600" b="1" dirty="0" err="1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ol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،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ul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،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li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،  </a:t>
            </a:r>
            <a:r>
              <a:rPr lang="en-US" sz="3600" b="1" dirty="0" err="1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tr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،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td 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،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table 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أو   </a:t>
            </a:r>
            <a:r>
              <a:rPr lang="en-US" sz="3600" b="1" dirty="0">
                <a:solidFill>
                  <a:srgbClr val="FF0000"/>
                </a:solidFill>
                <a:latin typeface="Times New Roman (En-têtes)"/>
                <a:ea typeface="Droid Sans Fallback"/>
                <a:cs typeface="+mj-cs"/>
              </a:rPr>
              <a:t>a</a:t>
            </a:r>
            <a:r>
              <a:rPr lang="ar-DZ" sz="3600" b="1" dirty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 .....  </a:t>
            </a:r>
            <a:r>
              <a:rPr lang="ar-DZ" sz="36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)</a:t>
            </a:r>
            <a:r>
              <a:rPr lang="fr-FR" sz="36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مِــنْ  خِــلَالِ 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الـخَــاصِــيَــةِ  </a:t>
            </a:r>
            <a:r>
              <a:rPr lang="en-US" sz="4000" b="1" dirty="0">
                <a:solidFill>
                  <a:srgbClr val="0070C0"/>
                </a:solidFill>
                <a:cs typeface="+mj-cs"/>
              </a:rPr>
              <a:t>style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>
                <a:cs typeface="+mj-cs"/>
              </a:rPr>
              <a:t>وَذَلِـكَ  كَــمَــا  يَــلِـي</a:t>
            </a:r>
            <a:r>
              <a:rPr lang="fr-FR" sz="40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:</a:t>
            </a:r>
            <a:r>
              <a:rPr lang="ar-DZ" sz="3600" b="1" dirty="0" smtClean="0">
                <a:solidFill>
                  <a:srgbClr val="00000A"/>
                </a:solidFill>
                <a:latin typeface="Times New Roman (En-têtes)"/>
                <a:ea typeface="Droid Sans Fallback"/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1188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just" rtl="1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Pts val="1400"/>
            </a:pP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الـطــريــقــة 1 : كــتَــابَــة خَــصَــائــص الــتَــنْــســيــق دَاخِــلَ  الــوُسُـــوم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36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nom_balise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 =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propriété1 :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propriété2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propriété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3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en-US" sz="40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..</a:t>
            </a:r>
            <a:r>
              <a:rPr lang="ar-DZ" sz="40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</a:t>
            </a:r>
            <a:r>
              <a:rPr lang="en-US" sz="40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&gt;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élément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</a:t>
            </a:r>
            <a:endParaRPr lang="fr-FR" sz="4000" b="1" dirty="0" smtClean="0">
              <a:solidFill>
                <a:schemeClr val="tx1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/nom_balise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74625" indent="-174625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924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الـطــريــقــة 1 : كــتَــابَــة خَــصَــائــص الــتَــنْــســيــق دَاخِــلَ  الــوُسُـــوم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806450" indent="-806450" algn="just" rtl="1">
              <a:buFont typeface="Wingdings" panose="05000000000000000000" pitchFamily="2" charset="2"/>
              <a:buChar char="v"/>
            </a:pP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مـثـال 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1 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3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&lt;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p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style =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"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background-color 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RGB(220,255,220) 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font-family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"Times New Roman"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</a:t>
            </a:r>
            <a:r>
              <a:rPr lang="en-US" sz="3600" b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font-size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1.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5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em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font-style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italic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color :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black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text-align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left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width :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100%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height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140px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</a:t>
            </a:r>
            <a:r>
              <a:rPr lang="en-US" sz="36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"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&gt;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Un Navigateur est un logiciel qui permet de visualiser des pages web. </a:t>
            </a:r>
            <a:endParaRPr lang="fr-FR" sz="33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&lt; </a:t>
            </a:r>
            <a:r>
              <a:rPr lang="ar-SA" sz="3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/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p&gt;</a:t>
            </a:r>
            <a:endParaRPr lang="fr-FR" sz="30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+mj-cs"/>
            </a:endParaRPr>
          </a:p>
          <a:p>
            <a:pPr marL="0" indent="174625" algn="just" rtl="1"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sp>
        <p:nvSpPr>
          <p:cNvPr id="11" name="Pensées 10"/>
          <p:cNvSpPr/>
          <p:nvPr/>
        </p:nvSpPr>
        <p:spPr>
          <a:xfrm>
            <a:off x="2135560" y="1052736"/>
            <a:ext cx="6120680" cy="1275204"/>
          </a:xfrm>
          <a:prstGeom prst="cloudCallout">
            <a:avLst>
              <a:gd name="adj1" fmla="val -55277"/>
              <a:gd name="adj2" fmla="val 5184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الأولـى لـتــطــبــيــق 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03328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just" rtl="1">
              <a:lnSpc>
                <a:spcPct val="150000"/>
              </a:lnSpc>
              <a:spcBef>
                <a:spcPct val="20000"/>
              </a:spcBef>
              <a:buClr>
                <a:srgbClr val="0070C0"/>
              </a:buClr>
              <a:buSzPts val="1400"/>
            </a:pPr>
            <a:r>
              <a:rPr lang="ar-SA" sz="36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الـطــريــقــة 1 : كــتَــابَــة خَــصَــائــص الــتَــنْــســيــق دَاخِــلَ  الــوُسُـــوم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36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nom_balise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 =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propriété1 : 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propriété2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propriété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3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 :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en-US" sz="40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..</a:t>
            </a:r>
            <a:r>
              <a:rPr lang="ar-DZ" sz="40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</a:t>
            </a:r>
            <a:r>
              <a:rPr lang="en-US" sz="40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&gt;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élément</a:t>
            </a:r>
            <a:r>
              <a:rPr lang="ar-DZ" sz="4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 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/nom_balise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endParaRPr lang="ar-DZ" sz="40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74625" indent="-174625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endParaRPr lang="fr-FR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738"/>
            <a:ext cx="9612000" cy="6330836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9655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</a:rPr>
              <a:t>نُــدْرِجُ</a:t>
            </a:r>
            <a:r>
              <a:rPr lang="ar-DZ" sz="4400" b="1" dirty="0"/>
              <a:t>  </a:t>
            </a:r>
            <a:r>
              <a:rPr lang="ar-DZ" sz="4400" b="1" u="sng" dirty="0">
                <a:solidFill>
                  <a:srgbClr val="00B050"/>
                </a:solidFill>
              </a:rPr>
              <a:t>الـخَــصَــائِـصَ</a:t>
            </a:r>
            <a:r>
              <a:rPr lang="ar-DZ" sz="4400" b="1" dirty="0"/>
              <a:t>  فِـي رَأْسِ الـصَــفْــحَــةِ </a:t>
            </a:r>
            <a:r>
              <a:rPr lang="ar-DZ" sz="4400" b="1" dirty="0">
                <a:solidFill>
                  <a:srgbClr val="0070C0"/>
                </a:solidFill>
              </a:rPr>
              <a:t>وَنَــضَــعُــهَـا مَــا بَــيْـنَ </a:t>
            </a:r>
            <a:r>
              <a:rPr lang="ar-DZ" sz="4400" b="1" dirty="0" smtClean="0">
                <a:solidFill>
                  <a:srgbClr val="0070C0"/>
                </a:solidFill>
              </a:rPr>
              <a:t>الــوَسْـــمَـــيْـــنِ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5498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</a:rPr>
              <a:t>نُــدْرِجُ</a:t>
            </a:r>
            <a:r>
              <a:rPr lang="ar-DZ" sz="4400" b="1" dirty="0"/>
              <a:t>  </a:t>
            </a:r>
            <a:r>
              <a:rPr lang="ar-DZ" sz="4400" b="1" u="sng" dirty="0">
                <a:solidFill>
                  <a:srgbClr val="00B050"/>
                </a:solidFill>
              </a:rPr>
              <a:t>الـخَــصَــائِـصَ</a:t>
            </a:r>
            <a:r>
              <a:rPr lang="ar-DZ" sz="4400" b="1" dirty="0"/>
              <a:t>  فِـي رَأْسِ الـصَــفْــحَــةِ </a:t>
            </a:r>
            <a:r>
              <a:rPr lang="ar-DZ" sz="4400" b="1" dirty="0">
                <a:solidFill>
                  <a:srgbClr val="0070C0"/>
                </a:solidFill>
              </a:rPr>
              <a:t>وَنَــضَــعُــهَـا مَــا بَــيْـنَ </a:t>
            </a:r>
            <a:r>
              <a:rPr lang="ar-DZ" sz="4400" b="1" dirty="0" smtClean="0">
                <a:solidFill>
                  <a:srgbClr val="0070C0"/>
                </a:solidFill>
              </a:rPr>
              <a:t>الــوَسْـــمَـــيْـــنِ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7" y="332655"/>
            <a:ext cx="6624000" cy="600691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5031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</a:rPr>
              <a:t>نُــدْرِجُ</a:t>
            </a:r>
            <a:r>
              <a:rPr lang="ar-DZ" sz="4400" b="1" dirty="0"/>
              <a:t>  </a:t>
            </a:r>
            <a:r>
              <a:rPr lang="ar-DZ" sz="4400" b="1" u="sng" dirty="0">
                <a:solidFill>
                  <a:srgbClr val="00B050"/>
                </a:solidFill>
              </a:rPr>
              <a:t>الـخَــصَــائِـصَ</a:t>
            </a:r>
            <a:r>
              <a:rPr lang="ar-DZ" sz="4400" b="1" dirty="0"/>
              <a:t>  فِـي رَأْسِ الـصَــفْــحَــةِ </a:t>
            </a:r>
            <a:r>
              <a:rPr lang="ar-DZ" sz="4400" b="1" dirty="0">
                <a:solidFill>
                  <a:srgbClr val="0070C0"/>
                </a:solidFill>
              </a:rPr>
              <a:t>وَنَــضَــعُــهَـا مَــا بَــيْـنَ </a:t>
            </a:r>
            <a:r>
              <a:rPr lang="ar-DZ" sz="4400" b="1" dirty="0" smtClean="0">
                <a:solidFill>
                  <a:srgbClr val="0070C0"/>
                </a:solidFill>
              </a:rPr>
              <a:t>الــوَسْـــمَـــيْـــنِ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784" y="560145"/>
            <a:ext cx="6624000" cy="600691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541018"/>
            <a:ext cx="9096375" cy="599122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03997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74" y="25585"/>
            <a:ext cx="6192906" cy="6709757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Pensées 5"/>
          <p:cNvSpPr/>
          <p:nvPr/>
        </p:nvSpPr>
        <p:spPr>
          <a:xfrm>
            <a:off x="5286309" y="1126941"/>
            <a:ext cx="6120680" cy="1275204"/>
          </a:xfrm>
          <a:prstGeom prst="cloudCallout">
            <a:avLst>
              <a:gd name="adj1" fmla="val -98337"/>
              <a:gd name="adj2" fmla="val -7891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fr-FR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fr-FR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لـتــطــبــيــق </a:t>
            </a: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28952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30" y="1050751"/>
            <a:ext cx="11077575" cy="576262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7667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مــثـال</a:t>
            </a:r>
            <a:r>
              <a:rPr lang="fr-FR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302541"/>
            <a:ext cx="8748000" cy="609112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3144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‌الـطــريــقــة</a:t>
            </a:r>
            <a:r>
              <a:rPr lang="fr-FR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3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: كِــتَــابَــة خَــصَــائِــص الــتَـــنْـــســيــق فـي رَأْس الــصَــفْــحَـة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مــثـال</a:t>
            </a:r>
            <a:r>
              <a:rPr lang="fr-FR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94698"/>
            <a:ext cx="9972000" cy="6082422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1694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‌الـطــريــقـة</a:t>
            </a:r>
            <a:r>
              <a:rPr lang="fr-FR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ar-SA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كِــتَــابَـة خَــصَـائِـص الــتَــنْــســيـق </a:t>
            </a:r>
            <a:r>
              <a:rPr lang="ar-SA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SA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مــلَــف خَــارِجـي </a:t>
            </a:r>
            <a:r>
              <a:rPr lang="fr-FR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  <a:endParaRPr lang="fr-FR" sz="31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3 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نَــكْــتُــبُ  </a:t>
            </a:r>
            <a:r>
              <a:rPr lang="ar-DZ" sz="44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خـــصــائــص  الــتــنــســيــق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فـي </a:t>
            </a:r>
            <a:r>
              <a:rPr lang="ar-DZ" sz="44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مــلــف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خـــارجــي  (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style.css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)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بِــنَــفْــسِ  الـشَــكْــلِ  الَّـذِي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كُــتِــبَــتْ بِــهِ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الــطــريــقــة 2 ، لَــكِــنْ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بِــدُونِ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الـوَسْــمَـــيْــن 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&lt;/style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&gt;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&lt;style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&gt;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وَذَلِـكَ  كَــمَـا  يَــلِـي</a:t>
            </a:r>
            <a:r>
              <a:rPr lang="fr-FR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0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5375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‌الـطــريــقـة</a:t>
            </a:r>
            <a:r>
              <a:rPr lang="fr-FR" sz="3100" b="1" u="sng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1214"/>
            <a:ext cx="8136000" cy="64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7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‌الـطــريــقـة</a:t>
            </a:r>
            <a:r>
              <a:rPr lang="fr-FR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9" y="296303"/>
            <a:ext cx="7416000" cy="606763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1619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‌الـطــريــقـة</a:t>
            </a:r>
            <a:r>
              <a:rPr lang="fr-FR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ar-SA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كِــتَــابَـة خَــصَـائِـص الــتَــنْــســيـق فـي مــلَــف خَــارِجـي </a:t>
            </a:r>
            <a:r>
              <a:rPr lang="fr-FR" sz="3100" b="1" u="sng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9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وَنَــرْبِــطُ صــفــحــة</a:t>
            </a:r>
            <a:r>
              <a:rPr lang="fr-FR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الــويــب بـذلـك الــمــلـــف </a:t>
            </a:r>
            <a:r>
              <a:rPr lang="fr-FR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style.css</a:t>
            </a:r>
            <a:r>
              <a:rPr lang="fr-FR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) </a:t>
            </a: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خـــلال  </a:t>
            </a:r>
            <a:r>
              <a:rPr lang="ar-DZ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الــوَسْـــم </a:t>
            </a: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الــمُـــفْــــرَدِ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&lt;link&gt;</a:t>
            </a:r>
            <a:r>
              <a:rPr lang="ar-DZ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كَــمَــا  </a:t>
            </a:r>
            <a:r>
              <a:rPr lang="ar-DZ" sz="40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يَــلِـي  </a:t>
            </a:r>
            <a:r>
              <a:rPr lang="ar-DZ" sz="40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0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0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3980896"/>
            <a:ext cx="10080000" cy="1332309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4036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‌الـطــريــقـة</a:t>
            </a:r>
            <a:r>
              <a:rPr lang="fr-FR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ar-SA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كِــتَــابَـة خَــصَـائِـص الــتَــنْــســيـق فـي مــلَــف خَــارِجـي </a:t>
            </a:r>
            <a:r>
              <a:rPr lang="fr-FR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96" y="2753609"/>
            <a:ext cx="10260000" cy="358413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Pensées 15"/>
          <p:cNvSpPr/>
          <p:nvPr/>
        </p:nvSpPr>
        <p:spPr>
          <a:xfrm>
            <a:off x="2711334" y="1268760"/>
            <a:ext cx="6120680" cy="1275204"/>
          </a:xfrm>
          <a:prstGeom prst="cloudCallout">
            <a:avLst>
              <a:gd name="adj1" fmla="val 51497"/>
              <a:gd name="adj2" fmla="val 21423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 لـتــطــبــيــق </a:t>
            </a: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28672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64850" y="4257505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544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2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spcBef>
                <a:spcPts val="0"/>
              </a:spcBef>
              <a:buNone/>
            </a:pPr>
            <a:r>
              <a:rPr lang="fr-FR" sz="1000" b="1" dirty="0">
                <a:cs typeface="+mj-cs"/>
              </a:rPr>
              <a:t> </a:t>
            </a: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1000" b="1" u="sng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مِـــثَــــال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:</a:t>
            </a: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705"/>
            <a:ext cx="10836000" cy="1028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139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‌الـطــريــقـة</a:t>
            </a:r>
            <a:r>
              <a:rPr lang="fr-FR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ar-SA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كِــتَــابَـة خَــصَـائِـص الــتَــنْــســيـق فـي مــلَــف خَــارِجـي </a:t>
            </a:r>
            <a:r>
              <a:rPr lang="fr-FR" sz="3100" b="1" u="sng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96" y="2753609"/>
            <a:ext cx="10260000" cy="358413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Pensées 15"/>
          <p:cNvSpPr/>
          <p:nvPr/>
        </p:nvSpPr>
        <p:spPr>
          <a:xfrm>
            <a:off x="2711334" y="1268760"/>
            <a:ext cx="6120680" cy="1275204"/>
          </a:xfrm>
          <a:prstGeom prst="cloudCallout">
            <a:avLst>
              <a:gd name="adj1" fmla="val 51497"/>
              <a:gd name="adj2" fmla="val 21423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 لـتــطــبــيــق </a:t>
            </a: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68914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واجــب مــنــزلـي 2 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9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ar-DZ" sz="4400" b="1" dirty="0" smtClean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مــا </a:t>
            </a:r>
            <a:r>
              <a:rPr lang="ar-DZ" sz="4400" b="1" dirty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هـي أفــضــل </a:t>
            </a:r>
            <a:r>
              <a:rPr lang="ar-DZ" sz="4400" b="1" dirty="0" smtClean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طــريــقــة لــتــنــســيــق </a:t>
            </a:r>
            <a:r>
              <a:rPr lang="ar-DZ" sz="4400" b="1" dirty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صــفــحــات الـويــب </a:t>
            </a:r>
            <a:r>
              <a:rPr lang="ar-DZ" sz="4400" b="1" dirty="0" smtClean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؟  </a:t>
            </a:r>
            <a:r>
              <a:rPr lang="ar-DZ" sz="4400" b="1" dirty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عــلِّــلْ إِجــابَــتَــكَ .</a:t>
            </a:r>
            <a:endParaRPr lang="fr-FR" sz="4400" dirty="0" smtClean="0">
              <a:solidFill>
                <a:schemeClr val="tx1"/>
              </a:solidFill>
              <a:latin typeface="Liberation Serif"/>
              <a:ea typeface="Droid Sans Fallback"/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0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06/04/2026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5694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06/04/2026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28958</TotalTime>
  <Words>4871</Words>
  <Application>Microsoft Office PowerPoint</Application>
  <PresentationFormat>Grand écran</PresentationFormat>
  <Paragraphs>1257</Paragraphs>
  <Slides>161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161</vt:i4>
      </vt:variant>
    </vt:vector>
  </HeadingPairs>
  <TitlesOfParts>
    <vt:vector size="175" baseType="lpstr">
      <vt:lpstr>Arial Unicode MS</vt:lpstr>
      <vt:lpstr>SimSun</vt:lpstr>
      <vt:lpstr>Arial</vt:lpstr>
      <vt:lpstr>Calibri</vt:lpstr>
      <vt:lpstr>DejaVu Sans</vt:lpstr>
      <vt:lpstr>Droid Sans Fallback</vt:lpstr>
      <vt:lpstr>FreeSans</vt:lpstr>
      <vt:lpstr>Liberation Sans</vt:lpstr>
      <vt:lpstr>Liberation Serif</vt:lpstr>
      <vt:lpstr>Times New Roman</vt:lpstr>
      <vt:lpstr>Times New Roman (En-têtes)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Présentation PowerPoint</vt:lpstr>
      <vt:lpstr>Présentation PowerPoint</vt:lpstr>
      <vt:lpstr>1) تـعــريــف تــقــنــيــة  HTML</vt:lpstr>
      <vt:lpstr>أتـذكـر ( 1. تـعــريــف تــقــنــيــة  HTML )</vt:lpstr>
      <vt:lpstr>أتـذكـر ( 1. تـعــريــف تــقــنــيــة  HTML )</vt:lpstr>
      <vt:lpstr>أتـذكـر ( 1. تـعــريــف تــقــنــيــة  HTML )</vt:lpstr>
      <vt:lpstr>2) الـشـكـل الـنـظـامـي الأَدْنَـى لـصـفـحـة ويــب : </vt:lpstr>
      <vt:lpstr>2) الـشـكـل الـنـظـامـي الأَدْنَـى لـصـفـحـة ويــب : </vt:lpstr>
      <vt:lpstr>2) الـشـكـل الـنـظـامـي الأَدْنَـى لـصـفـحـة ويــب : </vt:lpstr>
      <vt:lpstr>2) الـشـكـل الـنـظـامـي الأَدْنَـى لـصـفـحـة ويــب : </vt:lpstr>
      <vt:lpstr>3) مــفــهــوم الـوَسْـــم Balise  : 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4. الـشـكــل الـنـظــامـي لـلــوُسُـــوم الـمُــزْدَوَجَــة :</vt:lpstr>
      <vt:lpstr>4. الـشـكــل الـنـظــامـي لـلــوُسُـــوم الـمُــزْدَوَجَــة :</vt:lpstr>
      <vt:lpstr>4. الـشـكــل الـنـظــامـي لـلــوُسُـــوم الـمُــزْدَوَجَــة :</vt:lpstr>
      <vt:lpstr>4. الـشـكــل الـنـظــامـي لـلــوُسُـــوم الـمُــزْدَوَجَــة :</vt:lpstr>
      <vt:lpstr>4. الـشـكــل الـنـظــامـي لـلــوُسُـــوم الـمُــزْدَوَجَــة :</vt:lpstr>
      <vt:lpstr>4. الـشـكــل الـنـظــامـي لـلــوُسُـــوم الـمُــزْدَوَجَــة :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4) الـوســوم الـشــهــيــرة : </vt:lpstr>
      <vt:lpstr>1.4 ــ  عــنــاويــن الـفــقــرات  Heading  :</vt:lpstr>
      <vt:lpstr>1.4 ــ  عــنــاويــن الـفــقــرات  Heading 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2.4 ــ  الـفــقـــرات  Paragraghs :</vt:lpstr>
      <vt:lpstr>2.4 ــ  الـفــقـــرات  Paragraghs :</vt:lpstr>
      <vt:lpstr>3.4 ــ  الـصــور والـرســومــات  Images  :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4.4 ــ  الـقــوائــم   Lists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4.4 ــ  الـقــوائــم   Lists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5.4 ــ  الـجــداول   Tables :</vt:lpstr>
      <vt:lpstr>5.4 ــ  الـجــداول   Tables ــ  تـــابــع :</vt:lpstr>
      <vt:lpstr> أتـذكـر  ( 5.4 ــ  الـجــداول  Tables ــ  تـــابــع )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 أتـذكـر  ( 5.4 ــ  الـجــداول  Tables ــ  تـــابــع )</vt:lpstr>
      <vt:lpstr> أتـذكـر  ( 5.4 ــ  الـجــداول  Tables ــ  تـــابــع )</vt:lpstr>
      <vt:lpstr>6.4 ــ  الارتـبـاطـات الـتــشــعــبــيــة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 واجــب مــنــزلي :</vt:lpstr>
      <vt:lpstr> واجــب مــنــزلي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أتـذكـر  ( 6.4 ــ الارتـبـاطـات الـتــشــعــبــيــة  ــ  تـــابــع )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الـطــريــقــة 1 : كــتَــابَــة خَــصَــائــص الــتَــنْــســيــق دَاخِــلَ  الــوُسُـــوم  </vt:lpstr>
      <vt:lpstr> 6.2 طُـــرُق تَــطْــبِــيــقِ خَــصَــائِــصِ الـتـنـســيـق </vt:lpstr>
      <vt:lpstr>الـطــريــقــة 1 : كــتَــابَــة خَــصَــائــص الــتَــنْــســيــق دَاخِــلَ  الــوُسُـــوم  </vt:lpstr>
      <vt:lpstr>الـطــريــقــة 1 : كــتَــابَــة خَــصَــائــص الــتَــنْــســيــق دَاخِــلَ  الــوُسُـــوم </vt:lpstr>
      <vt:lpstr>الـطــريــقــة 1 : كــتَــابَــة خَــصَــائــص الــتَــنْــســيــق دَاخِــلَ  الــوُسُـــوم  </vt:lpstr>
      <vt:lpstr>‌الـطــريــقــة 2 : كِــتَــابَــة خَــصَــائِــص الــتَـــنْـــســيــق فـي رَأْس الــصَــفْــحَـة</vt:lpstr>
      <vt:lpstr>‌الـطــريــقــة 2 : كِــتَــابَــة خَــصَــائِــص الــتَـــنْـــســيــق فـي رَأْس الــصَــفْــحَـة</vt:lpstr>
      <vt:lpstr>‌الـطــريــقــة 2 : كِــتَــابَــة خَــصَــائِــص الــتَـــنْـــســيــق فـي رَأْس الــصَــفْــحَـة</vt:lpstr>
      <vt:lpstr>‌الـطــريــقــة 2 : كِــتَــابَــة خَــصَــائِــص الــتَـــنْـــســيــق فـي رَأْس الــصَــفْــحَـة</vt:lpstr>
      <vt:lpstr>‌الـطــريــقــة 2 : كِــتَــابَــة خَــصَــائِــص الــتَـــنْـــســيــق فـي رَأْس الــصَــفْــحَـة</vt:lpstr>
      <vt:lpstr>‌الـطــريــقــة 2 : كِــتَــابَــة خَــصَــائِــص الــتَـــنْـــســيــق فـي رَأْس الــصَــفْــحَـة</vt:lpstr>
      <vt:lpstr>‌الـطــريــقــة 2 : كِــتَــابَــة خَــصَــائِــص الــتَـــنْـــســيــق فـي رَأْس الــصَــفْــحَـة</vt:lpstr>
      <vt:lpstr>‌الـطــريــقـة 3 : كِــتَــابَـة خَــصَـائِـص الــتَــنْــســيـق فـي مــلَــف خَــارِجـي style.css</vt:lpstr>
      <vt:lpstr>‌الـطــريــقـة3 </vt:lpstr>
      <vt:lpstr>‌الـطــريــقـة3 </vt:lpstr>
      <vt:lpstr>‌الـطــريــقـة 3 : كِــتَــابَـة خَــصَـائِـص الــتَــنْــســيـق فـي مــلَــف خَــارِجـي style.css</vt:lpstr>
      <vt:lpstr>‌الـطــريــقـة 3 : كِــتَــابَـة خَــصَـائِـص الــتَــنْــســيـق فـي مــلَــف خَــارِجـي style.css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‌الـطــريــقـة 3 : كِــتَــابَـة خَــصَـائِـص الــتَــنْــســيـق فـي مــلَــف خَــارِجـي style.css</vt:lpstr>
      <vt:lpstr>واجــب مــنــزلـي 2  : 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1102</cp:revision>
  <dcterms:created xsi:type="dcterms:W3CDTF">2015-11-30T21:00:22Z</dcterms:created>
  <dcterms:modified xsi:type="dcterms:W3CDTF">2026-04-06T09:00:35Z</dcterms:modified>
</cp:coreProperties>
</file>