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1"/>
  </p:notesMasterIdLst>
  <p:sldIdLst>
    <p:sldId id="387" r:id="rId3"/>
    <p:sldId id="388" r:id="rId4"/>
    <p:sldId id="389" r:id="rId5"/>
    <p:sldId id="293" r:id="rId6"/>
    <p:sldId id="530" r:id="rId7"/>
    <p:sldId id="396" r:id="rId8"/>
    <p:sldId id="397" r:id="rId9"/>
    <p:sldId id="531" r:id="rId10"/>
    <p:sldId id="532" r:id="rId11"/>
    <p:sldId id="541" r:id="rId12"/>
    <p:sldId id="560" r:id="rId13"/>
    <p:sldId id="559" r:id="rId14"/>
    <p:sldId id="558" r:id="rId15"/>
    <p:sldId id="557" r:id="rId16"/>
    <p:sldId id="533" r:id="rId17"/>
    <p:sldId id="534" r:id="rId18"/>
    <p:sldId id="535" r:id="rId19"/>
    <p:sldId id="542" r:id="rId20"/>
    <p:sldId id="482" r:id="rId21"/>
    <p:sldId id="537" r:id="rId22"/>
    <p:sldId id="543" r:id="rId23"/>
    <p:sldId id="554" r:id="rId24"/>
    <p:sldId id="553" r:id="rId25"/>
    <p:sldId id="538" r:id="rId26"/>
    <p:sldId id="544" r:id="rId27"/>
    <p:sldId id="556" r:id="rId28"/>
    <p:sldId id="555" r:id="rId29"/>
    <p:sldId id="407" r:id="rId30"/>
    <p:sldId id="525" r:id="rId31"/>
    <p:sldId id="545" r:id="rId32"/>
    <p:sldId id="521" r:id="rId33"/>
    <p:sldId id="546" r:id="rId34"/>
    <p:sldId id="520" r:id="rId35"/>
    <p:sldId id="547" r:id="rId36"/>
    <p:sldId id="499" r:id="rId37"/>
    <p:sldId id="515" r:id="rId38"/>
    <p:sldId id="548" r:id="rId39"/>
    <p:sldId id="511" r:id="rId40"/>
    <p:sldId id="549" r:id="rId41"/>
    <p:sldId id="539" r:id="rId42"/>
    <p:sldId id="550" r:id="rId43"/>
    <p:sldId id="441" r:id="rId44"/>
    <p:sldId id="551" r:id="rId45"/>
    <p:sldId id="527" r:id="rId46"/>
    <p:sldId id="552" r:id="rId47"/>
    <p:sldId id="528" r:id="rId48"/>
    <p:sldId id="540" r:id="rId49"/>
    <p:sldId id="451" r:id="rId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2819" autoAdjust="0"/>
  </p:normalViewPr>
  <p:slideViewPr>
    <p:cSldViewPr>
      <p:cViewPr varScale="1">
        <p:scale>
          <a:sx n="65" d="100"/>
          <a:sy n="65" d="100"/>
        </p:scale>
        <p:origin x="576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23/12/2025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26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23/12/2025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23/12/2025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23/12/2025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23/12/2025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23/12/2025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23/12/2025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23/12/2025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23/12/2025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23/12/2025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23/12/2025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23/12/2025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23/12/2025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23/12/2025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23/12/2025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23/12/2025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23/12/2025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23/12/2025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23/12/2025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23/12/2025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23/12/2025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23/12/2025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23/12/2025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5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20000"/>
              </a:lnSpc>
              <a:buNone/>
            </a:pPr>
            <a:r>
              <a:rPr lang="ar-DZ" sz="4400" b="1" dirty="0" smtClean="0">
                <a:cs typeface="+mj-cs"/>
              </a:rPr>
              <a:t>شَـهِــدَ </a:t>
            </a:r>
            <a:r>
              <a:rPr lang="ar-DZ" sz="4400" b="1" dirty="0">
                <a:cs typeface="+mj-cs"/>
              </a:rPr>
              <a:t>الـعَـــالَـــم فِـي الــسَــنَــوَاتِ الأَخِــيــرَة ظُــهُــورِ نَــوْعًــا جَــدِيــدًا مِـنْ الـتَــوَاصُــلِ بَـيْـنَ الـبَــشَــرِ وَذَلِـكَ مِـنْ خِــلَاِل فَــضَـــاءَاتٍ اِفْــتِــرَاضِــيَّــةٍ ( إِلِـكْــتُــرُونِــيَــةٍ ) سَــمَــحَــتْ بِـإلْــغَـــاءِ كــثــيــرٍ مـن الـحَــوَاجِـــز الَّـتِي كَــانَــتْ تَـحُــولُ بَــيْـنَ الــشُــعُـــوبِ لِلـتَّــقَـــارُبِ والـتَّــكَــامُــلِ ، فَــمَــا هِــيَ تِــلْــكَ </a:t>
            </a:r>
            <a:r>
              <a:rPr lang="ar-DZ" sz="4400" b="1" dirty="0" smtClean="0">
                <a:cs typeface="+mj-cs"/>
              </a:rPr>
              <a:t>الــفَــضَــاءَاتِ</a:t>
            </a: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تــلــك الــفــضــاءات مــا هــي إلا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تــلــك الــفــضــاءات مــا هــي إلا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«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....................................................................................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 »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847528" y="3010333"/>
            <a:ext cx="8640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شــبـكـات الـتـواصـل الاجــتــمــاعــي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21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الـوحــدة الــتـعـــلـــيـــمـــيـــة :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23/12/2025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38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 :</a:t>
            </a:r>
            <a:r>
              <a:rPr lang="ar-DZ" altLang="zh-CN" sz="38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DZ" sz="3800" b="1" dirty="0">
                <a:solidFill>
                  <a:srgbClr val="0070C0"/>
                </a:solidFill>
                <a:cs typeface="+mj-cs"/>
              </a:rPr>
              <a:t>شــبـكـات الـتـواصـل 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الاجــتــمــاعـي </a:t>
            </a:r>
            <a:endParaRPr lang="ar-SA" altLang="zh-CN" sz="38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23/12/2025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1080120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Social Media ( </a:t>
            </a:r>
            <a:r>
              <a:rPr lang="fr-FR" sz="3400" b="1" dirty="0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Facebook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3400" b="1" dirty="0" err="1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Twitter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3400" b="1" dirty="0" err="1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Whatsapp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… )</a:t>
            </a:r>
            <a:endParaRPr lang="fr-FR" sz="3400" dirty="0"/>
          </a:p>
        </p:txBody>
      </p:sp>
    </p:spTree>
    <p:extLst>
      <p:ext uri="{BB962C8B-B14F-4D97-AF65-F5344CB8AC3E}">
        <p14:creationId xmlns:p14="http://schemas.microsoft.com/office/powerpoint/2010/main" val="33123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0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5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بِـالاسْــتِــئْــنَــاسِ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بِــمَــا سَــبَــقَ ، عَــــرِّفْ «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شـــبـــكـــات الــتـــواصــل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الاجــــتــــمــــاعــي »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600" b="1" dirty="0" smtClean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 :</a:t>
            </a:r>
            <a:endParaRPr lang="fr-FR" sz="46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21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3120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360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511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2814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3355303"/>
            <a:ext cx="1817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اِنْـتِـمَـاءٍ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8844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.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تـعــريــف شــبــكــات الـتــواصــل الاجــتــمــاعــي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خَــوَادِمٍ تُــوَفِّــرُ فَــضَــاءَاتٍ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تَــرْبِــطُ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أَفْـــرَادًا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حَــسْــبَ</a:t>
            </a:r>
            <a:r>
              <a:rPr lang="ar-DZ" sz="44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مـجــمــوعــات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أو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شَــبَــكَــاتِ 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(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بــلــد</a:t>
            </a:r>
            <a:r>
              <a:rPr lang="ar-SA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مــدرســة،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)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بـحــيــث يَــتِّـمُ مـن خــلال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تــلــك الـفـضــاءات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بــمـخــتــلــف أنـواعـهـا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960096" y="1412776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بـرامـج مُــثَّــبَّــتَـة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280" y="2412609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اِفْــتِــرَاضِــيَــةٍ 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20336" y="3464159"/>
            <a:ext cx="222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اِهْــتِــمَــام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67808" y="3355303"/>
            <a:ext cx="18179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اِنْـتِـمَـاءٍ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87888" y="5374213"/>
            <a:ext cx="4050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>
                <a:solidFill>
                  <a:srgbClr val="0070C0"/>
                </a:solidFill>
                <a:cs typeface="+mj-cs"/>
              </a:rPr>
              <a:t>تـبـادل الـمـعــلــومــات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4493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cs typeface="+mj-cs"/>
              </a:rPr>
              <a:t>      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 err="1"/>
              <a:t>إِمْـــلأْ</a:t>
            </a:r>
            <a:r>
              <a:rPr lang="ar-DZ" sz="4400" b="1" dirty="0"/>
              <a:t> </a:t>
            </a:r>
            <a:r>
              <a:rPr lang="ar-DZ" sz="4400" b="1" dirty="0" smtClean="0"/>
              <a:t>الــفَـــرَاغَــــات الــتَـــالِـــيَـــة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بــتــعـــيـــيــن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أبْـــرَزِ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شــبــكــات الـتــواصــل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الاجــتــمــاعـي وأكــثــرهـا إقــبــالا مـن طــرف مــســتـخـــدمــي شــبــكـة الأنــتــرنــت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شــبــكــات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الـتــواصــل الاجــتــمــاعــي </a:t>
            </a:r>
            <a:r>
              <a:rPr lang="ar-DZ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الـشــهــيـــرة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1486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1) شـــبـــكـــات الــتـــواصــل الاجــــتــــمــــاعــي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 smtClean="0">
                <a:cs typeface="+mj-cs"/>
              </a:rPr>
              <a:t>      </a:t>
            </a:r>
          </a:p>
          <a:p>
            <a:pPr marL="0" indent="0" algn="just" rtl="1">
              <a:lnSpc>
                <a:spcPct val="135000"/>
              </a:lnSpc>
              <a:spcBef>
                <a:spcPts val="0"/>
              </a:spcBef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أكــمــل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الـجــدول الـتــالـي بـتـعــيــيــن أبْـــرَزِ شـبـكـات الـتـواصـل الاجــتــمــاعـي وأكــثــرهـا إقــبــالا مـن طــرف مــســتـخـــدمــي شــبــكـة الأنــتــرنــت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.1 شــبــكــات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الـتــواصــل الاجــتــمــاعــي </a:t>
            </a:r>
            <a:r>
              <a:rPr lang="ar-DZ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الـشــهــيـــرة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703512" y="310659"/>
            <a:ext cx="8352928" cy="605918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4786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شــبـكـات الـتـواصـل الاجــتــمـاعــي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الـشـهــيــرة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11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شــبـكـات الـتـواصـل الاجــتــمـاعــي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الـشـهــيــرة</a:t>
            </a:r>
            <a:r>
              <a:rPr lang="fr-FR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Messenger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  <a:r>
              <a:rPr lang="fr-FR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Viber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Line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Telegram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,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Twitter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Quora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 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WeChat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, Snapchat , Skype …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Linked-in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, Facebook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Workplace ,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Xing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YouTube 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Vimeo,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DailyMotion ,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TikTok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Google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Photos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Flickr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,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Pintereset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 , 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Instagram </a:t>
            </a:r>
            <a:r>
              <a:rPr lang="en-US" sz="36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FreeSans"/>
              </a:rPr>
              <a:t>…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113142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مُــمَــيِّـــزَات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: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صَــنِّــفْ فـي الـجَــدْوِلِ أَدْنَـــاه الــمُــمَــيِّـــزَات الـتــالــيــة :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الـعـــالـــمـــيــة ، الـشــمـــولــيــة ،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الــســهـــولـــة </a:t>
            </a:r>
            <a:r>
              <a:rPr lang="ar-DZ" sz="44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، الـتــفــاعــلــيــة ، </a:t>
            </a:r>
            <a:r>
              <a:rPr lang="ar-DZ" sz="44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الاقــتــصــاديــة ، الـتَّــنَــوُع </a:t>
            </a:r>
            <a:endParaRPr lang="ar-DZ" sz="4400" b="1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92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003089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6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243339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الاقــتــصــاديــة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381560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الــســهــــولـــة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لا تـتـطـلَّـب مـهــارات كــبــيــرة لاسـتـعــمــالـهـا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الاقــتــصــاديــة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تـوفــيــر الــمـــال، الــوقـــت والـجــهــد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الـتــفــاعــلــيــة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تُــوَفِّـــر حَــيِــزًا واســعــا للـمــشــاركــة الـفــاعــلــة</a:t>
            </a:r>
            <a:endParaRPr lang="fr-FR" sz="3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4223844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79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6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64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الـشــمـــولــيــة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96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(2. مُــمَــيِّـــزَات شــبــكــات الـتــواصــل الاجـــتــمـــاعــي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1472431"/>
              </p:ext>
            </p:extLst>
          </p:nvPr>
        </p:nvGraphicFramePr>
        <p:xfrm>
          <a:off x="928349" y="1597157"/>
          <a:ext cx="10296000" cy="4536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5148000"/>
                <a:gridCol w="5148000"/>
              </a:tblGrid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0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000" dirty="0">
                        <a:ln w="12700">
                          <a:solidFill>
                            <a:sysClr val="windowText" lastClr="000000"/>
                          </a:solidFill>
                        </a:ln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1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 smtClean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ar-DZ" sz="2800" b="1" baseline="-25000" dirty="0" smtClean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.............................................................</a:t>
                      </a:r>
                      <a:endParaRPr lang="fr-FR" sz="2800" b="1" dirty="0">
                        <a:ln w="12700">
                          <a:solidFill>
                            <a:sysClr val="windowText" lastClr="000000"/>
                          </a:solidFill>
                        </a:ln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0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الــتَّــنَــوُع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40532" y="1628800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الـخَــدَمَــات </a:t>
            </a:r>
          </a:p>
          <a:p>
            <a:pPr algn="ctr" rtl="1">
              <a:spcAft>
                <a:spcPts val="0"/>
              </a:spcAft>
            </a:pPr>
            <a:r>
              <a:rPr lang="ar-DZ" sz="3600" b="1" dirty="0" smtClean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وتَــنَــوُع </a:t>
            </a: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الـمـحـتـوى </a:t>
            </a:r>
            <a:endParaRPr lang="fr-FR" sz="3600" dirty="0">
              <a:solidFill>
                <a:srgbClr val="00000A"/>
              </a:solidFill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156142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الـشــمـــولــيــة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43708" y="3142694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تَــعَــدُّد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مــجـــالات الاســـتـــعــــمـــال</a:t>
            </a:r>
            <a:endParaRPr lang="fr-FR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2824" y="4610651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الـعـــالـــمـــيــة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532" y="4597203"/>
            <a:ext cx="5112568" cy="14338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3600" b="1" dirty="0">
                <a:solidFill>
                  <a:srgbClr val="000000"/>
                </a:solidFill>
                <a:ea typeface="Droid Sans Fallback"/>
                <a:cs typeface="Times New Roman" panose="02020603050405020304" pitchFamily="18" charset="0"/>
              </a:rPr>
              <a:t>إلـغــاء الـحــواجـــز الـجــغــرافــيــة</a:t>
            </a:r>
            <a:endParaRPr lang="fr-FR" sz="36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29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تــقــيـــيـــم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:</a:t>
            </a:r>
            <a:endParaRPr lang="fr-FR" sz="4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اذْكُــرْ بَـعْــضَ الإيـجـابــيــات والـمَــنَــافِــع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الِّـتِي </a:t>
            </a:r>
            <a:r>
              <a:rPr lang="ar-DZ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اسْــتَــفَـــدْتَـهـَـا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</a:t>
            </a:r>
            <a:r>
              <a:rPr lang="ar-DZ" sz="4400" b="1" dirty="0" smtClean="0"/>
              <a:t>شـــبــكــات الــتــواصــل الاجـــتـــمـــاعــي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</a:rPr>
              <a:t>–  </a:t>
            </a:r>
            <a:r>
              <a:rPr lang="ar-DZ" sz="4100" b="1" dirty="0" smtClean="0">
                <a:solidFill>
                  <a:srgbClr val="00B050"/>
                </a:solidFill>
                <a:cs typeface="+mj-cs"/>
              </a:rPr>
              <a:t>إيـجــابــيــات </a:t>
            </a:r>
            <a:r>
              <a:rPr lang="ar-DZ" sz="4100" b="1" dirty="0">
                <a:solidFill>
                  <a:srgbClr val="00B050"/>
                </a:solidFill>
                <a:cs typeface="+mj-cs"/>
              </a:rPr>
              <a:t>شــبــكــات الـتــواصــل الاجـــتــمـــاعــي 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الاجـــتــمـــاعــي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سَـــوَاءً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كَـانَ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مَــسْــمُــوعًــا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عَــلَـى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الأُخْــرِى 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الـتَـعَــرُّفِ عَــلَـى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والأفــكــار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9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الاجـــتــمـــاعــي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سَـــوَاءً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كَـانَ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مَــسْــمُــوعًــا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عَــلَـى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الأُخْــرِى 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الـتَـعَــرُّفِ عَــلَـى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والأفــكــار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879976" y="1514654"/>
            <a:ext cx="475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تــيــســـيــــر الـتــواصــل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06966" y="1514653"/>
            <a:ext cx="21109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كــتــابــيــا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5550" y="2428318"/>
            <a:ext cx="4608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مَــرْئِــيًــا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..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..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إلـخ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34119" y="3689517"/>
            <a:ext cx="25487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الا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اح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96869" y="3689517"/>
            <a:ext cx="2520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الـشُـعُــوبِ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9301" y="4902863"/>
            <a:ext cx="27913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ثــقــافــات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ـهـم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69659" y="4907812"/>
            <a:ext cx="19439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الآراء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1902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تَــنْــمِــيَــةِ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بِـالـخُـــبَــرَاءِ والـمُــحْــتَــرِفِـــيــن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مــخــتــلــف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الــمــجـــالات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مَــعَــهُــمْ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0956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تَــنْــمِــيَــةِ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مــن خــلال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بِـالـخُـــبَــرَاءِ والـمُــحْــتَــرِفِـــيــن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مــخــتــلــف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الــمــجـــالات وتَــبَــادُلِ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مَــعَــهُــمْ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99656" y="1523322"/>
            <a:ext cx="57606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ـقُ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ــدُرَات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 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+mj-cs"/>
              </a:rPr>
              <a:t>و 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الـ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مَ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هَـ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</a:rPr>
              <a:t>ارات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0216" y="2436024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الاح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ـك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ـاك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59496" y="3328409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الـخــبـــرا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2804" y="4261429"/>
            <a:ext cx="30031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الـمــعـــارف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35413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تَــخَــطّـي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وإلــغـــاء جـــمـــيـــع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الإِدَارِيَـــة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4034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شــبــكــات الـتــواصــل </a:t>
            </a:r>
            <a:r>
              <a:rPr lang="ar-DZ" sz="3600" b="1" dirty="0">
                <a:solidFill>
                  <a:srgbClr val="00B050"/>
                </a:solidFill>
              </a:rPr>
              <a:t>ــ تــابـع</a:t>
            </a:r>
            <a:r>
              <a:rPr lang="ar-DZ" sz="4000" b="1" dirty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تَــخَــطّـي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وإلــغـــاء جـــمـــيـــع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الإِدَارِيَـــة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19937" y="2968369"/>
            <a:ext cx="532859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الـحـواجـــز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الـجــغـــرافــيـة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19937" y="1721676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ق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ـــاب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2968368"/>
            <a:ext cx="28083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الـعَـ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رَاقِـــيــلِ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2274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تــقــيـــيـــم شــبــكــات الـتــواصــل الاجـــتــمـــاعــي 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بَـــيِّــنْ بَــعْــضَ الـسِــلْـبِــيَــات الِّـتِي وَاجَــهَــتْــكَ عــنـد اســتــعــمــال </a:t>
            </a:r>
            <a:r>
              <a:rPr lang="ar-DZ" sz="4400" b="1" dirty="0">
                <a:solidFill>
                  <a:prstClr val="black"/>
                </a:solidFill>
              </a:rPr>
              <a:t>شـــبــكــات الــتــواصــل الاجـــتـــمـــاعــي </a:t>
            </a:r>
            <a:r>
              <a:rPr lang="ar-DZ" sz="4400" b="1" dirty="0" smtClean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</a:t>
            </a:r>
            <a:endParaRPr lang="ar-DZ" sz="4400" b="1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42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4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الـتــواصــل الاجـــتــمـــاعــي </a:t>
            </a:r>
            <a:endParaRPr lang="fr-FR" sz="4200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92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الـتـواصـل الاجــتــمــاعــي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اِنْــتِــهَــاك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الّـذي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قــد يُــؤَدِي إلـى أَضْــرَارٍ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جَــسِــيــمَــةٍ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إِضَــاعَـــةُ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بَــيْــنَ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والـمــلــفــات وَبِــدُونِ فـــائـــدة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570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شــبــكــات الـتـواصـل الاجــتــمــاعــي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اِنْــتِــهَــاك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الّـذي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قــد يُــؤَدِي إلـى أَضْــرَارٍ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جَــسِــيــمَــةٍ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إِضَــاعَـــةُ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بَــيْــنَ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والـمــلــفــات وَبِــدُونِ فـــائـــدة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519936" y="159153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الـخُــصُـوصــيــة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01674" y="259010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اد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07568" y="3668741"/>
            <a:ext cx="284794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الــتَّـــنَــقُّـــل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99656" y="2610454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ع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ـو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88088" y="3675260"/>
            <a:ext cx="213334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الـو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ق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ْ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824192" y="4579439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الـصــفــحــات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192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11" grpId="0" animBg="1"/>
      <p:bldP spid="12" grpId="0" animBg="1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شــبــكــات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الـتــواصــل ـــ  تـــابــع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كِــثْــرَة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والـمُــبَــالَــغَــة فـي نَــقْــلِ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بِـدُونِ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الـتَــبَــيُّــنِ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وَالـتَّـحَــقُــقِّ مِــنْـهَـا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الَّـذِي يُـهَــدِّدُ هَــوِيَــةَ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الأُمَــمِ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تُــرَاثَـهَـا الـثَــقَــافِـي واِنْــسِــجَــامـهـا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الاِجْـــتِــمَـــاعِــي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9858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</a:t>
            </a:r>
            <a:r>
              <a:rPr lang="ar-DZ" sz="3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ســلــبــيــات شــبــكــات </a:t>
            </a:r>
            <a:r>
              <a:rPr lang="ar-DZ" sz="3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الـتــواصــل ـــ  تـــابــع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كِــثْــرَة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والـمُــبَــالَــغَــة فـي نَــقْــلِ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بِـدُونِ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الـتَــبَــيُّــنِ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وَالـتَّـحَــقُــقِّ مِــنْـهَـا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الَّـذِي يُـهَــدِّدُ هَــوِيَــةَ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الأُمَــمِ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تُــرَاثَـهَـا الـثَــقَــافِـي واِنْــسِــجَــامـهـا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الاِجْـــتِــمَـــاعِــي 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312024" y="1521775"/>
            <a:ext cx="29949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الإِش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ـــاع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ـــات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51984" y="3701896"/>
            <a:ext cx="46805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الـغَـــزْوُ الــثَـــقَـــافِـي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40216" y="2443813"/>
            <a:ext cx="27789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الأخـــبـــار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9201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ar-DZ" sz="48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 </a:t>
            </a:r>
            <a:r>
              <a:rPr lang="ar-DZ" sz="4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6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6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عِــنْــدَ اسْــتِــعْـــمَـــال الإنْــتِــرْنِــت، مَــا هِـيَ الأَخْـــلَاقِـــيَـــات الَّـتِي يَــنْــبَــغِـي أَنْ نَــلْــتَــزِمَ بِـهَـا ؟ عَـــلِّــلْ إِجَـــابَــتَــكَ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350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 4.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؛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89662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 4. </a:t>
            </a:r>
            <a:r>
              <a:rPr lang="ar-DZ" sz="48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اسْــتِــعْـــمَـــال الإنْــتِــرْنِــت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الـحــفــاظ عـلـى الـصــحـة ( الـجــســديــة ، الــعـــقـــلــيــة والـنــفــســيــة ) :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تَـجَــنُــبُ الإِدْمَــانِ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عـلـى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الانــتــرنــت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؛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الـحــفــاظ عـلـى الـوقــت :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تـقـديــر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قــيــمـة الـوقــت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والـتَــنَــزُه عـن سَــفَــاسِــفِ الأمـور فالإنـتـرنـت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وَسِــيــلَــةٌ لَـيْـسَـتْ غَــايَــةً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ar-DZ" sz="4000" b="1" dirty="0" smtClean="0">
              <a:solidFill>
                <a:srgbClr val="002060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fr-FR" sz="4000" b="1" dirty="0">
                <a:solidFill>
                  <a:srgbClr val="002060"/>
                </a:solidFill>
                <a:latin typeface="Times New Roman (En-têtes)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الالــتــزام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بـالـواجــبــات 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الأســـاســيــة ( 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الــدراســـيــة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، الـمـهــنــيــة</a:t>
            </a:r>
            <a:r>
              <a:rPr lang="ar-DZ" sz="4000" b="1" dirty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... )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: عـــدم الإخــلال بـهـا أو الـتَــنَّـصُـلِ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مــنْـهـا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70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اسْــتِـعْــمَــال الإنْــتِــرْنِــت ــ  تــابـع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4251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اسْــتِـعْــمَــال الإنْــتِــرْنِــت ــ  تــابـع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الــتَّــحَــلِّـي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بـالـصــدق :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الــتَّــحَــقُــقِ مــن صــحــة الــمــعــلــومـــات فــلــيــس كــل مــا يُــنْــشَــرُ صــحـــيـح وصــادق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الــتَّــحَــلِّـي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بـالأمـــانـــة :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عـــدم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اِنْــتِــحَــال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شــخــصــيــة إنــســان آخــر، وعـــدم الـتــجــســس أو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الـتَّــنَــمُــرِ عــلــيــه ؛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مــعــامــلــة الـغــيــر كــمــا تُــحِــبُ أَنْ تُــعَــامَــلَ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الـحــفــاظ عــلـى كـــرامـــتــه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واِحْـــتَـــرام خـــصـــوصـــيـــتـــه  </a:t>
            </a:r>
            <a:r>
              <a:rPr lang="ar-DZ" sz="4000" b="1" dirty="0" smtClean="0">
                <a:solidFill>
                  <a:srgbClr val="00B0F0"/>
                </a:solidFill>
                <a:latin typeface="Times New Roman (En-têtes)"/>
                <a:cs typeface="+mj-cs"/>
              </a:rPr>
              <a:t>بــحــيــث</a:t>
            </a:r>
            <a:endParaRPr lang="fr-FR" sz="4000" dirty="0">
              <a:solidFill>
                <a:srgbClr val="00B0F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0733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اسْــتِـعْــمَــال الإنْــتِــرْنِــت ــ  تــابـع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</a:rPr>
              <a:t>─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...................................................................................................................................................................................................................................................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</a:rPr>
              <a:t>؛</a:t>
            </a:r>
            <a:endParaRPr lang="fr-FR" sz="4000" b="1" dirty="0">
              <a:solidFill>
                <a:srgbClr val="002060"/>
              </a:solidFill>
              <a:latin typeface="Times New Roman (En-têtes)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75652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 4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أخــلاقــيــات اسْــتِـعْــمَــال الإنْــتِــرْنِــت ــ  تــابـع</a:t>
            </a:r>
            <a:r>
              <a:rPr lang="ar-D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ar-DZ" sz="600" b="1" dirty="0">
              <a:solidFill>
                <a:srgbClr val="002060"/>
              </a:solidFill>
              <a:cs typeface="+mj-cs"/>
            </a:endParaRPr>
          </a:p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B0F0"/>
                </a:solidFill>
                <a:latin typeface="Times New Roman (En-têtes)"/>
              </a:rPr>
              <a:t>بــحــيــث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"</a:t>
            </a:r>
            <a:r>
              <a:rPr lang="ar-DZ" sz="4000" b="1" dirty="0" smtClean="0">
                <a:solidFill>
                  <a:srgbClr val="FF0000"/>
                </a:solidFill>
                <a:latin typeface="Times New Roman (En-têtes)"/>
              </a:rPr>
              <a:t> مَــا </a:t>
            </a:r>
            <a:r>
              <a:rPr lang="ar-DZ" sz="4000" b="1" dirty="0">
                <a:solidFill>
                  <a:srgbClr val="FF0000"/>
                </a:solidFill>
                <a:latin typeface="Times New Roman (En-têtes)"/>
              </a:rPr>
              <a:t>لَا </a:t>
            </a:r>
            <a:r>
              <a:rPr lang="ar-DZ" sz="4000" b="1" dirty="0" err="1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تَــرْضَــاهُ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لـِـنَــفْـــسِــكَ لَا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تُــؤْذِ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بِــهِ غَــيْــرَكَ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:  فَـكَــمَــا تَــدِيــنُ تُــدَانُ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" </a:t>
            </a:r>
            <a:endParaRPr lang="ar-DZ" sz="4000" b="1" dirty="0" smtClean="0">
              <a:solidFill>
                <a:srgbClr val="FF000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الـتَّــحَــلِّـي بـالــوَعْــي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والـفِــطْــنَــةَ </a:t>
            </a:r>
            <a:r>
              <a:rPr lang="ar-DZ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إِدْرَاكُ </a:t>
            </a:r>
            <a:r>
              <a:rPr lang="ar-DZ" sz="4000" b="1" dirty="0" smtClean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الـمَــخَــاطِــر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ومَــعْــرِفَـــةُ </a:t>
            </a:r>
            <a:r>
              <a:rPr lang="ar-DZ" sz="4000" b="1" dirty="0">
                <a:solidFill>
                  <a:srgbClr val="FF0000"/>
                </a:solidFill>
                <a:ea typeface="Droid Sans Fallback"/>
                <a:cs typeface="Times New Roman" panose="02020603050405020304" pitchFamily="18" charset="0"/>
              </a:rPr>
              <a:t>الـحُــلُــولِ الــمُــمْــكِــنَــة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لِــتَــفَـــادِيــهَـا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.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398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مــنــزلـي 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أَنْـجِـــزْ بَــحْـــثًـــا </a:t>
            </a:r>
            <a:r>
              <a:rPr lang="ar-DZ" sz="48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تُــبْــرِزُ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فِــيــهِ جَــلِــيًّــا </a:t>
            </a:r>
            <a:r>
              <a:rPr lang="ar-DZ" sz="48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مَــخَــاطِــرَ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شَــبَــكَــاتِ الـتَّــوَاصُــلِ الاجْـــتِـــمَـــاعِــي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مَـعَ </a:t>
            </a:r>
            <a:r>
              <a:rPr lang="ar-DZ" sz="4800" b="1" dirty="0">
                <a:solidFill>
                  <a:srgbClr val="0070C0"/>
                </a:solidFill>
              </a:rPr>
              <a:t>اِقْـــتِـــرَاحِ </a:t>
            </a:r>
            <a:r>
              <a:rPr lang="ar-DZ" sz="4800" b="1" dirty="0" smtClean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الـحُــلُــولِ </a:t>
            </a:r>
            <a:r>
              <a:rPr lang="ar-DZ" sz="4800" b="1" dirty="0">
                <a:solidFill>
                  <a:srgbClr val="0070C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الــمُــمْــكِــنَــة لِــتَــفَـــادِيــهَـا</a:t>
            </a:r>
            <a:r>
              <a:rPr lang="ar-DZ" sz="48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23/12/2025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49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23/12/2025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28531</TotalTime>
  <Words>1600</Words>
  <Application>Microsoft Office PowerPoint</Application>
  <PresentationFormat>Grand écran</PresentationFormat>
  <Paragraphs>360</Paragraphs>
  <Slides>48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48</vt:i4>
      </vt:variant>
    </vt:vector>
  </HeadingPairs>
  <TitlesOfParts>
    <vt:vector size="60" baseType="lpstr">
      <vt:lpstr>Arial Unicode MS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Times New Roman (En-têtes)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شـــبـــكـــات الــتـــواصــل الاجــــتــــمــــاعــي :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أتـذكـر ( 1.1  تـعــريــف شــبــكــات الـتــواصــل الاجــتــمــاعــي )</vt:lpstr>
      <vt:lpstr>1) شـــبـــكـــات الــتـــواصــل الاجــــتــــمــــاعــي :</vt:lpstr>
      <vt:lpstr>1) شـــبـــكـــات الــتـــواصــل الاجــــتــــمــــاعــي :</vt:lpstr>
      <vt:lpstr>أتـذكـر ( 2.1 شــبـكـات الـتـواصـل الاجــتــمـاعــي الـشـهــيــرة )</vt:lpstr>
      <vt:lpstr>أتـذكـر ( 2.1 شــبـكـات الـتـواصـل الاجــتــمـاعــي الـشـهــيــرة )</vt:lpstr>
      <vt:lpstr>2) مُــمَــيِّـــزَات شــبــكــات الـتــواصــل الاجـــتــمـــاعــي :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أتـذكـر (2. مُــمَــيِّـــزَات شــبــكــات الـتــواصــل الاجـــتــمـــاعــي )</vt:lpstr>
      <vt:lpstr>3) تــقــيـــيـــم شــبــكــات الـتــواصــل الاجـــتــمـــاعــي :</vt:lpstr>
      <vt:lpstr>أتـذكـر ( 1.3 إيـجــابــيــات شــبــكــات الـتــواصــل الاجـــتــمـــاعــي )</vt:lpstr>
      <vt:lpstr>أتـذكـر ( 1.3 إيـجــابــيــات شــبــكــات الـتــواصــل الاجـــتــمـــاعــي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أتـذكـر ( 1.3 إيـجــابــيــات شــبــكــات الـتــواصــل ــ تــابـع )</vt:lpstr>
      <vt:lpstr>3) تــقــيـــيـــم شــبــكــات الـتــواصــل الاجـــتــمـــاعــي :</vt:lpstr>
      <vt:lpstr>أتـذكـر ( 2.3 ســلــبــيــات شــبــكــات الـتـواصـل الاجــتــمــاعــي )</vt:lpstr>
      <vt:lpstr>أتـذكـر ( 2.3 ســلــبــيــات شــبــكــات الـتـواصـل الاجــتــمــاعــي )</vt:lpstr>
      <vt:lpstr>أتـذكـر ( 2.3 ســلــبــيــات شــبــكــات الـتــواصــل ـــ  تـــابــع )</vt:lpstr>
      <vt:lpstr>أتـذكـر ( 2.3 ســلــبــيــات شــبــكــات الـتــواصــل ـــ  تـــابــع )</vt:lpstr>
      <vt:lpstr>4) أخــلاقــيــات اسْــتِــعْـــمَـــال الإنْــتِــرْنِــت :</vt:lpstr>
      <vt:lpstr>أتـذكـر (  4. أخــلاقــيــات اسْــتِــعْـــمَـــال الإنْــتِــرْنِــت ) </vt:lpstr>
      <vt:lpstr>أتـذكـر (  4. أخــلاقــيــات اسْــتِــعْـــمَـــال الإنْــتِــرْنِــت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أتـذكـر (  4. أخــلاقــيــات اسْــتِـعْــمَــال الإنْــتِــرْنِــت ــ  تــابـع ) </vt:lpstr>
      <vt:lpstr>واجــب مــنــزلـي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995</cp:revision>
  <dcterms:created xsi:type="dcterms:W3CDTF">2015-11-30T21:00:22Z</dcterms:created>
  <dcterms:modified xsi:type="dcterms:W3CDTF">2025-12-23T21:51:55Z</dcterms:modified>
</cp:coreProperties>
</file>