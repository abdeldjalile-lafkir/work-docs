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5"/>
  </p:notesMasterIdLst>
  <p:sldIdLst>
    <p:sldId id="387" r:id="rId3"/>
    <p:sldId id="388" r:id="rId4"/>
    <p:sldId id="389" r:id="rId5"/>
    <p:sldId id="293" r:id="rId6"/>
    <p:sldId id="478" r:id="rId7"/>
    <p:sldId id="396" r:id="rId8"/>
    <p:sldId id="397" r:id="rId9"/>
    <p:sldId id="401" r:id="rId10"/>
    <p:sldId id="479" r:id="rId11"/>
    <p:sldId id="403" r:id="rId12"/>
    <p:sldId id="504" r:id="rId13"/>
    <p:sldId id="503" r:id="rId14"/>
    <p:sldId id="502" r:id="rId15"/>
    <p:sldId id="501" r:id="rId16"/>
    <p:sldId id="500" r:id="rId17"/>
    <p:sldId id="480" r:id="rId18"/>
    <p:sldId id="482" r:id="rId19"/>
    <p:sldId id="483" r:id="rId20"/>
    <p:sldId id="488" r:id="rId21"/>
    <p:sldId id="487" r:id="rId22"/>
    <p:sldId id="486" r:id="rId23"/>
    <p:sldId id="484" r:id="rId24"/>
    <p:sldId id="494" r:id="rId25"/>
    <p:sldId id="493" r:id="rId26"/>
    <p:sldId id="492" r:id="rId27"/>
    <p:sldId id="491" r:id="rId28"/>
    <p:sldId id="490" r:id="rId29"/>
    <p:sldId id="489" r:id="rId30"/>
    <p:sldId id="485" r:id="rId31"/>
    <p:sldId id="498" r:id="rId32"/>
    <p:sldId id="497" r:id="rId33"/>
    <p:sldId id="496" r:id="rId34"/>
    <p:sldId id="495" r:id="rId35"/>
    <p:sldId id="407" r:id="rId36"/>
    <p:sldId id="410" r:id="rId37"/>
    <p:sldId id="526" r:id="rId38"/>
    <p:sldId id="525" r:id="rId39"/>
    <p:sldId id="506" r:id="rId40"/>
    <p:sldId id="524" r:id="rId41"/>
    <p:sldId id="523" r:id="rId42"/>
    <p:sldId id="522" r:id="rId43"/>
    <p:sldId id="521" r:id="rId44"/>
    <p:sldId id="507" r:id="rId45"/>
    <p:sldId id="520" r:id="rId46"/>
    <p:sldId id="499" r:id="rId47"/>
    <p:sldId id="508" r:id="rId48"/>
    <p:sldId id="519" r:id="rId49"/>
    <p:sldId id="518" r:id="rId50"/>
    <p:sldId id="517" r:id="rId51"/>
    <p:sldId id="516" r:id="rId52"/>
    <p:sldId id="515" r:id="rId53"/>
    <p:sldId id="510" r:id="rId54"/>
    <p:sldId id="514" r:id="rId55"/>
    <p:sldId id="513" r:id="rId56"/>
    <p:sldId id="512" r:id="rId57"/>
    <p:sldId id="511" r:id="rId58"/>
    <p:sldId id="440" r:id="rId59"/>
    <p:sldId id="441" r:id="rId60"/>
    <p:sldId id="527" r:id="rId61"/>
    <p:sldId id="528" r:id="rId62"/>
    <p:sldId id="529" r:id="rId63"/>
    <p:sldId id="451" r:id="rId6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4" autoAdjust="0"/>
    <p:restoredTop sz="92819" autoAdjust="0"/>
  </p:normalViewPr>
  <p:slideViewPr>
    <p:cSldViewPr>
      <p:cViewPr varScale="1">
        <p:scale>
          <a:sx n="71" d="100"/>
          <a:sy n="71" d="100"/>
        </p:scale>
        <p:origin x="612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1789216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54679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695095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302627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9745080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10/04/2025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10/04/2025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10/04/2025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10/04/2025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10/04/2025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10/04/2025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10/04/2025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10/04/2025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10/04/2025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10/04/2025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10/04/2025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10/04/2025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10/04/2025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10/04/2025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10/04/2025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10/04/2025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10/04/2025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10/04/2025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10/04/2025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10/04/2025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10/04/2025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10/04/2025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10/04/2025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10/04/2025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10/04/2025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10/04/2025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979313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</a:t>
            </a:r>
            <a:r>
              <a:rPr lang="ar-DZ" altLang="zh-CN" sz="42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10/04/2025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4021017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cs typeface="+mj-cs"/>
              </a:rPr>
              <a:t>يَـتَـوَزَّعُ عَـــدَدٌ مـن الأقـــارب والأصـدقـــاء بـيـن كـــلٍّ مـن كــنــدا، أمــريـكـا وفــرنــسـا فـمـا هـي أسـهــل طــريــقــة للاتِّــصــال بــهــم لـتــبــادل الـرســائــل، الـصُــوَرِ والـمــلــفــات </a:t>
            </a:r>
            <a:r>
              <a:rPr lang="ar-DZ" sz="4400" b="1" dirty="0" smtClean="0">
                <a:cs typeface="+mj-cs"/>
              </a:rPr>
              <a:t>مـعـهـم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19861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مِـنْ أَسْـهَـلِ طُــرُقِ الاتِّـصَـال وتــبـادل الـرســائــل، الـصُــوَرِ والـمـلـفـات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.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350677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 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4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800" b="1" dirty="0">
                <a:solidFill>
                  <a:srgbClr val="002060"/>
                </a:solidFill>
                <a:cs typeface="+mj-cs"/>
              </a:rPr>
              <a:t>مِـنْ أَسْـهَـلِ طُــرُقِ الاتِّـصَـال وتــبـادل الـرســائــل، الـصُــوَرِ والـمـلـفـات </a:t>
            </a:r>
            <a:r>
              <a:rPr lang="ar-DZ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</a:t>
            </a:r>
            <a:r>
              <a:rPr lang="fr-FR" sz="4800" baseline="-25000" dirty="0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800" b="1" dirty="0" smtClean="0">
                <a:solidFill>
                  <a:srgbClr val="002060"/>
                </a:solidFill>
                <a:cs typeface="+mj-cs"/>
              </a:rPr>
              <a:t>.</a:t>
            </a:r>
            <a:endParaRPr lang="ar-DZ" sz="4800" b="1" dirty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199456" y="2852936"/>
            <a:ext cx="57602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الـبــريـــد الإلـكــتــرونــي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8055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SA" altLang="zh-CN" sz="44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الــتــعــــلـــيــــمــــيــــة 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 </a:t>
            </a:r>
            <a:r>
              <a:rPr lang="ar-DZ" sz="3200" b="1" dirty="0" smtClean="0">
                <a:solidFill>
                  <a:srgbClr val="0070C0"/>
                </a:solidFill>
                <a:cs typeface="+mj-cs"/>
              </a:rPr>
              <a:t>...................................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10/04/2025</a:t>
            </a:fld>
            <a:endParaRPr lang="fr-BE" sz="2400" b="1" dirty="0"/>
          </a:p>
        </p:txBody>
      </p:sp>
    </p:spTree>
    <p:extLst>
      <p:ext uri="{BB962C8B-B14F-4D97-AF65-F5344CB8AC3E}">
        <p14:creationId xmlns:p14="http://schemas.microsoft.com/office/powerpoint/2010/main" val="3466292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r" rtl="1"/>
            <a:r>
              <a:rPr lang="ar-SA" altLang="zh-CN" sz="44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وح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err="1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دة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ال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ع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ل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ي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ة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SA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:</a:t>
            </a:r>
            <a:r>
              <a:rPr lang="ar-DZ" altLang="zh-CN" sz="44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+mj-cs"/>
              </a:rPr>
              <a:t> </a:t>
            </a:r>
            <a:r>
              <a:rPr lang="ar-DZ" sz="4400" b="1" dirty="0">
                <a:solidFill>
                  <a:srgbClr val="0070C0"/>
                </a:solidFill>
              </a:rPr>
              <a:t>الـبــريـــد </a:t>
            </a:r>
            <a:r>
              <a:rPr lang="ar-DZ" sz="4400" b="1" dirty="0" smtClean="0">
                <a:solidFill>
                  <a:srgbClr val="0070C0"/>
                </a:solidFill>
              </a:rPr>
              <a:t>الإلـكــتــرونـي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 </a:t>
            </a:r>
            <a:endParaRPr lang="ar-SA" altLang="zh-CN" sz="44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+mj-c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2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2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2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تـــقـــنـــيـــــات الــويــــب</a:t>
            </a:r>
            <a:endParaRPr lang="fr-FR" sz="42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10/04/2025</a:t>
            </a:fld>
            <a:endParaRPr lang="fr-BE" sz="2400" b="1" dirty="0"/>
          </a:p>
        </p:txBody>
      </p:sp>
      <p:sp>
        <p:nvSpPr>
          <p:cNvPr id="7" name="Rectangle à coins arrondis 6"/>
          <p:cNvSpPr/>
          <p:nvPr/>
        </p:nvSpPr>
        <p:spPr>
          <a:xfrm>
            <a:off x="587388" y="5081119"/>
            <a:ext cx="1080120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Messagerie Electronique ( </a:t>
            </a:r>
            <a:r>
              <a:rPr lang="fr-FR" sz="3400" b="1" dirty="0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Gmail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fr-FR" sz="3400" b="1" dirty="0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Hotmail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, </a:t>
            </a:r>
            <a:r>
              <a:rPr lang="fr-FR" sz="3400" b="1" dirty="0" smtClean="0">
                <a:ln w="0"/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Yahoo</a:t>
            </a:r>
            <a:r>
              <a:rPr lang="fr-FR" sz="3400" b="1" dirty="0" smtClean="0">
                <a:ln w="0"/>
                <a:solidFill>
                  <a:prstClr val="black"/>
                </a:solidFill>
                <a:latin typeface="Times New Roman" pitchFamily="18" charset="0"/>
                <a:cs typeface="Times New Roman" pitchFamily="18" charset="0"/>
              </a:rPr>
              <a:t> … )</a:t>
            </a:r>
            <a:endParaRPr lang="fr-FR" sz="3400" dirty="0"/>
          </a:p>
        </p:txBody>
      </p:sp>
    </p:spTree>
    <p:extLst>
      <p:ext uri="{BB962C8B-B14F-4D97-AF65-F5344CB8AC3E}">
        <p14:creationId xmlns:p14="http://schemas.microsoft.com/office/powerpoint/2010/main" val="3312398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2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7" grpId="0" animBg="1"/>
      <p:bldP spid="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1) تـعــريــف الـبــريـــد الإلـكــتــرونــي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الـصُــورَةَ أَدْنَـــاهُ ثُــمَ قَـَـارِنْ بــيـن الـبــريـــد الـعــادِي والـبــريـــد الإلـكــتــرونــي وعَـــرِّفْ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الـبــريـــد الإلـكــتــرونــي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»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55914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cs typeface="+mj-cs"/>
              </a:rPr>
              <a:t>1) تـعــريــف الـبــريـــد الإلـكــتــرونــي :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الـصُــورَةَ أَدْنَـــاهُ ثُــمَ قَـَـارِنْ بــيـن الـبــريـــد الـعــادِي والـبــريـــد الإلـكــتــرونــي وعَـــرِّفْ 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«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الـبــريـــد الإلـكــتــرونــي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»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pic>
        <p:nvPicPr>
          <p:cNvPr id="6" name="Image 5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164" y="432429"/>
            <a:ext cx="10620000" cy="5868000"/>
          </a:xfrm>
          <a:prstGeom prst="rect">
            <a:avLst/>
          </a:prstGeom>
          <a:ln w="1905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51711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4800" b="1" dirty="0" smtClean="0">
                <a:solidFill>
                  <a:srgbClr val="FF0000"/>
                </a:solidFill>
              </a:rPr>
              <a:t>تـعــريــف </a:t>
            </a:r>
            <a:r>
              <a:rPr lang="ar-DZ" sz="4800" b="1" dirty="0">
                <a:solidFill>
                  <a:srgbClr val="FF0000"/>
                </a:solidFill>
              </a:rPr>
              <a:t>الـبــريـــد </a:t>
            </a:r>
            <a:r>
              <a:rPr lang="ar-DZ" sz="4800" b="1" dirty="0" smtClean="0">
                <a:solidFill>
                  <a:srgbClr val="FF0000"/>
                </a:solidFill>
              </a:rPr>
              <a:t>الإلـكــتــرونــي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 عــمــلــيــة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بــواســطــة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مُـتَـصِـلَـة بِـ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بـحَــيْــث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الَّـتِي تَــتَــكَّــفَــلُ بِـ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321712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4800" b="1" dirty="0" smtClean="0">
                <a:solidFill>
                  <a:srgbClr val="FF0000"/>
                </a:solidFill>
              </a:rPr>
              <a:t>تـعــريــف </a:t>
            </a:r>
            <a:r>
              <a:rPr lang="ar-DZ" sz="4800" b="1" dirty="0">
                <a:solidFill>
                  <a:srgbClr val="FF0000"/>
                </a:solidFill>
              </a:rPr>
              <a:t>الـبــريـــد </a:t>
            </a:r>
            <a:r>
              <a:rPr lang="ar-DZ" sz="4800" b="1" dirty="0" smtClean="0">
                <a:solidFill>
                  <a:srgbClr val="FF0000"/>
                </a:solidFill>
              </a:rPr>
              <a:t>الإلـكــتــرونــي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 عــمــلــيــة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بــواســطــة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مُـتَـصِـلَـة بِـ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بـحَــيْــث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الَّـتِي تَــتَــكَّــفَــلُ بِـ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27648" y="1699119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تَــبَــادُل رَسَـــائِــلٍ رَقْــمِــيَــة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2030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4800" b="1" dirty="0" smtClean="0">
                <a:solidFill>
                  <a:srgbClr val="FF0000"/>
                </a:solidFill>
              </a:rPr>
              <a:t>تـعــريــف </a:t>
            </a:r>
            <a:r>
              <a:rPr lang="ar-DZ" sz="4800" b="1" dirty="0">
                <a:solidFill>
                  <a:srgbClr val="FF0000"/>
                </a:solidFill>
              </a:rPr>
              <a:t>الـبــريـــد </a:t>
            </a:r>
            <a:r>
              <a:rPr lang="ar-DZ" sz="4800" b="1" dirty="0" smtClean="0">
                <a:solidFill>
                  <a:srgbClr val="FF0000"/>
                </a:solidFill>
              </a:rPr>
              <a:t>الإلـكــتــرونــي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 عــمــلــيــة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بــواســطــة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مُـتَـصِـلَـة بِـ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بـحَــيْــث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الَّـتِي تَــتَــكَّــفَــلُ بِـ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27648" y="1699119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تَــبَــادُل رَسَـــائِــلٍ رَقْــمِــيَــة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46596" y="2694111"/>
            <a:ext cx="230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حــواســيــب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35421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4800" b="1" dirty="0" smtClean="0">
                <a:solidFill>
                  <a:srgbClr val="FF0000"/>
                </a:solidFill>
              </a:rPr>
              <a:t>تـعــريــف </a:t>
            </a:r>
            <a:r>
              <a:rPr lang="ar-DZ" sz="4800" b="1" dirty="0">
                <a:solidFill>
                  <a:srgbClr val="FF0000"/>
                </a:solidFill>
              </a:rPr>
              <a:t>الـبــريـــد </a:t>
            </a:r>
            <a:r>
              <a:rPr lang="ar-DZ" sz="4800" b="1" dirty="0" smtClean="0">
                <a:solidFill>
                  <a:srgbClr val="FF0000"/>
                </a:solidFill>
              </a:rPr>
              <a:t>الإلـكــتــرونــي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 عــمــلــيــة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بــواســطــة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مُـتَـصِـلَـة بِـ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بـحَــيْــث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الَّـتِي تَــتَــكَّــفَــلُ بِـ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27648" y="1699119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تَــبَــادُل رَسَـــائِــلٍ رَقْــمِــيَــة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6088" y="2677253"/>
            <a:ext cx="604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شــبـكـة (مـحــلــيــة ، الانـتـرنــت)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46596" y="2694111"/>
            <a:ext cx="230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حــواســيــب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6718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4800" b="1" dirty="0" smtClean="0">
                <a:solidFill>
                  <a:srgbClr val="FF0000"/>
                </a:solidFill>
              </a:rPr>
              <a:t>تـعــريــف </a:t>
            </a:r>
            <a:r>
              <a:rPr lang="ar-DZ" sz="4800" b="1" dirty="0">
                <a:solidFill>
                  <a:srgbClr val="FF0000"/>
                </a:solidFill>
              </a:rPr>
              <a:t>الـبــريـــد </a:t>
            </a:r>
            <a:r>
              <a:rPr lang="ar-DZ" sz="4800" b="1" dirty="0" smtClean="0">
                <a:solidFill>
                  <a:srgbClr val="FF0000"/>
                </a:solidFill>
              </a:rPr>
              <a:t>الإلـكــتــرونــي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 عــمــلــيــة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بــواســطــة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مُـتَـصِـلَـة بِـ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بـحَــيْــث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الَّـتِي تَــتَــكَّــفَــلُ بِـ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27648" y="1699119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تَــبَــادُل رَسَـــائِــلٍ رَقْــمِــيَــة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6088" y="2677253"/>
            <a:ext cx="604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شــبـكـة (مـحــلــيــة ، الانـتـرنــت)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46596" y="2694111"/>
            <a:ext cx="230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حــواســيــب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680413"/>
            <a:ext cx="33843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>
                <a:solidFill>
                  <a:srgbClr val="0070C0"/>
                </a:solidFill>
                <a:cs typeface="+mj-cs"/>
              </a:rPr>
              <a:t>تــحــويــلــهــا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820085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( 1. </a:t>
            </a:r>
            <a:r>
              <a:rPr lang="ar-DZ" sz="4800" b="1" dirty="0" smtClean="0">
                <a:solidFill>
                  <a:srgbClr val="FF0000"/>
                </a:solidFill>
              </a:rPr>
              <a:t>تـعــريــف </a:t>
            </a:r>
            <a:r>
              <a:rPr lang="ar-DZ" sz="4800" b="1" dirty="0">
                <a:solidFill>
                  <a:srgbClr val="FF0000"/>
                </a:solidFill>
              </a:rPr>
              <a:t>الـبــريـــد </a:t>
            </a:r>
            <a:r>
              <a:rPr lang="ar-DZ" sz="4800" b="1" dirty="0" smtClean="0">
                <a:solidFill>
                  <a:srgbClr val="FF0000"/>
                </a:solidFill>
              </a:rPr>
              <a:t>الإلـكــتــرونــي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lvl="0" indent="0" algn="just" rtl="1">
              <a:lnSpc>
                <a:spcPct val="150000"/>
              </a:lnSpc>
              <a:buNone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هـو عــمــلــيــة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بــواســطــة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مُـتَـصِـلَـة بِـ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بـحَــيْــث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هـي 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الَّـتِي تَــتَــكَّــفَــلُ بِـ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و</a:t>
            </a:r>
            <a:r>
              <a:rPr lang="fr-FR" sz="44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400" baseline="-25000" dirty="0" smtClean="0">
                <a:solidFill>
                  <a:srgbClr val="002060"/>
                </a:solidFill>
              </a:rPr>
              <a:t>...................................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927648" y="1699119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تَــبَــادُل رَسَـــائِــلٍ رَقْــمِــيَــة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6088" y="2677253"/>
            <a:ext cx="6048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شــبـكـة (مـحــلــيــة ، الانـتـرنــت)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046596" y="2694111"/>
            <a:ext cx="2304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 smtClean="0">
                <a:solidFill>
                  <a:srgbClr val="0070C0"/>
                </a:solidFill>
                <a:cs typeface="+mj-cs"/>
              </a:rPr>
              <a:t>حــواســيــب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87488" y="3680413"/>
            <a:ext cx="33843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200" b="1" dirty="0">
                <a:solidFill>
                  <a:srgbClr val="0070C0"/>
                </a:solidFill>
                <a:cs typeface="+mj-cs"/>
              </a:rPr>
              <a:t>تــحــويــلــهــا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12224" y="4693477"/>
            <a:ext cx="29745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تــخــزيــنـهــا</a:t>
            </a:r>
            <a:endParaRPr lang="fr-FR" sz="42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61377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5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مـكــونــات </a:t>
            </a:r>
            <a:r>
              <a:rPr lang="ar-DZ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عــنــوان الـبــريـــد الإلـكــتــرونــي :</a:t>
            </a:r>
            <a:endParaRPr lang="fr-FR" sz="5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الـشَـكْــلَ الـعَــامَ لِـعُــنْــوَانِ الـبــريـــد الإلـكــتــرونــي الـمُــبَــيَّــن أَدْنَـــاهُ ، ثُــمَ حَـــدِّدْ مُــكَــوِنَـــاتِــه ومــاذا تـســتــنــتــج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0010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fr-FR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5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مـكــونــات </a:t>
            </a:r>
            <a:r>
              <a:rPr lang="ar-DZ" sz="5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عــنــوان الـبــريـــد الإلـكــتــرونــي :</a:t>
            </a:r>
            <a:endParaRPr lang="fr-FR" sz="5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حَــلِّــلْ الـشَـكْــلَ الـعَــامَ لِـعُــنْــوَانِ الـبــريـــد الإلـكــتــرونــي الـمُــبَــيَّــن أَدْنَـــاهُ ، ثُــمَ حَـــدِّدْ مُــكَــوِنَـــاتِــه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ومــاذا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730580"/>
            <a:ext cx="10692000" cy="2362406"/>
          </a:xfrm>
          <a:prstGeom prst="rect">
            <a:avLst/>
          </a:prstGeom>
          <a:ln w="28575" cap="sq" cmpd="thickThin">
            <a:solidFill>
              <a:srgbClr val="00206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392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عــنــوان الـبــريـــد الإلـكــتــرونــي )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هــو 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ويُــمَــثِّــلُ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9120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عــنــوان الـبــريـــد الإلـكــتــرونــي )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هــو 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ويُــمَــثِّــلُ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567608" y="1858271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ـمــســتــخـــدم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60513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عــنــوان الـبــريـــد الإلـكــتــرونــي )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هــو 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ويُــمَــثِّــلُ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567608" y="1858271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ـمــســتــخـــدم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2520" y="2871564"/>
            <a:ext cx="10441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ـش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ـخ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ـص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أو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 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ـمُ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ـسْ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ـتَـ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فِـ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ـد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 م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55885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عــنــوان الـبــريـــد الإلـكــتــرونــي )</a:t>
            </a:r>
            <a:endParaRPr lang="fr-FR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fr-FR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	</a:t>
            </a:r>
            <a:r>
              <a:rPr lang="en-US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username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هــو 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ويُــمَــثِّــلُ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r>
              <a:rPr lang="ar-DZ" sz="4400" baseline="-25000" dirty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</a:t>
            </a:r>
            <a:r>
              <a:rPr lang="fr-FR" sz="4400" baseline="-25000" dirty="0">
                <a:solidFill>
                  <a:srgbClr val="002060"/>
                </a:solidFill>
              </a:rPr>
              <a:t> </a:t>
            </a:r>
            <a:endParaRPr lang="ar-DZ" sz="44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567608" y="1858271"/>
            <a:ext cx="30963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ـمــســتــخـــدم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2520" y="2871564"/>
            <a:ext cx="10441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ـش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ـخ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ـص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أو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جـ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هـ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 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ـمُ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ـسْ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ـتَـ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فِـ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ـد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ة م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832520" y="4096046"/>
            <a:ext cx="104411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خَـــدَمَـــات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ـب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ـري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ـد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الإلـ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ـرون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31958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14591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150660" y="1600217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الـمُـضـِيـف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00880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150660" y="1600217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الـمُـضـِيـف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159713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ـوب الـخ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ــاد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715600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150660" y="1600217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الـمُـضـِيـف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159713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الـح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ـاس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ـوب الـخ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ــاد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59315" y="2621891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حــســـاب الـمـــســتــخــدم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69732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150660" y="1600217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الـمُـضـِيـف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159713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الـح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ـاس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ـوب الـخ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ــاد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80176" y="35881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خــدمــات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59315" y="2621891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حــســـاب الـمـــســتــخــدم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08215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150660" y="1600217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الـمُـضـِيـف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159713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الـح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ـاس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ـوب الـخ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ــاد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80176" y="35881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خــدمــات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59315" y="2621891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حــســـاب الـمـــســتــخــدم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1699" y="3525230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تـحــويــ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23682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en-US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الَّـذي يـســتـضـيــف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Times New Roman" panose="02020603050405020304" pitchFamily="18" charset="0"/>
              </a:rPr>
              <a:t>فـهـو الَّـذِي يُــقَــدم </a:t>
            </a:r>
            <a:r>
              <a:rPr lang="ar-DZ" sz="44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</a:t>
            </a:r>
            <a:r>
              <a:rPr lang="fr-FR" sz="4400" baseline="-25000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الــبــريــد الإلـكـتـرونـي : </a:t>
            </a: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.............................................................................................................................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150660" y="1600217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الـمُـضـِيـف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39416" y="1597133"/>
            <a:ext cx="3492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الـح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ـاس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ـوب الـخ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ــاد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</a:rPr>
              <a:t>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680176" y="358813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خــدمــات 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59315" y="2621891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حــســـاب الـمـــســتــخــدم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081699" y="3525230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تـحــويــ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83432" y="4582100"/>
            <a:ext cx="102971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ـظ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ـم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ـزيـ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ـن رس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ائ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ـل إل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رونــ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... إلــخ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4941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7" grpId="0" animBg="1"/>
      <p:bldP spid="8" grpId="0" animBg="1"/>
      <p:bldP spid="9" grpId="0" animBg="1"/>
      <p:bldP spid="11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يـكـون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مُــتَّــصِـلًا بـهـا، بـحــيــث يــتـغــيَّــر هــذا الاســم حــســب نــوع عــمـل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30316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يـكـون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مُــتَّــصِـلًا بـهـا، بـحــيــث يــتـغــيَّــر هــذا الاســم حــســب نــوع عــمـل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335234" y="1556792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الـحَــقْــل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59597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يـكـون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مُــتَّــصِـلًا بـهـا، بـحــيــث يــتـغــيَّــر هــذا الاســم حــســب نــوع عــمـل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335234" y="1556792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الـحَــقْــل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83432" y="1556792"/>
            <a:ext cx="231180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الــشــبــكــة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209680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يـكـون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مُــتَّــصِـلًا بـهـا، بـحــيــث يــتـغــيَّــر هــذا الاســم حــســب نــوع عــمـل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335234" y="1556792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الـحَــقْــل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5760" y="2594177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الـحـاسـوب الـمُــضِـيــف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83432" y="1556792"/>
            <a:ext cx="231180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الــشــبــكــة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88677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0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أتـذكـر</a:t>
            </a:r>
            <a:r>
              <a:rPr lang="ar-DZ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( 2. مـكــونــات عــنـوان الـبــريــد الإلـكــتــرونـي ــ تـابـع )</a:t>
            </a:r>
            <a:endParaRPr lang="fr-FR" sz="40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algn="just" rtl="1">
              <a:lnSpc>
                <a:spcPct val="140000"/>
              </a:lnSpc>
              <a:buFont typeface="Wingdings" panose="05000000000000000000" pitchFamily="2" charset="2"/>
              <a:buChar char="v"/>
            </a:pPr>
            <a:r>
              <a:rPr lang="ar-DZ" sz="4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اســم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ويُـمَـثِّـلُ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الّـتي يـكـون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</a:t>
            </a:r>
            <a:r>
              <a:rPr lang="ar-DZ" sz="4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مُــتَّــصِـلًا بـهـا، بـحــيــث يــتـغــيَّــر هــذا الاســم حــســب نــوع عــمـل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gov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edu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335234" y="1556792"/>
            <a:ext cx="198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DZ" sz="4400" b="1" dirty="0">
                <a:solidFill>
                  <a:srgbClr val="0070C0"/>
                </a:solidFill>
                <a:cs typeface="+mj-cs"/>
              </a:rPr>
              <a:t>الـحَــقْــل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935760" y="2594177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الـحـاسـوب الـمُــضِـيــف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400256" y="4365104"/>
            <a:ext cx="25200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الـمُــض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ِ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يــف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83432" y="1556792"/>
            <a:ext cx="231180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الــشــبــكــة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9021585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7" grpId="0" animBg="1"/>
      <p:bldP spid="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تــقــيـــيـــم 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الإلـكــتــرونــي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اذْكُــرْ بَـعْــضَ الإيـجـابــيــات والـمَــنَــافِــع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الِّـتِي </a:t>
            </a:r>
            <a:r>
              <a:rPr lang="ar-DZ" sz="44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اسْــتَــفَـــدْتَـهـَـا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مـن الـبــريـــد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الإلــكــتــرونـي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 smtClean="0">
                <a:solidFill>
                  <a:srgbClr val="00B050"/>
                </a:solidFill>
              </a:rPr>
              <a:t>–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إيـجــابــيــات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04679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إيـجــابــيــات الـبـــريــــد الإلـكــتــرونــي</a:t>
            </a:r>
            <a:r>
              <a:rPr lang="ar-DZ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كُــلْــفَــةُ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الــتــواصــل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قَــدْ تــكــون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تَــمَــامًــا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نــقــل الـرســائــل يــكـون بـ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بـغَـضِ الـنَـظَــرِ عـن الـمـكـان والـزمــان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57003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إيـجــابــيــات الـبـــريــــد الإلـكــتــرونــي</a:t>
            </a:r>
            <a:r>
              <a:rPr lang="ar-DZ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كُــلْــفَــةُ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الــتــواصــل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قَــدْ تــكــون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تَــمَــامًــا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نــقــل الـرســائــل يــكـون بـ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بـغَـضِ الـنَـظَــرِ عـن الـمـكـان والـزمــان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19736" y="1514940"/>
            <a:ext cx="31680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مُــنْــخَــفِــضَــة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5290" y="2419199"/>
            <a:ext cx="30960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مُــنْــعَـــدِمَــةً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37201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إيـجــابــيــات الـبـــريــــد الإلـكــتــرونــي</a:t>
            </a:r>
            <a:r>
              <a:rPr lang="ar-DZ" b="1" dirty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: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كُــلْــفَــةُ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الــتــواصــل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قَــدْ تــكــون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تَــمَــامًــا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نــقــل الـرســائــل يــكـون بـ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 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بـغَـضِ الـنَـظَــرِ عـن الـمـكـان والـزمــان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719736" y="1514940"/>
            <a:ext cx="31680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مُــنْــخَــفِــضَــة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25290" y="2419199"/>
            <a:ext cx="30960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مُــنْــعَـــدِمَــةً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83432" y="3690138"/>
            <a:ext cx="460851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سُـــرْعَـــةٍ فَـــائِـــقَـــةٍ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19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الـبــريـــد 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مــحــتـــوى الــرســائـــل وذلـك مــن خـــلال خــاصــيــة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الــتــواصــل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بــحــيــث لا يــحـــتـــاج إلــى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69457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الـبــريـــد 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مــحــتـــوى الــرســائـــل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وذلـك مــن خـــلال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خــاصــيــة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الــتــواصــل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بــحــيــث لا يــحـــتـــاج إلــى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544272" y="1512510"/>
            <a:ext cx="20879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تَـــنَــوُع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841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الـبــريـــد 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مــحــتـــوى الــرســائـــل وذلـك مــن خـــلال خــاصــيــة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الــتــواصــل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بــحــيــث لا يــحـــتـــاج إلــى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544272" y="1512510"/>
            <a:ext cx="20879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تَـــنَــوُع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47728" y="2435281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الـمــلــفــات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الـمُــرْفـَـقَــة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22277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الـبــريـــد 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مــحــتـــوى الــرســائـــل وذلـك مــن خـــلال خــاصــيــة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الــتــواصــل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بــحــيــث لا يــحـــتـــاج إلــى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544272" y="1512510"/>
            <a:ext cx="20879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تَـــنَــوُع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47728" y="2435281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الـمــلــفــات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الـمُــرْفـَـقَــة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1422" y="3701896"/>
            <a:ext cx="28668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مُــبَـــاشـــر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ًا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70979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إيـجــابــيــات الـبــريـــد 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مــحــتـــوى الــرســائـــل وذلـك مــن خـــلال خــاصــيــة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الــتــواصــل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يــكـون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بــحــيــث لا يــحـــتـــاج إلــى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544272" y="1512510"/>
            <a:ext cx="20879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تَـــنَــوُع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647728" y="2435281"/>
            <a:ext cx="51845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الـمــلــفــات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الـمُــرْفـَـقَــة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651422" y="3701896"/>
            <a:ext cx="286687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مُــبَـــاشـــر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ًا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47928" y="491358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وَســـاطَـــة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09561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إيـجــابــيــات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الـبــريـــد الإلـكــتــرونـي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ــ تــابـع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إلــغـــاء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جــمــيــع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90284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000" b="1" dirty="0">
                <a:solidFill>
                  <a:srgbClr val="00B050"/>
                </a:solidFill>
                <a:cs typeface="+mj-cs"/>
              </a:rPr>
              <a:t>إيـجــابــيــات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الـبــريـــد الإلـكــتــرونـي</a:t>
            </a:r>
            <a:r>
              <a:rPr lang="ar-DZ" sz="40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ــ تــابـع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إلــغـــاء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جــمــيــع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99075" y="1511678"/>
            <a:ext cx="70567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الـحـواجـــز الإداريــة والـجــغـــرافــيـة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54034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تــقــيـــيـــم 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الإلـكــتــرونــي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بَـــيِّــنْ بَــعْــضَ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الـسِـــلْــبِـــيَـــات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الِّـتِي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وَاجَـــهْـــتَــهَــا عـــنــد اســتــعـــمــالــك لـلــبـــريــــد الإلــكـــتـــرونــي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–  ســلــبــيــات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80926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</a:rPr>
              <a:t>ســلــبــيــات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حَــتْــمِــيَــة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حــواســيــب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بــرامــج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الأنــتــرنــت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ضـعــف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قــد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واِنْــتِـهَــاكِ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الـمــســتـخـــدمــيــن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19307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</a:rPr>
              <a:t>ســلــبــيــات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حَــتْــمِــيَــة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حــواســيــب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بــرامــج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الأنــتــرنــت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ضـعــف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قــد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واِنْــتِـهَــاكِ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الـمــســتـخـــدمــيــن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491223"/>
            <a:ext cx="7632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اســتـغــلال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وســائــل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كــتــرون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896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</a:rPr>
              <a:t>ســلــبــيــات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حَــتْــمِــيَــة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حــواســيــب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بــرامــج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الأنــتــرنــت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ضـعــف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قــد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واِنْــتِـهَــاكِ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الـمــســتـخـــدمــيــن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491223"/>
            <a:ext cx="7632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اســتـغــلال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وســائــل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كــتــرون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0216" y="3422410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الأَمْ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760413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</a:rPr>
              <a:t>ســلــبــيــات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حَــتْــمِــيَــة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حــواســيــب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بــرامــج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الأنــتــرنــت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ضـعــف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قــد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واِنْــتِـهَــاكِ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الـمــســتـخـــدمــيــن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491223"/>
            <a:ext cx="7632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اســتـغــلال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وســائــل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كــتــرون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0216" y="3422410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الأَمْ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79313" y="344930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تَــتَـعَــرَضُ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59336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</a:rPr>
              <a:t>ســلــبــيــات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حَــتْــمِــيَــة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حــواســيــب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بــرامــج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الأنــتــرنــت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ضـعــف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قــد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واِنْــتِـهَــاكِ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الـمــســتـخـــدمــيــن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491223"/>
            <a:ext cx="7632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اســتـغــلال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وســائــل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كــتــرون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0216" y="3422410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الأَمْ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79313" y="344930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تَــتَـعَــرَضُ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15680" y="4373650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لِاخْ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ـتِــرَاقِ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54252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b="1" dirty="0">
                <a:solidFill>
                  <a:srgbClr val="00B050"/>
                </a:solidFill>
              </a:rPr>
              <a:t>ســلــبــيــات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الـبـــريــــد الإلـكــتــرونــي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حَــتْــمِــيَــة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حــواســيــب ،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بــرامــج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الأنــتــرنــت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ضـعــف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بـحـيـث قــد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حــســابــات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الـبــريـــد الإلـكــتــرونـي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واِنْــتِـهَــاكِ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الـمــســتـخـــدمــيــن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491223"/>
            <a:ext cx="76328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اســتـغــلال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وســائــل 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إلـ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كــتــرون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ـي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040216" y="3422410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الأَمْ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ن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979313" y="3449304"/>
            <a:ext cx="26642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تَــتَـعَــرَضُ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15680" y="4373650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لِاخْ</a:t>
            </a:r>
            <a:r>
              <a:rPr lang="ar-DZ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</a:t>
            </a: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ـتِــرَاقِ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824192" y="5283260"/>
            <a:ext cx="309296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خُــصُــوصِــيَــة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1570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</a:rPr>
              <a:t>ســلــبــيــات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الـبــريـــد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ســـوء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اســـتــغـــلالــه مــن طَـــرِفِ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لِــنَــشْــرِ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الـرسـائــل الـغــيــر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والِّـتِي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تُـسْــتَـغَــلُ لِأَغْــرَاضٍ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أو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92369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</a:rPr>
              <a:t>ســلــبــيــات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الـبــريـــد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ســـوء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اســـتــغـــلالــه مــن طَـــرِفِ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لِــنَــشْــرِ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الـرسـائــل الـغــيــر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والِّـتِي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تُـسْــتَـغَــلُ لِأَغْــرَاضٍ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أو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515074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الـقَــرَاصِــنَــة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62980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</a:rPr>
              <a:t>ســلــبــيــات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الـبــريـــد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ســـوء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اســـتــغـــلالــه مــن طَـــرِفِ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لِــنَــشْــرِ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الـرسـائــل الـغــيــر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والِّـتِي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تُـسْــتَـغَــلُ لِأَغْــرَاضٍ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أو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515074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الـقَــرَاصِــنَــة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2412746"/>
            <a:ext cx="8640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الـبــرمــجــيــات الـخــبــيـــثــة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Malwares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9052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</a:rPr>
              <a:t>ســلــبــيــات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الـبــريـــد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ســـوء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اســـتــغـــلالــه مــن طَـــرِفِ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لِــنَــشْــرِ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الـرسـائــل الـغــيــر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والِّـتِي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تُـسْــتَـغَــلُ لِأَغْــرَاضٍ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أو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515074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الـقَــرَاصِــنَــة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2412746"/>
            <a:ext cx="8640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الـبــرمــجــيــات الـخــبــيـــثــة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Malwares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49026" y="3678197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مَــرْغُــوبَــة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60982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(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.3 </a:t>
            </a:r>
            <a:r>
              <a:rPr lang="ar-DZ" sz="4000" b="1" dirty="0">
                <a:solidFill>
                  <a:srgbClr val="00B050"/>
                </a:solidFill>
              </a:rPr>
              <a:t>ســلــبــيــات </a:t>
            </a:r>
            <a:r>
              <a:rPr lang="ar-DZ" sz="40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الـبــريـــد </a:t>
            </a:r>
            <a:r>
              <a:rPr lang="ar-DZ" sz="4000" b="1" dirty="0">
                <a:solidFill>
                  <a:srgbClr val="00B050"/>
                </a:solidFill>
                <a:cs typeface="Times New Roman" panose="02020603050405020304" pitchFamily="18" charset="0"/>
              </a:rPr>
              <a:t>الإلـكــتــرونـي</a:t>
            </a:r>
            <a:r>
              <a:rPr lang="ar-DZ" sz="4000" b="1" dirty="0">
                <a:solidFill>
                  <a:srgbClr val="00B050"/>
                </a:solidFill>
                <a:latin typeface="Liberation Serif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ــ تــابـع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ســـوء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اســـتــغـــلالــه مــن طَـــرِفِ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لِــنَــشْــرِ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الـرسـائــل الـغــيــر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والِّـتِي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تُـسْــتَـغَــلُ لِأَغْــرَاضٍ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أو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83432" y="1515074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الـقَــرَاصِــنَــة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2412746"/>
            <a:ext cx="8640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الـبــرمــجــيــات الـخــبــيـــثــة </a:t>
            </a:r>
            <a:r>
              <a:rPr lang="fr-FR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(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Malwares </a:t>
            </a:r>
            <a:r>
              <a:rPr lang="fr-FR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)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349026" y="3678197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مَــرْغُــوبَــة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869306" y="4914274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تِــجَــارِيَـــة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48221" y="4910826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>
              <a:tabLst>
                <a:tab pos="357188" algn="l"/>
              </a:tabLst>
            </a:pPr>
            <a:r>
              <a:rPr lang="ar-SA" sz="4400" b="1" dirty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إِشْــهَـــارِيَــةٍ</a:t>
            </a:r>
            <a:endParaRPr lang="fr-FR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9858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مــنــزلـي :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35000"/>
              </a:lnSpc>
              <a:buNone/>
            </a:pPr>
            <a:r>
              <a:rPr lang="ar-DZ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اشْـتَـكَـى إِلَــيْــكَ زَمِــيــلٌ فـي الـصَـفِّ مِـنْ أنَّ حِــسَـــابَ بَـــرِيـــدِه الإلـكــتــرونـي </a:t>
            </a:r>
            <a:r>
              <a:rPr lang="ar-DZ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سَــهْــلٌ للاخــتــراق </a:t>
            </a:r>
            <a:r>
              <a:rPr lang="ar-DZ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فــمــا الـنــصــائــح الَّـتِي سَــتُـقَــدِّمُـهـا لــه لـيـكــون حِـــسَـــابُــهُ أَكْــثَــرَ أَمَـــانًــا مـن تـلـك الأخــطــار ؟ </a:t>
            </a:r>
            <a:endParaRPr lang="fr-FR" sz="4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79681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تـصــحــيــح الـواجــب الـمــنــزلـي :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اســتــغـــلال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بــرامــج الـحــمـــايـــة ( مــضــاد الـفــيـــروســات، الـجِــدَار الـنَّــارِي ... ) مـع تـحــديــثـهـا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بـانـتــظــام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.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25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تـجــنــب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تــبــادل الـمــلــفــات والـبــرامــج  مـع أشــخــاص غــيــر مَــوْثُــوقٌ بِـهِـمْ ، وتـجــاهــل الــرســائــل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الـغــيــر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مَــرْغُـــوبٍ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فــيـهَـا لَا سِــيَــمَــا الـمُــرِيـــبَـة مـنـهـا 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770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تـصــحــيــح الـواجــب الـمــنــزلـي  ـــ  تـــابــع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اســتـخــدام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كــلــمــة ســر مَــتِــيــنَـة تَـضُـمُ مَــزِيـجًـا مـن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حُــرُوفِ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رُمُـوزِ و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أرْقَــامِ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( طُـول الـكـلـمـة عـلى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 (En-têtes)"/>
                <a:cs typeface="+mj-cs"/>
              </a:rPr>
              <a:t>الأق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ـل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12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)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عـــدم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مــشـــاركــة كــلــمــة الـســـر مـع الـغــيــر وحــفــظـهـا فـي مــكــان آمِــنٍ مـع تــغــيــيــرهـا بِـشَــكْــلٍ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دَوْرِيٍ 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عـــدم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اســتــعـــمــال نَـــفْـــس كــلــمــة الـســـر فـي عِـــدَّةِ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حــسـابــات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الـبــريـــد 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الإلــكــتــرونـي، بـل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يــنــبـغـي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 smtClean="0">
                <a:solidFill>
                  <a:srgbClr val="FF0000"/>
                </a:solidFill>
                <a:latin typeface="Times New Roman (En-têtes)"/>
                <a:cs typeface="+mj-cs"/>
              </a:rPr>
              <a:t>تـخــصــيـص </a:t>
            </a:r>
            <a:endParaRPr lang="fr-FR" sz="4000" dirty="0">
              <a:solidFill>
                <a:srgbClr val="FF000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07338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تـصــحــيــح الـواجــب الـمــنــزلـي  ـــ  تـــابــع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 smtClean="0">
                <a:solidFill>
                  <a:srgbClr val="FF0000"/>
                </a:solidFill>
                <a:latin typeface="Times New Roman (En-têtes)"/>
                <a:cs typeface="+mj-cs"/>
              </a:rPr>
              <a:t>تــخــصــيــص</a:t>
            </a: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كــلــمــة </a:t>
            </a:r>
            <a:r>
              <a:rPr lang="ar-SA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ســـر مَــتِــيــنَـة وَفَــرِيــدَة لــكــل حــســاب بــريـــد إلـكـتــرونـي </a:t>
            </a:r>
            <a:endParaRPr lang="ar-DZ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  <a:p>
            <a:pPr marL="0" indent="0" algn="just" rtl="1">
              <a:lnSpc>
                <a:spcPct val="114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تــفــعــيــل خــاصــيــة الــمُــصَـــادَقَـــة الــثُــنَــائِــيَــة بـحــيــث فـي الـمــرحــلــة 1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يَــتِــمُّ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إدخـــال كــلــمــة الـسِّـــر وفـي الـمــرحــلــة 2  يــتِــمُّ تَــأْكِــيــد الـوُلُــوجِ وذلـك بـإدخــال شِــفْــرَة نـسْــتَــلِــمُـهـا مـن الـهــاتــف الــشــخــصـي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.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3983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7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تـصــحــيــح الـواجــب الـمــنــزلـي  ـــ  تـــابــع</a:t>
            </a:r>
            <a:endParaRPr lang="fr-FR" sz="4800" b="1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12568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>
            <a:noAutofit/>
          </a:bodyPr>
          <a:lstStyle/>
          <a:p>
            <a:pPr algn="just" rtl="1">
              <a:buFont typeface="Wingdings" panose="05000000000000000000" pitchFamily="2" charset="2"/>
              <a:buChar char="§"/>
            </a:pPr>
            <a:endParaRPr lang="fr-FR" sz="6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─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إغــلاق حــســاب الـبــريــد الإلـكـتــرونـي عــنـد الـخــروج مــنـه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(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Déconnection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)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،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ثُــمَ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مَـــسْـــح آثَـــار الــتــصــفُّــح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(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Historique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وسِــجِــلِ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الـتَّـصَــفُــحِ ( </a:t>
            </a:r>
            <a:r>
              <a:rPr lang="fr-FR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Cookies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) </a:t>
            </a:r>
            <a:r>
              <a:rPr lang="ar-DZ" sz="4000" b="1" dirty="0" smtClean="0">
                <a:solidFill>
                  <a:srgbClr val="002060"/>
                </a:solidFill>
                <a:latin typeface="Times New Roman (En-têtes)"/>
                <a:cs typeface="+mj-cs"/>
              </a:rPr>
              <a:t>خُــصُــوصًــا </a:t>
            </a:r>
            <a:r>
              <a:rPr lang="ar-DZ" sz="4000" b="1" dirty="0">
                <a:solidFill>
                  <a:srgbClr val="002060"/>
                </a:solidFill>
                <a:latin typeface="Times New Roman (En-têtes)"/>
                <a:cs typeface="+mj-cs"/>
              </a:rPr>
              <a:t>عــنــد اسـتــغــلال حــســاب الـبــريـــد الإلـكـتــرونـي فـي جــهــاز شــخــص آخـــر .</a:t>
            </a:r>
            <a:endParaRPr lang="fr-FR" sz="4000" b="1" dirty="0" smtClean="0">
              <a:solidFill>
                <a:srgbClr val="002060"/>
              </a:solidFill>
              <a:latin typeface="Times New Roman (En-têtes)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10/04/2025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3589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75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10/04/2025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888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27961</TotalTime>
  <Words>2161</Words>
  <Application>Microsoft Office PowerPoint</Application>
  <PresentationFormat>Grand écran</PresentationFormat>
  <Paragraphs>379</Paragraphs>
  <Slides>62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62</vt:i4>
      </vt:variant>
    </vt:vector>
  </HeadingPairs>
  <TitlesOfParts>
    <vt:vector size="73" baseType="lpstr">
      <vt:lpstr>Arial Unicode MS</vt:lpstr>
      <vt:lpstr>SimSun</vt:lpstr>
      <vt:lpstr>Arial</vt:lpstr>
      <vt:lpstr>Calibri</vt:lpstr>
      <vt:lpstr>Droid Sans Fallback</vt:lpstr>
      <vt:lpstr>Liberation Serif</vt:lpstr>
      <vt:lpstr>Times New Roman</vt:lpstr>
      <vt:lpstr>Times New Roman (En-têtes)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 :</vt:lpstr>
      <vt:lpstr>الإجــابــة  :</vt:lpstr>
      <vt:lpstr>Présentation PowerPoint</vt:lpstr>
      <vt:lpstr>Présentation PowerPoint</vt:lpstr>
      <vt:lpstr>1) تـعــريــف الـبــريـــد الإلـكــتــرونــي :</vt:lpstr>
      <vt:lpstr>1) تـعــريــف الـبــريـــد الإلـكــتــرونــي :</vt:lpstr>
      <vt:lpstr>أتـذكـر ( 1. تـعــريــف الـبــريـــد الإلـكــتــرونــي )</vt:lpstr>
      <vt:lpstr>أتـذكـر ( 1. تـعــريــف الـبــريـــد الإلـكــتــرونــي )</vt:lpstr>
      <vt:lpstr>أتـذكـر ( 1. تـعــريــف الـبــريـــد الإلـكــتــرونــي )</vt:lpstr>
      <vt:lpstr>أتـذكـر ( 1. تـعــريــف الـبــريـــد الإلـكــتــرونــي )</vt:lpstr>
      <vt:lpstr>أتـذكـر ( 1. تـعــريــف الـبــريـــد الإلـكــتــرونــي )</vt:lpstr>
      <vt:lpstr>أتـذكـر ( 1. تـعــريــف الـبــريـــد الإلـكــتــرونــي )</vt:lpstr>
      <vt:lpstr>2) مـكــونــات عــنــوان الـبــريـــد الإلـكــتــرونــي :</vt:lpstr>
      <vt:lpstr>2) مـكــونــات عــنــوان الـبــريـــد الإلـكــتــرونــي :</vt:lpstr>
      <vt:lpstr>أتـذكـر ( 2. مـكــونــات عــنــوان الـبــريـــد الإلـكــتــرونــي )</vt:lpstr>
      <vt:lpstr>أتـذكـر ( 2. مـكــونــات عــنــوان الـبــريـــد الإلـكــتــرونــي )</vt:lpstr>
      <vt:lpstr>أتـذكـر ( 2. مـكــونــات عــنــوان الـبــريـــد الإلـكــتــرونــي )</vt:lpstr>
      <vt:lpstr>أتـذكـر ( 2. مـكــونــات عــنــوان الـبــريـــد الإلـكــتــرونــي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أتـذكـر ( 2. مـكــونــات عــنـوان الـبــريــد الإلـكــتــرونـي ــ تـابـع )</vt:lpstr>
      <vt:lpstr>3) تــقــيـــيـــم الـبــريـــد الإلـكــتــرونــي :</vt:lpstr>
      <vt:lpstr>أتـذكـر ( 1.3 إيـجــابــيــات الـبـــريــــد الإلـكــتــرونــي : )</vt:lpstr>
      <vt:lpstr>أتـذكـر ( 1.3 إيـجــابــيــات الـبـــريــــد الإلـكــتــرونــي : )</vt:lpstr>
      <vt:lpstr>أتـذكـر ( 1.3 إيـجــابــيــات الـبـــريــــد الإلـكــتــرونــي : )</vt:lpstr>
      <vt:lpstr>أتـذكـر ( 1.3 إيـجــابــيــات الـبــريـــد الإلـكــتــرونـي ــ تــابـع )</vt:lpstr>
      <vt:lpstr>أتـذكـر ( 1.3 إيـجــابــيــات الـبــريـــد الإلـكــتــرونـي ــ تــابـع )</vt:lpstr>
      <vt:lpstr>أتـذكـر ( 1.3 إيـجــابــيــات الـبــريـــد الإلـكــتــرونـي ــ تــابـع )</vt:lpstr>
      <vt:lpstr>أتـذكـر ( 1.3 إيـجــابــيــات الـبــريـــد الإلـكــتــرونـي ــ تــابـع )</vt:lpstr>
      <vt:lpstr>أتـذكـر ( 1.3 إيـجــابــيــات الـبــريـــد الإلـكــتــرونـي ــ تــابـع )</vt:lpstr>
      <vt:lpstr>أتـذكـر ( 1.3 إيـجــابــيــات الـبــريـــد الإلـكــتــرونـي ــ تــابـع )</vt:lpstr>
      <vt:lpstr>أتـذكـر ( 1.3 إيـجــابــيــات الـبــريـــد الإلـكــتــرونـي ــ تــابـع )</vt:lpstr>
      <vt:lpstr>3) تــقــيـــيـــم الـبــريـــد الإلـكــتــرونــي :</vt:lpstr>
      <vt:lpstr>أتـذكـر ( 2.3 ســلــبــيــات الـبـــريــــد الإلـكــتــرونــي )</vt:lpstr>
      <vt:lpstr>أتـذكـر ( 2.3 ســلــبــيــات الـبـــريــــد الإلـكــتــرونــي )</vt:lpstr>
      <vt:lpstr>أتـذكـر ( 2.3 ســلــبــيــات الـبـــريــــد الإلـكــتــرونــي )</vt:lpstr>
      <vt:lpstr>أتـذكـر ( 2.3 ســلــبــيــات الـبـــريــــد الإلـكــتــرونــي )</vt:lpstr>
      <vt:lpstr>أتـذكـر ( 2.3 ســلــبــيــات الـبـــريــــد الإلـكــتــرونــي )</vt:lpstr>
      <vt:lpstr>أتـذكـر ( 2.3 ســلــبــيــات الـبـــريــــد الإلـكــتــرونــي )</vt:lpstr>
      <vt:lpstr>أتـذكـر ( 2.3 ســلــبــيــات الـبــريـــد الإلـكــتــرونـي ــ تــابـع )</vt:lpstr>
      <vt:lpstr>أتـذكـر ( 2.3 ســلــبــيــات الـبــريـــد الإلـكــتــرونـي ــ تــابـع )</vt:lpstr>
      <vt:lpstr>أتـذكـر ( 2.3 ســلــبــيــات الـبــريـــد الإلـكــتــرونـي ــ تــابـع )</vt:lpstr>
      <vt:lpstr>أتـذكـر ( 2.3 ســلــبــيــات الـبــريـــد الإلـكــتــرونـي ــ تــابـع )</vt:lpstr>
      <vt:lpstr>أتـذكـر ( 2.3 ســلــبــيــات الـبــريـــد الإلـكــتــرونـي ــ تــابـع )</vt:lpstr>
      <vt:lpstr>واجــب مــنــزلـي :</vt:lpstr>
      <vt:lpstr> تـصــحــيــح الـواجــب الـمــنــزلـي :</vt:lpstr>
      <vt:lpstr> تـصــحــيــح الـواجــب الـمــنــزلـي  ـــ  تـــابــع</vt:lpstr>
      <vt:lpstr> تـصــحــيــح الـواجــب الـمــنــزلـي  ـــ  تـــابــع</vt:lpstr>
      <vt:lpstr> تـصــحــيــح الـواجــب الـمــنــزلـي  ـــ  تـــابــع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848</cp:revision>
  <dcterms:created xsi:type="dcterms:W3CDTF">2015-11-30T21:00:22Z</dcterms:created>
  <dcterms:modified xsi:type="dcterms:W3CDTF">2025-04-10T09:22:15Z</dcterms:modified>
</cp:coreProperties>
</file>