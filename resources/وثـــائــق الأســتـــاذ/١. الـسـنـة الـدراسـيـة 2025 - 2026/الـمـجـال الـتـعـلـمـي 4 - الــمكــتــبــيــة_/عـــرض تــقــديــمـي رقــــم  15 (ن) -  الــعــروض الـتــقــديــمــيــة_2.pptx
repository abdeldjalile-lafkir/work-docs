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9"/>
  </p:notesMasterIdLst>
  <p:sldIdLst>
    <p:sldId id="273" r:id="rId3"/>
    <p:sldId id="549" r:id="rId4"/>
    <p:sldId id="258" r:id="rId5"/>
    <p:sldId id="447" r:id="rId6"/>
    <p:sldId id="756" r:id="rId7"/>
    <p:sldId id="292" r:id="rId8"/>
    <p:sldId id="695" r:id="rId9"/>
    <p:sldId id="685" r:id="rId10"/>
    <p:sldId id="984" r:id="rId11"/>
    <p:sldId id="1041" r:id="rId12"/>
    <p:sldId id="1040" r:id="rId13"/>
    <p:sldId id="1039" r:id="rId14"/>
    <p:sldId id="1038" r:id="rId15"/>
    <p:sldId id="698" r:id="rId16"/>
    <p:sldId id="697" r:id="rId17"/>
    <p:sldId id="991" r:id="rId18"/>
    <p:sldId id="1028" r:id="rId19"/>
    <p:sldId id="990" r:id="rId20"/>
    <p:sldId id="989" r:id="rId21"/>
    <p:sldId id="988" r:id="rId22"/>
    <p:sldId id="1029" r:id="rId23"/>
    <p:sldId id="851" r:id="rId24"/>
    <p:sldId id="1068" r:id="rId25"/>
    <p:sldId id="1080" r:id="rId26"/>
    <p:sldId id="969" r:id="rId27"/>
    <p:sldId id="996" r:id="rId28"/>
    <p:sldId id="995" r:id="rId29"/>
    <p:sldId id="994" r:id="rId30"/>
    <p:sldId id="993" r:id="rId31"/>
    <p:sldId id="992" r:id="rId32"/>
    <p:sldId id="1075" r:id="rId33"/>
    <p:sldId id="1042" r:id="rId34"/>
    <p:sldId id="1045" r:id="rId35"/>
    <p:sldId id="999" r:id="rId36"/>
    <p:sldId id="998" r:id="rId37"/>
    <p:sldId id="997" r:id="rId38"/>
    <p:sldId id="1076" r:id="rId39"/>
    <p:sldId id="1032" r:id="rId40"/>
    <p:sldId id="1050" r:id="rId41"/>
    <p:sldId id="1077" r:id="rId42"/>
    <p:sldId id="1049" r:id="rId43"/>
    <p:sldId id="1048" r:id="rId44"/>
    <p:sldId id="972" r:id="rId45"/>
    <p:sldId id="973" r:id="rId46"/>
    <p:sldId id="1006" r:id="rId47"/>
    <p:sldId id="1005" r:id="rId48"/>
    <p:sldId id="1004" r:id="rId49"/>
    <p:sldId id="1003" r:id="rId50"/>
    <p:sldId id="1002" r:id="rId51"/>
    <p:sldId id="1053" r:id="rId52"/>
    <p:sldId id="1055" r:id="rId53"/>
    <p:sldId id="1054" r:id="rId54"/>
    <p:sldId id="1057" r:id="rId55"/>
    <p:sldId id="1007" r:id="rId56"/>
    <p:sldId id="1058" r:id="rId57"/>
    <p:sldId id="1060" r:id="rId58"/>
    <p:sldId id="1059" r:id="rId59"/>
    <p:sldId id="975" r:id="rId60"/>
    <p:sldId id="976" r:id="rId61"/>
    <p:sldId id="1010" r:id="rId62"/>
    <p:sldId id="1074" r:id="rId63"/>
    <p:sldId id="1073" r:id="rId64"/>
    <p:sldId id="1072" r:id="rId65"/>
    <p:sldId id="1071" r:id="rId66"/>
    <p:sldId id="1070" r:id="rId67"/>
    <p:sldId id="977" r:id="rId68"/>
    <p:sldId id="1017" r:id="rId69"/>
    <p:sldId id="1016" r:id="rId70"/>
    <p:sldId id="1015" r:id="rId71"/>
    <p:sldId id="1014" r:id="rId72"/>
    <p:sldId id="978" r:id="rId73"/>
    <p:sldId id="1020" r:id="rId74"/>
    <p:sldId id="1019" r:id="rId75"/>
    <p:sldId id="1018" r:id="rId76"/>
    <p:sldId id="979" r:id="rId77"/>
    <p:sldId id="1062" r:id="rId78"/>
    <p:sldId id="1065" r:id="rId79"/>
    <p:sldId id="980" r:id="rId80"/>
    <p:sldId id="1021" r:id="rId81"/>
    <p:sldId id="1022" r:id="rId82"/>
    <p:sldId id="1079" r:id="rId83"/>
    <p:sldId id="1078" r:id="rId84"/>
    <p:sldId id="982" r:id="rId85"/>
    <p:sldId id="1024" r:id="rId86"/>
    <p:sldId id="1025" r:id="rId87"/>
    <p:sldId id="983" r:id="rId88"/>
    <p:sldId id="1027" r:id="rId89"/>
    <p:sldId id="1026" r:id="rId90"/>
    <p:sldId id="1067" r:id="rId91"/>
    <p:sldId id="1066" r:id="rId92"/>
    <p:sldId id="965" r:id="rId93"/>
    <p:sldId id="1030" r:id="rId94"/>
    <p:sldId id="1031" r:id="rId95"/>
    <p:sldId id="1036" r:id="rId96"/>
    <p:sldId id="1037" r:id="rId97"/>
    <p:sldId id="338" r:id="rId9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al" initials="D" lastIdx="0" clrIdx="0">
    <p:extLst>
      <p:ext uri="{19B8F6BF-5375-455C-9EA6-DF929625EA0E}">
        <p15:presenceInfo xmlns:p15="http://schemas.microsoft.com/office/powerpoint/2012/main" userId="Du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88" autoAdjust="0"/>
    <p:restoredTop sz="94434" autoAdjust="0"/>
  </p:normalViewPr>
  <p:slideViewPr>
    <p:cSldViewPr>
      <p:cViewPr varScale="1">
        <p:scale>
          <a:sx n="67" d="100"/>
          <a:sy n="67" d="100"/>
        </p:scale>
        <p:origin x="65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1232"/>
    </p:cViewPr>
  </p:sorterViewPr>
  <p:notesViewPr>
    <p:cSldViewPr>
      <p:cViewPr varScale="1">
        <p:scale>
          <a:sx n="57" d="100"/>
          <a:sy n="57" d="100"/>
        </p:scale>
        <p:origin x="280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viewProps" Target="viewProp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commentAuthors" Target="commentAuthor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05/04/2026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086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7435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05/04/2026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05/04/2026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05/04/2026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05/04/2026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05/04/2026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05/04/2026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05/04/2026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05/04/2026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05/04/2026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05/04/2026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05/04/2026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05/04/2026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05/04/2026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05/04/2026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05/04/2026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05/04/2026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05/04/2026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05/04/2026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05/04/2026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05/04/2026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05/04/2026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05/04/2026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05/04/2026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05/04/2026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05/04/2026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05/04/2026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: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ك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ب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يــــ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ــة</a:t>
            </a:r>
            <a:endParaRPr lang="fr-FR" sz="40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05/04/2026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115900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cs typeface="+mj-cs"/>
              </a:rPr>
              <a:t>عـنـد إلـقـاء </a:t>
            </a:r>
            <a:r>
              <a:rPr lang="ar-DZ" sz="4000" b="1" dirty="0" smtClean="0">
                <a:cs typeface="+mj-cs"/>
              </a:rPr>
              <a:t>مـحـاضـرةٍ </a:t>
            </a:r>
            <a:r>
              <a:rPr lang="ar-DZ" sz="4000" b="1" dirty="0">
                <a:cs typeface="+mj-cs"/>
              </a:rPr>
              <a:t>أو تـنـشـيـط </a:t>
            </a:r>
            <a:r>
              <a:rPr lang="ar-DZ" sz="4000" b="1" dirty="0" smtClean="0">
                <a:cs typeface="+mj-cs"/>
              </a:rPr>
              <a:t>دَرْسٍ </a:t>
            </a:r>
            <a:r>
              <a:rPr lang="ar-DZ" sz="4000" b="1" dirty="0">
                <a:cs typeface="+mj-cs"/>
              </a:rPr>
              <a:t>كـثـيـرًا مـا نـسـتـعــمـل </a:t>
            </a:r>
            <a:r>
              <a:rPr lang="ar-DZ" sz="4000" b="1" dirty="0" smtClean="0">
                <a:cs typeface="+mj-cs"/>
              </a:rPr>
              <a:t>جَــهَــازَيْ </a:t>
            </a:r>
            <a:r>
              <a:rPr lang="ar-DZ" sz="4000" b="1" dirty="0">
                <a:cs typeface="+mj-cs"/>
              </a:rPr>
              <a:t>الـحـاســوب </a:t>
            </a:r>
            <a:r>
              <a:rPr lang="ar-DZ" sz="4000" b="1" dirty="0" smtClean="0">
                <a:cs typeface="+mj-cs"/>
              </a:rPr>
              <a:t>والـعــارِض </a:t>
            </a:r>
            <a:r>
              <a:rPr lang="ar-DZ" sz="4000" b="1" dirty="0">
                <a:cs typeface="+mj-cs"/>
              </a:rPr>
              <a:t>الـضـوئـي بِـغَــرَض إيـصـال الـمـعـلـومـات للـحـاضـريـن بـطـريــقـة سـهـلـة </a:t>
            </a:r>
            <a:r>
              <a:rPr lang="ar-DZ" sz="4000" b="1" dirty="0" smtClean="0">
                <a:cs typeface="+mj-cs"/>
              </a:rPr>
              <a:t>ومُــشَــوِّقَــة، </a:t>
            </a:r>
            <a:r>
              <a:rPr lang="ar-DZ" sz="4000" b="1" dirty="0">
                <a:cs typeface="+mj-cs"/>
              </a:rPr>
              <a:t>فــمــا هــي الــوســـيــلــة الَّـتِي نــســتــعــمــلـهـا </a:t>
            </a:r>
            <a:r>
              <a:rPr lang="ar-DZ" sz="4000" b="1" dirty="0" smtClean="0">
                <a:cs typeface="+mj-cs"/>
              </a:rPr>
              <a:t>غَــالِــبًــا </a:t>
            </a:r>
            <a:r>
              <a:rPr lang="ar-DZ" sz="4000" b="1" dirty="0">
                <a:cs typeface="+mj-cs"/>
              </a:rPr>
              <a:t>فـي </a:t>
            </a:r>
            <a:r>
              <a:rPr lang="ar-DZ" sz="4000" b="1" dirty="0" smtClean="0">
                <a:cs typeface="+mj-cs"/>
              </a:rPr>
              <a:t>مِــثْــلِ </a:t>
            </a:r>
            <a:r>
              <a:rPr lang="ar-DZ" sz="4000" b="1" dirty="0">
                <a:cs typeface="+mj-cs"/>
              </a:rPr>
              <a:t>هــذه </a:t>
            </a:r>
            <a:r>
              <a:rPr lang="ar-DZ" sz="4000" b="1" dirty="0" smtClean="0">
                <a:cs typeface="+mj-cs"/>
              </a:rPr>
              <a:t>الــدُرُوسِ والــمُــحَـــاضَــرَاتِ </a:t>
            </a:r>
            <a:r>
              <a:rPr lang="ar-DZ" sz="4000" b="1" dirty="0">
                <a:cs typeface="+mj-cs"/>
              </a:rPr>
              <a:t>؟ </a:t>
            </a:r>
            <a:endParaRPr lang="ar-DZ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>
              <a:cs typeface="+mj-cs"/>
            </a:endParaRPr>
          </a:p>
          <a:p>
            <a:pPr marL="0" indent="0" algn="r" rtl="1">
              <a:buNone/>
            </a:pPr>
            <a:r>
              <a:rPr lang="ar-DZ" sz="4400" b="1" dirty="0"/>
              <a:t>الــوســـيــلــة هــي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ar-DZ" sz="44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endParaRPr lang="ar-DZ" sz="4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2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5773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>
              <a:cs typeface="+mj-cs"/>
            </a:endParaRPr>
          </a:p>
          <a:p>
            <a:pPr marL="0" indent="0" algn="r" rtl="1">
              <a:buNone/>
            </a:pPr>
            <a:r>
              <a:rPr lang="ar-DZ" sz="4400" b="1" dirty="0"/>
              <a:t>الــوســـيــلــة هــي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ar-DZ" sz="44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endParaRPr lang="ar-DZ" sz="4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2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55440" y="3031993"/>
            <a:ext cx="63367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</a:rPr>
              <a:t>الــعُـــرُوض الــتَـــقْـــدِيــــمِـــيَّـــة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47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</a:rPr>
              <a:t>الـعُـــرُوضُ الــتَــقْــدِيـــمِــيَّــة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lnSpc>
                <a:spcPct val="135000"/>
              </a:lnSpc>
            </a:pPr>
            <a:r>
              <a:rPr lang="ar-DZ" altLang="zh-CN" sz="40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ك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ب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يــــ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ــة</a:t>
            </a:r>
            <a:endParaRPr lang="fr-FR" sz="40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05/04/2026</a:t>
            </a:fld>
            <a:endParaRPr lang="fr-BE" sz="2400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587388" y="5081119"/>
            <a:ext cx="7164796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+mj-cs"/>
              </a:rPr>
              <a:t>MS-PowerPoint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Arial" pitchFamily="34" charset="0"/>
                <a:cs typeface="+mj-cs"/>
              </a:rPr>
              <a:t>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Arial" pitchFamily="34" charset="0"/>
                <a:cs typeface="+mj-cs"/>
              </a:rPr>
              <a:t>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 )</a:t>
            </a:r>
            <a:endParaRPr lang="ar-SA" altLang="zh-CN" sz="4000" b="1" dirty="0" smtClean="0">
              <a:ln w="0"/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2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مَــــدْخَـــــل إِلَـى الـ</a:t>
            </a:r>
            <a:r>
              <a:rPr lang="ar-DZ" altLang="zh-CN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ب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ــرنـ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ــامــج  </a:t>
            </a:r>
            <a:r>
              <a:rPr lang="fr-FR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MS-PowerPoint</a:t>
            </a:r>
            <a:endParaRPr lang="ar-SA" altLang="zh-CN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الــمـــجــــال </a:t>
            </a:r>
            <a:r>
              <a:rPr lang="ar-DZ" altLang="zh-CN" sz="4000" b="1" u="sng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الــتَـــعَــــلُـــمِــي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  :  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الـــ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م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ك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ت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ب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يــــ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ــة</a:t>
            </a:r>
            <a:endParaRPr lang="fr-FR" sz="40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05/04/2026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573437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مــفــاهــيــم أســاســيــة عــن 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MS-PowerPoin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مَــاذَا </a:t>
            </a:r>
            <a:r>
              <a:rPr lang="ar-DZ" sz="4400" b="1" dirty="0" smtClean="0"/>
              <a:t>يُــمَــثِــلُ لَــكُــمْ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بَـــرْنَـــامَــجُ 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تــعـــريـــف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الـبــرنــامـج 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MS-PowerPoint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848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تـعـــريــف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الـبــرنــامـج 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هـــو مــن أَحَـــدِ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الــمُــمُـــيَّـــزَةِ الـمَــوْجُـــودَةِ ضِــمْــنَ الــمَــجْــمُــوعَــةِ الــمَــكْـــتَـــبِـــيَــةِ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والَّـذِي يَــسْــمَـحُ بِـإِنْــشَــاءِ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أكــثــر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اِحْــتِــرَافِـــيَــة بِــفَــضْــلِ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الــمُــتَـــنَـــوِعَـــةِ الَّـتِي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يُـــوَفِّــــرُهَــا للــمـــســـتـــخـــدم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4701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تـعـــريــف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الـبــرنــامـج 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هـــو مــن أَحَـــدِ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الــمُــمُـــيَّـــزَةِ الـمَــوْجُـــودَةِ ضِــمْــنَ الــمَــجْــمُــوعَــةِ الــمَــكْـــتَـــبِـــيَــةِ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والَّـذِي يَــسْــمَـحُ بِـإِنْــشَــاءِ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أكــثــر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اِحْــتِــرَافِـــيَــة بِــفَــضْــلِ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الــمُــتَـــنَـــوِعَـــةِ الَّـتِي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يُـــوَفِّــــرُهَــا للــمـــســـتـــخـــدم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663952" y="1590920"/>
            <a:ext cx="27003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الـبــرامــج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938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تـعـــريــف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الـبــرنــامـج 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هـــو مــن أَحَـــدِ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الــمُــمُـــيَّـــزَةِ الـمَــوْجُـــودَةِ ضِــمْــنَ الــمَــجْــمُــوعَــةِ الــمَــكْـــتَـــبِـــيَــةِ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والَّـذِي يَــسْــمَـحُ بِـإِنْــشَــاءِ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أكــثــر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اِحْــتِــرَافِـــيَــة بِــفَــضْــلِ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الــمُــتَـــنَـــوِعَـــةِ الَّـتِي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يُـــوَفِّــــرُهَــا للــمـــســـتـــخـــدم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663952" y="1590920"/>
            <a:ext cx="27003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الـبــرامــج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566593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 Office</a:t>
            </a:r>
          </a:p>
        </p:txBody>
      </p:sp>
    </p:spTree>
    <p:extLst>
      <p:ext uri="{BB962C8B-B14F-4D97-AF65-F5344CB8AC3E}">
        <p14:creationId xmlns:p14="http://schemas.microsoft.com/office/powerpoint/2010/main" val="127796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تـعـــريــف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الـبــرنــامـج 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هـــو مــن أَحَـــدِ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الــمُــمُـــيَّـــزَةِ الـمَــوْجُـــودَةِ ضِــمْــنَ الــمَــجْــمُــوعَــةِ الــمَــكْـــتَـــبِـــيَــةِ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والَّـذِي يَــسْــمَـحُ بِـإِنْــشَــاءِ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أكــثــر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اِحْــتِــرَافِـــيَــة بِــفَــضْــلِ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الــمُــتَـــنَـــوِعَـــةِ الَّـتِي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يُـــوَفِّــــرُهَــا للــمـــســـتـــخـــدم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663952" y="1590920"/>
            <a:ext cx="27003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الـبــرامــج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566593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 Office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46180" y="3450198"/>
            <a:ext cx="47633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عُــــرُوضٍ تَـــقْـــدِيـــمِـــيَـــةٍ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8853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تـعـــريــف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الـبــرنــامـج 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هـــو مــن أَحَـــدِ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الــمُــمُـــيَّـــزَةِ الـمَــوْجُـــودَةِ ضِــمْــنَ الــمَــجْــمُــوعَــةِ الــمَــكْـــتَـــبِـــيَــةِ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والَّـذِي يَــسْــمَـحُ بِـإِنْــشَــاءِ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أكــثــر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اِحْــتِــرَافِـــيَــة بِــفَــضْــلِ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الــمُــتَـــنَـــوِعَـــةِ الَّـتِي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يُـــوَفِّــــرُهَــا للــمـــســـتـــخـــدم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663952" y="1590920"/>
            <a:ext cx="27003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الـبــرامــج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566593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 Office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46180" y="3450198"/>
            <a:ext cx="47633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عُــــرُوضٍ تَـــقْـــدِيـــمِـــيَـــةٍ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27848" y="4333803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الـخِــيَــارَاتِ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7023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1. مــفــاهــيــم أســاســيــة عــن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MS-PowerPoint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7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عَــــرِّفْ الـعَـــرْض </a:t>
            </a:r>
            <a:r>
              <a:rPr lang="ar-DZ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الــتــقـــديـــمـي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 smtClean="0">
                <a:solidFill>
                  <a:srgbClr val="00B050"/>
                </a:solidFill>
              </a:rPr>
              <a:t>تـعــريــف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الـعــرض </a:t>
            </a:r>
            <a:r>
              <a:rPr lang="ar-DZ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الـتـقــديــمـي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1672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الـعـــرض </a:t>
            </a:r>
            <a:r>
              <a:rPr lang="ar-DZ" sz="4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الــتــقـــديــمـي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يــتــألّــف مـن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Diapositives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يَــتِــمُّ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فــيـهـا إضـــافـــة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إ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صــوتــيــة ... وغـــيــرهــا بـحــيــث تَــتَـمَـيَّــزُ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بــسـهــولــة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0181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الـعـــرض </a:t>
            </a:r>
            <a:r>
              <a:rPr lang="ar-DZ" sz="4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الــتــقـــديــمـي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يــتــألّــف مـن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Diapositives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يَــتِــمُّ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فــيـهـا إضـــافـــة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إ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صــوتــيــة ... وغـــيــرهــا بـحــيــث تَــتَـمَـيَّــزُ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بــسـهــولــة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264352" y="1595429"/>
            <a:ext cx="1368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7646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الـعـــرض </a:t>
            </a:r>
            <a:r>
              <a:rPr lang="ar-DZ" sz="4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الــتــقـــديــمـي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يــتــألّــف مـن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Diapositives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يَــتِــمُّ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فــيـهـا إضـــافـــة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إ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صــوتــيــة ... وغـــيــرهــا بـحــيــث تَــتَـمَـيَّــزُ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بــسـهــولــة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264352" y="1595429"/>
            <a:ext cx="1368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5721" y="159542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شَـــرَائِــحٍ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5131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الـعـــرض </a:t>
            </a:r>
            <a:r>
              <a:rPr lang="ar-DZ" sz="4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الــتــقـــديــمـي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يــتــألّــف مـن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Diapositives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يَــتِــمُّ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فــيـهـا إضـــافـــة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إ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صــوتــيــة ... وغـــيــرهــا بـحــيــث تَــتَـمَـيَّــزُ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بــسـهــولــة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264352" y="1595429"/>
            <a:ext cx="1368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5721" y="159542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شَـــرَائِــحٍ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07568" y="2520343"/>
            <a:ext cx="21781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نــصــوص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624393" y="3427311"/>
            <a:ext cx="15841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صُّــوَرٍ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88088" y="3435289"/>
            <a:ext cx="19621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مــلــفــات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4227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الـعـــرض </a:t>
            </a:r>
            <a:r>
              <a:rPr lang="ar-DZ" sz="4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الــتــقـــديــمـي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يــتــألّــف مـن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Diapositives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يَــتِــمُّ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فــيـهـا إضـــافـــة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إ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صــوتــيــة ... وغـــيــرهــا بـحــيــث تَــتَـمَـيَّــزُ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بــسـهــولــة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264352" y="1595429"/>
            <a:ext cx="1368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5721" y="159542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شَـــرَائِــحٍ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07568" y="2520343"/>
            <a:ext cx="21781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نــصــوص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624393" y="3427311"/>
            <a:ext cx="15841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صُّــوَرٍ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88088" y="3435289"/>
            <a:ext cx="19621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مــلــفــات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90023" y="4369940"/>
            <a:ext cx="208823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الـشَــرَائِــحُ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6629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الـعـــرض </a:t>
            </a:r>
            <a:r>
              <a:rPr lang="ar-DZ" sz="4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الــتــقـــديــمـي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يــتــألّــف مـن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Diapositives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يَــتِــمُّ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فــيـهـا إضـــافـــة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إ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صــوتــيــة ... وغـــيــرهــا بـحــيــث تَــتَـمَـيَّــزُ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بــسـهــولــة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264352" y="1595429"/>
            <a:ext cx="1368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5721" y="159542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شَـــرَائِــحٍ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07568" y="2520343"/>
            <a:ext cx="21781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نــصــوص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624393" y="3427311"/>
            <a:ext cx="15841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صُّــوَرٍ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88088" y="3435289"/>
            <a:ext cx="19621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مــلــفــات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90023" y="4369940"/>
            <a:ext cx="208823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الـشَــرَائِــحُ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11325" y="4342181"/>
            <a:ext cx="1656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الـعَــرْض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3919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الـعـــرض </a:t>
            </a:r>
            <a:r>
              <a:rPr lang="ar-DZ" sz="4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الــتــقـــديــمـي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يــتــألّــف مـن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Diapositives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يَــتِــمُّ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فــيـهـا إضـــافـــة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إ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صــوتــيــة ... وغـــيــرهــا بـحــيــث تَــتَـمَـيَّــزُ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بــسـهــولــة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264352" y="1595429"/>
            <a:ext cx="1368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5721" y="159542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شَـــرَائِــحٍ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07568" y="2520343"/>
            <a:ext cx="21781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نــصــوص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624393" y="3427311"/>
            <a:ext cx="15841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صُّــوَرٍ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88088" y="3435289"/>
            <a:ext cx="19621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مــلــفــات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90023" y="4369940"/>
            <a:ext cx="208823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الـشَــرَائِــحُ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11325" y="4342181"/>
            <a:ext cx="1656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الـعَــرْض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5673" y="4348498"/>
            <a:ext cx="19779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الانـتــقــال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2790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2. أزرار الإجـــراءات  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Boutons d’action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cs typeface="+mj-cs"/>
            </a:endParaRPr>
          </a:p>
          <a:p>
            <a:pPr marL="0" lvl="0" indent="0" algn="r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3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عَـــرِّفْ زِرٌّ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الإِجْـــرَاء مُـــبَـــيِّــنًــا كــيــفــيــة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إِدْرَاجِـــه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فـي عـــرض تــقــديــمـي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3610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2. أزرار الإجـــراءات  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Boutons d’action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cs typeface="+mj-cs"/>
            </a:endParaRPr>
          </a:p>
          <a:p>
            <a:pPr marL="0" lvl="0" indent="0" algn="r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3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عَـــرِّفْ زِرٌّ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الإِجْـــرَاء مُـــبَـــيِّــنًــا كــيــفــيــة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إِدْرَاجِـــه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فـي عـــرض تــقــديــمـي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272" y="1804047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2368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الإجــراء  ـــ  تــــابـــع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2292679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Bouton d’action : Suivant 7">
            <a:hlinkClick r:id="" action="ppaction://hlinkshowjump?jump=nextslide" highlightClick="1"/>
          </p:cNvPr>
          <p:cNvSpPr/>
          <p:nvPr/>
        </p:nvSpPr>
        <p:spPr>
          <a:xfrm>
            <a:off x="4149474" y="4573898"/>
            <a:ext cx="1224136" cy="720080"/>
          </a:xfrm>
          <a:prstGeom prst="actionButtonForwardNex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80" y="1370131"/>
            <a:ext cx="4428000" cy="4898335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Bouton d'action : Précédent 9">
            <a:hlinkClick r:id="" action="ppaction://hlinkshowjump?jump=previousslide" highlightClick="1"/>
          </p:cNvPr>
          <p:cNvSpPr/>
          <p:nvPr/>
        </p:nvSpPr>
        <p:spPr>
          <a:xfrm>
            <a:off x="1806012" y="4573898"/>
            <a:ext cx="1147050" cy="681624"/>
          </a:xfrm>
          <a:prstGeom prst="actionButtonBackPreviou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741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تـعــريــف </a:t>
            </a:r>
            <a:r>
              <a:rPr lang="ar-DZ" sz="4800" b="1" dirty="0">
                <a:solidFill>
                  <a:srgbClr val="00B050"/>
                </a:solidFill>
              </a:rPr>
              <a:t>ِزرُ الإجــراء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زِرٌّ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يَــتَّــسِــمُ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بـحــيــث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تـــقـــديـــمـي وتــعـــريـــف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لَــهُ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17" y="321161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8192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تـعــريــف </a:t>
            </a:r>
            <a:r>
              <a:rPr lang="ar-DZ" sz="4800" b="1" dirty="0">
                <a:solidFill>
                  <a:srgbClr val="00B050"/>
                </a:solidFill>
              </a:rPr>
              <a:t>ِزرُ الإجــراء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زِرٌّ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يَــتَّــسِــمُ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بـحــيــث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تـــقـــديـــمـي وتــعـــريـــف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لَــهُ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2244450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ــز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17" y="321161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8608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تـعــريــف </a:t>
            </a:r>
            <a:r>
              <a:rPr lang="ar-DZ" sz="4800" b="1" dirty="0">
                <a:solidFill>
                  <a:srgbClr val="00B050"/>
                </a:solidFill>
              </a:rPr>
              <a:t>ِزرُ الإجــراء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زِرٌّ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يَــتَّــسِــمُ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بـحــيــث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تـــقـــديـــمـي وتــعـــريـــف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لَــهُ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2244450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ــز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3632" y="2244450"/>
            <a:ext cx="1616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ـكْـ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لٍ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17" y="321161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6342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تـعــريــف </a:t>
            </a:r>
            <a:r>
              <a:rPr lang="ar-DZ" sz="4800" b="1" dirty="0">
                <a:solidFill>
                  <a:srgbClr val="00B050"/>
                </a:solidFill>
              </a:rPr>
              <a:t>ِزرُ الإجــراء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زِرٌّ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يَــتَّــسِــمُ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بـحــيــث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تـــقـــديـــمـي وتــعـــريـــف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لَــهُ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2244450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ــز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3632" y="2244450"/>
            <a:ext cx="1616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ـكْـ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لٍ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48328" y="322014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هُ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17" y="321161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2452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تـعــريــف </a:t>
            </a:r>
            <a:r>
              <a:rPr lang="ar-DZ" sz="4800" b="1" dirty="0">
                <a:solidFill>
                  <a:srgbClr val="00B050"/>
                </a:solidFill>
              </a:rPr>
              <a:t>ِزرُ الإجــراء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زِرٌّ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يَــتَّــسِــمُ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بـحــيــث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تـــقـــديـــمـي وتــعـــريـــف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لَــهُ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2244450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ــز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3632" y="2244450"/>
            <a:ext cx="1616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ـكْـ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لٍ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48328" y="322014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هُ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87688" y="3182243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ـه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17" y="321161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1247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تـعــريــف </a:t>
            </a:r>
            <a:r>
              <a:rPr lang="ar-DZ" sz="4800" b="1" dirty="0">
                <a:solidFill>
                  <a:srgbClr val="00B050"/>
                </a:solidFill>
              </a:rPr>
              <a:t>ِزرُ الإجــراء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زِرٌّ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يَــتَّــسِــمُ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بـحــيــث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تـــقـــديـــمـي وتــعـــريـــف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لَــهُ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2244450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ــز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3632" y="2244450"/>
            <a:ext cx="1616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ـكْـ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لٍ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48328" y="322014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هُ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87688" y="3182243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ـه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495600" y="4120036"/>
            <a:ext cx="401882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ــب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اط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ــعُّـ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ـبِـي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17" y="321161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7563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تـعــريــف </a:t>
            </a:r>
            <a:r>
              <a:rPr lang="ar-DZ" sz="4800" b="1" dirty="0">
                <a:solidFill>
                  <a:srgbClr val="00B050"/>
                </a:solidFill>
              </a:rPr>
              <a:t>ِزرُ الإجــراء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زِرٌّ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يَــتَّــسِــمُ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بـحــيــث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تـــقـــديـــمـي وتــعـــريـــف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لَــهُ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2244450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ــز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3632" y="2244450"/>
            <a:ext cx="1616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ـكْـ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لٍ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48328" y="322014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هُ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87688" y="3182243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ـه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495600" y="4120036"/>
            <a:ext cx="401882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ــب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اط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ــعُّـ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ـبِـي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4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الإجــراء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الأَزْرَارِ يَـــتِــمُّ مِــنْ خِـــلَالِ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عـــلامــة الــتــبــويـــب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Onglet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ثُـمَ مـجـمـوعـة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Illustrations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وَالـوُلُــوجِ إِلَـى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2924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الإجــراء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الأَزْرَارِ يَـــتِــمُّ مِــنْ خِـــلَالِ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عـــلامــة الــتــبــويـــب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Onglet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ثُـمَ مـجـمـوعـة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Illustrations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وَالـوُلُــوجِ إِلَـى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3" y="326153"/>
            <a:ext cx="4294020" cy="2513903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36307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الإجــراء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الأَزْرَارِ يَـــتِــمُّ مِــنْ خِـــلَالِ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عـــلامــة الــتــبــويـــب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Onglet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ثُـمَ مـجـمـوعـة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Illustrations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وَالـوُلُــوجِ إِلَـى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43873" y="2600163"/>
            <a:ext cx="1894502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3" y="326153"/>
            <a:ext cx="4294020" cy="2513903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9263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الإجــراء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الأَزْرَارِ يَـــتِــمُّ مِــنْ خِـــلَالِ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عـــلامــة الــتــبــويـــب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Onglet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ثُـمَ مـجـمـوعـة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Illustrations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وَالـوُلُــوجِ إِلَـى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43873" y="2600163"/>
            <a:ext cx="1894502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1744" y="3556759"/>
            <a:ext cx="4493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8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وم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ـات الـت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ـو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8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يـح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َّ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 </a:t>
            </a:r>
            <a:endParaRPr lang="ar-SA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3" y="326153"/>
            <a:ext cx="4294020" cy="2513903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39867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الإجــراء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الأَزْرَارِ يَـــتِــمُّ مِــنْ خِـــلَالِ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عـــلامــة الــتــبــويـــب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Onglet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ثُـمَ مـجـمـوعـة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Illustrations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وَالـوُلُــوجِ إِلَـى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43873" y="2600163"/>
            <a:ext cx="1894502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1744" y="3556759"/>
            <a:ext cx="4493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وم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ـات الـت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ـو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يـح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َّ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endParaRPr lang="ar-SA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40016" y="4481673"/>
            <a:ext cx="2003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ــك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ــال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3" y="326153"/>
            <a:ext cx="4294020" cy="2513903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8004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الإجــراء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الأَزْرَارِ يَـــتِــمُّ مِــنْ خِـــلَالِ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عـــلامــة الــتــبــويـــب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Onglet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ثُـمَ مـجـمـوعـة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Illustrations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وَالـوُلُــوجِ إِلَـى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43873" y="2600163"/>
            <a:ext cx="1894502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1744" y="3556759"/>
            <a:ext cx="4493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وم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ـات الـت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ـو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يـح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َّ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endParaRPr lang="ar-SA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40016" y="4481673"/>
            <a:ext cx="2003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ــك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ــال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28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الإجــراء  ـــ  تــــابـــع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7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والــنَــقْـــرِ عَــلَـى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الــمُــنَـــاسِــبِ ضِــمْــنَ الــمــجــمـــوعـــة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Bottons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d’action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744" y="4421688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2875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الإجــراء  ـــ  تــــابـــع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7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والــنَــقْـــرِ عَــلَـى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الــمُــنَـــاسِــبِ ضِــمْــنَ الــمــجــمـــوعـــة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Bottons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d’action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015880" y="1899917"/>
            <a:ext cx="1894502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الــزِّرِ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744" y="4421688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0770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الإجــراء  ـــ  تــــابـــع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7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والــنَــقْـــرِ عَــلَـى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الــمُــنَـــاسِــبِ ضِــمْــنَ الــمــجــمـــوعـــة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Bottons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d’action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015880" y="1899917"/>
            <a:ext cx="1894502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الــزِّرِ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744" y="4421688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Rectangle 6"/>
          <p:cNvSpPr/>
          <p:nvPr/>
        </p:nvSpPr>
        <p:spPr>
          <a:xfrm>
            <a:off x="5231904" y="2905682"/>
            <a:ext cx="251897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الـفَــرْعِـــيَــة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032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الإجــراء  ـــ  تــــابـــع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7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والــنَــقْـــرِ عَــلَـى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الــمُــنَـــاسِــبِ ضِــمْــنَ الــمــجــمـــوعـــة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Bottons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d’action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015880" y="1899917"/>
            <a:ext cx="1894502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الــزِّرِ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31904" y="2905682"/>
            <a:ext cx="251897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الـفَــرْعِـــيَــة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6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الإجــراء  ـــ  تــــابـــع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2292679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Bouton d’action : Suivant 7">
            <a:hlinkClick r:id="" action="ppaction://hlinkshowjump?jump=nextslide" highlightClick="1"/>
          </p:cNvPr>
          <p:cNvSpPr/>
          <p:nvPr/>
        </p:nvSpPr>
        <p:spPr>
          <a:xfrm>
            <a:off x="4149474" y="4573898"/>
            <a:ext cx="1224136" cy="720080"/>
          </a:xfrm>
          <a:prstGeom prst="actionButtonForwardNex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80" y="1370131"/>
            <a:ext cx="4428000" cy="4898335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Bouton d'action : Précédent 9">
            <a:hlinkClick r:id="" action="ppaction://hlinkshowjump?jump=previousslide" highlightClick="1"/>
          </p:cNvPr>
          <p:cNvSpPr/>
          <p:nvPr/>
        </p:nvSpPr>
        <p:spPr>
          <a:xfrm>
            <a:off x="1806012" y="4573898"/>
            <a:ext cx="1147050" cy="681624"/>
          </a:xfrm>
          <a:prstGeom prst="actionButtonBackPreviou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36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الارتــبــاط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الـتَــشَــعُّـــبِــي 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Lien Hypertexte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4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عَـــرِّفْ الارتــبــاط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الـتــشــعــبـي مُـــبَـــيِّــنًــا كــيــفــيــة إِدْرَاجِـــه فـي عـــرض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تــقــديــمـي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85998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الارتــبــاط الـتَــشَــعُّـــبِــي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اتّـصـال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لأخـرى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نـفـس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شــريــحـة مُـحَــدَّدة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آخــر، كـمـا يـمـكـن أن يـكـون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عـنـوان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5232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الارتــبــاط الـتَــشَــعُّـــبِــي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اتّـصـال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لأخـرى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نـفـس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شــريــحـة مُـحَــدَّدة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آخــر، كـمـا يـمـكـن أن يـكـون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عـنـوان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6918" y="2253434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شـريـحـة </a:t>
            </a:r>
          </a:p>
        </p:txBody>
      </p:sp>
    </p:spTree>
    <p:extLst>
      <p:ext uri="{BB962C8B-B14F-4D97-AF65-F5344CB8AC3E}">
        <p14:creationId xmlns:p14="http://schemas.microsoft.com/office/powerpoint/2010/main" val="272548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الارتــبــاط الـتَــشَــعُّـــبِــي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اتّـصـال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لأخـرى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نـفـس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شــريــحـة مُـحَــدَّدة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آخــر، كـمـا يـمـكـن أن يـكـون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عـنـوان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6918" y="2253434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شـريـحـة </a:t>
            </a:r>
          </a:p>
        </p:txBody>
      </p:sp>
      <p:sp>
        <p:nvSpPr>
          <p:cNvPr id="7" name="Rectangle 6"/>
          <p:cNvSpPr/>
          <p:nvPr/>
        </p:nvSpPr>
        <p:spPr>
          <a:xfrm>
            <a:off x="728771" y="2263168"/>
            <a:ext cx="3888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الـعــرض 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الـتــقــديـمـي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18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الارتــبــاط الـتَــشَــعُّـــبِــي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اتّـصـال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لأخـرى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نـفـس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شــريــحـة مُـحَــدَّدة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آخــر، كـمـا يـمـكـن أن يـكـون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عـنـوان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6918" y="2253434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شـريـحـة </a:t>
            </a:r>
          </a:p>
        </p:txBody>
      </p:sp>
      <p:sp>
        <p:nvSpPr>
          <p:cNvPr id="7" name="Rectangle 6"/>
          <p:cNvSpPr/>
          <p:nvPr/>
        </p:nvSpPr>
        <p:spPr>
          <a:xfrm>
            <a:off x="728771" y="2263168"/>
            <a:ext cx="3888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الـعــرض 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الـتــقــديـمـي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3340" y="3175203"/>
            <a:ext cx="14797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عَــرْضٍ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139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الارتــبــاط الـتَــشَــعُّـــبِــي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اتّـصـال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لأخـرى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نـفـس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شــريــحـة مُـحَــدَّدة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آخــر، كـمـا يـمـكـن أن يـكـون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عـنـوان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6918" y="2253434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شـريـحـة </a:t>
            </a:r>
          </a:p>
        </p:txBody>
      </p:sp>
      <p:sp>
        <p:nvSpPr>
          <p:cNvPr id="7" name="Rectangle 6"/>
          <p:cNvSpPr/>
          <p:nvPr/>
        </p:nvSpPr>
        <p:spPr>
          <a:xfrm>
            <a:off x="728771" y="2263168"/>
            <a:ext cx="3888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الـعــرض 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الـتــقــديـمـي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45735" y="4089951"/>
            <a:ext cx="1937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3340" y="3175203"/>
            <a:ext cx="14797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عَــرْضٍ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89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الارتــبــاط الـتَــشَــعُّـــبِــي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اتّـصـال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لأخـرى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نـفـس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شــريــحـة مُـحَــدَّدة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آخــر، كـمـا يـمـكـن أن يـكـون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عـنـوان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6918" y="2253434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شـريـحـة </a:t>
            </a:r>
          </a:p>
        </p:txBody>
      </p:sp>
      <p:sp>
        <p:nvSpPr>
          <p:cNvPr id="7" name="Rectangle 6"/>
          <p:cNvSpPr/>
          <p:nvPr/>
        </p:nvSpPr>
        <p:spPr>
          <a:xfrm>
            <a:off x="728771" y="2263168"/>
            <a:ext cx="3888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الـعــرض 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الـتــقــديـمـي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45735" y="4089951"/>
            <a:ext cx="1937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3340" y="3175203"/>
            <a:ext cx="14797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عَــرْضٍ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1270" y="4090817"/>
            <a:ext cx="34563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بــريــد إلـكـتـرونـي </a:t>
            </a:r>
          </a:p>
        </p:txBody>
      </p:sp>
    </p:spTree>
    <p:extLst>
      <p:ext uri="{BB962C8B-B14F-4D97-AF65-F5344CB8AC3E}">
        <p14:creationId xmlns:p14="http://schemas.microsoft.com/office/powerpoint/2010/main" val="335881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إِدْرَاجُ  </a:t>
            </a:r>
            <a:r>
              <a:rPr lang="ar-DZ" sz="4800" b="1" dirty="0" smtClean="0">
                <a:solidFill>
                  <a:srgbClr val="00B050"/>
                </a:solidFill>
              </a:rPr>
              <a:t>ارتــبــاط  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إنــشــاء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اِرتــبــاط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تــشــعــبـي يــكــون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تــحـــديـــد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Sélection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صــورة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رســم بــيــانـي ، شــكــل ... )</a:t>
            </a:r>
            <a:endParaRPr lang="fr-FR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واســتــغــلال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اســتــغــلال 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7471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إِدْرَاجُ  </a:t>
            </a:r>
            <a:r>
              <a:rPr lang="ar-DZ" sz="4800" b="1" dirty="0" smtClean="0">
                <a:solidFill>
                  <a:srgbClr val="00B050"/>
                </a:solidFill>
              </a:rPr>
              <a:t>ارتــبــاط  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إنــشــاء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اِرتــبــاط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تــشــعــبـي يــكــون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تــحـــديـــد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Sélection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صــورة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رســم بــيــانـي ، شــكــل ... )</a:t>
            </a:r>
            <a:endParaRPr lang="fr-FR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واســتــغــلال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اســتــغــلال 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808" y="3513887"/>
            <a:ext cx="5153025" cy="100965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8630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إِدْرَاجُ  </a:t>
            </a:r>
            <a:r>
              <a:rPr lang="ar-DZ" sz="4800" b="1" dirty="0" smtClean="0">
                <a:solidFill>
                  <a:srgbClr val="00B050"/>
                </a:solidFill>
              </a:rPr>
              <a:t>ارتــبــاط  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إنــشــاء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اِرتــبــاط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تــشــعــبـي يــكــون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تــحـــديـــد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Sélection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صــورة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رســم بــيــانـي ، شــكــل ... )</a:t>
            </a:r>
            <a:endParaRPr lang="fr-FR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واســتــغــلال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اســتــغــلال 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68793" y="2501155"/>
            <a:ext cx="1253244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نــص 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9616" y="2501155"/>
            <a:ext cx="1397260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كــائــن 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808" y="3513887"/>
            <a:ext cx="5153025" cy="100965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59463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إِدْرَاجُ  </a:t>
            </a:r>
            <a:r>
              <a:rPr lang="ar-DZ" sz="4800" b="1" dirty="0" smtClean="0">
                <a:solidFill>
                  <a:srgbClr val="00B050"/>
                </a:solidFill>
              </a:rPr>
              <a:t>ارتــبــاط  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إنــشــاء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اِرتــبــاط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تــشــعــبـي يــكــون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تــحـــديـــد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Sélection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صــورة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رســم بــيــانـي ، شــكــل ... )</a:t>
            </a:r>
            <a:endParaRPr lang="fr-FR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واســتــغــلال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اســتــغــلال 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68793" y="2501155"/>
            <a:ext cx="1253244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نــص 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9616" y="2501155"/>
            <a:ext cx="1397260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كــائــن 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808" y="3513887"/>
            <a:ext cx="5153025" cy="100965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63" y="326652"/>
            <a:ext cx="2124075" cy="17145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49687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إِدْرَاجُ  </a:t>
            </a:r>
            <a:r>
              <a:rPr lang="ar-DZ" sz="4800" b="1" dirty="0" smtClean="0">
                <a:solidFill>
                  <a:srgbClr val="00B050"/>
                </a:solidFill>
              </a:rPr>
              <a:t>ارتــبــاط  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إنــشــاء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اِرتــبــاط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تــشــعــبـي يــكــون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تــحـــديـــد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Sélection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صــورة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رســم بــيــانـي ، شــكــل ... )</a:t>
            </a:r>
            <a:endParaRPr lang="fr-FR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واســتــغــلال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اســتــغــلال 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68793" y="2501155"/>
            <a:ext cx="1253244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نــص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1424" y="4058430"/>
            <a:ext cx="65527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Commande Lien Hypertexte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39616" y="2501155"/>
            <a:ext cx="1397260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كــائــن 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3" y="326996"/>
            <a:ext cx="2124075" cy="17145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5670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1" grpId="0" animBg="1"/>
      <p:bldP spid="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إِدْرَاجُ  </a:t>
            </a:r>
            <a:r>
              <a:rPr lang="ar-DZ" sz="4800" b="1" dirty="0" smtClean="0">
                <a:solidFill>
                  <a:srgbClr val="00B050"/>
                </a:solidFill>
              </a:rPr>
              <a:t>ارتــبــاط  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إنــشــاء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اِرتــبــاط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تــشــعــبـي يــكــون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تــحـــديـــد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Sélection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صــورة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رســم بــيــانـي ، شــكــل ... )</a:t>
            </a:r>
            <a:endParaRPr lang="fr-FR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واســتــغــلال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اســتــغــلال 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68793" y="2501155"/>
            <a:ext cx="1253244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نــص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1424" y="4058430"/>
            <a:ext cx="65527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Commande Lien Hypertexte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39616" y="2501155"/>
            <a:ext cx="1397260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كــائــن </a:t>
            </a:r>
          </a:p>
        </p:txBody>
      </p:sp>
      <p:sp>
        <p:nvSpPr>
          <p:cNvPr id="9" name="Rectangle 8"/>
          <p:cNvSpPr/>
          <p:nvPr/>
        </p:nvSpPr>
        <p:spPr>
          <a:xfrm>
            <a:off x="911424" y="4945452"/>
            <a:ext cx="59766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Commande Action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3" y="326996"/>
            <a:ext cx="2124075" cy="17145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0472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1" grpId="0" animBg="1"/>
      <p:bldP spid="8" grpId="0" animBg="1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إِدْرَاجُ  </a:t>
            </a:r>
            <a:r>
              <a:rPr lang="ar-DZ" sz="4800" b="1" dirty="0" smtClean="0">
                <a:solidFill>
                  <a:srgbClr val="00B050"/>
                </a:solidFill>
              </a:rPr>
              <a:t>ارتــبــاط  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إنــشــاء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اِرتــبــاط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تــشــعــبـي يــكــون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تــحـــديـــد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Sélection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صــورة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رســم بــيــانـي ، شــكــل ... )</a:t>
            </a:r>
            <a:endParaRPr lang="fr-FR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واســتــغــلال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اســتــغــلال 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68793" y="2501155"/>
            <a:ext cx="1253244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نــص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1424" y="4058430"/>
            <a:ext cx="65527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Commande Lien Hypertexte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39616" y="2501155"/>
            <a:ext cx="1397260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كــائــن </a:t>
            </a:r>
          </a:p>
        </p:txBody>
      </p:sp>
      <p:sp>
        <p:nvSpPr>
          <p:cNvPr id="9" name="Rectangle 8"/>
          <p:cNvSpPr/>
          <p:nvPr/>
        </p:nvSpPr>
        <p:spPr>
          <a:xfrm>
            <a:off x="911424" y="4945452"/>
            <a:ext cx="59766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Commande Action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19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1" grpId="0" animBg="1"/>
      <p:bldP spid="8" grpId="0" animBg="1"/>
      <p:bldP spid="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إِدْرَاجُ  </a:t>
            </a:r>
            <a:r>
              <a:rPr lang="ar-DZ" sz="4800" b="1" dirty="0" smtClean="0">
                <a:solidFill>
                  <a:srgbClr val="00B050"/>
                </a:solidFill>
              </a:rPr>
              <a:t>ارتــبــاط  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إنــشــاء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اِرتــبــاط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تــشــعــبـي يــكــون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تــحـــديـــد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Sélection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صــورة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رســم بــيــانـي ، شــكــل ... )</a:t>
            </a:r>
            <a:endParaRPr lang="fr-FR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واســتــغــلال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اســتــغــلال 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5302"/>
            <a:ext cx="10887000" cy="629205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1770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الـحـــركـــة  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5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عَـــرِّفْ </a:t>
            </a:r>
            <a:r>
              <a:rPr lang="ar-DZ" sz="4400" b="1" dirty="0" smtClean="0"/>
              <a:t>الـحَــرَكَـــة </a:t>
            </a:r>
            <a:r>
              <a:rPr lang="ar-DZ" sz="4400" b="1" dirty="0"/>
              <a:t>مُـــبَـــيِّــنًــا نَـــوْعَـــيْــهَـا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5778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الانــتــقــالــيــة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تــأثــيـــر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يــظــهــر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عــنــد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إلــى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تــقــديــمـي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2996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الانــتــقــالــيــة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تــأثــيـــر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يــظــهــر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عــنــد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إلــى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تــقــديــمـي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00" y="1421160"/>
            <a:ext cx="11880000" cy="1107062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78740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الانــتــقــالــيــة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تــأثــيـــر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يــظــهــر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عــنــد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إلــى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تــقــديــمـي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816080" y="3281606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حـــركــي 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00" y="1421160"/>
            <a:ext cx="11880000" cy="1107062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18869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الانــتــقــالــيــة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تــأثــيـــر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يــظــهــر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عــنــد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إلــى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تــقــديــمـي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816080" y="3281606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حـــركــي </a:t>
            </a:r>
          </a:p>
        </p:txBody>
      </p:sp>
      <p:sp>
        <p:nvSpPr>
          <p:cNvPr id="7" name="Rectangle 6"/>
          <p:cNvSpPr/>
          <p:nvPr/>
        </p:nvSpPr>
        <p:spPr>
          <a:xfrm>
            <a:off x="940532" y="3281606"/>
            <a:ext cx="21829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الانــتــقـــال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00" y="1421160"/>
            <a:ext cx="11880000" cy="1107062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6017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الانــتــقــالــيــة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تــأثــيـــر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يــظــهــر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عــنــد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إلــى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تــقــديــمـي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816080" y="3281606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حـــركــي </a:t>
            </a:r>
          </a:p>
        </p:txBody>
      </p:sp>
      <p:sp>
        <p:nvSpPr>
          <p:cNvPr id="7" name="Rectangle 6"/>
          <p:cNvSpPr/>
          <p:nvPr/>
        </p:nvSpPr>
        <p:spPr>
          <a:xfrm>
            <a:off x="940532" y="3281606"/>
            <a:ext cx="21829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الانــتــقـــال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52184" y="4205751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00" y="1421160"/>
            <a:ext cx="11880000" cy="1107062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24259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الانــتــقــالــيــة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تــأثــيـــر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يــظــهــر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عــنــد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إلــى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تــقــديــمـي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816080" y="3281606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حـــركــي </a:t>
            </a:r>
          </a:p>
        </p:txBody>
      </p:sp>
      <p:sp>
        <p:nvSpPr>
          <p:cNvPr id="7" name="Rectangle 6"/>
          <p:cNvSpPr/>
          <p:nvPr/>
        </p:nvSpPr>
        <p:spPr>
          <a:xfrm>
            <a:off x="940532" y="3281606"/>
            <a:ext cx="21829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الانــتــقـــال</a:t>
            </a:r>
          </a:p>
        </p:txBody>
      </p:sp>
      <p:sp>
        <p:nvSpPr>
          <p:cNvPr id="9" name="Rectangle 8"/>
          <p:cNvSpPr/>
          <p:nvPr/>
        </p:nvSpPr>
        <p:spPr>
          <a:xfrm>
            <a:off x="1847528" y="4206983"/>
            <a:ext cx="38268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شــريــحـ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أخـــرى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52184" y="4205751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00" y="1421160"/>
            <a:ext cx="11880000" cy="1107062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8891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9" grpId="0" animBg="1"/>
      <p:bldP spid="1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الانــتــقــالــيــة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تــأثــيـــر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يــظــهــر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عــنــد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إلــى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تــقــديــمـي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816080" y="2244884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حـــركــي </a:t>
            </a:r>
          </a:p>
        </p:txBody>
      </p:sp>
      <p:sp>
        <p:nvSpPr>
          <p:cNvPr id="7" name="Rectangle 6"/>
          <p:cNvSpPr/>
          <p:nvPr/>
        </p:nvSpPr>
        <p:spPr>
          <a:xfrm>
            <a:off x="940532" y="2244884"/>
            <a:ext cx="21829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الانــتــقـــال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52184" y="3182677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47528" y="3168264"/>
            <a:ext cx="38268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شــريــحـ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أخـــرى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975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11" grpId="0" animBg="1"/>
      <p:bldP spid="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مُـــؤَثِــــرَات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Effets Visuels "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يَــتِــمُّ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صـــورة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رســـم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بـــیــانـي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شــكــل ... ﴾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شَـــرِيــحَــةٍ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مُــعَـــيَّــنَــةٍ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7304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مُـــؤَثِــــرَاتٌ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Effets Visuels "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يَــتِــمُّ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صـــورة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رســـم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بـــیــانـي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شــكــل ... ﴾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شَـــرِيــحَــةٍ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مُــعَـــيَّــنَــةٍ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54888" y="2253868"/>
            <a:ext cx="27717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ی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64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مُـــؤَثِــــرَات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Effets Visuels "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يَــتِــمُّ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صـــورة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رســـم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بـــیــانـي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شــكــل ... ﴾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شَـــرِيــحَــةٍ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مُــعَـــيَّــنَــةٍ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54888" y="2253868"/>
            <a:ext cx="27717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ی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74098" y="3153024"/>
            <a:ext cx="26498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تَــطْــبِـــيـــقُـهَـا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451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مُـــؤَثِــــرَات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Effets Visuels "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يَــتِــمُّ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صـــورة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رســـم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بـــیــانـي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شــكــل ... ﴾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شَـــرِيــحَــةٍ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مُــعَـــيَّــنَــةٍ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54888" y="2253868"/>
            <a:ext cx="27717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ی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219" y="3153023"/>
            <a:ext cx="245556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الـن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74098" y="3153024"/>
            <a:ext cx="26498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تَــطْــبِـــيـــقُـهَـا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40787" y="4065189"/>
            <a:ext cx="29596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ائ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51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  <p:bldP spid="1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مُـــؤَثِــــرَات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Effets Visuels "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يَــتِــمُّ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صـــورة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رســـم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بـــیــانـي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شــكــل ... ﴾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شَـــرِيــحَــةٍ مُــعَـــيَّــنَــةٍ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54888" y="2253868"/>
            <a:ext cx="27717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ی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219" y="3153023"/>
            <a:ext cx="245556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74098" y="3153024"/>
            <a:ext cx="26498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تَــطْــبِـــيـــقُـهَـا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79976" y="4983334"/>
            <a:ext cx="27792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40787" y="4065189"/>
            <a:ext cx="29596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ائ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ـــن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ـات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3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تـــابـــع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الـهـــدف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مــنـهـا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أَفْـــكَـــارِ الـعَـــرْضِ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الــتــقــديـــمــي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817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تـــابـــع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الـهـــدف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مــنـهـا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أَفْـــكَـــارِ الـعَـــرْضِ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الــتــقــديـــمــي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782930" y="1988840"/>
            <a:ext cx="27717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يـــق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27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تـــابـــع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الـهـــدف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مــنـهـا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أَفْـــكَـــارِ الـعَـــرْضِ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الــتــقــديـــمــي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782930" y="1988840"/>
            <a:ext cx="27717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يـــق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83432" y="1988840"/>
            <a:ext cx="26498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الــتَــنْــظِـــيـــمُ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93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تـــابـــع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الـهـــدف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مــنـهـا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أَفْـــكَـــارِ الـعَـــرْضِ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الــتــقــديـــمــي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782930" y="1988840"/>
            <a:ext cx="27717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يـــق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68208" y="2897497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83432" y="1988840"/>
            <a:ext cx="26498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الــتَــنْــظِـــيـــمُ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16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6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اذكُـــرْ أنــواع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الـحَــرَكَـــات الـمُـخَــصَّــصَــة وبَــيِّـنْ مُــمَــيِّــزَاتِـهَـا</a:t>
            </a:r>
            <a:r>
              <a:rPr lang="ar-DZ" sz="4400" b="1" dirty="0" smtClean="0"/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74322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6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اذكُـــرْ أنــواع الـحَــرَكَـــة 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الـمُـخَــصَّــصَــة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وبَــيِّـنْ 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مُــمَــيِّــزَاتِـهَـا</a:t>
            </a:r>
            <a:r>
              <a:rPr lang="ar-DZ" sz="4400" b="1" dirty="0" smtClean="0"/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1955061"/>
            <a:ext cx="3728324" cy="38520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39596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6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اذكُــرْ أنـواع الـحَــرَكَــة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الـمُـخَــصَّــصَــة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وبَــيِّـنْ 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مُــمَــيِّــزَاتِـهَـا</a:t>
            </a:r>
            <a:r>
              <a:rPr lang="ar-DZ" sz="4400" b="1" dirty="0" smtClean="0"/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pic>
        <p:nvPicPr>
          <p:cNvPr id="7" name="Espace réservé du contenu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63136"/>
            <a:ext cx="6721456" cy="65520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5959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حــركــات 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الـدخـول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Animations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d’Ouverture/Apparition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تــحــدِّد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كــيــفــيــة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الــكــائــن فـي مــكــانــه داخــل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الــشــريــحــة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74800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حــركــات 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الـدخـول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Animations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d’Ouverture/Apparition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تــحــدِّد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كــيــفــيــة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الــكــائــن فـي مــكــانــه داخــل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الــشــريــحــة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231904" y="3461047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ظ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ـــار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566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حــركــات 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الــتــوكــيــد </a:t>
            </a:r>
            <a:r>
              <a:rPr lang="fr-FR" sz="4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Animation </a:t>
            </a:r>
            <a:r>
              <a:rPr lang="fr-FR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d’emphase</a:t>
            </a:r>
            <a:r>
              <a:rPr lang="ar-DZ" sz="42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2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تَــقُــومُ بِــ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الــكــائــن الـمــوجــود عـلـى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الـشــريــحَــة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بــطــريــقــة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الاِنْــتِــبَــاهِ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3632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حــركــات 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الــتــوكــيــد </a:t>
            </a:r>
            <a:r>
              <a:rPr lang="fr-FR" sz="4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Animation </a:t>
            </a:r>
            <a:r>
              <a:rPr lang="fr-FR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d’emphase</a:t>
            </a:r>
            <a:r>
              <a:rPr lang="ar-DZ" sz="42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2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تَــقُــومُ بِــ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الــكــائــن الـمــوجــود عـلـى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الـشــريــحَــة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بــطــريــقــة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الاِنْــتِــبَــاهِ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064513" y="3191453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از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62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حــركــات 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الــتــوكــيــد </a:t>
            </a:r>
            <a:r>
              <a:rPr lang="fr-FR" sz="4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Animation </a:t>
            </a:r>
            <a:r>
              <a:rPr lang="fr-FR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d’emphase</a:t>
            </a:r>
            <a:r>
              <a:rPr lang="ar-DZ" sz="42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2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تَــقُــومُ بِــ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الــكــائــن الـمــوجــود عـلـى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الـشــريــحَــة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بــطــريــقــة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الاِنْــتِــبَــاهِ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064513" y="3191453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از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35760" y="4206520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ـل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ـب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36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حــركـات الـخـروج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Animations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de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Fermeture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/</a:t>
            </a:r>
            <a:r>
              <a:rPr lang="en-US" sz="3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Disparition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تــحــدِّد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كــيــفــيــة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الــكــائــن عـــن الــشــريــحــة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171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حــركـات الـخـروج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Animations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de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Fermeture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/</a:t>
            </a:r>
            <a:r>
              <a:rPr lang="en-US" sz="3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Disparition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تــحــدِّد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كــيــفــيــة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الــكــائــن عـــن الــشــريــحــة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149364" y="3139279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اء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89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حــركـات الـخـروج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Animations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de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Fermeture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/</a:t>
            </a:r>
            <a:r>
              <a:rPr lang="en-US" sz="3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Disparition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تــحــدِّد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كــيــفــيــة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الــكــائــن عـــن الــشــريــحــة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149364" y="3139279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اء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5368" y="3124355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ــاد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42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مــســارات الـحــركــة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Trajectoires </a:t>
            </a:r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/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Mouvements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2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2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مَــسَـــارَاتٍ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الــكــائــن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داخـــل الـشـــريـــحــة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46027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مــســارات الـحــركــة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Trajectoires </a:t>
            </a:r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/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Mouvements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2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2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مَــسَـــارَاتٍ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الــكــائــن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داخـــل الـشـــريـــحــة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260508" y="2998751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53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مــســارات الـحــركــة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Trajectoires </a:t>
            </a:r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/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Mouvements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2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2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مَــسَـــارَاتٍ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الــكــائــن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داخـــل الـشـــريـــحــة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260508" y="2998751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27448" y="3025522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008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6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اذكُــرْ أنـواع الـحَــرَكَــة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الـمُـخَــصَّــصَــة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وبَــيِّـنْ 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مُــمَــيِّــزَاتِـهَـا</a:t>
            </a:r>
            <a:r>
              <a:rPr lang="ar-DZ" sz="4400" b="1" dirty="0" smtClean="0"/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pic>
        <p:nvPicPr>
          <p:cNvPr id="7" name="Espace réservé du contenu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63136"/>
            <a:ext cx="6721456" cy="65520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2644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385308"/>
            <a:ext cx="9844953" cy="57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9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واجــب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مــنــزلـي</a:t>
            </a:r>
            <a:r>
              <a:rPr lang="fr-FR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1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1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قَــارِنْ بَــيْـنَ الـحــركــة الانــتــقــالــيـة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</a:t>
            </a:r>
            <a:r>
              <a:rPr lang="fr-FR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Transitions</a:t>
            </a: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والـحـــركـــات الــمُــخَـــصَّــصَــة 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</a:t>
            </a:r>
            <a:r>
              <a:rPr lang="fr-FR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Animations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»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 </a:t>
            </a:r>
            <a:endParaRPr lang="ar-DZ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8896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واجــب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مــنــزلـي</a:t>
            </a:r>
            <a:r>
              <a:rPr lang="fr-FR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2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100" b="1" dirty="0" smtClean="0">
              <a:cs typeface="+mj-cs"/>
            </a:endParaRPr>
          </a:p>
          <a:p>
            <a:pPr marL="0" lvl="0" indent="0" algn="just" rtl="1">
              <a:lnSpc>
                <a:spcPct val="125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أَنْـجِــزْ عَـــرْضًــا </a:t>
            </a:r>
            <a:r>
              <a:rPr lang="ar-DZ" sz="4000" b="1" dirty="0" err="1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تَــقْــدِيــمِــيًــا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تُــوَضِـحُ فــيـه الـمــعــلــومــات 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الأســاســيــة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لــدُوَل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الـمَـغْــرِبِ الـكَـــبِـــيـــرِ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: اِسْــمَ الــبَــلَــدِ ، عَـــدَدَ الـسُــكَــانِ ، الـمِــسَـــاحَـــةَ ، الـعُـــمْــلَــةَ ... </a:t>
            </a:r>
          </a:p>
          <a:p>
            <a:pPr marL="0" lvl="0" indent="0" algn="just" rtl="1">
              <a:lnSpc>
                <a:spcPct val="125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صُــورَتَـيْ الـعَـــلَــمِ والـخَــرِيــطَــةِ، صَــوْت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َ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الـنَـشِــيــدِ الـوَطَــنِي، فِــيــدْيُـــو لِأهَـــمِّ مَــعْـــلَــمٍ سِـــيَــاحِـي وذَلِـكَ لِــكُــلِّ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بَــلَــدٍ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بِـحَـيْـث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883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واجــب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مــنــزلـي</a:t>
            </a:r>
            <a:r>
              <a:rPr lang="fr-FR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2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 ـــ  تــــابـــع :</a:t>
            </a:r>
            <a:endParaRPr lang="fr-FR" sz="5400" i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6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يَــقُــومُ الــطَــالِــبُ بِـاِسْــتِــغْـــلَالِ الــوَسَــائِـــلِ الــتَــالِــيَــةِ 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أَزْرَارُ الإجْـــرَاءاتِ             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Boutons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d’action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الاِرْتِــبَــاطَــاتِ الــتَــشَــعُّـــبِـــيَّـــة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Liens Hypertextes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الـحَـــرَكَـــاتِ الــمُــخَـــصَّـــصَــة         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Animations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6389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واجــب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مــنــزلـي</a:t>
            </a:r>
            <a:r>
              <a:rPr lang="fr-FR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2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1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518" y="1268760"/>
            <a:ext cx="7560840" cy="5101079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374836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واجــب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مــنــزلـي</a:t>
            </a:r>
            <a:r>
              <a:rPr lang="fr-FR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2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1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05/04/2026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363" y="1844822"/>
            <a:ext cx="4887016" cy="3919127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1844823"/>
            <a:ext cx="4824536" cy="3919127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69617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05/04/2026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28709</TotalTime>
  <Words>3381</Words>
  <Application>Microsoft Office PowerPoint</Application>
  <PresentationFormat>Grand écran</PresentationFormat>
  <Paragraphs>674</Paragraphs>
  <Slides>96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96</vt:i4>
      </vt:variant>
    </vt:vector>
  </HeadingPairs>
  <TitlesOfParts>
    <vt:vector size="106" baseType="lpstr">
      <vt:lpstr>Arial Unicode MS</vt:lpstr>
      <vt:lpstr>SimSun</vt:lpstr>
      <vt:lpstr>SimSun</vt:lpstr>
      <vt:lpstr>Arial</vt:lpstr>
      <vt:lpstr>Calibri</vt:lpstr>
      <vt:lpstr>Droid Sans Fallback</vt:lpstr>
      <vt:lpstr>Times New Roman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:</vt:lpstr>
      <vt:lpstr>الإجــابــة :</vt:lpstr>
      <vt:lpstr>Présentation PowerPoint</vt:lpstr>
      <vt:lpstr>Présentation PowerPoint</vt:lpstr>
      <vt:lpstr>1. مــفــاهــيــم أســاســيــة عــن MS-PowerPoint</vt:lpstr>
      <vt:lpstr>أتـذكـر ( 1.1  تـعـــريــف الـبــرنــامـج  PowerPoint  )</vt:lpstr>
      <vt:lpstr>أتـذكـر ( 1.1  تـعـــريــف الـبــرنــامـج  PowerPoint  )</vt:lpstr>
      <vt:lpstr>أتـذكـر ( 1.1  تـعـــريــف الـبــرنــامـج  PowerPoint  )</vt:lpstr>
      <vt:lpstr>أتـذكـر ( 1.1  تـعـــريــف الـبــرنــامـج  PowerPoint  )</vt:lpstr>
      <vt:lpstr>أتـذكـر ( 1.1  تـعـــريــف الـبــرنــامـج  PowerPoint  )</vt:lpstr>
      <vt:lpstr>1. مــفــاهــيــم أســاســيــة عــن MS-PowerPoint</vt:lpstr>
      <vt:lpstr>أتـذكـر ( 2.1 تـعـــريــف الـعـــرض الــتــقـــديــمـي )</vt:lpstr>
      <vt:lpstr>أتـذكـر ( 2.1 تـعـــريــف الـعـــرض الــتــقـــديــمـي )</vt:lpstr>
      <vt:lpstr>أتـذكـر ( 2.1 تـعـــريــف الـعـــرض الــتــقـــديــمـي )</vt:lpstr>
      <vt:lpstr>أتـذكـر ( 2.1 تـعـــريــف الـعـــرض الــتــقـــديــمـي )</vt:lpstr>
      <vt:lpstr>أتـذكـر ( 2.1 تـعـــريــف الـعـــرض الــتــقـــديــمـي )</vt:lpstr>
      <vt:lpstr>أتـذكـر ( 2.1 تـعـــريــف الـعـــرض الــتــقـــديــمـي )</vt:lpstr>
      <vt:lpstr>أتـذكـر ( 2.1 تـعـــريــف الـعـــرض الــتــقـــديــمـي )</vt:lpstr>
      <vt:lpstr>2. أزرار الإجـــراءات   Boutons d’action :</vt:lpstr>
      <vt:lpstr>2. أزرار الإجـــراءات   Boutons d’action :</vt:lpstr>
      <vt:lpstr>2.2 إِدْرَاجُ  زِرُ  الإجــراء  ـــ  تــــابـــع :</vt:lpstr>
      <vt:lpstr>1.2 تـعــريــف ِزرُ الإجــراء </vt:lpstr>
      <vt:lpstr>1.2 تـعــريــف ِزرُ الإجــراء </vt:lpstr>
      <vt:lpstr>1.2 تـعــريــف ِزرُ الإجــراء </vt:lpstr>
      <vt:lpstr>1.2 تـعــريــف ِزرُ الإجــراء </vt:lpstr>
      <vt:lpstr>1.2 تـعــريــف ِزرُ الإجــراء </vt:lpstr>
      <vt:lpstr>1.2 تـعــريــف ِزرُ الإجــراء </vt:lpstr>
      <vt:lpstr>1.2 تـعــريــف ِزرُ الإجــراء </vt:lpstr>
      <vt:lpstr>2.2 إِدْرَاجُ  زِرُ  الإجــراء :</vt:lpstr>
      <vt:lpstr>2.2 إِدْرَاجُ  زِرُ  الإجــراء :</vt:lpstr>
      <vt:lpstr>2.2 إِدْرَاجُ  زِرُ  الإجــراء :</vt:lpstr>
      <vt:lpstr>2.2 إِدْرَاجُ  زِرُ  الإجــراء :</vt:lpstr>
      <vt:lpstr>2.2 إِدْرَاجُ  زِرُ  الإجــراء :</vt:lpstr>
      <vt:lpstr>2.2 إِدْرَاجُ  زِرُ  الإجــراء :</vt:lpstr>
      <vt:lpstr>2.2 إِدْرَاجُ  زِرُ  الإجــراء  ـــ  تــــابـــع :</vt:lpstr>
      <vt:lpstr>2.2 إِدْرَاجُ  زِرُ  الإجــراء  ـــ  تــــابـــع :</vt:lpstr>
      <vt:lpstr>2.2 إِدْرَاجُ  زِرُ  الإجــراء  ـــ  تــــابـــع :</vt:lpstr>
      <vt:lpstr>2.2 إِدْرَاجُ  زِرُ  الإجــراء  ـــ  تــــابـــع :</vt:lpstr>
      <vt:lpstr>2.2 إِدْرَاجُ  زِرُ  الإجــراء  ـــ  تــــابـــع :</vt:lpstr>
      <vt:lpstr>3. الارتــبــاط الـتَــشَــعُّـــبِــي  Lien Hypertexte  :</vt:lpstr>
      <vt:lpstr>1.3 تـعـــريــف الارتــبــاط الـتَــشَــعُّـــبِــي :</vt:lpstr>
      <vt:lpstr>1.3 تـعـــريــف الارتــبــاط الـتَــشَــعُّـــبِــي :</vt:lpstr>
      <vt:lpstr>1.3 تـعـــريــف الارتــبــاط الـتَــشَــعُّـــبِــي :</vt:lpstr>
      <vt:lpstr>1.3 تـعـــريــف الارتــبــاط الـتَــشَــعُّـــبِــي :</vt:lpstr>
      <vt:lpstr>1.3 تـعـــريــف الارتــبــاط الـتَــشَــعُّـــبِــي :</vt:lpstr>
      <vt:lpstr>1.3 تـعـــريــف الارتــبــاط الـتَــشَــعُّـــبِــي :</vt:lpstr>
      <vt:lpstr>2.3 إِدْرَاجُ  ارتــبــاط  تَــشَــعُّـــبِــي :</vt:lpstr>
      <vt:lpstr>2.3 إِدْرَاجُ  ارتــبــاط  تَــشَــعُّـــبِــي :</vt:lpstr>
      <vt:lpstr>2.3 إِدْرَاجُ  ارتــبــاط  تَــشَــعُّـــبِــي :</vt:lpstr>
      <vt:lpstr>2.3 إِدْرَاجُ  ارتــبــاط  تَــشَــعُّـــبِــي :</vt:lpstr>
      <vt:lpstr>2.3 إِدْرَاجُ  ارتــبــاط  تَــشَــعُّـــبِــي :</vt:lpstr>
      <vt:lpstr>2.3 إِدْرَاجُ  ارتــبــاط  تَــشَــعُّـــبِــي :</vt:lpstr>
      <vt:lpstr>2.3 إِدْرَاجُ  ارتــبــاط  تَــشَــعُّـــبِــي :</vt:lpstr>
      <vt:lpstr>2.3 إِدْرَاجُ  ارتــبــاط  تَــشَــعُّـــبِــي :</vt:lpstr>
      <vt:lpstr>4. الـحـــركـــة   Animation :</vt:lpstr>
      <vt:lpstr>1.4 تـعــريــف الـحــركــة الانــتــقــالــيــةTransitions  :</vt:lpstr>
      <vt:lpstr>1.4 تـعــريــف الـحــركــة الانــتــقــالــيــةTransitions  :</vt:lpstr>
      <vt:lpstr>1.4 تـعــريــف الـحــركــة الانــتــقــالــيــةTransitions  :</vt:lpstr>
      <vt:lpstr>1.4 تـعــريــف الـحــركــة الانــتــقــالــيــةTransitions  :</vt:lpstr>
      <vt:lpstr>1.4 تـعــريــف الـحــركــة الانــتــقــالــيــةTransitions  :</vt:lpstr>
      <vt:lpstr>1.4 تـعــريــف الـحــركــة الانــتــقــالــيــةTransitions  :</vt:lpstr>
      <vt:lpstr>1.4 تـعــريــف الـحــركــة الانــتــقــالــيــةTransitions  :</vt:lpstr>
      <vt:lpstr>2.4 تـعــريــف الـحــركــة الـمُـخَــصَّــصــة Animations :</vt:lpstr>
      <vt:lpstr>2.4 تـعــريــف الـحــركــة الـمُـخَــصَّــصــة Animations :</vt:lpstr>
      <vt:lpstr>2.4 تـعــريــف الـحــركــة الـمُـخَــصَّــصــة Animations :</vt:lpstr>
      <vt:lpstr>2.4 تـعــريــف الـحــركــة الـمُـخَــصَّــصــة Animations :</vt:lpstr>
      <vt:lpstr>2.4 تـعــريــف الـحــركــة الـمُـخَــصَّــصــة Animations :</vt:lpstr>
      <vt:lpstr>2.4 تـعــريــف الـحــركــة الـمُـخَــصَّــصــة  ـــ  تـــابـــع </vt:lpstr>
      <vt:lpstr>2.4 تـعــريــف الـحــركــة الـمُـخَــصَّــصــة  ـــ  تـــابـــع </vt:lpstr>
      <vt:lpstr>2.4 تـعــريــف الـحــركــة الـمُـخَــصَّــصــة  ـــ  تـــابـــع </vt:lpstr>
      <vt:lpstr>2.4 تـعــريــف الـحــركــة الـمُـخَــصَّــصــة  ـــ  تـــابـــع </vt:lpstr>
      <vt:lpstr>3.4 أنــواع الـحــركــات الـمُـخَــصَّــصَــة Animations :</vt:lpstr>
      <vt:lpstr>3.4 أنــواع الـحــركــات الـمُـخَــصَّــصَــة Animations :</vt:lpstr>
      <vt:lpstr>3.4 أنــواع الـحــركــات الـمُـخَــصَّــصَــة Animations :</vt:lpstr>
      <vt:lpstr>3.4 أنــواع الـحــركــات الـمُـخَــصَّــصَــة Animations :</vt:lpstr>
      <vt:lpstr>3.4 أنــواع الـحــركــات الـمُـخَــصَّــصَــة Animations :</vt:lpstr>
      <vt:lpstr>3.4 أنــواع الـحــركــات الـمُـخَــصَّــصَــة  ـــ  تــــابـــع :</vt:lpstr>
      <vt:lpstr>3.4 أنــواع الـحــركــات الـمُـخَــصَّــصَــة  ـــ  تــــابـــع :</vt:lpstr>
      <vt:lpstr>3.4 أنــواع الـحــركــات الـمُـخَــصَّــصَــة  ـــ  تــــابـــع :</vt:lpstr>
      <vt:lpstr>3.4 أنــواع الـحــركــات الـمُـخَــصَّــصَــة  ـــ  تــــابـــع :</vt:lpstr>
      <vt:lpstr>3.4 أنــواع الـحــركــات الـمُـخَــصَّــصَــة  ـــ  تــــابـــع :</vt:lpstr>
      <vt:lpstr>3.4 أنــواع الـحــركــات الـمُـخَــصَّــصَــة  ـــ  تــــابـــع :</vt:lpstr>
      <vt:lpstr>3.4 أنــواع الـحــركــات الـمُـخَــصَّــصَــة  ـــ  تــــابـــع :</vt:lpstr>
      <vt:lpstr>3.4 أنــواع الـحــركــات الـمُـخَــصَّــصَــة  ـــ  تــــابـــع :</vt:lpstr>
      <vt:lpstr>3.4 أنــواع الـحــركــات الـمُـخَــصَّــصَــة  ـــ  تــــابـــع :</vt:lpstr>
      <vt:lpstr>3.4 أنــواع الـحــركــات الـمُـخَــصَّــصَــة Animations :</vt:lpstr>
      <vt:lpstr>3.4 أنــواع الـحــركــات الـمُـخَــصَّــصَــة :</vt:lpstr>
      <vt:lpstr>واجــب مــنــزلـي 1  :</vt:lpstr>
      <vt:lpstr>واجــب مــنــزلـي 2  :</vt:lpstr>
      <vt:lpstr>واجــب مــنــزلـي 2   ـــ  تــــابـــع :</vt:lpstr>
      <vt:lpstr>واجــب مــنــزلـي 2  :</vt:lpstr>
      <vt:lpstr>واجــب مــنــزلـي 2  :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2575</cp:revision>
  <dcterms:created xsi:type="dcterms:W3CDTF">2015-11-30T21:00:22Z</dcterms:created>
  <dcterms:modified xsi:type="dcterms:W3CDTF">2026-04-05T07:57:40Z</dcterms:modified>
</cp:coreProperties>
</file>