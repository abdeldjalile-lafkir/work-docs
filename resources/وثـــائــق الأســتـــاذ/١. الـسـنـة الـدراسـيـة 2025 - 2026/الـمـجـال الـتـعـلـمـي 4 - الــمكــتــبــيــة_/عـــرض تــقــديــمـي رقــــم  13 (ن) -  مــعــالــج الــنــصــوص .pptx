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4"/>
  </p:notesMasterIdLst>
  <p:sldIdLst>
    <p:sldId id="273" r:id="rId3"/>
    <p:sldId id="549" r:id="rId4"/>
    <p:sldId id="258" r:id="rId5"/>
    <p:sldId id="447" r:id="rId6"/>
    <p:sldId id="756" r:id="rId7"/>
    <p:sldId id="292" r:id="rId8"/>
    <p:sldId id="695" r:id="rId9"/>
    <p:sldId id="685" r:id="rId10"/>
    <p:sldId id="686" r:id="rId11"/>
    <p:sldId id="696" r:id="rId12"/>
    <p:sldId id="698" r:id="rId13"/>
    <p:sldId id="697" r:id="rId14"/>
    <p:sldId id="701" r:id="rId15"/>
    <p:sldId id="699" r:id="rId16"/>
    <p:sldId id="702" r:id="rId17"/>
    <p:sldId id="708" r:id="rId18"/>
    <p:sldId id="700" r:id="rId19"/>
    <p:sldId id="705" r:id="rId20"/>
    <p:sldId id="848" r:id="rId21"/>
    <p:sldId id="847" r:id="rId22"/>
    <p:sldId id="691" r:id="rId23"/>
    <p:sldId id="692" r:id="rId24"/>
    <p:sldId id="710" r:id="rId25"/>
    <p:sldId id="712" r:id="rId26"/>
    <p:sldId id="719" r:id="rId27"/>
    <p:sldId id="720" r:id="rId28"/>
    <p:sldId id="721" r:id="rId29"/>
    <p:sldId id="706" r:id="rId30"/>
    <p:sldId id="723" r:id="rId31"/>
    <p:sldId id="722" r:id="rId32"/>
    <p:sldId id="732" r:id="rId33"/>
    <p:sldId id="735" r:id="rId34"/>
    <p:sldId id="734" r:id="rId35"/>
    <p:sldId id="733" r:id="rId36"/>
    <p:sldId id="728" r:id="rId37"/>
    <p:sldId id="736" r:id="rId38"/>
    <p:sldId id="740" r:id="rId39"/>
    <p:sldId id="739" r:id="rId40"/>
    <p:sldId id="737" r:id="rId41"/>
    <p:sldId id="744" r:id="rId42"/>
    <p:sldId id="743" r:id="rId43"/>
    <p:sldId id="741" r:id="rId44"/>
    <p:sldId id="755" r:id="rId45"/>
    <p:sldId id="748" r:id="rId46"/>
    <p:sldId id="850" r:id="rId47"/>
    <p:sldId id="849" r:id="rId48"/>
    <p:sldId id="746" r:id="rId49"/>
    <p:sldId id="752" r:id="rId50"/>
    <p:sldId id="751" r:id="rId51"/>
    <p:sldId id="750" r:id="rId52"/>
    <p:sldId id="747" r:id="rId53"/>
    <p:sldId id="754" r:id="rId54"/>
    <p:sldId id="753" r:id="rId55"/>
    <p:sldId id="607" r:id="rId56"/>
    <p:sldId id="761" r:id="rId57"/>
    <p:sldId id="760" r:id="rId58"/>
    <p:sldId id="765" r:id="rId59"/>
    <p:sldId id="764" r:id="rId60"/>
    <p:sldId id="763" r:id="rId61"/>
    <p:sldId id="762" r:id="rId62"/>
    <p:sldId id="766" r:id="rId63"/>
    <p:sldId id="767" r:id="rId64"/>
    <p:sldId id="770" r:id="rId65"/>
    <p:sldId id="776" r:id="rId66"/>
    <p:sldId id="768" r:id="rId67"/>
    <p:sldId id="769" r:id="rId68"/>
    <p:sldId id="773" r:id="rId69"/>
    <p:sldId id="775" r:id="rId70"/>
    <p:sldId id="774" r:id="rId71"/>
    <p:sldId id="777" r:id="rId72"/>
    <p:sldId id="778" r:id="rId73"/>
    <p:sldId id="782" r:id="rId74"/>
    <p:sldId id="781" r:id="rId75"/>
    <p:sldId id="780" r:id="rId76"/>
    <p:sldId id="779" r:id="rId77"/>
    <p:sldId id="785" r:id="rId78"/>
    <p:sldId id="866" r:id="rId79"/>
    <p:sldId id="870" r:id="rId80"/>
    <p:sldId id="869" r:id="rId81"/>
    <p:sldId id="868" r:id="rId82"/>
    <p:sldId id="867" r:id="rId83"/>
    <p:sldId id="784" r:id="rId84"/>
    <p:sldId id="791" r:id="rId85"/>
    <p:sldId id="790" r:id="rId86"/>
    <p:sldId id="792" r:id="rId87"/>
    <p:sldId id="793" r:id="rId88"/>
    <p:sldId id="803" r:id="rId89"/>
    <p:sldId id="802" r:id="rId90"/>
    <p:sldId id="805" r:id="rId91"/>
    <p:sldId id="807" r:id="rId92"/>
    <p:sldId id="806" r:id="rId93"/>
    <p:sldId id="808" r:id="rId94"/>
    <p:sldId id="795" r:id="rId95"/>
    <p:sldId id="811" r:id="rId96"/>
    <p:sldId id="810" r:id="rId97"/>
    <p:sldId id="809" r:id="rId98"/>
    <p:sldId id="796" r:id="rId99"/>
    <p:sldId id="813" r:id="rId100"/>
    <p:sldId id="812" r:id="rId101"/>
    <p:sldId id="871" r:id="rId102"/>
    <p:sldId id="814" r:id="rId103"/>
    <p:sldId id="873" r:id="rId104"/>
    <p:sldId id="872" r:id="rId105"/>
    <p:sldId id="874" r:id="rId106"/>
    <p:sldId id="859" r:id="rId107"/>
    <p:sldId id="858" r:id="rId108"/>
    <p:sldId id="857" r:id="rId109"/>
    <p:sldId id="856" r:id="rId110"/>
    <p:sldId id="820" r:id="rId111"/>
    <p:sldId id="860" r:id="rId112"/>
    <p:sldId id="819" r:id="rId113"/>
    <p:sldId id="800" r:id="rId114"/>
    <p:sldId id="801" r:id="rId115"/>
    <p:sldId id="823" r:id="rId116"/>
    <p:sldId id="825" r:id="rId117"/>
    <p:sldId id="822" r:id="rId118"/>
    <p:sldId id="861" r:id="rId119"/>
    <p:sldId id="821" r:id="rId120"/>
    <p:sldId id="824" r:id="rId121"/>
    <p:sldId id="829" r:id="rId122"/>
    <p:sldId id="828" r:id="rId123"/>
    <p:sldId id="827" r:id="rId124"/>
    <p:sldId id="826" r:id="rId125"/>
    <p:sldId id="830" r:id="rId126"/>
    <p:sldId id="831" r:id="rId127"/>
    <p:sldId id="832" r:id="rId128"/>
    <p:sldId id="839" r:id="rId129"/>
    <p:sldId id="841" r:id="rId130"/>
    <p:sldId id="865" r:id="rId131"/>
    <p:sldId id="864" r:id="rId132"/>
    <p:sldId id="863" r:id="rId133"/>
    <p:sldId id="862" r:id="rId134"/>
    <p:sldId id="834" r:id="rId135"/>
    <p:sldId id="838" r:id="rId136"/>
    <p:sldId id="837" r:id="rId137"/>
    <p:sldId id="836" r:id="rId138"/>
    <p:sldId id="835" r:id="rId139"/>
    <p:sldId id="842" r:id="rId140"/>
    <p:sldId id="843" r:id="rId141"/>
    <p:sldId id="844" r:id="rId142"/>
    <p:sldId id="338" r:id="rId143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al" initials="D" lastIdx="0" clrIdx="0">
    <p:extLst>
      <p:ext uri="{19B8F6BF-5375-455C-9EA6-DF929625EA0E}">
        <p15:presenceInfo xmlns:p15="http://schemas.microsoft.com/office/powerpoint/2012/main" userId="Du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57" autoAdjust="0"/>
    <p:restoredTop sz="94434" autoAdjust="0"/>
  </p:normalViewPr>
  <p:slideViewPr>
    <p:cSldViewPr>
      <p:cViewPr varScale="1">
        <p:scale>
          <a:sx n="82" d="100"/>
          <a:sy n="82" d="100"/>
        </p:scale>
        <p:origin x="198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5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63" Type="http://schemas.openxmlformats.org/officeDocument/2006/relationships/slide" Target="slides/slide61.xml"/><Relationship Id="rId84" Type="http://schemas.openxmlformats.org/officeDocument/2006/relationships/slide" Target="slides/slide82.xml"/><Relationship Id="rId138" Type="http://schemas.openxmlformats.org/officeDocument/2006/relationships/slide" Target="slides/slide136.xml"/><Relationship Id="rId107" Type="http://schemas.openxmlformats.org/officeDocument/2006/relationships/slide" Target="slides/slide105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53" Type="http://schemas.openxmlformats.org/officeDocument/2006/relationships/slide" Target="slides/slide51.xml"/><Relationship Id="rId74" Type="http://schemas.openxmlformats.org/officeDocument/2006/relationships/slide" Target="slides/slide72.xml"/><Relationship Id="rId128" Type="http://schemas.openxmlformats.org/officeDocument/2006/relationships/slide" Target="slides/slide126.xml"/><Relationship Id="rId149" Type="http://schemas.openxmlformats.org/officeDocument/2006/relationships/tableStyles" Target="tableStyles.xml"/><Relationship Id="rId5" Type="http://schemas.openxmlformats.org/officeDocument/2006/relationships/slide" Target="slides/slide3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113" Type="http://schemas.openxmlformats.org/officeDocument/2006/relationships/slide" Target="slides/slide111.xml"/><Relationship Id="rId118" Type="http://schemas.openxmlformats.org/officeDocument/2006/relationships/slide" Target="slides/slide116.xml"/><Relationship Id="rId134" Type="http://schemas.openxmlformats.org/officeDocument/2006/relationships/slide" Target="slides/slide132.xml"/><Relationship Id="rId139" Type="http://schemas.openxmlformats.org/officeDocument/2006/relationships/slide" Target="slides/slide13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59" Type="http://schemas.openxmlformats.org/officeDocument/2006/relationships/slide" Target="slides/slide57.xml"/><Relationship Id="rId103" Type="http://schemas.openxmlformats.org/officeDocument/2006/relationships/slide" Target="slides/slide101.xml"/><Relationship Id="rId108" Type="http://schemas.openxmlformats.org/officeDocument/2006/relationships/slide" Target="slides/slide106.xml"/><Relationship Id="rId124" Type="http://schemas.openxmlformats.org/officeDocument/2006/relationships/slide" Target="slides/slide122.xml"/><Relationship Id="rId129" Type="http://schemas.openxmlformats.org/officeDocument/2006/relationships/slide" Target="slides/slide127.xml"/><Relationship Id="rId54" Type="http://schemas.openxmlformats.org/officeDocument/2006/relationships/slide" Target="slides/slide52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40" Type="http://schemas.openxmlformats.org/officeDocument/2006/relationships/slide" Target="slides/slide138.xml"/><Relationship Id="rId145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49" Type="http://schemas.openxmlformats.org/officeDocument/2006/relationships/slide" Target="slides/slide47.xml"/><Relationship Id="rId114" Type="http://schemas.openxmlformats.org/officeDocument/2006/relationships/slide" Target="slides/slide112.xml"/><Relationship Id="rId119" Type="http://schemas.openxmlformats.org/officeDocument/2006/relationships/slide" Target="slides/slide117.xml"/><Relationship Id="rId44" Type="http://schemas.openxmlformats.org/officeDocument/2006/relationships/slide" Target="slides/slide42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130" Type="http://schemas.openxmlformats.org/officeDocument/2006/relationships/slide" Target="slides/slide128.xml"/><Relationship Id="rId135" Type="http://schemas.openxmlformats.org/officeDocument/2006/relationships/slide" Target="slides/slide133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109" Type="http://schemas.openxmlformats.org/officeDocument/2006/relationships/slide" Target="slides/slide10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104" Type="http://schemas.openxmlformats.org/officeDocument/2006/relationships/slide" Target="slides/slide102.xml"/><Relationship Id="rId120" Type="http://schemas.openxmlformats.org/officeDocument/2006/relationships/slide" Target="slides/slide118.xml"/><Relationship Id="rId125" Type="http://schemas.openxmlformats.org/officeDocument/2006/relationships/slide" Target="slides/slide123.xml"/><Relationship Id="rId141" Type="http://schemas.openxmlformats.org/officeDocument/2006/relationships/slide" Target="slides/slide139.xml"/><Relationship Id="rId146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110" Type="http://schemas.openxmlformats.org/officeDocument/2006/relationships/slide" Target="slides/slide108.xml"/><Relationship Id="rId115" Type="http://schemas.openxmlformats.org/officeDocument/2006/relationships/slide" Target="slides/slide113.xml"/><Relationship Id="rId131" Type="http://schemas.openxmlformats.org/officeDocument/2006/relationships/slide" Target="slides/slide129.xml"/><Relationship Id="rId136" Type="http://schemas.openxmlformats.org/officeDocument/2006/relationships/slide" Target="slides/slide134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slide" Target="slides/slide98.xml"/><Relationship Id="rId105" Type="http://schemas.openxmlformats.org/officeDocument/2006/relationships/slide" Target="slides/slide103.xml"/><Relationship Id="rId126" Type="http://schemas.openxmlformats.org/officeDocument/2006/relationships/slide" Target="slides/slide124.xml"/><Relationship Id="rId147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121" Type="http://schemas.openxmlformats.org/officeDocument/2006/relationships/slide" Target="slides/slide119.xml"/><Relationship Id="rId142" Type="http://schemas.openxmlformats.org/officeDocument/2006/relationships/slide" Target="slides/slide140.xml"/><Relationship Id="rId3" Type="http://schemas.openxmlformats.org/officeDocument/2006/relationships/slide" Target="slides/slide1.xml"/><Relationship Id="rId25" Type="http://schemas.openxmlformats.org/officeDocument/2006/relationships/slide" Target="slides/slide23.xml"/><Relationship Id="rId46" Type="http://schemas.openxmlformats.org/officeDocument/2006/relationships/slide" Target="slides/slide44.xml"/><Relationship Id="rId67" Type="http://schemas.openxmlformats.org/officeDocument/2006/relationships/slide" Target="slides/slide65.xml"/><Relationship Id="rId116" Type="http://schemas.openxmlformats.org/officeDocument/2006/relationships/slide" Target="slides/slide114.xml"/><Relationship Id="rId137" Type="http://schemas.openxmlformats.org/officeDocument/2006/relationships/slide" Target="slides/slide13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62" Type="http://schemas.openxmlformats.org/officeDocument/2006/relationships/slide" Target="slides/slide60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111" Type="http://schemas.openxmlformats.org/officeDocument/2006/relationships/slide" Target="slides/slide109.xml"/><Relationship Id="rId132" Type="http://schemas.openxmlformats.org/officeDocument/2006/relationships/slide" Target="slides/slide130.xml"/><Relationship Id="rId15" Type="http://schemas.openxmlformats.org/officeDocument/2006/relationships/slide" Target="slides/slide13.xml"/><Relationship Id="rId36" Type="http://schemas.openxmlformats.org/officeDocument/2006/relationships/slide" Target="slides/slide34.xml"/><Relationship Id="rId57" Type="http://schemas.openxmlformats.org/officeDocument/2006/relationships/slide" Target="slides/slide55.xml"/><Relationship Id="rId106" Type="http://schemas.openxmlformats.org/officeDocument/2006/relationships/slide" Target="slides/slide104.xml"/><Relationship Id="rId127" Type="http://schemas.openxmlformats.org/officeDocument/2006/relationships/slide" Target="slides/slide12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52" Type="http://schemas.openxmlformats.org/officeDocument/2006/relationships/slide" Target="slides/slide50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94" Type="http://schemas.openxmlformats.org/officeDocument/2006/relationships/slide" Target="slides/slide92.xml"/><Relationship Id="rId99" Type="http://schemas.openxmlformats.org/officeDocument/2006/relationships/slide" Target="slides/slide97.xml"/><Relationship Id="rId101" Type="http://schemas.openxmlformats.org/officeDocument/2006/relationships/slide" Target="slides/slide99.xml"/><Relationship Id="rId122" Type="http://schemas.openxmlformats.org/officeDocument/2006/relationships/slide" Target="slides/slide120.xml"/><Relationship Id="rId143" Type="http://schemas.openxmlformats.org/officeDocument/2006/relationships/slide" Target="slides/slide141.xml"/><Relationship Id="rId148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26" Type="http://schemas.openxmlformats.org/officeDocument/2006/relationships/slide" Target="slides/slide24.xml"/><Relationship Id="rId47" Type="http://schemas.openxmlformats.org/officeDocument/2006/relationships/slide" Target="slides/slide45.xml"/><Relationship Id="rId68" Type="http://schemas.openxmlformats.org/officeDocument/2006/relationships/slide" Target="slides/slide66.xml"/><Relationship Id="rId89" Type="http://schemas.openxmlformats.org/officeDocument/2006/relationships/slide" Target="slides/slide87.xml"/><Relationship Id="rId112" Type="http://schemas.openxmlformats.org/officeDocument/2006/relationships/slide" Target="slides/slide110.xml"/><Relationship Id="rId133" Type="http://schemas.openxmlformats.org/officeDocument/2006/relationships/slide" Target="slides/slide131.xml"/><Relationship Id="rId16" Type="http://schemas.openxmlformats.org/officeDocument/2006/relationships/slide" Target="slides/slide14.xml"/><Relationship Id="rId37" Type="http://schemas.openxmlformats.org/officeDocument/2006/relationships/slide" Target="slides/slide35.xml"/><Relationship Id="rId58" Type="http://schemas.openxmlformats.org/officeDocument/2006/relationships/slide" Target="slides/slide56.xml"/><Relationship Id="rId79" Type="http://schemas.openxmlformats.org/officeDocument/2006/relationships/slide" Target="slides/slide77.xml"/><Relationship Id="rId102" Type="http://schemas.openxmlformats.org/officeDocument/2006/relationships/slide" Target="slides/slide100.xml"/><Relationship Id="rId123" Type="http://schemas.openxmlformats.org/officeDocument/2006/relationships/slide" Target="slides/slide121.xml"/><Relationship Id="rId144" Type="http://schemas.openxmlformats.org/officeDocument/2006/relationships/notesMaster" Target="notesMasters/notesMaster1.xml"/><Relationship Id="rId90" Type="http://schemas.openxmlformats.org/officeDocument/2006/relationships/slide" Target="slides/slide8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07165-6FA1-4F51-AE2F-3E34D4EE60DB}" type="datetimeFigureOut">
              <a:rPr lang="fr-FR" smtClean="0"/>
              <a:pPr/>
              <a:t>30/01/2026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BD788-2CE9-4B58-A72D-7A842BE88A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437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770852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2086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5551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7435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84152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799A-AD1E-4EC4-BAE9-72E49FCD3627}" type="datetime1">
              <a:rPr lang="fr-FR" smtClean="0"/>
              <a:t>30/01/2026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01B79-79D6-441E-BF1E-BF238058A2BE}" type="datetime1">
              <a:rPr lang="fr-FR" smtClean="0"/>
              <a:t>30/01/2026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01902-2934-498C-B9CD-ABFFBDC132D2}" type="datetime1">
              <a:rPr lang="fr-FR" smtClean="0"/>
              <a:t>30/01/2026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BA51-70A3-4108-A886-33F689CBCDCE}" type="datetime1">
              <a:rPr lang="fr-FR" smtClean="0"/>
              <a:t>30/01/2026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FC74-5BB7-4110-9531-403E0DC6FCC3}" type="datetime1">
              <a:rPr lang="fr-FR" smtClean="0"/>
              <a:t>30/01/2026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5D57-B0FA-4850-A7A9-46BC746BF18D}" type="datetime1">
              <a:rPr lang="fr-FR" smtClean="0"/>
              <a:t>30/01/2026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EED2-DA68-42E6-BB32-4BDF58561745}" type="datetime1">
              <a:rPr lang="fr-FR" smtClean="0"/>
              <a:t>30/01/2026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66D5-8CED-4255-B840-C3038CA10D44}" type="datetime1">
              <a:rPr lang="fr-FR" smtClean="0"/>
              <a:t>30/01/2026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74B6-0C57-4CBC-8085-4FAD680CE4E3}" type="datetime1">
              <a:rPr lang="fr-FR" smtClean="0"/>
              <a:t>30/01/2026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783B9-A837-41A0-BB3E-10BAC9E24798}" type="datetime1">
              <a:rPr lang="fr-FR" smtClean="0"/>
              <a:t>30/01/2026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622B-0FD0-4642-A755-FF44A3648A33}" type="datetime1">
              <a:rPr lang="fr-FR" smtClean="0"/>
              <a:t>30/01/2026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45A6B-277E-4029-9E0B-0271FFE59EB6}" type="datetime1">
              <a:rPr lang="fr-FR" smtClean="0"/>
              <a:t>30/01/2026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7F164-2AFA-4878-B6DC-B21DA486304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0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EAD95-047D-434C-94E6-21EBF421E084}" type="datetime1">
              <a:rPr lang="fr-FR" smtClean="0"/>
              <a:t>30/01/2026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7CCD0-4F98-4392-B995-B19C0157D76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793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0E85B-6058-4423-8F7A-4FBB18FA07C1}" type="datetime1">
              <a:rPr lang="fr-FR" smtClean="0"/>
              <a:t>30/01/2026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7F796-EFDC-4369-84AD-973929CACFD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1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2" y="1981201"/>
            <a:ext cx="5077884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5484" y="1981201"/>
            <a:ext cx="508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A6324-8179-42BA-9313-AB3649298C41}" type="datetime1">
              <a:rPr lang="fr-FR" smtClean="0"/>
              <a:t>30/01/2026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A6A9D-AE4D-4B9F-82A2-A8A1879CF1F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07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49203-36D1-40BE-98DA-9DA8422BCD53}" type="datetime1">
              <a:rPr lang="fr-FR" smtClean="0"/>
              <a:t>30/01/2026</a:t>
            </a:fld>
            <a:endParaRPr lang="fr-F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DD686-4B0E-404B-9A8C-39B7649B33F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098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477A3-8FE0-4B7E-A69A-AF8A31224535}" type="datetime1">
              <a:rPr lang="fr-FR" smtClean="0"/>
              <a:t>30/01/2026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7A8C2-4022-4423-AD6A-3808F8CCE6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3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265DF-C9D6-4224-B0D0-B18720FAE376}" type="datetime1">
              <a:rPr lang="fr-FR" smtClean="0"/>
              <a:t>30/01/2026</a:t>
            </a:fld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0BB9D-EEFD-47F1-8456-A76ECCAD119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84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B563E-CA6D-4202-9FD3-4E9C2001BF5C}" type="datetime1">
              <a:rPr lang="fr-FR" smtClean="0"/>
              <a:t>30/01/2026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92917-01B5-4E8C-BFEC-18FD0A17E8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57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CC719-82BB-485C-9884-0955D2EDAFDA}" type="datetime1">
              <a:rPr lang="fr-FR" smtClean="0"/>
              <a:t>30/01/2026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56B6E-88B6-4A57-AEFD-EA1E6BE9AD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68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81FDD-F3A2-4361-94BD-09467961B8B4}" type="datetime1">
              <a:rPr lang="fr-FR" smtClean="0"/>
              <a:t>30/01/2026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F4B7C2-8CE4-4BAD-9D0C-80765E61DE9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9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2" y="609603"/>
            <a:ext cx="2588684" cy="5484813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3"/>
            <a:ext cx="7569200" cy="548481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BB1012-3A3D-4B91-A754-A02A28E75EEE}" type="datetime1">
              <a:rPr lang="fr-FR" smtClean="0"/>
              <a:t>30/01/2026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9EC31-E3B7-4FC8-BB6A-FBF82360E3C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34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2" y="609603"/>
            <a:ext cx="10361084" cy="1141413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A0297-0565-4E69-9C42-831900A170AB}" type="datetime1">
              <a:rPr lang="fr-FR" smtClean="0"/>
              <a:t>30/01/2026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E9879-8CFB-4292-8612-256D92E5B28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37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9D3C-AC6F-429E-8EA4-013C4366CE2E}" type="datetime1">
              <a:rPr lang="fr-FR" smtClean="0"/>
              <a:t>30/01/2026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2" y="609603"/>
            <a:ext cx="10361084" cy="11414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texte-titre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2" y="1981201"/>
            <a:ext cx="10361084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plan de texte</a:t>
            </a:r>
          </a:p>
          <a:p>
            <a:pPr lvl="1"/>
            <a:r>
              <a:rPr lang="en-GB" smtClean="0"/>
              <a:t>Second niveau de plan</a:t>
            </a:r>
          </a:p>
          <a:p>
            <a:pPr lvl="2"/>
            <a:r>
              <a:rPr lang="en-GB" smtClean="0"/>
              <a:t>Troisième niveau de plan</a:t>
            </a:r>
          </a:p>
          <a:p>
            <a:pPr lvl="3"/>
            <a:r>
              <a:rPr lang="en-GB" smtClean="0"/>
              <a:t>Quatrième niveau de plan</a:t>
            </a:r>
          </a:p>
          <a:p>
            <a:pPr lvl="4"/>
            <a:r>
              <a:rPr lang="en-GB" smtClean="0"/>
              <a:t>Cinquième niveau de plan</a:t>
            </a:r>
          </a:p>
          <a:p>
            <a:pPr lvl="4"/>
            <a:r>
              <a:rPr lang="en-GB" smtClean="0"/>
              <a:t>Sixième niveau de plan</a:t>
            </a:r>
          </a:p>
          <a:p>
            <a:pPr lvl="4"/>
            <a:r>
              <a:rPr lang="en-GB" smtClean="0"/>
              <a:t>Septième niveau de plan</a:t>
            </a:r>
          </a:p>
          <a:p>
            <a:pPr lvl="4"/>
            <a:r>
              <a:rPr lang="en-GB" smtClean="0"/>
              <a:t>Huitième niveau de plan</a:t>
            </a:r>
          </a:p>
          <a:p>
            <a:pPr lvl="4"/>
            <a:r>
              <a:rPr lang="en-GB" smtClean="0"/>
              <a:t>Neuvième niveau de plan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914402" y="6248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AFBB3673-710D-4D29-AC82-167E94112C65}" type="datetime1">
              <a:rPr lang="fr-FR" sz="2400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30/01/2026</a:t>
            </a:fld>
            <a:endParaRPr lang="fr-FR" sz="240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165602" y="6248403"/>
            <a:ext cx="38586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endParaRPr lang="fr-FR" sz="24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11277602" y="6629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7FD84E5A-625F-47DD-A5B9-EA1D8EC3DB43}" type="slidenum">
              <a:rPr lang="fr-FR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‹N°›</a:t>
            </a:fld>
            <a:endParaRPr lang="fr-FR"/>
          </a:p>
        </p:txBody>
      </p:sp>
      <p:pic>
        <p:nvPicPr>
          <p:cNvPr id="1031" name="Picture 6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12192000" cy="1295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674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5pPr>
      <a:lvl6pPr marL="25146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6pPr>
      <a:lvl7pPr marL="29718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7pPr>
      <a:lvl8pPr marL="34290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8pPr>
      <a:lvl9pPr marL="38862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 dirty="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16480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32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30/01/2026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127448" y="2030870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ثــانــويــة أسـي يــوسـف بــوغــنـي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 </a:t>
            </a:r>
          </a:p>
          <a:p>
            <a:pPr lvl="0" algn="ctr" defTabSz="10096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الـمــــادة : الـمــعـــلـــومــــاتـــيـــة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 </a:t>
            </a:r>
            <a:endParaRPr lang="ar-SA" altLang="zh-CN" sz="6000" b="1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>
              <a:lnSpc>
                <a:spcPct val="150000"/>
              </a:lnSpc>
            </a:pPr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234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:</a:t>
            </a: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0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الـــ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م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ك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ب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يــــ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ــة</a:t>
            </a:r>
            <a:endParaRPr lang="fr-FR" sz="40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30/01/2026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1159008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 smtClean="0">
                <a:solidFill>
                  <a:srgbClr val="FF0000"/>
                </a:solidFill>
                <a:cs typeface="+mj-cs"/>
              </a:rPr>
              <a:t>الإشــكــالــيــة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cs typeface="+mj-cs"/>
              </a:rPr>
              <a:t>إذَا طُـلِـبَ </a:t>
            </a:r>
            <a:r>
              <a:rPr lang="ar-DZ" sz="4000" b="1" dirty="0" smtClean="0">
                <a:cs typeface="+mj-cs"/>
              </a:rPr>
              <a:t>مِـنْـكَ </a:t>
            </a:r>
            <a:r>
              <a:rPr lang="ar-DZ" sz="4000" b="1" dirty="0">
                <a:cs typeface="+mj-cs"/>
              </a:rPr>
              <a:t>إنـجــاز بـحــث حــول </a:t>
            </a:r>
            <a:r>
              <a:rPr lang="ar-DZ" sz="4000" b="1" u="sng" dirty="0">
                <a:cs typeface="+mj-cs"/>
              </a:rPr>
              <a:t>الـمــكــتــبــيــة</a:t>
            </a:r>
            <a:r>
              <a:rPr lang="ar-DZ" sz="4000" b="1" dirty="0">
                <a:cs typeface="+mj-cs"/>
              </a:rPr>
              <a:t> </a:t>
            </a:r>
            <a:r>
              <a:rPr lang="ar-DZ" sz="4000" b="1" dirty="0" smtClean="0">
                <a:cs typeface="+mj-cs"/>
              </a:rPr>
              <a:t>مَــثَــلًا، </a:t>
            </a:r>
            <a:r>
              <a:rPr lang="ar-DZ" sz="4000" b="1" dirty="0">
                <a:cs typeface="+mj-cs"/>
              </a:rPr>
              <a:t>بـحــيــث </a:t>
            </a:r>
            <a:r>
              <a:rPr lang="ar-DZ" sz="4000" b="1" dirty="0" smtClean="0">
                <a:cs typeface="+mj-cs"/>
              </a:rPr>
              <a:t>يَــكُــونُ </a:t>
            </a:r>
            <a:r>
              <a:rPr lang="ar-DZ" sz="4000" b="1" u="sng" dirty="0" smtClean="0">
                <a:cs typeface="+mj-cs"/>
              </a:rPr>
              <a:t>تَــسْــلِــيـــمُـهُ</a:t>
            </a:r>
            <a:r>
              <a:rPr lang="ar-DZ" sz="4000" b="1" dirty="0" smtClean="0">
                <a:cs typeface="+mj-cs"/>
              </a:rPr>
              <a:t> فِـي </a:t>
            </a:r>
            <a:r>
              <a:rPr lang="ar-DZ" sz="4000" b="1" u="sng" dirty="0" smtClean="0">
                <a:cs typeface="+mj-cs"/>
              </a:rPr>
              <a:t>نُــسْــخَـةٍ مَــطْــبُــوعَــةٍ ولــيــســت مَــخْـــطُـــوطَــة</a:t>
            </a:r>
            <a:r>
              <a:rPr lang="ar-DZ" sz="4000" b="1" dirty="0" smtClean="0">
                <a:cs typeface="+mj-cs"/>
              </a:rPr>
              <a:t> ، فــمــا هـــو الـبــرنـــامــج الَّــذِي </a:t>
            </a:r>
            <a:r>
              <a:rPr lang="ar-DZ" sz="4000" b="1" dirty="0">
                <a:cs typeface="+mj-cs"/>
              </a:rPr>
              <a:t>سَــتَــسْــتَــعْــمِــلُـه </a:t>
            </a:r>
            <a:r>
              <a:rPr lang="ar-DZ" sz="4000" b="1" dirty="0" smtClean="0">
                <a:cs typeface="+mj-cs"/>
              </a:rPr>
              <a:t>لإِنْــشَـــاءِ الـوَثِـــيــــقَــةِ الــمَــطْـــلُــوبَــة </a:t>
            </a:r>
            <a:r>
              <a:rPr lang="ar-DZ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 </a:t>
            </a:r>
            <a:endParaRPr lang="ar-DZ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r" rtl="1">
              <a:buNone/>
            </a:pPr>
            <a:endParaRPr lang="ar-DZ" sz="4000" b="1" dirty="0" smtClean="0">
              <a:cs typeface="+mj-cs"/>
            </a:endParaRPr>
          </a:p>
          <a:p>
            <a:pPr marL="0" indent="0" algn="r" rtl="1">
              <a:buNone/>
            </a:pPr>
            <a:endParaRPr lang="ar-DZ" sz="4000" b="1" dirty="0">
              <a:cs typeface="+mj-cs"/>
            </a:endParaRPr>
          </a:p>
          <a:p>
            <a:pPr marL="0" indent="0" algn="r" rtl="1">
              <a:buNone/>
            </a:pPr>
            <a:r>
              <a:rPr lang="ar-DZ" sz="4400" b="1" dirty="0" smtClean="0">
                <a:cs typeface="+mj-cs"/>
              </a:rPr>
              <a:t>الـبــرنـــامــج </a:t>
            </a:r>
            <a:r>
              <a:rPr lang="ar-DZ" sz="4400" b="1" dirty="0">
                <a:cs typeface="+mj-cs"/>
              </a:rPr>
              <a:t>هــو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</a:t>
            </a:r>
            <a:r>
              <a:rPr lang="ar-DZ" sz="44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</a:t>
            </a:r>
            <a:endParaRPr lang="ar-DZ" sz="4400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444500" indent="0" algn="r" rtl="1">
              <a:lnSpc>
                <a:spcPct val="12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57739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r" rtl="1">
              <a:buNone/>
            </a:pPr>
            <a:endParaRPr lang="ar-DZ" sz="4000" b="1" dirty="0" smtClean="0">
              <a:cs typeface="+mj-cs"/>
            </a:endParaRPr>
          </a:p>
          <a:p>
            <a:pPr marL="0" indent="0" algn="r" rtl="1">
              <a:buNone/>
            </a:pPr>
            <a:endParaRPr lang="ar-DZ" sz="4000" b="1" dirty="0">
              <a:cs typeface="+mj-cs"/>
            </a:endParaRPr>
          </a:p>
          <a:p>
            <a:pPr marL="0" indent="0" algn="r" rtl="1">
              <a:buNone/>
            </a:pPr>
            <a:r>
              <a:rPr lang="ar-DZ" sz="4400" b="1" dirty="0" smtClean="0">
                <a:cs typeface="+mj-cs"/>
              </a:rPr>
              <a:t>الـبــرنـــامــج </a:t>
            </a:r>
            <a:r>
              <a:rPr lang="ar-DZ" sz="4400" b="1" dirty="0">
                <a:cs typeface="+mj-cs"/>
              </a:rPr>
              <a:t>هــو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</a:t>
            </a:r>
            <a:r>
              <a:rPr lang="ar-DZ" sz="44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</a:t>
            </a:r>
            <a:endParaRPr lang="ar-DZ" sz="4400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444500" indent="0" algn="r" rtl="1">
              <a:lnSpc>
                <a:spcPct val="12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11424" y="3031993"/>
            <a:ext cx="66967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مـعــالــج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الـنـصـوص </a:t>
            </a:r>
            <a:r>
              <a:rPr lang="fr-FR" sz="4400" b="1" dirty="0">
                <a:solidFill>
                  <a:srgbClr val="0070C0"/>
                </a:solidFill>
                <a:cs typeface="+mj-cs"/>
              </a:rPr>
              <a:t>MS-Word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977476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</a:t>
            </a:r>
            <a:r>
              <a:rPr lang="ar-DZ" sz="4000" b="1" dirty="0" smtClean="0">
                <a:solidFill>
                  <a:srgbClr val="0070C0"/>
                </a:solidFill>
              </a:rPr>
              <a:t>مــعـــالـــج الــنــصــوص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>
              <a:lnSpc>
                <a:spcPct val="135000"/>
              </a:lnSpc>
            </a:pPr>
            <a:r>
              <a:rPr lang="ar-DZ" altLang="zh-CN" sz="40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0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الـــ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م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ك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ب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يــــ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ــة</a:t>
            </a:r>
            <a:endParaRPr lang="fr-FR" sz="40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30/01/2026</a:t>
            </a:fld>
            <a:endParaRPr lang="fr-BE" sz="2400" b="1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587388" y="5081119"/>
            <a:ext cx="6660740" cy="1586641"/>
          </a:xfrm>
          <a:prstGeom prst="roundRect">
            <a:avLst>
              <a:gd name="adj" fmla="val 26762"/>
            </a:avLst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zh-CN" sz="4000" b="1" dirty="0" smtClean="0">
                <a:ln w="0"/>
                <a:solidFill>
                  <a:prstClr val="black"/>
                </a:solidFill>
                <a:latin typeface="Times New Roman" panose="02020603050405020304" pitchFamily="18" charset="0"/>
                <a:cs typeface="+mj-cs"/>
              </a:rPr>
              <a:t>MS-Word</a:t>
            </a:r>
            <a:r>
              <a:rPr lang="ar-DZ" altLang="zh-CN" sz="4000" b="1" dirty="0" smtClean="0">
                <a:ln w="0"/>
                <a:solidFill>
                  <a:prstClr val="black"/>
                </a:solidFill>
                <a:latin typeface="Arial" pitchFamily="34" charset="0"/>
                <a:cs typeface="+mj-cs"/>
              </a:rPr>
              <a:t> </a:t>
            </a:r>
            <a:r>
              <a:rPr lang="fr-FR" altLang="zh-CN" sz="4000" b="1" dirty="0" smtClean="0">
                <a:ln w="0"/>
                <a:solidFill>
                  <a:prstClr val="black"/>
                </a:solidFill>
                <a:latin typeface="Arial" pitchFamily="34" charset="0"/>
                <a:cs typeface="+mj-cs"/>
              </a:rPr>
              <a:t> </a:t>
            </a:r>
            <a:r>
              <a:rPr lang="fr-FR" altLang="zh-CN" sz="4000" b="1" dirty="0" smtClean="0">
                <a:ln w="0"/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altLang="zh-CN" sz="4000" b="1" dirty="0" smtClean="0">
                <a:ln w="0"/>
                <a:solidFill>
                  <a:prstClr val="black"/>
                </a:solidFill>
                <a:latin typeface="Arial" pitchFamily="34" charset="0"/>
                <a:cs typeface="+mj-cs"/>
              </a:rPr>
              <a:t> </a:t>
            </a:r>
            <a:r>
              <a:rPr lang="fr-FR" altLang="zh-CN" sz="4000" b="1" dirty="0" smtClean="0">
                <a:ln w="0"/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MS-Office )</a:t>
            </a:r>
            <a:endParaRPr lang="ar-SA" altLang="zh-CN" sz="4000" b="1" dirty="0" smtClean="0">
              <a:ln w="0"/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FR" sz="2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4281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1916832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مَــــــــــدْخَــــــــــل إِلَـــى الــ</a:t>
            </a:r>
            <a:r>
              <a:rPr lang="ar-DZ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مَ</a:t>
            </a:r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DZ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كْ</a:t>
            </a:r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ـــــ</a:t>
            </a:r>
            <a:r>
              <a:rPr lang="ar-DZ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تَ</a:t>
            </a:r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DZ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DZ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بِ</a:t>
            </a:r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DZ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DZ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يَــــ</a:t>
            </a:r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ــة</a:t>
            </a:r>
            <a:endParaRPr lang="ar-SA" altLang="zh-CN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30/01/2026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573437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1.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مــفــهــوم الــمــكـــتـــبـــيــة   </a:t>
            </a:r>
            <a:r>
              <a:rPr lang="fr-FR" sz="4800" b="1" dirty="0">
                <a:solidFill>
                  <a:srgbClr val="FF0000"/>
                </a:solidFill>
                <a:cs typeface="+mj-cs"/>
              </a:rPr>
              <a:t>Bureautique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54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مـــاذا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تــعــرفــون عــن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الـمــكـــتـــبـــيـــة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تــعـــريــف الــمَـــكْـــتَـــبِـــيَـــة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88489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 تـعـــريــف الــمَـــكْـــتَـــبِـــيَـــة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الـمـكـتـبـيـة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هـي مـجــمـوعـة مـن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الـمُــوَفَّـــرَة والـمُــسْــتَــعْـــمَــلَــة لِـغَـــرَضِ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لـمـخــتــلــف 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الـمُــنْـجَــزَة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مــكــتــب خُــصُـوصًــا مـعــالــجــة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الاتـصـال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وغــيــرهــا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05451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 تـعـــريــف الــمَـــكْـــتَـــبِـــيَـــة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الـمـكـتـبـيـة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مـجــمـوعـة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الـمُــوَفَّـــرَة والـمُــسْــتَــعْـــمَــلَــة لِـغَـــرَضِ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لـمـخــتــلــف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الـمُــنْـجَــزَة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مــكــتــب خُــصُـوصًــا مـعــالــجــة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الاتـصـال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وغــيــرهــا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41650" y="1730359"/>
            <a:ext cx="489654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الــوســائــل والـتــقــنــيــات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67408" y="2647319"/>
            <a:ext cx="37444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الــتَــسْــيِــيــرِ الآًلِــي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943872" y="3430654"/>
            <a:ext cx="42484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الـمـهــامِّ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والـنــشــاطــات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060017" y="4501836"/>
            <a:ext cx="59766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الـنـصـوص، الـصـور، الـصـوت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192944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1.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مــفــهــوم الــمــكـــتـــبـــيــة   </a:t>
            </a:r>
            <a:r>
              <a:rPr lang="fr-FR" sz="4800" b="1" dirty="0">
                <a:solidFill>
                  <a:srgbClr val="FF0000"/>
                </a:solidFill>
                <a:cs typeface="+mj-cs"/>
              </a:rPr>
              <a:t>Bureautique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7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2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cs typeface="+mj-cs"/>
              </a:rPr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مـــاذا تُــمَــثِّــلُ لــكـم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الـحُـــزْمَـــة 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الــمـــكـــتـــبـــيــة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MS-Office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الَّـتِي يَــنْــتَــمِـي إلـيـهـا بــرنــامـج  </a:t>
            </a:r>
            <a:r>
              <a:rPr lang="fr-FR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MS-Word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  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الـحُــزْمَــة الــمَـــكْـــتَـــبِـــيَـــة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1672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>
                <a:solidFill>
                  <a:srgbClr val="00B050"/>
                </a:solidFill>
              </a:rPr>
              <a:t>الـحُــزْمَــة </a:t>
            </a:r>
            <a:r>
              <a:rPr lang="ar-DZ" sz="5400" b="1" dirty="0" smtClean="0">
                <a:solidFill>
                  <a:srgbClr val="00B050"/>
                </a:solidFill>
              </a:rPr>
              <a:t>الــمَـــكْـــتَـــبِـــيَـــة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لـتــســيــيــر مـخــتــلــف الـنــشــاطــات والـمـهــامّ وإنـجــازهـا فـي أَيِّ مــكــتــبٍ  يــلــزمــنــا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(حــواســيــب،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طـابـعـات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)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كـمـا نـحـتـاج إلـى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فـي هــذا الـشــأن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يــتِــمُّ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ضــمُّ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عِـــدَّة 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مـجــمــوعــة واحـدة تُـسَـمَى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401813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>
                <a:solidFill>
                  <a:srgbClr val="00B050"/>
                </a:solidFill>
              </a:rPr>
              <a:t>الـحُــزْمَــة </a:t>
            </a:r>
            <a:r>
              <a:rPr lang="ar-DZ" sz="5400" b="1" dirty="0" smtClean="0">
                <a:solidFill>
                  <a:srgbClr val="00B050"/>
                </a:solidFill>
              </a:rPr>
              <a:t>الــمَـــكْـــتَـــبِـــيَـــة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لإنـجــاز وتــســيــيــر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مـخــتــلــف الـنــشــاطــات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والـمـهـــامّ فـي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أَيِّ مــكــتــبٍ  يــلــزمــنــا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(حــواســيــب،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طـابـعـات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)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كـمـا نـحـتـاج إلـى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فـي هــذا الـشــأن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يــتِــمُّ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ضــمُّ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عِـــدَّة 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مـجــمــوعــة واحـدة تُـسَـمَى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3575720" y="2514821"/>
            <a:ext cx="31683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وســائــل مــاديــة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8771" y="5381296"/>
            <a:ext cx="81506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حـــزمــة مــكــتـــبـــيـــة  </a:t>
            </a:r>
            <a:r>
              <a:rPr lang="fr-FR" sz="4000" b="1" dirty="0">
                <a:solidFill>
                  <a:srgbClr val="FF0000"/>
                </a:solidFill>
                <a:cs typeface="+mj-cs"/>
              </a:rPr>
              <a:t>Suite Bureautique</a:t>
            </a:r>
          </a:p>
        </p:txBody>
      </p:sp>
      <p:sp>
        <p:nvSpPr>
          <p:cNvPr id="7" name="Rectangle 6"/>
          <p:cNvSpPr/>
          <p:nvPr/>
        </p:nvSpPr>
        <p:spPr>
          <a:xfrm>
            <a:off x="4007768" y="3484476"/>
            <a:ext cx="169416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بــرامـج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837994" y="4464799"/>
            <a:ext cx="43204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بــرامـج مــتــكــامــلــة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9914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الـحُــزْمَــة </a:t>
            </a:r>
            <a:r>
              <a:rPr lang="ar-DZ" sz="4800" b="1" dirty="0" smtClean="0">
                <a:solidFill>
                  <a:srgbClr val="00B050"/>
                </a:solidFill>
              </a:rPr>
              <a:t>الــمَـــكْـــتَـــبِـــيَـــة ــ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أكــثــر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الـحُــزَم الـمــكـــتـــبـــيـــة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اســـتــعـــمــالا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الـحُــزْمَــة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الّـتي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صــمّــمــتـهـا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شــركــة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ولاتَـــزَال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تُــطَــوِّرُهــا حــتـى الآن ؛  وإلــى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جــانــب هــذه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الـحُــزْمَــة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هــنـالـك حُــزْمَــات مــكــتــبــيــة أخــرى ( مـجــانـيـة )  ونــذكـر مــنـهـا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6681561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الـحُــزْمَــة </a:t>
            </a:r>
            <a:r>
              <a:rPr lang="ar-DZ" sz="4800" b="1" dirty="0" smtClean="0">
                <a:solidFill>
                  <a:srgbClr val="00B050"/>
                </a:solidFill>
              </a:rPr>
              <a:t>الــمَـــكْـــتَـــبِـــيَـــة ــ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أكــثــر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الـحُــزَم الـمــكـــتـــبـــيـــة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اســـتــعـــمــالا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الـحُــزْمَــة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الَّـتِي صَــمَّــمْــتَـهَـا شــركــة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ولاتَـــزَال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تُــطَــوِّرُهــا حــتـى الآن ؛  وإلــى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جــانــب هــذه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الـحُــزْمَــة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هــنـالـك حُــزْمَــات مــكــتــبــيــة أخـــرى ( مـجــانـيـة )  ونــذكـر مــنـهـا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400256" y="2531251"/>
            <a:ext cx="275598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MS-Office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21536" y="2531251"/>
            <a:ext cx="275598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</a:t>
            </a:r>
          </a:p>
        </p:txBody>
      </p:sp>
    </p:spTree>
    <p:extLst>
      <p:ext uri="{BB962C8B-B14F-4D97-AF65-F5344CB8AC3E}">
        <p14:creationId xmlns:p14="http://schemas.microsoft.com/office/powerpoint/2010/main" val="2051275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الـحُــزْمَــة </a:t>
            </a:r>
            <a:r>
              <a:rPr lang="ar-DZ" sz="4800" b="1" dirty="0" smtClean="0">
                <a:solidFill>
                  <a:srgbClr val="00B050"/>
                </a:solidFill>
              </a:rPr>
              <a:t>الــمَـــكْـــتَـــبِـــيَـــة ــ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أكــثــر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الـحُــزَم الـمــكـــتـــبـــيـــة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اســـتــعـــمــالا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الـحُــزْمَــة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الّـتي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صــمّــمــتـهـا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شــركــة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ولاتَـــزَال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تُــطَــوِّرُهــا حــتـى الآن ؛  وإلــى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جــانــب هــذه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الـحُــزْمَــة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هــنـالـك حُــزْمَــات مــكــتــبــيــة أخــرى ( مـجــانـيـة )  ونــذكـر مــنـهـا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8400256" y="2531251"/>
            <a:ext cx="275598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MS-Office</a:t>
            </a:r>
          </a:p>
        </p:txBody>
      </p:sp>
      <p:sp>
        <p:nvSpPr>
          <p:cNvPr id="6" name="Rectangle 5"/>
          <p:cNvSpPr/>
          <p:nvPr/>
        </p:nvSpPr>
        <p:spPr>
          <a:xfrm>
            <a:off x="983432" y="5337226"/>
            <a:ext cx="77048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cs typeface="+mj-cs"/>
              </a:rPr>
              <a:t>Open Office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 ، </a:t>
            </a:r>
            <a:r>
              <a:rPr lang="fr-FR" sz="4000" b="1" dirty="0" err="1" smtClean="0">
                <a:solidFill>
                  <a:srgbClr val="0070C0"/>
                </a:solidFill>
                <a:cs typeface="+mj-cs"/>
              </a:rPr>
              <a:t>LibreOffice</a:t>
            </a:r>
            <a:r>
              <a:rPr lang="fr-FR" sz="40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 ... إلــخ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21536" y="2531251"/>
            <a:ext cx="275598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Microsoft </a:t>
            </a:r>
          </a:p>
        </p:txBody>
      </p:sp>
    </p:spTree>
    <p:extLst>
      <p:ext uri="{BB962C8B-B14F-4D97-AF65-F5344CB8AC3E}">
        <p14:creationId xmlns:p14="http://schemas.microsoft.com/office/powerpoint/2010/main" val="8075245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الـحُــزْمَــة </a:t>
            </a:r>
            <a:r>
              <a:rPr lang="ar-DZ" sz="4800" b="1" dirty="0" smtClean="0">
                <a:solidFill>
                  <a:srgbClr val="00B050"/>
                </a:solidFill>
              </a:rPr>
              <a:t>الــمَـــكْـــتَـــبِـــيَـــة ــ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تـحــتــوي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الـحُــزْمَــة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الــمـــكـــتـــبــــيـــة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MS-Office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عــلـى بـــرامــج مُــمَــيَّــزَة، نــذكـــر مــنـهـا  :</a:t>
            </a: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MS-Word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لِـ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MS-Excel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لِـ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MS-PowerPoint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لِـ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900661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الـحُــزْمَــة </a:t>
            </a:r>
            <a:r>
              <a:rPr lang="ar-DZ" sz="4800" b="1" dirty="0" smtClean="0">
                <a:solidFill>
                  <a:srgbClr val="00B050"/>
                </a:solidFill>
              </a:rPr>
              <a:t>الــمَـــكْـــتَـــبِـــيَـــة ــ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تـحــتــوي الـحُــزْمَــة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الــمـــكـــتـــبــــيـــة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MS-Office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عــلـى بـــرامــج مُــمَــيَّــزَة، نــذكـــر مــنـهـا  :</a:t>
            </a: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MS-Word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لِـ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MS-Excel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لِـ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MS-PowerPoint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لِـ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767408" y="3320262"/>
            <a:ext cx="6696744" cy="68480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الــجــة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الـنــصــوص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1901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الـحُــزْمَــة </a:t>
            </a:r>
            <a:r>
              <a:rPr lang="ar-DZ" sz="4800" b="1" dirty="0" smtClean="0">
                <a:solidFill>
                  <a:srgbClr val="00B050"/>
                </a:solidFill>
              </a:rPr>
              <a:t>الــمَـــكْـــتَـــبِـــيَـــة ــ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تـحــتــوي الـحُــزْمَــة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الــمـــكـــتـــبــــيـــة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MS-Office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عــلـى بـــرامــج مُــمَــيَّــزَة، نــذكـــر مــنـهـا  :</a:t>
            </a: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MS-Word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لِـ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MS-Excel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لِـ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MS-PowerPoint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لِـ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767408" y="3320262"/>
            <a:ext cx="6696744" cy="68480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الــجــة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الـنــصــوص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400" y="4219399"/>
            <a:ext cx="72728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نــشــاء 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الـجــداول وإجــراء الـحــســابــات</a:t>
            </a:r>
          </a:p>
        </p:txBody>
      </p:sp>
    </p:spTree>
    <p:extLst>
      <p:ext uri="{BB962C8B-B14F-4D97-AF65-F5344CB8AC3E}">
        <p14:creationId xmlns:p14="http://schemas.microsoft.com/office/powerpoint/2010/main" val="321854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48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الـحُــزْمَــة </a:t>
            </a:r>
            <a:r>
              <a:rPr lang="ar-DZ" sz="4800" b="1" dirty="0" smtClean="0">
                <a:solidFill>
                  <a:srgbClr val="00B050"/>
                </a:solidFill>
              </a:rPr>
              <a:t>الــمَـــكْـــتَـــبِـــيَـــة ــ تـــابــع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تـحــتــوي الـحُــزْمَــة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الــمـــكـــتـــبــــيـــة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MS-Office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عــلـى بـــرامــج مُــمَــيَّــزَة، نــذكـــر مــنـهـا  :</a:t>
            </a: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MS-Word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لِـ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MS-Excel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لِـ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MS-PowerPoint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لِـ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: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9" name="Rectangle 8"/>
          <p:cNvSpPr/>
          <p:nvPr/>
        </p:nvSpPr>
        <p:spPr>
          <a:xfrm>
            <a:off x="767408" y="3320262"/>
            <a:ext cx="6696744" cy="68480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الــجــة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الـنــصــوص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400" y="4219399"/>
            <a:ext cx="72728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نــشــاء 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الـجــداول وإجــراء الـحــســابــات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7408" y="5155503"/>
            <a:ext cx="56166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لـع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وض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ــقـــديـ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ـمــ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6340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9" grpId="0" animBg="1"/>
      <p:bldP spid="8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2. مـفــهـــوم الـمــســتــنــد</a:t>
            </a:r>
            <a:r>
              <a:rPr lang="fr-FR" sz="5400" b="1" dirty="0" smtClean="0">
                <a:solidFill>
                  <a:srgbClr val="FF0000"/>
                </a:solidFill>
                <a:cs typeface="+mj-cs"/>
              </a:rPr>
              <a:t>Document 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نـشــاط 3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 : </a:t>
            </a:r>
            <a:r>
              <a:rPr lang="ar-DZ" sz="1000" b="1" dirty="0" smtClean="0">
                <a:cs typeface="+mj-cs"/>
              </a:rPr>
              <a:t> </a:t>
            </a:r>
            <a:r>
              <a:rPr lang="ar-DZ" sz="4400" b="1" dirty="0" smtClean="0"/>
              <a:t>مـعــالــجــة </a:t>
            </a:r>
            <a:r>
              <a:rPr lang="ar-DZ" sz="4400" b="1" dirty="0"/>
              <a:t>الـنـصـوص تـكـون بـاسـتـعــمـال الـبــرنــامـج </a:t>
            </a:r>
            <a:r>
              <a:rPr lang="en-US" sz="4400" b="1" dirty="0" smtClean="0"/>
              <a:t>MS-Word </a:t>
            </a:r>
            <a:r>
              <a:rPr lang="ar-DZ" sz="4400" b="1" dirty="0" smtClean="0"/>
              <a:t> </a:t>
            </a:r>
            <a:r>
              <a:rPr lang="ar-DZ" sz="4400" b="1" dirty="0"/>
              <a:t>وذلـك مــن خـــلال </a:t>
            </a:r>
            <a:r>
              <a:rPr lang="ar-DZ" sz="4400" b="1" dirty="0" smtClean="0"/>
              <a:t>مــســتــنــد،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فــمــاذا يــمــثــل الـمــســتـــنـــد بـالــنــســبــة إلــيــكــم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.2 تـعـــريــف الـمــســتــنــد</a:t>
            </a:r>
            <a:r>
              <a:rPr lang="fr-FR" sz="60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0424482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هـو </a:t>
            </a:r>
            <a:r>
              <a:rPr lang="ar-DZ" sz="4000" b="1" dirty="0">
                <a:solidFill>
                  <a:srgbClr val="002060"/>
                </a:solidFill>
              </a:rPr>
              <a:t>مــلــف </a:t>
            </a:r>
            <a:r>
              <a:rPr lang="ar-DZ" sz="4000" b="1" dirty="0" smtClean="0">
                <a:solidFill>
                  <a:srgbClr val="002060"/>
                </a:solidFill>
              </a:rPr>
              <a:t>يــســمـح لــنـا بـ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إضـافــة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إِدْرَاجِ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.....  وغــيــرهـا كــثــيــر 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0598546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هـو </a:t>
            </a:r>
            <a:r>
              <a:rPr lang="ar-DZ" sz="4000" b="1" dirty="0">
                <a:solidFill>
                  <a:srgbClr val="002060"/>
                </a:solidFill>
              </a:rPr>
              <a:t>مــلــف </a:t>
            </a:r>
            <a:r>
              <a:rPr lang="ar-DZ" sz="4000" b="1" dirty="0" smtClean="0">
                <a:solidFill>
                  <a:srgbClr val="002060"/>
                </a:solidFill>
              </a:rPr>
              <a:t>يــســمـح لــنـا بـ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إضـافــة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إِدْرَاجِ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.....  وغــيــرهـا كــثــيــر 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207567" y="1758248"/>
            <a:ext cx="386166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تـحــريــر الــنـصـوص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3598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هـو </a:t>
            </a:r>
            <a:r>
              <a:rPr lang="ar-DZ" sz="4000" b="1" dirty="0">
                <a:solidFill>
                  <a:srgbClr val="002060"/>
                </a:solidFill>
              </a:rPr>
              <a:t>مــلــف </a:t>
            </a:r>
            <a:r>
              <a:rPr lang="ar-DZ" sz="4000" b="1" dirty="0" smtClean="0">
                <a:solidFill>
                  <a:srgbClr val="002060"/>
                </a:solidFill>
              </a:rPr>
              <a:t>يــســمـح لــنـا بـ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إضـافــة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إِدْرَاجِ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.....  وغــيــرهـا كــثــيــر 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207567" y="1758248"/>
            <a:ext cx="386166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تـحــريــر الــنـصـوص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48128" y="2852936"/>
            <a:ext cx="40324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الـجــداول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Tableaux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1377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هـو </a:t>
            </a:r>
            <a:r>
              <a:rPr lang="ar-DZ" sz="4000" b="1" dirty="0">
                <a:solidFill>
                  <a:srgbClr val="002060"/>
                </a:solidFill>
              </a:rPr>
              <a:t>مــلــف </a:t>
            </a:r>
            <a:r>
              <a:rPr lang="ar-DZ" sz="4000" b="1" dirty="0" smtClean="0">
                <a:solidFill>
                  <a:srgbClr val="002060"/>
                </a:solidFill>
              </a:rPr>
              <a:t>يــســمـح لــنـا بـ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إضـافــة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إِدْرَاجِ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.....  وغــيــرهـا كــثــيــر 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207567" y="1758248"/>
            <a:ext cx="386166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تـحــريــر الــنـصـوص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48128" y="2852936"/>
            <a:ext cx="40324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الـجــداول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Tableaux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43471" y="2851246"/>
            <a:ext cx="352839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الـصُّــور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777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هـو </a:t>
            </a:r>
            <a:r>
              <a:rPr lang="ar-DZ" sz="4000" b="1" dirty="0">
                <a:solidFill>
                  <a:srgbClr val="002060"/>
                </a:solidFill>
              </a:rPr>
              <a:t>مــلــف </a:t>
            </a:r>
            <a:r>
              <a:rPr lang="ar-DZ" sz="4000" b="1" dirty="0" smtClean="0">
                <a:solidFill>
                  <a:srgbClr val="002060"/>
                </a:solidFill>
              </a:rPr>
              <a:t>يــســمـح لــنـا بـ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إضـافــة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إِدْرَاجِ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.....  وغــيــرهـا كــثــيــر 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207567" y="1758248"/>
            <a:ext cx="386166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تـحــريــر الــنـصـوص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48128" y="2852936"/>
            <a:ext cx="40324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الـجــداول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Tableaux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43471" y="2851246"/>
            <a:ext cx="352839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الـصُّــور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80176" y="3757387"/>
            <a:ext cx="36724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لأشــكــال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4396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هـو </a:t>
            </a:r>
            <a:r>
              <a:rPr lang="ar-DZ" sz="4000" b="1" dirty="0">
                <a:solidFill>
                  <a:srgbClr val="002060"/>
                </a:solidFill>
              </a:rPr>
              <a:t>مــلــف </a:t>
            </a:r>
            <a:r>
              <a:rPr lang="ar-DZ" sz="4000" b="1" dirty="0" smtClean="0">
                <a:solidFill>
                  <a:srgbClr val="002060"/>
                </a:solidFill>
              </a:rPr>
              <a:t>يــســمـح لــنـا بـ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إضـافــة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إِدْرَاجِ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،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.....  وغــيــرهـا كــثــيــر 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207567" y="1758248"/>
            <a:ext cx="386166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تـحــريــر الــنـصـوص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48128" y="2852936"/>
            <a:ext cx="40324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الـجــداول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Tableaux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343471" y="2851246"/>
            <a:ext cx="352839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الـصُّــور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Images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680176" y="3757387"/>
            <a:ext cx="367240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لأشــكــال 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67408" y="4045633"/>
            <a:ext cx="62646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الـفــواصـل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الـمــخــتــلــفــة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Sauts </a:t>
            </a:r>
            <a:endParaRPr lang="ar-SA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8636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2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2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5200" b="1" dirty="0" smtClean="0">
                <a:solidFill>
                  <a:srgbClr val="00B050"/>
                </a:solidFill>
                <a:cs typeface="+mj-cs"/>
              </a:rPr>
              <a:t>1.2 </a:t>
            </a:r>
            <a:r>
              <a:rPr lang="ar-DZ" sz="5200" b="1" dirty="0" smtClean="0">
                <a:solidFill>
                  <a:srgbClr val="00B050"/>
                </a:solidFill>
              </a:rPr>
              <a:t> </a:t>
            </a:r>
            <a:r>
              <a:rPr lang="ar-DZ" sz="5200" b="1" dirty="0">
                <a:solidFill>
                  <a:srgbClr val="00B050"/>
                </a:solidFill>
              </a:rPr>
              <a:t>تـعـــريــف </a:t>
            </a:r>
            <a:r>
              <a:rPr lang="ar-DZ" sz="5200" b="1" dirty="0" smtClean="0">
                <a:solidFill>
                  <a:srgbClr val="00B050"/>
                </a:solidFill>
              </a:rPr>
              <a:t>الـمــســتــنــد ــ تــابــع</a:t>
            </a:r>
            <a:r>
              <a:rPr lang="fr-FR" sz="5200" b="1" dirty="0" smtClean="0">
                <a:solidFill>
                  <a:srgbClr val="00B050"/>
                </a:solidFill>
              </a:rPr>
              <a:t> </a:t>
            </a:r>
            <a:r>
              <a:rPr lang="ar-DZ" sz="52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ويَــضُــمَّ الــمــســتــنــدُ عَـــادَةً عِـــدَّة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عــلـى الأقـــل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واحـــدة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بـحــيــث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تــتــألــف كــل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مــن الأجـــزاء الـتــالــيــة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9950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2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2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5200" b="1" dirty="0" smtClean="0">
                <a:solidFill>
                  <a:srgbClr val="00B050"/>
                </a:solidFill>
                <a:cs typeface="+mj-cs"/>
              </a:rPr>
              <a:t>1.2 </a:t>
            </a:r>
            <a:r>
              <a:rPr lang="ar-DZ" sz="5200" b="1" dirty="0" smtClean="0">
                <a:solidFill>
                  <a:srgbClr val="00B050"/>
                </a:solidFill>
              </a:rPr>
              <a:t> </a:t>
            </a:r>
            <a:r>
              <a:rPr lang="ar-DZ" sz="5200" b="1" dirty="0">
                <a:solidFill>
                  <a:srgbClr val="00B050"/>
                </a:solidFill>
              </a:rPr>
              <a:t>تـعـــريــف </a:t>
            </a:r>
            <a:r>
              <a:rPr lang="ar-DZ" sz="5200" b="1" dirty="0" smtClean="0">
                <a:solidFill>
                  <a:srgbClr val="00B050"/>
                </a:solidFill>
              </a:rPr>
              <a:t>الـمــســتــنــد ــ تــابــع</a:t>
            </a:r>
            <a:r>
              <a:rPr lang="fr-FR" sz="5200" b="1" dirty="0" smtClean="0">
                <a:solidFill>
                  <a:srgbClr val="00B050"/>
                </a:solidFill>
              </a:rPr>
              <a:t> </a:t>
            </a:r>
            <a:r>
              <a:rPr lang="ar-DZ" sz="52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ويَــضُــمَّ الــمــســتــنــدُ عَـــادَةً عِـــدَّة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عــلـى الأقـــل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واحـــدة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بـحــيــث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تــتــألــف كــل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مــن الأجـــزاء الـتــالــيــة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926028" y="1714484"/>
            <a:ext cx="25922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صــفــحــات</a:t>
            </a:r>
          </a:p>
        </p:txBody>
      </p:sp>
    </p:spTree>
    <p:extLst>
      <p:ext uri="{BB962C8B-B14F-4D97-AF65-F5344CB8AC3E}">
        <p14:creationId xmlns:p14="http://schemas.microsoft.com/office/powerpoint/2010/main" val="2510085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2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2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5200" b="1" dirty="0" smtClean="0">
                <a:solidFill>
                  <a:srgbClr val="00B050"/>
                </a:solidFill>
                <a:cs typeface="+mj-cs"/>
              </a:rPr>
              <a:t>1.2 </a:t>
            </a:r>
            <a:r>
              <a:rPr lang="ar-DZ" sz="5200" b="1" dirty="0" smtClean="0">
                <a:solidFill>
                  <a:srgbClr val="00B050"/>
                </a:solidFill>
              </a:rPr>
              <a:t> </a:t>
            </a:r>
            <a:r>
              <a:rPr lang="ar-DZ" sz="5200" b="1" dirty="0">
                <a:solidFill>
                  <a:srgbClr val="00B050"/>
                </a:solidFill>
              </a:rPr>
              <a:t>تـعـــريــف </a:t>
            </a:r>
            <a:r>
              <a:rPr lang="ar-DZ" sz="5200" b="1" dirty="0" smtClean="0">
                <a:solidFill>
                  <a:srgbClr val="00B050"/>
                </a:solidFill>
              </a:rPr>
              <a:t>الـمــســتــنــد ــ تــابــع</a:t>
            </a:r>
            <a:r>
              <a:rPr lang="fr-FR" sz="5200" b="1" dirty="0" smtClean="0">
                <a:solidFill>
                  <a:srgbClr val="00B050"/>
                </a:solidFill>
              </a:rPr>
              <a:t> </a:t>
            </a:r>
            <a:r>
              <a:rPr lang="ar-DZ" sz="52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ويَــضُــمَّ الــمــســتــنــدُ عَـــادَةً عِـــدَّة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عــلـى الأقـــل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واحـــدة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بـحــيــث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تــتــألــف كــل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مــن الأجـــزاء الـتــالــيــة 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: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926028" y="1714484"/>
            <a:ext cx="25922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صــفــحــات</a:t>
            </a:r>
          </a:p>
        </p:txBody>
      </p:sp>
      <p:sp>
        <p:nvSpPr>
          <p:cNvPr id="6" name="Rectangle 5"/>
          <p:cNvSpPr/>
          <p:nvPr/>
        </p:nvSpPr>
        <p:spPr>
          <a:xfrm>
            <a:off x="7392144" y="2638600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صــفــحــة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7956" y="3705480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صــفــحــة </a:t>
            </a:r>
          </a:p>
        </p:txBody>
      </p:sp>
    </p:spTree>
    <p:extLst>
      <p:ext uri="{BB962C8B-B14F-4D97-AF65-F5344CB8AC3E}">
        <p14:creationId xmlns:p14="http://schemas.microsoft.com/office/powerpoint/2010/main" val="1918938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2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2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5200" b="1" dirty="0" smtClean="0">
                <a:solidFill>
                  <a:srgbClr val="00B050"/>
                </a:solidFill>
                <a:cs typeface="+mj-cs"/>
              </a:rPr>
              <a:t>1.2 </a:t>
            </a:r>
            <a:r>
              <a:rPr lang="ar-DZ" sz="5200" b="1" dirty="0" smtClean="0">
                <a:solidFill>
                  <a:srgbClr val="00B050"/>
                </a:solidFill>
              </a:rPr>
              <a:t> </a:t>
            </a:r>
            <a:r>
              <a:rPr lang="ar-DZ" sz="5200" b="1" dirty="0">
                <a:solidFill>
                  <a:srgbClr val="00B050"/>
                </a:solidFill>
              </a:rPr>
              <a:t>تـعـــريــف </a:t>
            </a:r>
            <a:r>
              <a:rPr lang="ar-DZ" sz="5200" b="1" dirty="0" smtClean="0">
                <a:solidFill>
                  <a:srgbClr val="00B050"/>
                </a:solidFill>
              </a:rPr>
              <a:t>الـمــســتــنــد ــ تــابــع</a:t>
            </a:r>
            <a:r>
              <a:rPr lang="fr-FR" sz="5200" b="1" dirty="0" smtClean="0">
                <a:solidFill>
                  <a:srgbClr val="00B050"/>
                </a:solidFill>
              </a:rPr>
              <a:t> </a:t>
            </a:r>
            <a:r>
              <a:rPr lang="ar-DZ" sz="52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926028" y="1714484"/>
            <a:ext cx="25922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صــفــحــات</a:t>
            </a:r>
          </a:p>
        </p:txBody>
      </p:sp>
      <p:sp>
        <p:nvSpPr>
          <p:cNvPr id="6" name="Rectangle 5"/>
          <p:cNvSpPr/>
          <p:nvPr/>
        </p:nvSpPr>
        <p:spPr>
          <a:xfrm>
            <a:off x="7392144" y="2638600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صــفــحــة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7956" y="3705480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صــفــحــة </a:t>
            </a:r>
          </a:p>
        </p:txBody>
      </p:sp>
      <p:sp>
        <p:nvSpPr>
          <p:cNvPr id="9" name="Espace réservé du contenu 2"/>
          <p:cNvSpPr txBox="1">
            <a:spLocks/>
          </p:cNvSpPr>
          <p:nvPr/>
        </p:nvSpPr>
        <p:spPr>
          <a:xfrm>
            <a:off x="609600" y="1272637"/>
            <a:ext cx="10887000" cy="510107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1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رأس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الـصــفــحــة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جــســم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الـصــفــحــة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تَــذْيِــيــل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الـصــفــحــة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207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12" grpId="0" animBg="1"/>
      <p:bldP spid="9" grpId="0" build="p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2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2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5200" b="1" dirty="0" smtClean="0">
                <a:solidFill>
                  <a:srgbClr val="00B050"/>
                </a:solidFill>
                <a:cs typeface="+mj-cs"/>
              </a:rPr>
              <a:t>1.2 </a:t>
            </a:r>
            <a:r>
              <a:rPr lang="ar-DZ" sz="5200" b="1" dirty="0" smtClean="0">
                <a:solidFill>
                  <a:srgbClr val="00B050"/>
                </a:solidFill>
              </a:rPr>
              <a:t> </a:t>
            </a:r>
            <a:r>
              <a:rPr lang="ar-DZ" sz="5200" b="1" dirty="0">
                <a:solidFill>
                  <a:srgbClr val="00B050"/>
                </a:solidFill>
              </a:rPr>
              <a:t>تـعـــريــف </a:t>
            </a:r>
            <a:r>
              <a:rPr lang="ar-DZ" sz="5200" b="1" dirty="0" smtClean="0">
                <a:solidFill>
                  <a:srgbClr val="00B050"/>
                </a:solidFill>
              </a:rPr>
              <a:t>الـمــســتــنــد ــ تــابــع</a:t>
            </a:r>
            <a:r>
              <a:rPr lang="fr-FR" sz="5200" b="1" dirty="0" smtClean="0">
                <a:solidFill>
                  <a:srgbClr val="00B050"/>
                </a:solidFill>
              </a:rPr>
              <a:t> </a:t>
            </a:r>
            <a:r>
              <a:rPr lang="ar-DZ" sz="52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926028" y="1714484"/>
            <a:ext cx="25922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صــفــحــات</a:t>
            </a:r>
          </a:p>
        </p:txBody>
      </p:sp>
      <p:sp>
        <p:nvSpPr>
          <p:cNvPr id="6" name="Rectangle 5"/>
          <p:cNvSpPr/>
          <p:nvPr/>
        </p:nvSpPr>
        <p:spPr>
          <a:xfrm>
            <a:off x="7392144" y="2638600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صــفــحــة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7956" y="3705480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صــفــحــة </a:t>
            </a:r>
          </a:p>
        </p:txBody>
      </p:sp>
      <p:sp>
        <p:nvSpPr>
          <p:cNvPr id="9" name="Espace réservé du contenu 2"/>
          <p:cNvSpPr txBox="1">
            <a:spLocks/>
          </p:cNvSpPr>
          <p:nvPr/>
        </p:nvSpPr>
        <p:spPr>
          <a:xfrm>
            <a:off x="609600" y="1272637"/>
            <a:ext cx="10887000" cy="510107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1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رأس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الـصــفــحــة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جــســم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الـصــفــحــة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تَــذْيِــيــل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الـصــفــحــة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92560" y="1819487"/>
            <a:ext cx="56166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Entête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la page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5147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12" grpId="0" animBg="1"/>
      <p:bldP spid="9" grpId="0" build="p" animBg="1"/>
      <p:bldP spid="10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2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2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5200" b="1" dirty="0" smtClean="0">
                <a:solidFill>
                  <a:srgbClr val="00B050"/>
                </a:solidFill>
                <a:cs typeface="+mj-cs"/>
              </a:rPr>
              <a:t>1.2 </a:t>
            </a:r>
            <a:r>
              <a:rPr lang="ar-DZ" sz="5200" b="1" dirty="0" smtClean="0">
                <a:solidFill>
                  <a:srgbClr val="00B050"/>
                </a:solidFill>
              </a:rPr>
              <a:t> </a:t>
            </a:r>
            <a:r>
              <a:rPr lang="ar-DZ" sz="5200" b="1" dirty="0">
                <a:solidFill>
                  <a:srgbClr val="00B050"/>
                </a:solidFill>
              </a:rPr>
              <a:t>تـعـــريــف </a:t>
            </a:r>
            <a:r>
              <a:rPr lang="ar-DZ" sz="5200" b="1" dirty="0" smtClean="0">
                <a:solidFill>
                  <a:srgbClr val="00B050"/>
                </a:solidFill>
              </a:rPr>
              <a:t>الـمــســتــنــد ــ تــابــع</a:t>
            </a:r>
            <a:r>
              <a:rPr lang="fr-FR" sz="5200" b="1" dirty="0" smtClean="0">
                <a:solidFill>
                  <a:srgbClr val="00B050"/>
                </a:solidFill>
              </a:rPr>
              <a:t> </a:t>
            </a:r>
            <a:r>
              <a:rPr lang="ar-DZ" sz="52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926028" y="1714484"/>
            <a:ext cx="25922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صــفــحــات</a:t>
            </a:r>
          </a:p>
        </p:txBody>
      </p:sp>
      <p:sp>
        <p:nvSpPr>
          <p:cNvPr id="6" name="Rectangle 5"/>
          <p:cNvSpPr/>
          <p:nvPr/>
        </p:nvSpPr>
        <p:spPr>
          <a:xfrm>
            <a:off x="7392144" y="2638600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صــفــحــة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7956" y="3705480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صــفــحــة </a:t>
            </a:r>
          </a:p>
        </p:txBody>
      </p:sp>
      <p:sp>
        <p:nvSpPr>
          <p:cNvPr id="9" name="Espace réservé du contenu 2"/>
          <p:cNvSpPr txBox="1">
            <a:spLocks/>
          </p:cNvSpPr>
          <p:nvPr/>
        </p:nvSpPr>
        <p:spPr>
          <a:xfrm>
            <a:off x="609600" y="1272637"/>
            <a:ext cx="10887000" cy="510107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1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رأس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الـصــفــحــة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جــســم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الـصــفــحــة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تَــذْيِــيــل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الـصــفــحــة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92560" y="1819487"/>
            <a:ext cx="56166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Entête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la page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92560" y="3145706"/>
            <a:ext cx="56166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Corps de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page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148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12" grpId="0" animBg="1"/>
      <p:bldP spid="9" grpId="0" build="p" animBg="1"/>
      <p:bldP spid="10" grpId="0" animBg="1"/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2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2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sz="5200" b="1" dirty="0" smtClean="0">
                <a:solidFill>
                  <a:srgbClr val="00B050"/>
                </a:solidFill>
                <a:cs typeface="+mj-cs"/>
              </a:rPr>
              <a:t>1.2 </a:t>
            </a:r>
            <a:r>
              <a:rPr lang="ar-DZ" sz="5200" b="1" dirty="0" smtClean="0">
                <a:solidFill>
                  <a:srgbClr val="00B050"/>
                </a:solidFill>
              </a:rPr>
              <a:t> </a:t>
            </a:r>
            <a:r>
              <a:rPr lang="ar-DZ" sz="5200" b="1" dirty="0">
                <a:solidFill>
                  <a:srgbClr val="00B050"/>
                </a:solidFill>
              </a:rPr>
              <a:t>تـعـــريــف </a:t>
            </a:r>
            <a:r>
              <a:rPr lang="ar-DZ" sz="5200" b="1" dirty="0" smtClean="0">
                <a:solidFill>
                  <a:srgbClr val="00B050"/>
                </a:solidFill>
              </a:rPr>
              <a:t>الـمــســتــنــد ــ تــابــع</a:t>
            </a:r>
            <a:r>
              <a:rPr lang="fr-FR" sz="5200" b="1" dirty="0" smtClean="0">
                <a:solidFill>
                  <a:srgbClr val="00B050"/>
                </a:solidFill>
              </a:rPr>
              <a:t> </a:t>
            </a:r>
            <a:r>
              <a:rPr lang="ar-DZ" sz="52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2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926028" y="1714484"/>
            <a:ext cx="25922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صــفــحــات</a:t>
            </a:r>
          </a:p>
        </p:txBody>
      </p:sp>
      <p:sp>
        <p:nvSpPr>
          <p:cNvPr id="6" name="Rectangle 5"/>
          <p:cNvSpPr/>
          <p:nvPr/>
        </p:nvSpPr>
        <p:spPr>
          <a:xfrm>
            <a:off x="7392144" y="2638600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صــفــحــة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97956" y="3705480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صــفــحــة </a:t>
            </a:r>
          </a:p>
        </p:txBody>
      </p:sp>
      <p:sp>
        <p:nvSpPr>
          <p:cNvPr id="9" name="Espace réservé du contenu 2"/>
          <p:cNvSpPr txBox="1">
            <a:spLocks/>
          </p:cNvSpPr>
          <p:nvPr/>
        </p:nvSpPr>
        <p:spPr>
          <a:xfrm>
            <a:off x="609600" y="1272637"/>
            <a:ext cx="10887000" cy="5101079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12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9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رأس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الـصــفــحــة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جــســم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الـصــفــحــة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تَــذْيِــيــل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الـصــفــحــة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192560" y="1819487"/>
            <a:ext cx="56166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Entête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la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92560" y="3145706"/>
            <a:ext cx="56166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Corps de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page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92560" y="4499257"/>
            <a:ext cx="56166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Pied de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page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2713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  <p:bldP spid="12" grpId="0" animBg="1"/>
      <p:bldP spid="9" grpId="0" build="p" animBg="1"/>
      <p:bldP spid="10" grpId="0" animBg="1"/>
      <p:bldP spid="11" grpId="0" animBg="1"/>
      <p:bldP spid="13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2. مـفــهـــوم الـمــســتــنــد</a:t>
            </a:r>
            <a:r>
              <a:rPr lang="fr-FR" sz="5400" b="1" dirty="0" smtClean="0">
                <a:solidFill>
                  <a:srgbClr val="FF0000"/>
                </a:solidFill>
                <a:cs typeface="+mj-cs"/>
              </a:rPr>
              <a:t>Document 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3600" b="1" u="sng" dirty="0" smtClean="0">
                <a:solidFill>
                  <a:srgbClr val="00B050"/>
                </a:solidFill>
                <a:cs typeface="+mj-cs"/>
              </a:rPr>
              <a:t>نـشــاط 4</a:t>
            </a:r>
            <a:r>
              <a:rPr lang="ar-DZ" sz="3600" b="1" dirty="0" smtClean="0">
                <a:solidFill>
                  <a:srgbClr val="00B050"/>
                </a:solidFill>
                <a:cs typeface="+mj-cs"/>
              </a:rPr>
              <a:t> : </a:t>
            </a:r>
            <a:r>
              <a:rPr lang="ar-DZ" sz="3600" b="1" dirty="0" smtClean="0">
                <a:cs typeface="+mj-cs"/>
              </a:rPr>
              <a:t> </a:t>
            </a:r>
            <a:r>
              <a:rPr lang="ar-DZ" sz="3600" b="1" dirty="0">
                <a:cs typeface="+mj-cs"/>
              </a:rPr>
              <a:t>عــنــد إعـــداد وكــتــابــة أيِّ مــســتــنــد يــلــزمــنــا </a:t>
            </a:r>
            <a:r>
              <a:rPr lang="ar-DZ" sz="3600" b="1" dirty="0" smtClean="0">
                <a:cs typeface="+mj-cs"/>
              </a:rPr>
              <a:t>الـقــيـام بـعــمــلــيــتــيـن أسـاســيــتــيـن تـخـطــيـط الــصـفـحـة </a:t>
            </a:r>
            <a:r>
              <a:rPr lang="en-US" sz="3600" b="1" dirty="0" err="1">
                <a:cs typeface="+mj-cs"/>
              </a:rPr>
              <a:t>Mise</a:t>
            </a:r>
            <a:r>
              <a:rPr lang="en-US" sz="3600" b="1" dirty="0">
                <a:cs typeface="+mj-cs"/>
              </a:rPr>
              <a:t> en Page </a:t>
            </a:r>
            <a:r>
              <a:rPr lang="ar-DZ" sz="3600" b="1" dirty="0">
                <a:cs typeface="+mj-cs"/>
              </a:rPr>
              <a:t> </a:t>
            </a:r>
            <a:r>
              <a:rPr lang="ar-DZ" sz="3600" b="1" dirty="0" smtClean="0">
                <a:cs typeface="+mj-cs"/>
              </a:rPr>
              <a:t>وتــنــســيـق </a:t>
            </a:r>
            <a:r>
              <a:rPr lang="ar-DZ" sz="3600" b="1" dirty="0"/>
              <a:t>الــصـفـحـة </a:t>
            </a:r>
            <a:r>
              <a:rPr lang="en-US" sz="3600" b="1" dirty="0" err="1" smtClean="0">
                <a:cs typeface="+mj-cs"/>
              </a:rPr>
              <a:t>Mise</a:t>
            </a:r>
            <a:r>
              <a:rPr lang="en-US" sz="3600" b="1" dirty="0" smtClean="0">
                <a:cs typeface="+mj-cs"/>
              </a:rPr>
              <a:t> </a:t>
            </a:r>
            <a:r>
              <a:rPr lang="en-US" sz="3600" b="1" dirty="0">
                <a:cs typeface="+mj-cs"/>
              </a:rPr>
              <a:t>en </a:t>
            </a:r>
            <a:r>
              <a:rPr lang="en-US" sz="3600" b="1" dirty="0" err="1" smtClean="0">
                <a:cs typeface="+mj-cs"/>
              </a:rPr>
              <a:t>Forme</a:t>
            </a:r>
            <a:r>
              <a:rPr lang="ar-DZ" sz="3600" b="1" dirty="0" smtClean="0">
                <a:cs typeface="+mj-cs"/>
              </a:rPr>
              <a:t> ، فــ</a:t>
            </a:r>
            <a:r>
              <a:rPr lang="ar-DZ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أيــن يَــكْــمُــنُ الـفَـــرْقَ بــيــن هَــاتَــيْــنِ </a:t>
            </a:r>
            <a:r>
              <a:rPr lang="ar-DZ" sz="3600" b="1" dirty="0" smtClean="0"/>
              <a:t>الـعــمــلــيــتــيـن ؟</a:t>
            </a:r>
            <a:r>
              <a:rPr lang="ar-DZ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.2 إعــــداد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الـمــســتــنــد</a:t>
            </a:r>
            <a:r>
              <a:rPr lang="fr-FR" sz="60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03965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3600" b="1" dirty="0">
                <a:solidFill>
                  <a:srgbClr val="0070C0"/>
                </a:solidFill>
                <a:cs typeface="+mj-cs"/>
              </a:rPr>
              <a:t>تـخــطــيــط الــصـفــحــة </a:t>
            </a:r>
            <a:r>
              <a:rPr lang="en-US" sz="3600" b="1" dirty="0" err="1">
                <a:solidFill>
                  <a:srgbClr val="0070C0"/>
                </a:solidFill>
                <a:cs typeface="+mj-cs"/>
              </a:rPr>
              <a:t>Mise</a:t>
            </a:r>
            <a:r>
              <a:rPr lang="en-US" sz="3600" b="1" dirty="0">
                <a:solidFill>
                  <a:srgbClr val="0070C0"/>
                </a:solidFill>
                <a:cs typeface="+mj-cs"/>
              </a:rPr>
              <a:t> en Page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>
                <a:cs typeface="+mj-cs"/>
              </a:rPr>
              <a:t>: يــتــمُّ فــيـهـا تـطــبــيــق الـخــصــائــص </a:t>
            </a:r>
            <a:r>
              <a:rPr lang="ar-DZ" sz="3600" b="1" dirty="0" smtClean="0">
                <a:cs typeface="+mj-cs"/>
              </a:rPr>
              <a:t>الّــتـي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 </a:t>
            </a:r>
            <a:r>
              <a:rPr lang="ar-DZ" sz="3600" b="1" dirty="0" smtClean="0">
                <a:cs typeface="+mj-cs"/>
              </a:rPr>
              <a:t>بـحــيــث تــغــيـــيــرهــا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 </a:t>
            </a:r>
            <a:r>
              <a:rPr lang="ar-DZ" sz="3600" b="1" dirty="0" smtClean="0">
                <a:cs typeface="+mj-cs"/>
              </a:rPr>
              <a:t>عــلـى </a:t>
            </a:r>
            <a:r>
              <a:rPr lang="ar-DZ" sz="3600" b="1" dirty="0">
                <a:cs typeface="+mj-cs"/>
              </a:rPr>
              <a:t>مـظـهــر الـنـصـوص، ومـن بــيـن تـلـك الـخـصـائـص نـذكـر : </a:t>
            </a:r>
            <a:endParaRPr lang="ar-DZ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أ - تـخــطــيــط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الــصـفــحــة </a:t>
            </a:r>
            <a:r>
              <a:rPr lang="en-US" sz="4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 Page</a:t>
            </a:r>
            <a:endParaRPr lang="fr-FR" sz="6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51174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3600" b="1" dirty="0">
                <a:solidFill>
                  <a:srgbClr val="0070C0"/>
                </a:solidFill>
                <a:cs typeface="+mj-cs"/>
              </a:rPr>
              <a:t>تـخــطــيــط الــصـفــحــة </a:t>
            </a:r>
            <a:r>
              <a:rPr lang="en-US" sz="3600" b="1" dirty="0" err="1">
                <a:solidFill>
                  <a:srgbClr val="0070C0"/>
                </a:solidFill>
                <a:cs typeface="+mj-cs"/>
              </a:rPr>
              <a:t>Mise</a:t>
            </a:r>
            <a:r>
              <a:rPr lang="en-US" sz="3600" b="1" dirty="0">
                <a:solidFill>
                  <a:srgbClr val="0070C0"/>
                </a:solidFill>
                <a:cs typeface="+mj-cs"/>
              </a:rPr>
              <a:t> en Page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>
                <a:cs typeface="+mj-cs"/>
              </a:rPr>
              <a:t>: يــتــمُّ فــيـهـا تـطــبــيــق الـخــصــائــص </a:t>
            </a:r>
            <a:r>
              <a:rPr lang="ar-DZ" sz="3600" b="1" dirty="0" smtClean="0">
                <a:cs typeface="+mj-cs"/>
              </a:rPr>
              <a:t>الّــتـي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 </a:t>
            </a:r>
            <a:r>
              <a:rPr lang="ar-DZ" sz="3600" b="1" dirty="0" smtClean="0">
                <a:cs typeface="+mj-cs"/>
              </a:rPr>
              <a:t>بـحــيــث تــغــيـــيــرهــا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 </a:t>
            </a:r>
            <a:r>
              <a:rPr lang="ar-DZ" sz="3600" b="1" dirty="0" smtClean="0">
                <a:cs typeface="+mj-cs"/>
              </a:rPr>
              <a:t>عــلـى </a:t>
            </a:r>
            <a:r>
              <a:rPr lang="ar-DZ" sz="3600" b="1" dirty="0">
                <a:cs typeface="+mj-cs"/>
              </a:rPr>
              <a:t>مـظـهــر الـنـصـوص، ومـن بــيـن تـلـك الـخـصـائـص نـذكـر : </a:t>
            </a:r>
            <a:endParaRPr lang="ar-DZ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أ - تـخــطــيــط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الــصـفــحــة </a:t>
            </a:r>
            <a:r>
              <a:rPr lang="en-US" sz="4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 Page</a:t>
            </a:r>
            <a:endParaRPr lang="fr-FR" sz="6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07568" y="3284984"/>
            <a:ext cx="5544616" cy="7525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لا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عــلاقــة لـهـا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بـالـمـحــتــوى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894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3600" b="1" dirty="0">
                <a:solidFill>
                  <a:srgbClr val="0070C0"/>
                </a:solidFill>
                <a:cs typeface="+mj-cs"/>
              </a:rPr>
              <a:t>تـخــطــيــط الــصـفــحــة </a:t>
            </a:r>
            <a:r>
              <a:rPr lang="en-US" sz="3600" b="1" dirty="0" err="1">
                <a:solidFill>
                  <a:srgbClr val="0070C0"/>
                </a:solidFill>
                <a:cs typeface="+mj-cs"/>
              </a:rPr>
              <a:t>Mise</a:t>
            </a:r>
            <a:r>
              <a:rPr lang="en-US" sz="3600" b="1" dirty="0">
                <a:solidFill>
                  <a:srgbClr val="0070C0"/>
                </a:solidFill>
                <a:cs typeface="+mj-cs"/>
              </a:rPr>
              <a:t> en Page</a:t>
            </a:r>
            <a:r>
              <a:rPr lang="ar-DZ" sz="36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>
                <a:cs typeface="+mj-cs"/>
              </a:rPr>
              <a:t>: يــتــمُّ فــيـهـا تـطــبــيــق الـخــصــائــص </a:t>
            </a:r>
            <a:r>
              <a:rPr lang="ar-DZ" sz="3600" b="1" dirty="0" smtClean="0">
                <a:cs typeface="+mj-cs"/>
              </a:rPr>
              <a:t>الّــتـي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 </a:t>
            </a:r>
            <a:r>
              <a:rPr lang="ar-DZ" sz="3600" b="1" dirty="0" smtClean="0">
                <a:cs typeface="+mj-cs"/>
              </a:rPr>
              <a:t>بـحــيــث تــغــيـــيــرهــا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 </a:t>
            </a:r>
            <a:r>
              <a:rPr lang="ar-DZ" sz="3600" b="1" dirty="0" smtClean="0">
                <a:cs typeface="+mj-cs"/>
              </a:rPr>
              <a:t>عــلـى </a:t>
            </a:r>
            <a:r>
              <a:rPr lang="ar-DZ" sz="3600" b="1" dirty="0">
                <a:cs typeface="+mj-cs"/>
              </a:rPr>
              <a:t>مـظـهــر الـنـصـوص، ومـن بــيـن تـلـك الـخـصـائـص نـذكـر : </a:t>
            </a:r>
            <a:endParaRPr lang="ar-DZ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أ - تـخــطــيــط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الــصـفــحــة </a:t>
            </a:r>
            <a:r>
              <a:rPr lang="en-US" sz="4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 Page</a:t>
            </a:r>
            <a:endParaRPr lang="fr-FR" sz="6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207568" y="3284984"/>
            <a:ext cx="5544616" cy="7525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لا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عــلاقــة لـهـا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بـالـمـحــتــوى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888088" y="4206503"/>
            <a:ext cx="2016224" cy="788501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لا يُــؤَثِــرُ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274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أ - تـخــطــيــط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الــصـفــحــة </a:t>
            </a:r>
            <a:r>
              <a:rPr lang="fr-FR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ar-DZ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تــابـع</a:t>
            </a:r>
            <a:endParaRPr lang="fr-FR" sz="6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2146846"/>
            <a:ext cx="10887000" cy="42268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الـهــوام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ـش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اتـجــاه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الـصــفــحــة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مــقــاس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الـصــفــحــة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أَعْــــ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دَة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7702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build="p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أ - تـخــطــيــط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الــصـفــحــة </a:t>
            </a:r>
            <a:r>
              <a:rPr lang="fr-FR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ar-DZ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تــابـع</a:t>
            </a:r>
            <a:endParaRPr lang="fr-FR" sz="6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2146846"/>
            <a:ext cx="10887000" cy="42268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الـهــوام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ـش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اتـجــاه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الـصــفــحــة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مــقــاس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الـصــفــحــة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الأَعْــــمِــدَة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71464" y="2289173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Marges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1658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build="p" animBg="1"/>
      <p:bldP spid="1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أ - تـخــطــيــط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الــصـفــحــة </a:t>
            </a:r>
            <a:r>
              <a:rPr lang="fr-FR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ar-DZ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تــابـع</a:t>
            </a:r>
            <a:endParaRPr lang="fr-FR" sz="6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2146846"/>
            <a:ext cx="10887000" cy="42268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الـهــوام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ـش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اتـجــاه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الـصــفــحــة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مــقــاس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الـصــفــحــة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أَعْــــ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دَة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271464" y="2289173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Marges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271464" y="3283295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L’Orientation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501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build="p" animBg="1"/>
      <p:bldP spid="11" grpId="0" animBg="1"/>
      <p:bldP spid="1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أ - تـخــطــيــط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الــصـفــحــة </a:t>
            </a:r>
            <a:r>
              <a:rPr lang="fr-FR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ar-DZ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تــابـع</a:t>
            </a:r>
            <a:endParaRPr lang="fr-FR" sz="6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2146846"/>
            <a:ext cx="10887000" cy="42268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الـهــوام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ـش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اتـجــاه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الـصــفــحــة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مــقــاس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الـصــفــحــة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أَعْــــ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دَة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35061" y="2289173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Marges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35061" y="3283295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L’Orientation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35061" y="4277417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Taille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A3  /  A4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4047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build="p" animBg="1"/>
      <p:bldP spid="11" grpId="0" animBg="1"/>
      <p:bldP spid="12" grpId="0" animBg="1"/>
      <p:bldP spid="13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أ - تـخــطــيــط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الــصـفــحــة </a:t>
            </a:r>
            <a:r>
              <a:rPr lang="fr-FR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</a:t>
            </a:r>
            <a:r>
              <a:rPr lang="en-US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Page</a:t>
            </a:r>
            <a:r>
              <a:rPr lang="ar-DZ" sz="4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تــابـع</a:t>
            </a:r>
            <a:endParaRPr lang="fr-FR" sz="6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2146846"/>
            <a:ext cx="10887000" cy="42268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الـهــوام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ـش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اتـجــاه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الـصــفــحــة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مــقــاس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الـصــفــحــة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أَعْــــ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دَة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35061" y="2289173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Marges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35061" y="3283295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L’Orientation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35061" y="4277417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Taille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 A3  /  A4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35061" y="5271539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Colonnes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363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build="p" animBg="1"/>
      <p:bldP spid="11" grpId="0" animBg="1"/>
      <p:bldP spid="12" grpId="0" animBg="1"/>
      <p:bldP spid="13" grpId="0" animBg="1"/>
      <p:bldP spid="1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ts val="7400"/>
              </a:lnSpc>
              <a:spcBef>
                <a:spcPts val="0"/>
              </a:spcBef>
              <a:buNone/>
            </a:pPr>
            <a:r>
              <a:rPr lang="ar-DZ" sz="3600" b="1" dirty="0">
                <a:solidFill>
                  <a:srgbClr val="0070C0"/>
                </a:solidFill>
                <a:cs typeface="+mj-cs"/>
              </a:rPr>
              <a:t>تــنــســيــق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الــصـفــحــة </a:t>
            </a:r>
            <a:r>
              <a:rPr lang="en-US" sz="3600" b="1" dirty="0" err="1" smtClean="0">
                <a:solidFill>
                  <a:srgbClr val="0070C0"/>
                </a:solidFill>
                <a:cs typeface="+mj-cs"/>
              </a:rPr>
              <a:t>Mise</a:t>
            </a:r>
            <a:r>
              <a:rPr lang="en-US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en-US" sz="3600" b="1" dirty="0">
                <a:solidFill>
                  <a:srgbClr val="0070C0"/>
                </a:solidFill>
                <a:cs typeface="+mj-cs"/>
              </a:rPr>
              <a:t>en </a:t>
            </a:r>
            <a:r>
              <a:rPr lang="en-US" sz="3600" b="1" dirty="0" err="1" smtClean="0">
                <a:solidFill>
                  <a:srgbClr val="0070C0"/>
                </a:solidFill>
                <a:cs typeface="+mj-cs"/>
              </a:rPr>
              <a:t>Forme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en-US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 smtClean="0">
                <a:cs typeface="+mj-cs"/>
              </a:rPr>
              <a:t>:  </a:t>
            </a:r>
            <a:r>
              <a:rPr lang="ar-DZ" sz="3600" b="1" dirty="0"/>
              <a:t>نــقــوم </a:t>
            </a:r>
            <a:r>
              <a:rPr lang="ar-DZ" sz="3600" b="1" dirty="0" smtClean="0">
                <a:cs typeface="+mj-cs"/>
              </a:rPr>
              <a:t>فــيـهـا بــتـطــبــيــق الـخــصــائـص الَّـتِي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 </a:t>
            </a:r>
            <a:r>
              <a:rPr lang="ar-DZ" sz="3600" b="1" dirty="0" smtClean="0"/>
              <a:t>و </a:t>
            </a:r>
            <a:r>
              <a:rPr lang="ar-DZ" sz="3600" baseline="-25000" dirty="0" smtClean="0">
                <a:solidFill>
                  <a:srgbClr val="002060"/>
                </a:solidFill>
              </a:rPr>
              <a:t>................................. </a:t>
            </a:r>
            <a:r>
              <a:rPr lang="ar-DZ" sz="3600" b="1" dirty="0" smtClean="0"/>
              <a:t>عــلــيــه ، </a:t>
            </a:r>
            <a:r>
              <a:rPr lang="ar-DZ" sz="3600" b="1" dirty="0" smtClean="0">
                <a:cs typeface="+mj-cs"/>
              </a:rPr>
              <a:t>ومـن بــيـن تـلـك الـخـصـائـص نـذكـر : </a:t>
            </a:r>
            <a:endParaRPr lang="ar-DZ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ب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- تــنــســيــق الــصـفــحــة </a:t>
            </a:r>
            <a:r>
              <a:rPr lang="en-US" sz="4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 </a:t>
            </a:r>
            <a:r>
              <a:rPr lang="en-US" sz="4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Forme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6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5257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ts val="7400"/>
              </a:lnSpc>
              <a:spcBef>
                <a:spcPts val="0"/>
              </a:spcBef>
              <a:buNone/>
            </a:pPr>
            <a:r>
              <a:rPr lang="ar-DZ" sz="3600" b="1" dirty="0">
                <a:solidFill>
                  <a:srgbClr val="0070C0"/>
                </a:solidFill>
                <a:cs typeface="+mj-cs"/>
              </a:rPr>
              <a:t>تــنــســيــق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الــصـفــحــة </a:t>
            </a:r>
            <a:r>
              <a:rPr lang="en-US" sz="3600" b="1" dirty="0" err="1" smtClean="0">
                <a:solidFill>
                  <a:srgbClr val="0070C0"/>
                </a:solidFill>
                <a:cs typeface="+mj-cs"/>
              </a:rPr>
              <a:t>Mise</a:t>
            </a:r>
            <a:r>
              <a:rPr lang="en-US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en-US" sz="3600" b="1" dirty="0">
                <a:solidFill>
                  <a:srgbClr val="0070C0"/>
                </a:solidFill>
                <a:cs typeface="+mj-cs"/>
              </a:rPr>
              <a:t>en </a:t>
            </a:r>
            <a:r>
              <a:rPr lang="en-US" sz="3600" b="1" dirty="0" err="1" smtClean="0">
                <a:solidFill>
                  <a:srgbClr val="0070C0"/>
                </a:solidFill>
                <a:cs typeface="+mj-cs"/>
              </a:rPr>
              <a:t>Forme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en-US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 smtClean="0">
                <a:cs typeface="+mj-cs"/>
              </a:rPr>
              <a:t>:  </a:t>
            </a:r>
            <a:r>
              <a:rPr lang="ar-DZ" sz="3600" b="1" dirty="0"/>
              <a:t>نــقــوم </a:t>
            </a:r>
            <a:r>
              <a:rPr lang="ar-DZ" sz="3600" b="1" dirty="0" smtClean="0">
                <a:cs typeface="+mj-cs"/>
              </a:rPr>
              <a:t>فــيـهـا بــتـطــبــيــق الـخــصــائـص الَّـتِي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 </a:t>
            </a:r>
            <a:r>
              <a:rPr lang="ar-DZ" sz="3600" b="1" dirty="0" smtClean="0"/>
              <a:t>و </a:t>
            </a:r>
            <a:r>
              <a:rPr lang="ar-DZ" sz="3600" baseline="-25000" dirty="0" smtClean="0">
                <a:solidFill>
                  <a:srgbClr val="002060"/>
                </a:solidFill>
              </a:rPr>
              <a:t>................................. </a:t>
            </a:r>
            <a:r>
              <a:rPr lang="ar-DZ" sz="3600" b="1" dirty="0" smtClean="0"/>
              <a:t>عــلــيــه ، </a:t>
            </a:r>
            <a:r>
              <a:rPr lang="ar-DZ" sz="3600" b="1" dirty="0" smtClean="0">
                <a:cs typeface="+mj-cs"/>
              </a:rPr>
              <a:t>ومـن بــيـن تـلـك الـخـصـائـص نـذكـر : </a:t>
            </a:r>
            <a:endParaRPr lang="ar-DZ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ب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- تــنــســيــق الــصـفــحــة </a:t>
            </a:r>
            <a:r>
              <a:rPr lang="en-US" sz="4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 </a:t>
            </a:r>
            <a:r>
              <a:rPr lang="en-US" sz="4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Forme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6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0994" y="3396552"/>
            <a:ext cx="5265006" cy="7525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تُـحَــدِّدُ مــظـهــر الـمـحــتــوى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060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ts val="7400"/>
              </a:lnSpc>
              <a:spcBef>
                <a:spcPts val="0"/>
              </a:spcBef>
              <a:buNone/>
            </a:pPr>
            <a:r>
              <a:rPr lang="ar-DZ" sz="3600" b="1" dirty="0">
                <a:solidFill>
                  <a:srgbClr val="0070C0"/>
                </a:solidFill>
                <a:cs typeface="+mj-cs"/>
              </a:rPr>
              <a:t>تــنــســيــق 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الــصـفــحــة </a:t>
            </a:r>
            <a:r>
              <a:rPr lang="en-US" sz="3600" b="1" dirty="0" err="1" smtClean="0">
                <a:solidFill>
                  <a:srgbClr val="0070C0"/>
                </a:solidFill>
                <a:cs typeface="+mj-cs"/>
              </a:rPr>
              <a:t>Mise</a:t>
            </a:r>
            <a:r>
              <a:rPr lang="en-US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en-US" sz="3600" b="1" dirty="0">
                <a:solidFill>
                  <a:srgbClr val="0070C0"/>
                </a:solidFill>
                <a:cs typeface="+mj-cs"/>
              </a:rPr>
              <a:t>en </a:t>
            </a:r>
            <a:r>
              <a:rPr lang="en-US" sz="3600" b="1" dirty="0" err="1" smtClean="0">
                <a:solidFill>
                  <a:srgbClr val="0070C0"/>
                </a:solidFill>
                <a:cs typeface="+mj-cs"/>
              </a:rPr>
              <a:t>Forme</a:t>
            </a:r>
            <a:r>
              <a:rPr lang="ar-DZ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en-US" sz="3600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sz="3600" b="1" dirty="0" smtClean="0">
                <a:cs typeface="+mj-cs"/>
              </a:rPr>
              <a:t>:  </a:t>
            </a:r>
            <a:r>
              <a:rPr lang="ar-DZ" sz="3600" b="1" dirty="0"/>
              <a:t>نــقــوم </a:t>
            </a:r>
            <a:r>
              <a:rPr lang="ar-DZ" sz="3600" b="1" dirty="0" smtClean="0">
                <a:cs typeface="+mj-cs"/>
              </a:rPr>
              <a:t>فــيـهـا بــتـطــبــيــق الـخــصــائـص الَّـتِي </a:t>
            </a:r>
            <a:r>
              <a:rPr lang="ar-DZ" sz="36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......................................................................... </a:t>
            </a:r>
            <a:r>
              <a:rPr lang="ar-DZ" sz="3600" b="1" dirty="0" smtClean="0"/>
              <a:t>و </a:t>
            </a:r>
            <a:r>
              <a:rPr lang="ar-DZ" sz="3600" baseline="-25000" dirty="0" smtClean="0">
                <a:solidFill>
                  <a:srgbClr val="002060"/>
                </a:solidFill>
              </a:rPr>
              <a:t>................................. </a:t>
            </a:r>
            <a:r>
              <a:rPr lang="ar-DZ" sz="3600" b="1" dirty="0" smtClean="0"/>
              <a:t>عــلــيــه ، </a:t>
            </a:r>
            <a:r>
              <a:rPr lang="ar-DZ" sz="3600" b="1" dirty="0" smtClean="0">
                <a:cs typeface="+mj-cs"/>
              </a:rPr>
              <a:t>ومـن بــيـن تـلـك الـخـصـائـص نـذكـر : </a:t>
            </a:r>
            <a:endParaRPr lang="ar-DZ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70C0"/>
                </a:solidFill>
                <a:cs typeface="+mj-cs"/>
              </a:rPr>
              <a:t> ب </a:t>
            </a:r>
            <a:r>
              <a:rPr lang="ar-DZ" sz="4800" b="1" dirty="0">
                <a:solidFill>
                  <a:srgbClr val="0070C0"/>
                </a:solidFill>
                <a:cs typeface="+mj-cs"/>
              </a:rPr>
              <a:t>- تــنــســيــق الــصـفــحــة </a:t>
            </a:r>
            <a:r>
              <a:rPr lang="en-US" sz="4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en </a:t>
            </a:r>
            <a:r>
              <a:rPr lang="en-US" sz="4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Forme</a:t>
            </a:r>
            <a:r>
              <a:rPr lang="en-US" sz="4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6000" i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0994" y="3396552"/>
            <a:ext cx="5265006" cy="7525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تُـحَــدِّدُ مــظـهــر الـمـحــتــوى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44272" y="4365105"/>
            <a:ext cx="2232248" cy="79208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تُــؤَثِّـــرُ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0757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0070C0"/>
                </a:solidFill>
                <a:cs typeface="+mj-cs"/>
              </a:rPr>
              <a:t>  ب - تــنــســيــق الــصـفــحــة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fr-FR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Forme</a:t>
            </a:r>
            <a:r>
              <a:rPr lang="fr-FR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تــابـع</a:t>
            </a:r>
            <a:endParaRPr lang="fr-FR" sz="5400" i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2146846"/>
            <a:ext cx="10887000" cy="42268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ــو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الـخ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ــج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لَــوْنُ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</a:t>
            </a:r>
          </a:p>
        </p:txBody>
      </p:sp>
    </p:spTree>
    <p:extLst>
      <p:ext uri="{BB962C8B-B14F-4D97-AF65-F5344CB8AC3E}">
        <p14:creationId xmlns:p14="http://schemas.microsoft.com/office/powerpoint/2010/main" val="4200156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build="p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0070C0"/>
                </a:solidFill>
                <a:cs typeface="+mj-cs"/>
              </a:rPr>
              <a:t>  ب - تــنــســيــق الــصـفــحــة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fr-FR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Forme</a:t>
            </a:r>
            <a:r>
              <a:rPr lang="fr-FR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تــابـع</a:t>
            </a:r>
            <a:endParaRPr lang="fr-FR" sz="5400" i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2146846"/>
            <a:ext cx="10887000" cy="42268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ــو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الـخ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ــج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لَــوْنُ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5480" y="2413892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la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Police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66029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build="p" animBg="1"/>
      <p:bldP spid="1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0070C0"/>
                </a:solidFill>
                <a:cs typeface="+mj-cs"/>
              </a:rPr>
              <a:t>  ب - تــنــســيــق الــصـفــحــة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fr-FR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Forme</a:t>
            </a:r>
            <a:r>
              <a:rPr lang="fr-FR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تــابـع</a:t>
            </a:r>
            <a:endParaRPr lang="fr-FR" sz="5400" i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2146846"/>
            <a:ext cx="10887000" cy="42268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ــو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الـخ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ــج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لَــوْنُ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5480" y="2413892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la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Police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415480" y="3494012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Taille de la Police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17242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build="p" animBg="1"/>
      <p:bldP spid="11" grpId="0" animBg="1"/>
      <p:bldP spid="1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0070C0"/>
                </a:solidFill>
                <a:cs typeface="+mj-cs"/>
              </a:rPr>
              <a:t>  ب - تــنــســيــق الــصـفــحــة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fr-FR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Forme</a:t>
            </a:r>
            <a:r>
              <a:rPr lang="fr-FR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تــابـع</a:t>
            </a:r>
            <a:endParaRPr lang="fr-FR" sz="5400" i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2146846"/>
            <a:ext cx="10887000" cy="42268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ــو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الـخ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ــج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لَــوْنُ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15480" y="2413892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Type de la Police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415480" y="3494012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Taille de la Police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415480" y="4572443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Couleur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la Police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4614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build="p" animBg="1"/>
      <p:bldP spid="11" grpId="0" animBg="1"/>
      <p:bldP spid="12" grpId="0" animBg="1"/>
      <p:bldP spid="13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0070C0"/>
                </a:solidFill>
                <a:cs typeface="+mj-cs"/>
              </a:rPr>
              <a:t>  ب - تــنــســيــق الــصـفــحــة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fr-FR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Forme</a:t>
            </a:r>
            <a:r>
              <a:rPr lang="fr-FR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تــابـع</a:t>
            </a:r>
            <a:endParaRPr lang="fr-FR" sz="5400" i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2146846"/>
            <a:ext cx="10887000" cy="42268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1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ــب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ــاع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ــد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مُــحَـــاذَاةُ الــنَّــصِ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</a:t>
            </a: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  إلـــخ .</a:t>
            </a:r>
            <a:endParaRPr lang="ar-DZ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067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build="p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0070C0"/>
                </a:solidFill>
                <a:cs typeface="+mj-cs"/>
              </a:rPr>
              <a:t>  ب - تــنــســيــق الــصـفــحــة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fr-FR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Forme</a:t>
            </a:r>
            <a:r>
              <a:rPr lang="fr-FR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تــابـع</a:t>
            </a:r>
            <a:endParaRPr lang="fr-FR" sz="5400" i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2146846"/>
            <a:ext cx="10887000" cy="42268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1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ــب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ــاع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ــد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مُــحَـــاذَاةُ الــنَّــصِ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</a:t>
            </a: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  إلـــخ .</a:t>
            </a:r>
            <a:endParaRPr lang="ar-DZ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55441" y="2686061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L’Espace </a:t>
            </a:r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Interligne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55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build="p" animBg="1"/>
      <p:bldP spid="12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2.2 إعــــداد الـمــســتــنــد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b="1" dirty="0">
                <a:solidFill>
                  <a:srgbClr val="0070C0"/>
                </a:solidFill>
                <a:cs typeface="+mj-cs"/>
              </a:rPr>
              <a:t>  ب - تــنــســيــق الــصـفــحــة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</a:t>
            </a:r>
            <a:r>
              <a:rPr lang="fr-FR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fr-FR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Forme</a:t>
            </a:r>
            <a:r>
              <a:rPr lang="fr-FR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+mj-cs"/>
              </a:rPr>
              <a:t>تــابـع</a:t>
            </a:r>
            <a:endParaRPr lang="fr-FR" sz="5400" i="1" dirty="0">
              <a:solidFill>
                <a:srgbClr val="0070C0"/>
              </a:solidFill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2146846"/>
            <a:ext cx="10887000" cy="422687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24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1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ــب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ــاع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ــد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مُــحَـــاذَاةُ الــنَّــصِ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</a:t>
            </a:r>
          </a:p>
          <a:p>
            <a:pPr marL="0" indent="0" algn="just" rtl="1">
              <a:lnSpc>
                <a:spcPts val="76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  إلـــخ .</a:t>
            </a:r>
            <a:endParaRPr lang="ar-DZ" sz="4000" baseline="-2500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55441" y="2686061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L’Espace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Interligne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055441" y="3761869"/>
            <a:ext cx="56886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L’Alignement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7688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10" grpId="0" build="p" animBg="1"/>
      <p:bldP spid="12" grpId="0" animBg="1"/>
      <p:bldP spid="13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</a:rPr>
              <a:t>إعــــداد الـمــســـتـــنـــد</a:t>
            </a:r>
            <a:r>
              <a:rPr lang="fr-FR" b="1" dirty="0" smtClean="0">
                <a:solidFill>
                  <a:srgbClr val="00B050"/>
                </a:solidFill>
              </a:rPr>
              <a:t> </a:t>
            </a:r>
            <a:r>
              <a:rPr lang="ar-DZ" b="1" dirty="0" smtClean="0">
                <a:solidFill>
                  <a:srgbClr val="00B050"/>
                </a:solidFill>
              </a:rPr>
              <a:t> ـــ  تـــابـــع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1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cs typeface="+mj-cs"/>
              </a:rPr>
              <a:t>يُـعْــتَــبَــر </a:t>
            </a:r>
            <a:r>
              <a:rPr lang="ar-DZ" sz="4400" b="1" dirty="0">
                <a:cs typeface="+mj-cs"/>
              </a:rPr>
              <a:t>بــرنــامـج مـعــالــج الـنـصــوص </a:t>
            </a:r>
            <a:r>
              <a:rPr lang="en-U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MS-Word</a:t>
            </a:r>
            <a:r>
              <a:rPr lang="ar-DZ" sz="4400" b="1" dirty="0">
                <a:cs typeface="+mj-cs"/>
              </a:rPr>
              <a:t> الأكــثــر </a:t>
            </a:r>
            <a:r>
              <a:rPr lang="ar-DZ" sz="4400" b="1" dirty="0" smtClean="0">
                <a:cs typeface="+mj-cs"/>
              </a:rPr>
              <a:t>شُــيُـــوعًـــا </a:t>
            </a:r>
            <a:r>
              <a:rPr lang="ar-DZ" sz="4400" b="1" dirty="0">
                <a:cs typeface="+mj-cs"/>
              </a:rPr>
              <a:t>فــي </a:t>
            </a:r>
            <a:r>
              <a:rPr lang="ar-DZ" sz="4400" b="1" dirty="0" smtClean="0">
                <a:cs typeface="+mj-cs"/>
              </a:rPr>
              <a:t>الـعـــالـــم عــنــد إعــــداد الــمـــســـتـــنـــدات نــظـــرًا لــ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 ....</a:t>
            </a:r>
            <a:r>
              <a:rPr lang="fr-FR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fr-FR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/>
              <a:t>وتَــعَـــدُّد </a:t>
            </a:r>
            <a:r>
              <a:rPr lang="ar-DZ" sz="44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 </a:t>
            </a:r>
            <a:endParaRPr lang="ar-DZ" sz="44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10" name="Rectangle 9"/>
          <p:cNvSpPr/>
          <p:nvPr/>
        </p:nvSpPr>
        <p:spPr>
          <a:xfrm>
            <a:off x="1055440" y="4810954"/>
            <a:ext cx="4539660" cy="7525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الـخــيــارات والــوســائـــل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055440" y="3801189"/>
            <a:ext cx="2896913" cy="7525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ســهـــولــة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968208" y="4804765"/>
            <a:ext cx="3237204" cy="752528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اســتــعـــمـــالـــه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3356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0" grpId="0" animBg="1"/>
      <p:bldP spid="11" grpId="0" animBg="1"/>
      <p:bldP spid="1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(</a:t>
            </a:r>
            <a:r>
              <a:rPr lang="fr-FR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</a:rPr>
              <a:t>إعــــداد الـمــســـتـــنـــد</a:t>
            </a:r>
            <a:r>
              <a:rPr lang="fr-FR" b="1" dirty="0" smtClean="0">
                <a:solidFill>
                  <a:srgbClr val="00B050"/>
                </a:solidFill>
              </a:rPr>
              <a:t> </a:t>
            </a:r>
            <a:r>
              <a:rPr lang="ar-DZ" b="1" dirty="0" smtClean="0">
                <a:solidFill>
                  <a:srgbClr val="00B050"/>
                </a:solidFill>
              </a:rPr>
              <a:t> ـــ  تـــابـــع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)</a:t>
            </a:r>
            <a:endParaRPr lang="fr-FR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600" b="1" dirty="0" smtClean="0">
              <a:cs typeface="+mj-cs"/>
            </a:endParaRPr>
          </a:p>
          <a:p>
            <a:pPr marL="0" indent="0" algn="just" rtl="1">
              <a:lnSpc>
                <a:spcPts val="8500"/>
              </a:lnSpc>
              <a:buNone/>
            </a:pPr>
            <a:r>
              <a:rPr lang="ar-DZ" sz="4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الَّـتِي يُــوَفِّـــرُهــا ، وفـي هــذه الـوحــدة الأولـى ( مـن الـمـجــال الـثــانـي ) ســوف نــتــطــرَّقُ لــمــفـــاهـــيــمٍ جـــديـــدةٍ ونــقـــوم بـاســـتــغـــلال وســـائـــل حــــديـــثــة أَلَا وهــي  :</a:t>
            </a:r>
            <a:endParaRPr lang="ar-DZ" sz="42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270553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</a:rPr>
              <a:t> (</a:t>
            </a:r>
            <a:r>
              <a:rPr lang="fr-FR" sz="5400" b="1" dirty="0">
                <a:solidFill>
                  <a:srgbClr val="FF000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إعــــداد الـمــســـتـــنـــد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 ـــ  تـــابـــع</a:t>
            </a:r>
            <a:r>
              <a:rPr lang="ar-DZ" sz="5400" b="1" dirty="0">
                <a:solidFill>
                  <a:srgbClr val="FF0000"/>
                </a:solidFill>
              </a:rPr>
              <a:t> )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5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الأنْــمَ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الــقَـــوَالِـــبْ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الــمَـــقَـــاطِــع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دَمْــجُ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ـمُ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رَاسَـــلَات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304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</a:rPr>
              <a:t> (</a:t>
            </a:r>
            <a:r>
              <a:rPr lang="fr-FR" sz="5400" b="1" dirty="0">
                <a:solidFill>
                  <a:srgbClr val="FF000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إعــــداد الـمــســـتـــنـــد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 ـــ  تـــابـــع</a:t>
            </a:r>
            <a:r>
              <a:rPr lang="ar-DZ" sz="5400" b="1" dirty="0">
                <a:solidFill>
                  <a:srgbClr val="FF0000"/>
                </a:solidFill>
              </a:rPr>
              <a:t> )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5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الأنْــمَ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الــقَـــوَالِـــبْ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الــمَـــقَـــاطِــع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دَمْــجُ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ـمُ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رَاسَـــلَات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35061" y="1615218"/>
            <a:ext cx="582503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Styles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1375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1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</a:rPr>
              <a:t> (</a:t>
            </a:r>
            <a:r>
              <a:rPr lang="fr-FR" sz="5400" b="1" dirty="0">
                <a:solidFill>
                  <a:srgbClr val="FF000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إعــــداد الـمــســـتـــنـــد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 ـــ  تـــابـــع</a:t>
            </a:r>
            <a:r>
              <a:rPr lang="ar-DZ" sz="5400" b="1" dirty="0">
                <a:solidFill>
                  <a:srgbClr val="FF0000"/>
                </a:solidFill>
              </a:rPr>
              <a:t> )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5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الأنْــمَ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الــقَـــوَالِـــبْ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الــمَـــقَـــاطِــع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دَمْــجُ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ـمُ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رَاسَـــلَات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35061" y="1615218"/>
            <a:ext cx="582503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Styles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35061" y="2557824"/>
            <a:ext cx="582503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Modèles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311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1" grpId="0" animBg="1"/>
      <p:bldP spid="12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</a:rPr>
              <a:t> (</a:t>
            </a:r>
            <a:r>
              <a:rPr lang="fr-FR" sz="5400" b="1" dirty="0">
                <a:solidFill>
                  <a:srgbClr val="FF000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إعــــداد الـمــســـتـــنـــد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 ـــ  تـــابـــع</a:t>
            </a:r>
            <a:r>
              <a:rPr lang="ar-DZ" sz="5400" b="1" dirty="0">
                <a:solidFill>
                  <a:srgbClr val="FF0000"/>
                </a:solidFill>
              </a:rPr>
              <a:t> )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5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الأنْــمَ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الــقَـــوَالِـــبْ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الــمَـــقَـــاطِــع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دَمْــجُ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ـمُ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رَاسَـــلَات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35061" y="1615218"/>
            <a:ext cx="582503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Styles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35061" y="2557824"/>
            <a:ext cx="582503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Modèles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35061" y="3526188"/>
            <a:ext cx="582503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Sections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98153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1" grpId="0" animBg="1"/>
      <p:bldP spid="12" grpId="0" animBg="1"/>
      <p:bldP spid="13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</a:rPr>
              <a:t> (</a:t>
            </a:r>
            <a:r>
              <a:rPr lang="fr-FR" sz="5400" b="1" dirty="0">
                <a:solidFill>
                  <a:srgbClr val="FF000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إعــــداد الـمــســـتـــنـــد</a:t>
            </a:r>
            <a:r>
              <a:rPr lang="fr-FR" sz="5400" b="1" dirty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 ـــ  تـــابـــع</a:t>
            </a:r>
            <a:r>
              <a:rPr lang="ar-DZ" sz="5400" b="1" dirty="0">
                <a:solidFill>
                  <a:srgbClr val="FF0000"/>
                </a:solidFill>
              </a:rPr>
              <a:t> )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1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buFont typeface="Arial" pitchFamily="34" charset="0"/>
              <a:buNone/>
            </a:pPr>
            <a:r>
              <a:rPr lang="ar-DZ" sz="2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5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الأنْــمَ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اط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الــقَـــوَالِـــبْ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الــمَـــقَـــاطِــع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</a:t>
            </a:r>
          </a:p>
          <a:p>
            <a:pPr marL="0" indent="0" algn="just" rtl="1">
              <a:lnSpc>
                <a:spcPts val="64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دَمْــجُ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ـمُ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رَاسَـــلَات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</a:t>
            </a:r>
            <a:r>
              <a:rPr lang="fr-FR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135061" y="1615218"/>
            <a:ext cx="582503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Styles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35061" y="2557824"/>
            <a:ext cx="582503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Modèles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135061" y="3526188"/>
            <a:ext cx="582503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Sections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135061" y="4455915"/>
            <a:ext cx="582503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Publipostage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5320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1" grpId="0" animBg="1"/>
      <p:bldP spid="12" grpId="0" animBg="1"/>
      <p:bldP spid="13" grpId="0" animBg="1"/>
      <p:bldP spid="14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الأنــمـــاط 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Styles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800" b="1" u="sng" dirty="0" smtClean="0">
                <a:solidFill>
                  <a:srgbClr val="00B050"/>
                </a:solidFill>
                <a:cs typeface="+mj-cs"/>
              </a:rPr>
              <a:t>نـشــاط 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عــنــد تــنــســيــق مــســتــنــد يــمــكــنــنــا اســتـغــلال الأنــمــاط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فــمـاذا تُــمَــثِــل ؟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.1 - تـعـــريــف الـنــمــط  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79098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الــنــمــط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هــو </a:t>
            </a:r>
            <a:r>
              <a:rPr lang="ar-DZ" sz="4000" b="1" dirty="0">
                <a:solidFill>
                  <a:srgbClr val="002060"/>
                </a:solidFill>
              </a:rPr>
              <a:t>مــجــمــوعــة مــن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( نـــوع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الـخــط ، لــونــه ،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تــبــاعـــد الأســطــر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... إلــخ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) الَّـتي يَــتِــمُّ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وذلـك عــلـى الـفــقــرات ، الـحـــروف ،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الـجـــداول أو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الـقـــوائـــم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384238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الــنــمــط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هــو </a:t>
            </a:r>
            <a:r>
              <a:rPr lang="ar-DZ" sz="4000" b="1" dirty="0">
                <a:solidFill>
                  <a:srgbClr val="002060"/>
                </a:solidFill>
              </a:rPr>
              <a:t>مــجــمــوعــة مــن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( نـــوع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الـخــط ، لــونــه ،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تــبــاعـــد الأســطــر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... إلــخ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) الَّـتي يَــتِــمُّ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وذلـك عــلـى الـفــقــرات ، الـحـــروف ،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الـجـــداول أو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الـقـــوائـــم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423592" y="1588573"/>
            <a:ext cx="44644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خــصـائــص الـتَّـنــســيــق </a:t>
            </a:r>
          </a:p>
        </p:txBody>
      </p:sp>
    </p:spTree>
    <p:extLst>
      <p:ext uri="{BB962C8B-B14F-4D97-AF65-F5344CB8AC3E}">
        <p14:creationId xmlns:p14="http://schemas.microsoft.com/office/powerpoint/2010/main" val="3938638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54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الــنــمــط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هــو </a:t>
            </a:r>
            <a:r>
              <a:rPr lang="ar-DZ" sz="4000" b="1" dirty="0">
                <a:solidFill>
                  <a:srgbClr val="002060"/>
                </a:solidFill>
              </a:rPr>
              <a:t>مــجــمــوعــة مــن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 ( نـــوع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الـخــط ، لــونــه ،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تــبــاعـــد الأســطــر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... إلــخ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) الَّـتي يَــتِــمُّ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وذلـك عــلـى الـفــقــرات ، الـحـــروف ،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الـجـــداول أو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الـقـــوائـــم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2423592" y="1588573"/>
            <a:ext cx="44644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خــصـائــص الـتَّـنــســيــق </a:t>
            </a:r>
          </a:p>
        </p:txBody>
      </p:sp>
      <p:sp>
        <p:nvSpPr>
          <p:cNvPr id="9" name="Rectangle 8"/>
          <p:cNvSpPr/>
          <p:nvPr/>
        </p:nvSpPr>
        <p:spPr>
          <a:xfrm>
            <a:off x="5591944" y="3617577"/>
            <a:ext cx="554461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تــطــبــيــقـهـا 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دفــعــة واحــدة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691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الأنــمـــاط 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Styles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800" b="1" u="sng" dirty="0" smtClean="0">
                <a:solidFill>
                  <a:srgbClr val="00B050"/>
                </a:solidFill>
                <a:cs typeface="+mj-cs"/>
              </a:rPr>
              <a:t>نـشــاط 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حَـــدِّدْ بــعــض فـــوائـــد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اســـتــعـــمــال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الأنــمــاط عـــنــد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تــنــســـيــق مــســتـــنـــد 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- فــوائــد 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اسـتـعــمـال الأنــمــاط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 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666219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.1 - </a:t>
            </a:r>
            <a:r>
              <a:rPr lang="ar-DZ" sz="5400" b="1" dirty="0" smtClean="0">
                <a:solidFill>
                  <a:srgbClr val="00B050"/>
                </a:solidFill>
              </a:rPr>
              <a:t>فــوائــد </a:t>
            </a:r>
            <a:r>
              <a:rPr lang="ar-DZ" sz="5400" b="1" dirty="0">
                <a:solidFill>
                  <a:srgbClr val="00B050"/>
                </a:solidFill>
              </a:rPr>
              <a:t>اسـتـعــمـال الأنــمــاط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الـمــســتــنــد وتـوفــيـر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</a:t>
            </a:r>
            <a:endParaRPr lang="ar-DZ" sz="4000" b="1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إضــفــاء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عــلـى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الـمــســتــنــد فـي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جـــمـــيــع أجـــزائــه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﴿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عـــنـــاويــن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، فـــقـــرات ... ﴾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247106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.1 - </a:t>
            </a:r>
            <a:r>
              <a:rPr lang="ar-DZ" sz="5400" b="1" dirty="0" smtClean="0">
                <a:solidFill>
                  <a:srgbClr val="00B050"/>
                </a:solidFill>
              </a:rPr>
              <a:t>فــوائــد </a:t>
            </a:r>
            <a:r>
              <a:rPr lang="ar-DZ" sz="5400" b="1" dirty="0">
                <a:solidFill>
                  <a:srgbClr val="00B050"/>
                </a:solidFill>
              </a:rPr>
              <a:t>اسـتـعــمـال الأنــمــاط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الـمــســتــنــد وتـوفــيـر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</a:t>
            </a:r>
            <a:endParaRPr lang="ar-DZ" sz="4000" b="1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إضــفــاء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عــلـى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الـمــســتــنــد فـي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جـــمـــيــع أجـــزائــه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﴿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عـــنـــاويــن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، فـــقـــرات ... ﴾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608168" y="1592509"/>
            <a:ext cx="376447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تـسـهــيــل تَّـنــســيــق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816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.1 - </a:t>
            </a:r>
            <a:r>
              <a:rPr lang="ar-DZ" sz="5400" b="1" dirty="0" smtClean="0">
                <a:solidFill>
                  <a:srgbClr val="00B050"/>
                </a:solidFill>
              </a:rPr>
              <a:t>فــوائــد </a:t>
            </a:r>
            <a:r>
              <a:rPr lang="ar-DZ" sz="5400" b="1" dirty="0">
                <a:solidFill>
                  <a:srgbClr val="00B050"/>
                </a:solidFill>
              </a:rPr>
              <a:t>اسـتـعــمـال الأنــمــاط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الـمــســتــنــد وتـوفــيـر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</a:t>
            </a:r>
            <a:endParaRPr lang="ar-DZ" sz="4000" b="1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إضــفــاء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عــلـى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الـمــســتــنــد فـي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جـــمـــيــع أجـــزائــه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﴿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عـــنـــاويــن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، فـــقـــرات ... ﴾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608168" y="1592509"/>
            <a:ext cx="376447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تـسـهــيــل تَّـنــســيــق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00" y="1595429"/>
            <a:ext cx="309481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الـوقــت والـجـهــد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337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.1 - </a:t>
            </a:r>
            <a:r>
              <a:rPr lang="ar-DZ" sz="5400" b="1" dirty="0" smtClean="0">
                <a:solidFill>
                  <a:srgbClr val="00B050"/>
                </a:solidFill>
              </a:rPr>
              <a:t>فــوائــد </a:t>
            </a:r>
            <a:r>
              <a:rPr lang="ar-DZ" sz="5400" b="1" dirty="0">
                <a:solidFill>
                  <a:srgbClr val="00B050"/>
                </a:solidFill>
              </a:rPr>
              <a:t>اسـتـعــمـال الأنــمــاط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الـمــســتــنــد وتـوفــيـر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</a:t>
            </a:r>
            <a:endParaRPr lang="ar-DZ" sz="4000" b="1" dirty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ts val="8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إضــفــاء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 عــلـى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الـمــســتــنــد فـي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جـــمـــيــع أجـــزائــه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﴿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عـــنـــاويــن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، فـــقـــرات ... ﴾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608168" y="1592509"/>
            <a:ext cx="376447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تـسـهــيــل تَّـنــســيــق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09600" y="1595429"/>
            <a:ext cx="309481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الـوقــت والـجـهــد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11824" y="2780928"/>
            <a:ext cx="513262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ظْـ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ـرًا مُ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ـنْـ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سَ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ـجِ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ــمً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ـا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379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  <p:bldP spid="7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الـقـــوالـــب  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Modèles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800" b="1" u="sng" dirty="0" smtClean="0">
                <a:solidFill>
                  <a:srgbClr val="00B050"/>
                </a:solidFill>
                <a:cs typeface="+mj-cs"/>
              </a:rPr>
              <a:t>نـشــاط 3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عـــرِّفْ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الـقــوالـــب 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، ثــم حَـــدِّدْ  خــصــائــصـهــا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.2 تـعـــريــف الــقـــالـــب 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616098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الــقـــالـــب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هـــو نـــوع </a:t>
            </a:r>
            <a:r>
              <a:rPr lang="ar-DZ" sz="4000" b="1" dirty="0" smtClean="0">
                <a:solidFill>
                  <a:srgbClr val="002060"/>
                </a:solidFill>
              </a:rPr>
              <a:t>مــن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يُـــنْـــشِــئُ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لــنــفـــســـه عـــنــد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725590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الــقـــالـــب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هـــو نـــوع </a:t>
            </a:r>
            <a:r>
              <a:rPr lang="ar-DZ" sz="4000" b="1" dirty="0" smtClean="0">
                <a:solidFill>
                  <a:srgbClr val="002060"/>
                </a:solidFill>
              </a:rPr>
              <a:t>مــن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يُـــنْـــشِــئُ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لــنــفـــســـه عـــنــد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3215680" y="1740564"/>
            <a:ext cx="44644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ـس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دات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090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الــقـــالـــب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هـــو نـــوع </a:t>
            </a:r>
            <a:r>
              <a:rPr lang="ar-DZ" sz="4000" b="1" dirty="0" smtClean="0">
                <a:solidFill>
                  <a:srgbClr val="002060"/>
                </a:solidFill>
              </a:rPr>
              <a:t>مــن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يُـــنْـــشِــئُ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لــنــفـــســـه عـــنــد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3215680" y="1740564"/>
            <a:ext cx="44644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ـس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دات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96200" y="2963011"/>
            <a:ext cx="33414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ـس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ـخ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ً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306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الــقـــالـــب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هـــو نـــوع </a:t>
            </a:r>
            <a:r>
              <a:rPr lang="ar-DZ" sz="4000" b="1" dirty="0" smtClean="0">
                <a:solidFill>
                  <a:srgbClr val="002060"/>
                </a:solidFill>
              </a:rPr>
              <a:t>مــن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يُـــنْـــشِــئُ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لــنــفـــســـه عـــنــد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3215680" y="1740564"/>
            <a:ext cx="44644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ـس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دات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96200" y="2963011"/>
            <a:ext cx="33414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ـس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ـخ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ً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83432" y="2963011"/>
            <a:ext cx="30243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ـح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ـه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2228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10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الـقـــوالـــب  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Modèles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lvl="0" algn="just" rt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000" b="1" dirty="0" smtClean="0">
                <a:cs typeface="+mj-cs"/>
              </a:rPr>
              <a:t> يــتــألَّــف الــقـــالـــب غـــالـــبًــا مــن </a:t>
            </a:r>
            <a:r>
              <a:rPr lang="ar-DZ" sz="4000" b="1" dirty="0">
                <a:cs typeface="+mj-cs"/>
              </a:rPr>
              <a:t>جـــزئــيــن </a:t>
            </a:r>
            <a:r>
              <a:rPr lang="ar-DZ" sz="4000" b="1" dirty="0" smtClean="0">
                <a:cs typeface="+mj-cs"/>
              </a:rPr>
              <a:t>:</a:t>
            </a:r>
          </a:p>
          <a:p>
            <a:pPr mar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- الـنــصــوص الــثَــابِــتَــة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: </a:t>
            </a:r>
            <a:r>
              <a:rPr lang="ar-DZ" sz="4000" b="1" dirty="0" smtClean="0">
                <a:cs typeface="+mj-cs"/>
              </a:rPr>
              <a:t>الَّـتِي لا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>
                <a:cs typeface="+mj-cs"/>
              </a:rPr>
              <a:t>( مــثــلاً </a:t>
            </a:r>
            <a:r>
              <a:rPr lang="en-US" sz="4000" b="1" dirty="0">
                <a:cs typeface="+mj-cs"/>
              </a:rPr>
              <a:t>:</a:t>
            </a:r>
            <a:r>
              <a:rPr lang="ar-DZ" sz="4000" b="1" dirty="0">
                <a:cs typeface="+mj-cs"/>
              </a:rPr>
              <a:t> رأس الـصــفــحــة ...  إلــخ )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خــصــائــص الـقـــوالـــب 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101971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الـقـــوالـــب  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Modèles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lvl="0" algn="just" rtl="1">
              <a:lnSpc>
                <a:spcPct val="15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000" b="1" dirty="0" smtClean="0">
                <a:cs typeface="+mj-cs"/>
              </a:rPr>
              <a:t> يــتــألَّــف الــقـــالـــب غـــالـــبًــا مــن </a:t>
            </a:r>
            <a:r>
              <a:rPr lang="ar-DZ" sz="4000" b="1" dirty="0">
                <a:cs typeface="+mj-cs"/>
              </a:rPr>
              <a:t>جـــزئــيــن </a:t>
            </a:r>
            <a:r>
              <a:rPr lang="ar-DZ" sz="4000" b="1" dirty="0" smtClean="0">
                <a:cs typeface="+mj-cs"/>
              </a:rPr>
              <a:t>:</a:t>
            </a:r>
          </a:p>
          <a:p>
            <a:pPr mar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- الـنــصــوص الــثَــابِــتَــة </a:t>
            </a:r>
            <a:r>
              <a:rPr lang="ar-DZ" sz="4000" b="1" dirty="0">
                <a:solidFill>
                  <a:srgbClr val="0070C0"/>
                </a:solidFill>
                <a:cs typeface="+mj-cs"/>
              </a:rPr>
              <a:t>: </a:t>
            </a:r>
            <a:r>
              <a:rPr lang="ar-DZ" sz="4000" b="1" dirty="0" smtClean="0">
                <a:cs typeface="+mj-cs"/>
              </a:rPr>
              <a:t>الَّـتِي لا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>
                <a:cs typeface="+mj-cs"/>
              </a:rPr>
              <a:t>( مــثــلاً </a:t>
            </a:r>
            <a:r>
              <a:rPr lang="en-US" sz="4000" b="1" dirty="0">
                <a:cs typeface="+mj-cs"/>
              </a:rPr>
              <a:t>:</a:t>
            </a:r>
            <a:r>
              <a:rPr lang="ar-DZ" sz="4000" b="1" dirty="0">
                <a:cs typeface="+mj-cs"/>
              </a:rPr>
              <a:t> رأس الـصــفــحــة ...  إلــخ )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خــصــائــص الـقـــوالـــب 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4529" y="3293255"/>
            <a:ext cx="418934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رْغَــب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تـغــيــي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ــرهـا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4552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الـقـــوالـــب  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Modèles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40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- الـنــصــوص الــنـــائــبــة : </a:t>
            </a:r>
            <a:r>
              <a:rPr lang="ar-DZ" sz="4000" b="1" dirty="0" smtClean="0">
                <a:cs typeface="+mj-cs"/>
              </a:rPr>
              <a:t>فـهـي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</a:t>
            </a:r>
            <a:r>
              <a:rPr lang="ar-DZ" sz="4000" b="1" dirty="0" smtClean="0">
                <a:cs typeface="+mj-cs"/>
              </a:rPr>
              <a:t> وتُــسْــتَــعْــمَــلُ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</a:t>
            </a:r>
            <a:r>
              <a:rPr lang="ar-DZ" sz="4000" b="1" dirty="0" smtClean="0">
                <a:cs typeface="+mj-cs"/>
              </a:rPr>
              <a:t> فَــقَـطْ 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+mj-cs"/>
              </a:rPr>
              <a:t>( لِــفَــهْــمِ الـقــالــب </a:t>
            </a:r>
            <a:r>
              <a:rPr lang="ar-DZ" sz="4000" b="1" dirty="0">
                <a:solidFill>
                  <a:srgbClr val="00000A"/>
                </a:solidFill>
                <a:latin typeface="Liberation Serif"/>
                <a:ea typeface="Droid Sans Fallback"/>
              </a:rPr>
              <a:t>وتــســهــيــل 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</a:rPr>
              <a:t>اسـتــخــدامــه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+mj-cs"/>
              </a:rPr>
              <a:t> )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/>
              <a:t>ثُــمَّ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</a:t>
            </a:r>
            <a:r>
              <a:rPr lang="ar-DZ" sz="4000" b="1" dirty="0" smtClean="0">
                <a:cs typeface="+mj-cs"/>
              </a:rPr>
              <a:t> لِــتُــسْــتَــبْــدَلَ بـ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</a:t>
            </a:r>
            <a:r>
              <a:rPr lang="ar-DZ" sz="4000" b="1" dirty="0" smtClean="0">
                <a:cs typeface="+mj-cs"/>
              </a:rPr>
              <a:t> الــمُــنَـــاسِـــبَــة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خــصــائــص الـقـــوالـــب  ـــ  تــابـع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20943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الـقـــوالـــب  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Modèles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40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- الـنــصــوص الــنـــائــبــة : </a:t>
            </a:r>
            <a:r>
              <a:rPr lang="ar-DZ" sz="4000" b="1" dirty="0" smtClean="0">
                <a:cs typeface="+mj-cs"/>
              </a:rPr>
              <a:t>فـهـي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</a:t>
            </a:r>
            <a:r>
              <a:rPr lang="ar-DZ" sz="4000" b="1" dirty="0" smtClean="0">
                <a:cs typeface="+mj-cs"/>
              </a:rPr>
              <a:t> وتُــسْــتَــعْــمَــلُ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</a:t>
            </a:r>
            <a:r>
              <a:rPr lang="ar-DZ" sz="4000" b="1" dirty="0" smtClean="0">
                <a:cs typeface="+mj-cs"/>
              </a:rPr>
              <a:t> فَــقَـطْ 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+mj-cs"/>
              </a:rPr>
              <a:t>( لِــفَــهْــمِ الـقــالــب </a:t>
            </a:r>
            <a:r>
              <a:rPr lang="ar-DZ" sz="4000" b="1" dirty="0">
                <a:solidFill>
                  <a:srgbClr val="00000A"/>
                </a:solidFill>
                <a:latin typeface="Liberation Serif"/>
                <a:ea typeface="Droid Sans Fallback"/>
              </a:rPr>
              <a:t>وتــســهــيــل 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</a:rPr>
              <a:t>اسـتــخــدامــه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+mj-cs"/>
              </a:rPr>
              <a:t> )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/>
              <a:t>ثُــمَّ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</a:t>
            </a:r>
            <a:r>
              <a:rPr lang="ar-DZ" sz="4000" b="1" dirty="0" smtClean="0">
                <a:cs typeface="+mj-cs"/>
              </a:rPr>
              <a:t> لِــتُــسْــتَــبْــدَلَ بـ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</a:t>
            </a:r>
            <a:r>
              <a:rPr lang="ar-DZ" sz="4000" b="1" dirty="0" smtClean="0">
                <a:cs typeface="+mj-cs"/>
              </a:rPr>
              <a:t> الــمُــنَـــاسِـــبَــة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خــصــائــص الـقـــوالـــب  ـــ  تــابـع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9416" y="2477875"/>
            <a:ext cx="418934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تــنــوب عـن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ــرهـا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3203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الـقـــوالـــب  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Modèles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40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- الـنــصــوص الــنـــائــبــة : </a:t>
            </a:r>
            <a:r>
              <a:rPr lang="ar-DZ" sz="4000" b="1" dirty="0" smtClean="0">
                <a:cs typeface="+mj-cs"/>
              </a:rPr>
              <a:t>فـهـي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</a:t>
            </a:r>
            <a:r>
              <a:rPr lang="ar-DZ" sz="4000" b="1" dirty="0" smtClean="0">
                <a:cs typeface="+mj-cs"/>
              </a:rPr>
              <a:t> وتُــسْــتَــعْــمَــلُ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</a:t>
            </a:r>
            <a:r>
              <a:rPr lang="ar-DZ" sz="4000" b="1" dirty="0" smtClean="0">
                <a:cs typeface="+mj-cs"/>
              </a:rPr>
              <a:t> فَــقَـطْ 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+mj-cs"/>
              </a:rPr>
              <a:t>( لِــفَــهْــمِ الـقــالــب </a:t>
            </a:r>
            <a:r>
              <a:rPr lang="ar-DZ" sz="4000" b="1" dirty="0">
                <a:solidFill>
                  <a:srgbClr val="00000A"/>
                </a:solidFill>
                <a:latin typeface="Liberation Serif"/>
                <a:ea typeface="Droid Sans Fallback"/>
              </a:rPr>
              <a:t>وتــســهــيــل 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</a:rPr>
              <a:t>اسـتــخــدامــه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+mj-cs"/>
              </a:rPr>
              <a:t> )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/>
              <a:t>ثُــمَّ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</a:t>
            </a:r>
            <a:r>
              <a:rPr lang="ar-DZ" sz="4000" b="1" dirty="0" smtClean="0">
                <a:cs typeface="+mj-cs"/>
              </a:rPr>
              <a:t> لِــتُــسْــتَــبْــدَلَ بـ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</a:t>
            </a:r>
            <a:r>
              <a:rPr lang="ar-DZ" sz="4000" b="1" dirty="0" smtClean="0">
                <a:cs typeface="+mj-cs"/>
              </a:rPr>
              <a:t> الــمُــنَـــاسِـــبَــة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خــصــائــص الـقـــوالـــب  ـــ  تــابـع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9416" y="2477875"/>
            <a:ext cx="418934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تــنــوب عـن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ــرهـا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49163" y="3319735"/>
            <a:ext cx="230942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للإع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ام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6282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الـقـــوالـــب  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Modèles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40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- الـنــصــوص الــنـــائــبــة : </a:t>
            </a:r>
            <a:r>
              <a:rPr lang="ar-DZ" sz="4000" b="1" dirty="0" smtClean="0">
                <a:cs typeface="+mj-cs"/>
              </a:rPr>
              <a:t>فـهـي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</a:t>
            </a:r>
            <a:r>
              <a:rPr lang="ar-DZ" sz="4000" b="1" dirty="0" smtClean="0">
                <a:cs typeface="+mj-cs"/>
              </a:rPr>
              <a:t> وتُــسْــتَــعْــمَــلُ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</a:t>
            </a:r>
            <a:r>
              <a:rPr lang="ar-DZ" sz="4000" b="1" dirty="0" smtClean="0">
                <a:cs typeface="+mj-cs"/>
              </a:rPr>
              <a:t> فَــقَـطْ 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+mj-cs"/>
              </a:rPr>
              <a:t>( لِــفَــهْــمِ الـقــالــب </a:t>
            </a:r>
            <a:r>
              <a:rPr lang="ar-DZ" sz="4000" b="1" dirty="0">
                <a:solidFill>
                  <a:srgbClr val="00000A"/>
                </a:solidFill>
                <a:latin typeface="Liberation Serif"/>
                <a:ea typeface="Droid Sans Fallback"/>
              </a:rPr>
              <a:t>وتــســهــيــل 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</a:rPr>
              <a:t>اسـتــخــدامــه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+mj-cs"/>
              </a:rPr>
              <a:t> )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/>
              <a:t>ثُــمَّ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</a:t>
            </a:r>
            <a:r>
              <a:rPr lang="ar-DZ" sz="4000" b="1" dirty="0" smtClean="0">
                <a:cs typeface="+mj-cs"/>
              </a:rPr>
              <a:t> لِــتُــسْــتَــبْــدَلَ بـ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</a:t>
            </a:r>
            <a:r>
              <a:rPr lang="ar-DZ" sz="4000" b="1" dirty="0" smtClean="0">
                <a:cs typeface="+mj-cs"/>
              </a:rPr>
              <a:t> الــمُــنَـــاسِـــبَــة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خــصــائــص الـقـــوالـــب  ـــ  تــابـع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9416" y="2477875"/>
            <a:ext cx="418934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تــنــوب عـن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ــرهـا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49163" y="3319735"/>
            <a:ext cx="230942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للإع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ام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79014" y="4167300"/>
            <a:ext cx="230425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حْ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ـذَف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748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الـقـــوالـــب  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Modèles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40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- الـنــصــوص الــنـــائــبــة : </a:t>
            </a:r>
            <a:r>
              <a:rPr lang="ar-DZ" sz="4000" b="1" dirty="0" smtClean="0">
                <a:cs typeface="+mj-cs"/>
              </a:rPr>
              <a:t>فـهـي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</a:t>
            </a:r>
            <a:r>
              <a:rPr lang="ar-DZ" sz="4000" b="1" dirty="0" smtClean="0">
                <a:cs typeface="+mj-cs"/>
              </a:rPr>
              <a:t> وتُــسْــتَــعْــمَــلُ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</a:t>
            </a:r>
            <a:r>
              <a:rPr lang="ar-DZ" sz="4000" b="1" dirty="0" smtClean="0">
                <a:cs typeface="+mj-cs"/>
              </a:rPr>
              <a:t> فَــقَـطْ 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+mj-cs"/>
              </a:rPr>
              <a:t>( لِــفَــهْــمِ الـقــالــب </a:t>
            </a:r>
            <a:r>
              <a:rPr lang="ar-DZ" sz="4000" b="1" dirty="0">
                <a:solidFill>
                  <a:srgbClr val="00000A"/>
                </a:solidFill>
                <a:latin typeface="Liberation Serif"/>
                <a:ea typeface="Droid Sans Fallback"/>
              </a:rPr>
              <a:t>وتــســهــيــل 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</a:rPr>
              <a:t>اسـتــخــدامــه</a:t>
            </a:r>
            <a:r>
              <a:rPr lang="ar-DZ" sz="4000" b="1" dirty="0" smtClean="0">
                <a:solidFill>
                  <a:srgbClr val="00000A"/>
                </a:solidFill>
                <a:latin typeface="Liberation Serif"/>
                <a:ea typeface="Droid Sans Fallback"/>
                <a:cs typeface="+mj-cs"/>
              </a:rPr>
              <a:t> )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/>
              <a:t>ثُــمَّ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</a:t>
            </a:r>
            <a:r>
              <a:rPr lang="ar-DZ" sz="4000" b="1" dirty="0" smtClean="0">
                <a:cs typeface="+mj-cs"/>
              </a:rPr>
              <a:t> لِــتُــسْــتَــبْــدَلَ بـ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</a:t>
            </a:r>
            <a:r>
              <a:rPr lang="ar-DZ" sz="4000" b="1" dirty="0" smtClean="0">
                <a:cs typeface="+mj-cs"/>
              </a:rPr>
              <a:t> الــمُــنَـــاسِـــبَــة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خــصــائــص الـقـــوالـــب  ـــ  تــابـع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9416" y="2477875"/>
            <a:ext cx="418934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تــنــوب عـن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غــ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ــرهـا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249163" y="3319735"/>
            <a:ext cx="230942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للإع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ام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79014" y="4167300"/>
            <a:ext cx="230425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تُـ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حْ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ـذَف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116997" y="5026623"/>
            <a:ext cx="267717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ـنـ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وص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39515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الـقـــوالـــب  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Modèles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lvl="0" algn="just" rtl="1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/>
              <a:t>يُـحَــافِــظُ </a:t>
            </a:r>
            <a:r>
              <a:rPr lang="ar-DZ" sz="4000" b="1" dirty="0" smtClean="0"/>
              <a:t>الــقـــالـــب دائِـــمًــا </a:t>
            </a:r>
            <a:r>
              <a:rPr lang="ar-DZ" sz="4000" b="1" dirty="0"/>
              <a:t>عــلـى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/>
              <a:t> </a:t>
            </a:r>
            <a:endParaRPr lang="ar-DZ" sz="4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smtClean="0">
                <a:cs typeface="+mj-cs"/>
              </a:rPr>
              <a:t>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 smtClean="0"/>
              <a:t>كــمــا </a:t>
            </a:r>
            <a:r>
              <a:rPr lang="ar-DZ" sz="4000" b="1" dirty="0"/>
              <a:t>يُـحَــافِــظُ عــلـى الـمـحــتــوى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خــصــائــص الـقـــوالـــب  </a:t>
            </a:r>
            <a:r>
              <a:rPr lang="ar-DZ" sz="6000" b="1" dirty="0" smtClean="0">
                <a:solidFill>
                  <a:srgbClr val="00B050"/>
                </a:solidFill>
              </a:rPr>
              <a:t>ـــ  </a:t>
            </a:r>
            <a:r>
              <a:rPr lang="ar-DZ" sz="6000" b="1" dirty="0">
                <a:solidFill>
                  <a:srgbClr val="00B050"/>
                </a:solidFill>
              </a:rPr>
              <a:t>تــابـع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65228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الـقـــوالـــب  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Modèles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lvl="0" algn="just" rtl="1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/>
              <a:t>يُـحَــافِــظُ </a:t>
            </a:r>
            <a:r>
              <a:rPr lang="ar-DZ" sz="4000" b="1" dirty="0" smtClean="0"/>
              <a:t>الــقـــالـــب دائِـــمًــا </a:t>
            </a:r>
            <a:r>
              <a:rPr lang="ar-DZ" sz="4000" b="1" dirty="0"/>
              <a:t>عــلـى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/>
              <a:t> </a:t>
            </a:r>
            <a:endParaRPr lang="ar-DZ" sz="4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smtClean="0">
                <a:cs typeface="+mj-cs"/>
              </a:rPr>
              <a:t>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 smtClean="0"/>
              <a:t>كــمــا </a:t>
            </a:r>
            <a:r>
              <a:rPr lang="ar-DZ" sz="4000" b="1" dirty="0"/>
              <a:t>يُـحَــافِــظُ عــلـى الـمـحــتــوى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خــصــائــص الـقـــوالـــب  </a:t>
            </a:r>
            <a:r>
              <a:rPr lang="ar-DZ" sz="6000" b="1" dirty="0" smtClean="0">
                <a:solidFill>
                  <a:srgbClr val="00B050"/>
                </a:solidFill>
              </a:rPr>
              <a:t>ـــ  </a:t>
            </a:r>
            <a:r>
              <a:rPr lang="ar-DZ" sz="6000" b="1" dirty="0">
                <a:solidFill>
                  <a:srgbClr val="00B050"/>
                </a:solidFill>
              </a:rPr>
              <a:t>تــابـع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27448" y="2590662"/>
            <a:ext cx="346926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ـخ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ـط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ـط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9466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الـقـــوالـــب  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Modèles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lvl="0" algn="just" rtl="1">
              <a:lnSpc>
                <a:spcPct val="200000"/>
              </a:lnSpc>
              <a:spcBef>
                <a:spcPts val="0"/>
              </a:spcBef>
              <a:buFont typeface="Wingdings" panose="05000000000000000000" pitchFamily="2" charset="2"/>
              <a:buChar char="v"/>
            </a:pP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/>
              <a:t>يُـحَــافِــظُ </a:t>
            </a:r>
            <a:r>
              <a:rPr lang="ar-DZ" sz="4000" b="1" dirty="0" smtClean="0"/>
              <a:t>الــقـــالـــب دائِـــمًــا </a:t>
            </a:r>
            <a:r>
              <a:rPr lang="ar-DZ" sz="4000" b="1" dirty="0"/>
              <a:t>عــلـى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/>
              <a:t> </a:t>
            </a:r>
            <a:endParaRPr lang="ar-DZ" sz="4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 </a:t>
            </a:r>
            <a:r>
              <a:rPr lang="ar-DZ" sz="4000" b="1" dirty="0" smtClean="0">
                <a:cs typeface="+mj-cs"/>
              </a:rPr>
              <a:t>و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</a:t>
            </a:r>
            <a:r>
              <a:rPr lang="ar-DZ" sz="4000" b="1" dirty="0" smtClean="0">
                <a:cs typeface="+mj-cs"/>
              </a:rPr>
              <a:t> </a:t>
            </a:r>
            <a:r>
              <a:rPr lang="ar-DZ" sz="4000" b="1" dirty="0" smtClean="0"/>
              <a:t>كــمــا </a:t>
            </a:r>
            <a:r>
              <a:rPr lang="ar-DZ" sz="4000" b="1" dirty="0"/>
              <a:t>يُـحَــافِــظُ عــلـى الـمـحــتــوى</a:t>
            </a:r>
            <a:endParaRPr lang="ar-DZ" sz="40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خــصــائــص الـقـــوالـــب  </a:t>
            </a:r>
            <a:r>
              <a:rPr lang="ar-DZ" sz="6000" b="1" dirty="0" smtClean="0">
                <a:solidFill>
                  <a:srgbClr val="00B050"/>
                </a:solidFill>
              </a:rPr>
              <a:t>ـــ  </a:t>
            </a:r>
            <a:r>
              <a:rPr lang="ar-DZ" sz="6000" b="1" dirty="0">
                <a:solidFill>
                  <a:srgbClr val="00B050"/>
                </a:solidFill>
              </a:rPr>
              <a:t>تــابـع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27448" y="2590662"/>
            <a:ext cx="346926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ـخ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ـط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ـط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960096" y="3588049"/>
            <a:ext cx="375729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ـس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ـق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403026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الـمــقَـــاطِــع 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800" b="1" u="sng" dirty="0" smtClean="0">
                <a:solidFill>
                  <a:srgbClr val="00B050"/>
                </a:solidFill>
                <a:cs typeface="+mj-cs"/>
              </a:rPr>
              <a:t>نـشــاط 4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عـــرِّفْ </a:t>
            </a:r>
            <a:r>
              <a:rPr lang="ar-DZ" sz="4400" b="1" dirty="0"/>
              <a:t>الـمَــقَـــاطــع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،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ثــم حَـــدِّدْ  خــصــائــصـهــا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.3 تـعـــريــف الـمــقــطــع 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46671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الـمــقــطــع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هــي وســيــلـة يُـوَفِّــرُهـا مـعــالِــج الـنـصـوص بـحــيـث يَــتِـمُّ مـن خــلالـهـا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مــســتــنــد إلـى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تـخــتــلــف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عــن بـعــضـهـا الـبـعــض فـي الـخــصـائـص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الـتــالــيـة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297245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الـمــقــطــع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هــي وســيــلـة يُـوَفِّــرُهـا مـعــالِــج الـنـصـوص بـحــيـث يَــتِـمُّ مـن خــلالـهـا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مــســتــنــد إلـى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تـخــتــلــف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عــن بـعــضـهـا الـبـعــض فـي الـخــصـائـص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الـتــالــيـة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248128" y="3008175"/>
            <a:ext cx="26642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تــقــســيــم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8918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الـمــقــطــع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هــي وســيــلـة يُـوَفِّــرُهـا مـعــالِــج الـنـصـوص بـحــيـث يَــتِـمُّ مـن خــلالـهـا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مــســتــنــد إلـى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تـخــتــلــف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عــن بـعــضـهـا الـبـعــض فـي الـخــصـائـص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الـتــالــيـة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248128" y="3008175"/>
            <a:ext cx="26642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تــقــســيــم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9416" y="3018779"/>
            <a:ext cx="34563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أجــزاء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وهـــمـــيــة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5536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الـمــقــطــع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0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150000"/>
              </a:lnSpc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Entêtes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Pieds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Pages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Orientation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Numérotation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5921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الـمــقــطــع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0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150000"/>
              </a:lnSpc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Entêtes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Pieds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Pages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Orientation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Numérotation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807968" y="1495974"/>
            <a:ext cx="505846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ؤ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وس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ــف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ــح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807968" y="2595350"/>
            <a:ext cx="505846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ــذ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ــيــل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 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ــف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ــح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ـــات</a:t>
            </a:r>
          </a:p>
        </p:txBody>
      </p:sp>
    </p:spTree>
    <p:extLst>
      <p:ext uri="{BB962C8B-B14F-4D97-AF65-F5344CB8AC3E}">
        <p14:creationId xmlns:p14="http://schemas.microsoft.com/office/powerpoint/2010/main" val="262529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9" grpId="0" animBg="1"/>
      <p:bldP spid="14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الـمــقــطــع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0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150000"/>
              </a:lnSpc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Entêtes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Pieds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Pages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Orientation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Numérotation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81587" y="3573016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اِتِــجَـــاه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ــف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ــح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ـــات</a:t>
            </a:r>
          </a:p>
        </p:txBody>
      </p:sp>
      <p:sp>
        <p:nvSpPr>
          <p:cNvPr id="9" name="Rectangle 8"/>
          <p:cNvSpPr/>
          <p:nvPr/>
        </p:nvSpPr>
        <p:spPr>
          <a:xfrm>
            <a:off x="5807968" y="1495974"/>
            <a:ext cx="505846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ؤ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وس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ــف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ــح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807968" y="2595350"/>
            <a:ext cx="505846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ــذ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ــيــل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 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ــف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ــح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ـــات</a:t>
            </a:r>
          </a:p>
        </p:txBody>
      </p:sp>
    </p:spTree>
    <p:extLst>
      <p:ext uri="{BB962C8B-B14F-4D97-AF65-F5344CB8AC3E}">
        <p14:creationId xmlns:p14="http://schemas.microsoft.com/office/powerpoint/2010/main" val="2734185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2" grpId="0" animBg="1"/>
      <p:bldP spid="9" grpId="0" animBg="1"/>
      <p:bldP spid="14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الـمــقــطــع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0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150000"/>
              </a:lnSpc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Entêtes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Pieds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Pages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Orientation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Numérotation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81587" y="3573016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اِتِــجَـــاه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ــف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ــح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ـــات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871864" y="4633302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ق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ــيــم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ــف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ــح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ـــات</a:t>
            </a:r>
          </a:p>
        </p:txBody>
      </p:sp>
      <p:sp>
        <p:nvSpPr>
          <p:cNvPr id="9" name="Rectangle 8"/>
          <p:cNvSpPr/>
          <p:nvPr/>
        </p:nvSpPr>
        <p:spPr>
          <a:xfrm>
            <a:off x="5807968" y="1495974"/>
            <a:ext cx="505846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ؤ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وس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ــف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ــح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807968" y="2595350"/>
            <a:ext cx="505846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ــذ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ــيــل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 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ــف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ــح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ـــات</a:t>
            </a:r>
          </a:p>
        </p:txBody>
      </p:sp>
    </p:spTree>
    <p:extLst>
      <p:ext uri="{BB962C8B-B14F-4D97-AF65-F5344CB8AC3E}">
        <p14:creationId xmlns:p14="http://schemas.microsoft.com/office/powerpoint/2010/main" val="1263987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2" grpId="0" animBg="1"/>
      <p:bldP spid="13" grpId="0" animBg="1"/>
      <p:bldP spid="9" grpId="0" animBg="1"/>
      <p:bldP spid="14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الـمــقــطــع ـــ تـــابــع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0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150000"/>
              </a:lnSpc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Taille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                </a:t>
            </a:r>
            <a:r>
              <a:rPr lang="fr-FR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Nombre_Colonnes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Marges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87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الـمــقــطــع ـــ تـــابــع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0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150000"/>
              </a:lnSpc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Taille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                </a:t>
            </a:r>
            <a:r>
              <a:rPr lang="fr-FR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Nombre_Colonnes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Marges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807968" y="1611012"/>
            <a:ext cx="505846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مَــقَـــاس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  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ــف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ــح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471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9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الـمــقــطــع ـــ تـــابــع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0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150000"/>
              </a:lnSpc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Taille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                </a:t>
            </a:r>
            <a:r>
              <a:rPr lang="fr-FR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Nombre_Colonnes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Marges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807968" y="1611012"/>
            <a:ext cx="505846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مَــقَـــاس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  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ــف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ــح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807968" y="2595350"/>
            <a:ext cx="505846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دَد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74085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9" grpId="0" animBg="1"/>
      <p:bldP spid="14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  <a:cs typeface="+mj-cs"/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الـمــقــطــع ـــ تـــابــع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0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150000"/>
              </a:lnSpc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Taille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Pages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                </a:t>
            </a:r>
            <a:r>
              <a:rPr lang="fr-FR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Nombre_Colonnes</a:t>
            </a:r>
            <a:endParaRPr lang="fr-FR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  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Marges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81587" y="3573016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الـه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ـــو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ام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ـــش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807968" y="1611012"/>
            <a:ext cx="505846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مَــقَـــاس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  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ــف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ــح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807968" y="2595350"/>
            <a:ext cx="505846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دَد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962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2" grpId="0" animBg="1"/>
      <p:bldP spid="9" grpId="0" animBg="1"/>
      <p:bldP spid="14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الـمــقــطــع </a:t>
            </a:r>
            <a:r>
              <a:rPr lang="ar-DZ" sz="5400" b="1" dirty="0">
                <a:solidFill>
                  <a:srgbClr val="00B050"/>
                </a:solidFill>
              </a:rPr>
              <a:t>ـــ تـــابــع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كــلُّ مُــسْـــتَـــنَــدٍ يَــتَـضَــمَــنُ عَــلَـى الأَقَــلِ مــقْــطَــعًـــا وَاحِــدًا  </a:t>
            </a:r>
            <a:r>
              <a:rPr lang="fr-FR" sz="4000" b="1" dirty="0" smtClean="0">
                <a:solidFill>
                  <a:srgbClr val="002060"/>
                </a:solidFill>
              </a:rPr>
              <a:t>Section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</a:rPr>
              <a:t>بحــيــث يُــمَــثِّــلُ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الَّــذي يَــتِــمُّ فِــيــِه تَــطـْــبِـــيــقُ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8092863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الـمــقــطــع </a:t>
            </a:r>
            <a:r>
              <a:rPr lang="ar-DZ" sz="5400" b="1" dirty="0">
                <a:solidFill>
                  <a:srgbClr val="00B050"/>
                </a:solidFill>
              </a:rPr>
              <a:t>ـــ تـــابــع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كــلُّ مُــسْـــتَـــنَــدٍ يَــتَـضَــمَــنُ عَــلَـى الأَقَــلِ مــقْــطَــعًـــا وَاحِــدًا  </a:t>
            </a:r>
            <a:r>
              <a:rPr lang="fr-FR" sz="4000" b="1" dirty="0" smtClean="0">
                <a:solidFill>
                  <a:srgbClr val="002060"/>
                </a:solidFill>
              </a:rPr>
              <a:t>Section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</a:rPr>
              <a:t>بحــيــث يُــمَــثِّــلُ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الَّــذي يَــتِــمُّ فِــيــِه تَــطـْــبِـــيــقُ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911424" y="2943747"/>
            <a:ext cx="449276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الإطـــار أو الــمــجــال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0670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</a:rPr>
              <a:t>تـعـــريــف </a:t>
            </a:r>
            <a:r>
              <a:rPr lang="ar-DZ" sz="5400" b="1" dirty="0" smtClean="0">
                <a:solidFill>
                  <a:srgbClr val="00B050"/>
                </a:solidFill>
              </a:rPr>
              <a:t>الـمــقــطــع </a:t>
            </a:r>
            <a:r>
              <a:rPr lang="ar-DZ" sz="5400" b="1" dirty="0">
                <a:solidFill>
                  <a:srgbClr val="00B050"/>
                </a:solidFill>
              </a:rPr>
              <a:t>ـــ تـــابــع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20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</a:rPr>
              <a:t>كــلُّ مُــسْـــتَـــنَــدٍ يَــتَـضَــمَــنُ عَــلَـى الأَقَــلِ مــقْــطَــعًـــا وَاحِــدًا  </a:t>
            </a:r>
            <a:r>
              <a:rPr lang="fr-FR" sz="4000" b="1" dirty="0" smtClean="0">
                <a:solidFill>
                  <a:srgbClr val="002060"/>
                </a:solidFill>
              </a:rPr>
              <a:t>Section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</a:rPr>
              <a:t>بحــيــث يُــمَــثِّــلُ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الَّــذي يَــتِــمُّ فِــيــِه تَــطـْــبِـــيــقُ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042131" y="4161959"/>
            <a:ext cx="482453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خـــصــائـص الــتــخــطــيــط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911424" y="2943747"/>
            <a:ext cx="449276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الإطـــار أو الــمــجــال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88696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الـمــقَـــاطِــع 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Sections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800" b="1" u="sng" dirty="0" smtClean="0">
                <a:solidFill>
                  <a:srgbClr val="00B050"/>
                </a:solidFill>
                <a:cs typeface="+mj-cs"/>
              </a:rPr>
              <a:t>نـشــاط </a:t>
            </a:r>
            <a:r>
              <a:rPr lang="fr-FR" sz="48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400" b="1" dirty="0" smtClean="0">
                <a:latin typeface="Times New Roman" panose="02020603050405020304" pitchFamily="18" charset="0"/>
                <a:cs typeface="+mj-cs"/>
              </a:rPr>
              <a:t> </a:t>
            </a:r>
            <a:r>
              <a:rPr lang="ar-DZ" sz="4400" b="1" dirty="0">
                <a:cs typeface="+mj-cs"/>
              </a:rPr>
              <a:t>حَـــدِّدْ  أنـــواع الــمَــقَـــاطــع وبَــيِّــنْ الـفَــرْقَ بــيــنـهـا</a:t>
            </a:r>
            <a:r>
              <a:rPr lang="ar-DZ" sz="4400" b="1" dirty="0" smtClean="0">
                <a:latin typeface="Times New Roman" panose="02020603050405020304" pitchFamily="18" charset="0"/>
                <a:cs typeface="+mj-cs"/>
              </a:rPr>
              <a:t>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>
                <a:solidFill>
                  <a:srgbClr val="00B050"/>
                </a:solidFill>
                <a:cs typeface="+mj-cs"/>
              </a:rPr>
              <a:t>2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.3 أنــواع الـمــقــاطــع</a:t>
            </a:r>
            <a:endParaRPr lang="fr-FR" sz="72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99391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</a:rPr>
              <a:t>أنــواع </a:t>
            </a:r>
            <a:r>
              <a:rPr lang="ar-DZ" sz="5400" b="1" dirty="0" smtClean="0">
                <a:solidFill>
                  <a:srgbClr val="00B050"/>
                </a:solidFill>
              </a:rPr>
              <a:t>الـمــقــاطــع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تــوظــيــف </a:t>
            </a:r>
            <a:r>
              <a:rPr lang="ar-DZ" sz="4000" b="1" dirty="0" smtClean="0">
                <a:solidFill>
                  <a:srgbClr val="002060"/>
                </a:solidFill>
              </a:rPr>
              <a:t>عِـــدَّة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/>
              <a:t>فـي نـفـس الـمــســتــنــد يـتـطـلَّـب </a:t>
            </a:r>
            <a:r>
              <a:rPr lang="ar-DZ" sz="4000" b="1" dirty="0" smtClean="0"/>
              <a:t>اسـتـعــمـال عِـــدَّة </a:t>
            </a:r>
            <a:r>
              <a:rPr lang="ar-DZ" sz="4000" b="1" dirty="0"/>
              <a:t>مــقــاطــع وذلـك يـكـون بـإدراج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 </a:t>
            </a:r>
            <a:r>
              <a:rPr lang="ar-DZ" sz="4000" b="1" dirty="0" smtClean="0"/>
              <a:t>والَّـتي </a:t>
            </a:r>
            <a:r>
              <a:rPr lang="ar-DZ" sz="4000" b="1" dirty="0"/>
              <a:t>نــذكــر </a:t>
            </a:r>
            <a:r>
              <a:rPr lang="ar-DZ" sz="4000" b="1" dirty="0" smtClean="0"/>
              <a:t>مــنـهـا </a:t>
            </a:r>
            <a:r>
              <a:rPr lang="ar-DZ" sz="4000" b="1" dirty="0" smtClean="0">
                <a:cs typeface="+mj-cs"/>
              </a:rPr>
              <a:t>:</a:t>
            </a:r>
            <a:r>
              <a:rPr lang="ar-DZ" sz="4000" b="1" dirty="0" smtClean="0"/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742334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</a:rPr>
              <a:t>أنــواع </a:t>
            </a:r>
            <a:r>
              <a:rPr lang="ar-DZ" sz="5400" b="1" dirty="0" smtClean="0">
                <a:solidFill>
                  <a:srgbClr val="00B050"/>
                </a:solidFill>
              </a:rPr>
              <a:t>الـمــقــاطــع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تــوظــيــف </a:t>
            </a:r>
            <a:r>
              <a:rPr lang="ar-DZ" sz="4000" b="1" dirty="0" smtClean="0">
                <a:solidFill>
                  <a:srgbClr val="002060"/>
                </a:solidFill>
              </a:rPr>
              <a:t>عِـــدَّة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/>
              <a:t>فـي نـفـس الـمــســتــنــد يـتـطـلَّـب </a:t>
            </a:r>
            <a:r>
              <a:rPr lang="ar-DZ" sz="4000" b="1" dirty="0" smtClean="0"/>
              <a:t>اسـتـعــمـال عِـــدَّة </a:t>
            </a:r>
            <a:r>
              <a:rPr lang="ar-DZ" sz="4000" b="1" dirty="0"/>
              <a:t>مــقــاطــع وذلـك يـكـون بـإدراج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 </a:t>
            </a:r>
            <a:r>
              <a:rPr lang="ar-DZ" sz="4000" b="1" dirty="0" smtClean="0"/>
              <a:t>والَّـتي </a:t>
            </a:r>
            <a:r>
              <a:rPr lang="ar-DZ" sz="4000" b="1" dirty="0"/>
              <a:t>نــذكــر </a:t>
            </a:r>
            <a:r>
              <a:rPr lang="ar-DZ" sz="4000" b="1" dirty="0" smtClean="0"/>
              <a:t>مــنـهـا </a:t>
            </a:r>
            <a:r>
              <a:rPr lang="ar-DZ" sz="4000" b="1" dirty="0" smtClean="0">
                <a:cs typeface="+mj-cs"/>
              </a:rPr>
              <a:t>:</a:t>
            </a:r>
            <a:r>
              <a:rPr lang="ar-DZ" sz="4000" b="1" dirty="0" smtClean="0"/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775520" y="1497663"/>
            <a:ext cx="595562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تـخــطــيــطــات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Mises en Page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4750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</a:rPr>
              <a:t>أنــواع </a:t>
            </a:r>
            <a:r>
              <a:rPr lang="ar-DZ" sz="5400" b="1" dirty="0" smtClean="0">
                <a:solidFill>
                  <a:srgbClr val="00B050"/>
                </a:solidFill>
              </a:rPr>
              <a:t>الـمــقــاطــع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تــوظــيــف </a:t>
            </a:r>
            <a:r>
              <a:rPr lang="ar-DZ" sz="4000" b="1" dirty="0" smtClean="0">
                <a:solidFill>
                  <a:srgbClr val="002060"/>
                </a:solidFill>
              </a:rPr>
              <a:t>عِـــدَّة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/>
              <a:t>فـي نـفـس الـمــســتــنــد يـتـطـلَّـب </a:t>
            </a:r>
            <a:r>
              <a:rPr lang="ar-DZ" sz="4000" b="1" dirty="0" smtClean="0"/>
              <a:t>اسـتـعــمـال عِـــدَّة </a:t>
            </a:r>
            <a:r>
              <a:rPr lang="ar-DZ" sz="4000" b="1" dirty="0"/>
              <a:t>مــقــاطــع وذلـك يـكـون بـإدراج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 </a:t>
            </a:r>
            <a:r>
              <a:rPr lang="ar-DZ" sz="4000" b="1" dirty="0" smtClean="0"/>
              <a:t>والَّـتي </a:t>
            </a:r>
            <a:r>
              <a:rPr lang="ar-DZ" sz="4000" b="1" dirty="0"/>
              <a:t>نــذكــر </a:t>
            </a:r>
            <a:r>
              <a:rPr lang="ar-DZ" sz="4000" b="1" dirty="0" smtClean="0"/>
              <a:t>مــنـهـا </a:t>
            </a:r>
            <a:r>
              <a:rPr lang="ar-DZ" sz="4000" b="1" dirty="0" smtClean="0">
                <a:cs typeface="+mj-cs"/>
              </a:rPr>
              <a:t>:</a:t>
            </a:r>
            <a:r>
              <a:rPr lang="ar-DZ" sz="4000" b="1" dirty="0" smtClean="0"/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775520" y="1497663"/>
            <a:ext cx="595562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تـخــطــيــطــات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Mises en Page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15680" y="3356992"/>
            <a:ext cx="537955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الـفــواصـل الـمــقــطــعــيــة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8798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5400" b="1" dirty="0">
                <a:solidFill>
                  <a:srgbClr val="00B050"/>
                </a:solidFill>
              </a:rPr>
              <a:t>أنــواع </a:t>
            </a:r>
            <a:r>
              <a:rPr lang="ar-DZ" sz="5400" b="1" dirty="0" smtClean="0">
                <a:solidFill>
                  <a:srgbClr val="00B050"/>
                </a:solidFill>
              </a:rPr>
              <a:t>الـمــقــاطــع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تــوظــيــف </a:t>
            </a:r>
            <a:r>
              <a:rPr lang="ar-DZ" sz="4000" b="1" dirty="0" smtClean="0">
                <a:solidFill>
                  <a:srgbClr val="002060"/>
                </a:solidFill>
              </a:rPr>
              <a:t>عِـــدَّة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/>
              <a:t>فـي نـفـس الـمــســتــنــد يـتـطـلَّـب </a:t>
            </a:r>
            <a:r>
              <a:rPr lang="ar-DZ" sz="4000" b="1" dirty="0" smtClean="0"/>
              <a:t>اسـتـعــمـال عِـــدَّة </a:t>
            </a:r>
            <a:r>
              <a:rPr lang="ar-DZ" sz="4000" b="1" dirty="0"/>
              <a:t>مــقــاطــع وذلـك يـكـون بـإدراج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 </a:t>
            </a:r>
            <a:r>
              <a:rPr lang="ar-DZ" sz="4000" b="1" dirty="0" smtClean="0"/>
              <a:t>والَّـتي </a:t>
            </a:r>
            <a:r>
              <a:rPr lang="ar-DZ" sz="4000" b="1" dirty="0"/>
              <a:t>نــذكــر </a:t>
            </a:r>
            <a:r>
              <a:rPr lang="ar-DZ" sz="4000" b="1" dirty="0" smtClean="0"/>
              <a:t>مــنـهـا </a:t>
            </a:r>
            <a:r>
              <a:rPr lang="ar-DZ" sz="4000" b="1" dirty="0" smtClean="0">
                <a:cs typeface="+mj-cs"/>
              </a:rPr>
              <a:t>:</a:t>
            </a:r>
            <a:r>
              <a:rPr lang="ar-DZ" sz="4000" b="1" dirty="0" smtClean="0"/>
              <a:t>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1775520" y="1497663"/>
            <a:ext cx="595562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تـخــطــيــطــات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Mises en Page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15680" y="3356992"/>
            <a:ext cx="537955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الـفــواصـل الـمــقــطــعــيــة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28" y="-27384"/>
            <a:ext cx="12096000" cy="6800672"/>
          </a:xfrm>
          <a:prstGeom prst="rect">
            <a:avLst/>
          </a:prstGeom>
          <a:ln w="127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2300736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70C0"/>
                </a:solidFill>
              </a:rPr>
              <a:t>أ -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فــاصــل </a:t>
            </a:r>
            <a:r>
              <a:rPr lang="ar-DZ" b="1" dirty="0">
                <a:solidFill>
                  <a:srgbClr val="0070C0"/>
                </a:solidFill>
                <a:cs typeface="+mj-cs"/>
              </a:rPr>
              <a:t>مـقــطــعــي ( الـصـفــحــة الـتــالــيــة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/>
              <a:t>إِدْرَاجُ هــذا الـنــوع مـن الـفَــوَاصِـلِ الـمَــقْــطَــعِــيَــة فـي مَــوْضِـعٍ مـن 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/>
              <a:t>يَـجْـعَــلُ </a:t>
            </a:r>
            <a:r>
              <a:rPr lang="ar-DZ" sz="4000" b="1" dirty="0" smtClean="0"/>
              <a:t>تـلـك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/>
              <a:t>نِـهَــايَــةً للـمَــقْــطَــعِ </a:t>
            </a:r>
            <a:r>
              <a:rPr lang="ar-DZ" sz="4000" b="1" dirty="0" smtClean="0"/>
              <a:t>الـحَـالِـي</a:t>
            </a:r>
            <a:r>
              <a:rPr lang="fr-FR" sz="4000" b="1" dirty="0" smtClean="0"/>
              <a:t> </a:t>
            </a:r>
            <a:r>
              <a:rPr lang="ar-DZ" sz="4000" b="1" dirty="0" smtClean="0"/>
              <a:t> ( </a:t>
            </a:r>
            <a:r>
              <a:rPr lang="fr-FR" sz="4000" b="1" dirty="0" smtClean="0"/>
              <a:t>Section Actuelle</a:t>
            </a:r>
            <a:r>
              <a:rPr lang="ar-DZ" sz="4000" b="1" dirty="0" smtClean="0"/>
              <a:t> ) ؛ </a:t>
            </a:r>
            <a:r>
              <a:rPr lang="ar-DZ" sz="4000" b="1" dirty="0"/>
              <a:t>فـي الـمُــقَــابِــلِ يُــنْــشِــئُ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 </a:t>
            </a:r>
            <a:r>
              <a:rPr lang="ar-DZ" sz="4000" b="1" dirty="0"/>
              <a:t>جَـــدِيـــدًا يَــبْــدَأ مــن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 </a:t>
            </a:r>
            <a:r>
              <a:rPr lang="ar-DZ" sz="4000" b="1" dirty="0"/>
              <a:t>لـهـا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252901" y="2419199"/>
            <a:ext cx="318319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صـفـحـة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مُـحَــدَّدَة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999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70C0"/>
                </a:solidFill>
              </a:rPr>
              <a:t>أ -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فــاصــل </a:t>
            </a:r>
            <a:r>
              <a:rPr lang="ar-DZ" b="1" dirty="0">
                <a:solidFill>
                  <a:srgbClr val="0070C0"/>
                </a:solidFill>
                <a:cs typeface="+mj-cs"/>
              </a:rPr>
              <a:t>مـقــطــعــي ( الـصـفــحــة الـتــالــيــة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/>
              <a:t>إِدْرَاجُ هــذا الـنــوع مـن الـفَــوَاصِـلِ الـمَــقْــطَــعِــيَــة فـي مَــوْضِـعٍ مـن 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/>
              <a:t>يَـجْـعَــلُ </a:t>
            </a:r>
            <a:r>
              <a:rPr lang="ar-DZ" sz="4000" b="1" dirty="0" smtClean="0"/>
              <a:t>تـلـك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/>
              <a:t>نِـهَــايَــةً للـمَــقْــطَــعِ </a:t>
            </a:r>
            <a:r>
              <a:rPr lang="ar-DZ" sz="4000" b="1" dirty="0" smtClean="0"/>
              <a:t>الـحَـالِـي</a:t>
            </a:r>
            <a:r>
              <a:rPr lang="fr-FR" sz="4000" b="1" dirty="0" smtClean="0"/>
              <a:t> </a:t>
            </a:r>
            <a:r>
              <a:rPr lang="ar-DZ" sz="4000" b="1" dirty="0" smtClean="0"/>
              <a:t> ( </a:t>
            </a:r>
            <a:r>
              <a:rPr lang="fr-FR" sz="4000" b="1" dirty="0" smtClean="0"/>
              <a:t>Section Actuelle</a:t>
            </a:r>
            <a:r>
              <a:rPr lang="ar-DZ" sz="4000" b="1" dirty="0" smtClean="0"/>
              <a:t> ) ؛ </a:t>
            </a:r>
            <a:r>
              <a:rPr lang="ar-DZ" sz="4000" b="1" dirty="0"/>
              <a:t>فـي الـمُــقَــابِــلِ يُــنْــشِــئُ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 </a:t>
            </a:r>
            <a:r>
              <a:rPr lang="ar-DZ" sz="4000" b="1" dirty="0"/>
              <a:t>جَـــدِيـــدًا يَــبْــدَأ مــن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 </a:t>
            </a:r>
            <a:r>
              <a:rPr lang="ar-DZ" sz="4000" b="1" dirty="0"/>
              <a:t>لـهـا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252901" y="2419199"/>
            <a:ext cx="318319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صـفـحـة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مُـحَــدَّدَة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361130" y="2417737"/>
            <a:ext cx="210307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الـصـفـحـة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69014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8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70C0"/>
                </a:solidFill>
              </a:rPr>
              <a:t>أ -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فــاصــل </a:t>
            </a:r>
            <a:r>
              <a:rPr lang="ar-DZ" b="1" dirty="0">
                <a:solidFill>
                  <a:srgbClr val="0070C0"/>
                </a:solidFill>
                <a:cs typeface="+mj-cs"/>
              </a:rPr>
              <a:t>مـقــطــعــي ( الـصـفــحــة الـتــالــيــة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/>
              <a:t>إِدْرَاجُ هــذا الـنــوع مـن الـفَــوَاصِـلِ الـمَــقْــطَــعِــيَــة فـي مَــوْضِـعٍ مـن 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/>
              <a:t>يَـجْـعَــلُ </a:t>
            </a:r>
            <a:r>
              <a:rPr lang="ar-DZ" sz="4000" b="1" dirty="0" smtClean="0"/>
              <a:t>تـلـك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/>
              <a:t>نِـهَــايَــةً للـمَــقْــطَــعِ </a:t>
            </a:r>
            <a:r>
              <a:rPr lang="ar-DZ" sz="4000" b="1" dirty="0" smtClean="0"/>
              <a:t>الـحَـالِـي</a:t>
            </a:r>
            <a:r>
              <a:rPr lang="fr-FR" sz="4000" b="1" dirty="0" smtClean="0"/>
              <a:t> </a:t>
            </a:r>
            <a:r>
              <a:rPr lang="ar-DZ" sz="4000" b="1" dirty="0" smtClean="0"/>
              <a:t> ( </a:t>
            </a:r>
            <a:r>
              <a:rPr lang="fr-FR" sz="4000" b="1" dirty="0" smtClean="0"/>
              <a:t>Section Actuelle</a:t>
            </a:r>
            <a:r>
              <a:rPr lang="ar-DZ" sz="4000" b="1" dirty="0" smtClean="0"/>
              <a:t> ) ؛ </a:t>
            </a:r>
            <a:r>
              <a:rPr lang="ar-DZ" sz="4000" b="1" dirty="0"/>
              <a:t>فـي الـمُــقَــابِــلِ يُــنْــشِــئُ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 </a:t>
            </a:r>
            <a:r>
              <a:rPr lang="ar-DZ" sz="4000" b="1" dirty="0"/>
              <a:t>جَـــدِيـــدًا يَــبْــدَأ مــن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 </a:t>
            </a:r>
            <a:r>
              <a:rPr lang="ar-DZ" sz="4000" b="1" dirty="0"/>
              <a:t>لـهـا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252901" y="2419199"/>
            <a:ext cx="318319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صـفـحـة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مُـحَــدَّدَة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99856" y="4293096"/>
            <a:ext cx="473148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مَــقْــطَــعًــا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361130" y="2417737"/>
            <a:ext cx="210307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الـصـفـحـة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97471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70C0"/>
                </a:solidFill>
              </a:rPr>
              <a:t>أ -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فــاصــل </a:t>
            </a:r>
            <a:r>
              <a:rPr lang="ar-DZ" b="1" dirty="0">
                <a:solidFill>
                  <a:srgbClr val="0070C0"/>
                </a:solidFill>
                <a:cs typeface="+mj-cs"/>
              </a:rPr>
              <a:t>مـقــطــعــي ( الـصـفــحــة الـتــالــيــة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/>
              <a:t>إِدْرَاجُ هــذا الـنــوع مـن الـفَــوَاصِـلِ الـمَــقْــطَــعِــيَــة فـي مَــوْضِـعٍ مـن 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/>
              <a:t>يَـجْـعَــلُ </a:t>
            </a:r>
            <a:r>
              <a:rPr lang="ar-DZ" sz="4000" b="1" dirty="0" smtClean="0"/>
              <a:t>تـلـك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/>
              <a:t>نِـهَــايَــةً للـمَــقْــطَــعِ </a:t>
            </a:r>
            <a:r>
              <a:rPr lang="ar-DZ" sz="4000" b="1" dirty="0" smtClean="0"/>
              <a:t>الـحَـالِـي</a:t>
            </a:r>
            <a:r>
              <a:rPr lang="fr-FR" sz="4000" b="1" dirty="0" smtClean="0"/>
              <a:t> </a:t>
            </a:r>
            <a:r>
              <a:rPr lang="ar-DZ" sz="4000" b="1" dirty="0" smtClean="0"/>
              <a:t> ( </a:t>
            </a:r>
            <a:r>
              <a:rPr lang="fr-FR" sz="4000" b="1" dirty="0" smtClean="0"/>
              <a:t>Section Actuelle</a:t>
            </a:r>
            <a:r>
              <a:rPr lang="ar-DZ" sz="4000" b="1" dirty="0" smtClean="0"/>
              <a:t> ) ؛ </a:t>
            </a:r>
            <a:r>
              <a:rPr lang="ar-DZ" sz="4000" b="1" dirty="0"/>
              <a:t>فـي الـمُــقَــابِــلِ يُــنْــشِــئُ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 </a:t>
            </a:r>
            <a:r>
              <a:rPr lang="ar-DZ" sz="4000" b="1" dirty="0"/>
              <a:t>جَـــدِيـــدًا يَــبْــدَأ مــن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...................................................................... </a:t>
            </a:r>
            <a:r>
              <a:rPr lang="ar-DZ" sz="4000" b="1" dirty="0"/>
              <a:t>لـهـا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7252901" y="2419199"/>
            <a:ext cx="318319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صـفـحـة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مُـحَــدَّدَة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799856" y="4293096"/>
            <a:ext cx="473148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مَــقْــطَــعًــا  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Section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361130" y="2417737"/>
            <a:ext cx="210307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الـصـفـحـة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775643" y="5285887"/>
            <a:ext cx="473148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الـصـفـحـة</a:t>
            </a:r>
            <a:r>
              <a:rPr lang="fr-FR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الـتــالــيــة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6891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  <p:bldP spid="9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70C0"/>
                </a:solidFill>
              </a:rPr>
              <a:t>ب -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فــاصــل </a:t>
            </a:r>
            <a:r>
              <a:rPr lang="ar-DZ" b="1" dirty="0">
                <a:solidFill>
                  <a:srgbClr val="0070C0"/>
                </a:solidFill>
                <a:cs typeface="+mj-cs"/>
              </a:rPr>
              <a:t>مـقــطــعــي (مــســتــمِــرّ 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/>
              <a:t>إضـافــة هــذا </a:t>
            </a:r>
            <a:r>
              <a:rPr lang="ar-DZ" sz="4000" b="1" dirty="0"/>
              <a:t>الـنــوع مـن الـفَــوَاصِـلِ الـمَــقْــطَــعِــيَــة فـي مَــوْضِـعٍ مـن 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/>
              <a:t>يُــنْــشِــئُ مــقــطــعــيـن فـي </a:t>
            </a:r>
            <a:r>
              <a:rPr lang="ar-DZ" sz="4000" b="1" dirty="0" smtClean="0"/>
              <a:t>نــفــس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/>
              <a:t>بـحـيـث يُــفَــرِّق </a:t>
            </a:r>
            <a:r>
              <a:rPr lang="ar-DZ" sz="4000" b="1" dirty="0" smtClean="0"/>
              <a:t>بــيــنـهــمـا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 </a:t>
            </a:r>
            <a:r>
              <a:rPr lang="ar-DZ" sz="4000" b="1" dirty="0"/>
              <a:t>الَّـذي أُدْرِج فــيـه الــفــاصــل الـمــقــطــعـي الـمُــسْــتَــمِــر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5574002" y="2483546"/>
            <a:ext cx="318319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صـفـحـة مُـعَـيَّـنـة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26926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70C0"/>
                </a:solidFill>
              </a:rPr>
              <a:t>ب -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فــاصــل </a:t>
            </a:r>
            <a:r>
              <a:rPr lang="ar-DZ" b="1" dirty="0">
                <a:solidFill>
                  <a:srgbClr val="0070C0"/>
                </a:solidFill>
                <a:cs typeface="+mj-cs"/>
              </a:rPr>
              <a:t>مـقــطــعــي (مــســتــمِــرّ 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/>
              <a:t>إضـافــة هــذا </a:t>
            </a:r>
            <a:r>
              <a:rPr lang="ar-DZ" sz="4000" b="1" dirty="0"/>
              <a:t>الـنــوع مـن الـفَــوَاصِـلِ الـمَــقْــطَــعِــيَــة فـي مَــوْضِـعٍ مـن 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/>
              <a:t>يُــنْــشِــئُ مــقــطــعــيـن فـي </a:t>
            </a:r>
            <a:r>
              <a:rPr lang="ar-DZ" sz="4000" b="1" dirty="0" smtClean="0"/>
              <a:t>نــفــس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/>
              <a:t>بـحـيـث يُــفَــرِّق </a:t>
            </a:r>
            <a:r>
              <a:rPr lang="ar-DZ" sz="4000" b="1" dirty="0" smtClean="0"/>
              <a:t>بــيــنـهــمـا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 </a:t>
            </a:r>
            <a:r>
              <a:rPr lang="ar-DZ" sz="4000" b="1" dirty="0"/>
              <a:t>الَّـذي أُدْرِج فــيـه الــفــاصــل الـمــقــطــعـي الـمُــسْــتَــمِــر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5574002" y="2483546"/>
            <a:ext cx="318319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صـفـحـة مُـعَـيَّـنـة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20136" y="3447159"/>
            <a:ext cx="210307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الـصـفـحـة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843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8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70C0"/>
                </a:solidFill>
              </a:rPr>
              <a:t>ب -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فــاصــل </a:t>
            </a:r>
            <a:r>
              <a:rPr lang="ar-DZ" b="1" dirty="0">
                <a:solidFill>
                  <a:srgbClr val="0070C0"/>
                </a:solidFill>
                <a:cs typeface="+mj-cs"/>
              </a:rPr>
              <a:t>مـقــطــعــي (مــســتــمِــرّ  </a:t>
            </a:r>
            <a:r>
              <a:rPr lang="ar-DZ" b="1" dirty="0" smtClean="0">
                <a:solidFill>
                  <a:srgbClr val="0070C0"/>
                </a:solidFill>
                <a:cs typeface="+mj-cs"/>
              </a:rPr>
              <a:t>)</a:t>
            </a:r>
            <a:endParaRPr lang="fr-FR" i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/>
              <a:t>إضـافــة هــذا </a:t>
            </a:r>
            <a:r>
              <a:rPr lang="ar-DZ" sz="4000" b="1" dirty="0"/>
              <a:t>الـنــوع مـن الـفَــوَاصِـلِ الـمَــقْــطَــعِــيَــة فـي مَــوْضِـعٍ مـن 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/>
              <a:t>يُــنْــشِــئُ مــقــطــعــيـن فـي </a:t>
            </a:r>
            <a:r>
              <a:rPr lang="ar-DZ" sz="4000" b="1" dirty="0" smtClean="0"/>
              <a:t>نــفــس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/>
              <a:t>بـحـيـث يُــفَــرِّق </a:t>
            </a:r>
            <a:r>
              <a:rPr lang="ar-DZ" sz="4000" b="1" dirty="0" smtClean="0"/>
              <a:t>بــيــنـهــمـا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 </a:t>
            </a:r>
            <a:r>
              <a:rPr lang="ar-DZ" sz="4000" b="1" dirty="0"/>
              <a:t>الَّـذي أُدْرِج فــيـه الــفــاصــل الـمــقــطــعـي الـمُــسْــتَــمِــر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6" name="Rectangle 5"/>
          <p:cNvSpPr/>
          <p:nvPr/>
        </p:nvSpPr>
        <p:spPr>
          <a:xfrm>
            <a:off x="5574002" y="2483546"/>
            <a:ext cx="318319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صـفـحـة مُـعَـيَّـنـة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8544272" y="4383473"/>
            <a:ext cx="250233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الـسَــطْــر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20136" y="3447159"/>
            <a:ext cx="210307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الـصـفـحـة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79139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6" grpId="0" animBg="1"/>
      <p:bldP spid="7" grpId="0" animBg="1"/>
      <p:bldP spid="8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ar-DZ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دمــج الـمـــراســــلات   </a:t>
            </a:r>
            <a:r>
              <a:rPr lang="fr-FR" sz="5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Publipostage </a:t>
            </a:r>
            <a:endParaRPr lang="fr-FR" sz="54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800" b="1" u="sng" dirty="0" smtClean="0">
                <a:solidFill>
                  <a:srgbClr val="00B050"/>
                </a:solidFill>
                <a:cs typeface="+mj-cs"/>
              </a:rPr>
              <a:t>نـشــاط 5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عـــرِّفْ دمــج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الـمـــراســـلات،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ثــم حَـــدِّدْ  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خــصــائــصـهــا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.4 تـعـــريــف 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دمــج </a:t>
            </a:r>
            <a:r>
              <a:rPr lang="ar-DZ" sz="6000" b="1" dirty="0" smtClean="0">
                <a:solidFill>
                  <a:srgbClr val="00B050"/>
                </a:solidFill>
                <a:cs typeface="+mj-cs"/>
              </a:rPr>
              <a:t>الـمـــراســــلات </a:t>
            </a:r>
            <a:r>
              <a:rPr lang="ar-DZ" sz="6000" b="1" dirty="0">
                <a:solidFill>
                  <a:srgbClr val="00B050"/>
                </a:solidFill>
                <a:cs typeface="+mj-cs"/>
              </a:rPr>
              <a:t>:</a:t>
            </a:r>
            <a:endParaRPr lang="fr-FR" sz="60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750736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5400" b="1" dirty="0">
                <a:solidFill>
                  <a:srgbClr val="00B050"/>
                </a:solidFill>
              </a:rPr>
              <a:t>تـعـــريــف دمــج الـمـــراســــلات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هـي وســيــلـة تَـسْـمَـحُ بِـإِنْــشَـــاءِ عِـــدَّة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مُــتَــمَــاثِــلَــةً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ومُــتَــبَــايِــنَـةً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 </a:t>
            </a:r>
            <a:r>
              <a:rPr lang="ar-DZ" sz="4000" b="1" dirty="0">
                <a:solidFill>
                  <a:srgbClr val="002060"/>
                </a:solidFill>
              </a:rPr>
              <a:t>وذلـك بـ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بــيــانــات مـن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يــتــمُّ </a:t>
            </a:r>
            <a:r>
              <a:rPr lang="ar-DZ" sz="4000" b="1" dirty="0">
                <a:solidFill>
                  <a:srgbClr val="002060"/>
                </a:solidFill>
              </a:rPr>
              <a:t>تَــهْــيِــئَــتُــهَـا 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نــمـــوذج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3310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5400" b="1" dirty="0">
                <a:solidFill>
                  <a:srgbClr val="00B050"/>
                </a:solidFill>
              </a:rPr>
              <a:t>تـعـــريــف دمــج الـمـــراســــلات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هـي وســيــلـة تَـسْـمَـحُ بِـإِنْــشَـــاءِ عِـــدَّة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مُــتَــمَــاثِــلَــةً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ومُــتَــبَــايِــنَـةً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 </a:t>
            </a:r>
            <a:r>
              <a:rPr lang="ar-DZ" sz="4000" b="1" dirty="0">
                <a:solidFill>
                  <a:srgbClr val="002060"/>
                </a:solidFill>
              </a:rPr>
              <a:t>وذلـك بـ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بــيــانــات مـن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يــتــمُّ </a:t>
            </a:r>
            <a:r>
              <a:rPr lang="ar-DZ" sz="4000" b="1" dirty="0">
                <a:solidFill>
                  <a:srgbClr val="002060"/>
                </a:solidFill>
              </a:rPr>
              <a:t>تَــهْــيِــئَــتُــهَـا 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نــمـــوذج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67408" y="1484784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وثــائــق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223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5400" b="1" dirty="0">
                <a:solidFill>
                  <a:srgbClr val="00B050"/>
                </a:solidFill>
              </a:rPr>
              <a:t>تـعـــريــف دمــج الـمـــراســــلات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هـي وســيــلـة تَـسْـمَـحُ بِـإِنْــشَـــاءِ عِـــدَّة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مُــتَــمَــاثِــلَــةً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ومُــتَــبَــايِــنَـةً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 </a:t>
            </a:r>
            <a:r>
              <a:rPr lang="ar-DZ" sz="4000" b="1" dirty="0">
                <a:solidFill>
                  <a:srgbClr val="002060"/>
                </a:solidFill>
              </a:rPr>
              <a:t>وذلـك بـ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بــيــانــات مـن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يــتــمُّ </a:t>
            </a:r>
            <a:r>
              <a:rPr lang="ar-DZ" sz="4000" b="1" dirty="0">
                <a:solidFill>
                  <a:srgbClr val="002060"/>
                </a:solidFill>
              </a:rPr>
              <a:t>تَــهْــيِــئَــتُــهَـا 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نــمـــوذج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67408" y="1484784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وثــائــق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40016" y="2420888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أَجْــزَاءٍ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8873" y="2477312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أَجْــزَاءٍ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8073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5400" b="1" dirty="0">
                <a:solidFill>
                  <a:srgbClr val="00B050"/>
                </a:solidFill>
              </a:rPr>
              <a:t>تـعـــريــف دمــج الـمـــراســــلات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هـي وســيــلـة تَـسْـمَـحُ بِـإِنْــشَـــاءِ عِـــدَّة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مُــتَــمَــاثِــلَــةً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ومُــتَــبَــايِــنَـةً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 </a:t>
            </a:r>
            <a:r>
              <a:rPr lang="ar-DZ" sz="4000" b="1" dirty="0">
                <a:solidFill>
                  <a:srgbClr val="002060"/>
                </a:solidFill>
              </a:rPr>
              <a:t>وذلـك بـ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بــيــانــات مـن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يــتــمُّ </a:t>
            </a:r>
            <a:r>
              <a:rPr lang="ar-DZ" sz="4000" b="1" dirty="0">
                <a:solidFill>
                  <a:srgbClr val="002060"/>
                </a:solidFill>
              </a:rPr>
              <a:t>تَــهْــيِــئَــتُــهَـا 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نــمـــوذج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67408" y="1484784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وثــائــق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40016" y="2420888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أَجْــزَاءٍ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8873" y="2477312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أَجْــزَاءٍ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744072" y="3358681"/>
            <a:ext cx="29523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اِسْــتِــرْجَـــاعِ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85853" y="3469840"/>
            <a:ext cx="20498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مـلـف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173393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5400" b="1" dirty="0">
                <a:solidFill>
                  <a:srgbClr val="00B050"/>
                </a:solidFill>
              </a:rPr>
              <a:t>تـعـــريــف دمــج الـمـــراســــلات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هـي وســيــلـة تَـسْـمَـحُ بِـإِنْــشَـــاءِ عِـــدَّة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مُــتَــمَــاثِــلَــةً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ومُــتَــبَــايِــنَـةً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 </a:t>
            </a:r>
            <a:r>
              <a:rPr lang="ar-DZ" sz="4000" b="1" dirty="0">
                <a:solidFill>
                  <a:srgbClr val="002060"/>
                </a:solidFill>
              </a:rPr>
              <a:t>وذلـك بـ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بــيــانــات مـن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يــتــمُّ </a:t>
            </a:r>
            <a:r>
              <a:rPr lang="ar-DZ" sz="4000" b="1" dirty="0">
                <a:solidFill>
                  <a:srgbClr val="002060"/>
                </a:solidFill>
              </a:rPr>
              <a:t>تَــهْــيِــئَــتُــهَـا 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نــمـــوذج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67408" y="1484784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وثــائــق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40016" y="2420888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أَجْــزَاءٍ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8873" y="2477312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أَجْــزَاءٍ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744072" y="3358681"/>
            <a:ext cx="29523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اِسْــتِــرْجَـــاعِ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85853" y="3469840"/>
            <a:ext cx="20498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مـلـف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976320" y="4296474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إدراجــهـا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60599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sz="5400" b="1" dirty="0">
                <a:solidFill>
                  <a:srgbClr val="00B050"/>
                </a:solidFill>
              </a:rPr>
              <a:t>تـعـــريــف دمــج الـمـــراســــلات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</a:rPr>
              <a:t>هـي وســيــلـة تَـسْـمَـحُ بِـإِنْــشَـــاءِ عِـــدَّة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مُــتَــمَــاثِــلَــةً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ومُــتَــبَــايِــنَـةً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فـي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 </a:t>
            </a:r>
            <a:r>
              <a:rPr lang="ar-DZ" sz="4000" b="1" dirty="0">
                <a:solidFill>
                  <a:srgbClr val="002060"/>
                </a:solidFill>
              </a:rPr>
              <a:t>وذلـك بـ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بــيــانــات مـن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يــتــمُّ </a:t>
            </a:r>
            <a:r>
              <a:rPr lang="ar-DZ" sz="4000" b="1" dirty="0">
                <a:solidFill>
                  <a:srgbClr val="002060"/>
                </a:solidFill>
              </a:rPr>
              <a:t>تَــهْــيِــئَــتُــهَـا 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نــمـــوذج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67408" y="1484784"/>
            <a:ext cx="33123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وثــائــق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40016" y="2420888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أَجْــزَاءٍ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88873" y="2477312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أَجْــزَاءٍ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744072" y="3358681"/>
            <a:ext cx="29523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اِسْــتِــرْجَـــاعِ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385853" y="3469840"/>
            <a:ext cx="204985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مـلـف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976320" y="4296474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إدراجــهـا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5303912" y="4296473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مــواضـعٍ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760296" y="5220767"/>
            <a:ext cx="230425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مــســتــنــد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5778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2.4 خــصــائــص دمــج الـمـــراســــلات 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000" b="1" dirty="0" smtClean="0"/>
              <a:t>عــنــد </a:t>
            </a:r>
            <a:r>
              <a:rPr lang="ar-DZ" sz="4000" b="1" dirty="0"/>
              <a:t>اسـتــغــلال هــذه الـوسـيــلـة يَــلْــزَمُــنَــا </a:t>
            </a:r>
            <a:r>
              <a:rPr lang="ar-SA" sz="4000" b="1" dirty="0" err="1" smtClean="0"/>
              <a:t>وث</a:t>
            </a:r>
            <a:r>
              <a:rPr lang="ar-DZ" sz="4000" b="1" dirty="0"/>
              <a:t>ـ</a:t>
            </a:r>
            <a:r>
              <a:rPr lang="ar-SA" sz="4000" b="1" dirty="0"/>
              <a:t>ـي</a:t>
            </a:r>
            <a:r>
              <a:rPr lang="ar-DZ" sz="4000" b="1" dirty="0"/>
              <a:t>ـ</a:t>
            </a:r>
            <a:r>
              <a:rPr lang="ar-SA" sz="4000" b="1" dirty="0"/>
              <a:t>ـقـ</a:t>
            </a:r>
            <a:r>
              <a:rPr lang="ar-DZ" sz="4000" b="1" dirty="0"/>
              <a:t>ـ</a:t>
            </a:r>
            <a:r>
              <a:rPr lang="ar-SA" sz="4000" b="1" dirty="0"/>
              <a:t>ت</a:t>
            </a:r>
            <a:r>
              <a:rPr lang="ar-DZ" sz="4000" b="1" dirty="0"/>
              <a:t>ـ</a:t>
            </a:r>
            <a:r>
              <a:rPr lang="ar-SA" sz="4000" b="1" dirty="0"/>
              <a:t>ـي</a:t>
            </a:r>
            <a:r>
              <a:rPr lang="ar-DZ" sz="4000" b="1" dirty="0"/>
              <a:t>ـ</a:t>
            </a:r>
            <a:r>
              <a:rPr lang="ar-SA" sz="4000" b="1" dirty="0" smtClean="0"/>
              <a:t>ـن</a:t>
            </a:r>
            <a:r>
              <a:rPr lang="ar-DZ" sz="4000" b="1" dirty="0" smtClean="0"/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أ – الـمــســتــنــد الـرئــيــسـي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</a:rPr>
              <a:t>هـو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الَّـذِي يـحــتــوي </a:t>
            </a:r>
            <a:r>
              <a:rPr lang="ar-DZ" sz="4000" b="1" dirty="0" smtClean="0">
                <a:solidFill>
                  <a:srgbClr val="002060"/>
                </a:solidFill>
              </a:rPr>
              <a:t>عـلـى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الَّــذي تــشــتــرك فــيــه كــلُّ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الَّـتي سَــيَــتِــمُّ إنــشـــاؤهــا </a:t>
            </a:r>
            <a:endParaRPr lang="ar-DZ" sz="4000" b="1" dirty="0" smtClean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0382894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2.4 خــصــائــص دمــج الـمـــراســــلات 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000" b="1" dirty="0" smtClean="0"/>
              <a:t>عــنــد </a:t>
            </a:r>
            <a:r>
              <a:rPr lang="ar-DZ" sz="4000" b="1" dirty="0"/>
              <a:t>اسـتــغــلال هــذه الـوسـيــلـة يَــلْــزَمُــنَــا </a:t>
            </a:r>
            <a:r>
              <a:rPr lang="ar-SA" sz="4000" b="1" dirty="0" err="1" smtClean="0"/>
              <a:t>وث</a:t>
            </a:r>
            <a:r>
              <a:rPr lang="ar-DZ" sz="4000" b="1" dirty="0"/>
              <a:t>ـ</a:t>
            </a:r>
            <a:r>
              <a:rPr lang="ar-SA" sz="4000" b="1" dirty="0"/>
              <a:t>ـي</a:t>
            </a:r>
            <a:r>
              <a:rPr lang="ar-DZ" sz="4000" b="1" dirty="0"/>
              <a:t>ـ</a:t>
            </a:r>
            <a:r>
              <a:rPr lang="ar-SA" sz="4000" b="1" dirty="0"/>
              <a:t>ـقـ</a:t>
            </a:r>
            <a:r>
              <a:rPr lang="ar-DZ" sz="4000" b="1" dirty="0"/>
              <a:t>ـ</a:t>
            </a:r>
            <a:r>
              <a:rPr lang="ar-SA" sz="4000" b="1" dirty="0"/>
              <a:t>ت</a:t>
            </a:r>
            <a:r>
              <a:rPr lang="ar-DZ" sz="4000" b="1" dirty="0"/>
              <a:t>ـ</a:t>
            </a:r>
            <a:r>
              <a:rPr lang="ar-SA" sz="4000" b="1" dirty="0"/>
              <a:t>ـي</a:t>
            </a:r>
            <a:r>
              <a:rPr lang="ar-DZ" sz="4000" b="1" dirty="0"/>
              <a:t>ـ</a:t>
            </a:r>
            <a:r>
              <a:rPr lang="ar-SA" sz="4000" b="1" dirty="0" smtClean="0"/>
              <a:t>ـن</a:t>
            </a:r>
            <a:r>
              <a:rPr lang="ar-DZ" sz="4000" b="1" dirty="0" smtClean="0"/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أ – الـمــســتــنــد الـرئــيــسـي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</a:rPr>
              <a:t>هـو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الَّـذِي يـحــتــوي </a:t>
            </a:r>
            <a:r>
              <a:rPr lang="ar-DZ" sz="4000" b="1" dirty="0" smtClean="0">
                <a:solidFill>
                  <a:srgbClr val="002060"/>
                </a:solidFill>
              </a:rPr>
              <a:t>عـلـى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الَّــذي تــشــتــرك فــيــه كــلُّ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الَّـتي سَــيَــتِــمُّ إنــشـــاؤهــا </a:t>
            </a:r>
            <a:endParaRPr lang="ar-DZ" sz="4000" b="1" dirty="0" smtClean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983432" y="2348880"/>
            <a:ext cx="42977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الـمــســتــنــد الـنَّــمــوذج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6600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2.4 خــصــائــص دمــج الـمـــراســــلات 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000" b="1" dirty="0" smtClean="0"/>
              <a:t>عــنــد </a:t>
            </a:r>
            <a:r>
              <a:rPr lang="ar-DZ" sz="4000" b="1" dirty="0"/>
              <a:t>اسـتــغــلال هــذه الـوسـيــلـة يَــلْــزَمُــنَــا </a:t>
            </a:r>
            <a:r>
              <a:rPr lang="ar-SA" sz="4000" b="1" dirty="0" err="1" smtClean="0"/>
              <a:t>وث</a:t>
            </a:r>
            <a:r>
              <a:rPr lang="ar-DZ" sz="4000" b="1" dirty="0"/>
              <a:t>ـ</a:t>
            </a:r>
            <a:r>
              <a:rPr lang="ar-SA" sz="4000" b="1" dirty="0"/>
              <a:t>ـي</a:t>
            </a:r>
            <a:r>
              <a:rPr lang="ar-DZ" sz="4000" b="1" dirty="0"/>
              <a:t>ـ</a:t>
            </a:r>
            <a:r>
              <a:rPr lang="ar-SA" sz="4000" b="1" dirty="0"/>
              <a:t>ـقـ</a:t>
            </a:r>
            <a:r>
              <a:rPr lang="ar-DZ" sz="4000" b="1" dirty="0"/>
              <a:t>ـ</a:t>
            </a:r>
            <a:r>
              <a:rPr lang="ar-SA" sz="4000" b="1" dirty="0"/>
              <a:t>ت</a:t>
            </a:r>
            <a:r>
              <a:rPr lang="ar-DZ" sz="4000" b="1" dirty="0"/>
              <a:t>ـ</a:t>
            </a:r>
            <a:r>
              <a:rPr lang="ar-SA" sz="4000" b="1" dirty="0"/>
              <a:t>ـي</a:t>
            </a:r>
            <a:r>
              <a:rPr lang="ar-DZ" sz="4000" b="1" dirty="0"/>
              <a:t>ـ</a:t>
            </a:r>
            <a:r>
              <a:rPr lang="ar-SA" sz="4000" b="1" dirty="0" smtClean="0"/>
              <a:t>ـن</a:t>
            </a:r>
            <a:r>
              <a:rPr lang="ar-DZ" sz="4000" b="1" dirty="0" smtClean="0"/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أ – الـمــســتــنــد الـرئــيــسـي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</a:rPr>
              <a:t>هـو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الَّـذِي يـحــتــوي </a:t>
            </a:r>
            <a:r>
              <a:rPr lang="ar-DZ" sz="4000" b="1" dirty="0" smtClean="0">
                <a:solidFill>
                  <a:srgbClr val="002060"/>
                </a:solidFill>
              </a:rPr>
              <a:t>عـلـى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الَّــذي تــشــتــرك فــيــه كــلُّ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الَّـتي سَــيَــتِــمُّ إنــشـــاؤهــا </a:t>
            </a:r>
            <a:endParaRPr lang="ar-DZ" sz="4000" b="1" dirty="0" smtClean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983432" y="2348880"/>
            <a:ext cx="42977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الـمــســتــنــد الـنَّــمــوذج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35760" y="3286673"/>
            <a:ext cx="32896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الـجــزء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الـثَّــابــت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0544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2.4 خــصــائــص دمــج الـمـــراســــلات :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000" b="1" dirty="0" smtClean="0"/>
              <a:t>عــنــد </a:t>
            </a:r>
            <a:r>
              <a:rPr lang="ar-DZ" sz="4000" b="1" dirty="0"/>
              <a:t>اسـتــغــلال هــذه الـوسـيــلـة </a:t>
            </a:r>
            <a:r>
              <a:rPr lang="ar-DZ" sz="4000" b="1" dirty="0" smtClean="0"/>
              <a:t>يَــلْــزَمُــنَــا </a:t>
            </a:r>
            <a:r>
              <a:rPr lang="ar-SA" sz="4000" b="1" dirty="0" err="1" smtClean="0"/>
              <a:t>وث</a:t>
            </a:r>
            <a:r>
              <a:rPr lang="ar-DZ" sz="4000" b="1" dirty="0"/>
              <a:t>ـ</a:t>
            </a:r>
            <a:r>
              <a:rPr lang="ar-SA" sz="4000" b="1" dirty="0"/>
              <a:t>ـي</a:t>
            </a:r>
            <a:r>
              <a:rPr lang="ar-DZ" sz="4000" b="1" dirty="0"/>
              <a:t>ـ</a:t>
            </a:r>
            <a:r>
              <a:rPr lang="ar-SA" sz="4000" b="1" dirty="0"/>
              <a:t>ـقـ</a:t>
            </a:r>
            <a:r>
              <a:rPr lang="ar-DZ" sz="4000" b="1" dirty="0"/>
              <a:t>ـ</a:t>
            </a:r>
            <a:r>
              <a:rPr lang="ar-SA" sz="4000" b="1" dirty="0"/>
              <a:t>ت</a:t>
            </a:r>
            <a:r>
              <a:rPr lang="ar-DZ" sz="4000" b="1" dirty="0"/>
              <a:t>ـ</a:t>
            </a:r>
            <a:r>
              <a:rPr lang="ar-SA" sz="4000" b="1" dirty="0"/>
              <a:t>ـي</a:t>
            </a:r>
            <a:r>
              <a:rPr lang="ar-DZ" sz="4000" b="1" dirty="0"/>
              <a:t>ـ</a:t>
            </a:r>
            <a:r>
              <a:rPr lang="ar-SA" sz="4000" b="1" dirty="0" smtClean="0"/>
              <a:t>ـن</a:t>
            </a:r>
            <a:r>
              <a:rPr lang="ar-DZ" sz="4000" b="1" dirty="0" smtClean="0"/>
              <a:t> :</a:t>
            </a: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000" b="1" dirty="0">
                <a:solidFill>
                  <a:srgbClr val="0070C0"/>
                </a:solidFill>
                <a:cs typeface="+mj-cs"/>
              </a:rPr>
              <a:t>أ – الـمــســتــنــد الـرئــيــسـي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</a:rPr>
              <a:t>هـو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الَّـذِي يـحــتــوي </a:t>
            </a:r>
            <a:r>
              <a:rPr lang="ar-DZ" sz="4000" b="1" dirty="0" smtClean="0">
                <a:solidFill>
                  <a:srgbClr val="002060"/>
                </a:solidFill>
              </a:rPr>
              <a:t>عـلـى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الَّــذي تــشــتــرك فــيــه كــلُّ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الَّـتي سَــيَــتِــمُّ إنــشـــاؤهــا </a:t>
            </a:r>
            <a:endParaRPr lang="ar-DZ" sz="4000" b="1" dirty="0" smtClean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983432" y="2348880"/>
            <a:ext cx="42977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الـمــســتــنــد الـنَّــمــوذج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35760" y="3286673"/>
            <a:ext cx="32896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الـجــزء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الـثَّــابــت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096000" y="4211906"/>
            <a:ext cx="288032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الـوثــائــق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583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  <p:bldP spid="10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2.4 خــصـائـص دمـج الـمــراســلات ــ تــابــع</a:t>
            </a:r>
            <a:r>
              <a:rPr lang="ar-DZ" sz="6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–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مــصــدر الـبــيــانــات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</a:rPr>
              <a:t>هــو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الَّـذِي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مــنــه الــبــيــانــات ( قــائــمـة ،  جَـــدْوَلًا ، قــاعــدة بـــيــانــات ...  إلــخ )</a:t>
            </a:r>
            <a:endParaRPr lang="ar-DZ" sz="4000" b="1" dirty="0" smtClean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233947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2.4 خــصـائـص دمـج الـمــراســلات ــ تــابــع</a:t>
            </a:r>
            <a:r>
              <a:rPr lang="ar-DZ" sz="6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–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مــصــدر الـبــيــانــات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</a:rPr>
              <a:t>هــو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الَّـذِي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مــنــه الــبــيــانــات ( قــائــمـة ،  جَـــدْوَلًا ، قــاعــدة بـــيــانــات ...  إلــخ )</a:t>
            </a:r>
            <a:endParaRPr lang="ar-DZ" sz="4000" b="1" dirty="0" smtClean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983432" y="1523421"/>
            <a:ext cx="23535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الـمــلـف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9886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2.4 خــصـائـص دمـج الـمــراســلات ــ تــابــع</a:t>
            </a:r>
            <a:r>
              <a:rPr lang="ar-DZ" sz="6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ب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–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مــصــدر الـبــيــانــات 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: </a:t>
            </a:r>
            <a:r>
              <a:rPr lang="ar-DZ" sz="4000" b="1" dirty="0" smtClean="0">
                <a:solidFill>
                  <a:srgbClr val="002060"/>
                </a:solidFill>
              </a:rPr>
              <a:t>هــو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الَّـذِي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مــنــه الــبــيــانــات ( قــائــمـة ،  جَـــدْوَلًا ، قــاعــدة بـــيــانــات ...  إلــخ )</a:t>
            </a:r>
            <a:endParaRPr lang="ar-DZ" sz="4000" b="1" dirty="0" smtClean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983432" y="1523421"/>
            <a:ext cx="23535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الـمــلـف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88088" y="2473427"/>
            <a:ext cx="32896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نــســتــرجــع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54851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9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2.4 خــصـائـص دمـج الـمــراســلات ــ تــابــع</a:t>
            </a:r>
            <a:r>
              <a:rPr lang="ar-DZ" sz="6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ج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–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الـربـط والـدمـج 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( لإنـشــاء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الـوثــائـق الــنهــائــيـة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)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: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</a:t>
            </a:r>
          </a:p>
          <a:p>
            <a:pPr algn="just" rtl="1">
              <a:lnSpc>
                <a:spcPct val="150000"/>
              </a:lnSpc>
              <a:spcBef>
                <a:spcPts val="0"/>
              </a:spcBef>
            </a:pPr>
            <a:r>
              <a:rPr lang="ar-DZ" sz="4000" b="1" dirty="0" smtClean="0">
                <a:solidFill>
                  <a:srgbClr val="002060"/>
                </a:solidFill>
              </a:rPr>
              <a:t>نــقــوم  بِــرَبْــطِ  الـوثــيــقــتــيــن </a:t>
            </a:r>
            <a:r>
              <a:rPr lang="ar-DZ" sz="4000" b="1" dirty="0">
                <a:solidFill>
                  <a:srgbClr val="002060"/>
                </a:solidFill>
              </a:rPr>
              <a:t>: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09451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2.4 خــصـائـص دمـج الـمــراســلات ــ تــابــع</a:t>
            </a:r>
            <a:r>
              <a:rPr lang="ar-DZ" sz="6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ج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–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الـربـط والـدمـج 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( لإنـشــاء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الـوثــائـق الــنهــائــيـة </a:t>
            </a:r>
            <a:r>
              <a:rPr lang="ar-DZ" sz="4400" b="1" dirty="0">
                <a:solidFill>
                  <a:srgbClr val="0070C0"/>
                </a:solidFill>
                <a:cs typeface="+mj-cs"/>
              </a:rPr>
              <a:t>) </a:t>
            </a:r>
            <a:r>
              <a:rPr lang="ar-DZ" sz="4400" b="1" dirty="0" smtClean="0">
                <a:solidFill>
                  <a:srgbClr val="0070C0"/>
                </a:solidFill>
                <a:cs typeface="+mj-cs"/>
              </a:rPr>
              <a:t>:</a:t>
            </a:r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 </a:t>
            </a:r>
          </a:p>
          <a:p>
            <a:pPr algn="just" rtl="1">
              <a:lnSpc>
                <a:spcPct val="150000"/>
              </a:lnSpc>
              <a:spcBef>
                <a:spcPts val="0"/>
              </a:spcBef>
            </a:pPr>
            <a:r>
              <a:rPr lang="ar-DZ" sz="4000" b="1" dirty="0" smtClean="0">
                <a:solidFill>
                  <a:srgbClr val="002060"/>
                </a:solidFill>
              </a:rPr>
              <a:t>نــقــوم  بِــرَبْــطِ  الـوثــيــقــتــيــن </a:t>
            </a:r>
            <a:r>
              <a:rPr lang="ar-DZ" sz="4000" b="1" dirty="0">
                <a:solidFill>
                  <a:srgbClr val="002060"/>
                </a:solidFill>
              </a:rPr>
              <a:t>: 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695400" y="2492896"/>
            <a:ext cx="446449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الـمــســتــنــد الـرئــيــسـي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464424" y="3445778"/>
            <a:ext cx="403244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ومــصــدر الــبــيــانــات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60406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0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2.4 خــصـائـص دمـج الـمــراســلات ــ تــابــع</a:t>
            </a:r>
            <a:r>
              <a:rPr lang="ar-DZ" sz="6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algn="just" rtl="1">
              <a:lnSpc>
                <a:spcPct val="150000"/>
              </a:lnSpc>
              <a:spcBef>
                <a:spcPts val="0"/>
              </a:spcBef>
            </a:pPr>
            <a:r>
              <a:rPr lang="ar-DZ" sz="4000" b="1" dirty="0" smtClean="0">
                <a:solidFill>
                  <a:srgbClr val="002060"/>
                </a:solidFill>
              </a:rPr>
              <a:t>ثـم </a:t>
            </a:r>
            <a:r>
              <a:rPr lang="ar-DZ" sz="4000" b="1" dirty="0">
                <a:solidFill>
                  <a:srgbClr val="002060"/>
                </a:solidFill>
              </a:rPr>
              <a:t>نَـعْــمَــدُ إلى إدراج كــلّ حــقــلٍ </a:t>
            </a:r>
            <a:r>
              <a:rPr lang="ar-DZ" sz="4000" b="1" dirty="0" smtClean="0">
                <a:solidFill>
                  <a:srgbClr val="002060"/>
                </a:solidFill>
              </a:rPr>
              <a:t>مَـعْــنِـيٍّ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الــمــنـــاســب لــه </a:t>
            </a:r>
            <a:r>
              <a:rPr lang="ar-DZ" sz="4000" b="1" dirty="0" smtClean="0">
                <a:solidFill>
                  <a:srgbClr val="002060"/>
                </a:solidFill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r>
              <a:rPr lang="ar-DZ" sz="4000" b="1" dirty="0">
                <a:solidFill>
                  <a:srgbClr val="002060"/>
                </a:solidFill>
              </a:rPr>
              <a:t> لـكـي </a:t>
            </a:r>
            <a:r>
              <a:rPr lang="ar-DZ" sz="4000" b="1" dirty="0" smtClean="0">
                <a:solidFill>
                  <a:srgbClr val="002060"/>
                </a:solidFill>
              </a:rPr>
              <a:t>نُــنْــشِـئَ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والّـتي </a:t>
            </a:r>
            <a:r>
              <a:rPr lang="ar-DZ" sz="4000" b="1" dirty="0">
                <a:solidFill>
                  <a:srgbClr val="002060"/>
                </a:solidFill>
              </a:rPr>
              <a:t>يـمـكـن أن </a:t>
            </a:r>
            <a:r>
              <a:rPr lang="ar-DZ" sz="4000" b="1" dirty="0" smtClean="0">
                <a:solidFill>
                  <a:srgbClr val="002060"/>
                </a:solidFill>
              </a:rPr>
              <a:t>تـكـون :</a:t>
            </a:r>
            <a:endParaRPr lang="ar-DZ" sz="4000" b="1" dirty="0" smtClean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83496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2.4 خــصـائـص دمـج الـمــراســلات ــ تــابــع</a:t>
            </a:r>
            <a:r>
              <a:rPr lang="ar-DZ" sz="6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algn="just" rtl="1">
              <a:lnSpc>
                <a:spcPct val="150000"/>
              </a:lnSpc>
              <a:spcBef>
                <a:spcPts val="0"/>
              </a:spcBef>
            </a:pPr>
            <a:r>
              <a:rPr lang="ar-DZ" sz="4000" b="1" dirty="0" smtClean="0">
                <a:solidFill>
                  <a:srgbClr val="002060"/>
                </a:solidFill>
              </a:rPr>
              <a:t>ثـم </a:t>
            </a:r>
            <a:r>
              <a:rPr lang="ar-DZ" sz="4000" b="1" dirty="0">
                <a:solidFill>
                  <a:srgbClr val="002060"/>
                </a:solidFill>
              </a:rPr>
              <a:t>نَـعْــمَــدُ إلى إدراج كــلّ حــقــلٍ </a:t>
            </a:r>
            <a:r>
              <a:rPr lang="ar-DZ" sz="4000" b="1" dirty="0" smtClean="0">
                <a:solidFill>
                  <a:srgbClr val="002060"/>
                </a:solidFill>
              </a:rPr>
              <a:t>مَـعْــنِـيٍّ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الــمــنـــاســب لــه </a:t>
            </a:r>
            <a:r>
              <a:rPr lang="ar-DZ" sz="4000" b="1" dirty="0" smtClean="0">
                <a:solidFill>
                  <a:srgbClr val="002060"/>
                </a:solidFill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r>
              <a:rPr lang="ar-DZ" sz="4000" b="1" dirty="0">
                <a:solidFill>
                  <a:srgbClr val="002060"/>
                </a:solidFill>
              </a:rPr>
              <a:t> لـكـي </a:t>
            </a:r>
            <a:r>
              <a:rPr lang="ar-DZ" sz="4000" b="1" dirty="0" smtClean="0">
                <a:solidFill>
                  <a:srgbClr val="002060"/>
                </a:solidFill>
              </a:rPr>
              <a:t>نُــنْــشِـئَ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والّـتي </a:t>
            </a:r>
            <a:r>
              <a:rPr lang="ar-DZ" sz="4000" b="1" dirty="0">
                <a:solidFill>
                  <a:srgbClr val="002060"/>
                </a:solidFill>
              </a:rPr>
              <a:t>يـمـكـن أن </a:t>
            </a:r>
            <a:r>
              <a:rPr lang="ar-DZ" sz="4000" b="1" dirty="0" smtClean="0">
                <a:solidFill>
                  <a:srgbClr val="002060"/>
                </a:solidFill>
              </a:rPr>
              <a:t>تـكـون :</a:t>
            </a:r>
            <a:endParaRPr lang="ar-DZ" sz="4000" b="1" dirty="0" smtClean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10" name="Rectangle 9"/>
          <p:cNvSpPr/>
          <p:nvPr/>
        </p:nvSpPr>
        <p:spPr>
          <a:xfrm>
            <a:off x="1567934" y="1448114"/>
            <a:ext cx="19820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بـالــدَمْــجِ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945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0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2.4 خــصـائـص دمـج الـمــراســلات ــ تــابــع</a:t>
            </a:r>
            <a:r>
              <a:rPr lang="ar-DZ" sz="6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algn="just" rtl="1">
              <a:lnSpc>
                <a:spcPct val="150000"/>
              </a:lnSpc>
              <a:spcBef>
                <a:spcPts val="0"/>
              </a:spcBef>
            </a:pPr>
            <a:r>
              <a:rPr lang="ar-DZ" sz="4000" b="1" dirty="0" smtClean="0">
                <a:solidFill>
                  <a:srgbClr val="002060"/>
                </a:solidFill>
              </a:rPr>
              <a:t>ثـم </a:t>
            </a:r>
            <a:r>
              <a:rPr lang="ar-DZ" sz="4000" b="1" dirty="0">
                <a:solidFill>
                  <a:srgbClr val="002060"/>
                </a:solidFill>
              </a:rPr>
              <a:t>نَـعْــمَــدُ إلى إدراج كــلّ حــقــلٍ </a:t>
            </a:r>
            <a:r>
              <a:rPr lang="ar-DZ" sz="4000" b="1" dirty="0" smtClean="0">
                <a:solidFill>
                  <a:srgbClr val="002060"/>
                </a:solidFill>
              </a:rPr>
              <a:t>مَـعْــنِـيٍّ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الــمــنـــاســب لــه </a:t>
            </a:r>
            <a:r>
              <a:rPr lang="ar-DZ" sz="4000" b="1" dirty="0" smtClean="0">
                <a:solidFill>
                  <a:srgbClr val="002060"/>
                </a:solidFill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r>
              <a:rPr lang="ar-DZ" sz="4000" b="1" dirty="0">
                <a:solidFill>
                  <a:srgbClr val="002060"/>
                </a:solidFill>
              </a:rPr>
              <a:t> لـكـي </a:t>
            </a:r>
            <a:r>
              <a:rPr lang="ar-DZ" sz="4000" b="1" dirty="0" smtClean="0">
                <a:solidFill>
                  <a:srgbClr val="002060"/>
                </a:solidFill>
              </a:rPr>
              <a:t>نُــنْــشِـئَ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والّـتي </a:t>
            </a:r>
            <a:r>
              <a:rPr lang="ar-DZ" sz="4000" b="1" dirty="0">
                <a:solidFill>
                  <a:srgbClr val="002060"/>
                </a:solidFill>
              </a:rPr>
              <a:t>يـمـكـن أن </a:t>
            </a:r>
            <a:r>
              <a:rPr lang="ar-DZ" sz="4000" b="1" dirty="0" smtClean="0">
                <a:solidFill>
                  <a:srgbClr val="002060"/>
                </a:solidFill>
              </a:rPr>
              <a:t>تـكـون :</a:t>
            </a:r>
            <a:endParaRPr lang="ar-DZ" sz="4000" b="1" dirty="0" smtClean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10" name="Rectangle 9"/>
          <p:cNvSpPr/>
          <p:nvPr/>
        </p:nvSpPr>
        <p:spPr>
          <a:xfrm>
            <a:off x="1567934" y="1448114"/>
            <a:ext cx="19820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بـالــدَمْــجِ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040841" y="2377132"/>
            <a:ext cx="202371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الـمَـوْضِـع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4703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0" grpId="0" animBg="1"/>
      <p:bldP spid="9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2.4 خــصـائـص دمـج الـمــراســلات ــ تــابــع</a:t>
            </a:r>
            <a:r>
              <a:rPr lang="ar-DZ" sz="6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algn="just" rtl="1">
              <a:lnSpc>
                <a:spcPct val="150000"/>
              </a:lnSpc>
              <a:spcBef>
                <a:spcPts val="0"/>
              </a:spcBef>
            </a:pPr>
            <a:r>
              <a:rPr lang="ar-DZ" sz="4000" b="1" dirty="0" smtClean="0">
                <a:solidFill>
                  <a:srgbClr val="002060"/>
                </a:solidFill>
              </a:rPr>
              <a:t>ثـم </a:t>
            </a:r>
            <a:r>
              <a:rPr lang="ar-DZ" sz="4000" b="1" dirty="0">
                <a:solidFill>
                  <a:srgbClr val="002060"/>
                </a:solidFill>
              </a:rPr>
              <a:t>نَـعْــمَــدُ إلى إدراج كــلّ حــقــلٍ </a:t>
            </a:r>
            <a:r>
              <a:rPr lang="ar-DZ" sz="4000" b="1" dirty="0" smtClean="0">
                <a:solidFill>
                  <a:srgbClr val="002060"/>
                </a:solidFill>
              </a:rPr>
              <a:t>مَـعْــنِـيٍّ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الــمــنـــاســب لــه </a:t>
            </a:r>
            <a:r>
              <a:rPr lang="ar-DZ" sz="4000" b="1" dirty="0" smtClean="0">
                <a:solidFill>
                  <a:srgbClr val="002060"/>
                </a:solidFill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r>
              <a:rPr lang="ar-DZ" sz="4000" b="1" dirty="0">
                <a:solidFill>
                  <a:srgbClr val="002060"/>
                </a:solidFill>
              </a:rPr>
              <a:t> لـكـي </a:t>
            </a:r>
            <a:r>
              <a:rPr lang="ar-DZ" sz="4000" b="1" dirty="0" smtClean="0">
                <a:solidFill>
                  <a:srgbClr val="002060"/>
                </a:solidFill>
              </a:rPr>
              <a:t>نُــنْــشِـئَ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والّـتي </a:t>
            </a:r>
            <a:r>
              <a:rPr lang="ar-DZ" sz="4000" b="1" dirty="0">
                <a:solidFill>
                  <a:srgbClr val="002060"/>
                </a:solidFill>
              </a:rPr>
              <a:t>يـمـكـن أن </a:t>
            </a:r>
            <a:r>
              <a:rPr lang="ar-DZ" sz="4000" b="1" dirty="0" smtClean="0">
                <a:solidFill>
                  <a:srgbClr val="002060"/>
                </a:solidFill>
              </a:rPr>
              <a:t>تـكـون :</a:t>
            </a:r>
            <a:endParaRPr lang="ar-DZ" sz="4000" b="1" dirty="0" smtClean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609600" y="2421245"/>
            <a:ext cx="4406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الـمــســتــنــد الـرئــيــسـي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67934" y="1448114"/>
            <a:ext cx="19820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بـالــدَمْــجِ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040841" y="2377132"/>
            <a:ext cx="202371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الـمَـوْضِـع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613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10" grpId="0" animBg="1"/>
      <p:bldP spid="9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5400" b="1" dirty="0">
                <a:solidFill>
                  <a:srgbClr val="00B050"/>
                </a:solidFill>
              </a:rPr>
              <a:t>2.4 خــصـائـص دمـج الـمــراســلات ــ تــابــع</a:t>
            </a:r>
            <a:r>
              <a:rPr lang="ar-DZ" sz="60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endParaRPr lang="fr-FR" sz="5400" i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algn="just" rtl="1">
              <a:lnSpc>
                <a:spcPct val="150000"/>
              </a:lnSpc>
              <a:spcBef>
                <a:spcPts val="0"/>
              </a:spcBef>
            </a:pPr>
            <a:r>
              <a:rPr lang="ar-DZ" sz="4000" b="1" dirty="0" smtClean="0">
                <a:solidFill>
                  <a:srgbClr val="002060"/>
                </a:solidFill>
              </a:rPr>
              <a:t>ثـم </a:t>
            </a:r>
            <a:r>
              <a:rPr lang="ar-DZ" sz="4000" b="1" dirty="0">
                <a:solidFill>
                  <a:srgbClr val="002060"/>
                </a:solidFill>
              </a:rPr>
              <a:t>نَـعْــمَــدُ إلى إدراج كــلّ حــقــلٍ </a:t>
            </a:r>
            <a:r>
              <a:rPr lang="ar-DZ" sz="4000" b="1" dirty="0" smtClean="0">
                <a:solidFill>
                  <a:srgbClr val="002060"/>
                </a:solidFill>
              </a:rPr>
              <a:t>مَـعْــنِـيٍّ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>
                <a:solidFill>
                  <a:srgbClr val="002060"/>
                </a:solidFill>
              </a:rPr>
              <a:t>الــمــنـــاســب لــه </a:t>
            </a:r>
            <a:r>
              <a:rPr lang="ar-DZ" sz="4000" b="1" dirty="0" smtClean="0">
                <a:solidFill>
                  <a:srgbClr val="002060"/>
                </a:solidFill>
              </a:rPr>
              <a:t>فـي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</a:t>
            </a:r>
            <a:r>
              <a:rPr lang="ar-DZ" sz="4000" b="1" dirty="0">
                <a:solidFill>
                  <a:srgbClr val="002060"/>
                </a:solidFill>
              </a:rPr>
              <a:t> لـكـي </a:t>
            </a:r>
            <a:r>
              <a:rPr lang="ar-DZ" sz="4000" b="1" dirty="0" smtClean="0">
                <a:solidFill>
                  <a:srgbClr val="002060"/>
                </a:solidFill>
              </a:rPr>
              <a:t>نُــنْــشِـئَ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والّـتي </a:t>
            </a:r>
            <a:r>
              <a:rPr lang="ar-DZ" sz="4000" b="1" dirty="0">
                <a:solidFill>
                  <a:srgbClr val="002060"/>
                </a:solidFill>
              </a:rPr>
              <a:t>يـمـكـن أن </a:t>
            </a:r>
            <a:r>
              <a:rPr lang="ar-DZ" sz="4000" b="1" dirty="0" smtClean="0">
                <a:solidFill>
                  <a:srgbClr val="002060"/>
                </a:solidFill>
              </a:rPr>
              <a:t>تـكـون :</a:t>
            </a:r>
            <a:endParaRPr lang="ar-DZ" sz="4000" b="1" dirty="0" smtClean="0">
              <a:solidFill>
                <a:srgbClr val="0070C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8" name="Rectangle 7"/>
          <p:cNvSpPr/>
          <p:nvPr/>
        </p:nvSpPr>
        <p:spPr>
          <a:xfrm>
            <a:off x="609600" y="2421245"/>
            <a:ext cx="440628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الـمــســتــنــد الـرئــيــسـي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549962" y="3394376"/>
            <a:ext cx="45365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</a:rPr>
              <a:t>الــوثـــائــق الــنـهــائــيــة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567934" y="1448114"/>
            <a:ext cx="19820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بـالــدَمْــجِ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040841" y="2377132"/>
            <a:ext cx="202371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الـمَـوْضِـع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3805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8" grpId="0" animBg="1"/>
      <p:bldP spid="7" grpId="0" animBg="1"/>
      <p:bldP spid="10" grpId="0" animBg="1"/>
      <p:bldP spid="9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</a:rPr>
              <a:t>خــصـائـص دمـج الـمــراســلات ــ تــابــع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0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150000"/>
              </a:lnSpc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Enveloppes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Etiquettes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Répertoire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120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  <a:cs typeface="Times New Roman" panose="02020603050405020304" pitchFamily="18" charset="0"/>
              </a:rPr>
              <a:t> ( 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r>
              <a:rPr lang="ar-DZ" sz="5400" b="1" dirty="0">
                <a:solidFill>
                  <a:srgbClr val="00B050"/>
                </a:solidFill>
                <a:cs typeface="Times New Roman" panose="02020603050405020304" pitchFamily="18" charset="0"/>
              </a:rPr>
              <a:t>.4 </a:t>
            </a:r>
            <a:r>
              <a:rPr lang="ar-DZ" b="1" dirty="0">
                <a:solidFill>
                  <a:srgbClr val="00B050"/>
                </a:solidFill>
              </a:rPr>
              <a:t>خــصـائـص دمـج الـمــراســلات ــ تــابــع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54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0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150000"/>
              </a:lnSpc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Enveloppes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Etiquettes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Répertoire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99456" y="1484784"/>
            <a:ext cx="96669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رســ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ائ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ــل ش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ـخـ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ـصـ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ــة 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ـتــرون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9551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9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  <a:cs typeface="Times New Roman" panose="02020603050405020304" pitchFamily="18" charset="0"/>
              </a:rPr>
              <a:t> ( 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r>
              <a:rPr lang="ar-DZ" sz="5400" b="1" dirty="0">
                <a:solidFill>
                  <a:srgbClr val="00B050"/>
                </a:solidFill>
                <a:cs typeface="Times New Roman" panose="02020603050405020304" pitchFamily="18" charset="0"/>
              </a:rPr>
              <a:t>.4 </a:t>
            </a:r>
            <a:r>
              <a:rPr lang="ar-DZ" b="1" dirty="0">
                <a:solidFill>
                  <a:srgbClr val="00B050"/>
                </a:solidFill>
              </a:rPr>
              <a:t>خــصـائـص دمـج الـمــراســلات ــ تــابــع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54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0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150000"/>
              </a:lnSpc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Enveloppes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Etiquettes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Répertoire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99456" y="1495974"/>
            <a:ext cx="96669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رســ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ائ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ــل ش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ـخـ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ـصـ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ــة 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ـتــرون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81587" y="2538072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ظُـــرُوف بَــرِيــدِيَــة</a:t>
            </a:r>
          </a:p>
        </p:txBody>
      </p:sp>
    </p:spTree>
    <p:extLst>
      <p:ext uri="{BB962C8B-B14F-4D97-AF65-F5344CB8AC3E}">
        <p14:creationId xmlns:p14="http://schemas.microsoft.com/office/powerpoint/2010/main" val="4085870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9" grpId="0" animBg="1"/>
      <p:bldP spid="11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  <a:cs typeface="Times New Roman" panose="02020603050405020304" pitchFamily="18" charset="0"/>
              </a:rPr>
              <a:t> ( 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r>
              <a:rPr lang="ar-DZ" sz="5400" b="1" dirty="0">
                <a:solidFill>
                  <a:srgbClr val="00B050"/>
                </a:solidFill>
                <a:cs typeface="Times New Roman" panose="02020603050405020304" pitchFamily="18" charset="0"/>
              </a:rPr>
              <a:t>.4 </a:t>
            </a:r>
            <a:r>
              <a:rPr lang="ar-DZ" b="1" dirty="0">
                <a:solidFill>
                  <a:srgbClr val="00B050"/>
                </a:solidFill>
              </a:rPr>
              <a:t>خــصـائـص دمـج الـمــراســلات ــ تــابــع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54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0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150000"/>
              </a:lnSpc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Enveloppes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Etiquettes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Répertoire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81587" y="3573016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مُــلْــصَــقَـــات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99456" y="1495974"/>
            <a:ext cx="96669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رســ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ائ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ــل ش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ـخـ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ـصـ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ــة 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ـتــرون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81587" y="2538072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ظُـــرُوف بَــرِيــدِيَــة</a:t>
            </a:r>
          </a:p>
        </p:txBody>
      </p:sp>
    </p:spTree>
    <p:extLst>
      <p:ext uri="{BB962C8B-B14F-4D97-AF65-F5344CB8AC3E}">
        <p14:creationId xmlns:p14="http://schemas.microsoft.com/office/powerpoint/2010/main" val="3057386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2" grpId="0" animBg="1"/>
      <p:bldP spid="9" grpId="0" animBg="1"/>
      <p:bldP spid="11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>
                <a:solidFill>
                  <a:srgbClr val="FF0000"/>
                </a:solidFill>
                <a:cs typeface="Times New Roman" panose="02020603050405020304" pitchFamily="18" charset="0"/>
              </a:rPr>
              <a:t>أتـذكـر</a:t>
            </a:r>
            <a:r>
              <a:rPr lang="ar-DZ" sz="5400" b="1" dirty="0">
                <a:solidFill>
                  <a:srgbClr val="FF0000"/>
                </a:solidFill>
                <a:cs typeface="Times New Roman" panose="02020603050405020304" pitchFamily="18" charset="0"/>
              </a:rPr>
              <a:t> ( </a:t>
            </a:r>
            <a:r>
              <a:rPr lang="ar-DZ" b="1" dirty="0">
                <a:solidFill>
                  <a:srgbClr val="00B050"/>
                </a:solidFill>
                <a:cs typeface="Times New Roman" panose="02020603050405020304" pitchFamily="18" charset="0"/>
              </a:rPr>
              <a:t>2</a:t>
            </a:r>
            <a:r>
              <a:rPr lang="ar-DZ" sz="5400" b="1" dirty="0">
                <a:solidFill>
                  <a:srgbClr val="00B050"/>
                </a:solidFill>
                <a:cs typeface="Times New Roman" panose="02020603050405020304" pitchFamily="18" charset="0"/>
              </a:rPr>
              <a:t>.4 </a:t>
            </a:r>
            <a:r>
              <a:rPr lang="ar-DZ" b="1" dirty="0">
                <a:solidFill>
                  <a:srgbClr val="00B050"/>
                </a:solidFill>
              </a:rPr>
              <a:t>خــصـائـص دمـج الـمــراســلات ــ تــابــع</a:t>
            </a:r>
            <a:r>
              <a:rPr lang="ar-DZ" sz="48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5400" b="1" dirty="0">
                <a:solidFill>
                  <a:srgbClr val="FF0000"/>
                </a:solidFill>
                <a:cs typeface="Times New Roman" panose="02020603050405020304" pitchFamily="18" charset="0"/>
              </a:rPr>
              <a:t>)</a:t>
            </a:r>
            <a:endParaRPr lang="fr-FR" sz="5400" i="1" dirty="0">
              <a:solidFill>
                <a:srgbClr val="00B05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  <p:sp>
        <p:nvSpPr>
          <p:cNvPr id="10" name="Espace réservé du contenu 2"/>
          <p:cNvSpPr txBox="1">
            <a:spLocks/>
          </p:cNvSpPr>
          <p:nvPr/>
        </p:nvSpPr>
        <p:spPr>
          <a:xfrm>
            <a:off x="609600" y="1268760"/>
            <a:ext cx="10887000" cy="51049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rtl="1">
              <a:lnSpc>
                <a:spcPct val="150000"/>
              </a:lnSpc>
              <a:buFont typeface="Arial" pitchFamily="34" charset="0"/>
              <a:buNone/>
            </a:pPr>
            <a:r>
              <a:rPr lang="ar-DZ" sz="5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..................................................................................................................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 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Enveloppes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Etiquettes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Répertoire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881587" y="3573016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مُــلْــصَــقَـــات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871864" y="4633302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ــيــل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199456" y="1495974"/>
            <a:ext cx="966697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رســ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ائ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ــل ش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ـخـ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ـصـ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ــة 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ـتــرون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881587" y="2538072"/>
            <a:ext cx="598460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ظُـــرُوف بَــرِيــدِيَــة</a:t>
            </a:r>
          </a:p>
        </p:txBody>
      </p:sp>
    </p:spTree>
    <p:extLst>
      <p:ext uri="{BB962C8B-B14F-4D97-AF65-F5344CB8AC3E}">
        <p14:creationId xmlns:p14="http://schemas.microsoft.com/office/powerpoint/2010/main" val="155157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build="p" animBg="1"/>
      <p:bldP spid="12" grpId="0" animBg="1"/>
      <p:bldP spid="13" grpId="0" animBg="1"/>
      <p:bldP spid="9" grpId="0" animBg="1"/>
      <p:bldP spid="11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واجــب مــنــزلـي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:</a:t>
            </a:r>
            <a:endParaRPr lang="fr-FR" sz="5400" i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35000"/>
              </a:lnSpc>
              <a:spcAft>
                <a:spcPts val="1000"/>
              </a:spcAft>
              <a:buClr>
                <a:srgbClr val="002060"/>
              </a:buClr>
              <a:buSzPts val="1100"/>
              <a:buNone/>
            </a:pPr>
            <a:r>
              <a:rPr lang="ar-DZ" sz="3600" b="1" dirty="0">
                <a:solidFill>
                  <a:srgbClr val="00000A"/>
                </a:solidFill>
                <a:ea typeface="Droid Sans Fallback"/>
                <a:cs typeface="+mj-cs"/>
              </a:rPr>
              <a:t>1</a:t>
            </a:r>
            <a:r>
              <a:rPr lang="ar-DZ" sz="3600" b="1" dirty="0" smtClean="0">
                <a:solidFill>
                  <a:srgbClr val="00000A"/>
                </a:solidFill>
                <a:ea typeface="Droid Sans Fallback"/>
                <a:cs typeface="+mj-cs"/>
              </a:rPr>
              <a:t>.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 تُــــعَــــدُّ الأنـــمـــاط </a:t>
            </a:r>
            <a:r>
              <a:rPr lang="en-US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Styles</a:t>
            </a:r>
            <a:r>
              <a:rPr lang="ar-DZ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3600" b="1" dirty="0" smtClean="0">
                <a:solidFill>
                  <a:srgbClr val="00000A"/>
                </a:solidFill>
                <a:latin typeface="Traditional Arabic" panose="02020603050405020304" pitchFamily="18" charset="-78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والــمــقـــاطـــع</a:t>
            </a:r>
            <a:r>
              <a:rPr lang="en-US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Sections</a:t>
            </a:r>
            <a:r>
              <a:rPr lang="en-US" sz="4000" b="1" dirty="0" smtClean="0">
                <a:solidFill>
                  <a:srgbClr val="00000A"/>
                </a:solidFill>
                <a:latin typeface="Traditional Arabic" panose="02020603050405020304" pitchFamily="18" charset="-78"/>
                <a:ea typeface="Droid Sans Fallback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 مـــن أبْــــــرَزِ تــلــك الــوســـائـــل 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الَّــــتِــي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يَـــــتِـــمُّ تـــوظــيـــفـــهــمــا كــثـــيـــرًا فــي عـــمـــلــــيـــــتــــي الــتــنــســـيــــق </a:t>
            </a:r>
            <a:r>
              <a:rPr lang="en-US" sz="3600" b="1" dirty="0" err="1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Mise</a:t>
            </a:r>
            <a:r>
              <a:rPr lang="en-US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en </a:t>
            </a:r>
            <a:r>
              <a:rPr lang="en-US" sz="3600" b="1" dirty="0" err="1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Forme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 والــتـــخـــطــــيـــط </a:t>
            </a:r>
            <a:r>
              <a:rPr lang="en-US" sz="3600" b="1" dirty="0" err="1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Mise</a:t>
            </a:r>
            <a:r>
              <a:rPr lang="en-US" sz="36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</a:rPr>
              <a:t> en Page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 عــلــى الـــتــــرتـــــيـــــب</a:t>
            </a:r>
            <a:r>
              <a:rPr lang="ar-DZ" sz="36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.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 قَـــــارِنْ بـــيــن الــتــنــســـيــــق والـــتـــخــــطــــيـــــط مــع إِبْــــــرَازِ الـــعــــلاقـــــة الـــمــــوجــــودة بـــيـــن </a:t>
            </a:r>
            <a:r>
              <a:rPr lang="ar-DZ" sz="36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الــــتـــــنـــســـيــــق </a:t>
            </a:r>
            <a:r>
              <a:rPr lang="ar-DZ" sz="3600" b="1" dirty="0"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و</a:t>
            </a:r>
            <a:r>
              <a:rPr lang="ar-SA" sz="3600" b="1" dirty="0"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الأنــــمــــــاط </a:t>
            </a:r>
            <a:r>
              <a:rPr lang="ar-DZ" sz="3600" b="1" dirty="0" smtClean="0">
                <a:latin typeface="Calibri" panose="020F0502020204030204" pitchFamily="34" charset="0"/>
                <a:ea typeface="Times New Roman" panose="02020603050405020304" pitchFamily="18" charset="0"/>
                <a:cs typeface="Traditional Arabic" panose="02020603050405020304" pitchFamily="18" charset="-78"/>
              </a:rPr>
              <a:t>، </a:t>
            </a:r>
            <a:r>
              <a:rPr lang="ar-DZ" sz="36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وبـــيـــن الـــتـــخــــطــــيـــــط والـــمـــقــــاطـــع </a:t>
            </a:r>
            <a:r>
              <a:rPr lang="ar-DZ" sz="3600" b="1" dirty="0" smtClean="0">
                <a:solidFill>
                  <a:srgbClr val="00000A"/>
                </a:solidFill>
                <a:ea typeface="Droid Sans Fallback"/>
                <a:cs typeface="+mj-cs"/>
              </a:rPr>
              <a:t>.</a:t>
            </a:r>
            <a:endParaRPr lang="ar-DZ" sz="4000" b="1" dirty="0" smtClean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86750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واجــب مــنــزلـي ـــ  تــــابـــع :</a:t>
            </a:r>
            <a:endParaRPr lang="fr-FR" sz="5400" i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35000"/>
              </a:lnSpc>
              <a:spcAft>
                <a:spcPts val="1000"/>
              </a:spcAft>
              <a:buClr>
                <a:srgbClr val="002060"/>
              </a:buClr>
              <a:buSzPts val="1100"/>
              <a:buNone/>
            </a:pPr>
            <a:r>
              <a:rPr lang="ar-DZ" sz="3600" b="1" dirty="0" smtClean="0">
                <a:solidFill>
                  <a:srgbClr val="00000A"/>
                </a:solidFill>
                <a:ea typeface="Droid Sans Fallback"/>
                <a:cs typeface="+mj-cs"/>
              </a:rPr>
              <a:t>2.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 </a:t>
            </a:r>
            <a:r>
              <a:rPr lang="ar-DZ" sz="44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لإ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نــشـــاء مـــســـتـــنــــدات مـــتـــشـــابــهــة بــحـــيـــث تَـــتَــمَــاثَـــلُ فـــيـــمـــا بــــيــــنـــهـــا فـــي بـــعــض الأجـــــزاء وتَــــتَــــبَـــايَـــنُ فـــي أجـــــزاءٍ أخـــــرى</a:t>
            </a:r>
            <a:r>
              <a:rPr lang="ar-DZ" sz="36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،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 يـــمـــكــــنـــــنــــا تـــوظـــيــــف الـــقــــوالــــب </a:t>
            </a:r>
            <a:r>
              <a:rPr lang="en-US" sz="4000" b="1" dirty="0" err="1">
                <a:solidFill>
                  <a:srgbClr val="00000A"/>
                </a:solidFill>
                <a:latin typeface="Liberation Serif"/>
                <a:ea typeface="Droid Sans Fallback"/>
                <a:cs typeface="Calibri" panose="020F0502020204030204" pitchFamily="34" charset="0"/>
              </a:rPr>
              <a:t>Modèles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 أو دمــج الـــمــــراســـــلات </a:t>
            </a:r>
            <a:r>
              <a:rPr lang="en-US" sz="4000" b="1" dirty="0" err="1">
                <a:solidFill>
                  <a:srgbClr val="00000A"/>
                </a:solidFill>
                <a:latin typeface="Liberation Serif"/>
                <a:ea typeface="Droid Sans Fallback"/>
                <a:cs typeface="Calibri" panose="020F0502020204030204" pitchFamily="34" charset="0"/>
              </a:rPr>
              <a:t>Publipostage</a:t>
            </a:r>
            <a:r>
              <a:rPr lang="en-US" sz="4000" b="1" dirty="0">
                <a:solidFill>
                  <a:srgbClr val="00000A"/>
                </a:solidFill>
                <a:latin typeface="FreeSans"/>
                <a:ea typeface="Droid Sans Fallback"/>
                <a:cs typeface="FreeSans"/>
              </a:rPr>
              <a:t> </a:t>
            </a:r>
            <a:r>
              <a:rPr lang="ar-DZ" sz="36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.</a:t>
            </a:r>
          </a:p>
          <a:p>
            <a:pPr marL="0" lvl="0" indent="0" algn="just" rtl="1">
              <a:lnSpc>
                <a:spcPct val="115000"/>
              </a:lnSpc>
              <a:spcAft>
                <a:spcPts val="1000"/>
              </a:spcAft>
              <a:buClr>
                <a:srgbClr val="002060"/>
              </a:buClr>
              <a:buSzPts val="1100"/>
              <a:buNone/>
            </a:pPr>
            <a:r>
              <a:rPr lang="ar-DZ" sz="36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قــــــارِنْ 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بــــيــن هـــــاتــــيـــن الــــوســــيــــــلـــــتـــــيــــن </a:t>
            </a:r>
            <a:r>
              <a:rPr lang="ar-DZ" sz="36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 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الـــقــــوالـــــب ودمـــج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الــمـــــراســـــلات ؛ 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ومــــا هــــي الـــــوســــيــــلـــــة الَّــتِـي تُــــفَــــضِّـــلُ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اِسْــــتِـــــغْــــــلَالَـــــهَــــا </a:t>
            </a:r>
            <a:r>
              <a:rPr lang="ar-DZ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؟</a:t>
            </a:r>
            <a:r>
              <a:rPr lang="ar-DZ" sz="4000" b="1" dirty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 ولِــمَـــاذَا </a:t>
            </a:r>
            <a:r>
              <a:rPr lang="ar-DZ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؟</a:t>
            </a:r>
            <a:endParaRPr lang="ar-DZ" sz="4000" b="1" dirty="0" smtClean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955451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+mj-cs"/>
              </a:rPr>
              <a:t>واجــب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مــنــزلـي ـــ  تــــابـــع 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Aft>
                <a:spcPts val="1000"/>
              </a:spcAft>
              <a:buClr>
                <a:srgbClr val="002060"/>
              </a:buClr>
              <a:buSzPts val="1100"/>
              <a:buNone/>
            </a:pPr>
            <a:r>
              <a:rPr lang="ar-DZ" sz="3600" b="1" dirty="0" smtClean="0">
                <a:solidFill>
                  <a:srgbClr val="00000A"/>
                </a:solidFill>
                <a:ea typeface="Droid Sans Fallback"/>
                <a:cs typeface="+mj-cs"/>
              </a:rPr>
              <a:t>3.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قـــــارن بــــيــن الـــفـــواصـل الـــتــــالــــيـــة 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  فــــــاصــل الـــســطــــر 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،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 فــــــاصــل الـــصـــفـــحــــة و</a:t>
            </a:r>
            <a:r>
              <a:rPr lang="ar-DZ" sz="4400" b="1" dirty="0" smtClean="0">
                <a:solidFill>
                  <a:srgbClr val="000000"/>
                </a:solidFill>
                <a:latin typeface="Arial" panose="020B0604020202020204" pitchFamily="34" charset="0"/>
                <a:ea typeface="Droid Sans Fallback"/>
                <a:cs typeface="Traditional Arabic" panose="02020603050405020304" pitchFamily="18" charset="-78"/>
              </a:rPr>
              <a:t>الـــ</a:t>
            </a:r>
            <a:r>
              <a:rPr lang="ar-DZ" sz="4400" b="1" dirty="0" smtClean="0">
                <a:solidFill>
                  <a:srgbClr val="00000A"/>
                </a:solidFill>
                <a:ea typeface="Droid Sans Fallback"/>
                <a:cs typeface="Traditional Arabic" panose="02020603050405020304" pitchFamily="18" charset="-78"/>
              </a:rPr>
              <a:t>فــــاصـل الـــمــــقــــطـــــعــــي </a:t>
            </a:r>
            <a:r>
              <a:rPr lang="ar-DZ" sz="3600" b="1" dirty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.</a:t>
            </a:r>
            <a:endParaRPr lang="ar-DZ" sz="4000" b="1" dirty="0">
              <a:solidFill>
                <a:prstClr val="black"/>
              </a:solidFill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30/01/2026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4116242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39214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30/01/2026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938770" y="2012966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شـــكـــــــــــرا لـــكــم</a:t>
            </a:r>
          </a:p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بالـتـوفـيـق للـجــمـيـع</a:t>
            </a:r>
            <a:endParaRPr lang="ar-SA" altLang="zh-CN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 rtl="1"/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6360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èle par défaut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èle par défaut">
      <a:majorFont>
        <a:latin typeface="Times New Roman"/>
        <a:ea typeface="SimSun"/>
        <a:cs typeface=""/>
      </a:majorFont>
      <a:minorFont>
        <a:latin typeface="Times New Roman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27956</TotalTime>
  <Words>5334</Words>
  <Application>Microsoft Office PowerPoint</Application>
  <PresentationFormat>Grand écran</PresentationFormat>
  <Paragraphs>959</Paragraphs>
  <Slides>141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11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141</vt:i4>
      </vt:variant>
    </vt:vector>
  </HeadingPairs>
  <TitlesOfParts>
    <vt:vector size="154" baseType="lpstr">
      <vt:lpstr>Arial Unicode MS</vt:lpstr>
      <vt:lpstr>SimSun</vt:lpstr>
      <vt:lpstr>SimSun</vt:lpstr>
      <vt:lpstr>Arial</vt:lpstr>
      <vt:lpstr>Calibri</vt:lpstr>
      <vt:lpstr>Droid Sans Fallback</vt:lpstr>
      <vt:lpstr>FreeSans</vt:lpstr>
      <vt:lpstr>Liberation Serif</vt:lpstr>
      <vt:lpstr>Times New Roman</vt:lpstr>
      <vt:lpstr>Traditional Arabic</vt:lpstr>
      <vt:lpstr>Wingdings</vt:lpstr>
      <vt:lpstr>Thème Office</vt:lpstr>
      <vt:lpstr>Modèle par défaut</vt:lpstr>
      <vt:lpstr>Présentation PowerPoint</vt:lpstr>
      <vt:lpstr>Présentation PowerPoint</vt:lpstr>
      <vt:lpstr>الإشــكــالــيــة :</vt:lpstr>
      <vt:lpstr>الإجــابــة :</vt:lpstr>
      <vt:lpstr>الإجــابــة :</vt:lpstr>
      <vt:lpstr>Présentation PowerPoint</vt:lpstr>
      <vt:lpstr>Présentation PowerPoint</vt:lpstr>
      <vt:lpstr>1. مــفــهــوم الــمــكـــتـــبـــيــة   Bureautique</vt:lpstr>
      <vt:lpstr>أتـذكـر ( 1.1  تـعـــريــف الــمَـــكْـــتَـــبِـــيَـــة )</vt:lpstr>
      <vt:lpstr>أتـذكـر ( 1.1  تـعـــريــف الــمَـــكْـــتَـــبِـــيَـــة )</vt:lpstr>
      <vt:lpstr>1. مــفــهــوم الــمــكـــتـــبـــيــة   Bureautique</vt:lpstr>
      <vt:lpstr>أتـذكـر ( 2.1 الـحُــزْمَــة الــمَـــكْـــتَـــبِـــيَـــة )</vt:lpstr>
      <vt:lpstr>أتـذكـر ( 2.1 الـحُــزْمَــة الــمَـــكْـــتَـــبِـــيَـــة )</vt:lpstr>
      <vt:lpstr>أتـذكـر ( 2.1 الـحُــزْمَــة الــمَـــكْـــتَـــبِـــيَـــة ــ تـــابــع )</vt:lpstr>
      <vt:lpstr>أتـذكـر ( 2.1 الـحُــزْمَــة الــمَـــكْـــتَـــبِـــيَـــة ــ تـــابــع )</vt:lpstr>
      <vt:lpstr>أتـذكـر ( 2.1 الـحُــزْمَــة الــمَـــكْـــتَـــبِـــيَـــة ــ تـــابــع )</vt:lpstr>
      <vt:lpstr>أتـذكـر ( 2.1 الـحُــزْمَــة الــمَـــكْـــتَـــبِـــيَـــة ــ تـــابــع )</vt:lpstr>
      <vt:lpstr>أتـذكـر ( 2.1 الـحُــزْمَــة الــمَـــكْـــتَـــبِـــيَـــة ــ تـــابــع )</vt:lpstr>
      <vt:lpstr>أتـذكـر ( 2.1 الـحُــزْمَــة الــمَـــكْـــتَـــبِـــيَـــة ــ تـــابــع )</vt:lpstr>
      <vt:lpstr>أتـذكـر ( 2.1 الـحُــزْمَــة الــمَـــكْـــتَـــبِـــيَـــة ــ تـــابــع )</vt:lpstr>
      <vt:lpstr>2. مـفــهـــوم الـمــســتــنــدDocument </vt:lpstr>
      <vt:lpstr>أتـذكـر ( 1.2  تـعـــريــف الـمــســتــنــد )</vt:lpstr>
      <vt:lpstr>أتـذكـر ( 1.2  تـعـــريــف الـمــســتــنــد )</vt:lpstr>
      <vt:lpstr>أتـذكـر ( 1.2  تـعـــريــف الـمــســتــنــد )</vt:lpstr>
      <vt:lpstr>أتـذكـر ( 1.2  تـعـــريــف الـمــســتــنــد )</vt:lpstr>
      <vt:lpstr>أتـذكـر ( 1.2  تـعـــريــف الـمــســتــنــد )</vt:lpstr>
      <vt:lpstr>أتـذكـر ( 1.2  تـعـــريــف الـمــســتــنــد )</vt:lpstr>
      <vt:lpstr>أتـذكـر ( 1.2  تـعـــريــف الـمــســتــنــد ــ تــابــع )</vt:lpstr>
      <vt:lpstr>أتـذكـر ( 1.2  تـعـــريــف الـمــســتــنــد ــ تــابــع )</vt:lpstr>
      <vt:lpstr>أتـذكـر ( 1.2  تـعـــريــف الـمــســتــنــد ــ تــابــع )</vt:lpstr>
      <vt:lpstr>أتـذكـر ( 1.2  تـعـــريــف الـمــســتــنــد ــ تــابــع )</vt:lpstr>
      <vt:lpstr>أتـذكـر ( 1.2  تـعـــريــف الـمــســتــنــد ــ تــابــع )</vt:lpstr>
      <vt:lpstr>أتـذكـر ( 1.2  تـعـــريــف الـمــســتــنــد ــ تــابــع )</vt:lpstr>
      <vt:lpstr>أتـذكـر ( 1.2  تـعـــريــف الـمــســتــنــد ــ تــابــع )</vt:lpstr>
      <vt:lpstr>2. مـفــهـــوم الـمــســتــنــدDocument 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2.2 إعــــداد الـمــســتــنــد :</vt:lpstr>
      <vt:lpstr>أتـذكـر ( إعــــداد الـمــســـتـــنـــد  ـــ  تـــابـــع )</vt:lpstr>
      <vt:lpstr>أتـذكـر ( إعــــداد الـمــســـتـــنـــد  ـــ  تـــابـــع )</vt:lpstr>
      <vt:lpstr>أتـذكـر ( إعــــداد الـمــســـتـــنـــد  ـــ  تـــابـــع )</vt:lpstr>
      <vt:lpstr>أتـذكـر ( إعــــداد الـمــســـتـــنـــد  ـــ  تـــابـــع )</vt:lpstr>
      <vt:lpstr>أتـذكـر ( إعــــداد الـمــســـتـــنـــد  ـــ  تـــابـــع )</vt:lpstr>
      <vt:lpstr>أتـذكـر ( إعــــداد الـمــســـتـــنـــد  ـــ  تـــابـــع )</vt:lpstr>
      <vt:lpstr>أتـذكـر ( إعــــداد الـمــســـتـــنـــد  ـــ  تـــابـــع )</vt:lpstr>
      <vt:lpstr>1. الأنــمـــاط   Styles</vt:lpstr>
      <vt:lpstr>أتـذكـر ( 1.1  تـعـــريــف الــنــمــط )</vt:lpstr>
      <vt:lpstr>أتـذكـر ( 1.1  تـعـــريــف الــنــمــط )</vt:lpstr>
      <vt:lpstr>أتـذكـر ( 1.1  تـعـــريــف الــنــمــط )</vt:lpstr>
      <vt:lpstr>1. الأنــمـــاط   Styles</vt:lpstr>
      <vt:lpstr>أتـذكـر ( 2.1 - فــوائــد اسـتـعــمـال الأنــمــاط )</vt:lpstr>
      <vt:lpstr>أتـذكـر ( 2.1 - فــوائــد اسـتـعــمـال الأنــمــاط )</vt:lpstr>
      <vt:lpstr>أتـذكـر ( 2.1 - فــوائــد اسـتـعــمـال الأنــمــاط )</vt:lpstr>
      <vt:lpstr>أتـذكـر ( 2.1 - فــوائــد اسـتـعــمـال الأنــمــاط )</vt:lpstr>
      <vt:lpstr>2. الـقـــوالـــب    Modèles</vt:lpstr>
      <vt:lpstr>أتـذكـر ( 1.2 تـعـــريــف الــقـــالـــب )</vt:lpstr>
      <vt:lpstr>أتـذكـر ( 1.2 تـعـــريــف الــقـــالـــب )</vt:lpstr>
      <vt:lpstr>أتـذكـر ( 1.2 تـعـــريــف الــقـــالـــب )</vt:lpstr>
      <vt:lpstr>أتـذكـر ( 1.2 تـعـــريــف الــقـــالـــب )</vt:lpstr>
      <vt:lpstr>2. الـقـــوالـــب    Modèles</vt:lpstr>
      <vt:lpstr>2. الـقـــوالـــب    Modèles</vt:lpstr>
      <vt:lpstr>2. الـقـــوالـــب    Modèles</vt:lpstr>
      <vt:lpstr>2. الـقـــوالـــب    Modèles</vt:lpstr>
      <vt:lpstr>2. الـقـــوالـــب    Modèles</vt:lpstr>
      <vt:lpstr>2. الـقـــوالـــب    Modèles</vt:lpstr>
      <vt:lpstr>2. الـقـــوالـــب    Modèles</vt:lpstr>
      <vt:lpstr>2. الـقـــوالـــب    Modèles</vt:lpstr>
      <vt:lpstr>2. الـقـــوالـــب    Modèles</vt:lpstr>
      <vt:lpstr>2. الـقـــوالـــب    Modèles</vt:lpstr>
      <vt:lpstr>3. الـمــقَـــاطِــع   Sections</vt:lpstr>
      <vt:lpstr>أتـذكـر ( 1.3 تـعـــريــف الـمــقــطــع )</vt:lpstr>
      <vt:lpstr>أتـذكـر ( 1.3 تـعـــريــف الـمــقــطــع )</vt:lpstr>
      <vt:lpstr>أتـذكـر ( 1.3 تـعـــريــف الـمــقــطــع )</vt:lpstr>
      <vt:lpstr>أتـذكـر ( 1.3 تـعـــريــف الـمــقــطــع )</vt:lpstr>
      <vt:lpstr>أتـذكـر ( 1.3 تـعـــريــف الـمــقــطــع )</vt:lpstr>
      <vt:lpstr>أتـذكـر ( 1.3 تـعـــريــف الـمــقــطــع )</vt:lpstr>
      <vt:lpstr>أتـذكـر ( 1.3 تـعـــريــف الـمــقــطــع )</vt:lpstr>
      <vt:lpstr>أتـذكـر ( 1.3 تـعـــريــف الـمــقــطــع ـــ تـــابــع )</vt:lpstr>
      <vt:lpstr>أتـذكـر ( 1.3 تـعـــريــف الـمــقــطــع ـــ تـــابــع )</vt:lpstr>
      <vt:lpstr>أتـذكـر ( 1.3 تـعـــريــف الـمــقــطــع ـــ تـــابــع )</vt:lpstr>
      <vt:lpstr>أتـذكـر ( 1.3 تـعـــريــف الـمــقــطــع ـــ تـــابــع )</vt:lpstr>
      <vt:lpstr>أتـذكـر ( 1.3 تـعـــريــف الـمــقــطــع ـــ تـــابــع )</vt:lpstr>
      <vt:lpstr>أتـذكـر ( 1.3 تـعـــريــف الـمــقــطــع ـــ تـــابــع )</vt:lpstr>
      <vt:lpstr>أتـذكـر ( 1.3 تـعـــريــف الـمــقــطــع ـــ تـــابــع )</vt:lpstr>
      <vt:lpstr>3. الـمــقَـــاطِــع   Sections</vt:lpstr>
      <vt:lpstr>أتـذكـر ( 2.3 أنــواع الـمــقــاطــع )</vt:lpstr>
      <vt:lpstr>أتـذكـر ( 2.3 أنــواع الـمــقــاطــع )</vt:lpstr>
      <vt:lpstr>أتـذكـر ( 2.3 أنــواع الـمــقــاطــع )</vt:lpstr>
      <vt:lpstr>أتـذكـر ( 2.3 أنــواع الـمــقــاطــع )</vt:lpstr>
      <vt:lpstr>أتـذكـر أ - فــاصــل مـقــطــعــي ( الـصـفــحــة الـتــالــيــة )</vt:lpstr>
      <vt:lpstr>أتـذكـر أ - فــاصــل مـقــطــعــي ( الـصـفــحــة الـتــالــيــة )</vt:lpstr>
      <vt:lpstr>أتـذكـر أ - فــاصــل مـقــطــعــي ( الـصـفــحــة الـتــالــيــة )</vt:lpstr>
      <vt:lpstr>أتـذكـر أ - فــاصــل مـقــطــعــي ( الـصـفــحــة الـتــالــيــة )</vt:lpstr>
      <vt:lpstr>أتـذكـر ب - فــاصــل مـقــطــعــي (مــســتــمِــرّ  )</vt:lpstr>
      <vt:lpstr>أتـذكـر ب - فــاصــل مـقــطــعــي (مــســتــمِــرّ  )</vt:lpstr>
      <vt:lpstr>أتـذكـر ب - فــاصــل مـقــطــعــي (مــســتــمِــرّ  )</vt:lpstr>
      <vt:lpstr>4. دمــج الـمـــراســــلات   Publipostage </vt:lpstr>
      <vt:lpstr>أتـذكـر ( 1.4 تـعـــريــف دمــج الـمـــراســــلات )</vt:lpstr>
      <vt:lpstr>أتـذكـر ( 1.4 تـعـــريــف دمــج الـمـــراســــلات )</vt:lpstr>
      <vt:lpstr>أتـذكـر ( 1.4 تـعـــريــف دمــج الـمـــراســــلات )</vt:lpstr>
      <vt:lpstr>أتـذكـر ( 1.4 تـعـــريــف دمــج الـمـــراســــلات )</vt:lpstr>
      <vt:lpstr>أتـذكـر ( 1.4 تـعـــريــف دمــج الـمـــراســــلات )</vt:lpstr>
      <vt:lpstr>أتـذكـر ( 1.4 تـعـــريــف دمــج الـمـــراســــلات )</vt:lpstr>
      <vt:lpstr>2.4 خــصــائــص دمــج الـمـــراســــلات :</vt:lpstr>
      <vt:lpstr>2.4 خــصــائــص دمــج الـمـــراســــلات :</vt:lpstr>
      <vt:lpstr>2.4 خــصــائــص دمــج الـمـــراســــلات :</vt:lpstr>
      <vt:lpstr>2.4 خــصــائــص دمــج الـمـــراســــلات :</vt:lpstr>
      <vt:lpstr>2.4 خــصـائـص دمـج الـمــراســلات ــ تــابــع </vt:lpstr>
      <vt:lpstr>2.4 خــصـائـص دمـج الـمــراســلات ــ تــابــع </vt:lpstr>
      <vt:lpstr>2.4 خــصـائـص دمـج الـمــراســلات ــ تــابــع </vt:lpstr>
      <vt:lpstr>2.4 خــصـائـص دمـج الـمــراســلات ــ تــابــع </vt:lpstr>
      <vt:lpstr>2.4 خــصـائـص دمـج الـمــراســلات ــ تــابــع </vt:lpstr>
      <vt:lpstr>2.4 خــصـائـص دمـج الـمــراســلات ــ تــابــع </vt:lpstr>
      <vt:lpstr>2.4 خــصـائـص دمـج الـمــراســلات ــ تــابــع </vt:lpstr>
      <vt:lpstr>2.4 خــصـائـص دمـج الـمــراســلات ــ تــابــع </vt:lpstr>
      <vt:lpstr>2.4 خــصـائـص دمـج الـمــراســلات ــ تــابــع </vt:lpstr>
      <vt:lpstr>2.4 خــصـائـص دمـج الـمــراســلات ــ تــابــع </vt:lpstr>
      <vt:lpstr>أتـذكـر ( 2.4 خــصـائـص دمـج الـمــراســلات ــ تــابــع )</vt:lpstr>
      <vt:lpstr>أتـذكـر ( 2.4 خــصـائـص دمـج الـمــراســلات ــ تــابــع )</vt:lpstr>
      <vt:lpstr>أتـذكـر ( 2.4 خــصـائـص دمـج الـمــراســلات ــ تــابــع )</vt:lpstr>
      <vt:lpstr>أتـذكـر ( 2.4 خــصـائـص دمـج الـمــراســلات ــ تــابــع )</vt:lpstr>
      <vt:lpstr>أتـذكـر ( 2.4 خــصـائـص دمـج الـمــراســلات ــ تــابــع )</vt:lpstr>
      <vt:lpstr>واجــب مــنــزلـي :</vt:lpstr>
      <vt:lpstr>واجــب مــنــزلـي ـــ  تــــابـــع :</vt:lpstr>
      <vt:lpstr>واجــب مــنــزلـي ـــ  تــــابـــع :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Shm</dc:creator>
  <cp:lastModifiedBy>Dual</cp:lastModifiedBy>
  <cp:revision>2213</cp:revision>
  <dcterms:created xsi:type="dcterms:W3CDTF">2015-11-30T21:00:22Z</dcterms:created>
  <dcterms:modified xsi:type="dcterms:W3CDTF">2026-01-30T16:30:37Z</dcterms:modified>
</cp:coreProperties>
</file>