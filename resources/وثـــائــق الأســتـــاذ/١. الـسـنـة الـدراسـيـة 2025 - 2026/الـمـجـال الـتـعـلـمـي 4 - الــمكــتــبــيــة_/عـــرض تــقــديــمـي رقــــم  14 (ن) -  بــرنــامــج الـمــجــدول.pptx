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5"/>
  </p:notesMasterIdLst>
  <p:sldIdLst>
    <p:sldId id="273" r:id="rId3"/>
    <p:sldId id="549" r:id="rId4"/>
    <p:sldId id="258" r:id="rId5"/>
    <p:sldId id="447" r:id="rId6"/>
    <p:sldId id="756" r:id="rId7"/>
    <p:sldId id="292" r:id="rId8"/>
    <p:sldId id="695" r:id="rId9"/>
    <p:sldId id="685" r:id="rId10"/>
    <p:sldId id="1020" r:id="rId11"/>
    <p:sldId id="1021" r:id="rId12"/>
    <p:sldId id="686" r:id="rId13"/>
    <p:sldId id="844" r:id="rId14"/>
    <p:sldId id="843" r:id="rId15"/>
    <p:sldId id="842" r:id="rId16"/>
    <p:sldId id="698" r:id="rId17"/>
    <p:sldId id="1022" r:id="rId18"/>
    <p:sldId id="1018" r:id="rId19"/>
    <p:sldId id="1023" r:id="rId20"/>
    <p:sldId id="1019" r:id="rId21"/>
    <p:sldId id="1024" r:id="rId22"/>
    <p:sldId id="697" r:id="rId23"/>
    <p:sldId id="848" r:id="rId24"/>
    <p:sldId id="847" r:id="rId25"/>
    <p:sldId id="846" r:id="rId26"/>
    <p:sldId id="845" r:id="rId27"/>
    <p:sldId id="849" r:id="rId28"/>
    <p:sldId id="858" r:id="rId29"/>
    <p:sldId id="982" r:id="rId30"/>
    <p:sldId id="981" r:id="rId31"/>
    <p:sldId id="980" r:id="rId32"/>
    <p:sldId id="979" r:id="rId33"/>
    <p:sldId id="978" r:id="rId34"/>
    <p:sldId id="850" r:id="rId35"/>
    <p:sldId id="867" r:id="rId36"/>
    <p:sldId id="865" r:id="rId37"/>
    <p:sldId id="932" r:id="rId38"/>
    <p:sldId id="977" r:id="rId39"/>
    <p:sldId id="851" r:id="rId40"/>
    <p:sldId id="983" r:id="rId41"/>
    <p:sldId id="991" r:id="rId42"/>
    <p:sldId id="990" r:id="rId43"/>
    <p:sldId id="989" r:id="rId44"/>
    <p:sldId id="988" r:id="rId45"/>
    <p:sldId id="987" r:id="rId46"/>
    <p:sldId id="986" r:id="rId47"/>
    <p:sldId id="985" r:id="rId48"/>
    <p:sldId id="984" r:id="rId49"/>
    <p:sldId id="853" r:id="rId50"/>
    <p:sldId id="998" r:id="rId51"/>
    <p:sldId id="1002" r:id="rId52"/>
    <p:sldId id="1001" r:id="rId53"/>
    <p:sldId id="1000" r:id="rId54"/>
    <p:sldId id="999" r:id="rId55"/>
    <p:sldId id="880" r:id="rId56"/>
    <p:sldId id="997" r:id="rId57"/>
    <p:sldId id="996" r:id="rId58"/>
    <p:sldId id="995" r:id="rId59"/>
    <p:sldId id="691" r:id="rId60"/>
    <p:sldId id="883" r:id="rId61"/>
    <p:sldId id="889" r:id="rId62"/>
    <p:sldId id="888" r:id="rId63"/>
    <p:sldId id="886" r:id="rId64"/>
    <p:sldId id="885" r:id="rId65"/>
    <p:sldId id="884" r:id="rId66"/>
    <p:sldId id="890" r:id="rId67"/>
    <p:sldId id="892" r:id="rId68"/>
    <p:sldId id="895" r:id="rId69"/>
    <p:sldId id="894" r:id="rId70"/>
    <p:sldId id="893" r:id="rId71"/>
    <p:sldId id="966" r:id="rId72"/>
    <p:sldId id="970" r:id="rId73"/>
    <p:sldId id="969" r:id="rId74"/>
    <p:sldId id="968" r:id="rId75"/>
    <p:sldId id="967" r:id="rId76"/>
    <p:sldId id="902" r:id="rId77"/>
    <p:sldId id="906" r:id="rId78"/>
    <p:sldId id="994" r:id="rId79"/>
    <p:sldId id="993" r:id="rId80"/>
    <p:sldId id="992" r:id="rId81"/>
    <p:sldId id="904" r:id="rId82"/>
    <p:sldId id="905" r:id="rId83"/>
    <p:sldId id="912" r:id="rId84"/>
    <p:sldId id="911" r:id="rId85"/>
    <p:sldId id="910" r:id="rId86"/>
    <p:sldId id="909" r:id="rId87"/>
    <p:sldId id="908" r:id="rId88"/>
    <p:sldId id="913" r:id="rId89"/>
    <p:sldId id="1003" r:id="rId90"/>
    <p:sldId id="1015" r:id="rId91"/>
    <p:sldId id="1014" r:id="rId92"/>
    <p:sldId id="1013" r:id="rId93"/>
    <p:sldId id="1012" r:id="rId94"/>
    <p:sldId id="1004" r:id="rId95"/>
    <p:sldId id="1007" r:id="rId96"/>
    <p:sldId id="1011" r:id="rId97"/>
    <p:sldId id="1010" r:id="rId98"/>
    <p:sldId id="1009" r:id="rId99"/>
    <p:sldId id="1008" r:id="rId100"/>
    <p:sldId id="925" r:id="rId101"/>
    <p:sldId id="933" r:id="rId102"/>
    <p:sldId id="1017" r:id="rId103"/>
    <p:sldId id="1016" r:id="rId104"/>
    <p:sldId id="940" r:id="rId105"/>
    <p:sldId id="935" r:id="rId106"/>
    <p:sldId id="939" r:id="rId107"/>
    <p:sldId id="937" r:id="rId108"/>
    <p:sldId id="942" r:id="rId109"/>
    <p:sldId id="941" r:id="rId110"/>
    <p:sldId id="929" r:id="rId111"/>
    <p:sldId id="943" r:id="rId112"/>
    <p:sldId id="944" r:id="rId113"/>
    <p:sldId id="951" r:id="rId114"/>
    <p:sldId id="950" r:id="rId115"/>
    <p:sldId id="949" r:id="rId116"/>
    <p:sldId id="948" r:id="rId117"/>
    <p:sldId id="947" r:id="rId118"/>
    <p:sldId id="946" r:id="rId119"/>
    <p:sldId id="945" r:id="rId120"/>
    <p:sldId id="954" r:id="rId121"/>
    <p:sldId id="953" r:id="rId122"/>
    <p:sldId id="959" r:id="rId123"/>
    <p:sldId id="958" r:id="rId124"/>
    <p:sldId id="957" r:id="rId125"/>
    <p:sldId id="955" r:id="rId126"/>
    <p:sldId id="961" r:id="rId127"/>
    <p:sldId id="960" r:id="rId128"/>
    <p:sldId id="956" r:id="rId129"/>
    <p:sldId id="964" r:id="rId130"/>
    <p:sldId id="963" r:id="rId131"/>
    <p:sldId id="962" r:id="rId132"/>
    <p:sldId id="965" r:id="rId133"/>
    <p:sldId id="338" r:id="rId13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7" autoAdjust="0"/>
    <p:restoredTop sz="94434" autoAdjust="0"/>
  </p:normalViewPr>
  <p:slideViewPr>
    <p:cSldViewPr>
      <p:cViewPr varScale="1">
        <p:scale>
          <a:sx n="71" d="100"/>
          <a:sy n="71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viewProps" Target="view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commentAuthors" Target="commentAuthor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08/02/2026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43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08/02/2026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08/02/2026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08/02/2026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08/02/2026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08/02/2026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08/02/2026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08/02/2026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08/02/2026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08/02/2026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08/02/2026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08/02/2026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08/02/2026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08/02/2026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08/02/2026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08/02/2026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08/02/2026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08/02/2026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08/02/2026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08/02/2026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08/02/2026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08/02/2026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08/02/2026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08/02/2026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08/02/2026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08/02/2026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08/02/2026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08/02/2026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إذَا طُـلِـبَ مـنـك إنـشــاء جــدول كــشــف الـنــقــاط وحــســاب مُــعَـــدَلَات الــمَـــوَادِ بــطــريــقــةٍ تِــلْــقَـــائِــيَــةٍ ، فــمــا هـــو الـبــرنــامـج الّـذي سَــتَــسْــتَــعْـــمِــلُــهُ ؟ 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343472" y="3031993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الــمُــجَــدْوِل    (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747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</a:rPr>
              <a:t>الــمُــــجَـــــدْوِل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08/02/2026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+mj-cs"/>
              </a:rPr>
              <a:t>MS-EXCEL</a:t>
            </a:r>
            <a:r>
              <a:rPr lang="ar-DZ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 )</a:t>
            </a:r>
            <a:endParaRPr lang="ar-SA" altLang="zh-CN" sz="4000" b="1" dirty="0" smtClean="0">
              <a:ln w="0"/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20486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مَــــــدْخَـــــــل إِلَـــى الـ</a:t>
            </a:r>
            <a:r>
              <a:rPr lang="ar-DZ" altLang="zh-CN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مُــ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جَ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ـــدول   </a:t>
            </a:r>
            <a:r>
              <a:rPr lang="fr-FR" altLang="zh-CN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MS- </a:t>
            </a:r>
            <a:r>
              <a:rPr lang="fr-FR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EXCEL</a:t>
            </a:r>
            <a:endParaRPr lang="ar-SA" altLang="zh-CN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08/02/2026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7343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مــفــاهــيــم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مــاذا تـعــرفــون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بــرنــامـج الــمـجــدول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تــعـــريـــف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الــمــجــدول  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848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مــفــاهــيــم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مــاذا تـعــرفــون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بــرنــامـج الــمـجــدول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تــعـــريـــف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الــمــجــدول  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68000" cy="68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2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400" y="4219399"/>
            <a:ext cx="72728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نــشــاء </a:t>
            </a:r>
            <a:r>
              <a:rPr lang="ar-SA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وإجــراء الـحــســابــات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408" y="5155503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وض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ــقـــديـ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07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545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628800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إنــشــاء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الـجــداول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3062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628800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إنــشــاء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الـجــداول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780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إجـــراء الـحــســابــات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8628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تـعـــريــف </a:t>
            </a:r>
            <a:r>
              <a:rPr lang="ar-DZ" sz="4800" b="1" dirty="0">
                <a:solidFill>
                  <a:srgbClr val="00B050"/>
                </a:solidFill>
              </a:rPr>
              <a:t>الــمــجــدول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هــو بــرنــامــج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يــســمــح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تـــتــألَّــف مــن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نــصـوص ، أعـــداد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مــع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فــيـهـا وكــذلـك يــقــوم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الــمــرتــبــطــة بــمــعــطــيــات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مُــحَــدَّدةٍ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628800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إنــشــاء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الـجــداول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780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إجـــراء الـحــســابــات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3530423"/>
            <a:ext cx="61926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رســـم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مــخــتــلــف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الــمــخــطــطــات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7492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1. مــفــاهــيــم 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يُــمَــثِّــلُ لــكـم مُــصَــنَّــف فـي بــرنــامـج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الــمُــصَــنَّــف 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67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مـفــهـــوم الـمــســتــنــد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Document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: </a:t>
            </a:r>
            <a:r>
              <a:rPr lang="ar-DZ" sz="1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</a:rPr>
              <a:t>مـعــالــجــة </a:t>
            </a:r>
            <a:r>
              <a:rPr lang="ar-DZ" sz="4400" b="1" dirty="0">
                <a:solidFill>
                  <a:srgbClr val="FF0000"/>
                </a:solidFill>
              </a:rPr>
              <a:t>الـنـصـوص تـكـون</a:t>
            </a:r>
            <a:r>
              <a:rPr lang="ar-DZ" sz="4400" b="1" dirty="0"/>
              <a:t> بـاسـتـعــمـال الـبــرنــامـج </a:t>
            </a:r>
            <a:r>
              <a:rPr lang="en-US" sz="4400" b="1" dirty="0" smtClean="0">
                <a:solidFill>
                  <a:srgbClr val="0070C0"/>
                </a:solidFill>
              </a:rPr>
              <a:t>MS-Word</a:t>
            </a:r>
            <a:r>
              <a:rPr lang="en-US" sz="4400" b="1" dirty="0" smtClean="0"/>
              <a:t> </a:t>
            </a:r>
            <a:r>
              <a:rPr lang="ar-DZ" sz="4400" b="1" dirty="0" smtClean="0"/>
              <a:t> </a:t>
            </a:r>
            <a:r>
              <a:rPr lang="ar-DZ" sz="4400" b="1" dirty="0"/>
              <a:t>وذلـك </a:t>
            </a:r>
            <a:r>
              <a:rPr lang="ar-DZ" sz="4400" b="1" dirty="0">
                <a:solidFill>
                  <a:srgbClr val="FF0000"/>
                </a:solidFill>
              </a:rPr>
              <a:t>مــن خـــلال </a:t>
            </a:r>
            <a:r>
              <a:rPr lang="ar-DZ" sz="4400" b="1" dirty="0" smtClean="0">
                <a:solidFill>
                  <a:srgbClr val="FF0000"/>
                </a:solidFill>
              </a:rPr>
              <a:t>مــســتــنــد</a:t>
            </a:r>
            <a:r>
              <a:rPr lang="ar-DZ" sz="4400" b="1" dirty="0" smtClean="0"/>
              <a:t>،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فــمــاذا يــمــثــل الـمــســتـــنـــد بـالــنــســبــة إلــيــكــم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.2 تـعـــريــف الـمــســتــنــد</a:t>
            </a:r>
            <a:r>
              <a:rPr lang="fr-FR" sz="6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574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1. مــفــاهــيــم 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يُــمَــثِّــلُ لــكـم مُــصَــنَّــف فـي بــرنــامـج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الــمُــصَــنَّــف 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94"/>
            <a:ext cx="12168000" cy="68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400" y="4219399"/>
            <a:ext cx="72728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نــشــاء </a:t>
            </a:r>
            <a:r>
              <a:rPr lang="ar-SA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وإجــراء الـحــســابــات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408" y="5155503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وض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ــقـــديـ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32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1. مــفــاهــيــم 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يُــمَــثِّــلُ لــكـم مُــصَــنَّــف فـي بــرنــامـج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الــمُــصَــنَّــف 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204000" cy="68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0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1. مــفــاهــيــم 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يُــمَــثِّــلُ لــكـم مُــصَــنَّــف فـي بــرنــامـج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الــمُــصَــنَّــف 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" y="1673"/>
            <a:ext cx="12165931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5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0181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801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498282"/>
            <a:ext cx="2837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أوراق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638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498282"/>
            <a:ext cx="2837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أوراق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12024" y="3414674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ورقـــةً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363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الــمُــصَــنَّــف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Classeur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الـذي نُــنْــشِــئُــه بـاســتــعــمــال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ويَــشْــمَــلُ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افــتــراضِــيًــا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Feuilles  )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واحـــدة بـحــيــث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بـإمــكــان الـمُــصَــنَّــف أنْ يَــضُــمُّ حـتـى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32304" y="1700808"/>
            <a:ext cx="172819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7408" y="162880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الــمُــجَــدْوِل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007768" y="2498282"/>
            <a:ext cx="28374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أوراق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12024" y="3414674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ورقـــةً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424" y="4352467"/>
            <a:ext cx="523327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256  ورقـــةً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عــمــل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911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1. مــفــاهــيــم أســـاســـيـــة عــن الـمُــجَــدْوِل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تُــمَــثِّــلُ لــكـم </a:t>
            </a:r>
            <a:r>
              <a:rPr lang="ar-DZ" sz="4400" b="1" dirty="0" smtClean="0"/>
              <a:t>ورقـــة عــمــل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مُــصَــنَّــفَــات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ورقـــة  عــمــل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Feuille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889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2970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18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82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672" y="2509216"/>
            <a:ext cx="3597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 مُــعَــلَّــمَــةٍ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1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672" y="2509216"/>
            <a:ext cx="3597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 مُــعَــلَّــمَــةٍ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0021" y="5229200"/>
            <a:ext cx="15091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XFD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85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ذلــك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الـمُــهَــيَّــأ لإنــشــاء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بـحــيــث يــتـألَّــف 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بِـحُـــروفٍ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إنـجــلــيــزيــة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؛ 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، 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، 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BZ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؛  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ar-DZ" sz="4000" b="1" dirty="0" smtClean="0"/>
              <a:t>إذ </a:t>
            </a:r>
            <a:r>
              <a:rPr lang="ar-DZ" sz="4000" b="1" dirty="0"/>
              <a:t>يــبــلــغ </a:t>
            </a:r>
            <a:r>
              <a:rPr lang="ar-DZ" sz="4000" b="1" dirty="0" smtClean="0"/>
              <a:t>عـــدد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04112" y="1556792"/>
            <a:ext cx="2035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الــمــكــان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8427" y="1602764"/>
            <a:ext cx="25892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43672" y="2509216"/>
            <a:ext cx="3597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 مُــعَــلَّــمَــةٍ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0021" y="5229200"/>
            <a:ext cx="15091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XFD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55440" y="5354992"/>
            <a:ext cx="417646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أعـــمــدة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16 384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524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1" grpId="0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مــن  الــرقــــم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8303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9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4367" y="2508837"/>
            <a:ext cx="8640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91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4367" y="2508837"/>
            <a:ext cx="8640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47528" y="2508838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048 576</a:t>
            </a:r>
            <a:endParaRPr lang="fr-FR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14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ورقـــة  </a:t>
            </a:r>
            <a:r>
              <a:rPr lang="ar-DZ" sz="4800" b="1" dirty="0">
                <a:solidFill>
                  <a:srgbClr val="00B050"/>
                </a:solidFill>
              </a:rPr>
              <a:t>عــمــل  </a:t>
            </a:r>
            <a:r>
              <a:rPr lang="ar-DZ" sz="4800" b="1" dirty="0" smtClean="0">
                <a:solidFill>
                  <a:srgbClr val="00B050"/>
                </a:solidFill>
              </a:rPr>
              <a:t>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وكــمــا يــتـألَّــف مــن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مــن  الــرقــــم :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حــتَّـى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الـخــلــيــة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الأخــيــرة فـي أيِّ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عــمــل هــي 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698426" y="1602764"/>
            <a:ext cx="6621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صــفـــوف مُــعَـــلَّـــمَـــةٍ أو مُـــرَقَّـــمَـــةٍ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04367" y="2508837"/>
            <a:ext cx="8640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47528" y="2508838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048 576</a:t>
            </a:r>
            <a:endParaRPr lang="fr-FR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65458" y="4542691"/>
            <a:ext cx="47377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XFD</a:t>
            </a:r>
            <a:r>
              <a:rPr lang="en-US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1048576</a:t>
            </a:r>
            <a:endParaRPr lang="fr-FR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4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الـجــداول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وخــصــائـصـهـا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عَـــرِّفْ الـجــدول مُــبَــيِّــنًــا </a:t>
            </a:r>
            <a:r>
              <a:rPr lang="ar-DZ" sz="4400" b="1" dirty="0">
                <a:cs typeface="+mj-cs"/>
              </a:rPr>
              <a:t>الـفَــرْقَ </a:t>
            </a:r>
            <a:r>
              <a:rPr lang="ar-SA" sz="4400" b="1" dirty="0">
                <a:cs typeface="+mj-cs"/>
              </a:rPr>
              <a:t>بَ</a:t>
            </a:r>
            <a:r>
              <a:rPr lang="ar-DZ" sz="4400" b="1" dirty="0">
                <a:cs typeface="+mj-cs"/>
              </a:rPr>
              <a:t>ـ</a:t>
            </a:r>
            <a:r>
              <a:rPr lang="ar-SA" sz="4400" b="1" dirty="0">
                <a:cs typeface="+mj-cs"/>
              </a:rPr>
              <a:t>ـيْ</a:t>
            </a:r>
            <a:r>
              <a:rPr lang="ar-DZ" sz="4400" b="1" dirty="0">
                <a:cs typeface="+mj-cs"/>
              </a:rPr>
              <a:t>ــنَ  :  </a:t>
            </a:r>
            <a:r>
              <a:rPr lang="ar-SA" sz="4400" b="1" dirty="0">
                <a:cs typeface="+mj-cs"/>
              </a:rPr>
              <a:t>الـجــدول </a:t>
            </a:r>
            <a:r>
              <a:rPr lang="ar-DZ" sz="4400" b="1" dirty="0">
                <a:cs typeface="+mj-cs"/>
              </a:rPr>
              <a:t>/ </a:t>
            </a:r>
            <a:r>
              <a:rPr lang="ar-SA" sz="4400" b="1" dirty="0">
                <a:cs typeface="+mj-cs"/>
              </a:rPr>
              <a:t>وَرَقَــة عَــمَــل </a:t>
            </a:r>
            <a:r>
              <a:rPr lang="ar-DZ" sz="4400" b="1" dirty="0"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تـعــريــف الـجــدول  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10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6324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27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00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36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</p:spTree>
    <p:extLst>
      <p:ext uri="{BB962C8B-B14F-4D97-AF65-F5344CB8AC3E}">
        <p14:creationId xmlns:p14="http://schemas.microsoft.com/office/powerpoint/2010/main" val="399024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69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408" y="4338779"/>
            <a:ext cx="40229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مَــرْجِــعٍ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Référence</a:t>
            </a:r>
          </a:p>
        </p:txBody>
      </p:sp>
    </p:spTree>
    <p:extLst>
      <p:ext uri="{BB962C8B-B14F-4D97-AF65-F5344CB8AC3E}">
        <p14:creationId xmlns:p14="http://schemas.microsoft.com/office/powerpoint/2010/main" val="380615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408" y="4338779"/>
            <a:ext cx="40229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مَــرْجِــعٍ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Référence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9896" y="5244319"/>
            <a:ext cx="38788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Colonne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8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الـجــدول  </a:t>
            </a:r>
            <a:r>
              <a:rPr lang="fr-FR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مــجــمــوعــة مــن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الـمــتــقــاطــعــة مـع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الــمُــسْــتَــغَــلَّــةِ فــقــط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طـرف الـمـسـتخـدم ) مُــشَــكِّــلَــةً بـذلـك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بـحـيـث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تــتـمــيَّــزُ كــل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يُـحَــدِّدُهُ رَمْــزُ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ورَقَــم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426369" y="1570669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الأعــمــدة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8952" y="2507151"/>
            <a:ext cx="2438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ورقــة عـمـل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5864" y="2518099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الـصـفــوفِّ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8952" y="3430391"/>
            <a:ext cx="33028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خــلايـا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9936" y="4365104"/>
            <a:ext cx="16466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7408" y="4338779"/>
            <a:ext cx="40229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مَــرْجِــعٍ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Référence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9896" y="5244319"/>
            <a:ext cx="38788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Colonne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7408" y="5259300"/>
            <a:ext cx="320537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الـصَــفِّ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Ligne</a:t>
            </a:r>
          </a:p>
        </p:txBody>
      </p:sp>
    </p:spTree>
    <p:extLst>
      <p:ext uri="{BB962C8B-B14F-4D97-AF65-F5344CB8AC3E}">
        <p14:creationId xmlns:p14="http://schemas.microsoft.com/office/powerpoint/2010/main" val="393149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الـجــداول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وخــصــائـصـهـا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5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مــا هـي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أنـــواع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الـبــيــانــات الـمُــمْـكِــن اســتـعــمــالـهــا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جـــداول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؟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بَــيَــانَــات الـجــداول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318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5209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17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71664" y="2508032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ــرتَّ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4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1795" y="3408963"/>
            <a:ext cx="39398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مُــعَــايَــنَــةَ وقـــراءةَ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71664" y="2508032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ــرتَّ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8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0170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تُــســتــخــدم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الـجـــداول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وإظــهــارهـا 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هَـــيْـــئَـــةٍ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تُــسَــهِّــلُ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للـمــســتـخــدم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بِــشَــكْــلٍ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أفــضــل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لاِسْــتِــخْــلاصَ الــمــعــلــومــات مــنـهــا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174474" y="1570239"/>
            <a:ext cx="23466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ــظـ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1795" y="3408963"/>
            <a:ext cx="39398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مُــعَــايَــنَــةَ وقـــراءةَ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71664" y="2508032"/>
            <a:ext cx="21572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ــرتَّ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04829" y="4356724"/>
            <a:ext cx="244139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تــحــلــيــلـهــا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873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5075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27448" y="344300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Textes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</a:p>
        </p:txBody>
      </p:sp>
    </p:spTree>
    <p:extLst>
      <p:ext uri="{BB962C8B-B14F-4D97-AF65-F5344CB8AC3E}">
        <p14:creationId xmlns:p14="http://schemas.microsoft.com/office/powerpoint/2010/main" val="29699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27448" y="344300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Textes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0153" y="4380793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Dates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Heures </a:t>
            </a:r>
          </a:p>
        </p:txBody>
      </p:sp>
    </p:spTree>
    <p:extLst>
      <p:ext uri="{BB962C8B-B14F-4D97-AF65-F5344CB8AC3E}">
        <p14:creationId xmlns:p14="http://schemas.microsoft.com/office/powerpoint/2010/main" val="88689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>
                <a:solidFill>
                  <a:srgbClr val="00B050"/>
                </a:solidFill>
              </a:rPr>
              <a:t>بَــيَــانَــات الـجــداول  </a:t>
            </a:r>
            <a:r>
              <a:rPr lang="ar-DZ" sz="4800" b="1" dirty="0" smtClean="0">
                <a:solidFill>
                  <a:srgbClr val="00B050"/>
                </a:solidFill>
              </a:rPr>
              <a:t>ـــ 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indent="0" algn="just" rtl="1">
              <a:lnSpc>
                <a:spcPts val="65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الــبــيــانــات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تُــكْــتَــبُ فـي الـخـــلايـــا يُـــمْــكِــنُ أَنْ تــكــونَ مـن الأصــنــاف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الــتــالــيــة :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1127448" y="3443000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Textes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0153" y="4380793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Dates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   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Heures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2858" y="5318586"/>
            <a:ext cx="101531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صِــيَـــغًـــا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Formule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؛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دَوَالًا 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</a:t>
            </a:r>
          </a:p>
        </p:txBody>
      </p:sp>
    </p:spTree>
    <p:extLst>
      <p:ext uri="{BB962C8B-B14F-4D97-AF65-F5344CB8AC3E}">
        <p14:creationId xmlns:p14="http://schemas.microsoft.com/office/powerpoint/2010/main" val="15155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1" grpId="0" animBg="1"/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3.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	الـصِّـيَـغ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Formules</a:t>
            </a:r>
            <a:r>
              <a:rPr lang="fr-FR" sz="5400" b="1" dirty="0">
                <a:solidFill>
                  <a:srgbClr val="FF0000"/>
                </a:solidFill>
                <a:cs typeface="+mj-cs"/>
              </a:rPr>
              <a:t> 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6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إجْــراء الـحـسـابــات فـي الـمُـجَـدول يـكـون بـاسـتـغـلال الـصـيـغ فـمـاذا تُــمَـثِــل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.3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الـصِّـيَــغــة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44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261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59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35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4491" y="3408012"/>
            <a:ext cx="24774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كــتــابــتـهــا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3408011"/>
            <a:ext cx="1837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81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4491" y="3408012"/>
            <a:ext cx="24774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كــتــابــتـهــا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3408011"/>
            <a:ext cx="1837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11824" y="4345804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64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</a:rPr>
              <a:t>تـعـــريــف الـصِّـيَــغــة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عــبــارة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/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مَــسْــبُــوقَــةً بـ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يـسـاوي ) بـحــيـث يَــقُــوم الــمــســتــخـــدم بـ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داخــل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وَيَــتــولَّـى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الــبــرنــامــج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حِـــسَـــابَ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تـــلــقـــائـــيــا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الــمِـــفْـــتَـــاح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sz="4000" b="1" dirty="0">
                <a:solidFill>
                  <a:srgbClr val="FF0000"/>
                </a:solidFill>
                <a:sym typeface="Symbol" panose="05050102010706020507" pitchFamily="18" charset="2"/>
              </a:rPr>
              <a:t>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 (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Entrée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19755" y="1628800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حــسـابــيـة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4491" y="3408012"/>
            <a:ext cx="24774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كــتــابــتـهــا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58217" y="1628799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مــنـطــقــيــة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43872" y="3408011"/>
            <a:ext cx="18372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خــلــيــة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13454" y="2491207"/>
            <a:ext cx="17001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الـرمـــز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11824" y="4345804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نــتــيــجــتـهــا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32304" y="5248109"/>
            <a:ext cx="23519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تـأكــيــدهـا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79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2.3 - أنــواع الـصِّـيَـغ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نـشــاط 7</a:t>
            </a:r>
            <a:r>
              <a:rPr lang="ar-DZ" sz="5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5400" b="1" dirty="0">
                <a:cs typeface="+mj-cs"/>
              </a:rPr>
              <a:t>حَـــدِّدْ خــصــائـص نَـــوْعَــيْ الـصـيـغ بـاعــتــبـــار الـعــبــارة الَّـتي </a:t>
            </a:r>
            <a:r>
              <a:rPr lang="ar-DZ" sz="5400" b="1" dirty="0" smtClean="0">
                <a:cs typeface="+mj-cs"/>
              </a:rPr>
              <a:t>تُــمــثِّــلُـهـا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1051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185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76120" y="2549768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أعـــدادا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3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76120" y="2549768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أعـــدادا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7339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مــراجــعــا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أ - الـصِّــيَــغ الـحـــســـابـــيــة 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تـحــتــوي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والَّـتي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تَــتَــوسَّــطُــهــا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+   ،   –   ،   *   ،   /   ،   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إلــخ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76120" y="2549768"/>
            <a:ext cx="21533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أعـــدادا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3487561"/>
            <a:ext cx="66236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الـحـــســـابـــيـــة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87339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مــراجــعــا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38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7786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7928" y="3487561"/>
            <a:ext cx="58315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الــمــنــطـــقـــيـــة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60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7928" y="3487561"/>
            <a:ext cx="58315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الــمــنــطـــقـــيـــة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47528" y="4423817"/>
            <a:ext cx="20838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VRAI </a:t>
            </a:r>
          </a:p>
        </p:txBody>
      </p:sp>
    </p:spTree>
    <p:extLst>
      <p:ext uri="{BB962C8B-B14F-4D97-AF65-F5344CB8AC3E}">
        <p14:creationId xmlns:p14="http://schemas.microsoft.com/office/powerpoint/2010/main" val="366476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ب -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الـصِّــيَــغ 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الـمــنــطـــقـــيـــة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:</a:t>
            </a:r>
            <a:endParaRPr lang="fr-FR" sz="4800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تُــمَــثِّــلُ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بَــيْـنَ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بـاســتــغـــلال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الــتــالــيــة  :    &lt;  ،  &gt;  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&lt;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>
                <a:solidFill>
                  <a:srgbClr val="002060"/>
                </a:solidFill>
              </a:rPr>
              <a:t>&gt;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&lt;</a:t>
            </a:r>
            <a:r>
              <a:rPr lang="ar-DZ" sz="16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&gt; ونــتــيـــجــتـهـا إمَّــا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324675" y="2567910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ــقَــ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ارَنَـ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47928" y="3487561"/>
            <a:ext cx="58315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الــمُــعَـــامِـــلات الــمــنــطـــقـــيـــة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19830" y="2549768"/>
            <a:ext cx="229930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قــيــمــتــيــن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47528" y="4423817"/>
            <a:ext cx="20838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VRAI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16280" y="5326864"/>
            <a:ext cx="22973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FAUX</a:t>
            </a:r>
          </a:p>
        </p:txBody>
      </p:sp>
    </p:spTree>
    <p:extLst>
      <p:ext uri="{BB962C8B-B14F-4D97-AF65-F5344CB8AC3E}">
        <p14:creationId xmlns:p14="http://schemas.microsoft.com/office/powerpoint/2010/main" val="407087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8" grpId="0" animBg="1"/>
      <p:bldP spid="10" grpId="0" animBg="1"/>
      <p:bldP spid="1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8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إجْـــرَاء الـحــســابـــات الــمُــعَــقَّــدَةِ يـكـون بـاســتـغــلال الــدَّوَالِ فـمـاذا تُــمَـثِــل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.4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دالـــة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098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7218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1802415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صــيــغــة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88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1802415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صــيــغــة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2689126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تَــهْـــيِـــئَـــتُـهَـا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تـعـــريــف 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مُـــضْـــمَّـــنَـــةٌ ( مُــدْمَــجَــةٌ )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تَـــمَّ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أجــل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1802415"/>
            <a:ext cx="24093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صــيــغــة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39653" y="3622003"/>
            <a:ext cx="32967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ســتــغـــلالــهــا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6" y="2689126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تَــهْـــيِـــئَـــتُـهَـا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9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كــيــف يَــتِــمُ اســتــغــلال الــدَّوَالِ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فـي بــرنـــامــج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؟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كــيــفــيــة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كـــتـــابـــة دالـــة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339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1255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597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89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4584" y="4167265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قِ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ـمًـ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8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4584" y="4167265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قِ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ـمًـ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60296" y="5079310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مَــراجِــعًــا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6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كــيــفــيــة كـــتـــابـــة </a:t>
            </a:r>
            <a:r>
              <a:rPr lang="ar-DZ" sz="4800" b="1" dirty="0" smtClean="0">
                <a:solidFill>
                  <a:srgbClr val="00B050"/>
                </a:solidFill>
              </a:rPr>
              <a:t>دالـــة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105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وســـائـــطُ 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مـــا هــي إِلَّا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الـلازمــة لـهـا لإجـــراء الــعـــمـــلــيــات ، بـحــيــث الــوســائــط قــد تــكــون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لـخــلايــا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إلـخ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055440" y="1600217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6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Paramètre1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Paramètre2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28248" y="3256401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الــمُـعْــطَــيَــات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84584" y="4167265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قِ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ـمًـ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60296" y="5079310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مَــراجِــعًــا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35560" y="5083495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نــطــاقــات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Domaines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32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10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عَــيِّــنْ بـعـض الــدَّوَالِ الأكــثــر اســتــعــمــالا عــنــد إجْـــرَاء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الـحــســابـــات فـي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بــرنـــامــج الــمُــجَـــدْوِل  </a:t>
            </a:r>
            <a:r>
              <a:rPr lang="fr-FR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.4 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2645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264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95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2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9456" y="357770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70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9456" y="357770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9456" y="4507431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70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  <p:bldP spid="1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الـمــجــمــوع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الـوَسَــط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الـحــســابـي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أكــبــر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أصـغــر قــيــمـة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9456" y="1712566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263623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MOYENNE(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9456" y="3577704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4507431"/>
            <a:ext cx="42408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568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  <p:bldP spid="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91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67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3939" y="2639996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51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3939" y="2639996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3706669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28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8" grpId="0" animBg="1"/>
      <p:bldP spid="1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3.4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الــدَوَالّ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الــشــهـــيـــرة  ـــ  تـــابـــع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75000"/>
              </a:lnSpc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الــشَّـــرْطِـــيَّـــة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155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أَوْ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5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الــ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دالـ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الـمَــنْــطِــقِــيَّــة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84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9456" y="1682588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SI(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03939" y="2639996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99456" y="3706669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99456" y="4755122"/>
            <a:ext cx="37539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NON(  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32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8" grpId="0" animBg="1"/>
      <p:bldP spid="12" grpId="0" animBg="1"/>
      <p:bldP spid="1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الـدَوَالّ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11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حَـــدِّدْ فــوائــد اسـتــغــلال الــدَّوَالِ مُــقَــارَنَــةً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بِـالـصِّــيَــغِ الـعَــادِيَــة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.4 فــوائـــد اســتــعــمــال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الــدَوَالّ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360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</a:t>
            </a:r>
            <a:r>
              <a:rPr lang="ar-DZ" sz="4800" b="1" dirty="0">
                <a:solidFill>
                  <a:srgbClr val="00B050"/>
                </a:solidFill>
              </a:rPr>
              <a:t>الــدَوَالّ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تــبــســيــط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/>
              <a:t>مــثــال</a:t>
            </a:r>
            <a:r>
              <a:rPr lang="ar-DZ" sz="4000" b="1" baseline="-25000" dirty="0"/>
              <a:t>1</a:t>
            </a:r>
            <a:r>
              <a:rPr lang="ar-DZ" sz="4000" b="1" dirty="0"/>
              <a:t>  </a:t>
            </a:r>
            <a:r>
              <a:rPr lang="ar-DZ" sz="4000" b="1" dirty="0" smtClean="0"/>
              <a:t>:</a:t>
            </a:r>
          </a:p>
          <a:p>
            <a:pPr marL="0" indent="0" algn="just" rtl="1">
              <a:buNone/>
            </a:pPr>
            <a:endParaRPr lang="ar-DZ" sz="15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/>
              <a:t>►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B3+B4+B5+ …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B749+B750</a:t>
            </a:r>
            <a:endParaRPr lang="ar-DZ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7135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</a:t>
            </a:r>
            <a:r>
              <a:rPr lang="ar-DZ" sz="4800" b="1" dirty="0">
                <a:solidFill>
                  <a:srgbClr val="00B050"/>
                </a:solidFill>
              </a:rPr>
              <a:t>الــدَوَالّ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تــبــســيــط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/>
              <a:t>مــثــال</a:t>
            </a:r>
            <a:r>
              <a:rPr lang="ar-DZ" sz="4000" b="1" baseline="-25000" dirty="0"/>
              <a:t>1</a:t>
            </a:r>
            <a:r>
              <a:rPr lang="ar-DZ" sz="4000" b="1" dirty="0"/>
              <a:t>  </a:t>
            </a:r>
            <a:r>
              <a:rPr lang="ar-DZ" sz="4000" b="1" dirty="0" smtClean="0"/>
              <a:t>:</a:t>
            </a:r>
          </a:p>
          <a:p>
            <a:pPr marL="0" indent="0" algn="just" rtl="1">
              <a:buNone/>
            </a:pPr>
            <a:endParaRPr lang="ar-DZ" sz="15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/>
              <a:t>►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B3+B4+B5+ …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B749+B750</a:t>
            </a:r>
            <a:endParaRPr lang="ar-DZ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5735960" y="1734993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صِّــيَ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66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</a:t>
            </a:r>
            <a:r>
              <a:rPr lang="ar-DZ" sz="4800" b="1" dirty="0">
                <a:solidFill>
                  <a:srgbClr val="00B050"/>
                </a:solidFill>
              </a:rPr>
              <a:t>الــدَوَالّ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تــبــســيــط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endParaRPr lang="fr-FR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/>
              <a:t>مــثــال</a:t>
            </a:r>
            <a:r>
              <a:rPr lang="ar-DZ" sz="4000" b="1" baseline="-25000" dirty="0"/>
              <a:t>1</a:t>
            </a:r>
            <a:r>
              <a:rPr lang="ar-DZ" sz="4000" b="1" dirty="0"/>
              <a:t>  </a:t>
            </a:r>
            <a:r>
              <a:rPr lang="ar-DZ" sz="4000" b="1" dirty="0" smtClean="0"/>
              <a:t>:</a:t>
            </a:r>
          </a:p>
          <a:p>
            <a:pPr marL="0" indent="0" algn="just" rtl="1">
              <a:buNone/>
            </a:pPr>
            <a:endParaRPr lang="ar-DZ" sz="1500" b="1" dirty="0" smtClean="0"/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/>
              <a:t>►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B3+B4+B5+ …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B749+B750</a:t>
            </a:r>
            <a:endParaRPr lang="ar-DZ" sz="36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5735960" y="1734993"/>
            <a:ext cx="26253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صِّــيَ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38356" y="4099614"/>
            <a:ext cx="41044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</a:rPr>
              <a:t>﴿</a:t>
            </a:r>
            <a:r>
              <a:rPr lang="en-US" sz="4000" b="1" dirty="0" smtClean="0">
                <a:solidFill>
                  <a:srgbClr val="FF0000"/>
                </a:solidFill>
              </a:rPr>
              <a:t>B3:B750</a:t>
            </a:r>
            <a:r>
              <a:rPr lang="ar-DZ" sz="4000" b="1" dirty="0" smtClean="0">
                <a:solidFill>
                  <a:srgbClr val="FF0000"/>
                </a:solidFill>
              </a:rPr>
              <a:t>﴾</a:t>
            </a:r>
            <a:r>
              <a:rPr lang="en-US" sz="4000" b="1" dirty="0">
                <a:solidFill>
                  <a:srgbClr val="FF0000"/>
                </a:solidFill>
              </a:rPr>
              <a:t>=Somme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13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تــنــفــيــذ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أَوْ لَا</a:t>
            </a:r>
            <a:r>
              <a:rPr lang="ar-DZ" sz="4000" b="1" dirty="0"/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تــنــفــيــذهـا بـالـصِّــيَــغِ الـعَـــادِيَّـــة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15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مــثــال</a:t>
            </a:r>
            <a:r>
              <a:rPr lang="ar-DZ" sz="4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660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تــنــفــيــذ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أَوْ لَا</a:t>
            </a:r>
            <a:r>
              <a:rPr lang="ar-DZ" sz="4000" b="1" dirty="0"/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تــنــفــيــذهـا بـالـصِّــيَــغِ الـعَـــادِيَّـــة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15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مــثــال</a:t>
            </a:r>
            <a:r>
              <a:rPr lang="ar-DZ" sz="4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4655840" y="1722929"/>
            <a:ext cx="24046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مُــعَـــقَّـــدَة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424" y="1722929"/>
            <a:ext cx="1984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يُــمْـكِــنُ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00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تــنــفــيــذ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أَوْ لَا</a:t>
            </a:r>
            <a:r>
              <a:rPr lang="ar-DZ" sz="4000" b="1" dirty="0"/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تــنــفــيــذهـا بـالـصِّــيَــغِ الـعَـــادِيَّـــة 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fr-FR" sz="15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مــثــال</a:t>
            </a:r>
            <a:r>
              <a:rPr lang="ar-DZ" sz="4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3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4655840" y="1722929"/>
            <a:ext cx="24046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مُــعَـــقَّـــدَة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08884" y="3931367"/>
            <a:ext cx="43633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</a:rPr>
              <a:t>﴿C2:E7﴾=Max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424" y="1722929"/>
            <a:ext cx="1984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يُــمْـكِــنُ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6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تــوفــيــر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إمـكــانــيــة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عــنــد إجـــراء الـعــمــلــيــات وذلـك بـاســتــغـــلال </a:t>
            </a:r>
            <a:r>
              <a:rPr lang="ar-DZ" sz="4000" b="1" dirty="0" smtClean="0">
                <a:solidFill>
                  <a:srgbClr val="002060"/>
                </a:solidFill>
              </a:rPr>
              <a:t>الـدَّالَـــةَ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يــســمــح بـاتِّـخــاذِ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الــقـــرارات الـمــنـــاســبــة .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0973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تــوفــيــر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إمـكــانــيــة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عــنــد إجـــراء الـعــمــلــيــات وذلـك بـاســتــغـــلال </a:t>
            </a:r>
            <a:r>
              <a:rPr lang="ar-DZ" sz="4000" b="1" dirty="0" smtClean="0">
                <a:solidFill>
                  <a:srgbClr val="002060"/>
                </a:solidFill>
              </a:rPr>
              <a:t>الـدَّالَـــةَ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يــســمــح بـاتِّـخــاذِ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الــقـــرارات الـمــنـــاســبــة .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2135560" y="1700808"/>
            <a:ext cx="4176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إِدْخَـــال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الــشُـــرُوطٍ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8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4800" b="1" dirty="0">
                <a:solidFill>
                  <a:srgbClr val="00B050"/>
                </a:solidFill>
              </a:rPr>
              <a:t>فــوائـــد </a:t>
            </a:r>
            <a:r>
              <a:rPr lang="ar-DZ" sz="4800" b="1" dirty="0" smtClean="0">
                <a:solidFill>
                  <a:srgbClr val="00B050"/>
                </a:solidFill>
              </a:rPr>
              <a:t>اســتــعــمــال الــدَوَالّ ــ تــابــع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تــوفــيــر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إمـكــانــيــة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عــنــد إجـــراء الـعــمــلــيــات وذلـك بـاســتــغـــلال </a:t>
            </a:r>
            <a:r>
              <a:rPr lang="ar-DZ" sz="4000" b="1" dirty="0" smtClean="0">
                <a:solidFill>
                  <a:srgbClr val="002060"/>
                </a:solidFill>
              </a:rPr>
              <a:t>الـدَّالَـــةَ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مــا يــســمــح بـاتِّـخــاذِ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الــقـــرارات الـمــنـــاســبــة .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2135560" y="1700808"/>
            <a:ext cx="41764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إِدْخَـــال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الــشُـــرُوطٍ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47747" y="3524115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FF0000"/>
                </a:solidFill>
              </a:rPr>
              <a:t>الــشَّــرْطِـــيَــة  </a:t>
            </a:r>
            <a:r>
              <a:rPr lang="ar-SA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482422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6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600" b="1" u="sng" dirty="0" smtClean="0">
                <a:solidFill>
                  <a:srgbClr val="0070C0"/>
                </a:solidFill>
                <a:cs typeface="+mj-cs"/>
              </a:rPr>
              <a:t>نـشــاط 12</a:t>
            </a:r>
            <a:r>
              <a:rPr lang="ar-DZ" sz="4600" b="1" dirty="0" smtClean="0">
                <a:solidFill>
                  <a:srgbClr val="0070C0"/>
                </a:solidFill>
                <a:cs typeface="+mj-cs"/>
              </a:rPr>
              <a:t> :</a:t>
            </a:r>
            <a:r>
              <a:rPr lang="fr-FR" sz="4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600" b="1" dirty="0" smtClean="0">
                <a:cs typeface="+mj-cs"/>
              </a:rPr>
              <a:t>أَكْــمِــلْ بَــيَــانَــاتِ الــجَـــدْوَلِ الــتَــالِـي بِـاِسْـــتِــعْـــمَـــالِ </a:t>
            </a:r>
            <a:r>
              <a:rPr lang="ar-DZ" sz="4600" b="1" u="sng" dirty="0" smtClean="0">
                <a:solidFill>
                  <a:srgbClr val="FF0000"/>
                </a:solidFill>
                <a:cs typeface="+mj-cs"/>
              </a:rPr>
              <a:t>مَــرَاجِــعِ الــخَــلَايَــــا</a:t>
            </a:r>
            <a:r>
              <a:rPr lang="ar-DZ" sz="4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600" b="1" dirty="0" smtClean="0">
                <a:cs typeface="+mj-cs"/>
              </a:rPr>
              <a:t>ولَــيْــسَ </a:t>
            </a:r>
            <a:r>
              <a:rPr lang="ar-DZ" sz="4600" b="1" u="sng" dirty="0" smtClean="0">
                <a:cs typeface="+mj-cs"/>
              </a:rPr>
              <a:t>الــقِـــيَــمَ الــمَــحْـــفُــــوظَـــةَ </a:t>
            </a:r>
            <a:r>
              <a:rPr lang="ar-DZ" sz="4600" b="1" dirty="0" smtClean="0">
                <a:cs typeface="+mj-cs"/>
              </a:rPr>
              <a:t>فِــيـهَـا</a:t>
            </a:r>
            <a:r>
              <a:rPr lang="fr-FR" sz="4600" b="1" dirty="0" smtClean="0">
                <a:cs typeface="+mj-cs"/>
              </a:rPr>
              <a:t> </a:t>
            </a:r>
            <a:r>
              <a:rPr lang="ar-SA" sz="4600" b="1" dirty="0" smtClean="0">
                <a:cs typeface="+mj-cs"/>
              </a:rPr>
              <a:t>بِــحَـــيْـــث </a:t>
            </a:r>
            <a:r>
              <a:rPr lang="ar-SA" sz="4600" b="1" dirty="0" smtClean="0">
                <a:solidFill>
                  <a:srgbClr val="0070C0"/>
                </a:solidFill>
                <a:cs typeface="+mj-cs"/>
              </a:rPr>
              <a:t>مِ</a:t>
            </a:r>
            <a:r>
              <a:rPr lang="ar-DZ" sz="4600" b="1" dirty="0">
                <a:solidFill>
                  <a:srgbClr val="0070C0"/>
                </a:solidFill>
                <a:cs typeface="+mj-cs"/>
              </a:rPr>
              <a:t>ـ</a:t>
            </a:r>
            <a:r>
              <a:rPr lang="ar-SA" sz="4600" b="1" dirty="0" smtClean="0">
                <a:solidFill>
                  <a:srgbClr val="0070C0"/>
                </a:solidFill>
                <a:cs typeface="+mj-cs"/>
              </a:rPr>
              <a:t>ـنْ الــخَـــلِـــيـَــةِ   </a:t>
            </a:r>
            <a:r>
              <a:rPr lang="ar-SA" sz="4600" b="1" dirty="0">
                <a:solidFill>
                  <a:srgbClr val="0070C0"/>
                </a:solidFill>
                <a:cs typeface="+mj-cs"/>
              </a:rPr>
              <a:t>①  </a:t>
            </a:r>
            <a:r>
              <a:rPr lang="ar-SA" sz="4600" b="1" dirty="0" smtClean="0">
                <a:solidFill>
                  <a:srgbClr val="0070C0"/>
                </a:solidFill>
                <a:cs typeface="+mj-cs"/>
              </a:rPr>
              <a:t>إِلَـى </a:t>
            </a:r>
            <a:r>
              <a:rPr lang="ar-SA" sz="4600" b="1" dirty="0">
                <a:solidFill>
                  <a:srgbClr val="0070C0"/>
                </a:solidFill>
              </a:rPr>
              <a:t>الــخَـــلِـــيـَــةِ </a:t>
            </a:r>
            <a:r>
              <a:rPr lang="ar-SA" sz="4600" b="1" dirty="0">
                <a:solidFill>
                  <a:srgbClr val="0070C0"/>
                </a:solidFill>
                <a:cs typeface="+mj-cs"/>
              </a:rPr>
              <a:t>③  </a:t>
            </a:r>
            <a:r>
              <a:rPr lang="ar-SA" sz="4600" b="1" dirty="0" smtClean="0">
                <a:cs typeface="+mj-cs"/>
              </a:rPr>
              <a:t>يَــقُــومُ الــطَـــالِـــبُ</a:t>
            </a:r>
            <a:r>
              <a:rPr lang="ar-DZ" sz="4600" b="1" dirty="0" smtClean="0">
                <a:cs typeface="+mj-cs"/>
              </a:rPr>
              <a:t> </a:t>
            </a:r>
            <a:r>
              <a:rPr lang="ar-DZ" sz="4800" b="1" dirty="0" smtClean="0"/>
              <a:t>بـإِدْرَاجِ</a:t>
            </a:r>
            <a:r>
              <a:rPr lang="ar-DZ" sz="4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5032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600" b="1" u="sng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الـصِّــيـغَــةِ الــمُــنَـــاسِــبَــةِ</a:t>
            </a:r>
            <a:r>
              <a:rPr lang="ar-DZ" sz="4000" b="1" dirty="0" smtClean="0">
                <a:cs typeface="+mj-cs"/>
              </a:rPr>
              <a:t>، بَــيْــنَــمَـا 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مِـنْ ا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ل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ـخَــلِـــيـَـةِ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en-US" sz="4000" b="1" dirty="0">
                <a:solidFill>
                  <a:srgbClr val="FF0000"/>
                </a:solidFill>
                <a:cs typeface="+mj-cs"/>
              </a:rPr>
              <a:t>④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إِلَـى 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ا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ل</a:t>
            </a:r>
            <a:r>
              <a:rPr lang="ar-SA" sz="4000" b="1" dirty="0" smtClean="0">
                <a:solidFill>
                  <a:srgbClr val="FF0000"/>
                </a:solidFill>
                <a:cs typeface="+mj-cs"/>
              </a:rPr>
              <a:t>ـخَــلِـــيـَـةِ</a:t>
            </a:r>
            <a:r>
              <a:rPr lang="en-US" sz="4000" b="1" dirty="0" smtClean="0">
                <a:solidFill>
                  <a:srgbClr val="FF0000"/>
                </a:solidFill>
                <a:cs typeface="+mj-cs"/>
              </a:rPr>
              <a:t>⑦ </a:t>
            </a:r>
            <a:r>
              <a:rPr lang="ar-DZ" sz="4000" b="1" dirty="0" smtClean="0">
                <a:cs typeface="+mj-cs"/>
              </a:rPr>
              <a:t> يَــقُــوم بِـاِسْــتِــغْـــلَالِ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الـدَّالَّـــةِ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الــمُــنَـــاسِــبَــةِ </a:t>
            </a:r>
            <a:r>
              <a:rPr lang="ar-DZ" sz="4000" b="1" dirty="0" smtClean="0">
                <a:cs typeface="+mj-cs"/>
              </a:rPr>
              <a:t>عِــــلْــــمًـــا </a:t>
            </a:r>
            <a:r>
              <a:rPr lang="ar-DZ" sz="4000" b="1" dirty="0">
                <a:cs typeface="+mj-cs"/>
              </a:rPr>
              <a:t>أَنَّ </a:t>
            </a:r>
            <a:r>
              <a:rPr lang="ar-DZ" sz="4000" b="1" dirty="0" smtClean="0">
                <a:cs typeface="+mj-cs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الــمُــــدَخَّـــــرَات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 </a:t>
            </a:r>
            <a:r>
              <a:rPr lang="en-US" sz="4000" b="1" dirty="0" smtClean="0">
                <a:solidFill>
                  <a:srgbClr val="002060"/>
                </a:solidFill>
                <a:cs typeface="+mj-cs"/>
              </a:rPr>
              <a:t>=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en-US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الــمَــــدَاخِـــــيــــل  ‒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الــمَــصَــارِيـــف الأَسَــاسِــيَّــة +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الــمَــصَــارِيـــف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الـثَــانَــوِيَّــة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7127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8319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2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6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50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9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15880" y="5679510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=Max(D3:D5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 flipH="1" flipV="1">
            <a:off x="6938766" y="5319147"/>
            <a:ext cx="309362" cy="41410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83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15880" y="5679510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=Max(D3:D5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56664" y="4958112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=Min(D3:D5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 flipH="1" flipV="1">
            <a:off x="6938766" y="5319147"/>
            <a:ext cx="309362" cy="41410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01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.4 - </a:t>
            </a:r>
            <a:r>
              <a:rPr lang="ar-DZ" sz="4800" b="1" dirty="0" smtClean="0">
                <a:solidFill>
                  <a:srgbClr val="00B050"/>
                </a:solidFill>
              </a:rPr>
              <a:t>وَضْـــعِـــــيَــــةٌ </a:t>
            </a:r>
            <a:r>
              <a:rPr lang="ar-DZ" sz="4800" b="1" dirty="0" err="1" smtClean="0">
                <a:solidFill>
                  <a:srgbClr val="00B050"/>
                </a:solidFill>
              </a:rPr>
              <a:t>إِدْمَــــاجِــــيَــــةٌ</a:t>
            </a:r>
            <a:r>
              <a:rPr lang="ar-DZ" sz="4800" b="1" dirty="0" smtClean="0">
                <a:solidFill>
                  <a:srgbClr val="00B050"/>
                </a:solidFill>
              </a:rPr>
              <a:t>  ـــ  تـــابــــع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pic>
        <p:nvPicPr>
          <p:cNvPr id="5" name="Espace réservé du contenu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74638"/>
            <a:ext cx="11031016" cy="6081715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/>
          <p:cNvSpPr/>
          <p:nvPr/>
        </p:nvSpPr>
        <p:spPr>
          <a:xfrm>
            <a:off x="1487488" y="2132857"/>
            <a:ext cx="2160240" cy="57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=C3-D3-E3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87488" y="2854625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=C4-D4-E4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519427"/>
            <a:ext cx="2160240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=C5-D5-E5</a:t>
            </a:r>
            <a:endParaRPr lang="fr-FR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44684" y="4979805"/>
            <a:ext cx="2592288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=Somme(C3:C5)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15880" y="5679510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=Max(D3:D5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56664" y="4958112"/>
            <a:ext cx="3384376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=Min(D3:D5 ; E3:E5)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71464" y="5657232"/>
            <a:ext cx="2736304" cy="5743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=Moyenne(F3:F5)</a:t>
            </a:r>
            <a:endParaRPr lang="fr-FR" sz="2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 flipH="1" flipV="1">
            <a:off x="6938766" y="5319147"/>
            <a:ext cx="309362" cy="414109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056447" y="5299044"/>
            <a:ext cx="295137" cy="43421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78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فَـــرْز 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الـبــيــانــات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Tri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12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عَــــرِّفْ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فَــــرْزَ الــبــيــانـــات ثُـــمَ حَـــدِّدْ خـــصـــائـــصــه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2943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8276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639616" y="2243501"/>
            <a:ext cx="34134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3319" y="3162790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7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639616" y="2243501"/>
            <a:ext cx="34134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3319" y="3162790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92048" y="4072730"/>
            <a:ext cx="2163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الـقِــيَــم</a:t>
            </a:r>
          </a:p>
        </p:txBody>
      </p:sp>
    </p:spTree>
    <p:extLst>
      <p:ext uri="{BB962C8B-B14F-4D97-AF65-F5344CB8AC3E}">
        <p14:creationId xmlns:p14="http://schemas.microsoft.com/office/powerpoint/2010/main" val="191027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تـعـــريــف فـــرز 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فـــرز بــيــانــات جـــدول 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تــصــاعـــديـــا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تـــنــازلـــيـــا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حَـــسْـــبَ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الـعـــدديـــة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الــنــصــيــة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... ) الــمــوجـــودة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فِـي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639616" y="2243501"/>
            <a:ext cx="34134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73319" y="3162790"/>
            <a:ext cx="28083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92048" y="4072730"/>
            <a:ext cx="2163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الـقِــيَــم</a:t>
            </a:r>
          </a:p>
        </p:txBody>
      </p:sp>
      <p:sp>
        <p:nvSpPr>
          <p:cNvPr id="8" name="Rectangle 7"/>
          <p:cNvSpPr/>
          <p:nvPr/>
        </p:nvSpPr>
        <p:spPr>
          <a:xfrm>
            <a:off x="7032104" y="4994213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62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</a:t>
            </a:r>
            <a:r>
              <a:rPr lang="ar-DZ" sz="4800" b="1" dirty="0">
                <a:solidFill>
                  <a:srgbClr val="00B050"/>
                </a:solidFill>
              </a:rPr>
              <a:t>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	فــي الــخـــلايـــا ذات مــحـــتــوى نــصـي يــكــون الــفـــرز حــســب الـتــرتــيــب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بــيــنـمـا فـي الـخــلايـــا الّـتي تـتــضـمَّــنُ تــواريــخ أو أوقـــات فــالـفـــرز يــكــون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الـعــكــس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4488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</a:t>
            </a:r>
            <a:r>
              <a:rPr lang="ar-DZ" sz="4800" b="1" dirty="0">
                <a:solidFill>
                  <a:srgbClr val="00B050"/>
                </a:solidFill>
              </a:rPr>
              <a:t>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	فــي الــخـــلايـــا ذات مــحـــتــوى نــصـي يــكــون الــفـــرز حــســب الـتــرتــيــب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بــيــنـمـا فـي الـخــلايـــا الّـتي تـتــضـمَّــنُ تــواريــخ أو أوقـــات فــالـفـــرز يــكــون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الـعــكــس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007768" y="316278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لـهــِجَــائِـي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64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</a:t>
            </a:r>
            <a:r>
              <a:rPr lang="ar-DZ" sz="4800" b="1" dirty="0">
                <a:solidFill>
                  <a:srgbClr val="00B050"/>
                </a:solidFill>
              </a:rPr>
              <a:t>الـبــيــانــات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	فــي الــخـــلايـــا ذات مــحـــتــوى نــصـي يــكــون الــفـــرز حــســب الـتــرتــيــب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بــيــنـمـا فـي الـخــلايـــا الّـتي تـتــضـمَّــنُ تــواريــخ أو أوقـــات فــالـفـــرز يــكــون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الـعــكــس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007768" y="316278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لـهــِجَــائِـي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16080" y="5013862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الأَح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دَثِ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25926" y="5013861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قْـــدَمِ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91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83557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976320" y="31743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77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976320" y="31743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75720" y="3174338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دَّة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.5 </a:t>
            </a:r>
            <a:r>
              <a:rPr lang="ar-DZ" sz="4800" b="1" dirty="0">
                <a:solidFill>
                  <a:srgbClr val="00B050"/>
                </a:solidFill>
              </a:rPr>
              <a:t>خــصـائـص </a:t>
            </a:r>
            <a:r>
              <a:rPr lang="ar-DZ" sz="4800" b="1" dirty="0" smtClean="0">
                <a:solidFill>
                  <a:srgbClr val="00B050"/>
                </a:solidFill>
              </a:rPr>
              <a:t>فـــرز الـبــيــانــات  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يُــمْــكِــنُ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تَــتِــمَّ عــمــلــيــة الــفَـــرْزِ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عَـــمُــودٍ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كــمــا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 تــكــون عــمــلــيــة الــفـــرز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حــســب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976320" y="31743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75720" y="3174338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دَّة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31504" y="4059520"/>
            <a:ext cx="25941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الـصُّــفُـــوف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12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مــنــزلـي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قَـــارِنْ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بــيـن الـصِّــيــغِ والــدَوَالِّ مـع إبْـــرازِ فـــوائـــد اســتــعـــمـــال الــدَوَالِّ مُـــدَعِّـــمًــا إِجَـــابَـــتَــك بــأمـــثـــلـــة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.</a:t>
            </a:r>
            <a:endParaRPr lang="ar-DZ" sz="4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08/02/2026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896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08/02/2026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28468</TotalTime>
  <Words>4842</Words>
  <Application>Microsoft Office PowerPoint</Application>
  <PresentationFormat>Grand écran</PresentationFormat>
  <Paragraphs>886</Paragraphs>
  <Slides>132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132</vt:i4>
      </vt:variant>
    </vt:vector>
  </HeadingPairs>
  <TitlesOfParts>
    <vt:vector size="143" baseType="lpstr">
      <vt:lpstr>Arial Unicode MS</vt:lpstr>
      <vt:lpstr>宋体</vt:lpstr>
      <vt:lpstr>宋体</vt:lpstr>
      <vt:lpstr>Arial</vt:lpstr>
      <vt:lpstr>Calibri</vt:lpstr>
      <vt:lpstr>Droid Sans Fallback</vt:lpstr>
      <vt:lpstr>Symbol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1. مــفــاهــيــم أســـاســـيـــة عــن الـمُــجَــدْوِل</vt:lpstr>
      <vt:lpstr>1. مــفــاهــيــم أســـاســـيـــة عــن الـمُــجَــدْوِل</vt:lpstr>
      <vt:lpstr>أتـذكـر ( 2.1 الـحُــزْمَــة الــمَـــكْـــتَـــبِـــيَـــة ــ تـــابــع )</vt:lpstr>
      <vt:lpstr>أتـذكـر ( 1.1  تـعـــريــف الــمــجــدول  EXCEL)</vt:lpstr>
      <vt:lpstr>أتـذكـر ( 1.1  تـعـــريــف الــمــجــدول  EXCEL)</vt:lpstr>
      <vt:lpstr>أتـذكـر ( 1.1  تـعـــريــف الــمــجــدول  EXCEL)</vt:lpstr>
      <vt:lpstr>أتـذكـر ( 1.1  تـعـــريــف الــمــجــدول  EXCEL)</vt:lpstr>
      <vt:lpstr>1. مــفــاهــيــم أســـاســـيـــة عــن الـمُــجَــدْوِل</vt:lpstr>
      <vt:lpstr>2. مـفــهـــوم الـمــســتــنــدDocument </vt:lpstr>
      <vt:lpstr>1. مــفــاهــيــم أســـاســـيـــة عــن الـمُــجَــدْوِل</vt:lpstr>
      <vt:lpstr>أتـذكـر ( 2.1 الـحُــزْمَــة الــمَـــكْـــتَـــبِـــيَـــة ــ تـــابــع )</vt:lpstr>
      <vt:lpstr>1. مــفــاهــيــم أســـاســـيـــة عــن الـمُــجَــدْوِل</vt:lpstr>
      <vt:lpstr>1. مــفــاهــيــم أســـاســـيـــة عــن الـمُــجَــدْوِل</vt:lpstr>
      <vt:lpstr>أتـذكـر ( 2.1 تـعـــريــف الــمُــصَــنَّــف  Classeur )</vt:lpstr>
      <vt:lpstr>أتـذكـر ( 2.1 تـعـــريــف الــمُــصَــنَّــف  Classeur )</vt:lpstr>
      <vt:lpstr>أتـذكـر ( 2.1 تـعـــريــف الــمُــصَــنَّــف  Classeur )</vt:lpstr>
      <vt:lpstr>أتـذكـر ( 2.1 تـعـــريــف الــمُــصَــنَّــف  Classeur )</vt:lpstr>
      <vt:lpstr>أتـذكـر ( 2.1 تـعـــريــف الــمُــصَــنَّــف  Classeur )</vt:lpstr>
      <vt:lpstr>1. مــفــاهــيــم أســـاســـيـــة عــن الـمُــجَــدْوِل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أتـذكـر ( 3.1 تـعـــريــف ورقـــة  عــمــل  ــ  تـــابــع )</vt:lpstr>
      <vt:lpstr>2. الـجــداول وخــصــائـصـهـا :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أتـذكـر ( 1.2 تـعـــريــف الـجــدول  Tableau )</vt:lpstr>
      <vt:lpstr>2. الـجــداول وخــصــائـصـهـا :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)</vt:lpstr>
      <vt:lpstr>أتـذكـر ( 2.2 بَــيَــانَــات الـجــداول  ـــ  تـــابــع )</vt:lpstr>
      <vt:lpstr>أتـذكـر ( 2.2 بَــيَــانَــات الـجــداول  ـــ  تـــابــع )</vt:lpstr>
      <vt:lpstr>أتـذكـر ( 2.2 بَــيَــانَــات الـجــداول  ـــ  تـــابــع )</vt:lpstr>
      <vt:lpstr>أتـذكـر ( 2.2 بَــيَــانَــات الـجــداول  ـــ  تـــابــع )</vt:lpstr>
      <vt:lpstr>3. الـصِّـيَـغ   Formules  :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أتـذكـر ( 1.3 تـعـــريــف الـصِّـيَــغــة )</vt:lpstr>
      <vt:lpstr>2.3 - أنــواع الـصِّـيَـغ</vt:lpstr>
      <vt:lpstr>أ - الـصِّــيَــغ الـحـــســـابـــيــة :</vt:lpstr>
      <vt:lpstr>أ - الـصِّــيَــغ الـحـــســـابـــيــة :</vt:lpstr>
      <vt:lpstr>أ - الـصِّــيَــغ الـحـــســـابـــيــة :</vt:lpstr>
      <vt:lpstr>أ - الـصِّــيَــغ الـحـــســـابـــيــة :</vt:lpstr>
      <vt:lpstr>ب - الـصِّــيَــغ الـمــنــطـــقـــيـــة :</vt:lpstr>
      <vt:lpstr>ب - الـصِّــيَــغ الـمــنــطـــقـــيـــة :</vt:lpstr>
      <vt:lpstr>ب - الـصِّــيَــغ الـمــنــطـــقـــيـــة :</vt:lpstr>
      <vt:lpstr>ب - الـصِّــيَــغ الـمــنــطـــقـــيـــة :</vt:lpstr>
      <vt:lpstr>ب - الـصِّــيَــغ الـمــنــطـــقـــيـــة :</vt:lpstr>
      <vt:lpstr>4. الـدَوَالّ Fonctions </vt:lpstr>
      <vt:lpstr>أتـذكـر ( 1.4 تـعـــريــف دالـــة )</vt:lpstr>
      <vt:lpstr>أتـذكـر ( 1.4 تـعـــريــف دالـــة )</vt:lpstr>
      <vt:lpstr>أتـذكـر ( 1.4 تـعـــريــف دالـــة )</vt:lpstr>
      <vt:lpstr>أتـذكـر ( 1.4 تـعـــريــف دالـــة )</vt:lpstr>
      <vt:lpstr>4. الـدَوَالّ Fonctions 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أتـذكـر ( 2.4 كــيــفــيــة كـــتـــابـــة دالـــة )</vt:lpstr>
      <vt:lpstr>4. الـدَوَالّ Fonctions 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أتـذكـر ( 3.4 الــدَوَالّ الــشــهـــيـــرة  ـــ  تـــابـــع )</vt:lpstr>
      <vt:lpstr>4. الـدَوَالّ Fonctions </vt:lpstr>
      <vt:lpstr>أتـذكـر ( 4.4 فــوائـــد اســتــعــمــال الــدَوَالّ )</vt:lpstr>
      <vt:lpstr>أتـذكـر ( 4.4 فــوائـــد اســتــعــمــال الــدَوَالّ )</vt:lpstr>
      <vt:lpstr>أتـذكـر ( 4.4 فــوائـــد اســتــعــمــال الــدَوَالّ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أتـذكـر ( 4.4 فــوائـــد اســتــعــمــال الــدَوَالّ ــ تــابــع )</vt:lpstr>
      <vt:lpstr>5.4 - وَضْـــعِـــــيَــــةٌ إِدْمَــــاجِــــيَــــةٌ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5.4 - وَضْـــعِـــــيَــــةٌ إِدْمَــــاجِــــيَــــةٌ  ـــ  تـــابــــع </vt:lpstr>
      <vt:lpstr>5. فَـــرْز الـبــيــانــات  Le Tri</vt:lpstr>
      <vt:lpstr>1.5 تـعـــريــف فـــرز الـبــيــانــات </vt:lpstr>
      <vt:lpstr>1.5 تـعـــريــف فـــرز الـبــيــانــات </vt:lpstr>
      <vt:lpstr>1.5 تـعـــريــف فـــرز الـبــيــانــات </vt:lpstr>
      <vt:lpstr>1.5 تـعـــريــف فـــرز الـبــيــانــات </vt:lpstr>
      <vt:lpstr>2.5 خــصـائـص فـــرز الـبــيــانــات </vt:lpstr>
      <vt:lpstr>2.5 خــصـائـص فـــرز الـبــيــانــات </vt:lpstr>
      <vt:lpstr>2.5 خــصـائـص فـــرز الـبــيــانــات </vt:lpstr>
      <vt:lpstr>2.5 خــصـائـص فـــرز الـبــيــانــات  ـــ  تـــابـــع </vt:lpstr>
      <vt:lpstr>2.5 خــصـائـص فـــرز الـبــيــانــات  ـــ  تـــابـــع </vt:lpstr>
      <vt:lpstr>2.5 خــصـائـص فـــرز الـبــيــانــات  ـــ  تـــابـــع </vt:lpstr>
      <vt:lpstr>2.5 خــصـائـص فـــرز الـبــيــانــات  ـــ  تـــابـــع </vt:lpstr>
      <vt:lpstr>واجــب مــنــزلـي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2422</cp:revision>
  <dcterms:created xsi:type="dcterms:W3CDTF">2015-11-30T21:00:22Z</dcterms:created>
  <dcterms:modified xsi:type="dcterms:W3CDTF">2026-02-08T08:17:40Z</dcterms:modified>
</cp:coreProperties>
</file>