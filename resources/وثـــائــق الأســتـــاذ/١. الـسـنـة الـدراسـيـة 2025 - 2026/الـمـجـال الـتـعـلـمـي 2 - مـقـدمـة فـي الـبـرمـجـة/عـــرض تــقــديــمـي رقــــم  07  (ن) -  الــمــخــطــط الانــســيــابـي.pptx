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9"/>
  </p:notesMasterIdLst>
  <p:sldIdLst>
    <p:sldId id="273" r:id="rId3"/>
    <p:sldId id="291" r:id="rId4"/>
    <p:sldId id="552" r:id="rId5"/>
    <p:sldId id="553" r:id="rId6"/>
    <p:sldId id="590" r:id="rId7"/>
    <p:sldId id="686" r:id="rId8"/>
    <p:sldId id="685" r:id="rId9"/>
    <p:sldId id="684" r:id="rId10"/>
    <p:sldId id="554" r:id="rId11"/>
    <p:sldId id="687" r:id="rId12"/>
    <p:sldId id="555" r:id="rId13"/>
    <p:sldId id="591" r:id="rId14"/>
    <p:sldId id="689" r:id="rId15"/>
    <p:sldId id="688" r:id="rId16"/>
    <p:sldId id="556" r:id="rId17"/>
    <p:sldId id="557" r:id="rId18"/>
    <p:sldId id="592" r:id="rId19"/>
    <p:sldId id="694" r:id="rId20"/>
    <p:sldId id="693" r:id="rId21"/>
    <p:sldId id="692" r:id="rId22"/>
    <p:sldId id="691" r:id="rId23"/>
    <p:sldId id="690" r:id="rId24"/>
    <p:sldId id="593" r:id="rId25"/>
    <p:sldId id="724" r:id="rId26"/>
    <p:sldId id="723" r:id="rId27"/>
    <p:sldId id="559" r:id="rId28"/>
    <p:sldId id="560" r:id="rId29"/>
    <p:sldId id="594" r:id="rId30"/>
    <p:sldId id="562" r:id="rId31"/>
    <p:sldId id="701" r:id="rId32"/>
    <p:sldId id="700" r:id="rId33"/>
    <p:sldId id="563" r:id="rId34"/>
    <p:sldId id="699" r:id="rId35"/>
    <p:sldId id="698" r:id="rId36"/>
    <p:sldId id="696" r:id="rId37"/>
    <p:sldId id="564" r:id="rId38"/>
    <p:sldId id="565" r:id="rId39"/>
    <p:sldId id="725" r:id="rId40"/>
    <p:sldId id="733" r:id="rId41"/>
    <p:sldId id="734" r:id="rId42"/>
    <p:sldId id="735" r:id="rId43"/>
    <p:sldId id="732" r:id="rId44"/>
    <p:sldId id="726" r:id="rId45"/>
    <p:sldId id="702" r:id="rId46"/>
    <p:sldId id="728" r:id="rId47"/>
    <p:sldId id="736" r:id="rId48"/>
    <p:sldId id="727" r:id="rId49"/>
    <p:sldId id="731" r:id="rId50"/>
    <p:sldId id="730" r:id="rId51"/>
    <p:sldId id="600" r:id="rId52"/>
    <p:sldId id="566" r:id="rId53"/>
    <p:sldId id="549" r:id="rId54"/>
    <p:sldId id="258" r:id="rId55"/>
    <p:sldId id="447" r:id="rId56"/>
    <p:sldId id="703" r:id="rId57"/>
    <p:sldId id="704" r:id="rId58"/>
    <p:sldId id="601" r:id="rId59"/>
    <p:sldId id="602" r:id="rId60"/>
    <p:sldId id="603" r:id="rId61"/>
    <p:sldId id="604" r:id="rId62"/>
    <p:sldId id="292" r:id="rId63"/>
    <p:sldId id="551" r:id="rId64"/>
    <p:sldId id="542" r:id="rId65"/>
    <p:sldId id="580" r:id="rId66"/>
    <p:sldId id="605" r:id="rId67"/>
    <p:sldId id="606" r:id="rId68"/>
    <p:sldId id="705" r:id="rId69"/>
    <p:sldId id="541" r:id="rId70"/>
    <p:sldId id="394" r:id="rId71"/>
    <p:sldId id="607" r:id="rId72"/>
    <p:sldId id="707" r:id="rId73"/>
    <p:sldId id="706" r:id="rId74"/>
    <p:sldId id="630" r:id="rId75"/>
    <p:sldId id="631" r:id="rId76"/>
    <p:sldId id="628" r:id="rId77"/>
    <p:sldId id="635" r:id="rId78"/>
    <p:sldId id="648" r:id="rId79"/>
    <p:sldId id="651" r:id="rId80"/>
    <p:sldId id="633" r:id="rId81"/>
    <p:sldId id="650" r:id="rId82"/>
    <p:sldId id="634" r:id="rId83"/>
    <p:sldId id="627" r:id="rId84"/>
    <p:sldId id="636" r:id="rId85"/>
    <p:sldId id="543" r:id="rId86"/>
    <p:sldId id="544" r:id="rId87"/>
    <p:sldId id="608" r:id="rId88"/>
    <p:sldId id="637" r:id="rId89"/>
    <p:sldId id="545" r:id="rId90"/>
    <p:sldId id="546" r:id="rId91"/>
    <p:sldId id="609" r:id="rId92"/>
    <p:sldId id="613" r:id="rId93"/>
    <p:sldId id="547" r:id="rId94"/>
    <p:sldId id="610" r:id="rId95"/>
    <p:sldId id="614" r:id="rId96"/>
    <p:sldId id="548" r:id="rId97"/>
    <p:sldId id="611" r:id="rId98"/>
    <p:sldId id="612" r:id="rId99"/>
    <p:sldId id="737" r:id="rId100"/>
    <p:sldId id="567" r:id="rId101"/>
    <p:sldId id="639" r:id="rId102"/>
    <p:sldId id="646" r:id="rId103"/>
    <p:sldId id="569" r:id="rId104"/>
    <p:sldId id="615" r:id="rId105"/>
    <p:sldId id="645" r:id="rId106"/>
    <p:sldId id="644" r:id="rId107"/>
    <p:sldId id="641" r:id="rId108"/>
    <p:sldId id="708" r:id="rId109"/>
    <p:sldId id="720" r:id="rId110"/>
    <p:sldId id="642" r:id="rId111"/>
    <p:sldId id="721" r:id="rId112"/>
    <p:sldId id="643" r:id="rId113"/>
    <p:sldId id="649" r:id="rId114"/>
    <p:sldId id="616" r:id="rId115"/>
    <p:sldId id="640" r:id="rId116"/>
    <p:sldId id="710" r:id="rId117"/>
    <p:sldId id="711" r:id="rId118"/>
    <p:sldId id="617" r:id="rId119"/>
    <p:sldId id="570" r:id="rId120"/>
    <p:sldId id="618" r:id="rId121"/>
    <p:sldId id="738" r:id="rId122"/>
    <p:sldId id="619" r:id="rId123"/>
    <p:sldId id="620" r:id="rId124"/>
    <p:sldId id="571" r:id="rId125"/>
    <p:sldId id="588" r:id="rId126"/>
    <p:sldId id="621" r:id="rId127"/>
    <p:sldId id="622" r:id="rId128"/>
    <p:sldId id="780" r:id="rId129"/>
    <p:sldId id="781" r:id="rId130"/>
    <p:sldId id="779" r:id="rId131"/>
    <p:sldId id="623" r:id="rId132"/>
    <p:sldId id="722" r:id="rId133"/>
    <p:sldId id="572" r:id="rId134"/>
    <p:sldId id="589" r:id="rId135"/>
    <p:sldId id="624" r:id="rId136"/>
    <p:sldId id="625" r:id="rId137"/>
    <p:sldId id="783" r:id="rId138"/>
    <p:sldId id="784" r:id="rId139"/>
    <p:sldId id="782" r:id="rId140"/>
    <p:sldId id="626" r:id="rId141"/>
    <p:sldId id="713" r:id="rId142"/>
    <p:sldId id="573" r:id="rId143"/>
    <p:sldId id="785" r:id="rId144"/>
    <p:sldId id="786" r:id="rId145"/>
    <p:sldId id="714" r:id="rId146"/>
    <p:sldId id="715" r:id="rId147"/>
    <p:sldId id="574" r:id="rId148"/>
    <p:sldId id="787" r:id="rId149"/>
    <p:sldId id="788" r:id="rId150"/>
    <p:sldId id="716" r:id="rId151"/>
    <p:sldId id="717" r:id="rId152"/>
    <p:sldId id="577" r:id="rId153"/>
    <p:sldId id="789" r:id="rId154"/>
    <p:sldId id="790" r:id="rId155"/>
    <p:sldId id="576" r:id="rId156"/>
    <p:sldId id="581" r:id="rId157"/>
    <p:sldId id="582" r:id="rId158"/>
    <p:sldId id="662" r:id="rId159"/>
    <p:sldId id="663" r:id="rId160"/>
    <p:sldId id="661" r:id="rId161"/>
    <p:sldId id="666" r:id="rId162"/>
    <p:sldId id="664" r:id="rId163"/>
    <p:sldId id="585" r:id="rId164"/>
    <p:sldId id="652" r:id="rId165"/>
    <p:sldId id="653" r:id="rId166"/>
    <p:sldId id="655" r:id="rId167"/>
    <p:sldId id="718" r:id="rId168"/>
    <p:sldId id="791" r:id="rId169"/>
    <p:sldId id="656" r:id="rId170"/>
    <p:sldId id="792" r:id="rId171"/>
    <p:sldId id="795" r:id="rId172"/>
    <p:sldId id="802" r:id="rId173"/>
    <p:sldId id="803" r:id="rId174"/>
    <p:sldId id="794" r:id="rId175"/>
    <p:sldId id="793" r:id="rId176"/>
    <p:sldId id="796" r:id="rId177"/>
    <p:sldId id="801" r:id="rId178"/>
    <p:sldId id="797" r:id="rId179"/>
    <p:sldId id="660" r:id="rId180"/>
    <p:sldId id="672" r:id="rId181"/>
    <p:sldId id="673" r:id="rId182"/>
    <p:sldId id="676" r:id="rId183"/>
    <p:sldId id="677" r:id="rId184"/>
    <p:sldId id="682" r:id="rId185"/>
    <p:sldId id="719" r:id="rId186"/>
    <p:sldId id="683" r:id="rId187"/>
    <p:sldId id="740" r:id="rId188"/>
    <p:sldId id="747" r:id="rId189"/>
    <p:sldId id="776" r:id="rId190"/>
    <p:sldId id="775" r:id="rId191"/>
    <p:sldId id="750" r:id="rId192"/>
    <p:sldId id="749" r:id="rId193"/>
    <p:sldId id="748" r:id="rId194"/>
    <p:sldId id="745" r:id="rId195"/>
    <p:sldId id="751" r:id="rId196"/>
    <p:sldId id="759" r:id="rId197"/>
    <p:sldId id="758" r:id="rId198"/>
    <p:sldId id="757" r:id="rId199"/>
    <p:sldId id="760" r:id="rId200"/>
    <p:sldId id="763" r:id="rId201"/>
    <p:sldId id="798" r:id="rId202"/>
    <p:sldId id="762" r:id="rId203"/>
    <p:sldId id="761" r:id="rId204"/>
    <p:sldId id="764" r:id="rId205"/>
    <p:sldId id="769" r:id="rId206"/>
    <p:sldId id="771" r:id="rId207"/>
    <p:sldId id="770" r:id="rId208"/>
    <p:sldId id="777" r:id="rId209"/>
    <p:sldId id="804" r:id="rId210"/>
    <p:sldId id="584" r:id="rId211"/>
    <p:sldId id="799" r:id="rId212"/>
    <p:sldId id="778" r:id="rId213"/>
    <p:sldId id="800" r:id="rId214"/>
    <p:sldId id="338" r:id="rId215"/>
    <p:sldId id="772" r:id="rId216"/>
    <p:sldId id="806" r:id="rId217"/>
    <p:sldId id="805" r:id="rId2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al" initials="D" lastIdx="0" clrIdx="0">
    <p:extLst>
      <p:ext uri="{19B8F6BF-5375-455C-9EA6-DF929625EA0E}">
        <p15:presenceInfo xmlns:p15="http://schemas.microsoft.com/office/powerpoint/2012/main" userId="Du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43" autoAdjust="0"/>
    <p:restoredTop sz="94434" autoAdjust="0"/>
  </p:normalViewPr>
  <p:slideViewPr>
    <p:cSldViewPr>
      <p:cViewPr varScale="1">
        <p:scale>
          <a:sx n="71" d="100"/>
          <a:sy n="71" d="100"/>
        </p:scale>
        <p:origin x="870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191" Type="http://schemas.openxmlformats.org/officeDocument/2006/relationships/slide" Target="slides/slide189.xml"/><Relationship Id="rId205" Type="http://schemas.openxmlformats.org/officeDocument/2006/relationships/slide" Target="slides/slide203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81" Type="http://schemas.openxmlformats.org/officeDocument/2006/relationships/slide" Target="slides/slide179.xml"/><Relationship Id="rId216" Type="http://schemas.openxmlformats.org/officeDocument/2006/relationships/slide" Target="slides/slide214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92" Type="http://schemas.openxmlformats.org/officeDocument/2006/relationships/slide" Target="slides/slide190.xml"/><Relationship Id="rId206" Type="http://schemas.openxmlformats.org/officeDocument/2006/relationships/slide" Target="slides/slide204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82" Type="http://schemas.openxmlformats.org/officeDocument/2006/relationships/slide" Target="slides/slide180.xml"/><Relationship Id="rId217" Type="http://schemas.openxmlformats.org/officeDocument/2006/relationships/slide" Target="slides/slide215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5" Type="http://schemas.openxmlformats.org/officeDocument/2006/relationships/slide" Target="slides/slide63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51" Type="http://schemas.openxmlformats.org/officeDocument/2006/relationships/slide" Target="slides/slide149.xml"/><Relationship Id="rId172" Type="http://schemas.openxmlformats.org/officeDocument/2006/relationships/slide" Target="slides/slide170.xml"/><Relationship Id="rId193" Type="http://schemas.openxmlformats.org/officeDocument/2006/relationships/slide" Target="slides/slide191.xml"/><Relationship Id="rId207" Type="http://schemas.openxmlformats.org/officeDocument/2006/relationships/slide" Target="slides/slide205.xml"/><Relationship Id="rId13" Type="http://schemas.openxmlformats.org/officeDocument/2006/relationships/slide" Target="slides/slide11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20" Type="http://schemas.openxmlformats.org/officeDocument/2006/relationships/slide" Target="slides/slide118.xml"/><Relationship Id="rId141" Type="http://schemas.openxmlformats.org/officeDocument/2006/relationships/slide" Target="slides/slide139.xml"/><Relationship Id="rId7" Type="http://schemas.openxmlformats.org/officeDocument/2006/relationships/slide" Target="slides/slide5.xml"/><Relationship Id="rId162" Type="http://schemas.openxmlformats.org/officeDocument/2006/relationships/slide" Target="slides/slide160.xml"/><Relationship Id="rId183" Type="http://schemas.openxmlformats.org/officeDocument/2006/relationships/slide" Target="slides/slide181.xml"/><Relationship Id="rId218" Type="http://schemas.openxmlformats.org/officeDocument/2006/relationships/slide" Target="slides/slide216.xml"/><Relationship Id="rId24" Type="http://schemas.openxmlformats.org/officeDocument/2006/relationships/slide" Target="slides/slide22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31" Type="http://schemas.openxmlformats.org/officeDocument/2006/relationships/slide" Target="slides/slide129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4" Type="http://schemas.openxmlformats.org/officeDocument/2006/relationships/slide" Target="slides/slide192.xml"/><Relationship Id="rId208" Type="http://schemas.openxmlformats.org/officeDocument/2006/relationships/slide" Target="slides/slide206.xml"/><Relationship Id="rId14" Type="http://schemas.openxmlformats.org/officeDocument/2006/relationships/slide" Target="slides/slide12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184" Type="http://schemas.openxmlformats.org/officeDocument/2006/relationships/slide" Target="slides/slide182.xml"/><Relationship Id="rId189" Type="http://schemas.openxmlformats.org/officeDocument/2006/relationships/slide" Target="slides/slide187.xml"/><Relationship Id="rId21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4" Type="http://schemas.openxmlformats.org/officeDocument/2006/relationships/slide" Target="slides/slide212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79" Type="http://schemas.openxmlformats.org/officeDocument/2006/relationships/slide" Target="slides/slide177.xml"/><Relationship Id="rId195" Type="http://schemas.openxmlformats.org/officeDocument/2006/relationships/slide" Target="slides/slide193.xml"/><Relationship Id="rId209" Type="http://schemas.openxmlformats.org/officeDocument/2006/relationships/slide" Target="slides/slide207.xml"/><Relationship Id="rId190" Type="http://schemas.openxmlformats.org/officeDocument/2006/relationships/slide" Target="slides/slide188.xml"/><Relationship Id="rId204" Type="http://schemas.openxmlformats.org/officeDocument/2006/relationships/slide" Target="slides/slide202.xml"/><Relationship Id="rId220" Type="http://schemas.openxmlformats.org/officeDocument/2006/relationships/commentAuthors" Target="commentAuthor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slide" Target="slides/slide167.xml"/><Relationship Id="rId185" Type="http://schemas.openxmlformats.org/officeDocument/2006/relationships/slide" Target="slides/slide18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80" Type="http://schemas.openxmlformats.org/officeDocument/2006/relationships/slide" Target="slides/slide178.xml"/><Relationship Id="rId210" Type="http://schemas.openxmlformats.org/officeDocument/2006/relationships/slide" Target="slides/slide208.xml"/><Relationship Id="rId215" Type="http://schemas.openxmlformats.org/officeDocument/2006/relationships/slide" Target="slides/slide213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196" Type="http://schemas.openxmlformats.org/officeDocument/2006/relationships/slide" Target="slides/slide194.xml"/><Relationship Id="rId200" Type="http://schemas.openxmlformats.org/officeDocument/2006/relationships/slide" Target="slides/slide198.xml"/><Relationship Id="rId16" Type="http://schemas.openxmlformats.org/officeDocument/2006/relationships/slide" Target="slides/slide14.xml"/><Relationship Id="rId221" Type="http://schemas.openxmlformats.org/officeDocument/2006/relationships/presProps" Target="presProps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186" Type="http://schemas.openxmlformats.org/officeDocument/2006/relationships/slide" Target="slides/slide184.xml"/><Relationship Id="rId211" Type="http://schemas.openxmlformats.org/officeDocument/2006/relationships/slide" Target="slides/slide209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slide" Target="slides/slide174.xml"/><Relationship Id="rId197" Type="http://schemas.openxmlformats.org/officeDocument/2006/relationships/slide" Target="slides/slide195.xml"/><Relationship Id="rId201" Type="http://schemas.openxmlformats.org/officeDocument/2006/relationships/slide" Target="slides/slide199.xml"/><Relationship Id="rId222" Type="http://schemas.openxmlformats.org/officeDocument/2006/relationships/viewProps" Target="viewProps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87" Type="http://schemas.openxmlformats.org/officeDocument/2006/relationships/slide" Target="slides/slide185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0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60" Type="http://schemas.openxmlformats.org/officeDocument/2006/relationships/slide" Target="slides/slide58.xml"/><Relationship Id="rId81" Type="http://schemas.openxmlformats.org/officeDocument/2006/relationships/slide" Target="slides/slide79.xml"/><Relationship Id="rId135" Type="http://schemas.openxmlformats.org/officeDocument/2006/relationships/slide" Target="slides/slide133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Relationship Id="rId198" Type="http://schemas.openxmlformats.org/officeDocument/2006/relationships/slide" Target="slides/slide196.xml"/><Relationship Id="rId202" Type="http://schemas.openxmlformats.org/officeDocument/2006/relationships/slide" Target="slides/slide200.xml"/><Relationship Id="rId223" Type="http://schemas.openxmlformats.org/officeDocument/2006/relationships/theme" Target="theme/theme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50" Type="http://schemas.openxmlformats.org/officeDocument/2006/relationships/slide" Target="slides/slide48.xml"/><Relationship Id="rId104" Type="http://schemas.openxmlformats.org/officeDocument/2006/relationships/slide" Target="slides/slide102.xml"/><Relationship Id="rId125" Type="http://schemas.openxmlformats.org/officeDocument/2006/relationships/slide" Target="slides/slide123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188" Type="http://schemas.openxmlformats.org/officeDocument/2006/relationships/slide" Target="slides/slide186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13" Type="http://schemas.openxmlformats.org/officeDocument/2006/relationships/slide" Target="slides/slide21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40" Type="http://schemas.openxmlformats.org/officeDocument/2006/relationships/slide" Target="slides/slide38.xml"/><Relationship Id="rId115" Type="http://schemas.openxmlformats.org/officeDocument/2006/relationships/slide" Target="slides/slide113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slide" Target="slides/slide176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9" Type="http://schemas.openxmlformats.org/officeDocument/2006/relationships/slide" Target="slides/slide197.xml"/><Relationship Id="rId203" Type="http://schemas.openxmlformats.org/officeDocument/2006/relationships/slide" Target="slides/slide201.xml"/><Relationship Id="rId19" Type="http://schemas.openxmlformats.org/officeDocument/2006/relationships/slide" Target="slides/slide17.xml"/><Relationship Id="rId224" Type="http://schemas.openxmlformats.org/officeDocument/2006/relationships/tableStyles" Target="tableStyles.xml"/><Relationship Id="rId30" Type="http://schemas.openxmlformats.org/officeDocument/2006/relationships/slide" Target="slides/slide2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04/01/2026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70852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8038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52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2086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61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55512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8415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04/01/2026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04/01/2026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04/01/2026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04/01/2026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04/01/2026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04/01/2026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04/01/2026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04/01/2026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04/01/2026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04/01/2026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04/01/2026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04/01/2026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04/01/2026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04/01/2026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04/01/2026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04/01/2026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04/01/2026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04/01/2026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04/01/2026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04/01/2026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04/01/2026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04/01/2026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04/01/2026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04/01/2026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04/01/2026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04/01/2026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34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SA" altLang="zh-CN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مَــــــــــــــدْخَـــــــــــــل إِلَـــــى الـــبَـــــــــــرْمَـــــــــــجَــــــــــــــة</a:t>
            </a:r>
            <a:endParaRPr lang="ar-SA" altLang="zh-CN" sz="40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32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الـمـجـال </a:t>
            </a:r>
            <a:r>
              <a:rPr lang="ar-DZ" altLang="zh-CN" sz="3200" b="1" u="sng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الـتَـعَــلُــمِـي</a:t>
            </a:r>
            <a:r>
              <a:rPr lang="ar-DZ" altLang="zh-CN" sz="32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 </a:t>
            </a:r>
            <a:r>
              <a:rPr lang="ar-DZ" altLang="zh-CN" sz="3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: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الـمُــخَــطَّــطَــات الاِنْــسِـــيَـــابِــيَــة والـخُــوَارِزْمِـــيَـــات</a:t>
            </a:r>
            <a:endParaRPr lang="fr-FR" sz="3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04/01/2026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419290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1. مـفــهـــوم الــبَــرْمَـــجَــة 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مـــاذا تــعــرفـــون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الــبَـــرْمَـــجَـــة 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تـعـــريــف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الــبَـرْمَـــجَــة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800" b="1" dirty="0" smtClean="0">
                <a:solidFill>
                  <a:srgbClr val="00B050"/>
                </a:solidFill>
                <a:cs typeface="+mj-cs"/>
              </a:rPr>
              <a:t>Programmation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85768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6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6000" b="1" dirty="0">
                <a:solidFill>
                  <a:srgbClr val="00B050"/>
                </a:solidFill>
              </a:rPr>
              <a:t> تـعـــريــف الــبَـرْمَـــجَــة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</a:t>
            </a:r>
            <a:r>
              <a:rPr lang="ar-DZ" sz="4000" b="1" u="sng" dirty="0" smtClean="0">
                <a:solidFill>
                  <a:srgbClr val="002060"/>
                </a:solidFill>
              </a:rPr>
              <a:t>إحْــدَى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الـمـعــلــومــاتــيـة الـمُـهـِـمَّـة والَّـذِي يَـخْــتَـصُّ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الـبـرمـجــيــات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وذلـك لإنـجـاز مـخــتــلــف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الـحــاســوب، ويَـضُـمُّ هــذا الـفَــرْعُ وســائِــلاً وأدواتٍ ضــروريــة يــتِّـمُّ تـهــيــئــتِـهـا لـتــسـهــيــل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تـلـك الـبــرمــجــيــات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45745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6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6000" b="1" dirty="0">
                <a:solidFill>
                  <a:srgbClr val="00B050"/>
                </a:solidFill>
              </a:rPr>
              <a:t> تـعـــريــف الــبَـرْمَـــجَــة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</a:t>
            </a:r>
            <a:r>
              <a:rPr lang="ar-DZ" sz="4000" b="1" u="sng" dirty="0" smtClean="0">
                <a:solidFill>
                  <a:srgbClr val="002060"/>
                </a:solidFill>
              </a:rPr>
              <a:t>إحْــدَى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الـمـعــلــومــاتــيـة الـمُـهـِـمَّـة والَّـذِي يَـخْــتَـصُّ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الـبـرمـجــيــات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وذلـك لإنـجـاز مـخــتــلــف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الـحــاســوب، ويَـضُـمُّ هــذا الـفَــرْعُ وســائِــلاً وأدواتٍ ضــروريــة يــتِّـمُّ تـهــيــئــتِـهـا لـتــسـهــيــل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تـلـك الـبــرمــجــيــات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131483" y="1291539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فـــروع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161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6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6000" b="1" dirty="0">
                <a:solidFill>
                  <a:srgbClr val="00B050"/>
                </a:solidFill>
              </a:rPr>
              <a:t> تـعـــريــف الــبَـرْمَـــجَــة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</a:t>
            </a:r>
            <a:r>
              <a:rPr lang="ar-DZ" sz="4000" b="1" u="sng" dirty="0" smtClean="0">
                <a:solidFill>
                  <a:srgbClr val="002060"/>
                </a:solidFill>
              </a:rPr>
              <a:t>إحْــدَى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الـمـعــلــومــاتــيـة الـمُـهـِـمَّـة والَّـذِي يَـخْــتَـصُّ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الـبـرمـجــيــات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وذلـك لإنـجـاز مـخــتــلــف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الـحــاســوب، ويَـضُـمُّ هــذا الـفَــرْعُ وســائِــلاً وأدواتٍ ضــروريــة يــتِّـمُّ تـهــيــئــتِـهـا لـتــسـهــيــل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تـلـك الـبــرمــجــيــات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131483" y="1291539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فـــروع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47528" y="2245580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تــطــويــرهـا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61729" y="2218757"/>
            <a:ext cx="1569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إعـــداد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85393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6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6000" b="1" dirty="0">
                <a:solidFill>
                  <a:srgbClr val="00B050"/>
                </a:solidFill>
              </a:rPr>
              <a:t> تـعـــريــف الــبَـرْمَـــجَــة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</a:t>
            </a:r>
            <a:r>
              <a:rPr lang="ar-DZ" sz="4000" b="1" u="sng" dirty="0" smtClean="0">
                <a:solidFill>
                  <a:srgbClr val="002060"/>
                </a:solidFill>
              </a:rPr>
              <a:t>إحْــدَى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الـمـعــلــومــاتــيـة الـمُـهـِـمَّـة والَّـذِي يَـخْــتَـصُّ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الـبـرمـجــيــات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وذلـك لإنـجـاز مـخــتــلــف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الـحــاســوب، ويَـضُـمُّ هــذا الـفَــرْعُ وســائِــلاً وأدواتٍ ضــروريــة يــتِّـمُّ تـهــيــئــتِـهـا لـتــسـهــيــل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تـلـك الـبــرمــجــيــات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131483" y="1291539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فـــروع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47528" y="2245580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تــطــويــرهـا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61729" y="2218757"/>
            <a:ext cx="1569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إعـــداد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45774" y="3196006"/>
            <a:ext cx="22204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الــمــهــام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6978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6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6000" b="1" dirty="0">
                <a:solidFill>
                  <a:srgbClr val="00B050"/>
                </a:solidFill>
              </a:rPr>
              <a:t> تـعـــريــف الــبَـرْمَـــجَــة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</a:t>
            </a:r>
            <a:r>
              <a:rPr lang="ar-DZ" sz="4000" b="1" u="sng" dirty="0" smtClean="0">
                <a:solidFill>
                  <a:srgbClr val="002060"/>
                </a:solidFill>
              </a:rPr>
              <a:t>إحْــدَى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الـمـعــلــومــاتــيـة الـمُـهـِـمَّـة والَّـذِي يَـخْــتَـصُّ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الـبـرمـجــيــات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وذلـك لإنـجـاز مـخــتــلــف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الـحــاســوب، ويَـضُـمُّ هــذا الـفَــرْعُ وســائِــلاً وأدواتٍ ضــروريــة يــتِّـمُّ تـهــيــئــتِـهـا لـتــسـهــيــل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تـلـك الـبــرمــجــيــات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131483" y="1291539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فـــروع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47528" y="2245580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تــطــويــرهـا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61729" y="2218757"/>
            <a:ext cx="1569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إعـــداد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62115" y="4967034"/>
            <a:ext cx="206893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كــتــابــة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45774" y="3196006"/>
            <a:ext cx="22204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الــمــهــام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86804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1. مـفــهـــوم الــبَــرْمَـــجَــة 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مِــمَــا تَــتَــأَلَــفُ الــبَـــرْمَــجَـــيـــات </a:t>
            </a:r>
            <a:r>
              <a:rPr lang="ar-DZ" sz="4400" b="1" dirty="0"/>
              <a:t>/ </a:t>
            </a:r>
            <a:r>
              <a:rPr lang="ar-DZ" sz="4400" b="1" dirty="0" smtClean="0"/>
              <a:t>الــبـــرامــج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تـعـــريــف الــبَــرْمَـــجِـــيَـــة  </a:t>
            </a:r>
            <a:r>
              <a:rPr lang="fr-FR" sz="4800" b="1" dirty="0" smtClean="0">
                <a:solidFill>
                  <a:srgbClr val="00B050"/>
                </a:solidFill>
                <a:cs typeface="+mj-cs"/>
              </a:rPr>
              <a:t>Programme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38580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64248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u="sng" dirty="0">
                <a:solidFill>
                  <a:srgbClr val="00B050"/>
                </a:solidFill>
                <a:cs typeface="+mj-cs"/>
              </a:rPr>
              <a:t>نَـشَــاط </a:t>
            </a:r>
            <a:r>
              <a:rPr lang="ar-DZ" sz="3800" b="1" u="sng" dirty="0" smtClean="0">
                <a:solidFill>
                  <a:srgbClr val="00B050"/>
                </a:solidFill>
                <a:cs typeface="+mj-cs"/>
              </a:rPr>
              <a:t>5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800" b="1" dirty="0">
                <a:solidFill>
                  <a:srgbClr val="00B050"/>
                </a:solidFill>
                <a:cs typeface="+mj-cs"/>
              </a:rPr>
              <a:t>الـمــكــونــات الـداخــلــيــة 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(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Unité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en-US" sz="3800" b="1" dirty="0" err="1">
                <a:solidFill>
                  <a:srgbClr val="00B050"/>
                </a:solidFill>
                <a:cs typeface="+mj-cs"/>
              </a:rPr>
              <a:t>Centrale</a:t>
            </a:r>
            <a:r>
              <a:rPr lang="en-US" sz="3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3800" b="1" dirty="0" smtClean="0">
                <a:solidFill>
                  <a:srgbClr val="00B050"/>
                </a:solidFill>
                <a:cs typeface="+mj-cs"/>
              </a:rPr>
              <a:t> )</a:t>
            </a:r>
            <a:endParaRPr lang="fr-FR" sz="38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052736"/>
            <a:ext cx="10814992" cy="5317103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534256"/>
              </p:ext>
            </p:extLst>
          </p:nvPr>
        </p:nvGraphicFramePr>
        <p:xfrm>
          <a:off x="995423" y="1181327"/>
          <a:ext cx="10080001" cy="504004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481692"/>
                <a:gridCol w="6598309"/>
              </a:tblGrid>
              <a:tr h="89744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الــمــكــونـــات الــمــاديـــة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u="none" kern="120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دَوْر الــمـــكـــونـــــــات الــــمـــــاديـــــــة</a:t>
                      </a:r>
                      <a:endParaRPr lang="fr-FR" sz="3000" b="1" u="none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  <a:tr h="104954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32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للــتــــوصـــيـــل بَـــيْــنَ مـــخـــــتــــلــــف مــــكـــــونــــــــات الـــحـــــــــاســــــــوب 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70C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تـــنـــفـــيـــذ</a:t>
                      </a:r>
                      <a:r>
                        <a:rPr lang="ar-DZ" sz="30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000" b="1" u="sng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تـــعـــلـــيـــمـــات الــبـــرمـــجـــيــــات </a:t>
                      </a:r>
                      <a:r>
                        <a:rPr lang="ar-DZ" sz="30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، </a:t>
                      </a:r>
                      <a:r>
                        <a:rPr lang="ar-DZ" sz="3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مـعــالـجـة</a:t>
                      </a:r>
                      <a:r>
                        <a:rPr lang="ar-DZ" sz="30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الـبــيــانــات </a:t>
                      </a:r>
                      <a:r>
                        <a:rPr lang="ar-DZ" sz="3000" b="1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والـتــنـســيـق</a:t>
                      </a:r>
                      <a:r>
                        <a:rPr lang="ar-DZ" sz="3000" b="1" kern="1200" dirty="0" smtClean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بــيـن الـمـهــامِّ</a:t>
                      </a:r>
                      <a:endParaRPr lang="fr-FR" sz="30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546526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2800" b="0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.....................................</a:t>
                      </a:r>
                      <a:endParaRPr lang="fr-FR" sz="2800" b="0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لِـحِــفْــظِ مـــلــفــات وبـــيــانــات الـب</a:t>
                      </a: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رمــجـــيــات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 الــمــفــتــوحــة وذلـك بــصــفـة مــؤقــتـة ( أثــنـاء الــمـعــالـجــة فـقـط </a:t>
                      </a:r>
                      <a:r>
                        <a:rPr lang="ar-SA" sz="3000" b="1" kern="1200" dirty="0" err="1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ومَ</a:t>
                      </a:r>
                      <a:r>
                        <a:rPr lang="ar-DZ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</a:t>
                      </a:r>
                      <a:r>
                        <a:rPr lang="ar-SA" sz="3000" b="1" kern="1200" dirty="0" smtClean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j-cs"/>
                        </a:rPr>
                        <a:t>ـسْــحِـهَـا عِــنْـدَ الإِغْـــلَاقِ )</a:t>
                      </a:r>
                      <a:endParaRPr lang="fr-FR" sz="3000" b="1" kern="1200" dirty="0" smtClean="0">
                        <a:solidFill>
                          <a:schemeClr val="tx2"/>
                        </a:solidFill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824192" y="2277440"/>
            <a:ext cx="30445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لــوحــة الأم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657457" y="3565440"/>
            <a:ext cx="3384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000" b="1" dirty="0" smtClean="0">
                <a:solidFill>
                  <a:srgbClr val="FF0000"/>
                </a:solidFill>
                <a:cs typeface="+mj-cs"/>
              </a:rPr>
              <a:t>الـمـعـالـج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000" b="1" dirty="0" smtClean="0">
                <a:solidFill>
                  <a:srgbClr val="FF0000"/>
                </a:solidFill>
                <a:cs typeface="+mj-cs"/>
              </a:rPr>
              <a:t>الـمـركـزي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2400" b="1" dirty="0" smtClean="0">
                <a:solidFill>
                  <a:srgbClr val="FF0000"/>
                </a:solidFill>
                <a:cs typeface="+mj-cs"/>
              </a:rPr>
              <a:t>CPU</a:t>
            </a:r>
            <a:endParaRPr lang="fr-FR" sz="2400" b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26294" y="4910888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الـذاكــرة الـحــيـة </a:t>
            </a:r>
            <a:r>
              <a:rPr lang="fr-FR" sz="2800" b="1" dirty="0" smtClean="0">
                <a:solidFill>
                  <a:srgbClr val="0070C0"/>
                </a:solidFill>
                <a:cs typeface="+mj-cs"/>
              </a:rPr>
              <a:t>RAM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74293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الــبَـــرْمَـــجِـــيَـــة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هــي </a:t>
            </a:r>
            <a:r>
              <a:rPr lang="ar-DZ" sz="4000" b="1" dirty="0">
                <a:solidFill>
                  <a:srgbClr val="002060"/>
                </a:solidFill>
              </a:rPr>
              <a:t>مــجــمـــوعـــة </a:t>
            </a:r>
            <a:r>
              <a:rPr lang="ar-DZ" sz="4000" b="1" dirty="0" smtClean="0">
                <a:solidFill>
                  <a:srgbClr val="002060"/>
                </a:solidFill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Instructions )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الّـتي يـتـولَّـى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الـحـاسـوب ُ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الـواحــدة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002060"/>
                </a:solidFill>
              </a:rPr>
              <a:t>الأخــرى</a:t>
            </a:r>
            <a:r>
              <a:rPr lang="ar-DZ" sz="4000" b="1" dirty="0">
                <a:solidFill>
                  <a:srgbClr val="002060"/>
                </a:solidFill>
              </a:rPr>
              <a:t>، وكـذلـك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بــيــنـهـا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972569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الــبَـــرْمَـــجِـــيَـــة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هــي </a:t>
            </a:r>
            <a:r>
              <a:rPr lang="ar-DZ" sz="4000" b="1" dirty="0">
                <a:solidFill>
                  <a:srgbClr val="002060"/>
                </a:solidFill>
              </a:rPr>
              <a:t>مــجــمـــوعـــة </a:t>
            </a:r>
            <a:r>
              <a:rPr lang="ar-DZ" sz="4000" b="1" dirty="0" smtClean="0">
                <a:solidFill>
                  <a:srgbClr val="002060"/>
                </a:solidFill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Instructions )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الّـتي يـتـولَّـى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الـحـاسـوب ُ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الـواحــدة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002060"/>
                </a:solidFill>
              </a:rPr>
              <a:t>الأخــرى</a:t>
            </a:r>
            <a:r>
              <a:rPr lang="ar-DZ" sz="4000" b="1" dirty="0">
                <a:solidFill>
                  <a:srgbClr val="002060"/>
                </a:solidFill>
              </a:rPr>
              <a:t>، وكـذلـك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بــيــنـهـا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99856" y="1766613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أوامـــر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5354" y="1766612"/>
            <a:ext cx="291902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تـعــلــيــمــات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2509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الــبَـــرْمَـــجِـــيَـــة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هــي </a:t>
            </a:r>
            <a:r>
              <a:rPr lang="ar-DZ" sz="4000" b="1" dirty="0">
                <a:solidFill>
                  <a:srgbClr val="002060"/>
                </a:solidFill>
              </a:rPr>
              <a:t>مــجــمـــوعـــة </a:t>
            </a:r>
            <a:r>
              <a:rPr lang="ar-DZ" sz="4000" b="1" dirty="0" smtClean="0">
                <a:solidFill>
                  <a:srgbClr val="002060"/>
                </a:solidFill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Instructions )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الّـتي يـتـولَّـى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الـحـاسـوب ُ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الـواحــدة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002060"/>
                </a:solidFill>
              </a:rPr>
              <a:t>الأخــرى</a:t>
            </a:r>
            <a:r>
              <a:rPr lang="ar-DZ" sz="4000" b="1" dirty="0">
                <a:solidFill>
                  <a:srgbClr val="002060"/>
                </a:solidFill>
              </a:rPr>
              <a:t>، وكـذلـك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بــيــنـهـا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99856" y="1766613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أوامـــر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1860" y="2743913"/>
            <a:ext cx="28925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smtClean="0">
                <a:solidFill>
                  <a:srgbClr val="0070C0"/>
                </a:solidFill>
                <a:cs typeface="+mj-cs"/>
              </a:rPr>
              <a:t>تــنــفـــيـــذهـا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5354" y="1766612"/>
            <a:ext cx="291902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تـعــلــيــمــات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76120" y="3643335"/>
            <a:ext cx="22204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تــلْــوَ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89008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الــبَـــرْمَـــجِـــيَـــة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هــي </a:t>
            </a:r>
            <a:r>
              <a:rPr lang="ar-DZ" sz="4000" b="1" dirty="0">
                <a:solidFill>
                  <a:srgbClr val="002060"/>
                </a:solidFill>
              </a:rPr>
              <a:t>مــجــمـــوعـــة </a:t>
            </a:r>
            <a:r>
              <a:rPr lang="ar-DZ" sz="4000" b="1" dirty="0" smtClean="0">
                <a:solidFill>
                  <a:srgbClr val="002060"/>
                </a:solidFill>
              </a:rPr>
              <a:t>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Instructions )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)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الّـتي يـتـولَّـى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الـحـاسـوب ُ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الـواحــدة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u="sng" dirty="0">
                <a:solidFill>
                  <a:srgbClr val="002060"/>
                </a:solidFill>
              </a:rPr>
              <a:t>الأخــرى</a:t>
            </a:r>
            <a:r>
              <a:rPr lang="ar-DZ" sz="4000" b="1" dirty="0">
                <a:solidFill>
                  <a:srgbClr val="002060"/>
                </a:solidFill>
              </a:rPr>
              <a:t>، وكـذلـك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بــيــنـهـا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799856" y="1766613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أوامـــر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1860" y="2743913"/>
            <a:ext cx="28925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smtClean="0">
                <a:solidFill>
                  <a:srgbClr val="0070C0"/>
                </a:solidFill>
                <a:cs typeface="+mj-cs"/>
              </a:rPr>
              <a:t>تــنــفـــيـــذهـا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5354" y="1766612"/>
            <a:ext cx="291902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تـعــلــيــمــات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176120" y="3643335"/>
            <a:ext cx="22204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تــلْــوَ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1860" y="3715343"/>
            <a:ext cx="2520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الـتــنــســيــق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2536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2. مـفــهـــوم الـمــشــكــلــة  </a:t>
            </a:r>
            <a:r>
              <a:rPr lang="fr-FR" sz="5400" b="1" dirty="0" smtClean="0">
                <a:solidFill>
                  <a:srgbClr val="FF0000"/>
                </a:solidFill>
                <a:cs typeface="+mj-cs"/>
              </a:rPr>
              <a:t>Problème 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3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قَـــارِنْ بَــيْـنَ الإِشْــكَــالِـــيَــة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/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الــمُـــشْــكِـــلَــةَ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ثُــمَ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عَــــرِّفْ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الــمُـــشْـــكِـــلَـــة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.2 تـعـــريــف 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الـمــشــكــلــة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0804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الـمــشــكــلــة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«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مُــرْبِــكٌ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مُــحَــيِّــر أو مُــدْهِــشٌ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يُـوَاجِــهُ الـفَـــرْدَ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مـجــمــوعــة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الأفـــراد فــيَــشْــعُـــرُونَ بِـ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الـحــلِّ، ولا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يُـوجَــدُ لَـدَيْـهِـمْ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حَــالِــيَـة مُـخَــزَّنَــةً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الـمَـعـْـرِفـِـيَـة تُــمَــكِّــنُـهُـمْ مِـنْ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إلـى الـحَــلِّ بِـصُـورةٍ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78255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الـمــشــكــلــة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«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مُــرْبِــكٌ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مُــحَــيِّــر أو مُــدْهِــشٌ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يُـوَاجِــهُ الـفَـــرْدَ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مـجــمــوعــة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الأفـــراد فــيَــشْــعُـــرُونَ بِـ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الـحــلِّ، ولا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يُـوجَــدُ لَـدَيْـهِـمْ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حَــالِــيَـة مُـخَــزَّنَــةً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الـمَـعـْـرِفـِـيَـة تُــمَــكِّــنُـهُـمْ مِـنْ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إلـى الـحَــلِّ بِـصُـورةٍ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301354" y="1285172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مَـوْقِـفٌ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476256" y="1285173"/>
            <a:ext cx="1569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سُــؤَالٌ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5818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الـمــشــكــلــة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«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مُــرْبِــكٌ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مُــحَــيِّــر أو مُــدْهِــشٌ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يُـوَاجِــهُ الـفَـــرْدَ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مـجــمــوعــة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الأفـــراد فــيَــشْــعُـــرُونَ بِـ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الـحــلِّ، ولا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يُـوجَــدُ لَـدَيْـهِـمْ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حَــالِــيَـة مُـخَــزَّنَــةً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الـمَـعـْـرِفـِـيَـة تُــمَــكِّــنُـهُـمْ مِـنْ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إلـى الـحَــلِّ بِـصُـورةٍ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10" name="Rectangle 9"/>
          <p:cNvSpPr/>
          <p:nvPr/>
        </p:nvSpPr>
        <p:spPr>
          <a:xfrm>
            <a:off x="9120336" y="3109860"/>
            <a:ext cx="18686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الـحــاجــة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01354" y="1285172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مَـوْقِـفٌ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76256" y="1285173"/>
            <a:ext cx="1569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سُــؤَالٌ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7491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  <p:bldP spid="9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الـمــشــكــلــة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«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مُــرْبِــكٌ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مُــحَــيِّــر أو مُــدْهِــشٌ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يُـوَاجِــهُ الـفَـــرْدَ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مـجــمــوعــة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الأفـــراد فــيَــشْــعُـــرُونَ بِـ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الـحــلِّ، ولا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يُـوجَــدُ لَـدَيْـهِـمْ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حَــالِــيَـة مُـخَــزَّنَــةً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الـمَـعـْـرِفـِـيَـة تُــمَــكِّــنُـهُـمْ مِـنْ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إلـى الـحَــلِّ بِـصُـورةٍ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1199456" y="3109860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إِمْـكَـانَـاتٍ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296019" y="4087281"/>
            <a:ext cx="20129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خَــبَــرَاتٍ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20336" y="3109860"/>
            <a:ext cx="18686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الـحــاجــة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01354" y="1285172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مَـوْقِـفٌ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476256" y="1285173"/>
            <a:ext cx="1569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سُــؤَالٌ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68469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الـمــشــكــلــة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«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مُــرْبِــكٌ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مُــحَــيِّــر أو مُــدْهِــشٌ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يُـوَاجِــهُ الـفَـــرْدَ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مـجــمــوعــة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الأفـــراد فــيَــشْــعُـــرُونَ بِـ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الـحــلِّ، ولا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يُـوجَــدُ لَـدَيْـهِـمْ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حَــالِــيَـة مُـخَــزَّنَــةً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الـمَـعـْـرِفـِـيَـة تُــمَــكِّــنُـهُـمْ مِـنْ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إلـى الـحَــلِّ بِـصُـورةٍ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1199456" y="3109860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إِمْـكَـانَـاتٍ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296019" y="4087281"/>
            <a:ext cx="20129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خَــبَــرَاتٍ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20336" y="3109860"/>
            <a:ext cx="18686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الـحــاجــة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40050" y="4032917"/>
            <a:ext cx="206893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بِـنْـيَـتِـهِـمْ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301354" y="1285172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مَـوْقِـفٌ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476256" y="1285173"/>
            <a:ext cx="1569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سُــؤَالٌ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1725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الـمــشــكــلــة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«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مُــرْبِــكٌ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مُــحَــيِّــر أو مُــدْهِــشٌ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يُـوَاجِــهُ الـفَـــرْدَ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مـجــمــوعــة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الأفـــراد فــيَــشْــعُـــرُونَ بِـ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الـحــلِّ، ولا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يُـوجَــدُ لَـدَيْـهِـمْ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حَــالِــيَـة مُـخَــزَّنَــةً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الـمَـعـْـرِفـِـيَـة تُــمَــكِّــنُـهُـمْ مِـنْ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إلـى الـحَــلِّ بِـصُـورةٍ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1199456" y="3109860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إِمْـكَـانَـاتٍ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296019" y="4087281"/>
            <a:ext cx="20129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خَــبَــرَاتٍ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20336" y="3109860"/>
            <a:ext cx="18686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الـحــاجــة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40050" y="4032917"/>
            <a:ext cx="206893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بِـنْـيَـتِـهِـمْ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600056" y="4943815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الـوُصُـولِ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01354" y="1285172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مَـوْقِـفٌ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476256" y="1285173"/>
            <a:ext cx="1569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سُــؤَالٌ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6730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الـمــشــكــلــة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هـي «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مُــرْبِــكٌ 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مُــحَــيِّــر أو مُــدْهِــشٌ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يُـوَاجِــهُ الـفَـــرْدَ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مـجــمــوعــة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الأفـــراد فــيَــشْــعُـــرُونَ بِـ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الـحــلِّ، ولا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يُـوجَــدُ لَـدَيْـهِـمْ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حَــالِــيَـة مُـخَــزَّنَــةً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الـمَـعـْـرِفـِـيَـة تُــمَــكِّــنُـهُـمْ مِـنْ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إلـى الـحَــلِّ بِـصُـورةٍ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1199456" y="3109860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إِمْـكَـانَـاتٍ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296019" y="4087281"/>
            <a:ext cx="20129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خَــبَــرَاتٍ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20336" y="3109860"/>
            <a:ext cx="186865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الـحــاجــة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40050" y="4032917"/>
            <a:ext cx="206893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بِـنْـيَـتِـهِـمْ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600056" y="4943815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الـوُصُـولِ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51818" y="4970710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فَــوْرِيَــةٍ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01354" y="1285172"/>
            <a:ext cx="16990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مَـوْقِـفٌ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76256" y="1285173"/>
            <a:ext cx="1569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سُــؤَالٌ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04173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الـمــشــكــلــة –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أو</a:t>
            </a:r>
            <a:r>
              <a:rPr lang="ar-DZ" sz="4000" baseline="-25000" dirty="0" smtClean="0">
                <a:solidFill>
                  <a:srgbClr val="002060"/>
                </a:solidFill>
              </a:rPr>
              <a:t> 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بَــلْ عَــلَــيْــهِــمْ بَـــذْلُ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للـوُصُــولِ إِلَـى </a:t>
            </a:r>
            <a:r>
              <a:rPr lang="ar-DZ" sz="4000" b="1" dirty="0">
                <a:solidFill>
                  <a:srgbClr val="002060"/>
                </a:solidFill>
              </a:rPr>
              <a:t>الـحــلِّ، </a:t>
            </a:r>
            <a:r>
              <a:rPr lang="ar-DZ" sz="4000" b="1" dirty="0" smtClean="0">
                <a:solidFill>
                  <a:srgbClr val="002060"/>
                </a:solidFill>
              </a:rPr>
              <a:t>أَيْ </a:t>
            </a:r>
            <a:r>
              <a:rPr lang="ar-DZ" sz="4000" b="1" dirty="0">
                <a:solidFill>
                  <a:srgbClr val="002060"/>
                </a:solidFill>
              </a:rPr>
              <a:t>أنَّ </a:t>
            </a:r>
            <a:r>
              <a:rPr lang="ar-DZ" sz="4000" b="1" dirty="0" smtClean="0">
                <a:solidFill>
                  <a:srgbClr val="002060"/>
                </a:solidFill>
              </a:rPr>
              <a:t>الـفَـــرْدَ يُـجَــاهِـــدُ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عــلـى </a:t>
            </a:r>
            <a:r>
              <a:rPr lang="ar-DZ" sz="4000" b="1" dirty="0">
                <a:solidFill>
                  <a:srgbClr val="002060"/>
                </a:solidFill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</a:rPr>
              <a:t>الـحــلِّ » [ </a:t>
            </a:r>
            <a:r>
              <a:rPr lang="ar-DZ" sz="4000" b="1" dirty="0" smtClean="0">
                <a:solidFill>
                  <a:srgbClr val="FF0000"/>
                </a:solidFill>
              </a:rPr>
              <a:t>حـسـن </a:t>
            </a:r>
            <a:r>
              <a:rPr lang="ar-DZ" sz="4000" b="1" dirty="0">
                <a:solidFill>
                  <a:srgbClr val="FF0000"/>
                </a:solidFill>
              </a:rPr>
              <a:t>الـحـسـيـن </a:t>
            </a:r>
            <a:r>
              <a:rPr lang="ar-DZ" sz="4000" b="1" dirty="0" smtClean="0">
                <a:solidFill>
                  <a:srgbClr val="FF0000"/>
                </a:solidFill>
              </a:rPr>
              <a:t>زيـتـون </a:t>
            </a:r>
            <a:r>
              <a:rPr lang="ar-DZ" sz="4000" b="1" dirty="0">
                <a:solidFill>
                  <a:srgbClr val="002060"/>
                </a:solidFill>
              </a:rPr>
              <a:t>]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17" name="Rectangle 16"/>
          <p:cNvSpPr/>
          <p:nvPr/>
        </p:nvSpPr>
        <p:spPr>
          <a:xfrm>
            <a:off x="8544272" y="1811453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رُوتِـيــنِــيَــة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6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الـمــشــكــلــة –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أو</a:t>
            </a:r>
            <a:r>
              <a:rPr lang="ar-DZ" sz="4000" baseline="-25000" dirty="0" smtClean="0">
                <a:solidFill>
                  <a:srgbClr val="002060"/>
                </a:solidFill>
              </a:rPr>
              <a:t> 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بَــلْ عَــلَــيْــهِــمْ بَـــذْلُ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للـوُصُــولِ إِلَـى </a:t>
            </a:r>
            <a:r>
              <a:rPr lang="ar-DZ" sz="4000" b="1" dirty="0">
                <a:solidFill>
                  <a:srgbClr val="002060"/>
                </a:solidFill>
              </a:rPr>
              <a:t>الـحــلِّ، </a:t>
            </a:r>
            <a:r>
              <a:rPr lang="ar-DZ" sz="4000" b="1" dirty="0" smtClean="0">
                <a:solidFill>
                  <a:srgbClr val="002060"/>
                </a:solidFill>
              </a:rPr>
              <a:t>أَيْ </a:t>
            </a:r>
            <a:r>
              <a:rPr lang="ar-DZ" sz="4000" b="1" dirty="0">
                <a:solidFill>
                  <a:srgbClr val="002060"/>
                </a:solidFill>
              </a:rPr>
              <a:t>أنَّ </a:t>
            </a:r>
            <a:r>
              <a:rPr lang="ar-DZ" sz="4000" b="1" dirty="0" smtClean="0">
                <a:solidFill>
                  <a:srgbClr val="002060"/>
                </a:solidFill>
              </a:rPr>
              <a:t>الـفَـــرْدَ يُـجَــاهِـــدُ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عــلـى </a:t>
            </a:r>
            <a:r>
              <a:rPr lang="ar-DZ" sz="4000" b="1" dirty="0">
                <a:solidFill>
                  <a:srgbClr val="002060"/>
                </a:solidFill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</a:rPr>
              <a:t>الـحــلِّ » [ </a:t>
            </a:r>
            <a:r>
              <a:rPr lang="ar-DZ" sz="4000" b="1" dirty="0" smtClean="0">
                <a:solidFill>
                  <a:srgbClr val="FF0000"/>
                </a:solidFill>
              </a:rPr>
              <a:t>حـسـن </a:t>
            </a:r>
            <a:r>
              <a:rPr lang="ar-DZ" sz="4000" b="1" dirty="0">
                <a:solidFill>
                  <a:srgbClr val="FF0000"/>
                </a:solidFill>
              </a:rPr>
              <a:t>الـحـسـيـن </a:t>
            </a:r>
            <a:r>
              <a:rPr lang="ar-DZ" sz="4000" b="1" dirty="0" smtClean="0">
                <a:solidFill>
                  <a:srgbClr val="FF0000"/>
                </a:solidFill>
              </a:rPr>
              <a:t>زيـتـون </a:t>
            </a:r>
            <a:r>
              <a:rPr lang="ar-DZ" sz="4000" b="1" dirty="0">
                <a:solidFill>
                  <a:srgbClr val="002060"/>
                </a:solidFill>
              </a:rPr>
              <a:t>]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15" name="Rectangle 14"/>
          <p:cNvSpPr/>
          <p:nvPr/>
        </p:nvSpPr>
        <p:spPr>
          <a:xfrm>
            <a:off x="769622" y="1811453"/>
            <a:ext cx="37444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جُــهْــد مَــعَـــارِفِــي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544272" y="1811453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رُوتِـيــنِــيَــة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0381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5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</a:rPr>
              <a:t>الـمــشــكــلــة –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أو</a:t>
            </a:r>
            <a:r>
              <a:rPr lang="ar-DZ" sz="4000" baseline="-25000" dirty="0" smtClean="0">
                <a:solidFill>
                  <a:srgbClr val="002060"/>
                </a:solidFill>
              </a:rPr>
              <a:t> 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بَــلْ عَــلَــيْــهِــمْ بَـــذْلُ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للـوُصُــولِ إِلَـى </a:t>
            </a:r>
            <a:r>
              <a:rPr lang="ar-DZ" sz="4000" b="1" dirty="0">
                <a:solidFill>
                  <a:srgbClr val="002060"/>
                </a:solidFill>
              </a:rPr>
              <a:t>الـحــلِّ، </a:t>
            </a:r>
            <a:r>
              <a:rPr lang="ar-DZ" sz="4000" b="1" dirty="0" smtClean="0">
                <a:solidFill>
                  <a:srgbClr val="002060"/>
                </a:solidFill>
              </a:rPr>
              <a:t>أَيْ </a:t>
            </a:r>
            <a:r>
              <a:rPr lang="ar-DZ" sz="4000" b="1" dirty="0">
                <a:solidFill>
                  <a:srgbClr val="002060"/>
                </a:solidFill>
              </a:rPr>
              <a:t>أنَّ </a:t>
            </a:r>
            <a:r>
              <a:rPr lang="ar-DZ" sz="4000" b="1" dirty="0" smtClean="0">
                <a:solidFill>
                  <a:srgbClr val="002060"/>
                </a:solidFill>
              </a:rPr>
              <a:t>الـفَـــرْدَ يُـجَــاهِـــدُ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عــلـى </a:t>
            </a:r>
            <a:r>
              <a:rPr lang="ar-DZ" sz="4000" b="1" dirty="0">
                <a:solidFill>
                  <a:srgbClr val="002060"/>
                </a:solidFill>
              </a:rPr>
              <a:t>هــذا </a:t>
            </a:r>
            <a:r>
              <a:rPr lang="ar-DZ" sz="4000" b="1" dirty="0" smtClean="0">
                <a:solidFill>
                  <a:srgbClr val="002060"/>
                </a:solidFill>
              </a:rPr>
              <a:t>الـحــلِّ » [ </a:t>
            </a:r>
            <a:r>
              <a:rPr lang="ar-DZ" sz="4000" b="1" dirty="0" smtClean="0">
                <a:solidFill>
                  <a:srgbClr val="FF0000"/>
                </a:solidFill>
              </a:rPr>
              <a:t>حـسـن </a:t>
            </a:r>
            <a:r>
              <a:rPr lang="ar-DZ" sz="4000" b="1" dirty="0">
                <a:solidFill>
                  <a:srgbClr val="FF0000"/>
                </a:solidFill>
              </a:rPr>
              <a:t>الـحـسـيـن </a:t>
            </a:r>
            <a:r>
              <a:rPr lang="ar-DZ" sz="4000" b="1" dirty="0" smtClean="0">
                <a:solidFill>
                  <a:srgbClr val="FF0000"/>
                </a:solidFill>
              </a:rPr>
              <a:t>زيـتـون </a:t>
            </a:r>
            <a:r>
              <a:rPr lang="ar-DZ" sz="4000" b="1" dirty="0">
                <a:solidFill>
                  <a:srgbClr val="002060"/>
                </a:solidFill>
              </a:rPr>
              <a:t>]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15" name="Rectangle 14"/>
          <p:cNvSpPr/>
          <p:nvPr/>
        </p:nvSpPr>
        <p:spPr>
          <a:xfrm>
            <a:off x="769622" y="1811453"/>
            <a:ext cx="37444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جُــهْــد مَــعَـــارِفِــي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96516" y="2827178"/>
            <a:ext cx="25626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للـحــصــول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544272" y="1811453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رُوتِـيــنِــيَــة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13261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5" grpId="0" animBg="1"/>
      <p:bldP spid="16" grpId="0" animBg="1"/>
      <p:bldP spid="1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2. مـفــهـــوم الـمــشــكــلــة  </a:t>
            </a:r>
            <a:r>
              <a:rPr lang="fr-FR" sz="4800" b="1" dirty="0" smtClean="0">
                <a:solidFill>
                  <a:srgbClr val="FF0000"/>
                </a:solidFill>
                <a:cs typeface="+mj-cs"/>
              </a:rPr>
              <a:t>Problème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4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/>
              <a:t>مَــاذَا </a:t>
            </a:r>
            <a:r>
              <a:rPr lang="ar-DZ" sz="4400" b="1" dirty="0"/>
              <a:t>تُــمَــثِّــلُ </a:t>
            </a:r>
            <a:r>
              <a:rPr lang="ar-DZ" sz="4400" b="1" dirty="0" smtClean="0"/>
              <a:t>صِــيَــاغَــة حَـــل </a:t>
            </a:r>
            <a:r>
              <a:rPr lang="ar-SA" sz="4400" b="1" dirty="0" smtClean="0"/>
              <a:t>م</a:t>
            </a:r>
            <a:r>
              <a:rPr lang="ar-DZ" sz="4400" b="1" dirty="0" smtClean="0"/>
              <a:t>ُ</a:t>
            </a:r>
            <a:r>
              <a:rPr lang="ar-SA" sz="4400" b="1" dirty="0" smtClean="0"/>
              <a:t>ــش</a:t>
            </a:r>
            <a:r>
              <a:rPr lang="ar-DZ" sz="4400" b="1" dirty="0" smtClean="0"/>
              <a:t>ْ</a:t>
            </a:r>
            <a:r>
              <a:rPr lang="ar-SA" sz="4400" b="1" dirty="0" smtClean="0"/>
              <a:t>ــك</a:t>
            </a:r>
            <a:r>
              <a:rPr lang="ar-DZ" sz="4400" b="1" dirty="0" smtClean="0"/>
              <a:t>ِ</a:t>
            </a:r>
            <a:r>
              <a:rPr lang="ar-SA" sz="4400" b="1" dirty="0" smtClean="0"/>
              <a:t>ــل</a:t>
            </a:r>
            <a:r>
              <a:rPr lang="ar-DZ" sz="4400" b="1" dirty="0" smtClean="0"/>
              <a:t>َ</a:t>
            </a:r>
            <a:r>
              <a:rPr lang="ar-SA" sz="4400" b="1" dirty="0" smtClean="0"/>
              <a:t>ــة </a:t>
            </a:r>
            <a:r>
              <a:rPr lang="ar-SA" sz="4400" b="1" dirty="0"/>
              <a:t>؟ </a:t>
            </a:r>
            <a:r>
              <a:rPr lang="ar-SA" sz="4400" b="1" dirty="0" smtClean="0"/>
              <a:t>و</a:t>
            </a:r>
            <a:r>
              <a:rPr lang="ar-DZ" sz="4400" b="1" dirty="0" smtClean="0"/>
              <a:t>َ</a:t>
            </a:r>
            <a:r>
              <a:rPr lang="ar-SA" sz="4400" b="1" dirty="0" smtClean="0"/>
              <a:t>م</a:t>
            </a:r>
            <a:r>
              <a:rPr lang="ar-DZ" sz="4400" b="1" dirty="0" smtClean="0"/>
              <a:t>ِ</a:t>
            </a:r>
            <a:r>
              <a:rPr lang="ar-SA" sz="4400" b="1" dirty="0" smtClean="0"/>
              <a:t>ـ</a:t>
            </a:r>
            <a:r>
              <a:rPr lang="ar-DZ" sz="4400" b="1" dirty="0" smtClean="0"/>
              <a:t>ـ</a:t>
            </a:r>
            <a:r>
              <a:rPr lang="ar-SA" sz="4400" b="1" dirty="0" smtClean="0"/>
              <a:t>م</a:t>
            </a:r>
            <a:r>
              <a:rPr lang="ar-DZ" sz="4400" b="1" dirty="0" smtClean="0"/>
              <a:t>َـ</a:t>
            </a:r>
            <a:r>
              <a:rPr lang="ar-SA" sz="4400" b="1" dirty="0" smtClean="0"/>
              <a:t>ـا ت</a:t>
            </a:r>
            <a:r>
              <a:rPr lang="ar-DZ" sz="4400" b="1" dirty="0" smtClean="0"/>
              <a:t>َـ</a:t>
            </a:r>
            <a:r>
              <a:rPr lang="ar-SA" sz="4400" b="1" dirty="0" smtClean="0"/>
              <a:t>ـت</a:t>
            </a:r>
            <a:r>
              <a:rPr lang="ar-DZ" sz="4400" b="1" dirty="0" smtClean="0"/>
              <a:t>َـ</a:t>
            </a:r>
            <a:r>
              <a:rPr lang="ar-SA" sz="4400" b="1" dirty="0" smtClean="0"/>
              <a:t>ـأ</a:t>
            </a:r>
            <a:r>
              <a:rPr lang="ar-DZ" sz="4400" b="1" dirty="0" smtClean="0"/>
              <a:t>َ</a:t>
            </a:r>
            <a:r>
              <a:rPr lang="ar-SA" sz="4400" b="1" dirty="0" smtClean="0"/>
              <a:t>ل</a:t>
            </a:r>
            <a:r>
              <a:rPr lang="ar-DZ" sz="4400" b="1" dirty="0" smtClean="0"/>
              <a:t>َ</a:t>
            </a:r>
            <a:r>
              <a:rPr lang="ar-SA" sz="4400" b="1" dirty="0" smtClean="0"/>
              <a:t>ــف</a:t>
            </a:r>
            <a:r>
              <a:rPr lang="ar-DZ" sz="4400" b="1" dirty="0" smtClean="0"/>
              <a:t>ُ</a:t>
            </a:r>
            <a:r>
              <a:rPr lang="ar-SA" sz="4400" b="1" dirty="0" smtClean="0"/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.2 صــيـــاغــة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حـــل مــشــكــلــة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0058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>
                <a:solidFill>
                  <a:srgbClr val="00B050"/>
                </a:solidFill>
              </a:rPr>
              <a:t> صــيـــاغــة حـــل  </a:t>
            </a:r>
            <a:r>
              <a:rPr lang="ar-DZ" sz="5400" b="1" dirty="0" smtClean="0">
                <a:solidFill>
                  <a:srgbClr val="00B050"/>
                </a:solidFill>
              </a:rPr>
              <a:t>مــشــكــلــة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2000" b="1" dirty="0" smtClean="0">
              <a:solidFill>
                <a:srgbClr val="002060"/>
              </a:solidFill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صــيـــاغـــة حـــل مـــشـــكـــلـــة </a:t>
            </a:r>
            <a:r>
              <a:rPr lang="ar-DZ" sz="4000" b="1" dirty="0">
                <a:solidFill>
                  <a:srgbClr val="002060"/>
                </a:solidFill>
              </a:rPr>
              <a:t>مــا هــو إلا </a:t>
            </a:r>
            <a:r>
              <a:rPr lang="ar-DZ" sz="4000" b="1" dirty="0" smtClean="0">
                <a:solidFill>
                  <a:srgbClr val="002060"/>
                </a:solidFill>
              </a:rPr>
              <a:t>تــحـــديـــد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الـلازم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للــوصـول إلـى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الـحــل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07031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>
                <a:solidFill>
                  <a:srgbClr val="00B050"/>
                </a:solidFill>
              </a:rPr>
              <a:t> صــيـــاغــة حـــل  </a:t>
            </a:r>
            <a:r>
              <a:rPr lang="ar-DZ" sz="5400" b="1" dirty="0" smtClean="0">
                <a:solidFill>
                  <a:srgbClr val="00B050"/>
                </a:solidFill>
              </a:rPr>
              <a:t>مــشــكــلــة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2000" b="1" dirty="0" smtClean="0">
              <a:solidFill>
                <a:srgbClr val="002060"/>
              </a:solidFill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صــيـــاغـــة حـــل مـــشـــكـــلـــة </a:t>
            </a:r>
            <a:r>
              <a:rPr lang="ar-DZ" sz="4000" b="1" dirty="0">
                <a:solidFill>
                  <a:srgbClr val="002060"/>
                </a:solidFill>
              </a:rPr>
              <a:t>مــا هــو إلا </a:t>
            </a:r>
            <a:r>
              <a:rPr lang="ar-DZ" sz="4000" b="1" dirty="0" smtClean="0">
                <a:solidFill>
                  <a:srgbClr val="002060"/>
                </a:solidFill>
              </a:rPr>
              <a:t>تــحـــديـــد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الـلازم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للــوصـول إلـى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الـحــل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4655840" y="2749837"/>
            <a:ext cx="219621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اِتِّــبَــاعُــهــا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688288" y="2779239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الـخــطــوات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0648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فــهــم الـســؤال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نـصـف الـجــواب - الـفــهــم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الـدقــيــق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لا </a:t>
            </a:r>
            <a:r>
              <a:rPr lang="ar-DZ" sz="4000" b="1" dirty="0">
                <a:solidFill>
                  <a:schemeClr val="tx1"/>
                </a:solidFill>
                <a:cs typeface="+mj-cs"/>
              </a:rPr>
              <a:t>يـمـكـن حــل مـسـألـة مـا لـم 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يَــتِـمُّ </a:t>
            </a:r>
            <a:r>
              <a:rPr lang="ar-DZ" sz="4000" b="1" dirty="0">
                <a:solidFill>
                  <a:schemeClr val="tx1"/>
                </a:solidFill>
                <a:cs typeface="+mj-cs"/>
              </a:rPr>
              <a:t>فـهــمـهـا </a:t>
            </a:r>
            <a:r>
              <a:rPr lang="ar-DZ" sz="4000" b="1" u="sng" dirty="0">
                <a:solidFill>
                  <a:schemeClr val="tx1"/>
                </a:solidFill>
                <a:cs typeface="+mj-cs"/>
              </a:rPr>
              <a:t>بـشـكـل دقــيــقٍ </a:t>
            </a:r>
            <a:r>
              <a:rPr lang="ar-DZ" sz="4000" b="1" u="sng" dirty="0" smtClean="0">
                <a:solidFill>
                  <a:schemeClr val="tx1"/>
                </a:solidFill>
                <a:cs typeface="+mj-cs"/>
              </a:rPr>
              <a:t>وشــامــل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DZ" sz="4000" b="1" dirty="0">
                <a:solidFill>
                  <a:schemeClr val="tx1"/>
                </a:solidFill>
                <a:cs typeface="+mj-cs"/>
              </a:rPr>
              <a:t>وكـمـا 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يُــقَــال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«  </a:t>
            </a:r>
            <a:r>
              <a:rPr lang="ar-DZ" sz="4000" b="1" u="sng" dirty="0" smtClean="0">
                <a:solidFill>
                  <a:srgbClr val="0070C0"/>
                </a:solidFill>
                <a:cs typeface="+mj-cs"/>
              </a:rPr>
              <a:t>فــهــم الـســـؤال نــصــف الـجـــواب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»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الــفـــهـــم الــدقـــيــق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نــفــهــمَ الــمــســألــةَ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فَــهْــمًــا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، عــلـى </a:t>
            </a:r>
            <a:r>
              <a:rPr lang="ar-DZ" sz="4000" b="1" dirty="0" smtClean="0">
                <a:solidFill>
                  <a:srgbClr val="002060"/>
                </a:solidFill>
              </a:rPr>
              <a:t>حَـــقِـــيــــقَـــتِــهَـا </a:t>
            </a:r>
            <a:r>
              <a:rPr lang="ar-DZ" sz="4000" b="1" dirty="0">
                <a:solidFill>
                  <a:srgbClr val="002060"/>
                </a:solidFill>
              </a:rPr>
              <a:t>ولــيــس </a:t>
            </a:r>
            <a:r>
              <a:rPr lang="ar-DZ" sz="4000" b="1" dirty="0" smtClean="0">
                <a:solidFill>
                  <a:srgbClr val="002060"/>
                </a:solidFill>
              </a:rPr>
              <a:t>كَــمَــا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25263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فــهــم الـســؤال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نـصـف الـجــواب - الـفــهــم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الـدقــيــق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لا </a:t>
            </a:r>
            <a:r>
              <a:rPr lang="ar-DZ" sz="4000" b="1" dirty="0">
                <a:solidFill>
                  <a:schemeClr val="tx1"/>
                </a:solidFill>
                <a:cs typeface="+mj-cs"/>
              </a:rPr>
              <a:t>يـمـكـن حــل مـسـألـة مـا لـم يـتـمُّ فـهــمـهـا </a:t>
            </a:r>
            <a:r>
              <a:rPr lang="ar-DZ" sz="4000" b="1" u="sng" dirty="0">
                <a:solidFill>
                  <a:schemeClr val="tx1"/>
                </a:solidFill>
                <a:cs typeface="+mj-cs"/>
              </a:rPr>
              <a:t>بـشـكـل دقــيــقٍ </a:t>
            </a:r>
            <a:r>
              <a:rPr lang="ar-DZ" sz="4000" b="1" u="sng" dirty="0" smtClean="0">
                <a:solidFill>
                  <a:schemeClr val="tx1"/>
                </a:solidFill>
                <a:cs typeface="+mj-cs"/>
              </a:rPr>
              <a:t>وشــامــل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DZ" sz="4000" b="1" dirty="0">
                <a:solidFill>
                  <a:schemeClr val="tx1"/>
                </a:solidFill>
                <a:cs typeface="+mj-cs"/>
              </a:rPr>
              <a:t>وكـمـا 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يُــقَــال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«  </a:t>
            </a:r>
            <a:r>
              <a:rPr lang="ar-DZ" sz="4000" b="1" u="sng" dirty="0" smtClean="0">
                <a:solidFill>
                  <a:srgbClr val="0070C0"/>
                </a:solidFill>
                <a:cs typeface="+mj-cs"/>
              </a:rPr>
              <a:t>فــهــم الـســـؤال نــصــف الـجـــواب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»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الــفـــهـــم الــدقـــيــق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نــفــهــمَ الــمــســألــةَ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فَــهْــمًــا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، عــلـى </a:t>
            </a:r>
            <a:r>
              <a:rPr lang="ar-DZ" sz="4000" b="1" dirty="0" smtClean="0">
                <a:solidFill>
                  <a:srgbClr val="002060"/>
                </a:solidFill>
              </a:rPr>
              <a:t>حَـــقِـــيــــقَـــتِــهَـا </a:t>
            </a:r>
            <a:r>
              <a:rPr lang="ar-DZ" sz="4000" b="1" dirty="0">
                <a:solidFill>
                  <a:srgbClr val="002060"/>
                </a:solidFill>
              </a:rPr>
              <a:t>ولــيــس </a:t>
            </a:r>
            <a:r>
              <a:rPr lang="ar-DZ" sz="4000" b="1" dirty="0" smtClean="0">
                <a:solidFill>
                  <a:srgbClr val="002060"/>
                </a:solidFill>
              </a:rPr>
              <a:t>كَــمَــا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60858" y="4149080"/>
            <a:ext cx="29523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صَــحِـــيـــحًــا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98967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فــهــم الـســؤال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نـصـف الـجــواب - الـفــهــم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الـدقــيــق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لا </a:t>
            </a:r>
            <a:r>
              <a:rPr lang="ar-DZ" sz="4000" b="1" dirty="0">
                <a:solidFill>
                  <a:schemeClr val="tx1"/>
                </a:solidFill>
                <a:cs typeface="+mj-cs"/>
              </a:rPr>
              <a:t>يـمـكـن حــل مـسـألـة مـا لـم يـتـمُّ فـهــمـهـا </a:t>
            </a:r>
            <a:r>
              <a:rPr lang="ar-DZ" sz="4000" b="1" u="sng" dirty="0">
                <a:solidFill>
                  <a:schemeClr val="tx1"/>
                </a:solidFill>
                <a:cs typeface="+mj-cs"/>
              </a:rPr>
              <a:t>بـشـكـل دقــيــقٍ </a:t>
            </a:r>
            <a:r>
              <a:rPr lang="ar-DZ" sz="4000" b="1" u="sng" dirty="0" smtClean="0">
                <a:solidFill>
                  <a:schemeClr val="tx1"/>
                </a:solidFill>
                <a:cs typeface="+mj-cs"/>
              </a:rPr>
              <a:t>وشــامــل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DZ" sz="4000" b="1" dirty="0">
                <a:solidFill>
                  <a:schemeClr val="tx1"/>
                </a:solidFill>
                <a:cs typeface="+mj-cs"/>
              </a:rPr>
              <a:t>وكـمـا </a:t>
            </a:r>
            <a:r>
              <a:rPr lang="ar-DZ" sz="4000" b="1" dirty="0" smtClean="0">
                <a:solidFill>
                  <a:schemeClr val="tx1"/>
                </a:solidFill>
                <a:cs typeface="+mj-cs"/>
              </a:rPr>
              <a:t>يُــقَــال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«  </a:t>
            </a:r>
            <a:r>
              <a:rPr lang="ar-DZ" sz="4000" b="1" u="sng" dirty="0" smtClean="0">
                <a:solidFill>
                  <a:srgbClr val="0070C0"/>
                </a:solidFill>
                <a:cs typeface="+mj-cs"/>
              </a:rPr>
              <a:t>فــهــم الـســـؤال نــصــف الـجـــواب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»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الــفـــهـــم الــدقـــيــق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نــفــهــمَ الــمــســألــةَ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فَــهْــمًــا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، عــلـى </a:t>
            </a:r>
            <a:r>
              <a:rPr lang="ar-DZ" sz="4000" b="1" dirty="0" smtClean="0">
                <a:solidFill>
                  <a:srgbClr val="002060"/>
                </a:solidFill>
              </a:rPr>
              <a:t>حَـــقِـــيــــقَـــتِــهَـا </a:t>
            </a:r>
            <a:r>
              <a:rPr lang="ar-DZ" sz="4000" b="1" dirty="0">
                <a:solidFill>
                  <a:srgbClr val="002060"/>
                </a:solidFill>
              </a:rPr>
              <a:t>ولــيــس </a:t>
            </a:r>
            <a:r>
              <a:rPr lang="ar-DZ" sz="4000" b="1" dirty="0" smtClean="0">
                <a:solidFill>
                  <a:srgbClr val="002060"/>
                </a:solidFill>
              </a:rPr>
              <a:t>كَــمَــا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60858" y="4149080"/>
            <a:ext cx="29523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صَــحِـــيـــحًــا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501154" y="5073426"/>
            <a:ext cx="32127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نَــتَــخَــيَــلُــهَــا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05010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فـهـم الـســؤال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نـصـف الـجــواب - الـفــهــم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الــشــامــل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2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الـفـهــم الــشــامــل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: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أن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نَــسْــتَــوْعِـــبَ الـمـــســألــةَ مـن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جَــمِــيــعِ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ونَــأْخُــذُهـا بِــعَــيْـنِ الِاعْـــتِـــبَـــارِ بَــيْــنَــمَـا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بـعــض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الـمــســألــة </a:t>
            </a:r>
            <a:r>
              <a:rPr lang="ar-DZ" sz="4000" b="1" dirty="0">
                <a:solidFill>
                  <a:srgbClr val="002060"/>
                </a:solidFill>
              </a:rPr>
              <a:t>يُــؤَدِي إلـى </a:t>
            </a:r>
            <a:r>
              <a:rPr lang="ar-DZ" sz="4000" b="1" dirty="0" smtClean="0">
                <a:solidFill>
                  <a:srgbClr val="002060"/>
                </a:solidFill>
              </a:rPr>
              <a:t>حَــلٍ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والَّــذِي </a:t>
            </a:r>
            <a:r>
              <a:rPr lang="ar-DZ" sz="4000" b="1" smtClean="0">
                <a:solidFill>
                  <a:srgbClr val="002060"/>
                </a:solidFill>
              </a:rPr>
              <a:t>لَــنْ يَــكُــونَ حَــلًا </a:t>
            </a:r>
            <a:r>
              <a:rPr lang="ar-DZ" sz="4000" b="1" dirty="0" smtClean="0">
                <a:solidFill>
                  <a:srgbClr val="002060"/>
                </a:solidFill>
              </a:rPr>
              <a:t>صَــحِــيــحًـا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7888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فـهـم الـســؤال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نـصـف الـجــواب - الـفــهــم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الــشــامــل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2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الـفـهــم الــشــامــل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: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أن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نَــسْــتَــوْعِـــبَ الـمـــســألــةَ مـن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جَــمِــيــعِ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ونَــأْخُــذُهـا بِــعَــيْـنِ الِاعْـــتِـــبَـــارِ بَــيْــنَــمَـا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بـعــض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الـمــســألــة </a:t>
            </a:r>
            <a:r>
              <a:rPr lang="ar-DZ" sz="4000" b="1" dirty="0">
                <a:solidFill>
                  <a:srgbClr val="002060"/>
                </a:solidFill>
              </a:rPr>
              <a:t>يُــؤَدِي إلـى </a:t>
            </a:r>
            <a:r>
              <a:rPr lang="ar-DZ" sz="4000" b="1" dirty="0" smtClean="0">
                <a:solidFill>
                  <a:srgbClr val="002060"/>
                </a:solidFill>
              </a:rPr>
              <a:t>حَــلٍ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والَّــذِي </a:t>
            </a:r>
            <a:r>
              <a:rPr lang="ar-DZ" sz="4000" b="1" smtClean="0">
                <a:solidFill>
                  <a:srgbClr val="002060"/>
                </a:solidFill>
              </a:rPr>
              <a:t>لَــنْ يَــكُــونَ حَــلًا </a:t>
            </a:r>
            <a:r>
              <a:rPr lang="ar-DZ" sz="4000" b="1" dirty="0" smtClean="0">
                <a:solidFill>
                  <a:srgbClr val="002060"/>
                </a:solidFill>
              </a:rPr>
              <a:t>صَــحِــيــحًـا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8976320" y="2625269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جَــوَانِــبِــهَــا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05529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فـهـم الـســؤال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نـصـف الـجــواب - الـفــهــم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الــشــامــل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2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الـفـهــم الــشــامــل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: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أن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نَــسْــتَــوْعِـــبَ الـمـــســألــةَ مـن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جَــمِــيــعِ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ونَــأْخُــذُهـا بِــعَــيْـنِ الِاعْـــتِـــبَـــارِ بَــيْــنَــمَـا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بـعــض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الـمــســألــة </a:t>
            </a:r>
            <a:r>
              <a:rPr lang="ar-DZ" sz="4000" b="1" dirty="0">
                <a:solidFill>
                  <a:srgbClr val="002060"/>
                </a:solidFill>
              </a:rPr>
              <a:t>يُــؤَدِي إلـى </a:t>
            </a:r>
            <a:r>
              <a:rPr lang="ar-DZ" sz="4000" b="1" dirty="0" smtClean="0">
                <a:solidFill>
                  <a:srgbClr val="002060"/>
                </a:solidFill>
              </a:rPr>
              <a:t>حَــلٍ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والَّــذِي </a:t>
            </a:r>
            <a:r>
              <a:rPr lang="ar-DZ" sz="4000" b="1" smtClean="0">
                <a:solidFill>
                  <a:srgbClr val="002060"/>
                </a:solidFill>
              </a:rPr>
              <a:t>لَــنْ يَــكُــونَ حَــلًا </a:t>
            </a:r>
            <a:r>
              <a:rPr lang="ar-DZ" sz="4000" b="1" dirty="0" smtClean="0">
                <a:solidFill>
                  <a:srgbClr val="002060"/>
                </a:solidFill>
              </a:rPr>
              <a:t>صَــحِــيــحًـا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8976320" y="2625269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جَــوَانِــبِــهَــا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968208" y="3630295"/>
            <a:ext cx="17733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إِهْــمَــالُ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38470" y="3630294"/>
            <a:ext cx="18495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جَــوَانِــبِ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5173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9" grpId="0" animBg="1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فـهـم الـســؤال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نـصـف الـجــواب - الـفــهــم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الــشــامــل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2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الـفـهــم الــشــامــل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: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أن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نَــسْــتَــوْعِـــبَ الـمـــســألــةَ مـن</a:t>
            </a:r>
            <a:r>
              <a:rPr lang="fr-FR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جَــمِــيــعِ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ونَــأْخُــذُهـا بِــعَــيْـنِ الِاعْـــتِـــبَـــارِ بَــيْــنَــمَـا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بـعــض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الـمــســألــة </a:t>
            </a:r>
            <a:r>
              <a:rPr lang="ar-DZ" sz="4000" b="1" dirty="0">
                <a:solidFill>
                  <a:srgbClr val="002060"/>
                </a:solidFill>
              </a:rPr>
              <a:t>يُــؤَدِي إلـى </a:t>
            </a:r>
            <a:r>
              <a:rPr lang="ar-DZ" sz="4000" b="1" dirty="0" smtClean="0">
                <a:solidFill>
                  <a:srgbClr val="002060"/>
                </a:solidFill>
              </a:rPr>
              <a:t>حَــلٍ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 والَّــذِي </a:t>
            </a:r>
            <a:r>
              <a:rPr lang="ar-DZ" sz="4000" b="1" smtClean="0">
                <a:solidFill>
                  <a:srgbClr val="002060"/>
                </a:solidFill>
              </a:rPr>
              <a:t>لَــنْ يَــكُــونَ حَــلًا </a:t>
            </a:r>
            <a:r>
              <a:rPr lang="ar-DZ" sz="4000" b="1" dirty="0" smtClean="0">
                <a:solidFill>
                  <a:srgbClr val="002060"/>
                </a:solidFill>
              </a:rPr>
              <a:t>صَــحِــيــحًـا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8976320" y="2625269"/>
            <a:ext cx="22322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جَــوَانِــبِــهَــا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968208" y="3630295"/>
            <a:ext cx="177330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إِهْــمَــالُ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99505" y="4635321"/>
            <a:ext cx="180020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جُـــزْئِــيٍّ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38470" y="3630294"/>
            <a:ext cx="18495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جَــوَانِــبِ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6822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9" grpId="0" animBg="1"/>
      <p:bldP spid="8" grpId="0" animBg="1"/>
      <p:bldP spid="1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شـــرح فــهــم الـســـؤال نــصــف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الـجــواب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2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الـفــهــم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الـدقــيــق والـشــامــل يُــمَــثِّــلُ </a:t>
            </a:r>
            <a:r>
              <a:rPr lang="ar-DZ" sz="4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نــصــف الـحــلّ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بـحــيــث يـسـمـح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بـ </a:t>
            </a:r>
            <a:r>
              <a:rPr lang="ar-DZ" sz="44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اســتــنــبــاط </a:t>
            </a:r>
            <a:r>
              <a:rPr lang="ar-DZ" sz="4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الـمـعــطــيــات الـلازمـة </a:t>
            </a:r>
            <a:r>
              <a:rPr lang="ar-DZ" sz="4400" b="1">
                <a:solidFill>
                  <a:srgbClr val="0070C0"/>
                </a:solidFill>
                <a:cs typeface="+mj-cs"/>
              </a:rPr>
              <a:t>كـمـا </a:t>
            </a:r>
            <a:r>
              <a:rPr lang="ar-DZ" sz="4400" b="1" smtClean="0">
                <a:solidFill>
                  <a:srgbClr val="0070C0"/>
                </a:solidFill>
                <a:cs typeface="+mj-cs"/>
              </a:rPr>
              <a:t>يــتــيــح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لـنـا أيـضـا </a:t>
            </a:r>
            <a:r>
              <a:rPr lang="ar-DZ" sz="4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إدراك </a:t>
            </a:r>
            <a:r>
              <a:rPr lang="ar-DZ" sz="44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الــنــتــائــج الــمُـــرَادِ </a:t>
            </a:r>
            <a:r>
              <a:rPr lang="ar-DZ" sz="4400" b="1" u="sng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الـوُصــول إلــيــهـا</a:t>
            </a:r>
            <a:r>
              <a:rPr lang="ar-DZ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endParaRPr lang="ar-DZ" sz="44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091193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شــرح فــهــم الـســـؤال نــصــف الـجــواب  –  تـــابــع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2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والــنــصــف الآخَـــر مـن الـحــلِّ يَــتَــمَــثَّــلُ فـي </a:t>
            </a:r>
            <a:r>
              <a:rPr lang="ar-DZ" sz="4400" b="1" u="sng" dirty="0" smtClean="0">
                <a:solidFill>
                  <a:srgbClr val="FF0000"/>
                </a:solidFill>
                <a:cs typeface="+mj-cs"/>
              </a:rPr>
              <a:t>الاجــتـهـــاد </a:t>
            </a:r>
            <a:r>
              <a:rPr lang="ar-DZ" sz="4400" b="1" u="sng" dirty="0">
                <a:solidFill>
                  <a:srgbClr val="FF0000"/>
                </a:solidFill>
                <a:cs typeface="+mj-cs"/>
              </a:rPr>
              <a:t>فـي إِيــجـــاد الــعـــمــلــيـــات الــمــنــاســبــة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 الَّـتي تــســمــح لــنـا </a:t>
            </a:r>
            <a:r>
              <a:rPr lang="ar-DZ" sz="4400" b="1" u="sng" dirty="0">
                <a:solidFill>
                  <a:srgbClr val="FF0000"/>
                </a:solidFill>
                <a:cs typeface="+mj-cs"/>
              </a:rPr>
              <a:t>بـالانــتــقـــال والاســتــفـــادة مـن الــمــعـــطــيـــات</a:t>
            </a:r>
            <a:r>
              <a:rPr lang="ar-DZ" sz="44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مـن أجــل </a:t>
            </a:r>
            <a:r>
              <a:rPr lang="ar-DZ" sz="4400" b="1" u="sng" dirty="0">
                <a:solidFill>
                  <a:srgbClr val="FF0000"/>
                </a:solidFill>
                <a:cs typeface="+mj-cs"/>
              </a:rPr>
              <a:t>بــلــوغ الــنـــتـــائـج الـنـهــائــيـة</a:t>
            </a:r>
            <a:r>
              <a:rPr lang="ar-DZ" sz="4400" b="1" dirty="0">
                <a:solidFill>
                  <a:srgbClr val="FF0000"/>
                </a:solidFill>
                <a:cs typeface="+mj-cs"/>
              </a:rPr>
              <a:t> </a:t>
            </a:r>
            <a:endParaRPr lang="ar-DZ" sz="44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33911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65000"/>
              </a:lnSpc>
              <a:buNone/>
            </a:pPr>
            <a:r>
              <a:rPr lang="ar-DZ" sz="3800" b="1" dirty="0" smtClean="0">
                <a:solidFill>
                  <a:srgbClr val="C00000"/>
                </a:solidFill>
                <a:cs typeface="+mj-cs"/>
              </a:rPr>
              <a:t>صـيـاغــة حــل مـســألـة يـكـون </a:t>
            </a:r>
            <a:r>
              <a:rPr lang="ar-DZ" sz="3800" baseline="-25000" dirty="0" smtClean="0">
                <a:solidFill>
                  <a:srgbClr val="C00000"/>
                </a:solidFill>
                <a:cs typeface="+mj-cs"/>
              </a:rPr>
              <a:t>.................................................................... </a:t>
            </a:r>
          </a:p>
          <a:p>
            <a:pPr algn="just" rtl="1">
              <a:lnSpc>
                <a:spcPct val="150000"/>
              </a:lnSpc>
            </a:pPr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الـمُــدْخَــلاَت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: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 </a:t>
            </a:r>
            <a:r>
              <a:rPr lang="ar-DZ" sz="4800" baseline="-25000" dirty="0" smtClean="0">
                <a:solidFill>
                  <a:srgbClr val="0070C0"/>
                </a:solidFill>
                <a:cs typeface="+mj-cs"/>
              </a:rPr>
              <a:t>...........................</a:t>
            </a: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 الَّـتِي ن</a:t>
            </a:r>
            <a:r>
              <a:rPr lang="ar-DZ" sz="4800" b="1" dirty="0">
                <a:solidFill>
                  <a:schemeClr val="tx1"/>
                </a:solidFill>
                <a:cs typeface="+mj-cs"/>
              </a:rPr>
              <a:t>ـ</a:t>
            </a: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حــتـاجـهـا</a:t>
            </a:r>
            <a:r>
              <a:rPr lang="fr-FR" sz="48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SA" sz="4800" b="1" dirty="0" smtClean="0">
                <a:cs typeface="+mj-cs"/>
              </a:rPr>
              <a:t>عــنـد بـحـثِــنـا</a:t>
            </a:r>
            <a:r>
              <a:rPr lang="ar-DZ" sz="4800" b="1" dirty="0">
                <a:cs typeface="+mj-cs"/>
              </a:rPr>
              <a:t> </a:t>
            </a:r>
            <a:r>
              <a:rPr lang="ar-SA" sz="4800" b="1" dirty="0" smtClean="0">
                <a:cs typeface="+mj-cs"/>
              </a:rPr>
              <a:t>عـن الحـل</a:t>
            </a:r>
            <a:r>
              <a:rPr lang="fr-FR" sz="4800" b="1" dirty="0" smtClean="0">
                <a:cs typeface="+mj-cs"/>
              </a:rPr>
              <a:t> </a:t>
            </a:r>
            <a:r>
              <a:rPr lang="ar-DZ" sz="4800" b="1" dirty="0" smtClean="0">
                <a:cs typeface="+mj-cs"/>
              </a:rPr>
              <a:t>بـحــيــث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لَا نَــسْــتَــغْـــنِـي عَــنْـهَـا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>
                <a:cs typeface="+mj-cs"/>
              </a:rPr>
              <a:t>( ضَـــرُورِيَـــة </a:t>
            </a:r>
            <a:r>
              <a:rPr lang="ar-DZ" sz="4800" b="1" dirty="0" smtClean="0">
                <a:cs typeface="+mj-cs"/>
              </a:rPr>
              <a:t>)</a:t>
            </a:r>
            <a:endParaRPr lang="ar-DZ" sz="48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68900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65000"/>
              </a:lnSpc>
              <a:buNone/>
            </a:pPr>
            <a:r>
              <a:rPr lang="ar-DZ" sz="3800" b="1" dirty="0" smtClean="0">
                <a:solidFill>
                  <a:srgbClr val="C00000"/>
                </a:solidFill>
                <a:cs typeface="+mj-cs"/>
              </a:rPr>
              <a:t>صـيـاغــة حــل مـســألـة يـكـون </a:t>
            </a:r>
            <a:r>
              <a:rPr lang="ar-DZ" sz="3800" baseline="-25000" dirty="0" smtClean="0">
                <a:solidFill>
                  <a:srgbClr val="C00000"/>
                </a:solidFill>
                <a:cs typeface="+mj-cs"/>
              </a:rPr>
              <a:t>..................................................................... </a:t>
            </a:r>
          </a:p>
          <a:p>
            <a:pPr algn="just" rtl="1">
              <a:lnSpc>
                <a:spcPct val="150000"/>
              </a:lnSpc>
            </a:pPr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الـمُــدْخَــلاَت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: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 </a:t>
            </a:r>
            <a:r>
              <a:rPr lang="ar-DZ" sz="4800" baseline="-25000" dirty="0" smtClean="0">
                <a:solidFill>
                  <a:srgbClr val="0070C0"/>
                </a:solidFill>
                <a:cs typeface="+mj-cs"/>
              </a:rPr>
              <a:t>...........................</a:t>
            </a: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 الَّـتِي ن</a:t>
            </a:r>
            <a:r>
              <a:rPr lang="ar-DZ" sz="4800" b="1" dirty="0">
                <a:solidFill>
                  <a:schemeClr val="tx1"/>
                </a:solidFill>
                <a:cs typeface="+mj-cs"/>
              </a:rPr>
              <a:t>ـ</a:t>
            </a: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حــتـاجـهـا</a:t>
            </a:r>
            <a:r>
              <a:rPr lang="fr-FR" sz="48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SA" sz="4800" b="1" dirty="0" smtClean="0">
                <a:cs typeface="+mj-cs"/>
              </a:rPr>
              <a:t>عــنـد بـحـثِــنـا</a:t>
            </a:r>
            <a:r>
              <a:rPr lang="ar-DZ" sz="4800" b="1" dirty="0">
                <a:cs typeface="+mj-cs"/>
              </a:rPr>
              <a:t> </a:t>
            </a:r>
            <a:r>
              <a:rPr lang="ar-SA" sz="4800" b="1" dirty="0" smtClean="0">
                <a:cs typeface="+mj-cs"/>
              </a:rPr>
              <a:t>عـن الحـل</a:t>
            </a:r>
            <a:r>
              <a:rPr lang="fr-FR" sz="4800" b="1" dirty="0" smtClean="0">
                <a:cs typeface="+mj-cs"/>
              </a:rPr>
              <a:t> </a:t>
            </a:r>
            <a:r>
              <a:rPr lang="ar-DZ" sz="4800" b="1" dirty="0" smtClean="0">
                <a:cs typeface="+mj-cs"/>
              </a:rPr>
              <a:t>بـحــيــث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لَا نَــسْــتَــغْـــنِـي عَــنْـهَـا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>
                <a:cs typeface="+mj-cs"/>
              </a:rPr>
              <a:t>( ضَـــرُورِيَـــة </a:t>
            </a:r>
            <a:r>
              <a:rPr lang="ar-DZ" sz="4800" b="1" dirty="0" smtClean="0">
                <a:cs typeface="+mj-cs"/>
              </a:rPr>
              <a:t>)</a:t>
            </a:r>
            <a:endParaRPr lang="ar-DZ" sz="48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3620" y="1416935"/>
            <a:ext cx="58864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بــتـحـديــد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عــنـاصـرهـا الأسـاسـيـة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79956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65000"/>
              </a:lnSpc>
              <a:buNone/>
            </a:pPr>
            <a:r>
              <a:rPr lang="ar-DZ" sz="3800" b="1" dirty="0" smtClean="0">
                <a:solidFill>
                  <a:srgbClr val="C00000"/>
                </a:solidFill>
                <a:cs typeface="+mj-cs"/>
              </a:rPr>
              <a:t>صـيـاغــة حــل مـســألـة يـكـون </a:t>
            </a:r>
            <a:r>
              <a:rPr lang="ar-DZ" sz="3800" baseline="-25000" dirty="0" smtClean="0">
                <a:solidFill>
                  <a:srgbClr val="C00000"/>
                </a:solidFill>
                <a:cs typeface="+mj-cs"/>
              </a:rPr>
              <a:t>..................................................................... </a:t>
            </a:r>
          </a:p>
          <a:p>
            <a:pPr algn="just" rtl="1">
              <a:lnSpc>
                <a:spcPct val="165000"/>
              </a:lnSpc>
            </a:pPr>
            <a:r>
              <a:rPr lang="ar-DZ" sz="3800" b="1" u="sng" dirty="0" smtClean="0">
                <a:solidFill>
                  <a:srgbClr val="0070C0"/>
                </a:solidFill>
              </a:rPr>
              <a:t>الـمُـدْخَـلاَت</a:t>
            </a:r>
            <a:r>
              <a:rPr lang="ar-DZ" sz="3800" b="1" dirty="0" smtClean="0">
                <a:solidFill>
                  <a:srgbClr val="0070C0"/>
                </a:solidFill>
              </a:rPr>
              <a:t>:</a:t>
            </a:r>
            <a:r>
              <a:rPr lang="ar-DZ" sz="3800" b="1" dirty="0">
                <a:solidFill>
                  <a:srgbClr val="0070C0"/>
                </a:solidFill>
              </a:rPr>
              <a:t> 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</a:t>
            </a:r>
            <a:r>
              <a:rPr lang="ar-DZ" sz="3600" b="1" dirty="0" smtClean="0">
                <a:solidFill>
                  <a:schemeClr val="tx1"/>
                </a:solidFill>
              </a:rPr>
              <a:t> </a:t>
            </a:r>
            <a:r>
              <a:rPr lang="ar-DZ" sz="3400" b="1" dirty="0" smtClean="0">
                <a:solidFill>
                  <a:schemeClr val="tx1"/>
                </a:solidFill>
                <a:cs typeface="+mj-cs"/>
              </a:rPr>
              <a:t>الَّـتِي نحــتـاجـهـا</a:t>
            </a:r>
            <a:r>
              <a:rPr lang="fr-FR" sz="34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SA" sz="3400" b="1" dirty="0" smtClean="0">
                <a:cs typeface="+mj-cs"/>
              </a:rPr>
              <a:t>عــنـد بـحـثِــنـا</a:t>
            </a:r>
            <a:r>
              <a:rPr lang="ar-DZ" sz="3400" b="1" dirty="0">
                <a:cs typeface="+mj-cs"/>
              </a:rPr>
              <a:t> </a:t>
            </a:r>
            <a:r>
              <a:rPr lang="ar-SA" sz="3400" b="1" dirty="0" smtClean="0">
                <a:cs typeface="+mj-cs"/>
              </a:rPr>
              <a:t>عـن الحـل</a:t>
            </a:r>
            <a:r>
              <a:rPr lang="ar-SA" sz="3400" dirty="0" smtClean="0">
                <a:cs typeface="+mj-cs"/>
              </a:rPr>
              <a:t> </a:t>
            </a:r>
            <a:r>
              <a:rPr lang="ar-SA" sz="3600" dirty="0" smtClean="0"/>
              <a:t> </a:t>
            </a:r>
            <a:endParaRPr lang="ar-DZ" sz="3800" b="1" dirty="0" smtClean="0">
              <a:solidFill>
                <a:srgbClr val="0070C0"/>
              </a:solidFill>
            </a:endParaRPr>
          </a:p>
          <a:p>
            <a:pPr algn="just" rtl="1">
              <a:lnSpc>
                <a:spcPct val="165000"/>
              </a:lnSpc>
            </a:pPr>
            <a:r>
              <a:rPr lang="ar-DZ" sz="3800" b="1" u="sng" dirty="0" smtClean="0">
                <a:solidFill>
                  <a:srgbClr val="0070C0"/>
                </a:solidFill>
              </a:rPr>
              <a:t>عـمـلـيـات الـمُـعَـالَـجَـة</a:t>
            </a:r>
            <a:r>
              <a:rPr lang="ar-DZ" sz="3800" b="1" dirty="0">
                <a:solidFill>
                  <a:srgbClr val="0070C0"/>
                </a:solidFill>
              </a:rPr>
              <a:t> </a:t>
            </a:r>
            <a:r>
              <a:rPr lang="en-US" sz="3800" b="1" dirty="0">
                <a:solidFill>
                  <a:srgbClr val="0070C0"/>
                </a:solidFill>
              </a:rPr>
              <a:t>: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...........................................................................</a:t>
            </a:r>
            <a:r>
              <a:rPr lang="ar-DZ" sz="3800" b="1" dirty="0" smtClean="0">
                <a:solidFill>
                  <a:srgbClr val="0070C0"/>
                </a:solidFill>
              </a:rPr>
              <a:t> </a:t>
            </a:r>
          </a:p>
          <a:p>
            <a:pPr algn="just" rtl="1">
              <a:lnSpc>
                <a:spcPct val="165000"/>
              </a:lnSpc>
            </a:pPr>
            <a:r>
              <a:rPr lang="ar-DZ" sz="4000" b="1" u="sng" dirty="0" smtClean="0">
                <a:solidFill>
                  <a:srgbClr val="0070C0"/>
                </a:solidFill>
              </a:rPr>
              <a:t>الـمُـخْـرَجَـات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r>
              <a:rPr lang="en-US" sz="4000" b="1" dirty="0">
                <a:solidFill>
                  <a:srgbClr val="0070C0"/>
                </a:solidFill>
              </a:rPr>
              <a:t>: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r>
              <a:rPr lang="ar-DZ" sz="4000" baseline="-25000" dirty="0" smtClean="0">
                <a:solidFill>
                  <a:srgbClr val="0070C0"/>
                </a:solidFill>
              </a:rPr>
              <a:t>.................</a:t>
            </a:r>
            <a:r>
              <a:rPr lang="ar-DZ" sz="4000" b="1" dirty="0" smtClean="0">
                <a:solidFill>
                  <a:srgbClr val="0070C0"/>
                </a:solidFill>
              </a:rPr>
              <a:t>  </a:t>
            </a:r>
            <a:r>
              <a:rPr lang="ar-DZ" sz="3600" b="1" dirty="0" smtClean="0">
                <a:solidFill>
                  <a:schemeClr val="tx1"/>
                </a:solidFill>
              </a:rPr>
              <a:t>والـمـعـلـومـات الـمــراد</a:t>
            </a:r>
            <a:r>
              <a:rPr lang="ar-DZ" sz="4000" baseline="-25000" dirty="0" smtClean="0">
                <a:solidFill>
                  <a:srgbClr val="0070C0"/>
                </a:solidFill>
              </a:rPr>
              <a:t>...........................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ar-DZ" sz="4000" b="1" dirty="0">
              <a:solidFill>
                <a:srgbClr val="0070C0"/>
              </a:solidFill>
            </a:endParaRPr>
          </a:p>
          <a:p>
            <a:pPr algn="just" rtl="1">
              <a:lnSpc>
                <a:spcPct val="165000"/>
              </a:lnSpc>
            </a:pPr>
            <a:endParaRPr lang="ar-DZ" sz="40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3620" y="1416935"/>
            <a:ext cx="58864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بــتـحـديــد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عــنـاصـرهـا الأسـاسـيـة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01149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65000"/>
              </a:lnSpc>
              <a:buNone/>
            </a:pPr>
            <a:r>
              <a:rPr lang="ar-DZ" sz="3800" b="1" dirty="0" smtClean="0">
                <a:solidFill>
                  <a:srgbClr val="C00000"/>
                </a:solidFill>
                <a:cs typeface="+mj-cs"/>
              </a:rPr>
              <a:t>صـيـاغــة حــل مـســألـة يـكـون </a:t>
            </a:r>
            <a:r>
              <a:rPr lang="ar-DZ" sz="3800" baseline="-25000" dirty="0" smtClean="0">
                <a:solidFill>
                  <a:srgbClr val="C00000"/>
                </a:solidFill>
                <a:cs typeface="+mj-cs"/>
              </a:rPr>
              <a:t>..................................................................... </a:t>
            </a:r>
          </a:p>
          <a:p>
            <a:pPr algn="just" rtl="1">
              <a:lnSpc>
                <a:spcPct val="150000"/>
              </a:lnSpc>
            </a:pPr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الـمُــدْخَــلاَت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: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 </a:t>
            </a:r>
            <a:r>
              <a:rPr lang="ar-DZ" sz="4800" baseline="-25000" dirty="0" smtClean="0">
                <a:solidFill>
                  <a:srgbClr val="0070C0"/>
                </a:solidFill>
                <a:cs typeface="+mj-cs"/>
              </a:rPr>
              <a:t>...........................</a:t>
            </a: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 الَّـتِي ن</a:t>
            </a:r>
            <a:r>
              <a:rPr lang="ar-DZ" sz="4800" b="1" dirty="0">
                <a:solidFill>
                  <a:schemeClr val="tx1"/>
                </a:solidFill>
                <a:cs typeface="+mj-cs"/>
              </a:rPr>
              <a:t>ـ</a:t>
            </a: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حــتـاجـهـا</a:t>
            </a:r>
            <a:r>
              <a:rPr lang="fr-FR" sz="48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SA" sz="4800" b="1" dirty="0" smtClean="0">
                <a:cs typeface="+mj-cs"/>
              </a:rPr>
              <a:t>عــنـد بـحـثِــنـا</a:t>
            </a:r>
            <a:r>
              <a:rPr lang="ar-DZ" sz="4800" b="1" dirty="0">
                <a:cs typeface="+mj-cs"/>
              </a:rPr>
              <a:t> </a:t>
            </a:r>
            <a:r>
              <a:rPr lang="ar-SA" sz="4800" b="1" dirty="0" smtClean="0">
                <a:cs typeface="+mj-cs"/>
              </a:rPr>
              <a:t>عـن الحـل</a:t>
            </a:r>
            <a:r>
              <a:rPr lang="fr-FR" sz="4800" b="1" dirty="0" smtClean="0">
                <a:cs typeface="+mj-cs"/>
              </a:rPr>
              <a:t> </a:t>
            </a:r>
            <a:r>
              <a:rPr lang="ar-DZ" sz="4800" b="1" dirty="0" smtClean="0">
                <a:cs typeface="+mj-cs"/>
              </a:rPr>
              <a:t>بـحــيــث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لَا نَــسْــتَــغْـــنِـي عَــنْـهَـا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>
                <a:cs typeface="+mj-cs"/>
              </a:rPr>
              <a:t>( ضَـــرُورِيَـــة </a:t>
            </a:r>
            <a:r>
              <a:rPr lang="ar-DZ" sz="4800" b="1" dirty="0" smtClean="0">
                <a:cs typeface="+mj-cs"/>
              </a:rPr>
              <a:t>)</a:t>
            </a:r>
            <a:endParaRPr lang="ar-DZ" sz="48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3620" y="1416935"/>
            <a:ext cx="58864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بــتـحـديــد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عــنـاصـرهـا الأسـاسـيـة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19188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65000"/>
              </a:lnSpc>
              <a:buNone/>
            </a:pPr>
            <a:r>
              <a:rPr lang="ar-DZ" sz="3800" b="1" dirty="0" smtClean="0">
                <a:solidFill>
                  <a:srgbClr val="C00000"/>
                </a:solidFill>
                <a:cs typeface="+mj-cs"/>
              </a:rPr>
              <a:t>صـيـاغــة حــل مـســألـة يـكـون </a:t>
            </a:r>
            <a:r>
              <a:rPr lang="ar-DZ" sz="3800" baseline="-25000" dirty="0" smtClean="0">
                <a:solidFill>
                  <a:srgbClr val="C00000"/>
                </a:solidFill>
                <a:cs typeface="+mj-cs"/>
              </a:rPr>
              <a:t>..................................................................... </a:t>
            </a:r>
          </a:p>
          <a:p>
            <a:pPr algn="just" rtl="1">
              <a:lnSpc>
                <a:spcPct val="150000"/>
              </a:lnSpc>
            </a:pPr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الـمُــدْخَــلاَت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: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 </a:t>
            </a:r>
            <a:r>
              <a:rPr lang="ar-DZ" sz="4800" baseline="-25000" dirty="0" smtClean="0">
                <a:solidFill>
                  <a:srgbClr val="0070C0"/>
                </a:solidFill>
                <a:cs typeface="+mj-cs"/>
              </a:rPr>
              <a:t>...........................</a:t>
            </a: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 الَّـتِي ن</a:t>
            </a:r>
            <a:r>
              <a:rPr lang="ar-DZ" sz="4800" b="1" dirty="0">
                <a:solidFill>
                  <a:schemeClr val="tx1"/>
                </a:solidFill>
                <a:cs typeface="+mj-cs"/>
              </a:rPr>
              <a:t>ـ</a:t>
            </a: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حــتـاجـهـا</a:t>
            </a:r>
            <a:r>
              <a:rPr lang="fr-FR" sz="48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SA" sz="4800" b="1" dirty="0" smtClean="0">
                <a:cs typeface="+mj-cs"/>
              </a:rPr>
              <a:t>عــنـد بـحـثِــنـا</a:t>
            </a:r>
            <a:r>
              <a:rPr lang="ar-DZ" sz="4800" b="1" dirty="0">
                <a:cs typeface="+mj-cs"/>
              </a:rPr>
              <a:t> </a:t>
            </a:r>
            <a:r>
              <a:rPr lang="ar-SA" sz="4800" b="1" dirty="0" smtClean="0">
                <a:cs typeface="+mj-cs"/>
              </a:rPr>
              <a:t>عـن الحـل</a:t>
            </a:r>
            <a:r>
              <a:rPr lang="fr-FR" sz="4800" b="1" dirty="0" smtClean="0">
                <a:cs typeface="+mj-cs"/>
              </a:rPr>
              <a:t> </a:t>
            </a:r>
            <a:r>
              <a:rPr lang="ar-DZ" sz="4800" b="1" dirty="0" smtClean="0">
                <a:cs typeface="+mj-cs"/>
              </a:rPr>
              <a:t>بـحــيــث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لَا نَــسْــتَــغْـــنِـي عَــنْـهَـا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>
                <a:cs typeface="+mj-cs"/>
              </a:rPr>
              <a:t>( ضَـــرُورِيَـــة </a:t>
            </a:r>
            <a:r>
              <a:rPr lang="ar-DZ" sz="4800" b="1" dirty="0" smtClean="0">
                <a:cs typeface="+mj-cs"/>
              </a:rPr>
              <a:t>)</a:t>
            </a:r>
            <a:endParaRPr lang="ar-DZ" sz="48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3620" y="1416935"/>
            <a:ext cx="58864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بــتـحـديــد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عــنـاصـرهـا الأسـاسـيـة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91944" y="2546684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الــمُــعْــطَــيَــات</a:t>
            </a:r>
            <a:endParaRPr lang="fr-FR" sz="4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31306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2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2.2 صــيــاغــة حــل  </a:t>
            </a:r>
            <a:r>
              <a:rPr lang="ar-DZ" sz="4200" b="1" dirty="0">
                <a:solidFill>
                  <a:srgbClr val="00B050"/>
                </a:solidFill>
                <a:cs typeface="+mj-cs"/>
              </a:rPr>
              <a:t>الـمــشــكــلــة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 – </a:t>
            </a: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الــمُــدْخَـــلاَت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cs typeface="+mj-cs"/>
              </a:rPr>
              <a:t> بِـالإِضَـافَــةِ </a:t>
            </a:r>
            <a:r>
              <a:rPr lang="ar-DZ" sz="4800" b="1" dirty="0">
                <a:cs typeface="+mj-cs"/>
              </a:rPr>
              <a:t>إِلَـى </a:t>
            </a:r>
            <a:r>
              <a:rPr lang="ar-DZ" sz="4800" b="1" dirty="0" smtClean="0">
                <a:cs typeface="+mj-cs"/>
              </a:rPr>
              <a:t>كَـوْنِـهَـا </a:t>
            </a:r>
            <a:r>
              <a:rPr lang="ar-DZ" sz="4800" b="1" dirty="0">
                <a:cs typeface="+mj-cs"/>
              </a:rPr>
              <a:t>هـي </a:t>
            </a:r>
            <a:r>
              <a:rPr lang="ar-DZ" sz="4800" b="1" dirty="0" smtClean="0">
                <a:cs typeface="+mj-cs"/>
              </a:rPr>
              <a:t>الَّـتِي</a:t>
            </a:r>
            <a:r>
              <a:rPr lang="fr-FR" sz="4800" b="1" dirty="0" smtClean="0">
                <a:cs typeface="+mj-cs"/>
              </a:rPr>
              <a:t> </a:t>
            </a:r>
            <a:r>
              <a:rPr lang="ar-DZ" sz="4800" b="1" u="sng" dirty="0" smtClean="0">
                <a:solidFill>
                  <a:srgbClr val="FF0000"/>
                </a:solidFill>
                <a:cs typeface="+mj-cs"/>
              </a:rPr>
              <a:t>تُـحَــدِّدُ الـنَـتَــائِـجَ الـنهَـائــيـة</a:t>
            </a:r>
            <a:r>
              <a:rPr lang="ar-DZ" sz="4800" b="1" dirty="0" smtClean="0">
                <a:cs typeface="+mj-cs"/>
              </a:rPr>
              <a:t> </a:t>
            </a:r>
            <a:r>
              <a:rPr lang="ar-DZ" sz="4800" b="1" dirty="0">
                <a:cs typeface="+mj-cs"/>
              </a:rPr>
              <a:t>( الــمُــخْـــرَجَـــات )</a:t>
            </a:r>
            <a:r>
              <a:rPr lang="ar-SA" sz="4800" b="1" dirty="0" smtClean="0">
                <a:cs typeface="+mj-cs"/>
              </a:rPr>
              <a:t> </a:t>
            </a:r>
            <a:r>
              <a:rPr lang="ar-DZ" sz="4800" b="1" dirty="0">
                <a:cs typeface="+mj-cs"/>
              </a:rPr>
              <a:t>إِذْ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كُــلَّــمَــا غَـــيِّـــرْنَـــا الــمُـــدْخَـــلَات تَــتَــغَــيَّــرُ مَــعَــهَــا الــمُــخْـــرَجَـــات</a:t>
            </a:r>
            <a:endParaRPr lang="ar-DZ" sz="48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56588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65000"/>
              </a:lnSpc>
            </a:pPr>
            <a:r>
              <a:rPr lang="ar-DZ" sz="4400" b="1" u="sng" dirty="0" smtClean="0">
                <a:solidFill>
                  <a:srgbClr val="0070C0"/>
                </a:solidFill>
                <a:cs typeface="+mj-cs"/>
              </a:rPr>
              <a:t>عـــمــلــيـــات الــمُــعَــالَــجَــة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 </a:t>
            </a:r>
            <a:r>
              <a:rPr lang="en-US" sz="4400" b="1" dirty="0" smtClean="0">
                <a:solidFill>
                  <a:srgbClr val="0070C0"/>
                </a:solidFill>
                <a:cs typeface="+mj-cs"/>
              </a:rPr>
              <a:t>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هـي 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.......................................</a:t>
            </a:r>
            <a:r>
              <a:rPr lang="ar-DZ" sz="3800" b="1" dirty="0" smtClean="0">
                <a:solidFill>
                  <a:srgbClr val="0070C0"/>
                </a:solidFill>
              </a:rPr>
              <a:t> </a:t>
            </a:r>
            <a:r>
              <a:rPr lang="ar-DZ" sz="4400" b="1" dirty="0" smtClean="0">
                <a:cs typeface="+mj-cs"/>
              </a:rPr>
              <a:t>الـحــســابــيــة و </a:t>
            </a:r>
            <a:r>
              <a:rPr lang="ar-DZ" sz="4400" baseline="-25000" dirty="0" smtClean="0">
                <a:solidFill>
                  <a:srgbClr val="0070C0"/>
                </a:solidFill>
                <a:cs typeface="+mj-cs"/>
              </a:rPr>
              <a:t>..................................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الـمــنــطــقــيــة </a:t>
            </a:r>
            <a:r>
              <a:rPr lang="ar-DZ" sz="4400" b="1" dirty="0">
                <a:cs typeface="+mj-cs"/>
              </a:rPr>
              <a:t>الَّــتِـي نــقــوم بـإجـــرائـهـا عــلـى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الــمُــدْخَـــلات</a:t>
            </a:r>
            <a:r>
              <a:rPr lang="ar-DZ" sz="4400" b="1" dirty="0">
                <a:cs typeface="+mj-cs"/>
              </a:rPr>
              <a:t> للـوصــول فـي الــنـهــايــة إلـى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الــمُــخْـــرَجَـــات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ar-DZ" sz="40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82441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65000"/>
              </a:lnSpc>
            </a:pPr>
            <a:r>
              <a:rPr lang="ar-DZ" sz="4400" b="1" u="sng" dirty="0" smtClean="0">
                <a:solidFill>
                  <a:srgbClr val="0070C0"/>
                </a:solidFill>
                <a:cs typeface="+mj-cs"/>
              </a:rPr>
              <a:t>عـــمــلــيـــات الــمُــعَــالَــجَــة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 </a:t>
            </a:r>
            <a:r>
              <a:rPr lang="en-US" sz="4400" b="1" dirty="0" smtClean="0">
                <a:solidFill>
                  <a:srgbClr val="0070C0"/>
                </a:solidFill>
                <a:cs typeface="+mj-cs"/>
              </a:rPr>
              <a:t>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هـي 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.......................................</a:t>
            </a:r>
            <a:r>
              <a:rPr lang="ar-DZ" sz="3800" b="1" dirty="0" smtClean="0">
                <a:solidFill>
                  <a:srgbClr val="0070C0"/>
                </a:solidFill>
              </a:rPr>
              <a:t> </a:t>
            </a:r>
            <a:r>
              <a:rPr lang="ar-DZ" sz="4400" b="1" dirty="0" smtClean="0">
                <a:cs typeface="+mj-cs"/>
              </a:rPr>
              <a:t>الـحــســابــيــة و </a:t>
            </a:r>
            <a:r>
              <a:rPr lang="ar-DZ" sz="4400" baseline="-25000" dirty="0" smtClean="0">
                <a:solidFill>
                  <a:srgbClr val="0070C0"/>
                </a:solidFill>
                <a:cs typeface="+mj-cs"/>
              </a:rPr>
              <a:t>..................................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الـمــنــطــقــيــة </a:t>
            </a:r>
            <a:r>
              <a:rPr lang="ar-DZ" sz="4400" b="1" dirty="0">
                <a:cs typeface="+mj-cs"/>
              </a:rPr>
              <a:t>الَّــتِـي نــقــوم بـإجـــرائـهـا عــلـى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الــمُــدْخَـــلات</a:t>
            </a:r>
            <a:r>
              <a:rPr lang="ar-DZ" sz="4400" b="1" dirty="0">
                <a:cs typeface="+mj-cs"/>
              </a:rPr>
              <a:t> للـوصــول فـي الــنـهــايــة إلـى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الــمُــخْـــرَجَـــات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ar-DZ" sz="40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839416" y="1407149"/>
            <a:ext cx="31683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الـعَـــمَــلِــيَـــات</a:t>
            </a:r>
            <a:endParaRPr lang="fr-FR" sz="4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45262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65000"/>
              </a:lnSpc>
            </a:pPr>
            <a:r>
              <a:rPr lang="ar-DZ" sz="4400" b="1" u="sng" dirty="0" smtClean="0">
                <a:solidFill>
                  <a:srgbClr val="0070C0"/>
                </a:solidFill>
                <a:cs typeface="+mj-cs"/>
              </a:rPr>
              <a:t>عـــمــلــيـــات الــمُــعَــالَــجَــة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 </a:t>
            </a:r>
            <a:r>
              <a:rPr lang="en-US" sz="4400" b="1" dirty="0" smtClean="0">
                <a:solidFill>
                  <a:srgbClr val="0070C0"/>
                </a:solidFill>
                <a:cs typeface="+mj-cs"/>
              </a:rPr>
              <a:t>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هـي 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.......................................</a:t>
            </a:r>
            <a:r>
              <a:rPr lang="ar-DZ" sz="3800" b="1" dirty="0" smtClean="0">
                <a:solidFill>
                  <a:srgbClr val="0070C0"/>
                </a:solidFill>
              </a:rPr>
              <a:t> </a:t>
            </a:r>
            <a:r>
              <a:rPr lang="ar-DZ" sz="4400" b="1" dirty="0" smtClean="0">
                <a:cs typeface="+mj-cs"/>
              </a:rPr>
              <a:t>الـحــســابــيــة و </a:t>
            </a:r>
            <a:r>
              <a:rPr lang="ar-DZ" sz="4400" baseline="-25000" dirty="0" smtClean="0">
                <a:solidFill>
                  <a:srgbClr val="0070C0"/>
                </a:solidFill>
                <a:cs typeface="+mj-cs"/>
              </a:rPr>
              <a:t>..................................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cs typeface="+mj-cs"/>
              </a:rPr>
              <a:t>الـمــنــطــقــيــة </a:t>
            </a:r>
            <a:r>
              <a:rPr lang="ar-DZ" sz="4400" b="1" dirty="0">
                <a:cs typeface="+mj-cs"/>
              </a:rPr>
              <a:t>الَّــتِـي نــقــوم بـإجـــرائـهـا عــلـى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الــمُــدْخَـــلات</a:t>
            </a:r>
            <a:r>
              <a:rPr lang="ar-DZ" sz="4400" b="1" dirty="0">
                <a:cs typeface="+mj-cs"/>
              </a:rPr>
              <a:t> للـوصــول فـي الــنـهــايــة إلـى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الــمُــخْـــرَجَـــات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ar-DZ" sz="40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839416" y="1407149"/>
            <a:ext cx="31683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الـعَـــمَــلِــيَـــات</a:t>
            </a:r>
            <a:endParaRPr lang="fr-FR" sz="4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60994" y="2533237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الـخُــطُـــوَاتِ</a:t>
            </a:r>
            <a:endParaRPr lang="fr-FR" sz="4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72752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/>
            <a:endParaRPr lang="ar-DZ" sz="2400" b="1" u="sng" dirty="0" smtClean="0">
              <a:solidFill>
                <a:srgbClr val="0070C0"/>
              </a:solidFill>
              <a:cs typeface="+mj-cs"/>
            </a:endParaRPr>
          </a:p>
          <a:p>
            <a:pPr algn="just" rtl="1">
              <a:lnSpc>
                <a:spcPct val="200000"/>
              </a:lnSpc>
            </a:pPr>
            <a:r>
              <a:rPr lang="ar-DZ" sz="4400" b="1" u="sng" dirty="0" smtClean="0">
                <a:solidFill>
                  <a:srgbClr val="0070C0"/>
                </a:solidFill>
                <a:cs typeface="+mj-cs"/>
              </a:rPr>
              <a:t>الــمُـخْـــرَجَـــات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4400" b="1" dirty="0">
                <a:solidFill>
                  <a:srgbClr val="0070C0"/>
                </a:solidFill>
                <a:cs typeface="+mj-cs"/>
              </a:rPr>
              <a:t>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>
                <a:cs typeface="+mj-cs"/>
              </a:rPr>
              <a:t>هـي </a:t>
            </a:r>
            <a:r>
              <a:rPr lang="ar-DZ" sz="4400" baseline="-25000" dirty="0" smtClean="0">
                <a:solidFill>
                  <a:srgbClr val="0070C0"/>
                </a:solidFill>
                <a:cs typeface="+mj-cs"/>
              </a:rPr>
              <a:t>.................................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>
                <a:cs typeface="+mj-cs"/>
              </a:rPr>
              <a:t>والــمـعــلــومــات </a:t>
            </a:r>
            <a:r>
              <a:rPr lang="ar-DZ" sz="4400" b="1" dirty="0" smtClean="0">
                <a:cs typeface="+mj-cs"/>
              </a:rPr>
              <a:t>الــمُـــرَادُ </a:t>
            </a:r>
            <a:r>
              <a:rPr lang="ar-DZ" sz="4400" baseline="-25000" dirty="0" smtClean="0">
                <a:solidFill>
                  <a:srgbClr val="0070C0"/>
                </a:solidFill>
                <a:cs typeface="+mj-cs"/>
              </a:rPr>
              <a:t>.............................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>
                <a:cs typeface="+mj-cs"/>
              </a:rPr>
              <a:t>إلــيـهـا عــنــد </a:t>
            </a:r>
            <a:r>
              <a:rPr lang="ar-DZ" sz="4400" b="1" dirty="0" smtClean="0">
                <a:cs typeface="+mj-cs"/>
              </a:rPr>
              <a:t>حَــلِ الـمــســألــة</a:t>
            </a:r>
            <a:endParaRPr lang="ar-DZ" sz="4400" b="1" dirty="0">
              <a:solidFill>
                <a:srgbClr val="0070C0"/>
              </a:solidFill>
              <a:cs typeface="+mj-cs"/>
            </a:endParaRPr>
          </a:p>
          <a:p>
            <a:pPr algn="just" rtl="1">
              <a:lnSpc>
                <a:spcPct val="165000"/>
              </a:lnSpc>
            </a:pPr>
            <a:endParaRPr lang="ar-DZ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8374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/>
            <a:endParaRPr lang="ar-DZ" sz="2400" b="1" u="sng" dirty="0" smtClean="0">
              <a:solidFill>
                <a:srgbClr val="0070C0"/>
              </a:solidFill>
              <a:cs typeface="+mj-cs"/>
            </a:endParaRPr>
          </a:p>
          <a:p>
            <a:pPr algn="just" rtl="1">
              <a:lnSpc>
                <a:spcPct val="200000"/>
              </a:lnSpc>
            </a:pPr>
            <a:r>
              <a:rPr lang="ar-DZ" sz="4400" b="1" u="sng" dirty="0" smtClean="0">
                <a:solidFill>
                  <a:srgbClr val="0070C0"/>
                </a:solidFill>
                <a:cs typeface="+mj-cs"/>
              </a:rPr>
              <a:t>الــمُـخْـــرَجَـــات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4400" b="1" dirty="0">
                <a:solidFill>
                  <a:srgbClr val="0070C0"/>
                </a:solidFill>
                <a:cs typeface="+mj-cs"/>
              </a:rPr>
              <a:t>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>
                <a:cs typeface="+mj-cs"/>
              </a:rPr>
              <a:t>هـي </a:t>
            </a:r>
            <a:r>
              <a:rPr lang="ar-DZ" sz="4400" baseline="-25000" dirty="0" smtClean="0">
                <a:solidFill>
                  <a:srgbClr val="0070C0"/>
                </a:solidFill>
                <a:cs typeface="+mj-cs"/>
              </a:rPr>
              <a:t>.................................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>
                <a:cs typeface="+mj-cs"/>
              </a:rPr>
              <a:t>والــمـعــلــومــات </a:t>
            </a:r>
            <a:r>
              <a:rPr lang="ar-DZ" sz="4400" b="1" dirty="0" smtClean="0">
                <a:cs typeface="+mj-cs"/>
              </a:rPr>
              <a:t>الــمُـــرَادُ </a:t>
            </a:r>
            <a:r>
              <a:rPr lang="ar-DZ" sz="4400" baseline="-25000" dirty="0" smtClean="0">
                <a:solidFill>
                  <a:srgbClr val="0070C0"/>
                </a:solidFill>
                <a:cs typeface="+mj-cs"/>
              </a:rPr>
              <a:t>.............................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>
                <a:cs typeface="+mj-cs"/>
              </a:rPr>
              <a:t>إلــيـهـا عــنــد </a:t>
            </a:r>
            <a:r>
              <a:rPr lang="ar-DZ" sz="4400" b="1" dirty="0" smtClean="0">
                <a:cs typeface="+mj-cs"/>
              </a:rPr>
              <a:t>حَــلِ الـمــســألــة</a:t>
            </a:r>
            <a:endParaRPr lang="ar-DZ" sz="4400" b="1" dirty="0">
              <a:solidFill>
                <a:srgbClr val="0070C0"/>
              </a:solidFill>
              <a:cs typeface="+mj-cs"/>
            </a:endParaRPr>
          </a:p>
          <a:p>
            <a:pPr algn="just" rtl="1">
              <a:lnSpc>
                <a:spcPct val="165000"/>
              </a:lnSpc>
            </a:pPr>
            <a:endParaRPr lang="ar-DZ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116216" y="2104273"/>
            <a:ext cx="26287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</a:rPr>
              <a:t>الــنــتــائــج</a:t>
            </a:r>
            <a:endParaRPr lang="fr-FR" sz="4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96897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/>
            <a:endParaRPr lang="ar-DZ" sz="2400" b="1" u="sng" dirty="0" smtClean="0">
              <a:solidFill>
                <a:srgbClr val="0070C0"/>
              </a:solidFill>
              <a:cs typeface="+mj-cs"/>
            </a:endParaRPr>
          </a:p>
          <a:p>
            <a:pPr algn="just" rtl="1">
              <a:lnSpc>
                <a:spcPct val="200000"/>
              </a:lnSpc>
            </a:pPr>
            <a:r>
              <a:rPr lang="ar-DZ" sz="4400" b="1" u="sng" dirty="0" smtClean="0">
                <a:solidFill>
                  <a:srgbClr val="0070C0"/>
                </a:solidFill>
                <a:cs typeface="+mj-cs"/>
              </a:rPr>
              <a:t>الــمُـخْـــرَجَـــات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4400" b="1" dirty="0">
                <a:solidFill>
                  <a:srgbClr val="0070C0"/>
                </a:solidFill>
                <a:cs typeface="+mj-cs"/>
              </a:rPr>
              <a:t>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>
                <a:cs typeface="+mj-cs"/>
              </a:rPr>
              <a:t>هـي </a:t>
            </a:r>
            <a:r>
              <a:rPr lang="ar-DZ" sz="4400" baseline="-25000" dirty="0" smtClean="0">
                <a:solidFill>
                  <a:srgbClr val="0070C0"/>
                </a:solidFill>
                <a:cs typeface="+mj-cs"/>
              </a:rPr>
              <a:t>.................................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>
                <a:cs typeface="+mj-cs"/>
              </a:rPr>
              <a:t>والــمـعــلــومــات </a:t>
            </a:r>
            <a:r>
              <a:rPr lang="ar-DZ" sz="4400" b="1" dirty="0" smtClean="0">
                <a:cs typeface="+mj-cs"/>
              </a:rPr>
              <a:t>الــمُـــرَادُ </a:t>
            </a:r>
            <a:r>
              <a:rPr lang="ar-DZ" sz="4400" baseline="-25000" dirty="0" smtClean="0">
                <a:solidFill>
                  <a:srgbClr val="0070C0"/>
                </a:solidFill>
                <a:cs typeface="+mj-cs"/>
              </a:rPr>
              <a:t>.............................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>
                <a:cs typeface="+mj-cs"/>
              </a:rPr>
              <a:t>إلــيـهـا عــنــد </a:t>
            </a:r>
            <a:r>
              <a:rPr lang="ar-DZ" sz="4400" b="1" dirty="0" smtClean="0">
                <a:cs typeface="+mj-cs"/>
              </a:rPr>
              <a:t>حَــلِ الـمــســألــة</a:t>
            </a:r>
            <a:endParaRPr lang="ar-DZ" sz="4400" b="1" dirty="0">
              <a:solidFill>
                <a:srgbClr val="0070C0"/>
              </a:solidFill>
              <a:cs typeface="+mj-cs"/>
            </a:endParaRPr>
          </a:p>
          <a:p>
            <a:pPr algn="just" rtl="1">
              <a:lnSpc>
                <a:spcPct val="165000"/>
              </a:lnSpc>
            </a:pPr>
            <a:endParaRPr lang="ar-DZ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116216" y="2104273"/>
            <a:ext cx="26287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</a:rPr>
              <a:t>الــنــتــائــج</a:t>
            </a:r>
            <a:endParaRPr lang="fr-FR" sz="44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798732" y="3454127"/>
            <a:ext cx="2376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</a:rPr>
              <a:t>الــوُصُــول</a:t>
            </a:r>
            <a:endParaRPr lang="fr-FR" sz="44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5527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65000"/>
              </a:lnSpc>
              <a:buNone/>
            </a:pPr>
            <a:r>
              <a:rPr lang="ar-DZ" sz="3800" b="1" dirty="0" smtClean="0">
                <a:solidFill>
                  <a:srgbClr val="C00000"/>
                </a:solidFill>
                <a:cs typeface="+mj-cs"/>
              </a:rPr>
              <a:t>صـيـاغــة حــل مـســألـة يـكـون </a:t>
            </a:r>
            <a:r>
              <a:rPr lang="ar-DZ" sz="3800" baseline="-25000" dirty="0" smtClean="0">
                <a:solidFill>
                  <a:srgbClr val="C00000"/>
                </a:solidFill>
                <a:cs typeface="+mj-cs"/>
              </a:rPr>
              <a:t>..................................................................... </a:t>
            </a:r>
          </a:p>
          <a:p>
            <a:pPr algn="just" rtl="1">
              <a:lnSpc>
                <a:spcPct val="165000"/>
              </a:lnSpc>
            </a:pPr>
            <a:r>
              <a:rPr lang="ar-DZ" sz="3800" b="1" u="sng" dirty="0" smtClean="0">
                <a:solidFill>
                  <a:srgbClr val="0070C0"/>
                </a:solidFill>
              </a:rPr>
              <a:t>الـمُـدْخَـلاَت</a:t>
            </a:r>
            <a:r>
              <a:rPr lang="ar-DZ" sz="3800" b="1" dirty="0" smtClean="0">
                <a:solidFill>
                  <a:srgbClr val="0070C0"/>
                </a:solidFill>
              </a:rPr>
              <a:t>:</a:t>
            </a:r>
            <a:r>
              <a:rPr lang="ar-DZ" sz="3800" b="1" dirty="0">
                <a:solidFill>
                  <a:srgbClr val="0070C0"/>
                </a:solidFill>
              </a:rPr>
              <a:t> 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</a:t>
            </a:r>
            <a:r>
              <a:rPr lang="ar-DZ" sz="3600" b="1" dirty="0" smtClean="0">
                <a:solidFill>
                  <a:schemeClr val="tx1"/>
                </a:solidFill>
              </a:rPr>
              <a:t> </a:t>
            </a:r>
            <a:r>
              <a:rPr lang="ar-DZ" sz="3400" b="1" dirty="0" smtClean="0">
                <a:solidFill>
                  <a:schemeClr val="tx1"/>
                </a:solidFill>
                <a:cs typeface="+mj-cs"/>
              </a:rPr>
              <a:t>الَّـتِي نحــتـاجـهـا</a:t>
            </a:r>
            <a:r>
              <a:rPr lang="fr-FR" sz="34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SA" sz="3400" b="1" dirty="0" smtClean="0">
                <a:cs typeface="+mj-cs"/>
              </a:rPr>
              <a:t>عــنـد بـحـثِــنـا</a:t>
            </a:r>
            <a:r>
              <a:rPr lang="ar-DZ" sz="3400" b="1" dirty="0">
                <a:cs typeface="+mj-cs"/>
              </a:rPr>
              <a:t> </a:t>
            </a:r>
            <a:r>
              <a:rPr lang="ar-SA" sz="3400" b="1" dirty="0" smtClean="0">
                <a:cs typeface="+mj-cs"/>
              </a:rPr>
              <a:t>عـن الحـل</a:t>
            </a:r>
            <a:r>
              <a:rPr lang="ar-SA" sz="3400" dirty="0" smtClean="0">
                <a:cs typeface="+mj-cs"/>
              </a:rPr>
              <a:t> </a:t>
            </a:r>
            <a:r>
              <a:rPr lang="ar-SA" sz="3600" dirty="0" smtClean="0"/>
              <a:t> </a:t>
            </a:r>
            <a:endParaRPr lang="ar-DZ" sz="3800" b="1" dirty="0" smtClean="0">
              <a:solidFill>
                <a:srgbClr val="0070C0"/>
              </a:solidFill>
            </a:endParaRPr>
          </a:p>
          <a:p>
            <a:pPr algn="just" rtl="1">
              <a:lnSpc>
                <a:spcPct val="165000"/>
              </a:lnSpc>
            </a:pPr>
            <a:r>
              <a:rPr lang="ar-DZ" sz="3800" b="1" u="sng" dirty="0" smtClean="0">
                <a:solidFill>
                  <a:srgbClr val="0070C0"/>
                </a:solidFill>
              </a:rPr>
              <a:t>عـمـلـيـات الـمُـعَـالَـجَـة</a:t>
            </a:r>
            <a:r>
              <a:rPr lang="ar-DZ" sz="3800" b="1" dirty="0">
                <a:solidFill>
                  <a:srgbClr val="0070C0"/>
                </a:solidFill>
              </a:rPr>
              <a:t> </a:t>
            </a:r>
            <a:r>
              <a:rPr lang="en-US" sz="3800" b="1" dirty="0">
                <a:solidFill>
                  <a:srgbClr val="0070C0"/>
                </a:solidFill>
              </a:rPr>
              <a:t>: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...........................................................................</a:t>
            </a:r>
            <a:r>
              <a:rPr lang="ar-DZ" sz="3800" b="1" dirty="0" smtClean="0">
                <a:solidFill>
                  <a:srgbClr val="0070C0"/>
                </a:solidFill>
              </a:rPr>
              <a:t> </a:t>
            </a:r>
          </a:p>
          <a:p>
            <a:pPr algn="just" rtl="1">
              <a:lnSpc>
                <a:spcPct val="165000"/>
              </a:lnSpc>
            </a:pPr>
            <a:r>
              <a:rPr lang="ar-DZ" sz="4000" b="1" u="sng" dirty="0" smtClean="0">
                <a:solidFill>
                  <a:srgbClr val="0070C0"/>
                </a:solidFill>
              </a:rPr>
              <a:t>الـمُـخْـرَجَـات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r>
              <a:rPr lang="en-US" sz="4000" b="1" dirty="0">
                <a:solidFill>
                  <a:srgbClr val="0070C0"/>
                </a:solidFill>
              </a:rPr>
              <a:t>: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r>
              <a:rPr lang="ar-DZ" sz="4000" baseline="-25000" dirty="0" smtClean="0">
                <a:solidFill>
                  <a:srgbClr val="0070C0"/>
                </a:solidFill>
              </a:rPr>
              <a:t>.................</a:t>
            </a:r>
            <a:r>
              <a:rPr lang="ar-DZ" sz="4000" b="1" dirty="0" smtClean="0">
                <a:solidFill>
                  <a:srgbClr val="0070C0"/>
                </a:solidFill>
              </a:rPr>
              <a:t>  </a:t>
            </a:r>
            <a:r>
              <a:rPr lang="ar-DZ" sz="3600" b="1" dirty="0" smtClean="0">
                <a:solidFill>
                  <a:schemeClr val="tx1"/>
                </a:solidFill>
              </a:rPr>
              <a:t>والـمـعـلـومـات الـمُــرَاد</a:t>
            </a:r>
            <a:r>
              <a:rPr lang="ar-DZ" sz="4000" baseline="-25000" dirty="0" smtClean="0">
                <a:solidFill>
                  <a:srgbClr val="0070C0"/>
                </a:solidFill>
              </a:rPr>
              <a:t>...........................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ar-DZ" sz="4000" b="1" dirty="0">
              <a:solidFill>
                <a:srgbClr val="0070C0"/>
              </a:solidFill>
            </a:endParaRPr>
          </a:p>
          <a:p>
            <a:pPr algn="just" rtl="1">
              <a:lnSpc>
                <a:spcPct val="165000"/>
              </a:lnSpc>
            </a:pPr>
            <a:endParaRPr lang="ar-DZ" sz="40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3620" y="1416935"/>
            <a:ext cx="58864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بــتـحـديــد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عــنـاصـرهـا الأسـاسـيـة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16080" y="2420888"/>
            <a:ext cx="2160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الـمُـعْــطَــيَـات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3620" y="3458171"/>
            <a:ext cx="66785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الـعـمـلـيـات </a:t>
            </a:r>
            <a:r>
              <a:rPr lang="ar-DZ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الـحـسـابـيـة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والـخـطـوات </a:t>
            </a:r>
            <a:r>
              <a:rPr lang="ar-DZ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الـمـنـطـقـيـة</a:t>
            </a:r>
            <a:endParaRPr lang="fr-FR" sz="3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28061" y="4581128"/>
            <a:ext cx="16645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الـنـتـائـج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3620" y="4564180"/>
            <a:ext cx="25020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الـوصـول إلـيهـا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80012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Sakkal Majalla" panose="02000000000000000000" pitchFamily="2" charset="-78"/>
              </a:rPr>
              <a:t>تَــــــــــوَافُــــــــقُ  </a:t>
            </a:r>
            <a:r>
              <a:rPr lang="ar-DZ" sz="4800" b="1" dirty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Sakkal Majalla" panose="02000000000000000000" pitchFamily="2" charset="-78"/>
              </a:rPr>
              <a:t>الــــعَــــــــتَــــــــــــــادِ </a:t>
            </a:r>
            <a:r>
              <a:rPr lang="ar-DZ" sz="48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Sakkal Majalla" panose="02000000000000000000" pitchFamily="2" charset="-78"/>
              </a:rPr>
              <a:t> </a:t>
            </a:r>
            <a:r>
              <a:rPr lang="en-US" sz="5400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Sakkal Majalla" panose="02000000000000000000" pitchFamily="2" charset="-78"/>
                <a:ea typeface="Droid Sans Fallback"/>
              </a:rPr>
              <a:t>Hardware</a:t>
            </a:r>
            <a:r>
              <a:rPr lang="ar-DZ" sz="5400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Sakkal Majalla" panose="02000000000000000000" pitchFamily="2" charset="-78"/>
                <a:ea typeface="Droid Sans Fallback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ea typeface="Droid Sans Fallback"/>
                <a:cs typeface="Sakkal Majalla" panose="02000000000000000000" pitchFamily="2" charset="-78"/>
              </a:rPr>
              <a:t>والـــــبَــــــــــــــَرامـِـــــــــــج  </a:t>
            </a:r>
            <a:r>
              <a:rPr lang="en-US" sz="5400" dirty="0" smtClean="0">
                <a:solidFill>
                  <a:srgbClr val="FF0000"/>
                </a:solidFill>
                <a:effectLst>
                  <a:outerShdw blurRad="38100" dist="19050" dir="2700000" algn="tl">
                    <a:schemeClr val="dk1">
                      <a:alpha val="40000"/>
                    </a:schemeClr>
                  </a:outerShdw>
                </a:effectLst>
                <a:latin typeface="Sakkal Majalla" panose="02000000000000000000" pitchFamily="2" charset="-78"/>
                <a:ea typeface="Droid Sans Fallback"/>
              </a:rPr>
              <a:t>Software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65000"/>
              </a:lnSpc>
              <a:buNone/>
            </a:pPr>
            <a:endParaRPr lang="ar-DZ" sz="3800" baseline="-25000" dirty="0" smtClean="0">
              <a:solidFill>
                <a:srgbClr val="C00000"/>
              </a:solidFill>
              <a:cs typeface="+mj-cs"/>
            </a:endParaRPr>
          </a:p>
          <a:p>
            <a:pPr marL="0" indent="0" algn="just" rtl="1">
              <a:lnSpc>
                <a:spcPct val="165000"/>
              </a:lnSpc>
              <a:buNone/>
            </a:pPr>
            <a:endParaRPr lang="ar-DZ" sz="3800" baseline="-25000" dirty="0">
              <a:solidFill>
                <a:srgbClr val="C00000"/>
              </a:solidFill>
              <a:cs typeface="+mj-cs"/>
            </a:endParaRPr>
          </a:p>
          <a:p>
            <a:pPr marL="1612900" indent="0" algn="just" rtl="1">
              <a:lnSpc>
                <a:spcPct val="165000"/>
              </a:lnSpc>
              <a:buNone/>
            </a:pPr>
            <a:endParaRPr lang="ar-DZ" sz="3800" baseline="-25000" dirty="0" smtClean="0">
              <a:solidFill>
                <a:srgbClr val="C00000"/>
              </a:solidFill>
              <a:cs typeface="+mj-cs"/>
            </a:endParaRPr>
          </a:p>
          <a:p>
            <a:pPr algn="just" rtl="1">
              <a:lnSpc>
                <a:spcPct val="165000"/>
              </a:lnSpc>
            </a:pPr>
            <a:endParaRPr lang="ar-DZ" sz="40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433" y="274638"/>
            <a:ext cx="8723326" cy="6043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707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u="sng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u="sng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u="sng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u="sng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: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32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الـمـجـال </a:t>
            </a:r>
            <a:r>
              <a:rPr lang="ar-DZ" altLang="zh-CN" sz="3200" b="1" u="sng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الـتَـعَــلُــمِـي</a:t>
            </a:r>
            <a:r>
              <a:rPr lang="ar-DZ" altLang="zh-CN" sz="32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 </a:t>
            </a:r>
            <a:r>
              <a:rPr lang="ar-DZ" altLang="zh-CN" sz="3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: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الـمُــخَــطَّــطَــات الاِنْــسِـــيَـــابِــيَــة والـخُــوَارِزْمِـــيَـــات</a:t>
            </a:r>
            <a:endParaRPr lang="fr-FR" sz="3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04/01/2026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115900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لـديـنـا الـمـعــادلــة مـن </a:t>
            </a:r>
            <a:r>
              <a:rPr lang="ar-DZ" sz="3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الـدرجــة </a:t>
            </a:r>
            <a:r>
              <a:rPr lang="ar-DZ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الأولـى  :  </a:t>
            </a:r>
            <a:r>
              <a:rPr lang="fr-FR" sz="3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 </a:t>
            </a:r>
            <a:r>
              <a:rPr lang="fr-FR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X + b = </a:t>
            </a:r>
            <a:r>
              <a:rPr lang="fr-FR" sz="3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0</a:t>
            </a:r>
            <a:r>
              <a:rPr lang="ar-DZ" sz="3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fr-FR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a </a:t>
            </a:r>
            <a:r>
              <a:rPr lang="en-US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</a:t>
            </a:r>
            <a:r>
              <a:rPr lang="fr-FR" sz="3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0 </a:t>
            </a:r>
            <a:r>
              <a:rPr lang="fr-FR" sz="3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fr-FR" sz="3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مــا هـي الـخــطــوات الـلازم اتِّــبـــاعــهـا لـحــلِّ هــذه الــمــعـــادلــة ؟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ومـا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هـي الـوســيــلـة الَّـتي بـإمـكــانــنــا اســتــعــمــالـهـا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لــتــمــثــيــل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تـلـك الـخــطــوات بَــيَــانِــيًــا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  <a:endParaRPr lang="ar-DZ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الـخــطــوات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هـي تـحــديـــد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</a:p>
          <a:p>
            <a:pPr marL="444500" indent="0" algn="r" rtl="1">
              <a:lnSpc>
                <a:spcPct val="15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1.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r" rt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ar-DZ" sz="4000" b="1" dirty="0"/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الــوســيــلــة هـي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...........................................................................</a:t>
            </a: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5773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65000"/>
              </a:lnSpc>
              <a:buNone/>
            </a:pPr>
            <a:r>
              <a:rPr lang="ar-DZ" sz="3800" b="1" dirty="0" smtClean="0">
                <a:solidFill>
                  <a:srgbClr val="C00000"/>
                </a:solidFill>
                <a:cs typeface="+mj-cs"/>
              </a:rPr>
              <a:t>صـيـاغــة حــل مـســألـة يـكـون </a:t>
            </a:r>
            <a:r>
              <a:rPr lang="ar-DZ" sz="3800" baseline="-25000" dirty="0" smtClean="0">
                <a:solidFill>
                  <a:srgbClr val="C00000"/>
                </a:solidFill>
                <a:cs typeface="+mj-cs"/>
              </a:rPr>
              <a:t>..................................................................... </a:t>
            </a:r>
          </a:p>
          <a:p>
            <a:pPr algn="just" rtl="1">
              <a:lnSpc>
                <a:spcPct val="165000"/>
              </a:lnSpc>
            </a:pPr>
            <a:r>
              <a:rPr lang="ar-DZ" sz="3800" b="1" u="sng" dirty="0" smtClean="0">
                <a:solidFill>
                  <a:srgbClr val="0070C0"/>
                </a:solidFill>
              </a:rPr>
              <a:t>الـمُـدْخَـلاَت</a:t>
            </a:r>
            <a:r>
              <a:rPr lang="ar-DZ" sz="3800" b="1" dirty="0" smtClean="0">
                <a:solidFill>
                  <a:srgbClr val="0070C0"/>
                </a:solidFill>
              </a:rPr>
              <a:t>:</a:t>
            </a:r>
            <a:r>
              <a:rPr lang="ar-DZ" sz="3800" b="1" dirty="0">
                <a:solidFill>
                  <a:srgbClr val="0070C0"/>
                </a:solidFill>
              </a:rPr>
              <a:t> 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</a:t>
            </a:r>
            <a:r>
              <a:rPr lang="ar-DZ" sz="3600" b="1" dirty="0" smtClean="0">
                <a:solidFill>
                  <a:schemeClr val="tx1"/>
                </a:solidFill>
              </a:rPr>
              <a:t> </a:t>
            </a:r>
            <a:r>
              <a:rPr lang="ar-DZ" sz="3400" b="1" dirty="0" smtClean="0">
                <a:solidFill>
                  <a:schemeClr val="tx1"/>
                </a:solidFill>
                <a:cs typeface="+mj-cs"/>
              </a:rPr>
              <a:t>الَّـتِي نحــتـاجـهـا</a:t>
            </a:r>
            <a:r>
              <a:rPr lang="fr-FR" sz="34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SA" sz="3400" b="1" dirty="0" smtClean="0">
                <a:cs typeface="+mj-cs"/>
              </a:rPr>
              <a:t>عــنـد بـحـثِــنـا</a:t>
            </a:r>
            <a:r>
              <a:rPr lang="ar-DZ" sz="3400" b="1" dirty="0">
                <a:cs typeface="+mj-cs"/>
              </a:rPr>
              <a:t> </a:t>
            </a:r>
            <a:r>
              <a:rPr lang="ar-SA" sz="3400" b="1" dirty="0" smtClean="0">
                <a:cs typeface="+mj-cs"/>
              </a:rPr>
              <a:t>عـن الحـل</a:t>
            </a:r>
            <a:r>
              <a:rPr lang="ar-SA" sz="3400" dirty="0" smtClean="0">
                <a:cs typeface="+mj-cs"/>
              </a:rPr>
              <a:t> </a:t>
            </a:r>
            <a:r>
              <a:rPr lang="ar-SA" sz="3600" dirty="0" smtClean="0"/>
              <a:t> </a:t>
            </a:r>
            <a:endParaRPr lang="ar-DZ" sz="3800" b="1" dirty="0" smtClean="0">
              <a:solidFill>
                <a:srgbClr val="0070C0"/>
              </a:solidFill>
            </a:endParaRPr>
          </a:p>
          <a:p>
            <a:pPr algn="just" rtl="1">
              <a:lnSpc>
                <a:spcPct val="165000"/>
              </a:lnSpc>
            </a:pPr>
            <a:r>
              <a:rPr lang="ar-DZ" sz="3800" b="1" u="sng" dirty="0" smtClean="0">
                <a:solidFill>
                  <a:srgbClr val="0070C0"/>
                </a:solidFill>
              </a:rPr>
              <a:t>عـمـلـيـات الـمُـعَـالَـجَـة</a:t>
            </a:r>
            <a:r>
              <a:rPr lang="ar-DZ" sz="3800" b="1" dirty="0">
                <a:solidFill>
                  <a:srgbClr val="0070C0"/>
                </a:solidFill>
              </a:rPr>
              <a:t> </a:t>
            </a:r>
            <a:r>
              <a:rPr lang="en-US" sz="3800" b="1" dirty="0">
                <a:solidFill>
                  <a:srgbClr val="0070C0"/>
                </a:solidFill>
              </a:rPr>
              <a:t>:</a:t>
            </a:r>
            <a:r>
              <a:rPr lang="ar-DZ" sz="3800" baseline="-25000" dirty="0" smtClean="0">
                <a:solidFill>
                  <a:srgbClr val="0070C0"/>
                </a:solidFill>
              </a:rPr>
              <a:t>...........................................................................</a:t>
            </a:r>
            <a:r>
              <a:rPr lang="ar-DZ" sz="3800" b="1" dirty="0" smtClean="0">
                <a:solidFill>
                  <a:srgbClr val="0070C0"/>
                </a:solidFill>
              </a:rPr>
              <a:t> </a:t>
            </a:r>
          </a:p>
          <a:p>
            <a:pPr algn="just" rtl="1">
              <a:lnSpc>
                <a:spcPct val="165000"/>
              </a:lnSpc>
            </a:pPr>
            <a:r>
              <a:rPr lang="ar-DZ" sz="4000" b="1" u="sng" dirty="0" smtClean="0">
                <a:solidFill>
                  <a:srgbClr val="0070C0"/>
                </a:solidFill>
              </a:rPr>
              <a:t>الـمُـخْـرَجَـات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r>
              <a:rPr lang="en-US" sz="4000" b="1" dirty="0">
                <a:solidFill>
                  <a:srgbClr val="0070C0"/>
                </a:solidFill>
              </a:rPr>
              <a:t>: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r>
              <a:rPr lang="ar-DZ" sz="4000" baseline="-25000" dirty="0" smtClean="0">
                <a:solidFill>
                  <a:srgbClr val="0070C0"/>
                </a:solidFill>
              </a:rPr>
              <a:t>.................</a:t>
            </a:r>
            <a:r>
              <a:rPr lang="ar-DZ" sz="4000" b="1" dirty="0" smtClean="0">
                <a:solidFill>
                  <a:srgbClr val="0070C0"/>
                </a:solidFill>
              </a:rPr>
              <a:t>  </a:t>
            </a:r>
            <a:r>
              <a:rPr lang="ar-DZ" sz="3600" b="1" dirty="0" smtClean="0">
                <a:solidFill>
                  <a:schemeClr val="tx1"/>
                </a:solidFill>
              </a:rPr>
              <a:t>والـمـعـلـومـات الـمُــرَاد</a:t>
            </a:r>
            <a:r>
              <a:rPr lang="ar-DZ" sz="4000" baseline="-25000" dirty="0" smtClean="0">
                <a:solidFill>
                  <a:srgbClr val="0070C0"/>
                </a:solidFill>
              </a:rPr>
              <a:t>...........................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ar-DZ" sz="4000" b="1" dirty="0">
              <a:solidFill>
                <a:srgbClr val="0070C0"/>
              </a:solidFill>
            </a:endParaRPr>
          </a:p>
          <a:p>
            <a:pPr algn="just" rtl="1">
              <a:lnSpc>
                <a:spcPct val="165000"/>
              </a:lnSpc>
            </a:pPr>
            <a:endParaRPr lang="ar-DZ" sz="4000" b="1" dirty="0">
              <a:solidFill>
                <a:srgbClr val="0070C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3620" y="1416935"/>
            <a:ext cx="58864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بــتـحـديــد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عــنـاصـرهـا الأسـاسـيـة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16080" y="2420888"/>
            <a:ext cx="2160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الـمُـعْــطَــيَـات</a:t>
            </a:r>
            <a:endParaRPr lang="fr-FR" sz="44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13620" y="3458171"/>
            <a:ext cx="66785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الـعـمـلـيـات </a:t>
            </a:r>
            <a:r>
              <a:rPr lang="ar-DZ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الـحـسـابـيـة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والـخـطـوات </a:t>
            </a:r>
            <a:r>
              <a:rPr lang="ar-DZ" sz="32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الـمـنـطـقـيـة</a:t>
            </a:r>
            <a:endParaRPr lang="fr-FR" sz="320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828061" y="4581128"/>
            <a:ext cx="16645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الـنـتـائـج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13620" y="4564180"/>
            <a:ext cx="25020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الـوصـول إلـيهـا</a:t>
            </a:r>
            <a:endParaRPr lang="fr-FR" sz="36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60808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الـخــطــوات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هـي تـحــديـــد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</a:p>
          <a:p>
            <a:pPr marL="444500" indent="0" algn="r" rtl="1">
              <a:lnSpc>
                <a:spcPct val="15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1.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r" rt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ar-DZ" sz="4000" b="1" dirty="0"/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الــوســيــلــة هـي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...........................................................................</a:t>
            </a: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29509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الـخــطــوات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هـي تـحــديـــد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</a:p>
          <a:p>
            <a:pPr marL="444500" indent="0" algn="r" rtl="1">
              <a:lnSpc>
                <a:spcPct val="15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1.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r" rt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ar-DZ" sz="4000" b="1" dirty="0"/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الــوســيــلــة هـي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...........................................................................</a:t>
            </a: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39416" y="420032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الـمُــخْـــرَجَـــات </a:t>
            </a:r>
            <a:r>
              <a:rPr lang="ar-DZ" sz="4400" b="1" dirty="0">
                <a:solidFill>
                  <a:srgbClr val="0070C0"/>
                </a:solidFill>
              </a:rPr>
              <a:t>( </a:t>
            </a:r>
            <a:r>
              <a:rPr lang="ar-DZ" sz="4400" b="1" dirty="0" smtClean="0">
                <a:solidFill>
                  <a:srgbClr val="0070C0"/>
                </a:solidFill>
              </a:rPr>
              <a:t>نــتــائــج )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:  الـحــــل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X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07538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الـخــطــوات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هـي تـحــديـــد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</a:p>
          <a:p>
            <a:pPr marL="444500" indent="0" algn="r" rtl="1">
              <a:lnSpc>
                <a:spcPct val="15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1.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r" rt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ar-DZ" sz="4000" b="1" dirty="0"/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الــوســيــلــة هـي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...........................................................................</a:t>
            </a: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839416" y="2288903"/>
            <a:ext cx="94330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الـمُـدْخَــلات ( مـعـطـيـات )  :  الـعــدديـن ( 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a , b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416" y="420032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الـمُــخْـــرَجَـــات </a:t>
            </a:r>
            <a:r>
              <a:rPr lang="ar-DZ" sz="4400" b="1" dirty="0">
                <a:solidFill>
                  <a:srgbClr val="0070C0"/>
                </a:solidFill>
              </a:rPr>
              <a:t>( </a:t>
            </a:r>
            <a:r>
              <a:rPr lang="ar-DZ" sz="4400" b="1" dirty="0" smtClean="0">
                <a:solidFill>
                  <a:srgbClr val="0070C0"/>
                </a:solidFill>
              </a:rPr>
              <a:t>نــتــائــج )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:  الـحــــل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X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63042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9" grpId="0" animBg="1"/>
      <p:bldP spid="1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الـخــطــوات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هـي تـحــديـــد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</a:p>
          <a:p>
            <a:pPr marL="444500" indent="0" algn="r" rtl="1">
              <a:lnSpc>
                <a:spcPct val="15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1.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r" rt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ar-DZ" sz="4000" b="1" dirty="0"/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الــوســيــلــة هـي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...........................................................................</a:t>
            </a: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83432" y="3242290"/>
            <a:ext cx="90730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عـــمــلــيـــات الــمــعـــالــجــة  : 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X = - b / a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9416" y="2288903"/>
            <a:ext cx="94330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الـمُـدْخَــلات ( مـعـطـيـات )  :  الـعــدديـن ( 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a , b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416" y="420032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الـمُــخْـــرَجَـــات </a:t>
            </a:r>
            <a:r>
              <a:rPr lang="ar-DZ" sz="4400" b="1" dirty="0">
                <a:solidFill>
                  <a:srgbClr val="0070C0"/>
                </a:solidFill>
              </a:rPr>
              <a:t>( </a:t>
            </a:r>
            <a:r>
              <a:rPr lang="ar-DZ" sz="4400" b="1" dirty="0" smtClean="0">
                <a:solidFill>
                  <a:srgbClr val="0070C0"/>
                </a:solidFill>
              </a:rPr>
              <a:t>نــتــائــج )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:  الـحــــل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X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910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7" grpId="0" animBg="1"/>
      <p:bldP spid="9" grpId="0" animBg="1"/>
      <p:bldP spid="1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الـخــطــوات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هـي تـحــديـــد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</a:t>
            </a:r>
          </a:p>
          <a:p>
            <a:pPr marL="444500" indent="0" algn="r" rtl="1">
              <a:lnSpc>
                <a:spcPct val="15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1.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r" rt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ar-DZ" sz="4000" b="1" dirty="0"/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الــوســيــلــة هـي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...........................................................................</a:t>
            </a: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Rectangle 6"/>
          <p:cNvSpPr/>
          <p:nvPr/>
        </p:nvSpPr>
        <p:spPr>
          <a:xfrm>
            <a:off x="983432" y="3242290"/>
            <a:ext cx="90730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عـــمــلــيـــات الــمــعـــالــجــة  : 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X = - b / a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83432" y="5258344"/>
            <a:ext cx="66247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357188" algn="r" rtl="1">
              <a:tabLst>
                <a:tab pos="357188" algn="l"/>
              </a:tabLst>
            </a:pPr>
            <a:r>
              <a:rPr lang="ar-DZ" sz="4400" b="1" dirty="0">
                <a:solidFill>
                  <a:srgbClr val="00B050"/>
                </a:solidFill>
              </a:rPr>
              <a:t>الــمُــخَـــطَّـــطَ الاِنْــسِــــيَــــابِــي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416" y="2288903"/>
            <a:ext cx="94330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الـمُـدْخَــلات ( مـعـطـيـات )  :  الـعــدديـن ( 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a , b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9416" y="420032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الـمُــخْـــرَجَـــات </a:t>
            </a:r>
            <a:r>
              <a:rPr lang="ar-DZ" sz="4400" b="1" dirty="0">
                <a:solidFill>
                  <a:srgbClr val="0070C0"/>
                </a:solidFill>
              </a:rPr>
              <a:t>( </a:t>
            </a:r>
            <a:r>
              <a:rPr lang="ar-DZ" sz="4400" b="1" dirty="0" smtClean="0">
                <a:solidFill>
                  <a:srgbClr val="0070C0"/>
                </a:solidFill>
              </a:rPr>
              <a:t>نــتــائــج )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:  الـحــــل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X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5132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7" grpId="0" animBg="1"/>
      <p:bldP spid="9" grpId="0" animBg="1"/>
      <p:bldP spid="10" grpId="0" animBg="1"/>
      <p:bldP spid="1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الــمُــخَـــطَّـــطَ الاِنْــسِــــيَــــابِــي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rtl="1">
              <a:lnSpc>
                <a:spcPct val="135000"/>
              </a:lnSpc>
            </a:pPr>
            <a:r>
              <a:rPr lang="ar-DZ" altLang="zh-CN" sz="32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الـمـجـال </a:t>
            </a:r>
            <a:r>
              <a:rPr lang="ar-DZ" altLang="zh-CN" sz="3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الـتَـعَــلُــمِـي</a:t>
            </a:r>
            <a:r>
              <a:rPr lang="ar-DZ" altLang="zh-CN" sz="3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: </a:t>
            </a:r>
            <a:r>
              <a:rPr lang="ar-DZ" sz="3200" b="1" dirty="0">
                <a:solidFill>
                  <a:srgbClr val="FF0000"/>
                </a:solidFill>
                <a:cs typeface="Times New Roman" panose="02020603050405020304" pitchFamily="18" charset="0"/>
              </a:rPr>
              <a:t>الـمُــخَــطَّــطَــات الاِنْــسِـــيَـــابِــيَــة والـخُــوَارِزْمِـــيَـــات</a:t>
            </a:r>
            <a:endParaRPr lang="fr-FR" sz="3200" u="sng" dirty="0">
              <a:solidFill>
                <a:srgbClr val="FF0000"/>
              </a:solidFill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04/01/2026</a:t>
            </a:fld>
            <a:endParaRPr lang="fr-BE" sz="2400" b="1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587388" y="5081119"/>
            <a:ext cx="6660740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zh-CN" sz="4000" b="1" u="sng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Organigramme ( LARP )</a:t>
            </a:r>
            <a:endParaRPr lang="ar-SA" altLang="zh-CN" sz="4000" b="1" dirty="0">
              <a:ln w="0"/>
              <a:solidFill>
                <a:prstClr val="black"/>
              </a:solidFill>
              <a:latin typeface="Arial" pitchFamily="34" charset="0"/>
            </a:endParaRPr>
          </a:p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4281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تـعــريــف الـمُــخَــطَّــط الانــســـيـــابـي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عـــرِّفْ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الــمُــخَــطَّــط الانــســيــابـي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32498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صــيــاغــة حــل الــمــســألــة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: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 X + b = 0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fr-F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Symbol" panose="05050102010706020507" pitchFamily="18" charset="2"/>
              </a:rPr>
              <a:t>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0 )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ar-DZ" sz="3800" b="1" u="sng" dirty="0" smtClean="0">
                <a:solidFill>
                  <a:schemeClr val="tx1"/>
                </a:solidFill>
                <a:cs typeface="+mj-cs"/>
              </a:rPr>
              <a:t> صـيــاغــة حــل هــذه الــمــســألــة يـكـون 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تـحــديــد </a:t>
            </a:r>
            <a:r>
              <a:rPr lang="ar-DZ" sz="3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الـخــطــوات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</a:p>
          <a:p>
            <a:pPr marL="444500" indent="0" algn="r" rtl="1">
              <a:lnSpc>
                <a:spcPct val="15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1.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r" rt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ar-DZ" sz="3600" b="1" dirty="0">
                <a:cs typeface="+mj-cs"/>
              </a:rPr>
              <a:t> </a:t>
            </a:r>
            <a:r>
              <a:rPr lang="ar-DZ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تــمــثــيــل الـخـطـوات يـكـون بـواسـطـة </a:t>
            </a:r>
            <a:r>
              <a:rPr lang="ar-DZ" sz="36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</a:t>
            </a: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39416" y="2288903"/>
            <a:ext cx="94330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الـمُـدْخَــلات ( مـعـطـيـات )  :  الـعــدديـن ( 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a , b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5" y="324229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عـــمــلــيـــات الــمــعـــالــجــة  : 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X = - b / a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9416" y="420032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الـمُــخْـــرَجَـــات </a:t>
            </a:r>
            <a:r>
              <a:rPr lang="ar-DZ" sz="4400" b="1" dirty="0">
                <a:solidFill>
                  <a:srgbClr val="0070C0"/>
                </a:solidFill>
              </a:rPr>
              <a:t>( </a:t>
            </a:r>
            <a:r>
              <a:rPr lang="ar-DZ" sz="4400" b="1" dirty="0" smtClean="0">
                <a:solidFill>
                  <a:srgbClr val="0070C0"/>
                </a:solidFill>
              </a:rPr>
              <a:t>نــتــائــج )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:  الـحــــل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X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9415" y="5153707"/>
            <a:ext cx="410445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357188" algn="r" rtl="1">
              <a:tabLst>
                <a:tab pos="357188" algn="l"/>
              </a:tabLst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مُـخَــطَّــطَ انْـسِــيَــابِـي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1951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6" grpId="0" uiExpand="1" animBg="1"/>
      <p:bldP spid="7" grpId="0" uiExpand="1" animBg="1"/>
      <p:bldP spid="8" grpId="0" uiExpand="1" animBg="1"/>
      <p:bldP spid="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ســـؤال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مــمــا يــتــألــف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الــمُــخَــطَّــط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الانــســـيـــابـي </a:t>
            </a:r>
            <a:r>
              <a:rPr lang="ar-DZ" sz="3800" b="1" dirty="0" smtClean="0">
                <a:solidFill>
                  <a:srgbClr val="FF0000"/>
                </a:solidFill>
              </a:rPr>
              <a:t>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527424" y="3140968"/>
            <a:ext cx="4104456" cy="174054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30370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ســـؤال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مــمــا يــتــألــف </a:t>
            </a:r>
            <a:r>
              <a:rPr lang="ar-DZ" sz="3800" b="1" dirty="0">
                <a:solidFill>
                  <a:srgbClr val="FF0000"/>
                </a:solidFill>
                <a:cs typeface="+mj-cs"/>
              </a:rPr>
              <a:t>الــمُــخَــطَّــط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الانــســـيـــابـي </a:t>
            </a:r>
            <a:r>
              <a:rPr lang="ar-DZ" sz="3800" b="1" dirty="0" smtClean="0">
                <a:solidFill>
                  <a:srgbClr val="FF0000"/>
                </a:solidFill>
              </a:rPr>
              <a:t>؟</a:t>
            </a:r>
            <a:endParaRPr lang="fr-FR" sz="3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527424" y="3140968"/>
            <a:ext cx="4104456" cy="174054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أشـــكــــال هــنــدســيــة</a:t>
            </a:r>
            <a:endParaRPr lang="fr-FR" sz="3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38258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مــاذا تـحــتــوي هــذه الأشــكــال الـمــوجــودة في الــمُـخَـطَّــط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479376" y="3658595"/>
            <a:ext cx="4176464" cy="288032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 الـمــســألــة :</a:t>
            </a:r>
            <a:endParaRPr lang="fr-FR" sz="36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buFont typeface="Arial" pitchFamily="34" charset="0"/>
              <a:buNone/>
            </a:pP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 X + b = 0</a:t>
            </a:r>
            <a:endParaRPr lang="ar-DZ" sz="36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16925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صــيــاغــة حــل الــمــســألــة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: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 X + b = 0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fr-F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Symbol" panose="05050102010706020507" pitchFamily="18" charset="2"/>
              </a:rPr>
              <a:t>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0 )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ar-DZ" sz="3800" b="1" u="sng" dirty="0" smtClean="0">
                <a:solidFill>
                  <a:schemeClr val="tx1"/>
                </a:solidFill>
                <a:cs typeface="+mj-cs"/>
              </a:rPr>
              <a:t> صـيــاغــة حــل هــذه الــمــســألــة يـكـون 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تـحــديــد </a:t>
            </a:r>
            <a:r>
              <a:rPr lang="ar-DZ" sz="3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الـخــطــوات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</a:p>
          <a:p>
            <a:pPr marL="444500" indent="0" algn="r" rtl="1">
              <a:lnSpc>
                <a:spcPct val="15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1.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r" rt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ar-DZ" sz="3600" b="1" dirty="0">
                <a:cs typeface="+mj-cs"/>
              </a:rPr>
              <a:t> </a:t>
            </a:r>
            <a:r>
              <a:rPr lang="ar-DZ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تــمــثــيــل الـخـطـوات يـكـون بـواسـطـة </a:t>
            </a:r>
            <a:r>
              <a:rPr lang="ar-DZ" sz="36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</a:t>
            </a: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39416" y="2288903"/>
            <a:ext cx="94330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الـمُـدْخَــلات ( مـعـطـيـات )  :  الـعــدديـن ( 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a , b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5" y="324229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عـــمــلــيـــات الــمــعـــالــجــة  : 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X = - b / a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9416" y="420032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الـمُــخْـــرَجَـــات </a:t>
            </a:r>
            <a:r>
              <a:rPr lang="ar-DZ" sz="4400" b="1" dirty="0">
                <a:solidFill>
                  <a:srgbClr val="0070C0"/>
                </a:solidFill>
              </a:rPr>
              <a:t>( </a:t>
            </a:r>
            <a:r>
              <a:rPr lang="ar-DZ" sz="4400" b="1" dirty="0" smtClean="0">
                <a:solidFill>
                  <a:srgbClr val="0070C0"/>
                </a:solidFill>
              </a:rPr>
              <a:t>نــتــائــج )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:  الـحــــل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X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9415" y="5153707"/>
            <a:ext cx="410445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357188" algn="r" rtl="1">
              <a:tabLst>
                <a:tab pos="357188" algn="l"/>
              </a:tabLst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مُـخَــطَّــطَ انْـسِــيَــابِـي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7600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مــاذا تـحــتــوي هــذه الأشــكــال الـمــوجــودة في الــمُـخَـطَّــط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479376" y="3645024"/>
            <a:ext cx="4176464" cy="288032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خـطـوات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</a:t>
            </a:r>
            <a:r>
              <a:rPr lang="ar-DZ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الـمــســألــة :</a:t>
            </a:r>
            <a:endParaRPr lang="fr-FR" sz="36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buFont typeface="Arial" pitchFamily="34" charset="0"/>
              <a:buNone/>
            </a:pP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 X + b = 0</a:t>
            </a:r>
            <a:endParaRPr lang="ar-DZ" sz="36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44404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يُـــوَضِّـحُ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مــشــكــلــة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مـسـألـة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مُـعــيَّــنَـة مِـنْ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بحـيـث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يُـعَــبِّــرُ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الـمـسـألـة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وَيَــأْخُــذُ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بِـعَــيْـنِ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الِاعْـــتِـــبَـــار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لإعــطــاء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صــورة عـــامـــة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للـحــلِّ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50878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يُـــوَضِّـحُ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مــشــكــلــة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مـسـألـة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مُـعــيَّــنَـة مِـنْ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بحـيـث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يُـعَــبِّــرُ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الـمـسـألـة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وَيَــأْخُــذُ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بِـعَــيْـنِ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الِاعْـــتِـــبَـــار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لإعــطــاء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صــورة عـــامـــة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للـحــلِّ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536160" y="1392181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تــمــثــيــل بــيـانـي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1335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يُـــوَضِّـحُ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مــشــكــلــة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مـسـألـة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مُـعــيَّــنَـة مِـنْ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بحـيـث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يُـعَــبِّــرُ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الـمـسـألـة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وَيَــأْخُــذُ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بِـعَــيْـنِ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الِاعْـــتِـــبَـــار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لإعــطــاء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صــورة عـــامـــة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للـحــلِّ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536160" y="1392181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تــمــثــيــل بــيـانـي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43672" y="1381943"/>
            <a:ext cx="266429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خــطــوات حــل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99599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يُـــوَضِّـحُ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مــشــكــلــة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مـسـألـة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مُـعــيَّــنَـة مِـنْ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بحـيـث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يُـعَــبِّــرُ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الـمـسـألـة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وَيَــأْخُــذُ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بِـعَــيْـنِ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الِاعْـــتِـــبَـــار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لإعــطــاء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صــورة عـــامـــة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للـحــلِّ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536160" y="1392181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تــمــثــيــل بــيـانـي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43672" y="1381943"/>
            <a:ext cx="266429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خــطــوات حــل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75920" y="2292181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الـبــدايــة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48493" y="2342606"/>
            <a:ext cx="206893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الـنـهــايــة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3911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مــا هـي الـغــايــة مـن اســتــعــمـال الأسـهـم فـي الـمـخــطــط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95400" y="5135814"/>
            <a:ext cx="4176464" cy="122053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</a:t>
            </a:r>
            <a:endParaRPr lang="fr-FR" sz="36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8814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>
                <a:solidFill>
                  <a:srgbClr val="FF0000"/>
                </a:solidFill>
              </a:rPr>
              <a:t>مــا هـي الـغــايــة مـن اســتــعــمـال الأسـهـم فـي الـمـخــطــط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95400" y="4797152"/>
            <a:ext cx="4176464" cy="134317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تُـبَـيِّـنُ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تَـسَـلْـسُـلَ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خـطـوات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الـمـسـألـة</a:t>
            </a:r>
            <a:endParaRPr lang="fr-FR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45853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يُـــوَضِّـحُ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مــشــكــلــة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مـسـألـة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مُـعــيَّــنَـة مِـنْ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بحـيـث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يُـعَــبِّــرُ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الـمـسـألـة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وَيَــأْخُــذُ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بِـعَــيْـنِ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الِاعْـــتِـــبَـــار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لإعــطــاء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صــورة عـــامـــة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للـحــلِّ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536160" y="1392181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تــمــثــيــل بــيـانـي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43672" y="1381943"/>
            <a:ext cx="266429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خــطــوات حــل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75920" y="2292181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الـبــدايــة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48493" y="2342606"/>
            <a:ext cx="206893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الـنـهــايــة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62152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يُـــوَضِّـحُ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مــشــكــلــة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مـسـألـة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مُـعــيَّــنَـة مِـنْ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بحـيـث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يُـعَــبِّــرُ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الـمـسـألـة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وَيَــأْخُــذُ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بِـعَــيْـنِ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الِاعْـــتِـــبَـــار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لإعــطــاء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صــورة عـــامـــة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للـحــلِّ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536160" y="1392181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تــمــثــيــل بــيـانـي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43672" y="1381943"/>
            <a:ext cx="266429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خــطــوات حــل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75920" y="2292181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الـبــدايــة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48493" y="2342606"/>
            <a:ext cx="206893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الـنـهــايــة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17231" y="3327180"/>
            <a:ext cx="18722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تَــدَفُــقِ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495600" y="3345431"/>
            <a:ext cx="37444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تَـسَـلْـسُـلِ خُــطَــوَاتِ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4257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هــل </a:t>
            </a:r>
            <a:r>
              <a:rPr lang="ar-DZ" sz="3600" b="1" u="sng" dirty="0" smtClean="0">
                <a:solidFill>
                  <a:srgbClr val="FF0000"/>
                </a:solidFill>
                <a:cs typeface="+mj-cs"/>
              </a:rPr>
              <a:t>حــل هــذه الـمــســألــة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 : 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a 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X + b =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0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 صـحــيــحًــا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du contenu 21"/>
          <p:cNvSpPr txBox="1">
            <a:spLocks/>
          </p:cNvSpPr>
          <p:nvPr/>
        </p:nvSpPr>
        <p:spPr>
          <a:xfrm>
            <a:off x="6672064" y="3072950"/>
            <a:ext cx="5031496" cy="328817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………………</a:t>
            </a:r>
            <a:endParaRPr lang="fr-FR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2526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11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هــل </a:t>
            </a:r>
            <a:r>
              <a:rPr lang="ar-DZ" sz="3600" b="1" u="sng" dirty="0">
                <a:solidFill>
                  <a:srgbClr val="FF0000"/>
                </a:solidFill>
                <a:cs typeface="+mj-cs"/>
              </a:rPr>
              <a:t>حــل هــذه الـمــســألــة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  :  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a X + b = 0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  صـحــيــحًــا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Espace réservé du contenu 21"/>
          <p:cNvSpPr txBox="1">
            <a:spLocks/>
          </p:cNvSpPr>
          <p:nvPr/>
        </p:nvSpPr>
        <p:spPr>
          <a:xfrm>
            <a:off x="6672064" y="3070790"/>
            <a:ext cx="5031496" cy="3288176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إِذَا كَــانَ 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مَــعْــدُومًــا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فَـإنَّـهُ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يُـمْـكِـنُ إِنْــجَــازُ هـــذه الـعــمــلــيــة :</a:t>
            </a:r>
          </a:p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X</a:t>
            </a:r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=  - b / a</a:t>
            </a:r>
            <a:endParaRPr lang="fr-FR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8799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11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هــل </a:t>
            </a:r>
            <a:r>
              <a:rPr lang="ar-DZ" sz="3600" b="1" u="sng" dirty="0" smtClean="0">
                <a:solidFill>
                  <a:srgbClr val="FF0000"/>
                </a:solidFill>
                <a:cs typeface="+mj-cs"/>
              </a:rPr>
              <a:t>حــل هــذه الـمــســألــة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: </a:t>
            </a:r>
            <a:r>
              <a:rPr lang="fr-FR" sz="3600" b="1" dirty="0" smtClean="0">
                <a:solidFill>
                  <a:srgbClr val="FF0000"/>
                </a:solidFill>
                <a:cs typeface="+mj-cs"/>
              </a:rPr>
              <a:t>a 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X + b = 0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 حَـــلًا شَــامِــلًا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479376" y="3789040"/>
            <a:ext cx="4176464" cy="235128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</a:t>
            </a:r>
            <a:endParaRPr lang="fr-FR" sz="4000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6744072" y="2924944"/>
            <a:ext cx="5170892" cy="331236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اذا كـان الـعـدديـن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b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مـعـــدومــيــن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فــمـا هـي حــلـول الــمــســألــة</a:t>
            </a:r>
            <a:endParaRPr lang="fr-FR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buNone/>
            </a:pPr>
            <a:r>
              <a:rPr lang="fr-FR" b="1" dirty="0" smtClean="0">
                <a:solidFill>
                  <a:srgbClr val="FF0000"/>
                </a:solidFill>
              </a:rPr>
              <a:t> a </a:t>
            </a:r>
            <a:r>
              <a:rPr lang="fr-FR" b="1" dirty="0">
                <a:solidFill>
                  <a:srgbClr val="FF0000"/>
                </a:solidFill>
              </a:rPr>
              <a:t>X + b = </a:t>
            </a:r>
            <a:r>
              <a:rPr lang="fr-FR" b="1" dirty="0" smtClean="0">
                <a:solidFill>
                  <a:srgbClr val="FF0000"/>
                </a:solidFill>
              </a:rPr>
              <a:t>0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 </a:t>
            </a:r>
            <a:endParaRPr lang="fr-FR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225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  <p:bldP spid="10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cs typeface="+mj-cs"/>
              </a:rPr>
              <a:t>ســؤال : هــل </a:t>
            </a:r>
            <a:r>
              <a:rPr lang="ar-DZ" sz="3600" b="1" u="sng" dirty="0">
                <a:solidFill>
                  <a:srgbClr val="FF0000"/>
                </a:solidFill>
                <a:cs typeface="+mj-cs"/>
              </a:rPr>
              <a:t>حــل هــذه الـمــســألــة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a X + b = 0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  حَـــلًا شَــامِــلًا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09600" y="3428999"/>
            <a:ext cx="3960440" cy="271132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ذن هــذا الحــل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جــزئـي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ولـيـس حَــلًا شَـامِـلًا </a:t>
            </a:r>
            <a:endParaRPr lang="fr-FR" sz="34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6862346" y="2924943"/>
            <a:ext cx="4720054" cy="321538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اذا كـان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b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مَـعْــدُومَـيْـنِ فــإِنَّ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كُــلَّ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عَـــدَدٍ حــقــيــقـي هــو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حــل لـهــذه الـمـسـألـة </a:t>
            </a:r>
            <a:endParaRPr lang="fr-FR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60598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  <p:bldP spid="10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4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هــل </a:t>
            </a:r>
            <a:r>
              <a:rPr lang="ar-DZ" sz="3400" b="1" u="sng" dirty="0" smtClean="0">
                <a:solidFill>
                  <a:srgbClr val="FF0000"/>
                </a:solidFill>
                <a:cs typeface="+mj-cs"/>
              </a:rPr>
              <a:t>حــل الـمـســألــة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 : </a:t>
            </a:r>
            <a:r>
              <a:rPr lang="fr-FR" sz="3400" b="1" dirty="0" smtClean="0">
                <a:solidFill>
                  <a:srgbClr val="FF0000"/>
                </a:solidFill>
                <a:cs typeface="+mj-cs"/>
              </a:rPr>
              <a:t>a </a:t>
            </a:r>
            <a:r>
              <a:rPr lang="fr-FR" sz="3400" b="1" dirty="0">
                <a:solidFill>
                  <a:srgbClr val="FF0000"/>
                </a:solidFill>
                <a:cs typeface="+mj-cs"/>
              </a:rPr>
              <a:t>X + b = 0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 a 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</a:t>
            </a:r>
            <a:r>
              <a:rPr lang="fr-FR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0 )</a:t>
            </a:r>
            <a:r>
              <a:rPr lang="ar-DZ" sz="3400" b="1" dirty="0" smtClean="0">
                <a:solidFill>
                  <a:srgbClr val="FF0000"/>
                </a:solidFill>
                <a:cs typeface="+mj-cs"/>
              </a:rPr>
              <a:t> صـحـيـحـا وشـامـلا ؟</a:t>
            </a:r>
            <a:endParaRPr lang="fr-FR" sz="3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557971" y="4077071"/>
            <a:ext cx="3960440" cy="206325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ذن هــذا الحــل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حَــلًا</a:t>
            </a:r>
            <a:r>
              <a:rPr lang="fr-FR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ص</a:t>
            </a:r>
            <a:r>
              <a:rPr lang="ar-DZ" sz="3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ـح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ِـ</a:t>
            </a:r>
            <a:r>
              <a:rPr lang="ar-SA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ـي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ـح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َـ</a:t>
            </a:r>
            <a:r>
              <a:rPr lang="ar-SA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ـا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وَشَــامِـــلًا </a:t>
            </a:r>
            <a:endParaRPr lang="fr-FR" sz="34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6886754" y="3495296"/>
            <a:ext cx="4720054" cy="264503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اذا كـان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غـيـر مَــعْـــدُومًــا فــإن </a:t>
            </a:r>
            <a:r>
              <a:rPr lang="ar-DZ" sz="3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الـمـسـألـة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تـقـبـل حــلا واحــدا : </a:t>
            </a:r>
            <a:r>
              <a:rPr lang="fr-FR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-b/a</a:t>
            </a:r>
          </a:p>
        </p:txBody>
      </p:sp>
    </p:spTree>
    <p:extLst>
      <p:ext uri="{BB962C8B-B14F-4D97-AF65-F5344CB8AC3E}">
        <p14:creationId xmlns:p14="http://schemas.microsoft.com/office/powerpoint/2010/main" val="2907963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  <p:bldP spid="10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يُـــوَضِّـحُ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مــشــكــلــة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مـسـألـة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مُـعــيَّــنَـة مِـنْ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بحـيـث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يُـعَــبِّــرُ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الـمـسـألـة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وَيَــأْخُــذُ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بِـعَــيْـنِ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الِاعْـــتِـــبَـــار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لإعــطــاء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صــورة عـــامـــة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للـحــلِّ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536160" y="1392181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تــمــثــيــل بــيـانـي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43672" y="1381943"/>
            <a:ext cx="266429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خــطــوات حــل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75920" y="2292181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الـبــدايــة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48493" y="2342606"/>
            <a:ext cx="206893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الـنـهــايــة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17231" y="3327180"/>
            <a:ext cx="18722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تَــدَفُــقِ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495600" y="3345431"/>
            <a:ext cx="37444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تَـسَـلْـسُـلِ خُــطَــوَاتِ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28310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( 1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تـعــريـف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يُـــوَضِّـحُ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مــشــكــلــة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(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مـسـألـة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مُـعــيَّــنَـة مِـنْ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إلـى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بحـيـث :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يُـعَــبِّــرُ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الـمـسـألـة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وَيَــأْخُــذُ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بِـعَــيْـنِ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الِاعْـــتِـــبَـــار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لإعــطــاء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صــورة عـــامـــة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للـحــلِّ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536160" y="1392181"/>
            <a:ext cx="32403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تــمــثــيــل بــيـانـي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43672" y="1381943"/>
            <a:ext cx="266429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خــطــوات حــل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375920" y="2292181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الـبــدايــة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48493" y="2342606"/>
            <a:ext cx="206893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الـنـهــايــة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17231" y="3327180"/>
            <a:ext cx="187220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تَــدَفُــقِ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495600" y="3345431"/>
            <a:ext cx="37444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تَـسَـلْـسُـلِ خُــطَــوَاتِ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7408" y="4339422"/>
            <a:ext cx="38884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الـحُـلُـول الـمُــمْــكِــنَــة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5964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إنــشـــاء الـمُــخَــطَّــط الانــســـيـــابـي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كــيــف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نُــنْــشِـئْ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الــمُــخَــطَّــط الانــســيــابـي 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4101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( 2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إنــشـــاء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solidFill>
                <a:srgbClr val="002060"/>
              </a:solidFill>
            </a:endParaRPr>
          </a:p>
          <a:p>
            <a:pPr marL="0" indent="0" algn="just" rtl="1">
              <a:lnSpc>
                <a:spcPct val="2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نَـبْـدَأُ دَائِـمًـا بِـ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الـمــسـألـة و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ثُــمَ نَـسْــتَــعْــمِــلُ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لِــرَسْــمِ الـمُـخَــطَّــطِ الاِنْــسْــيَــابِـي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18607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( 2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إنــشـــاء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solidFill>
                <a:srgbClr val="002060"/>
              </a:solidFill>
            </a:endParaRPr>
          </a:p>
          <a:p>
            <a:pPr marL="0" indent="0" algn="just" rtl="1">
              <a:lnSpc>
                <a:spcPct val="2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نَـبْـدَأُ دَائِـمًـا بِـ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الـمــسـألـة و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ثُــمَ نَـسْــتَــعْــمِــلُ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لِــرَسْــمِ الـمُـخَــطَّــطِ الاِنْــسْــيَــابِـي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6744072" y="2103712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تَـحْــلِــيــلِ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5400" y="2108964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تَـحْــدِيــدِ عَــنَــاصِـرِهَـا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0509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( 2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. إنــشـــاء الـ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مُــخــطَّــط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ال</a:t>
            </a:r>
            <a:r>
              <a:rPr lang="ar-SA" b="1" dirty="0">
                <a:solidFill>
                  <a:srgbClr val="FF0000"/>
                </a:solidFill>
                <a:cs typeface="+mj-cs"/>
              </a:rPr>
              <a:t>انــســيـــابـي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solidFill>
                <a:srgbClr val="002060"/>
              </a:solidFill>
            </a:endParaRPr>
          </a:p>
          <a:p>
            <a:pPr marL="0" indent="0" algn="just" rtl="1">
              <a:lnSpc>
                <a:spcPct val="2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نَـبْـدَأُ دَائِـمًـا بِـ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الـمــسـألـة و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─ ثُــمَ نَـسْــتَــعْــمِــلُ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لِــرَسْــمِ الـمُـخَــطَّــطِ الاِنْــسْــيَــابِـي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6744072" y="2103712"/>
            <a:ext cx="1872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تَـحْــلِــيــلِ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95400" y="2108964"/>
            <a:ext cx="38164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تَـحْــدِيــدِ عَــنَــاصِـرِهَـا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423592" y="3308658"/>
            <a:ext cx="50405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الأَشْــكَــالَ الـهَــنْــدَسِـــيَــة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5334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  <p:bldP spid="11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FF0000"/>
                </a:solidFill>
                <a:cs typeface="+mj-cs"/>
              </a:rPr>
              <a:t>1.2 تـحــلــيــل الـمــســـألــة وتـحــديـــد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عـــنـــاصــرهــا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حَــدِّدْ خُـــطُـــوَاتِ حَــل مَــسْـــأَلَــة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3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01734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 ( 1.2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تَـحْــلِــيــلُ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الـمَــسْــأَلَــةِ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وَتَـحْــدِيـــدِ </a:t>
            </a:r>
            <a:r>
              <a:rPr lang="ar-DZ" sz="4000" b="1" dirty="0" smtClean="0">
                <a:solidFill>
                  <a:srgbClr val="FF0000"/>
                </a:solidFill>
                <a:cs typeface="+mj-cs"/>
              </a:rPr>
              <a:t>عَـــنَــاصِــرِهَــا 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2348880"/>
            <a:ext cx="10814992" cy="402095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623392" y="1256176"/>
            <a:ext cx="10814992" cy="9778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4000" b="1" dirty="0">
                <a:solidFill>
                  <a:srgbClr val="00B050"/>
                </a:solidFill>
                <a:cs typeface="+mj-cs"/>
              </a:rPr>
              <a:t>Step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1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- Inputs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: </a:t>
            </a:r>
            <a:r>
              <a:rPr lang="fr-FR" sz="2800" dirty="0" smtClean="0">
                <a:solidFill>
                  <a:srgbClr val="00B050"/>
                </a:solidFill>
                <a:cs typeface="+mj-cs"/>
              </a:rPr>
              <a:t>…………………..…………………..…………...…………………</a:t>
            </a:r>
            <a:endParaRPr lang="ar-DZ" sz="2800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60643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000" b="1" dirty="0">
                <a:solidFill>
                  <a:srgbClr val="FF0000"/>
                </a:solidFill>
                <a:cs typeface="+mj-cs"/>
              </a:rPr>
              <a:t> ( 1.2 تَـحْــلِــيــلُ الـمَــسْــأَلَــةِ وَتَـحْــدِيـــدِ عَـــنَــاصِــرِهَــا 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2348880"/>
            <a:ext cx="10814992" cy="402095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623392" y="1256176"/>
            <a:ext cx="10814992" cy="9778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4000" b="1" dirty="0">
                <a:solidFill>
                  <a:srgbClr val="00B050"/>
                </a:solidFill>
                <a:cs typeface="+mj-cs"/>
              </a:rPr>
              <a:t>Step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1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- Inputs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: </a:t>
            </a:r>
            <a:r>
              <a:rPr lang="fr-FR" sz="2800" dirty="0" smtClean="0">
                <a:solidFill>
                  <a:srgbClr val="00B050"/>
                </a:solidFill>
                <a:cs typeface="+mj-cs"/>
              </a:rPr>
              <a:t>…………………..…………………..…………...…………………</a:t>
            </a:r>
            <a:endParaRPr lang="ar-DZ" sz="2800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51558" y="1341350"/>
            <a:ext cx="69847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B050"/>
                </a:solidFill>
              </a:rPr>
              <a:t>ال</a:t>
            </a:r>
            <a:r>
              <a:rPr lang="ar-DZ" sz="4000" b="1" dirty="0" smtClean="0">
                <a:solidFill>
                  <a:srgbClr val="00B050"/>
                </a:solidFill>
              </a:rPr>
              <a:t>ـ</a:t>
            </a:r>
            <a:r>
              <a:rPr lang="ar-SA" sz="4000" b="1" dirty="0" smtClean="0">
                <a:solidFill>
                  <a:srgbClr val="00B050"/>
                </a:solidFill>
              </a:rPr>
              <a:t>ـم</a:t>
            </a:r>
            <a:r>
              <a:rPr lang="ar-DZ" sz="4000" b="1" dirty="0" smtClean="0">
                <a:solidFill>
                  <a:srgbClr val="00B050"/>
                </a:solidFill>
              </a:rPr>
              <a:t>ُـ</a:t>
            </a:r>
            <a:r>
              <a:rPr lang="ar-SA" sz="4000" b="1" dirty="0" smtClean="0">
                <a:solidFill>
                  <a:srgbClr val="00B050"/>
                </a:solidFill>
              </a:rPr>
              <a:t>ـد</a:t>
            </a:r>
            <a:r>
              <a:rPr lang="ar-DZ" sz="4000" b="1" dirty="0" smtClean="0">
                <a:solidFill>
                  <a:srgbClr val="00B050"/>
                </a:solidFill>
              </a:rPr>
              <a:t>ْ</a:t>
            </a:r>
            <a:r>
              <a:rPr lang="ar-SA" sz="4000" b="1" dirty="0" smtClean="0">
                <a:solidFill>
                  <a:srgbClr val="00B050"/>
                </a:solidFill>
              </a:rPr>
              <a:t>خ</a:t>
            </a:r>
            <a:r>
              <a:rPr lang="ar-DZ" sz="4000" b="1" dirty="0" smtClean="0">
                <a:solidFill>
                  <a:srgbClr val="00B050"/>
                </a:solidFill>
              </a:rPr>
              <a:t>َــ</a:t>
            </a:r>
            <a:r>
              <a:rPr lang="ar-SA" sz="4000" b="1" dirty="0" smtClean="0">
                <a:solidFill>
                  <a:srgbClr val="00B050"/>
                </a:solidFill>
              </a:rPr>
              <a:t>ـل</a:t>
            </a:r>
            <a:r>
              <a:rPr lang="ar-DZ" sz="4000" b="1" dirty="0" smtClean="0">
                <a:solidFill>
                  <a:srgbClr val="00B050"/>
                </a:solidFill>
              </a:rPr>
              <a:t>َ</a:t>
            </a:r>
            <a:r>
              <a:rPr lang="ar-SA" sz="4000" b="1" dirty="0" smtClean="0">
                <a:solidFill>
                  <a:srgbClr val="00B050"/>
                </a:solidFill>
              </a:rPr>
              <a:t>ات الـو</a:t>
            </a:r>
            <a:r>
              <a:rPr lang="ar-DZ" sz="4000" b="1" dirty="0">
                <a:solidFill>
                  <a:srgbClr val="00B050"/>
                </a:solidFill>
              </a:rPr>
              <a:t>َ</a:t>
            </a:r>
            <a:r>
              <a:rPr lang="ar-SA" sz="4000" b="1" dirty="0" smtClean="0">
                <a:solidFill>
                  <a:srgbClr val="00B050"/>
                </a:solidFill>
              </a:rPr>
              <a:t>اج</a:t>
            </a:r>
            <a:r>
              <a:rPr lang="ar-DZ" sz="4000" b="1" dirty="0" smtClean="0">
                <a:solidFill>
                  <a:srgbClr val="00B050"/>
                </a:solidFill>
              </a:rPr>
              <a:t>ِـ</a:t>
            </a:r>
            <a:r>
              <a:rPr lang="ar-SA" sz="4000" b="1" dirty="0" smtClean="0">
                <a:solidFill>
                  <a:srgbClr val="00B050"/>
                </a:solidFill>
              </a:rPr>
              <a:t>ـب ا</a:t>
            </a:r>
            <a:r>
              <a:rPr lang="ar-DZ" sz="4000" b="1" dirty="0" smtClean="0">
                <a:solidFill>
                  <a:srgbClr val="00B050"/>
                </a:solidFill>
              </a:rPr>
              <a:t>ِ</a:t>
            </a:r>
            <a:r>
              <a:rPr lang="ar-SA" sz="4000" b="1" dirty="0" smtClean="0">
                <a:solidFill>
                  <a:srgbClr val="00B050"/>
                </a:solidFill>
              </a:rPr>
              <a:t>س</a:t>
            </a:r>
            <a:r>
              <a:rPr lang="ar-DZ" sz="4000" b="1" dirty="0" smtClean="0">
                <a:solidFill>
                  <a:srgbClr val="00B050"/>
                </a:solidFill>
              </a:rPr>
              <a:t>ْـ</a:t>
            </a:r>
            <a:r>
              <a:rPr lang="ar-SA" sz="4000" b="1" dirty="0" smtClean="0">
                <a:solidFill>
                  <a:srgbClr val="00B050"/>
                </a:solidFill>
              </a:rPr>
              <a:t>ـت</a:t>
            </a:r>
            <a:r>
              <a:rPr lang="ar-DZ" sz="4000" b="1" dirty="0" smtClean="0">
                <a:solidFill>
                  <a:srgbClr val="00B050"/>
                </a:solidFill>
              </a:rPr>
              <a:t>ِ</a:t>
            </a:r>
            <a:r>
              <a:rPr lang="ar-SA" sz="4000" b="1" dirty="0" smtClean="0">
                <a:solidFill>
                  <a:srgbClr val="00B050"/>
                </a:solidFill>
              </a:rPr>
              <a:t>ـ</a:t>
            </a:r>
            <a:r>
              <a:rPr lang="ar-DZ" sz="4000" b="1" dirty="0" smtClean="0">
                <a:solidFill>
                  <a:srgbClr val="00B050"/>
                </a:solidFill>
              </a:rPr>
              <a:t>ـ</a:t>
            </a:r>
            <a:r>
              <a:rPr lang="ar-SA" sz="4000" b="1" dirty="0" smtClean="0">
                <a:solidFill>
                  <a:srgbClr val="00B050"/>
                </a:solidFill>
              </a:rPr>
              <a:t>ع</a:t>
            </a:r>
            <a:r>
              <a:rPr lang="ar-DZ" sz="4000" b="1" dirty="0" smtClean="0">
                <a:solidFill>
                  <a:srgbClr val="00B050"/>
                </a:solidFill>
              </a:rPr>
              <a:t>ْــ</a:t>
            </a:r>
            <a:r>
              <a:rPr lang="ar-SA" sz="4000" b="1" dirty="0" smtClean="0">
                <a:solidFill>
                  <a:srgbClr val="00B050"/>
                </a:solidFill>
              </a:rPr>
              <a:t>ـم</a:t>
            </a:r>
            <a:r>
              <a:rPr lang="ar-DZ" sz="4000" b="1" dirty="0" smtClean="0">
                <a:solidFill>
                  <a:srgbClr val="00B050"/>
                </a:solidFill>
              </a:rPr>
              <a:t>َـ</a:t>
            </a:r>
            <a:r>
              <a:rPr lang="ar-SA" sz="4000" b="1" dirty="0" smtClean="0">
                <a:solidFill>
                  <a:srgbClr val="00B050"/>
                </a:solidFill>
              </a:rPr>
              <a:t>ـال</a:t>
            </a:r>
            <a:r>
              <a:rPr lang="ar-DZ" sz="4000" b="1" dirty="0" smtClean="0">
                <a:solidFill>
                  <a:srgbClr val="00B050"/>
                </a:solidFill>
              </a:rPr>
              <a:t>ُ</a:t>
            </a:r>
            <a:r>
              <a:rPr lang="ar-SA" sz="4000" b="1" dirty="0" smtClean="0">
                <a:solidFill>
                  <a:srgbClr val="00B050"/>
                </a:solidFill>
              </a:rPr>
              <a:t>ـه</a:t>
            </a:r>
            <a:r>
              <a:rPr lang="ar-DZ" sz="4000" b="1" dirty="0" smtClean="0">
                <a:solidFill>
                  <a:srgbClr val="00B050"/>
                </a:solidFill>
              </a:rPr>
              <a:t>َ</a:t>
            </a:r>
            <a:r>
              <a:rPr lang="ar-SA" sz="4000" b="1" dirty="0" smtClean="0">
                <a:solidFill>
                  <a:srgbClr val="00B050"/>
                </a:solidFill>
              </a:rPr>
              <a:t>ـا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2075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  <p:bldP spid="12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SA" sz="4000" b="1" dirty="0">
                <a:solidFill>
                  <a:srgbClr val="FF0000"/>
                </a:solidFill>
                <a:cs typeface="+mj-cs"/>
              </a:rPr>
              <a:t> ( 1.2 تَـحْــلِــيــلُ الـمَــسْــأَلَــةِ وَتَـحْــدِيـــدِ عَـــنَــاصِــرِهَــا 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2348880"/>
            <a:ext cx="10814992" cy="402095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11" name="Rectangle 10"/>
          <p:cNvSpPr/>
          <p:nvPr/>
        </p:nvSpPr>
        <p:spPr>
          <a:xfrm>
            <a:off x="1271464" y="2861313"/>
            <a:ext cx="9865096" cy="28083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ar-DZ" sz="2000" b="1" dirty="0" smtClean="0">
              <a:solidFill>
                <a:srgbClr val="0070C0"/>
              </a:solidFill>
              <a:cs typeface="+mj-cs"/>
            </a:endParaRPr>
          </a:p>
          <a:p>
            <a:pPr algn="ctr" rtl="1">
              <a:lnSpc>
                <a:spcPct val="150000"/>
              </a:lnSpc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نُـحَــدِّدُ فِــيـهَـا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الـمُـعْــطَــيَــات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الَّـتِي تَــتِــمُّ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قِـــرَاءَتُــهَـا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وإِدْخَـــالُــهَـا ( مِــنْ خِــلالِ لَـــوْحَــةِ الــمَـــفَـــاتِـــيــحِ )</a:t>
            </a:r>
            <a:endParaRPr lang="fr-FR" sz="4400" b="1" dirty="0" smtClean="0">
              <a:solidFill>
                <a:srgbClr val="0070C0"/>
              </a:solidFill>
              <a:cs typeface="+mj-cs"/>
            </a:endParaRPr>
          </a:p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623392" y="1256176"/>
            <a:ext cx="10814992" cy="9778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4000" b="1" dirty="0">
                <a:solidFill>
                  <a:srgbClr val="00B050"/>
                </a:solidFill>
                <a:cs typeface="+mj-cs"/>
              </a:rPr>
              <a:t>Step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1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- Inputs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: </a:t>
            </a:r>
            <a:r>
              <a:rPr lang="fr-FR" sz="2800" dirty="0" smtClean="0">
                <a:solidFill>
                  <a:srgbClr val="00B050"/>
                </a:solidFill>
                <a:cs typeface="+mj-cs"/>
              </a:rPr>
              <a:t>…………………..…………………..…………...…………………</a:t>
            </a:r>
            <a:endParaRPr lang="ar-DZ" sz="2800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51558" y="1341350"/>
            <a:ext cx="69847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B050"/>
                </a:solidFill>
              </a:rPr>
              <a:t>ال</a:t>
            </a:r>
            <a:r>
              <a:rPr lang="ar-DZ" sz="4000" b="1" dirty="0" smtClean="0">
                <a:solidFill>
                  <a:srgbClr val="00B050"/>
                </a:solidFill>
              </a:rPr>
              <a:t>ـ</a:t>
            </a:r>
            <a:r>
              <a:rPr lang="ar-SA" sz="4000" b="1" dirty="0" smtClean="0">
                <a:solidFill>
                  <a:srgbClr val="00B050"/>
                </a:solidFill>
              </a:rPr>
              <a:t>ـم</a:t>
            </a:r>
            <a:r>
              <a:rPr lang="ar-DZ" sz="4000" b="1" dirty="0" smtClean="0">
                <a:solidFill>
                  <a:srgbClr val="00B050"/>
                </a:solidFill>
              </a:rPr>
              <a:t>ُـ</a:t>
            </a:r>
            <a:r>
              <a:rPr lang="ar-SA" sz="4000" b="1" dirty="0" smtClean="0">
                <a:solidFill>
                  <a:srgbClr val="00B050"/>
                </a:solidFill>
              </a:rPr>
              <a:t>ـد</a:t>
            </a:r>
            <a:r>
              <a:rPr lang="ar-DZ" sz="4000" b="1" dirty="0" smtClean="0">
                <a:solidFill>
                  <a:srgbClr val="00B050"/>
                </a:solidFill>
              </a:rPr>
              <a:t>ْ</a:t>
            </a:r>
            <a:r>
              <a:rPr lang="ar-SA" sz="4000" b="1" dirty="0" smtClean="0">
                <a:solidFill>
                  <a:srgbClr val="00B050"/>
                </a:solidFill>
              </a:rPr>
              <a:t>خ</a:t>
            </a:r>
            <a:r>
              <a:rPr lang="ar-DZ" sz="4000" b="1" dirty="0" smtClean="0">
                <a:solidFill>
                  <a:srgbClr val="00B050"/>
                </a:solidFill>
              </a:rPr>
              <a:t>َــ</a:t>
            </a:r>
            <a:r>
              <a:rPr lang="ar-SA" sz="4000" b="1" dirty="0" smtClean="0">
                <a:solidFill>
                  <a:srgbClr val="00B050"/>
                </a:solidFill>
              </a:rPr>
              <a:t>ـل</a:t>
            </a:r>
            <a:r>
              <a:rPr lang="ar-DZ" sz="4000" b="1" dirty="0" smtClean="0">
                <a:solidFill>
                  <a:srgbClr val="00B050"/>
                </a:solidFill>
              </a:rPr>
              <a:t>َ</a:t>
            </a:r>
            <a:r>
              <a:rPr lang="ar-SA" sz="4000" b="1" dirty="0" smtClean="0">
                <a:solidFill>
                  <a:srgbClr val="00B050"/>
                </a:solidFill>
              </a:rPr>
              <a:t>ات الـو</a:t>
            </a:r>
            <a:r>
              <a:rPr lang="ar-DZ" sz="4000" b="1" dirty="0">
                <a:solidFill>
                  <a:srgbClr val="00B050"/>
                </a:solidFill>
              </a:rPr>
              <a:t>َ</a:t>
            </a:r>
            <a:r>
              <a:rPr lang="ar-SA" sz="4000" b="1" dirty="0" smtClean="0">
                <a:solidFill>
                  <a:srgbClr val="00B050"/>
                </a:solidFill>
              </a:rPr>
              <a:t>اج</a:t>
            </a:r>
            <a:r>
              <a:rPr lang="ar-DZ" sz="4000" b="1" dirty="0" smtClean="0">
                <a:solidFill>
                  <a:srgbClr val="00B050"/>
                </a:solidFill>
              </a:rPr>
              <a:t>ِـ</a:t>
            </a:r>
            <a:r>
              <a:rPr lang="ar-SA" sz="4000" b="1" dirty="0" smtClean="0">
                <a:solidFill>
                  <a:srgbClr val="00B050"/>
                </a:solidFill>
              </a:rPr>
              <a:t>ـب ا</a:t>
            </a:r>
            <a:r>
              <a:rPr lang="ar-DZ" sz="4000" b="1" dirty="0" smtClean="0">
                <a:solidFill>
                  <a:srgbClr val="00B050"/>
                </a:solidFill>
              </a:rPr>
              <a:t>ِ</a:t>
            </a:r>
            <a:r>
              <a:rPr lang="ar-SA" sz="4000" b="1" dirty="0" smtClean="0">
                <a:solidFill>
                  <a:srgbClr val="00B050"/>
                </a:solidFill>
              </a:rPr>
              <a:t>س</a:t>
            </a:r>
            <a:r>
              <a:rPr lang="ar-DZ" sz="4000" b="1" dirty="0" smtClean="0">
                <a:solidFill>
                  <a:srgbClr val="00B050"/>
                </a:solidFill>
              </a:rPr>
              <a:t>ْـ</a:t>
            </a:r>
            <a:r>
              <a:rPr lang="ar-SA" sz="4000" b="1" dirty="0" smtClean="0">
                <a:solidFill>
                  <a:srgbClr val="00B050"/>
                </a:solidFill>
              </a:rPr>
              <a:t>ـت</a:t>
            </a:r>
            <a:r>
              <a:rPr lang="ar-DZ" sz="4000" b="1" dirty="0" smtClean="0">
                <a:solidFill>
                  <a:srgbClr val="00B050"/>
                </a:solidFill>
              </a:rPr>
              <a:t>ِ</a:t>
            </a:r>
            <a:r>
              <a:rPr lang="ar-SA" sz="4000" b="1" dirty="0" smtClean="0">
                <a:solidFill>
                  <a:srgbClr val="00B050"/>
                </a:solidFill>
              </a:rPr>
              <a:t>ـ</a:t>
            </a:r>
            <a:r>
              <a:rPr lang="ar-DZ" sz="4000" b="1" dirty="0" smtClean="0">
                <a:solidFill>
                  <a:srgbClr val="00B050"/>
                </a:solidFill>
              </a:rPr>
              <a:t>ـ</a:t>
            </a:r>
            <a:r>
              <a:rPr lang="ar-SA" sz="4000" b="1" dirty="0" smtClean="0">
                <a:solidFill>
                  <a:srgbClr val="00B050"/>
                </a:solidFill>
              </a:rPr>
              <a:t>ع</a:t>
            </a:r>
            <a:r>
              <a:rPr lang="ar-DZ" sz="4000" b="1" dirty="0" smtClean="0">
                <a:solidFill>
                  <a:srgbClr val="00B050"/>
                </a:solidFill>
              </a:rPr>
              <a:t>ْــ</a:t>
            </a:r>
            <a:r>
              <a:rPr lang="ar-SA" sz="4000" b="1" dirty="0" smtClean="0">
                <a:solidFill>
                  <a:srgbClr val="00B050"/>
                </a:solidFill>
              </a:rPr>
              <a:t>ـم</a:t>
            </a:r>
            <a:r>
              <a:rPr lang="ar-DZ" sz="4000" b="1" dirty="0" smtClean="0">
                <a:solidFill>
                  <a:srgbClr val="00B050"/>
                </a:solidFill>
              </a:rPr>
              <a:t>َـ</a:t>
            </a:r>
            <a:r>
              <a:rPr lang="ar-SA" sz="4000" b="1" dirty="0" smtClean="0">
                <a:solidFill>
                  <a:srgbClr val="00B050"/>
                </a:solidFill>
              </a:rPr>
              <a:t>ـال</a:t>
            </a:r>
            <a:r>
              <a:rPr lang="ar-DZ" sz="4000" b="1" dirty="0" smtClean="0">
                <a:solidFill>
                  <a:srgbClr val="00B050"/>
                </a:solidFill>
              </a:rPr>
              <a:t>ُ</a:t>
            </a:r>
            <a:r>
              <a:rPr lang="ar-SA" sz="4000" b="1" dirty="0" smtClean="0">
                <a:solidFill>
                  <a:srgbClr val="00B050"/>
                </a:solidFill>
              </a:rPr>
              <a:t>ـه</a:t>
            </a:r>
            <a:r>
              <a:rPr lang="ar-DZ" sz="4000" b="1" dirty="0" smtClean="0">
                <a:solidFill>
                  <a:srgbClr val="00B050"/>
                </a:solidFill>
              </a:rPr>
              <a:t>َ</a:t>
            </a:r>
            <a:r>
              <a:rPr lang="ar-SA" sz="4000" b="1" dirty="0" smtClean="0">
                <a:solidFill>
                  <a:srgbClr val="00B050"/>
                </a:solidFill>
              </a:rPr>
              <a:t>ـا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2292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1" grpId="0" animBg="1"/>
      <p:bldP spid="10" grpId="0" animBg="1"/>
      <p:bldP spid="12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SA" sz="4000" b="1" dirty="0">
                <a:solidFill>
                  <a:srgbClr val="FF0000"/>
                </a:solidFill>
                <a:cs typeface="+mj-cs"/>
              </a:rPr>
              <a:t> ( 1.2 تَـحْــلِــيــلُ الـمَــسْــأَلَــةِ وَتَـحْــدِيـــدِ عَـــنَــاصِــرِهَــا 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2348880"/>
            <a:ext cx="10814992" cy="402095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623392" y="1268759"/>
            <a:ext cx="10814992" cy="9058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4000" b="1" dirty="0">
                <a:solidFill>
                  <a:srgbClr val="00B050"/>
                </a:solidFill>
                <a:cs typeface="+mj-cs"/>
              </a:rPr>
              <a:t>Step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 - </a:t>
            </a:r>
            <a:r>
              <a:rPr lang="en-US" sz="4000" b="1" u="sng" dirty="0" smtClean="0">
                <a:solidFill>
                  <a:srgbClr val="00B050"/>
                </a:solidFill>
                <a:cs typeface="+mj-cs"/>
              </a:rPr>
              <a:t>Processin</a:t>
            </a:r>
            <a:r>
              <a:rPr lang="en-US" sz="4000" b="1" dirty="0" smtClean="0">
                <a:solidFill>
                  <a:srgbClr val="00B050"/>
                </a:solidFill>
                <a:cs typeface="+mj-cs"/>
              </a:rPr>
              <a:t>g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: </a:t>
            </a:r>
            <a:r>
              <a:rPr lang="fr-FR" sz="3200" dirty="0" smtClean="0">
                <a:solidFill>
                  <a:srgbClr val="00B050"/>
                </a:solidFill>
                <a:cs typeface="+mj-cs"/>
              </a:rPr>
              <a:t>…………..…………..…………...…………………</a:t>
            </a:r>
            <a:endParaRPr lang="ar-DZ" sz="3200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26302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SA" sz="4000" b="1" dirty="0">
                <a:solidFill>
                  <a:srgbClr val="FF0000"/>
                </a:solidFill>
                <a:cs typeface="+mj-cs"/>
              </a:rPr>
              <a:t> ( 1.2 تَـحْــلِــيــلُ الـمَــسْــأَلَــةِ وَتَـحْــدِيـــدِ عَـــنَــاصِــرِهَــا 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2348880"/>
            <a:ext cx="10814992" cy="402095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623392" y="1268759"/>
            <a:ext cx="10814992" cy="9058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4000" b="1" dirty="0">
                <a:solidFill>
                  <a:srgbClr val="00B050"/>
                </a:solidFill>
                <a:cs typeface="+mj-cs"/>
              </a:rPr>
              <a:t>Step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 - </a:t>
            </a:r>
            <a:r>
              <a:rPr lang="en-US" sz="4000" b="1" u="sng" dirty="0" smtClean="0">
                <a:solidFill>
                  <a:srgbClr val="00B050"/>
                </a:solidFill>
                <a:cs typeface="+mj-cs"/>
              </a:rPr>
              <a:t>Processin</a:t>
            </a:r>
            <a:r>
              <a:rPr lang="en-US" sz="4000" b="1" dirty="0" smtClean="0">
                <a:solidFill>
                  <a:srgbClr val="00B050"/>
                </a:solidFill>
                <a:cs typeface="+mj-cs"/>
              </a:rPr>
              <a:t>g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: </a:t>
            </a:r>
            <a:r>
              <a:rPr lang="fr-FR" sz="3200" dirty="0" smtClean="0">
                <a:solidFill>
                  <a:srgbClr val="00B050"/>
                </a:solidFill>
                <a:cs typeface="+mj-cs"/>
              </a:rPr>
              <a:t>…………..…………..…………...…………………</a:t>
            </a:r>
            <a:endParaRPr lang="ar-DZ" sz="3200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45592" y="1324791"/>
            <a:ext cx="62646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B050"/>
                </a:solidFill>
              </a:rPr>
              <a:t>ال</a:t>
            </a:r>
            <a:r>
              <a:rPr lang="ar-DZ" sz="4000" b="1" dirty="0" smtClean="0">
                <a:solidFill>
                  <a:srgbClr val="00B050"/>
                </a:solidFill>
              </a:rPr>
              <a:t>ـعَــمَــلِــيَــاتُ</a:t>
            </a:r>
            <a:r>
              <a:rPr lang="ar-SA" sz="4000" b="1" dirty="0" smtClean="0">
                <a:solidFill>
                  <a:srgbClr val="00B050"/>
                </a:solidFill>
              </a:rPr>
              <a:t> الـو</a:t>
            </a:r>
            <a:r>
              <a:rPr lang="ar-DZ" sz="4000" b="1" dirty="0">
                <a:solidFill>
                  <a:srgbClr val="00B050"/>
                </a:solidFill>
              </a:rPr>
              <a:t>َ</a:t>
            </a:r>
            <a:r>
              <a:rPr lang="ar-SA" sz="4000" b="1" dirty="0" smtClean="0">
                <a:solidFill>
                  <a:srgbClr val="00B050"/>
                </a:solidFill>
              </a:rPr>
              <a:t>اج</a:t>
            </a:r>
            <a:r>
              <a:rPr lang="ar-DZ" sz="4000" b="1" dirty="0" smtClean="0">
                <a:solidFill>
                  <a:srgbClr val="00B050"/>
                </a:solidFill>
              </a:rPr>
              <a:t>ِـ</a:t>
            </a:r>
            <a:r>
              <a:rPr lang="ar-SA" sz="4000" b="1" dirty="0" smtClean="0">
                <a:solidFill>
                  <a:srgbClr val="00B050"/>
                </a:solidFill>
              </a:rPr>
              <a:t>ـب</a:t>
            </a:r>
            <a:r>
              <a:rPr lang="ar-DZ" sz="4000" b="1" dirty="0" smtClean="0">
                <a:solidFill>
                  <a:srgbClr val="00B050"/>
                </a:solidFill>
              </a:rPr>
              <a:t>ُ</a:t>
            </a:r>
            <a:r>
              <a:rPr lang="ar-SA" sz="4000" b="1" dirty="0" smtClean="0">
                <a:solidFill>
                  <a:srgbClr val="00B050"/>
                </a:solidFill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إِنْـجَــازُهَــا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14805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  <p:bldP spid="12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SA" sz="4000" b="1" dirty="0">
                <a:solidFill>
                  <a:srgbClr val="FF0000"/>
                </a:solidFill>
                <a:cs typeface="+mj-cs"/>
              </a:rPr>
              <a:t> ( 1.2 تَـحْــلِــيــلُ الـمَــسْــأَلَــةِ وَتَـحْــدِيـــدِ عَـــنَــاصِــرِهَــا 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2348880"/>
            <a:ext cx="10814992" cy="402095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11" name="Rectangle 10"/>
          <p:cNvSpPr/>
          <p:nvPr/>
        </p:nvSpPr>
        <p:spPr>
          <a:xfrm>
            <a:off x="1127448" y="2861313"/>
            <a:ext cx="10009112" cy="28083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lnSpc>
                <a:spcPct val="150000"/>
              </a:lnSpc>
            </a:pP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نُـحَــدِّدُ فِــيـهَـا الـعَــمَـلِــيَــات (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الـحِــسَــابِــيَــة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 / 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الـمَـنْـطِــقِــيَــة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 ) الَّـتِي </a:t>
            </a:r>
            <a:r>
              <a:rPr lang="ar-DZ" sz="3800" b="1" u="sng" dirty="0" smtClean="0">
                <a:solidFill>
                  <a:srgbClr val="FF0000"/>
                </a:solidFill>
                <a:cs typeface="+mj-cs"/>
              </a:rPr>
              <a:t>نَــتَــعَــامَــلُ</a:t>
            </a:r>
            <a:r>
              <a:rPr lang="ar-DZ" sz="3800" b="1" dirty="0" smtClean="0">
                <a:solidFill>
                  <a:srgbClr val="0070C0"/>
                </a:solidFill>
                <a:cs typeface="+mj-cs"/>
              </a:rPr>
              <a:t> مَـنْ خِــلالِــهَـا مَـعَ </a:t>
            </a:r>
            <a:r>
              <a:rPr lang="ar-DZ" sz="3800" b="1" u="sng" dirty="0" smtClean="0">
                <a:solidFill>
                  <a:srgbClr val="FF0000"/>
                </a:solidFill>
                <a:cs typeface="+mj-cs"/>
              </a:rPr>
              <a:t>مُــعْــطَــيَــاتِ الـخُــطْــوَةِ 1</a:t>
            </a:r>
            <a:r>
              <a:rPr lang="ar-DZ" sz="3800" b="1" dirty="0" smtClean="0">
                <a:solidFill>
                  <a:srgbClr val="FF0000"/>
                </a:solidFill>
                <a:cs typeface="+mj-cs"/>
              </a:rPr>
              <a:t> </a:t>
            </a:r>
            <a:endParaRPr lang="fr-FR" sz="38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623392" y="1268759"/>
            <a:ext cx="10814992" cy="9058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4000" b="1" dirty="0">
                <a:solidFill>
                  <a:srgbClr val="00B050"/>
                </a:solidFill>
                <a:cs typeface="+mj-cs"/>
              </a:rPr>
              <a:t>Step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 - </a:t>
            </a:r>
            <a:r>
              <a:rPr lang="en-US" sz="4000" b="1" u="sng" dirty="0" smtClean="0">
                <a:solidFill>
                  <a:srgbClr val="00B050"/>
                </a:solidFill>
                <a:cs typeface="+mj-cs"/>
              </a:rPr>
              <a:t>Processin</a:t>
            </a:r>
            <a:r>
              <a:rPr lang="en-US" sz="4000" b="1" dirty="0" smtClean="0">
                <a:solidFill>
                  <a:srgbClr val="00B050"/>
                </a:solidFill>
                <a:cs typeface="+mj-cs"/>
              </a:rPr>
              <a:t>g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: </a:t>
            </a:r>
            <a:r>
              <a:rPr lang="fr-FR" sz="3200" dirty="0" smtClean="0">
                <a:solidFill>
                  <a:srgbClr val="00B050"/>
                </a:solidFill>
                <a:cs typeface="+mj-cs"/>
              </a:rPr>
              <a:t>…………..…………..…………...…………………</a:t>
            </a:r>
            <a:endParaRPr lang="ar-DZ" sz="3200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045592" y="1324791"/>
            <a:ext cx="62646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B050"/>
                </a:solidFill>
              </a:rPr>
              <a:t>ال</a:t>
            </a:r>
            <a:r>
              <a:rPr lang="ar-DZ" sz="4000" b="1" dirty="0" smtClean="0">
                <a:solidFill>
                  <a:srgbClr val="00B050"/>
                </a:solidFill>
              </a:rPr>
              <a:t>ـعَــمَــلِــيَــاتُ</a:t>
            </a:r>
            <a:r>
              <a:rPr lang="ar-SA" sz="4000" b="1" dirty="0" smtClean="0">
                <a:solidFill>
                  <a:srgbClr val="00B050"/>
                </a:solidFill>
              </a:rPr>
              <a:t> الـو</a:t>
            </a:r>
            <a:r>
              <a:rPr lang="ar-DZ" sz="4000" b="1" dirty="0">
                <a:solidFill>
                  <a:srgbClr val="00B050"/>
                </a:solidFill>
              </a:rPr>
              <a:t>َ</a:t>
            </a:r>
            <a:r>
              <a:rPr lang="ar-SA" sz="4000" b="1" dirty="0" smtClean="0">
                <a:solidFill>
                  <a:srgbClr val="00B050"/>
                </a:solidFill>
              </a:rPr>
              <a:t>اج</a:t>
            </a:r>
            <a:r>
              <a:rPr lang="ar-DZ" sz="4000" b="1" dirty="0" smtClean="0">
                <a:solidFill>
                  <a:srgbClr val="00B050"/>
                </a:solidFill>
              </a:rPr>
              <a:t>ِـ</a:t>
            </a:r>
            <a:r>
              <a:rPr lang="ar-SA" sz="4000" b="1" dirty="0" smtClean="0">
                <a:solidFill>
                  <a:srgbClr val="00B050"/>
                </a:solidFill>
              </a:rPr>
              <a:t>ـب</a:t>
            </a:r>
            <a:r>
              <a:rPr lang="ar-DZ" sz="4000" b="1" dirty="0" smtClean="0">
                <a:solidFill>
                  <a:srgbClr val="00B050"/>
                </a:solidFill>
              </a:rPr>
              <a:t>ُ</a:t>
            </a:r>
            <a:r>
              <a:rPr lang="ar-SA" sz="4000" b="1" dirty="0" smtClean="0">
                <a:solidFill>
                  <a:srgbClr val="00B050"/>
                </a:solidFill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</a:rPr>
              <a:t>إِنْـجَــازُهَــا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6309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1" grpId="0" animBg="1"/>
      <p:bldP spid="10" grpId="0" animBg="1"/>
      <p:bldP spid="12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SA" sz="4000" b="1" dirty="0">
                <a:solidFill>
                  <a:srgbClr val="FF0000"/>
                </a:solidFill>
                <a:cs typeface="+mj-cs"/>
              </a:rPr>
              <a:t> ( 1.2 تَـحْــلِــيــلُ الـمَــسْــأَلَــةِ وَتَـحْــدِيـــدِ عَـــنَــاصِــرِهَــا 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2348880"/>
            <a:ext cx="10814992" cy="402095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623392" y="1268760"/>
            <a:ext cx="10814992" cy="972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4000" b="1" dirty="0">
                <a:solidFill>
                  <a:srgbClr val="00B050"/>
                </a:solidFill>
                <a:cs typeface="+mj-cs"/>
              </a:rPr>
              <a:t>Step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 - </a:t>
            </a:r>
            <a:r>
              <a:rPr lang="en-US" sz="4000" b="1" u="sng" dirty="0">
                <a:solidFill>
                  <a:srgbClr val="00B050"/>
                </a:solidFill>
                <a:cs typeface="+mj-cs"/>
              </a:rPr>
              <a:t>Outputs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: </a:t>
            </a:r>
            <a:r>
              <a:rPr lang="fr-FR" sz="3200" dirty="0" smtClean="0">
                <a:solidFill>
                  <a:srgbClr val="00B050"/>
                </a:solidFill>
                <a:cs typeface="+mj-cs"/>
              </a:rPr>
              <a:t>…………..…………..…………...…………………</a:t>
            </a:r>
            <a:endParaRPr lang="ar-DZ" sz="3200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09226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SA" sz="4000" b="1" dirty="0">
                <a:solidFill>
                  <a:srgbClr val="FF0000"/>
                </a:solidFill>
                <a:cs typeface="+mj-cs"/>
              </a:rPr>
              <a:t> ( 1.2 تَـحْــلِــيــلُ الـمَــسْــأَلَــةِ وَتَـحْــدِيـــدِ عَـــنَــاصِــرِهَــا 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2348880"/>
            <a:ext cx="10814992" cy="402095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623392" y="1268760"/>
            <a:ext cx="10814992" cy="972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4000" b="1" dirty="0">
                <a:solidFill>
                  <a:srgbClr val="00B050"/>
                </a:solidFill>
                <a:cs typeface="+mj-cs"/>
              </a:rPr>
              <a:t>Step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 - </a:t>
            </a:r>
            <a:r>
              <a:rPr lang="en-US" sz="4000" b="1" u="sng" dirty="0">
                <a:solidFill>
                  <a:srgbClr val="00B050"/>
                </a:solidFill>
                <a:cs typeface="+mj-cs"/>
              </a:rPr>
              <a:t>Outputs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: </a:t>
            </a:r>
            <a:r>
              <a:rPr lang="fr-FR" sz="3200" dirty="0" smtClean="0">
                <a:solidFill>
                  <a:srgbClr val="00B050"/>
                </a:solidFill>
                <a:cs typeface="+mj-cs"/>
              </a:rPr>
              <a:t>…………..…………..…………...…………………</a:t>
            </a:r>
            <a:endParaRPr lang="ar-DZ" sz="3200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08936" y="1381943"/>
            <a:ext cx="71585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B050"/>
                </a:solidFill>
                <a:cs typeface="+mj-cs"/>
              </a:rPr>
              <a:t>ا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لـمُـخْــرَجَــات الـمُـــرَادُ الـحُـصُـولُ عَـلَـيْـهَـا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6198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  <p:bldP spid="12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SA" sz="4000" b="1" dirty="0">
                <a:solidFill>
                  <a:srgbClr val="FF0000"/>
                </a:solidFill>
                <a:cs typeface="+mj-cs"/>
              </a:rPr>
              <a:t> ( 1.2 تَـحْــلِــيــلُ الـمَــسْــأَلَــةِ وَتَـحْــدِيـــدِ عَـــنَــاصِــرِهَــا 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2348880"/>
            <a:ext cx="10814992" cy="402095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11" name="Rectangle 10"/>
          <p:cNvSpPr/>
          <p:nvPr/>
        </p:nvSpPr>
        <p:spPr>
          <a:xfrm>
            <a:off x="1127448" y="2861313"/>
            <a:ext cx="10009112" cy="28083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lnSpc>
                <a:spcPct val="150000"/>
              </a:lnSpc>
            </a:pP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نُـبْــرِزُ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نُـظْـهِـرُ )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فِــيـهَـا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الــنَــتَــائِـجَ الـمَـطْــلُــوبَـة </a:t>
            </a:r>
          </a:p>
          <a:p>
            <a:pPr algn="ctr" rtl="1">
              <a:lnSpc>
                <a:spcPct val="150000"/>
              </a:lnSpc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والَّـتِي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تُــمَــثِّــلُ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بُــلُــوغَ الـهَــدَفِ</a:t>
            </a:r>
            <a:endParaRPr lang="fr-FR" sz="44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623392" y="1268760"/>
            <a:ext cx="10814992" cy="972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4000" b="1" dirty="0">
                <a:solidFill>
                  <a:srgbClr val="00B050"/>
                </a:solidFill>
                <a:cs typeface="+mj-cs"/>
              </a:rPr>
              <a:t>Step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 - </a:t>
            </a:r>
            <a:r>
              <a:rPr lang="en-US" sz="4000" b="1" u="sng" dirty="0">
                <a:solidFill>
                  <a:srgbClr val="00B050"/>
                </a:solidFill>
                <a:cs typeface="+mj-cs"/>
              </a:rPr>
              <a:t>Outputs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: </a:t>
            </a:r>
            <a:r>
              <a:rPr lang="fr-FR" sz="3200" dirty="0" smtClean="0">
                <a:solidFill>
                  <a:srgbClr val="00B050"/>
                </a:solidFill>
                <a:cs typeface="+mj-cs"/>
              </a:rPr>
              <a:t>…………..…………..…………...…………………</a:t>
            </a:r>
            <a:endParaRPr lang="ar-DZ" sz="3200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08936" y="1381943"/>
            <a:ext cx="71585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B050"/>
                </a:solidFill>
                <a:cs typeface="+mj-cs"/>
              </a:rPr>
              <a:t>ا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لـمُـخْــرَجَــات الـمُـــرَادُ الـحُـصُـولُ عَـلَـيْـهَـا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14163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1" grpId="0" animBg="1"/>
      <p:bldP spid="10" grpId="0" animBg="1"/>
      <p:bldP spid="12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2.2 -  مُــكَــوِنَـــات الــمُــخَــطَّــط الاِنْــسِـــيَـــابِـي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أَكْــمِــلْ الـجَــدْوَلَ الــتَــالِـي ،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فَــمــاذا تَــسْــتَــنْــتِــجْ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4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Ellipse 5"/>
          <p:cNvSpPr/>
          <p:nvPr/>
        </p:nvSpPr>
        <p:spPr>
          <a:xfrm>
            <a:off x="8630599" y="3988172"/>
            <a:ext cx="2160000" cy="520948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7" name="Organigramme : Données 15"/>
          <p:cNvSpPr/>
          <p:nvPr/>
        </p:nvSpPr>
        <p:spPr>
          <a:xfrm>
            <a:off x="5231903" y="4009533"/>
            <a:ext cx="2160000" cy="504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352" y="0"/>
                </a:lnTo>
                <a:lnTo>
                  <a:pt x="10000" y="0"/>
                </a:lnTo>
                <a:lnTo>
                  <a:pt x="897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8" name="Organigramme : Données 15"/>
          <p:cNvSpPr/>
          <p:nvPr/>
        </p:nvSpPr>
        <p:spPr>
          <a:xfrm>
            <a:off x="2207568" y="3956450"/>
            <a:ext cx="2160000" cy="504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9" name="Organigramme : Décision 8"/>
          <p:cNvSpPr/>
          <p:nvPr/>
        </p:nvSpPr>
        <p:spPr>
          <a:xfrm>
            <a:off x="5535495" y="4887858"/>
            <a:ext cx="1552815" cy="993350"/>
          </a:xfrm>
          <a:prstGeom prst="flowChartDecision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cxnSp>
        <p:nvCxnSpPr>
          <p:cNvPr id="10" name="Connecteur droit 9"/>
          <p:cNvCxnSpPr/>
          <p:nvPr/>
        </p:nvCxnSpPr>
        <p:spPr>
          <a:xfrm flipH="1">
            <a:off x="8810599" y="5384533"/>
            <a:ext cx="18000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Organigramme : Connecteur 10"/>
          <p:cNvSpPr/>
          <p:nvPr/>
        </p:nvSpPr>
        <p:spPr>
          <a:xfrm>
            <a:off x="2986400" y="5181144"/>
            <a:ext cx="468000" cy="468000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2724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2.2 -  مُــكَــوِنَـــات الــمُــخَــطَّــط الاِنْــسِـــيَـــابِـي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أَكْــمِــلْ الـجَــدْوَلَ الــتَــالِـي ،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فَــمــاذا تَــسْــتَــنْــتِــجْ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5400" b="1" u="sng" dirty="0" smtClean="0">
                <a:solidFill>
                  <a:srgbClr val="00B050"/>
                </a:solidFill>
                <a:cs typeface="+mj-cs"/>
              </a:rPr>
              <a:t>نــشــاط 4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Ellipse 5"/>
          <p:cNvSpPr/>
          <p:nvPr/>
        </p:nvSpPr>
        <p:spPr>
          <a:xfrm>
            <a:off x="8630599" y="3988172"/>
            <a:ext cx="2160000" cy="520948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7" name="Organigramme : Données 15"/>
          <p:cNvSpPr/>
          <p:nvPr/>
        </p:nvSpPr>
        <p:spPr>
          <a:xfrm>
            <a:off x="5231903" y="4009533"/>
            <a:ext cx="2160000" cy="504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352" y="0"/>
                </a:lnTo>
                <a:lnTo>
                  <a:pt x="10000" y="0"/>
                </a:lnTo>
                <a:lnTo>
                  <a:pt x="897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8" name="Organigramme : Données 15"/>
          <p:cNvSpPr/>
          <p:nvPr/>
        </p:nvSpPr>
        <p:spPr>
          <a:xfrm>
            <a:off x="2207568" y="3956450"/>
            <a:ext cx="2160000" cy="504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9" name="Organigramme : Décision 8"/>
          <p:cNvSpPr/>
          <p:nvPr/>
        </p:nvSpPr>
        <p:spPr>
          <a:xfrm>
            <a:off x="5535495" y="4887858"/>
            <a:ext cx="1552815" cy="993350"/>
          </a:xfrm>
          <a:prstGeom prst="flowChartDecision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cxnSp>
        <p:nvCxnSpPr>
          <p:cNvPr id="10" name="Connecteur droit 9"/>
          <p:cNvCxnSpPr/>
          <p:nvPr/>
        </p:nvCxnSpPr>
        <p:spPr>
          <a:xfrm flipH="1">
            <a:off x="8810599" y="5384533"/>
            <a:ext cx="18000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Organigramme : Connecteur 10"/>
          <p:cNvSpPr/>
          <p:nvPr/>
        </p:nvSpPr>
        <p:spPr>
          <a:xfrm>
            <a:off x="2986400" y="5181144"/>
            <a:ext cx="468000" cy="468000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888" y="340566"/>
            <a:ext cx="8875112" cy="6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47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كـيـف يــتـمُ تــمــثــيــل 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بـ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داي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ـ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ـة / </a:t>
            </a:r>
            <a:r>
              <a:rPr lang="ar-SA" sz="3600" b="1" dirty="0" smtClean="0">
                <a:solidFill>
                  <a:srgbClr val="FF0000"/>
                </a:solidFill>
              </a:rPr>
              <a:t>نـه</a:t>
            </a:r>
            <a:r>
              <a:rPr lang="ar-DZ" sz="3600" b="1" dirty="0" smtClean="0">
                <a:solidFill>
                  <a:srgbClr val="FF0000"/>
                </a:solidFill>
              </a:rPr>
              <a:t>ـ</a:t>
            </a:r>
            <a:r>
              <a:rPr lang="ar-SA" sz="3600" b="1" dirty="0" smtClean="0">
                <a:solidFill>
                  <a:srgbClr val="FF0000"/>
                </a:solidFill>
              </a:rPr>
              <a:t>ـاي</a:t>
            </a:r>
            <a:r>
              <a:rPr lang="ar-DZ" sz="3600" b="1" dirty="0" smtClean="0">
                <a:solidFill>
                  <a:srgbClr val="FF0000"/>
                </a:solidFill>
              </a:rPr>
              <a:t>ـ</a:t>
            </a:r>
            <a:r>
              <a:rPr lang="ar-SA" sz="3600" b="1" dirty="0" smtClean="0">
                <a:solidFill>
                  <a:srgbClr val="FF0000"/>
                </a:solidFill>
              </a:rPr>
              <a:t>ـة</a:t>
            </a:r>
            <a:r>
              <a:rPr lang="ar-SA" sz="3600" b="1" dirty="0" smtClean="0">
                <a:solidFill>
                  <a:srgbClr val="FF0000"/>
                </a:solidFill>
                <a:cs typeface="+mj-cs"/>
              </a:rPr>
              <a:t> الـمـخـطـط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بَــيَــانِــيًــا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09600" y="3202799"/>
            <a:ext cx="4118248" cy="1594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</a:t>
            </a:r>
            <a:endParaRPr lang="fr-FR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19615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: كـيـف يــتـمُ تــمــثــيــل </a:t>
            </a:r>
            <a:r>
              <a:rPr lang="ar-SA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بـ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ـ</a:t>
            </a:r>
            <a:r>
              <a:rPr lang="ar-SA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داي</a:t>
            </a:r>
            <a:r>
              <a:rPr lang="ar-DZ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ـ</a:t>
            </a:r>
            <a:r>
              <a:rPr lang="ar-SA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ـة / </a:t>
            </a:r>
            <a:r>
              <a:rPr lang="ar-SA" sz="3600" b="1" dirty="0">
                <a:solidFill>
                  <a:srgbClr val="FF0000"/>
                </a:solidFill>
              </a:rPr>
              <a:t>نـه</a:t>
            </a:r>
            <a:r>
              <a:rPr lang="ar-DZ" sz="3600" b="1" dirty="0">
                <a:solidFill>
                  <a:srgbClr val="FF0000"/>
                </a:solidFill>
              </a:rPr>
              <a:t>ـ</a:t>
            </a:r>
            <a:r>
              <a:rPr lang="ar-SA" sz="3600" b="1" dirty="0">
                <a:solidFill>
                  <a:srgbClr val="FF0000"/>
                </a:solidFill>
              </a:rPr>
              <a:t>ـاي</a:t>
            </a:r>
            <a:r>
              <a:rPr lang="ar-DZ" sz="3600" b="1" dirty="0">
                <a:solidFill>
                  <a:srgbClr val="FF0000"/>
                </a:solidFill>
              </a:rPr>
              <a:t>ـ</a:t>
            </a:r>
            <a:r>
              <a:rPr lang="ar-SA" sz="3600" b="1" dirty="0">
                <a:solidFill>
                  <a:srgbClr val="FF0000"/>
                </a:solidFill>
              </a:rPr>
              <a:t>ـة</a:t>
            </a:r>
            <a:r>
              <a:rPr lang="ar-SA" sz="3600" b="1" dirty="0">
                <a:solidFill>
                  <a:srgbClr val="FF0000"/>
                </a:solidFill>
                <a:cs typeface="Times New Roman" panose="02020603050405020304" pitchFamily="18" charset="0"/>
              </a:rPr>
              <a:t> الـمـخـطـط </a:t>
            </a:r>
            <a:r>
              <a:rPr lang="ar-DZ" sz="36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بَــيَــانِــيًــا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23392" y="2780928"/>
            <a:ext cx="4032448" cy="288032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مــن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خـــلال</a:t>
            </a:r>
            <a:endParaRPr lang="ar-SA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buNone/>
            </a:pPr>
            <a:r>
              <a:rPr lang="ar-SA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SA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َـ</a:t>
            </a:r>
            <a:r>
              <a:rPr lang="ar-SA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ـك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ْـ</a:t>
            </a:r>
            <a:r>
              <a:rPr lang="ar-SA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</a:t>
            </a:r>
            <a:r>
              <a:rPr lang="ar-SA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ـي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ْ</a:t>
            </a:r>
            <a:r>
              <a:rPr lang="ar-SA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ـض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َ</a:t>
            </a:r>
            <a:r>
              <a:rPr lang="ar-SA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ـو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ِ</a:t>
            </a:r>
            <a:r>
              <a:rPr lang="ar-SA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</a:t>
            </a:r>
            <a:endParaRPr lang="fr-FR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8274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( 2.2 </a:t>
            </a:r>
            <a:r>
              <a:rPr lang="ar-DZ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مُــكَــوِنَـــات الــمُــخَــطَّــط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33400"/>
              </p:ext>
            </p:extLst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6" name="Ellipse 15"/>
          <p:cNvSpPr/>
          <p:nvPr/>
        </p:nvSpPr>
        <p:spPr>
          <a:xfrm>
            <a:off x="9192344" y="2006878"/>
            <a:ext cx="1980000" cy="635473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7" name="Organigramme : Données 15"/>
          <p:cNvSpPr/>
          <p:nvPr/>
        </p:nvSpPr>
        <p:spPr>
          <a:xfrm>
            <a:off x="9192344" y="3571359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352" y="0"/>
                </a:lnTo>
                <a:lnTo>
                  <a:pt x="10000" y="0"/>
                </a:lnTo>
                <a:lnTo>
                  <a:pt x="897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8" name="Organigramme : Données 15"/>
          <p:cNvSpPr/>
          <p:nvPr/>
        </p:nvSpPr>
        <p:spPr>
          <a:xfrm>
            <a:off x="9192344" y="5040367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1305147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16" grpId="0" animBg="1"/>
      <p:bldP spid="17" grpId="0" animBg="1"/>
      <p:bldP spid="18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33400"/>
              </p:ext>
            </p:extLst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5562" y="1927727"/>
            <a:ext cx="704063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بِـــدَايَــةَ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أو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نِــهَــايَــةَ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الــمُــخَــطَّــط الاِنْــسِــيَـــابِـي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9192344" y="2006878"/>
            <a:ext cx="1980000" cy="635473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7" name="Organigramme : Données 15"/>
          <p:cNvSpPr/>
          <p:nvPr/>
        </p:nvSpPr>
        <p:spPr>
          <a:xfrm>
            <a:off x="9192344" y="3571359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352" y="0"/>
                </a:lnTo>
                <a:lnTo>
                  <a:pt x="10000" y="0"/>
                </a:lnTo>
                <a:lnTo>
                  <a:pt x="897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8" name="Organigramme : Données 15"/>
          <p:cNvSpPr/>
          <p:nvPr/>
        </p:nvSpPr>
        <p:spPr>
          <a:xfrm>
            <a:off x="9192344" y="5040367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3149393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6" grpId="0" animBg="1"/>
      <p:bldP spid="17" grpId="0" animBg="1"/>
      <p:bldP spid="18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كـيـف يــتـمُ تــمــثــيــل الـمُــدْخَــلَاتِ والـمُـخْــرَجَــاتِ بَــيَــانِـيًـا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09600" y="3202799"/>
            <a:ext cx="4118248" cy="1594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</a:t>
            </a:r>
            <a:endParaRPr lang="fr-FR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05721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كـيـف يــتـمُ تــمــثــيــل الـمُــدْخَــلَاتِ والـمُـخْــرَجَــاتِ بَــيَــانِـيًـا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09600" y="3202799"/>
            <a:ext cx="4118248" cy="1594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مــن خـ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ـلال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مـتـوازي أضـلاع</a:t>
            </a:r>
            <a:endParaRPr lang="fr-FR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99650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أيـن يَـكْـمُـن الـفَــرْقَ بــيـن </a:t>
            </a:r>
            <a:r>
              <a:rPr lang="ar-DZ" sz="3600" b="1" dirty="0" smtClean="0">
                <a:solidFill>
                  <a:srgbClr val="FF0000"/>
                </a:solidFill>
              </a:rPr>
              <a:t>شـكـل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الـمُــدْخَــلَات والـمُـخْــرَجَــات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1271464" y="3098721"/>
            <a:ext cx="9505055" cy="133839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لـهـمـا  ......... الـشـكـل الـهـنـدسـي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يـكـمـن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الـفَــرْقُ فـي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الـشـكــل الـهـنـدسـي </a:t>
            </a:r>
            <a:endParaRPr lang="fr-FR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0596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أيـن يَـكْـمُـن الـفَــرْقَ بــيـن </a:t>
            </a:r>
            <a:r>
              <a:rPr lang="ar-DZ" sz="3600" b="1" dirty="0" smtClean="0">
                <a:solidFill>
                  <a:srgbClr val="FF0000"/>
                </a:solidFill>
              </a:rPr>
              <a:t>شـكـل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الـمُــدْخَــلَات والـمُـخْــرَجَــات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1271464" y="3098721"/>
            <a:ext cx="9505055" cy="1338391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لـهـمـا  نـفـس الـشـكـل الـهـنـدسـي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، يـكـمـن 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الـفَــرْقُ فـي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مـحـتـوى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الـشـكــل الـهـنـدسـي </a:t>
            </a:r>
            <a:endParaRPr lang="fr-FR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67001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SA" sz="4000" b="1" dirty="0">
                <a:solidFill>
                  <a:srgbClr val="FF0000"/>
                </a:solidFill>
                <a:cs typeface="+mj-cs"/>
              </a:rPr>
              <a:t> ( 1.2 تَـحْــلِــيــلُ الـمَــسْــأَلَــةِ وَتَـحْــدِيـــدِ عَـــنَــاصِــرِهَــا 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2348880"/>
            <a:ext cx="10814992" cy="402095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11" name="Rectangle 10"/>
          <p:cNvSpPr/>
          <p:nvPr/>
        </p:nvSpPr>
        <p:spPr>
          <a:xfrm>
            <a:off x="1271464" y="2861313"/>
            <a:ext cx="9865096" cy="28083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endParaRPr lang="ar-DZ" sz="2000" b="1" dirty="0" smtClean="0">
              <a:solidFill>
                <a:srgbClr val="0070C0"/>
              </a:solidFill>
              <a:cs typeface="+mj-cs"/>
            </a:endParaRPr>
          </a:p>
          <a:p>
            <a:pPr algn="ctr" rtl="1">
              <a:lnSpc>
                <a:spcPct val="150000"/>
              </a:lnSpc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نُـحَــدِّدُ فِــيـهَـا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الـمُـعْــطَــيَــات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الَّـتِي تَــتِــمُّ </a:t>
            </a:r>
            <a:r>
              <a:rPr lang="ar-DZ" sz="4400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قِـــرَاءَتُــهَـا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وإِدْخَـــالُــهَـا ( مِــنْ خِــلالِ لَـــوْحَــةِ الــمَـــفَـــاتِـــيــحِ )</a:t>
            </a:r>
            <a:endParaRPr lang="fr-FR" sz="4400" b="1" dirty="0" smtClean="0">
              <a:solidFill>
                <a:srgbClr val="0070C0"/>
              </a:solidFill>
              <a:cs typeface="+mj-cs"/>
            </a:endParaRPr>
          </a:p>
          <a:p>
            <a:pPr algn="ctr" rtl="1"/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623392" y="1256176"/>
            <a:ext cx="10814992" cy="9778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4000" b="1" dirty="0">
                <a:solidFill>
                  <a:srgbClr val="00B050"/>
                </a:solidFill>
                <a:cs typeface="+mj-cs"/>
              </a:rPr>
              <a:t>Step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1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- Inputs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: </a:t>
            </a:r>
            <a:r>
              <a:rPr lang="fr-FR" sz="2800" dirty="0" smtClean="0">
                <a:solidFill>
                  <a:srgbClr val="00B050"/>
                </a:solidFill>
                <a:cs typeface="+mj-cs"/>
              </a:rPr>
              <a:t>…………………..…………………..…………...…………………</a:t>
            </a:r>
            <a:endParaRPr lang="ar-DZ" sz="2800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51558" y="1341350"/>
            <a:ext cx="69847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B050"/>
                </a:solidFill>
              </a:rPr>
              <a:t>ال</a:t>
            </a:r>
            <a:r>
              <a:rPr lang="ar-DZ" sz="4000" b="1" dirty="0" smtClean="0">
                <a:solidFill>
                  <a:srgbClr val="00B050"/>
                </a:solidFill>
              </a:rPr>
              <a:t>ـ</a:t>
            </a:r>
            <a:r>
              <a:rPr lang="ar-SA" sz="4000" b="1" dirty="0" smtClean="0">
                <a:solidFill>
                  <a:srgbClr val="00B050"/>
                </a:solidFill>
              </a:rPr>
              <a:t>ـم</a:t>
            </a:r>
            <a:r>
              <a:rPr lang="ar-DZ" sz="4000" b="1" dirty="0" smtClean="0">
                <a:solidFill>
                  <a:srgbClr val="00B050"/>
                </a:solidFill>
              </a:rPr>
              <a:t>ُـ</a:t>
            </a:r>
            <a:r>
              <a:rPr lang="ar-SA" sz="4000" b="1" dirty="0" smtClean="0">
                <a:solidFill>
                  <a:srgbClr val="00B050"/>
                </a:solidFill>
              </a:rPr>
              <a:t>ـد</a:t>
            </a:r>
            <a:r>
              <a:rPr lang="ar-DZ" sz="4000" b="1" dirty="0" smtClean="0">
                <a:solidFill>
                  <a:srgbClr val="00B050"/>
                </a:solidFill>
              </a:rPr>
              <a:t>ْ</a:t>
            </a:r>
            <a:r>
              <a:rPr lang="ar-SA" sz="4000" b="1" dirty="0" smtClean="0">
                <a:solidFill>
                  <a:srgbClr val="00B050"/>
                </a:solidFill>
              </a:rPr>
              <a:t>خ</a:t>
            </a:r>
            <a:r>
              <a:rPr lang="ar-DZ" sz="4000" b="1" dirty="0" smtClean="0">
                <a:solidFill>
                  <a:srgbClr val="00B050"/>
                </a:solidFill>
              </a:rPr>
              <a:t>َــ</a:t>
            </a:r>
            <a:r>
              <a:rPr lang="ar-SA" sz="4000" b="1" dirty="0" smtClean="0">
                <a:solidFill>
                  <a:srgbClr val="00B050"/>
                </a:solidFill>
              </a:rPr>
              <a:t>ـل</a:t>
            </a:r>
            <a:r>
              <a:rPr lang="ar-DZ" sz="4000" b="1" dirty="0" smtClean="0">
                <a:solidFill>
                  <a:srgbClr val="00B050"/>
                </a:solidFill>
              </a:rPr>
              <a:t>َ</a:t>
            </a:r>
            <a:r>
              <a:rPr lang="ar-SA" sz="4000" b="1" dirty="0" smtClean="0">
                <a:solidFill>
                  <a:srgbClr val="00B050"/>
                </a:solidFill>
              </a:rPr>
              <a:t>ات الـو</a:t>
            </a:r>
            <a:r>
              <a:rPr lang="ar-DZ" sz="4000" b="1" dirty="0">
                <a:solidFill>
                  <a:srgbClr val="00B050"/>
                </a:solidFill>
              </a:rPr>
              <a:t>َ</a:t>
            </a:r>
            <a:r>
              <a:rPr lang="ar-SA" sz="4000" b="1" dirty="0" smtClean="0">
                <a:solidFill>
                  <a:srgbClr val="00B050"/>
                </a:solidFill>
              </a:rPr>
              <a:t>اج</a:t>
            </a:r>
            <a:r>
              <a:rPr lang="ar-DZ" sz="4000" b="1" dirty="0" smtClean="0">
                <a:solidFill>
                  <a:srgbClr val="00B050"/>
                </a:solidFill>
              </a:rPr>
              <a:t>ِـ</a:t>
            </a:r>
            <a:r>
              <a:rPr lang="ar-SA" sz="4000" b="1" dirty="0" smtClean="0">
                <a:solidFill>
                  <a:srgbClr val="00B050"/>
                </a:solidFill>
              </a:rPr>
              <a:t>ـب ا</a:t>
            </a:r>
            <a:r>
              <a:rPr lang="ar-DZ" sz="4000" b="1" dirty="0" smtClean="0">
                <a:solidFill>
                  <a:srgbClr val="00B050"/>
                </a:solidFill>
              </a:rPr>
              <a:t>ِ</a:t>
            </a:r>
            <a:r>
              <a:rPr lang="ar-SA" sz="4000" b="1" dirty="0" smtClean="0">
                <a:solidFill>
                  <a:srgbClr val="00B050"/>
                </a:solidFill>
              </a:rPr>
              <a:t>س</a:t>
            </a:r>
            <a:r>
              <a:rPr lang="ar-DZ" sz="4000" b="1" dirty="0" smtClean="0">
                <a:solidFill>
                  <a:srgbClr val="00B050"/>
                </a:solidFill>
              </a:rPr>
              <a:t>ْـ</a:t>
            </a:r>
            <a:r>
              <a:rPr lang="ar-SA" sz="4000" b="1" dirty="0" smtClean="0">
                <a:solidFill>
                  <a:srgbClr val="00B050"/>
                </a:solidFill>
              </a:rPr>
              <a:t>ـت</a:t>
            </a:r>
            <a:r>
              <a:rPr lang="ar-DZ" sz="4000" b="1" dirty="0" smtClean="0">
                <a:solidFill>
                  <a:srgbClr val="00B050"/>
                </a:solidFill>
              </a:rPr>
              <a:t>ِ</a:t>
            </a:r>
            <a:r>
              <a:rPr lang="ar-SA" sz="4000" b="1" dirty="0" smtClean="0">
                <a:solidFill>
                  <a:srgbClr val="00B050"/>
                </a:solidFill>
              </a:rPr>
              <a:t>ـ</a:t>
            </a:r>
            <a:r>
              <a:rPr lang="ar-DZ" sz="4000" b="1" dirty="0" smtClean="0">
                <a:solidFill>
                  <a:srgbClr val="00B050"/>
                </a:solidFill>
              </a:rPr>
              <a:t>ـ</a:t>
            </a:r>
            <a:r>
              <a:rPr lang="ar-SA" sz="4000" b="1" dirty="0" smtClean="0">
                <a:solidFill>
                  <a:srgbClr val="00B050"/>
                </a:solidFill>
              </a:rPr>
              <a:t>ع</a:t>
            </a:r>
            <a:r>
              <a:rPr lang="ar-DZ" sz="4000" b="1" dirty="0" smtClean="0">
                <a:solidFill>
                  <a:srgbClr val="00B050"/>
                </a:solidFill>
              </a:rPr>
              <a:t>ْــ</a:t>
            </a:r>
            <a:r>
              <a:rPr lang="ar-SA" sz="4000" b="1" dirty="0" smtClean="0">
                <a:solidFill>
                  <a:srgbClr val="00B050"/>
                </a:solidFill>
              </a:rPr>
              <a:t>ـم</a:t>
            </a:r>
            <a:r>
              <a:rPr lang="ar-DZ" sz="4000" b="1" dirty="0" smtClean="0">
                <a:solidFill>
                  <a:srgbClr val="00B050"/>
                </a:solidFill>
              </a:rPr>
              <a:t>َـ</a:t>
            </a:r>
            <a:r>
              <a:rPr lang="ar-SA" sz="4000" b="1" dirty="0" smtClean="0">
                <a:solidFill>
                  <a:srgbClr val="00B050"/>
                </a:solidFill>
              </a:rPr>
              <a:t>ـال</a:t>
            </a:r>
            <a:r>
              <a:rPr lang="ar-DZ" sz="4000" b="1" dirty="0" smtClean="0">
                <a:solidFill>
                  <a:srgbClr val="00B050"/>
                </a:solidFill>
              </a:rPr>
              <a:t>ُ</a:t>
            </a:r>
            <a:r>
              <a:rPr lang="ar-SA" sz="4000" b="1" dirty="0" smtClean="0">
                <a:solidFill>
                  <a:srgbClr val="00B050"/>
                </a:solidFill>
              </a:rPr>
              <a:t>ـه</a:t>
            </a:r>
            <a:r>
              <a:rPr lang="ar-DZ" sz="4000" b="1" dirty="0" smtClean="0">
                <a:solidFill>
                  <a:srgbClr val="00B050"/>
                </a:solidFill>
              </a:rPr>
              <a:t>َ</a:t>
            </a:r>
            <a:r>
              <a:rPr lang="ar-SA" sz="4000" b="1" dirty="0" smtClean="0">
                <a:solidFill>
                  <a:srgbClr val="00B050"/>
                </a:solidFill>
              </a:rPr>
              <a:t>ـا</a:t>
            </a:r>
            <a:r>
              <a:rPr lang="ar-DZ" sz="4000" b="1" dirty="0" smtClean="0">
                <a:solidFill>
                  <a:srgbClr val="0070C0"/>
                </a:solidFill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5215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1" grpId="0" animBg="1"/>
      <p:bldP spid="10" grpId="0" animBg="1"/>
      <p:bldP spid="12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أيـن يَـكْـمُـن الـفَــرْقَ بــيـن </a:t>
            </a:r>
            <a:r>
              <a:rPr lang="ar-DZ" sz="3600" b="1" dirty="0" smtClean="0">
                <a:solidFill>
                  <a:srgbClr val="FF0000"/>
                </a:solidFill>
              </a:rPr>
              <a:t>شـكـل </a:t>
            </a:r>
            <a:r>
              <a:rPr lang="ar-DZ" sz="3600" b="1" dirty="0">
                <a:solidFill>
                  <a:srgbClr val="FF0000"/>
                </a:solidFill>
              </a:rPr>
              <a:t>الـمُــدْخَــلَات والـمُـخْــرَجَــات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911424" y="2996952"/>
            <a:ext cx="10225136" cy="162642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الــشــكــل الـهــنــدســي لـلــمُــدْخَـــلَات يَــتَـضَـمَـنُ الـتـعـلـيـمـة 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Lire (entrée1, entrée2, … )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endParaRPr lang="fr-FR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4385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SA" sz="4000" b="1" dirty="0">
                <a:solidFill>
                  <a:srgbClr val="FF0000"/>
                </a:solidFill>
                <a:cs typeface="+mj-cs"/>
              </a:rPr>
              <a:t> ( 1.2 تَـحْــلِــيــلُ الـمَــسْــأَلَــةِ وَتَـحْــدِيـــدِ عَـــنَــاصِــرِهَــا )</a:t>
            </a:r>
            <a:endParaRPr lang="fr-FR" sz="4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23392" y="2348880"/>
            <a:ext cx="10814992" cy="402095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......................................................................................................................... </a:t>
            </a:r>
            <a:endParaRPr lang="ar-DZ" sz="4000" baseline="-25000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11" name="Rectangle 10"/>
          <p:cNvSpPr/>
          <p:nvPr/>
        </p:nvSpPr>
        <p:spPr>
          <a:xfrm>
            <a:off x="1127448" y="2861313"/>
            <a:ext cx="10009112" cy="28083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lnSpc>
                <a:spcPct val="150000"/>
              </a:lnSpc>
            </a:pP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نُـبْــرِزُ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نُـظْـهِـرُ )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فِــيـهَـا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الــنَــتَــائِـجَ الـمَـطْــلُــوبَـة </a:t>
            </a:r>
          </a:p>
          <a:p>
            <a:pPr algn="ctr" rtl="1">
              <a:lnSpc>
                <a:spcPct val="150000"/>
              </a:lnSpc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والَّـتِي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تُــمَــثِّــلُ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cs typeface="+mj-cs"/>
              </a:rPr>
              <a:t>بُــلُــوغَ الـهَــدَفِ</a:t>
            </a:r>
            <a:endParaRPr lang="fr-FR" sz="44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10" name="Titre 1"/>
          <p:cNvSpPr txBox="1">
            <a:spLocks/>
          </p:cNvSpPr>
          <p:nvPr/>
        </p:nvSpPr>
        <p:spPr>
          <a:xfrm>
            <a:off x="623392" y="1268760"/>
            <a:ext cx="10814992" cy="9720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4000" b="1" dirty="0">
                <a:solidFill>
                  <a:srgbClr val="00B050"/>
                </a:solidFill>
                <a:cs typeface="+mj-cs"/>
              </a:rPr>
              <a:t>Step</a:t>
            </a:r>
            <a:r>
              <a:rPr lang="fr-FR" sz="40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3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 - </a:t>
            </a:r>
            <a:r>
              <a:rPr lang="en-US" sz="4000" b="1" u="sng" dirty="0">
                <a:solidFill>
                  <a:srgbClr val="00B050"/>
                </a:solidFill>
                <a:cs typeface="+mj-cs"/>
              </a:rPr>
              <a:t>Outputs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fr-FR" sz="4000" b="1" dirty="0" smtClean="0">
                <a:solidFill>
                  <a:srgbClr val="00B050"/>
                </a:solidFill>
                <a:cs typeface="+mj-cs"/>
              </a:rPr>
              <a:t>: </a:t>
            </a:r>
            <a:r>
              <a:rPr lang="fr-FR" sz="3200" dirty="0" smtClean="0">
                <a:solidFill>
                  <a:srgbClr val="00B050"/>
                </a:solidFill>
                <a:cs typeface="+mj-cs"/>
              </a:rPr>
              <a:t>…………..…………..…………...…………………</a:t>
            </a:r>
            <a:endParaRPr lang="ar-DZ" sz="3200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08936" y="1381943"/>
            <a:ext cx="71585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B050"/>
                </a:solidFill>
                <a:cs typeface="+mj-cs"/>
              </a:rPr>
              <a:t>ا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لـمُـخْــرَجَــات الـمُـــرَادُ الـحُـصُـولُ عَـلَـيْـهَـا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39914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1" grpId="0" animBg="1"/>
      <p:bldP spid="10" grpId="0" animBg="1"/>
      <p:bldP spid="12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أيـن يَـكْـمُـن الـفَــرْقَ بــيـن </a:t>
            </a:r>
            <a:r>
              <a:rPr lang="ar-DZ" sz="3600" b="1" dirty="0" smtClean="0">
                <a:solidFill>
                  <a:srgbClr val="FF0000"/>
                </a:solidFill>
              </a:rPr>
              <a:t>شـكـل </a:t>
            </a:r>
            <a:r>
              <a:rPr lang="ar-DZ" sz="3600" b="1" dirty="0">
                <a:solidFill>
                  <a:srgbClr val="FF0000"/>
                </a:solidFill>
              </a:rPr>
              <a:t>الـمُــدْخَــلَات والـمُـخْــرَجَــات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911424" y="3008568"/>
            <a:ext cx="10225136" cy="162642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الــشـكــل الـهــنــدسـي لـلـمُـخْــرَجَـــات يَــتَـضَـمَـنُ الـتـعــلــيـمـة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Ecrire (sortie1, sortie2, … )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endParaRPr lang="fr-FR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9105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أيـن يَـكْـمُـن الـفَــرْقَ بــيـن </a:t>
            </a:r>
            <a:r>
              <a:rPr lang="ar-DZ" sz="3600" b="1" dirty="0" smtClean="0">
                <a:solidFill>
                  <a:srgbClr val="FF0000"/>
                </a:solidFill>
              </a:rPr>
              <a:t>شـكـل </a:t>
            </a:r>
            <a:r>
              <a:rPr lang="ar-DZ" sz="3600" b="1" dirty="0">
                <a:solidFill>
                  <a:srgbClr val="FF0000"/>
                </a:solidFill>
              </a:rPr>
              <a:t>الـمُــدْخَــلَات والـمُـخْــرَجَــات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911424" y="3008568"/>
            <a:ext cx="10225136" cy="162642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الــشـكــل الـهــنــدسـي لـلـمُـخْــرَجَـــات يَــتَـضَـمَـنُ الـتـعــلــيـمـة </a:t>
            </a:r>
            <a:r>
              <a:rPr lang="fr-FR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Ecrire (sortie)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endParaRPr lang="fr-FR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23973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500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ar-DZ" sz="45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( 2.2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مُــكَــوِنَـــات الــمُــخَــطَّــط الاِنْــسِـــيَـــابِـي </a:t>
            </a:r>
            <a:r>
              <a:rPr lang="ar-DZ" sz="45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45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33400"/>
              </p:ext>
            </p:extLst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5562" y="1927727"/>
            <a:ext cx="704063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بِـــدَايَــةَ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أو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نِــهَــايَــةَ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الــمُــخَــطَّــط الاِنْــسِــيَـــابِـي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9192344" y="2006878"/>
            <a:ext cx="1980000" cy="635473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7" name="Organigramme : Données 15"/>
          <p:cNvSpPr/>
          <p:nvPr/>
        </p:nvSpPr>
        <p:spPr>
          <a:xfrm>
            <a:off x="9192344" y="3571359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352" y="0"/>
                </a:lnTo>
                <a:lnTo>
                  <a:pt x="10000" y="0"/>
                </a:lnTo>
                <a:lnTo>
                  <a:pt x="897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8" name="Organigramme : Données 15"/>
          <p:cNvSpPr/>
          <p:nvPr/>
        </p:nvSpPr>
        <p:spPr>
          <a:xfrm>
            <a:off x="9192344" y="5040367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</p:spTree>
    <p:extLst>
      <p:ext uri="{BB962C8B-B14F-4D97-AF65-F5344CB8AC3E}">
        <p14:creationId xmlns:p14="http://schemas.microsoft.com/office/powerpoint/2010/main" val="1007558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6" grpId="0" animBg="1"/>
      <p:bldP spid="17" grpId="0" animBg="1"/>
      <p:bldP spid="18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33400"/>
              </p:ext>
            </p:extLst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5562" y="1927727"/>
            <a:ext cx="704063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بِـــدَايَــةَ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أو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نِــهَــايَــةَ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الــمُــخَــطَّــط الاِنْــسِــيَـــابِـي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9192344" y="2006878"/>
            <a:ext cx="1980000" cy="635473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7" name="Organigramme : Données 15"/>
          <p:cNvSpPr/>
          <p:nvPr/>
        </p:nvSpPr>
        <p:spPr>
          <a:xfrm>
            <a:off x="9192344" y="3571359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352" y="0"/>
                </a:lnTo>
                <a:lnTo>
                  <a:pt x="10000" y="0"/>
                </a:lnTo>
                <a:lnTo>
                  <a:pt x="897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8" name="Organigramme : Données 15"/>
          <p:cNvSpPr/>
          <p:nvPr/>
        </p:nvSpPr>
        <p:spPr>
          <a:xfrm>
            <a:off x="9192344" y="5040367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7976" y="3408122"/>
            <a:ext cx="81721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إِدْخَــال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الـبَـيَـانَـات </a:t>
            </a:r>
            <a:r>
              <a:rPr lang="ar-DZ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(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)</a:t>
            </a:r>
            <a:r>
              <a:rPr lang="ar-DZ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Lire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/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إِظْـهَـار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الـبَـيَـانَـات 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Ecrire ( )</a:t>
            </a:r>
            <a:endParaRPr lang="fr-FR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6573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6" grpId="0" animBg="1"/>
      <p:bldP spid="17" grpId="0" animBg="1"/>
      <p:bldP spid="18" grpId="0" animBg="1"/>
      <p:bldP spid="11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ســؤال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كـيـف يــتـمُ تــمــثــيــل </a:t>
            </a:r>
            <a:r>
              <a:rPr lang="ar-DZ" sz="3600" b="1" u="sng" dirty="0" smtClean="0">
                <a:solidFill>
                  <a:srgbClr val="FF0000"/>
                </a:solidFill>
                <a:cs typeface="+mj-cs"/>
              </a:rPr>
              <a:t>عــمــلــيــاتِ الـمــعــالــجــة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بَــيَــانِـيًـا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09600" y="4294780"/>
            <a:ext cx="4118248" cy="1594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</a:t>
            </a:r>
            <a:endParaRPr lang="fr-FR" b="1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35918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cs typeface="+mj-cs"/>
              </a:rPr>
              <a:t>ســؤال : كـيـف يــتـمُ تــمــثــيــل </a:t>
            </a:r>
            <a:r>
              <a:rPr lang="ar-DZ" sz="3600" b="1" u="sng" dirty="0">
                <a:solidFill>
                  <a:srgbClr val="FF0000"/>
                </a:solidFill>
                <a:cs typeface="+mj-cs"/>
              </a:rPr>
              <a:t>عــمــلــيــاتِ الـمــعــالــجــة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 بَــيَــانِـيًـا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15752" y="4282919"/>
            <a:ext cx="4118248" cy="159435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مــن خـ</a:t>
            </a:r>
            <a:r>
              <a:rPr lang="ar-DZ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ـلال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الـمـسـتـطـيـلات</a:t>
            </a:r>
            <a:endParaRPr lang="fr-FR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7885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33400"/>
              </p:ext>
            </p:extLst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5562" y="1927727"/>
            <a:ext cx="704063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بِـــدَايَــةَ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أو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نِــهَــايَــةَ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الــمُــخَــطَّــط الاِنْــسِــيَـــابِـي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4795463"/>
            <a:ext cx="6912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إِنْـجَــازَ عَــمَــلِــيَــة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مُــعَـــالَــجَــةِ 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الــبَــيَــانَــاتِ </a:t>
            </a:r>
            <a:endParaRPr lang="fr-FR" sz="3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9192344" y="2006878"/>
            <a:ext cx="1980000" cy="635473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7" name="Organigramme : Données 15"/>
          <p:cNvSpPr/>
          <p:nvPr/>
        </p:nvSpPr>
        <p:spPr>
          <a:xfrm>
            <a:off x="9192344" y="3571359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352" y="0"/>
                </a:lnTo>
                <a:lnTo>
                  <a:pt x="10000" y="0"/>
                </a:lnTo>
                <a:lnTo>
                  <a:pt x="897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8" name="Organigramme : Données 15"/>
          <p:cNvSpPr/>
          <p:nvPr/>
        </p:nvSpPr>
        <p:spPr>
          <a:xfrm>
            <a:off x="9192344" y="5040367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7976" y="3408122"/>
            <a:ext cx="81721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إِدْخَــال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الـبَـيَـانَـات </a:t>
            </a:r>
            <a:r>
              <a:rPr lang="ar-DZ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(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)</a:t>
            </a:r>
            <a:r>
              <a:rPr lang="ar-DZ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Lire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/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إِظْـهَـار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الـبَـيَـانَـات 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Ecrire ( )</a:t>
            </a:r>
            <a:endParaRPr lang="fr-FR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48408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4" grpId="0" animBg="1"/>
      <p:bldP spid="16" grpId="0" animBg="1"/>
      <p:bldP spid="17" grpId="0" animBg="1"/>
      <p:bldP spid="18" grpId="0" animBg="1"/>
      <p:bldP spid="12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33400"/>
              </p:ext>
            </p:extLst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3" name="Organigramme : Décision 12"/>
          <p:cNvSpPr/>
          <p:nvPr/>
        </p:nvSpPr>
        <p:spPr>
          <a:xfrm>
            <a:off x="9405936" y="1788537"/>
            <a:ext cx="1552815" cy="993350"/>
          </a:xfrm>
          <a:prstGeom prst="flowChartDecision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cxnSp>
        <p:nvCxnSpPr>
          <p:cNvPr id="15" name="Connecteur droit 14"/>
          <p:cNvCxnSpPr/>
          <p:nvPr/>
        </p:nvCxnSpPr>
        <p:spPr>
          <a:xfrm flipH="1">
            <a:off x="9338751" y="3803328"/>
            <a:ext cx="15840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Organigramme : Connecteur 18"/>
          <p:cNvSpPr/>
          <p:nvPr/>
        </p:nvSpPr>
        <p:spPr>
          <a:xfrm>
            <a:off x="9824751" y="5001215"/>
            <a:ext cx="468000" cy="468000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671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 animBg="1"/>
      <p:bldP spid="19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33400"/>
              </p:ext>
            </p:extLst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9600" y="1927727"/>
            <a:ext cx="7254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اِتِّـخَــاذَ قَـــرَارٍ 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بَـعْــدَ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الـتَّـحَــقُــقِ </a:t>
            </a:r>
            <a:r>
              <a:rPr lang="ar-DZ" sz="3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مِـنْ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شـــرْطٍ 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مُـحَــدَدٍ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Organigramme : Décision 12"/>
          <p:cNvSpPr/>
          <p:nvPr/>
        </p:nvSpPr>
        <p:spPr>
          <a:xfrm>
            <a:off x="9405936" y="1788537"/>
            <a:ext cx="1552815" cy="993350"/>
          </a:xfrm>
          <a:prstGeom prst="flowChartDecision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cxnSp>
        <p:nvCxnSpPr>
          <p:cNvPr id="15" name="Connecteur droit 14"/>
          <p:cNvCxnSpPr/>
          <p:nvPr/>
        </p:nvCxnSpPr>
        <p:spPr>
          <a:xfrm flipH="1">
            <a:off x="9338751" y="3803328"/>
            <a:ext cx="15840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Organigramme : Connecteur 18"/>
          <p:cNvSpPr/>
          <p:nvPr/>
        </p:nvSpPr>
        <p:spPr>
          <a:xfrm>
            <a:off x="9824751" y="5001215"/>
            <a:ext cx="468000" cy="468000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8649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3" grpId="0" animBg="1"/>
      <p:bldP spid="19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33400"/>
              </p:ext>
            </p:extLst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09600" y="1927727"/>
            <a:ext cx="7254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اِتِّـخَــاذَ قَـــرَارٍ 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بَـعْــدَ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الـتَّـحَــقُــقِ </a:t>
            </a:r>
            <a:r>
              <a:rPr lang="ar-DZ" sz="3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مِـنْ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شـــرْطٍ 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مُـحَــدَدٍ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Organigramme : Décision 12"/>
          <p:cNvSpPr/>
          <p:nvPr/>
        </p:nvSpPr>
        <p:spPr>
          <a:xfrm>
            <a:off x="9405936" y="1788537"/>
            <a:ext cx="1552815" cy="993350"/>
          </a:xfrm>
          <a:prstGeom prst="flowChartDecision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cxnSp>
        <p:nvCxnSpPr>
          <p:cNvPr id="15" name="Connecteur droit 14"/>
          <p:cNvCxnSpPr/>
          <p:nvPr/>
        </p:nvCxnSpPr>
        <p:spPr>
          <a:xfrm flipH="1">
            <a:off x="9338751" y="3803328"/>
            <a:ext cx="15840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Organigramme : Connecteur 18"/>
          <p:cNvSpPr/>
          <p:nvPr/>
        </p:nvSpPr>
        <p:spPr>
          <a:xfrm>
            <a:off x="9824751" y="5001215"/>
            <a:ext cx="468000" cy="468000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80" y="1131194"/>
            <a:ext cx="10800000" cy="5463961"/>
          </a:xfrm>
          <a:prstGeom prst="rect">
            <a:avLst/>
          </a:prstGeom>
          <a:ln w="190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1" name="Espace réservé du contenu 21"/>
          <p:cNvSpPr txBox="1">
            <a:spLocks/>
          </p:cNvSpPr>
          <p:nvPr/>
        </p:nvSpPr>
        <p:spPr>
          <a:xfrm>
            <a:off x="8278378" y="5679187"/>
            <a:ext cx="3145202" cy="91816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SA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خــطــوات 1</a:t>
            </a:r>
            <a:endParaRPr lang="fr-FR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2" name="Espace réservé du contenu 21"/>
          <p:cNvSpPr txBox="1">
            <a:spLocks/>
          </p:cNvSpPr>
          <p:nvPr/>
        </p:nvSpPr>
        <p:spPr>
          <a:xfrm>
            <a:off x="622568" y="5740151"/>
            <a:ext cx="3145202" cy="91816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SA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خــطــوات 2</a:t>
            </a:r>
            <a:endParaRPr lang="fr-FR" b="1" dirty="0" smtClean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9264352" y="1412776"/>
            <a:ext cx="1869817" cy="72008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DZ" sz="3200" b="1" dirty="0" smtClean="0">
                <a:solidFill>
                  <a:srgbClr val="002060"/>
                </a:solidFill>
                <a:cs typeface="+mj-cs"/>
              </a:rPr>
              <a:t>مـــثـــال : </a:t>
            </a:r>
            <a:endParaRPr lang="fr-FR" sz="3200" b="1" dirty="0">
              <a:solidFill>
                <a:srgbClr val="00206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93798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3" grpId="0" animBg="1"/>
      <p:bldP spid="19" grpId="0" animBg="1"/>
      <p:bldP spid="11" grpId="0" animBg="1"/>
      <p:bldP spid="12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33400"/>
              </p:ext>
            </p:extLst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09600" y="3371280"/>
            <a:ext cx="7254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تَــسَــلْــسُــلَ (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اِنْــسِــيَــاب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) خُــطُــوَاتِ الــمَــسْــأَلَــةِ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Organigramme : Décision 12"/>
          <p:cNvSpPr/>
          <p:nvPr/>
        </p:nvSpPr>
        <p:spPr>
          <a:xfrm>
            <a:off x="9405936" y="1788537"/>
            <a:ext cx="1552815" cy="993350"/>
          </a:xfrm>
          <a:prstGeom prst="flowChartDecision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cxnSp>
        <p:nvCxnSpPr>
          <p:cNvPr id="15" name="Connecteur droit 14"/>
          <p:cNvCxnSpPr/>
          <p:nvPr/>
        </p:nvCxnSpPr>
        <p:spPr>
          <a:xfrm flipH="1">
            <a:off x="9338751" y="3803328"/>
            <a:ext cx="15840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Organigramme : Connecteur 18"/>
          <p:cNvSpPr/>
          <p:nvPr/>
        </p:nvSpPr>
        <p:spPr>
          <a:xfrm>
            <a:off x="9824751" y="5001215"/>
            <a:ext cx="468000" cy="468000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4" name="Rectangle 13"/>
          <p:cNvSpPr/>
          <p:nvPr/>
        </p:nvSpPr>
        <p:spPr>
          <a:xfrm>
            <a:off x="609600" y="1927727"/>
            <a:ext cx="7254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اِتِّـخَــاذَ قَـــرَارٍ 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بَـعْــدَ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الـتَّـحَــقُــقِ </a:t>
            </a:r>
            <a:r>
              <a:rPr lang="ar-DZ" sz="3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مِـنْ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شـــرْطٍ 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مُـحَــدَدٍ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39404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9" grpId="0" animBg="1"/>
      <p:bldP spid="14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533400"/>
              </p:ext>
            </p:extLst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09600" y="4795463"/>
            <a:ext cx="7254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نـقـطـة </a:t>
            </a:r>
            <a:r>
              <a:rPr lang="ar-DZ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تَـوْصِـيـل بَـيْـنَ أَجْــزَاءِ 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الـمُـخَـطَّــطِ الانْـسِـيَــابِـي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Organigramme : Décision 12"/>
          <p:cNvSpPr/>
          <p:nvPr/>
        </p:nvSpPr>
        <p:spPr>
          <a:xfrm>
            <a:off x="9405936" y="1788537"/>
            <a:ext cx="1552815" cy="993350"/>
          </a:xfrm>
          <a:prstGeom prst="flowChartDecision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cxnSp>
        <p:nvCxnSpPr>
          <p:cNvPr id="15" name="Connecteur droit 14"/>
          <p:cNvCxnSpPr/>
          <p:nvPr/>
        </p:nvCxnSpPr>
        <p:spPr>
          <a:xfrm flipH="1">
            <a:off x="9338751" y="3803328"/>
            <a:ext cx="15840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Organigramme : Connecteur 18"/>
          <p:cNvSpPr/>
          <p:nvPr/>
        </p:nvSpPr>
        <p:spPr>
          <a:xfrm>
            <a:off x="9824751" y="5001215"/>
            <a:ext cx="468000" cy="468000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609600" y="1927727"/>
            <a:ext cx="7254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اِتِّـخَــاذَ قَـــرَارٍ 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بَـعْــدَ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الـتَّـحَــقُــقِ </a:t>
            </a:r>
            <a:r>
              <a:rPr lang="ar-DZ" sz="3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مِـنْ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شـــرْطٍ 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مُـحَــدَدٍ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9600" y="3371280"/>
            <a:ext cx="7254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تَــسَــلْــسُــلَ (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اِنْــسِــيَــاب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) خُــطُــوَاتِ الــمَــسْــأَلَــةِ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76707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4" grpId="0" animBg="1"/>
      <p:bldP spid="13" grpId="0" animBg="1"/>
      <p:bldP spid="19" grpId="0" animBg="1"/>
      <p:bldP spid="16" grpId="0" animBg="1"/>
      <p:bldP spid="17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. تــطــبـــيـــقـــات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نـــشـــاط 5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قُـــمْ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بِــصِــيَــــاغَـــةِ حَـــلٍ لِلْــمَـــسْـــأَلَـــةِ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  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حــســاب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مــســاحــة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fr-F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ومـحــيــط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(P)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مــســتــطــيــل طــولــه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وعـــرضــه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(Y)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«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ثُــمَ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ارْسُـــمْ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الــمُــخَــطَّــطَ الاِنْــسِـــيَــابِـي الـمُــوَافِـــقَ لَـهَـا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72120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صــيـــاغـــة حــل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الــمـــســـألـــة 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( نــشـــاط </a:t>
            </a:r>
            <a:r>
              <a:rPr lang="ar-DZ" b="1" u="sng" dirty="0">
                <a:solidFill>
                  <a:srgbClr val="00B050"/>
                </a:solidFill>
                <a:cs typeface="+mj-cs"/>
              </a:rPr>
              <a:t>5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 )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............................................................................................................................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6155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صــيـــاغـــة حــل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الــمـــســـألـــة 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( نــشـــاط </a:t>
            </a:r>
            <a:r>
              <a:rPr lang="ar-DZ" b="1" u="sng" dirty="0">
                <a:solidFill>
                  <a:srgbClr val="00B050"/>
                </a:solidFill>
                <a:cs typeface="+mj-cs"/>
              </a:rPr>
              <a:t>5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 )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............................................................................................................................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1055440" y="4421598"/>
            <a:ext cx="993710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الـمُــخْـــرَجَـــات 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الـمــســـاحـــة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S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55440" y="5313239"/>
            <a:ext cx="993710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3765550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الــمــحـــيـــط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P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9813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1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صــيـــاغـــة حــل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الــمـــســـألـــة 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( نــشـــاط </a:t>
            </a:r>
            <a:r>
              <a:rPr lang="ar-DZ" b="1" u="sng" dirty="0">
                <a:solidFill>
                  <a:srgbClr val="00B050"/>
                </a:solidFill>
                <a:cs typeface="+mj-cs"/>
              </a:rPr>
              <a:t>5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 )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............................................................................................................................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983432" y="1487197"/>
            <a:ext cx="99371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2060"/>
                </a:solidFill>
                <a:cs typeface="+mj-cs"/>
              </a:rPr>
              <a:t>الـمُــدْخـَــلات :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  الـطـــول والـعـــرض  ( 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300" b="1" dirty="0">
                <a:solidFill>
                  <a:srgbClr val="0070C0"/>
                </a:solidFill>
                <a:cs typeface="+mj-cs"/>
              </a:rPr>
              <a:t>X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, Y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5440" y="4421598"/>
            <a:ext cx="993710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الـمُــخْـــرَجَـــات 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الـمــســـاحـــة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S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55440" y="5313239"/>
            <a:ext cx="993710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3765550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الــمــحـــيـــط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P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3818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  <p:bldP spid="11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65000"/>
              </a:lnSpc>
              <a:buNone/>
            </a:pPr>
            <a:r>
              <a:rPr lang="ar-DZ" sz="3800" b="1" dirty="0" smtClean="0">
                <a:solidFill>
                  <a:srgbClr val="C00000"/>
                </a:solidFill>
                <a:cs typeface="+mj-cs"/>
              </a:rPr>
              <a:t>صـيـاغــة حــل مـســألـة يـكـون </a:t>
            </a:r>
            <a:r>
              <a:rPr lang="ar-DZ" sz="3800" baseline="-25000" dirty="0" smtClean="0">
                <a:solidFill>
                  <a:srgbClr val="C00000"/>
                </a:solidFill>
                <a:cs typeface="+mj-cs"/>
              </a:rPr>
              <a:t>..................................................................... </a:t>
            </a:r>
          </a:p>
          <a:p>
            <a:pPr algn="just" rtl="1">
              <a:lnSpc>
                <a:spcPct val="150000"/>
              </a:lnSpc>
            </a:pPr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الـمُــدْخَــلاَت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: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 </a:t>
            </a:r>
            <a:r>
              <a:rPr lang="ar-DZ" sz="4800" baseline="-25000" dirty="0" smtClean="0">
                <a:solidFill>
                  <a:srgbClr val="0070C0"/>
                </a:solidFill>
                <a:cs typeface="+mj-cs"/>
              </a:rPr>
              <a:t>...........................</a:t>
            </a: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 الَّـتِي ن</a:t>
            </a:r>
            <a:r>
              <a:rPr lang="ar-DZ" sz="4800" b="1" dirty="0">
                <a:solidFill>
                  <a:schemeClr val="tx1"/>
                </a:solidFill>
                <a:cs typeface="+mj-cs"/>
              </a:rPr>
              <a:t>ـ</a:t>
            </a: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حــتـاجـهـا</a:t>
            </a:r>
            <a:r>
              <a:rPr lang="fr-FR" sz="48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SA" sz="4800" b="1" dirty="0" smtClean="0">
                <a:cs typeface="+mj-cs"/>
              </a:rPr>
              <a:t>عــنـد بـحـثِــنـا</a:t>
            </a:r>
            <a:r>
              <a:rPr lang="ar-DZ" sz="4800" b="1" dirty="0">
                <a:cs typeface="+mj-cs"/>
              </a:rPr>
              <a:t> </a:t>
            </a:r>
            <a:r>
              <a:rPr lang="ar-SA" sz="4800" b="1" dirty="0" smtClean="0">
                <a:cs typeface="+mj-cs"/>
              </a:rPr>
              <a:t>عـن الحـل</a:t>
            </a:r>
            <a:r>
              <a:rPr lang="fr-FR" sz="4800" b="1" dirty="0" smtClean="0">
                <a:cs typeface="+mj-cs"/>
              </a:rPr>
              <a:t> </a:t>
            </a:r>
            <a:r>
              <a:rPr lang="ar-DZ" sz="4800" b="1" dirty="0" smtClean="0">
                <a:cs typeface="+mj-cs"/>
              </a:rPr>
              <a:t>بـحــيــث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لَا نَــسْــتَــغْـــنِـي عَــنْـهَـا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>
                <a:cs typeface="+mj-cs"/>
              </a:rPr>
              <a:t>( ضَـــرُورِيَـــة </a:t>
            </a:r>
            <a:r>
              <a:rPr lang="ar-DZ" sz="4800" b="1" dirty="0" smtClean="0">
                <a:cs typeface="+mj-cs"/>
              </a:rPr>
              <a:t>)</a:t>
            </a:r>
            <a:endParaRPr lang="ar-DZ" sz="48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3620" y="1416935"/>
            <a:ext cx="58864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بــتـحـديــد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عــنـاصـرهـا الأسـاسـيـة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91944" y="2546684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الــمُــعْــطَــيَــات</a:t>
            </a:r>
            <a:endParaRPr lang="fr-FR" sz="4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68937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2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2.2 صــيــاغــة حــل  </a:t>
            </a:r>
            <a:r>
              <a:rPr lang="ar-DZ" sz="4200" b="1" dirty="0">
                <a:solidFill>
                  <a:srgbClr val="00B050"/>
                </a:solidFill>
                <a:cs typeface="+mj-cs"/>
              </a:rPr>
              <a:t>الـمــشــكــلــة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 – </a:t>
            </a: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الــمُــدْخَـــلاَت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cs typeface="+mj-cs"/>
              </a:rPr>
              <a:t> بِـالإِضَـافَــةِ </a:t>
            </a:r>
            <a:r>
              <a:rPr lang="ar-DZ" sz="4800" b="1" dirty="0">
                <a:cs typeface="+mj-cs"/>
              </a:rPr>
              <a:t>إِلَـى </a:t>
            </a:r>
            <a:r>
              <a:rPr lang="ar-DZ" sz="4800" b="1" dirty="0" smtClean="0">
                <a:cs typeface="+mj-cs"/>
              </a:rPr>
              <a:t>كَـوْنِـهَـا </a:t>
            </a:r>
            <a:r>
              <a:rPr lang="ar-DZ" sz="4800" b="1" dirty="0">
                <a:cs typeface="+mj-cs"/>
              </a:rPr>
              <a:t>هـي </a:t>
            </a:r>
            <a:r>
              <a:rPr lang="ar-DZ" sz="4800" b="1" dirty="0" smtClean="0">
                <a:cs typeface="+mj-cs"/>
              </a:rPr>
              <a:t>الَّـتِي</a:t>
            </a:r>
            <a:r>
              <a:rPr lang="fr-FR" sz="4800" b="1" dirty="0" smtClean="0">
                <a:cs typeface="+mj-cs"/>
              </a:rPr>
              <a:t> </a:t>
            </a:r>
            <a:r>
              <a:rPr lang="ar-DZ" sz="4800" b="1" u="sng" dirty="0" smtClean="0">
                <a:solidFill>
                  <a:srgbClr val="FF0000"/>
                </a:solidFill>
                <a:cs typeface="+mj-cs"/>
              </a:rPr>
              <a:t>تُـحَــدِّدُ الـنَـتَــائِـجَ الـنهَـائــيـة</a:t>
            </a:r>
            <a:r>
              <a:rPr lang="ar-DZ" sz="4800" b="1" dirty="0" smtClean="0">
                <a:cs typeface="+mj-cs"/>
              </a:rPr>
              <a:t> </a:t>
            </a:r>
            <a:r>
              <a:rPr lang="ar-DZ" sz="4800" b="1" dirty="0">
                <a:cs typeface="+mj-cs"/>
              </a:rPr>
              <a:t>( الــمُــخْـــرَجَـــات )</a:t>
            </a:r>
            <a:r>
              <a:rPr lang="ar-SA" sz="4800" b="1" dirty="0" smtClean="0">
                <a:cs typeface="+mj-cs"/>
              </a:rPr>
              <a:t> </a:t>
            </a:r>
            <a:r>
              <a:rPr lang="ar-DZ" sz="4800" b="1" dirty="0">
                <a:cs typeface="+mj-cs"/>
              </a:rPr>
              <a:t>إِذْ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كُــلَّــمَــا غَـــيِّـــرْنَـــا الــمُـــدْخَـــلَات تَــتَــغَــيَّــرُ مَــعَــهَــا الــمُــخْـــرَجَـــات</a:t>
            </a:r>
            <a:endParaRPr lang="ar-DZ" sz="48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084433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صــيـــاغـــة حــل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الــمـــســـألـــة 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( نــشـــاط </a:t>
            </a:r>
            <a:r>
              <a:rPr lang="ar-DZ" b="1" u="sng" dirty="0">
                <a:solidFill>
                  <a:srgbClr val="00B050"/>
                </a:solidFill>
                <a:cs typeface="+mj-cs"/>
              </a:rPr>
              <a:t>5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 )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............................................................................................................................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983432" y="1487197"/>
            <a:ext cx="99371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2060"/>
                </a:solidFill>
                <a:cs typeface="+mj-cs"/>
              </a:rPr>
              <a:t>الـمُــدْخـَــلات :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  الـطـــول والـعـــرض  ( 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300" b="1" dirty="0">
                <a:solidFill>
                  <a:srgbClr val="0070C0"/>
                </a:solidFill>
                <a:cs typeface="+mj-cs"/>
              </a:rPr>
              <a:t>X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, Y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5440" y="4421598"/>
            <a:ext cx="993710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الـمُــخْـــرَجَـــات 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الـمــســـاحـــة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S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55440" y="5313239"/>
            <a:ext cx="993710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3765550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الــمــحـــيـــط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P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120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  <p:bldP spid="11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صــيـــاغـــة حــل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الــمـــســـألـــة 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( نــشـــاط </a:t>
            </a:r>
            <a:r>
              <a:rPr lang="ar-DZ" b="1" u="sng" dirty="0">
                <a:solidFill>
                  <a:srgbClr val="00B050"/>
                </a:solidFill>
                <a:cs typeface="+mj-cs"/>
              </a:rPr>
              <a:t>5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 )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............................................................................................................................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aseline="-25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endParaRPr lang="ar-DZ" sz="40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983432" y="1487197"/>
            <a:ext cx="99371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2060"/>
                </a:solidFill>
                <a:cs typeface="+mj-cs"/>
              </a:rPr>
              <a:t>الـمُــدْخـَــلات :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  الـطـــول والـعـــرض  ( 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300" b="1" dirty="0">
                <a:solidFill>
                  <a:srgbClr val="0070C0"/>
                </a:solidFill>
                <a:cs typeface="+mj-cs"/>
              </a:rPr>
              <a:t>X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, Y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83432" y="2522858"/>
            <a:ext cx="993710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/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عـــمــلــيـــات الــمــعـــالــجــة  :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S = ( X * Y )     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5440" y="4421598"/>
            <a:ext cx="993710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الـمُــخْـــرَجَـــات 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الـمــســـاحـــة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S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01398" y="3417501"/>
            <a:ext cx="993710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  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  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P = ( X + Y ) * 2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55440" y="5313239"/>
            <a:ext cx="993710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3765550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الــمــحـــيـــط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P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92025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/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5562" y="1927727"/>
            <a:ext cx="704063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بِـــدَايَــةَ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أو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نِــهَــايَــةَ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الــمُــخَــطَّــط الاِنْــسِــيَـــابِـي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4795463"/>
            <a:ext cx="6912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إِنْـجَــازَ عَــمَــلِــيَــة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مُــعَـــالَــجَــةِ 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الــبَــيَــانَــاتِ </a:t>
            </a:r>
            <a:endParaRPr lang="fr-FR" sz="3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9192344" y="2006878"/>
            <a:ext cx="1980000" cy="635473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7" name="Organigramme : Données 15"/>
          <p:cNvSpPr/>
          <p:nvPr/>
        </p:nvSpPr>
        <p:spPr>
          <a:xfrm>
            <a:off x="9192344" y="3571359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352" y="0"/>
                </a:lnTo>
                <a:lnTo>
                  <a:pt x="10000" y="0"/>
                </a:lnTo>
                <a:lnTo>
                  <a:pt x="897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8" name="Organigramme : Données 15"/>
          <p:cNvSpPr/>
          <p:nvPr/>
        </p:nvSpPr>
        <p:spPr>
          <a:xfrm>
            <a:off x="9192344" y="5040367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7976" y="3408122"/>
            <a:ext cx="81721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إِدْخَــال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الـبَـيَـانَـات </a:t>
            </a:r>
            <a:r>
              <a:rPr lang="ar-DZ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(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)</a:t>
            </a:r>
            <a:r>
              <a:rPr lang="ar-DZ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Lire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/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إِظْـهَـار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الـبَـيَـانَـات 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Ecrire ( )</a:t>
            </a:r>
            <a:endParaRPr lang="fr-FR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6765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4" grpId="0" animBg="1"/>
      <p:bldP spid="16" grpId="0" animBg="1"/>
      <p:bldP spid="17" grpId="0" animBg="1"/>
      <p:bldP spid="18" grpId="0" animBg="1"/>
      <p:bldP spid="12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. تــطــبـــيـــقـــات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نـــشـــاط 5</a:t>
            </a:r>
            <a:r>
              <a:rPr lang="ar-DZ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قُـــمْ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بِــصِــيَــــاغَـــةِ حَـــلٍ لِلْــمَـــسْـــأَلَـــةِ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  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حـــســـاب مـــســـاحـــة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fr-F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ومـحــيــط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(P)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دائـــرة نــصــف قــطـــرهــا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(R)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«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ثُــمَ ارْسُـــمْ الــمُــخَــطَّــطَ الاِنْــسِـــيَــابِـي الـمُــوَافِـــقَ لَـهَـا.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973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صــيـــاغـــة حــل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الــمـــســـألـــة 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( نــشـــاط 6 )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85725" indent="-3175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</a:t>
            </a:r>
          </a:p>
          <a:p>
            <a:pPr marL="85725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.........................................................................................................................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........................................................................................................................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79389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صــيـــاغـــة حــل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الــمـــســـألـــة 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( نــشـــاط 6 )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85725" indent="-3175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</a:t>
            </a:r>
          </a:p>
          <a:p>
            <a:pPr marL="85725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.........................................................................................................................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........................................................................................................................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1145414" y="4364742"/>
            <a:ext cx="96851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الــمُــخْــــرَجَــــات 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الـمــســـاحـــة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S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45414" y="5284959"/>
            <a:ext cx="96851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430371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الــمــحـــيـــط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P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65707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1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صــيـــاغـــة حــل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الــمـــســـألـــة 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( نــشـــاط 6 )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85725" indent="-3175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</a:t>
            </a:r>
          </a:p>
          <a:p>
            <a:pPr marL="85725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.........................................................................................................................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........................................................................................................................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1145414" y="4364742"/>
            <a:ext cx="96851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الــمُــخْــــرَجَــــات 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الـمــســـاحـــة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S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45414" y="5284959"/>
            <a:ext cx="96851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430371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الــمــحـــيـــط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P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27447" y="1442106"/>
            <a:ext cx="97031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2060"/>
                </a:solidFill>
                <a:cs typeface="+mj-cs"/>
              </a:rPr>
              <a:t>الــمُــدْخـَــلات :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  نــصــف الـقُـــطْـــر  (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R 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81309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1" grpId="0" animBg="1"/>
      <p:bldP spid="9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65000"/>
              </a:lnSpc>
              <a:buNone/>
            </a:pPr>
            <a:r>
              <a:rPr lang="ar-DZ" sz="3800" b="1" dirty="0" smtClean="0">
                <a:solidFill>
                  <a:srgbClr val="C00000"/>
                </a:solidFill>
                <a:cs typeface="+mj-cs"/>
              </a:rPr>
              <a:t>صـيـاغــة حــل مـســألـة يـكـون </a:t>
            </a:r>
            <a:r>
              <a:rPr lang="ar-DZ" sz="3800" baseline="-25000" dirty="0" smtClean="0">
                <a:solidFill>
                  <a:srgbClr val="C00000"/>
                </a:solidFill>
                <a:cs typeface="+mj-cs"/>
              </a:rPr>
              <a:t>..................................................................... </a:t>
            </a:r>
          </a:p>
          <a:p>
            <a:pPr algn="just" rtl="1">
              <a:lnSpc>
                <a:spcPct val="150000"/>
              </a:lnSpc>
            </a:pPr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الـمُــدْخَــلاَت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: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 </a:t>
            </a:r>
            <a:r>
              <a:rPr lang="ar-DZ" sz="4800" baseline="-25000" dirty="0" smtClean="0">
                <a:solidFill>
                  <a:srgbClr val="0070C0"/>
                </a:solidFill>
                <a:cs typeface="+mj-cs"/>
              </a:rPr>
              <a:t>...........................</a:t>
            </a: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 الَّـتِي ن</a:t>
            </a:r>
            <a:r>
              <a:rPr lang="ar-DZ" sz="4800" b="1" dirty="0">
                <a:solidFill>
                  <a:schemeClr val="tx1"/>
                </a:solidFill>
                <a:cs typeface="+mj-cs"/>
              </a:rPr>
              <a:t>ـ</a:t>
            </a: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حــتـاجـهـا</a:t>
            </a:r>
            <a:r>
              <a:rPr lang="fr-FR" sz="48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SA" sz="4800" b="1" dirty="0" smtClean="0">
                <a:cs typeface="+mj-cs"/>
              </a:rPr>
              <a:t>عــنـد بـحـثِــنـا</a:t>
            </a:r>
            <a:r>
              <a:rPr lang="ar-DZ" sz="4800" b="1" dirty="0">
                <a:cs typeface="+mj-cs"/>
              </a:rPr>
              <a:t> </a:t>
            </a:r>
            <a:r>
              <a:rPr lang="ar-SA" sz="4800" b="1" dirty="0" smtClean="0">
                <a:cs typeface="+mj-cs"/>
              </a:rPr>
              <a:t>عـن الحـل</a:t>
            </a:r>
            <a:r>
              <a:rPr lang="fr-FR" sz="4800" b="1" dirty="0" smtClean="0">
                <a:cs typeface="+mj-cs"/>
              </a:rPr>
              <a:t> </a:t>
            </a:r>
            <a:r>
              <a:rPr lang="ar-DZ" sz="4800" b="1" dirty="0" smtClean="0">
                <a:cs typeface="+mj-cs"/>
              </a:rPr>
              <a:t>بـحــيــث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لَا نَــسْــتَــغْـــنِـي عَــنْـهَـا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>
                <a:cs typeface="+mj-cs"/>
              </a:rPr>
              <a:t>( ضَـــرُورِيَـــة </a:t>
            </a:r>
            <a:r>
              <a:rPr lang="ar-DZ" sz="4800" b="1" dirty="0" smtClean="0">
                <a:cs typeface="+mj-cs"/>
              </a:rPr>
              <a:t>)</a:t>
            </a:r>
            <a:endParaRPr lang="ar-DZ" sz="48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3620" y="1416935"/>
            <a:ext cx="58864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بــتـحـديــد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عــنـاصـرهـا الأسـاسـيـة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91944" y="2546684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الــمُــعْــطَــيَــات</a:t>
            </a:r>
            <a:endParaRPr lang="fr-FR" sz="4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274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2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2.2 صــيــاغــة حــل  </a:t>
            </a:r>
            <a:r>
              <a:rPr lang="ar-DZ" sz="4200" b="1" dirty="0">
                <a:solidFill>
                  <a:srgbClr val="00B050"/>
                </a:solidFill>
                <a:cs typeface="+mj-cs"/>
              </a:rPr>
              <a:t>الـمــشــكــلــة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 – </a:t>
            </a: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الــمُــدْخَـــلاَت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cs typeface="+mj-cs"/>
              </a:rPr>
              <a:t> بِـالإِضَـافَــةِ </a:t>
            </a:r>
            <a:r>
              <a:rPr lang="ar-DZ" sz="4800" b="1" dirty="0">
                <a:cs typeface="+mj-cs"/>
              </a:rPr>
              <a:t>إِلَـى </a:t>
            </a:r>
            <a:r>
              <a:rPr lang="ar-DZ" sz="4800" b="1" dirty="0" smtClean="0">
                <a:cs typeface="+mj-cs"/>
              </a:rPr>
              <a:t>كَـوْنِـهَـا </a:t>
            </a:r>
            <a:r>
              <a:rPr lang="ar-DZ" sz="4800" b="1" dirty="0">
                <a:cs typeface="+mj-cs"/>
              </a:rPr>
              <a:t>هـي </a:t>
            </a:r>
            <a:r>
              <a:rPr lang="ar-DZ" sz="4800" b="1" dirty="0" smtClean="0">
                <a:cs typeface="+mj-cs"/>
              </a:rPr>
              <a:t>الَّـتِي</a:t>
            </a:r>
            <a:r>
              <a:rPr lang="fr-FR" sz="4800" b="1" dirty="0" smtClean="0">
                <a:cs typeface="+mj-cs"/>
              </a:rPr>
              <a:t> </a:t>
            </a:r>
            <a:r>
              <a:rPr lang="ar-DZ" sz="4800" b="1" u="sng" dirty="0" smtClean="0">
                <a:solidFill>
                  <a:srgbClr val="FF0000"/>
                </a:solidFill>
                <a:cs typeface="+mj-cs"/>
              </a:rPr>
              <a:t>تُـحَــدِّدُ الـنَـتَــائِـجَ الـنهَـائــيـة</a:t>
            </a:r>
            <a:r>
              <a:rPr lang="ar-DZ" sz="4800" b="1" dirty="0" smtClean="0">
                <a:cs typeface="+mj-cs"/>
              </a:rPr>
              <a:t> </a:t>
            </a:r>
            <a:r>
              <a:rPr lang="ar-DZ" sz="4800" b="1" dirty="0">
                <a:cs typeface="+mj-cs"/>
              </a:rPr>
              <a:t>( الــمُــخْـــرَجَـــات )</a:t>
            </a:r>
            <a:r>
              <a:rPr lang="ar-SA" sz="4800" b="1" dirty="0" smtClean="0">
                <a:cs typeface="+mj-cs"/>
              </a:rPr>
              <a:t> </a:t>
            </a:r>
            <a:r>
              <a:rPr lang="ar-DZ" sz="4800" b="1" dirty="0">
                <a:cs typeface="+mj-cs"/>
              </a:rPr>
              <a:t>إِذْ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كُــلَّــمَــا غَـــيِّـــرْنَـــا الــمُـــدْخَـــلَات تَــتَــغَــيَّــرُ مَــعَــهَــا الــمُــخْـــرَجَـــات</a:t>
            </a:r>
            <a:endParaRPr lang="ar-DZ" sz="48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03122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صــيـــاغـــة حــل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الــمـــســـألـــة 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( نــشـــاط 6 )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85725" indent="-3175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</a:t>
            </a:r>
          </a:p>
          <a:p>
            <a:pPr marL="85725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.........................................................................................................................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........................................................................................................................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1145414" y="4364742"/>
            <a:ext cx="96851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الــمُــخْــــرَجَــــات 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الـمــســـاحـــة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S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45414" y="5284959"/>
            <a:ext cx="96851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430371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الــمــحـــيـــط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P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27447" y="1442106"/>
            <a:ext cx="97031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2060"/>
                </a:solidFill>
                <a:cs typeface="+mj-cs"/>
              </a:rPr>
              <a:t>الــمُــدْخـَــلات :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  نــصــف الـقُـــطْـــر  (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R 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1793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1" grpId="0" animBg="1"/>
      <p:bldP spid="9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صــيـــاغـــة حــل </a:t>
            </a:r>
            <a:r>
              <a:rPr lang="ar-DZ" b="1" u="sng" dirty="0">
                <a:solidFill>
                  <a:srgbClr val="FF0000"/>
                </a:solidFill>
                <a:cs typeface="+mj-cs"/>
              </a:rPr>
              <a:t>الــمـــســـألـــة </a:t>
            </a:r>
            <a:r>
              <a:rPr lang="ar-DZ" b="1" u="sng" dirty="0" smtClean="0">
                <a:solidFill>
                  <a:srgbClr val="00B050"/>
                </a:solidFill>
                <a:cs typeface="+mj-cs"/>
              </a:rPr>
              <a:t>( نــشـــاط 6 )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: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85725" indent="-3175" algn="r" rtl="1"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.........................................................................................................................</a:t>
            </a:r>
          </a:p>
          <a:p>
            <a:pPr marL="85725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.........................................................................................................................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........................................................................................................................</a:t>
            </a:r>
          </a:p>
          <a:p>
            <a:pPr marL="0" indent="0" algn="r" rtl="1">
              <a:lnSpc>
                <a:spcPct val="120000"/>
              </a:lnSpc>
              <a:buNone/>
            </a:pP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  ........................................................................................................................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127447" y="1442106"/>
            <a:ext cx="97031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2060"/>
                </a:solidFill>
                <a:cs typeface="+mj-cs"/>
              </a:rPr>
              <a:t>الــمُــدْخـَــلات :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  نــصــف الـقُـــطْـــر  (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R 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127448" y="2503524"/>
            <a:ext cx="97031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/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عـــمــلــيـــات الــمــعــالــجــة  : 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S = </a:t>
            </a:r>
            <a:r>
              <a:rPr lang="el-GR" sz="4000" b="1" dirty="0">
                <a:solidFill>
                  <a:srgbClr val="0070C0"/>
                </a:solidFill>
              </a:rPr>
              <a:t>π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* R * R 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45414" y="4364742"/>
            <a:ext cx="96851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2060"/>
                </a:solidFill>
                <a:cs typeface="+mj-cs"/>
              </a:rPr>
              <a:t>الــمُــخْــــرَجَــــات :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  الـمــســـاحـــة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S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45414" y="3398167"/>
            <a:ext cx="97031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        P = </a:t>
            </a:r>
            <a:r>
              <a:rPr lang="fr-FR" sz="4000" b="1" dirty="0">
                <a:solidFill>
                  <a:srgbClr val="0070C0"/>
                </a:solidFill>
              </a:rPr>
              <a:t>2 * </a:t>
            </a:r>
            <a:r>
              <a:rPr lang="el-GR" sz="4000" b="1" dirty="0">
                <a:solidFill>
                  <a:srgbClr val="0070C0"/>
                </a:solidFill>
              </a:rPr>
              <a:t>π</a:t>
            </a:r>
            <a:r>
              <a:rPr lang="fr-FR" sz="4000" b="1" dirty="0">
                <a:solidFill>
                  <a:srgbClr val="0070C0"/>
                </a:solidFill>
              </a:rPr>
              <a:t> * R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45414" y="5284959"/>
            <a:ext cx="96851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430371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الــمــحـــيـــط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P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28527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/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5562" y="1927727"/>
            <a:ext cx="704063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بِـــدَايَــةَ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أو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نِــهَــايَــةَ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الــمُــخَــطَّــط الاِنْــسِــيَـــابِـي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4795463"/>
            <a:ext cx="6912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إِنْـجَــازَ عَــمَــلِــيَــة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مُــعَـــالَــجَــةِ 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الــبَــيَــانَــاتِ </a:t>
            </a:r>
            <a:endParaRPr lang="fr-FR" sz="3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9192344" y="2006878"/>
            <a:ext cx="1980000" cy="635473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7" name="Organigramme : Données 15"/>
          <p:cNvSpPr/>
          <p:nvPr/>
        </p:nvSpPr>
        <p:spPr>
          <a:xfrm>
            <a:off x="9192344" y="3571359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352" y="0"/>
                </a:lnTo>
                <a:lnTo>
                  <a:pt x="10000" y="0"/>
                </a:lnTo>
                <a:lnTo>
                  <a:pt x="897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8" name="Organigramme : Données 15"/>
          <p:cNvSpPr/>
          <p:nvPr/>
        </p:nvSpPr>
        <p:spPr>
          <a:xfrm>
            <a:off x="9192344" y="5040367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7976" y="3408122"/>
            <a:ext cx="81721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إِدْخَــال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الـبَـيَـانَـات </a:t>
            </a:r>
            <a:r>
              <a:rPr lang="ar-DZ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(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)</a:t>
            </a:r>
            <a:r>
              <a:rPr lang="ar-DZ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Lire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/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إِظْـهَـار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الـبَـيَـانَـات 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Ecrire ( )</a:t>
            </a:r>
            <a:endParaRPr lang="fr-FR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43213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4" grpId="0" animBg="1"/>
      <p:bldP spid="16" grpId="0" animBg="1"/>
      <p:bldP spid="17" grpId="0" animBg="1"/>
      <p:bldP spid="18" grpId="0" animBg="1"/>
      <p:bldP spid="12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. تــطــبـــيـــقـــات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نــشـــاط 7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قُـــمْ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بِــصِــيَــــاغَـــةِ حَـــلٍ لِلْــمَـــسْـــأَلَـــةِ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  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تـعــيــيــن الـقــيــمـة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الـمــطــلــقـة </a:t>
            </a:r>
            <a:r>
              <a:rPr lang="fr-F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(Y)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للـعـــدد الـحـــقـــيـــقـي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(X)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ثُــمَ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ارْسُـــمْ الــمُــخَــطَّــطَ الاِنْــسِـــيَــابِـي الـمُــوَافِـــقَ لَـهَـا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3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96791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65000"/>
              </a:lnSpc>
              <a:buNone/>
            </a:pPr>
            <a:r>
              <a:rPr lang="ar-DZ" sz="3800" b="1" dirty="0" smtClean="0">
                <a:solidFill>
                  <a:srgbClr val="C00000"/>
                </a:solidFill>
                <a:cs typeface="+mj-cs"/>
              </a:rPr>
              <a:t>صـيـاغــة حــل مـســألـة يـكـون </a:t>
            </a:r>
            <a:r>
              <a:rPr lang="ar-DZ" sz="3800" baseline="-25000" dirty="0" smtClean="0">
                <a:solidFill>
                  <a:srgbClr val="C00000"/>
                </a:solidFill>
                <a:cs typeface="+mj-cs"/>
              </a:rPr>
              <a:t>..................................................................... </a:t>
            </a:r>
          </a:p>
          <a:p>
            <a:pPr algn="just" rtl="1">
              <a:lnSpc>
                <a:spcPct val="150000"/>
              </a:lnSpc>
            </a:pPr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الـمُــدْخَــلاَت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: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 </a:t>
            </a:r>
            <a:r>
              <a:rPr lang="ar-DZ" sz="4800" baseline="-25000" dirty="0" smtClean="0">
                <a:solidFill>
                  <a:srgbClr val="0070C0"/>
                </a:solidFill>
                <a:cs typeface="+mj-cs"/>
              </a:rPr>
              <a:t>...........................</a:t>
            </a: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 الَّـتِي ن</a:t>
            </a:r>
            <a:r>
              <a:rPr lang="ar-DZ" sz="4800" b="1" dirty="0">
                <a:solidFill>
                  <a:schemeClr val="tx1"/>
                </a:solidFill>
                <a:cs typeface="+mj-cs"/>
              </a:rPr>
              <a:t>ـ</a:t>
            </a: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حــتـاجـهـا</a:t>
            </a:r>
            <a:r>
              <a:rPr lang="fr-FR" sz="48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SA" sz="4800" b="1" dirty="0" smtClean="0">
                <a:cs typeface="+mj-cs"/>
              </a:rPr>
              <a:t>عــنـد بـحـثِــنـا</a:t>
            </a:r>
            <a:r>
              <a:rPr lang="ar-DZ" sz="4800" b="1" dirty="0">
                <a:cs typeface="+mj-cs"/>
              </a:rPr>
              <a:t> </a:t>
            </a:r>
            <a:r>
              <a:rPr lang="ar-SA" sz="4800" b="1" dirty="0" smtClean="0">
                <a:cs typeface="+mj-cs"/>
              </a:rPr>
              <a:t>عـن الحـل</a:t>
            </a:r>
            <a:r>
              <a:rPr lang="fr-FR" sz="4800" b="1" dirty="0" smtClean="0">
                <a:cs typeface="+mj-cs"/>
              </a:rPr>
              <a:t> </a:t>
            </a:r>
            <a:r>
              <a:rPr lang="ar-DZ" sz="4800" b="1" dirty="0" smtClean="0">
                <a:cs typeface="+mj-cs"/>
              </a:rPr>
              <a:t>بـحــيــث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لَا نَــسْــتَــغْـــنِـي عَــنْـهَـا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>
                <a:cs typeface="+mj-cs"/>
              </a:rPr>
              <a:t>( ضَـــرُورِيَـــة </a:t>
            </a:r>
            <a:r>
              <a:rPr lang="ar-DZ" sz="4800" b="1" dirty="0" smtClean="0">
                <a:cs typeface="+mj-cs"/>
              </a:rPr>
              <a:t>)</a:t>
            </a:r>
            <a:endParaRPr lang="ar-DZ" sz="48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3620" y="1416935"/>
            <a:ext cx="58864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بــتـحـديــد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عــنـاصـرهـا الأسـاسـيـة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91944" y="2546684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الــمُــعْــطَــيَــات</a:t>
            </a:r>
            <a:endParaRPr lang="fr-FR" sz="4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71704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2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2.2 صــيــاغــة حــل  </a:t>
            </a:r>
            <a:r>
              <a:rPr lang="ar-DZ" sz="4200" b="1" dirty="0">
                <a:solidFill>
                  <a:srgbClr val="00B050"/>
                </a:solidFill>
                <a:cs typeface="+mj-cs"/>
              </a:rPr>
              <a:t>الـمــشــكــلــة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 – </a:t>
            </a: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الــمُــدْخَـــلاَت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cs typeface="+mj-cs"/>
              </a:rPr>
              <a:t> بِـالإِضَـافَــةِ </a:t>
            </a:r>
            <a:r>
              <a:rPr lang="ar-DZ" sz="4800" b="1" dirty="0">
                <a:cs typeface="+mj-cs"/>
              </a:rPr>
              <a:t>إِلَـى </a:t>
            </a:r>
            <a:r>
              <a:rPr lang="ar-DZ" sz="4800" b="1" dirty="0" smtClean="0">
                <a:cs typeface="+mj-cs"/>
              </a:rPr>
              <a:t>كَـوْنِـهَـا </a:t>
            </a:r>
            <a:r>
              <a:rPr lang="ar-DZ" sz="4800" b="1" dirty="0">
                <a:cs typeface="+mj-cs"/>
              </a:rPr>
              <a:t>هـي </a:t>
            </a:r>
            <a:r>
              <a:rPr lang="ar-DZ" sz="4800" b="1" dirty="0" smtClean="0">
                <a:cs typeface="+mj-cs"/>
              </a:rPr>
              <a:t>الَّـتِي</a:t>
            </a:r>
            <a:r>
              <a:rPr lang="fr-FR" sz="4800" b="1" dirty="0" smtClean="0">
                <a:cs typeface="+mj-cs"/>
              </a:rPr>
              <a:t> </a:t>
            </a:r>
            <a:r>
              <a:rPr lang="ar-DZ" sz="4800" b="1" u="sng" dirty="0" smtClean="0">
                <a:solidFill>
                  <a:srgbClr val="FF0000"/>
                </a:solidFill>
                <a:cs typeface="+mj-cs"/>
              </a:rPr>
              <a:t>تُـحَــدِّدُ الـنَـتَــائِـجَ الـنهَـائــيـة</a:t>
            </a:r>
            <a:r>
              <a:rPr lang="ar-DZ" sz="4800" b="1" dirty="0" smtClean="0">
                <a:cs typeface="+mj-cs"/>
              </a:rPr>
              <a:t> </a:t>
            </a:r>
            <a:r>
              <a:rPr lang="ar-DZ" sz="4800" b="1" dirty="0">
                <a:cs typeface="+mj-cs"/>
              </a:rPr>
              <a:t>( الــمُــخْـــرَجَـــات )</a:t>
            </a:r>
            <a:r>
              <a:rPr lang="ar-SA" sz="4800" b="1" dirty="0" smtClean="0">
                <a:cs typeface="+mj-cs"/>
              </a:rPr>
              <a:t> </a:t>
            </a:r>
            <a:r>
              <a:rPr lang="ar-DZ" sz="4800" b="1" dirty="0">
                <a:cs typeface="+mj-cs"/>
              </a:rPr>
              <a:t>إِذْ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كُــلَّــمَــا غَـــيِّـــرْنَـــا الــمُـــدْخَـــلَات تَــتَــغَــيَّــرُ مَــعَــهَــا الــمُــخْـــرَجَـــات</a:t>
            </a:r>
            <a:endParaRPr lang="ar-DZ" sz="48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97194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/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5562" y="1927727"/>
            <a:ext cx="704063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بِـــدَايَــةَ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أو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نِــهَــايَــةَ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الــمُــخَــطَّــط الاِنْــسِــيَـــابِـي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4795463"/>
            <a:ext cx="6912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إِنْـجَــازَ عَــمَــلِــيَــة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مُــعَـــالَــجَــةِ 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الــبَــيَــانَــاتِ </a:t>
            </a:r>
            <a:endParaRPr lang="fr-FR" sz="3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9192344" y="2006878"/>
            <a:ext cx="1980000" cy="635473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7" name="Organigramme : Données 15"/>
          <p:cNvSpPr/>
          <p:nvPr/>
        </p:nvSpPr>
        <p:spPr>
          <a:xfrm>
            <a:off x="9192344" y="3571359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352" y="0"/>
                </a:lnTo>
                <a:lnTo>
                  <a:pt x="10000" y="0"/>
                </a:lnTo>
                <a:lnTo>
                  <a:pt x="897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8" name="Organigramme : Données 15"/>
          <p:cNvSpPr/>
          <p:nvPr/>
        </p:nvSpPr>
        <p:spPr>
          <a:xfrm>
            <a:off x="9192344" y="5040367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7976" y="3408122"/>
            <a:ext cx="81721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إِدْخَــال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الـبَـيَـانَـات </a:t>
            </a:r>
            <a:r>
              <a:rPr lang="ar-DZ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(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)</a:t>
            </a:r>
            <a:r>
              <a:rPr lang="ar-DZ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Lire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/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إِظْـهَـار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الـبَـيَـانَـات 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Ecrire ( )</a:t>
            </a:r>
            <a:endParaRPr lang="fr-FR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33833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4" grpId="0" animBg="1"/>
      <p:bldP spid="16" grpId="0" animBg="1"/>
      <p:bldP spid="17" grpId="0" animBg="1"/>
      <p:bldP spid="18" grpId="0" animBg="1"/>
      <p:bldP spid="12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/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09600" y="4795463"/>
            <a:ext cx="7254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نـقـطـة </a:t>
            </a:r>
            <a:r>
              <a:rPr lang="ar-DZ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تَـوْصِـيـل بَـيْـنَ أَجْــزَاءِ 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الـمُـخَـطَّــطِ الانْـسِـيَــابِـي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Organigramme : Décision 12"/>
          <p:cNvSpPr/>
          <p:nvPr/>
        </p:nvSpPr>
        <p:spPr>
          <a:xfrm>
            <a:off x="9405936" y="1788537"/>
            <a:ext cx="1552815" cy="993350"/>
          </a:xfrm>
          <a:prstGeom prst="flowChartDecision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cxnSp>
        <p:nvCxnSpPr>
          <p:cNvPr id="15" name="Connecteur droit 14"/>
          <p:cNvCxnSpPr/>
          <p:nvPr/>
        </p:nvCxnSpPr>
        <p:spPr>
          <a:xfrm flipH="1">
            <a:off x="9338751" y="3803328"/>
            <a:ext cx="15840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Organigramme : Connecteur 18"/>
          <p:cNvSpPr/>
          <p:nvPr/>
        </p:nvSpPr>
        <p:spPr>
          <a:xfrm>
            <a:off x="9824751" y="5001215"/>
            <a:ext cx="468000" cy="468000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609600" y="1927727"/>
            <a:ext cx="7254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اِتِّـخَــاذَ قَـــرَارٍ 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بَـعْــدَ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الـتَّـحَــقُــقِ </a:t>
            </a:r>
            <a:r>
              <a:rPr lang="ar-DZ" sz="3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مِـنْ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شـــرْطٍ 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مُـحَــدَدٍ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9600" y="3371280"/>
            <a:ext cx="7254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تَــسَــلْــسُــلَ (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اِنْــسِــيَــاب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) خُــطُــوَاتِ الــمَــسْــأَلَــةِ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86738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4" grpId="0" animBg="1"/>
      <p:bldP spid="13" grpId="0" animBg="1"/>
      <p:bldP spid="19" grpId="0" animBg="1"/>
      <p:bldP spid="16" grpId="0" animBg="1"/>
      <p:bldP spid="17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. تــطــبـــيـــقـــات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نــشـــاط 8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قُـــمْ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بِــصِــيَــــاغَـــةِ حَـــلٍ لِلْــمَـــسْـــأَلَـــةِ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  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تـحــديـــد أكــبــر قــيــمـة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(Max1) </a:t>
            </a:r>
            <a:r>
              <a:rPr lang="ar-DZ" sz="40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وأصـغــر قــيـ</a:t>
            </a:r>
            <a:r>
              <a:rPr lang="ar-DZ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ـ</a:t>
            </a:r>
            <a:r>
              <a:rPr lang="ar-DZ" sz="40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مـة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(Min1)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بــيـن الـعــدديــن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«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ثُــمَ ارْسُـــمْ الــمُــخَــطَّــطَ الاِنْــسِـــيَــابِـي الـمُــوَافِـــقَ لَـهَـا.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4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206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65000"/>
              </a:lnSpc>
              <a:buNone/>
            </a:pPr>
            <a:r>
              <a:rPr lang="ar-DZ" sz="3800" b="1" dirty="0" smtClean="0">
                <a:solidFill>
                  <a:srgbClr val="C00000"/>
                </a:solidFill>
                <a:cs typeface="+mj-cs"/>
              </a:rPr>
              <a:t>صـيـاغــة حــل مـســألـة يـكـون </a:t>
            </a:r>
            <a:r>
              <a:rPr lang="ar-DZ" sz="3800" baseline="-25000" dirty="0" smtClean="0">
                <a:solidFill>
                  <a:srgbClr val="C00000"/>
                </a:solidFill>
                <a:cs typeface="+mj-cs"/>
              </a:rPr>
              <a:t>..................................................................... </a:t>
            </a:r>
          </a:p>
          <a:p>
            <a:pPr algn="just" rtl="1">
              <a:lnSpc>
                <a:spcPct val="150000"/>
              </a:lnSpc>
            </a:pPr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الـمُــدْخَــلاَت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: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 </a:t>
            </a:r>
            <a:r>
              <a:rPr lang="ar-DZ" sz="4800" baseline="-25000" dirty="0" smtClean="0">
                <a:solidFill>
                  <a:srgbClr val="0070C0"/>
                </a:solidFill>
                <a:cs typeface="+mj-cs"/>
              </a:rPr>
              <a:t>...........................</a:t>
            </a: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 الَّـتِي ن</a:t>
            </a:r>
            <a:r>
              <a:rPr lang="ar-DZ" sz="4800" b="1" dirty="0">
                <a:solidFill>
                  <a:schemeClr val="tx1"/>
                </a:solidFill>
                <a:cs typeface="+mj-cs"/>
              </a:rPr>
              <a:t>ـ</a:t>
            </a: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حــتـاجـهـا</a:t>
            </a:r>
            <a:r>
              <a:rPr lang="fr-FR" sz="48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SA" sz="4800" b="1" dirty="0" smtClean="0">
                <a:cs typeface="+mj-cs"/>
              </a:rPr>
              <a:t>عــنـد بـحـثِــنـا</a:t>
            </a:r>
            <a:r>
              <a:rPr lang="ar-DZ" sz="4800" b="1" dirty="0">
                <a:cs typeface="+mj-cs"/>
              </a:rPr>
              <a:t> </a:t>
            </a:r>
            <a:r>
              <a:rPr lang="ar-SA" sz="4800" b="1" dirty="0" smtClean="0">
                <a:cs typeface="+mj-cs"/>
              </a:rPr>
              <a:t>عـن الحـل</a:t>
            </a:r>
            <a:r>
              <a:rPr lang="fr-FR" sz="4800" b="1" dirty="0" smtClean="0">
                <a:cs typeface="+mj-cs"/>
              </a:rPr>
              <a:t> </a:t>
            </a:r>
            <a:r>
              <a:rPr lang="ar-DZ" sz="4800" b="1" dirty="0" smtClean="0">
                <a:cs typeface="+mj-cs"/>
              </a:rPr>
              <a:t>بـحــيــث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لَا نَــسْــتَــغْـــنِـي عَــنْـهَـا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>
                <a:cs typeface="+mj-cs"/>
              </a:rPr>
              <a:t>( ضَـــرُورِيَـــة </a:t>
            </a:r>
            <a:r>
              <a:rPr lang="ar-DZ" sz="4800" b="1" dirty="0" smtClean="0">
                <a:cs typeface="+mj-cs"/>
              </a:rPr>
              <a:t>)</a:t>
            </a:r>
            <a:endParaRPr lang="ar-DZ" sz="48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3620" y="1416935"/>
            <a:ext cx="58864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بــتـحـديــد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عــنـاصـرهـا الأسـاسـيـة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91944" y="2546684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الــمُــعْــطَــيَــات</a:t>
            </a:r>
            <a:endParaRPr lang="fr-FR" sz="4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73676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2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2.2 صــيــاغــة حــل  </a:t>
            </a:r>
            <a:r>
              <a:rPr lang="ar-DZ" sz="4200" b="1" dirty="0">
                <a:solidFill>
                  <a:srgbClr val="00B050"/>
                </a:solidFill>
                <a:cs typeface="+mj-cs"/>
              </a:rPr>
              <a:t>الـمــشــكــلــة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 – </a:t>
            </a: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الــمُــدْخَـــلاَت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cs typeface="+mj-cs"/>
              </a:rPr>
              <a:t> بِـالإِضَـافَــةِ </a:t>
            </a:r>
            <a:r>
              <a:rPr lang="ar-DZ" sz="4800" b="1" dirty="0">
                <a:cs typeface="+mj-cs"/>
              </a:rPr>
              <a:t>إِلَـى </a:t>
            </a:r>
            <a:r>
              <a:rPr lang="ar-DZ" sz="4800" b="1" dirty="0" smtClean="0">
                <a:cs typeface="+mj-cs"/>
              </a:rPr>
              <a:t>كَـوْنِـهَـا </a:t>
            </a:r>
            <a:r>
              <a:rPr lang="ar-DZ" sz="4800" b="1" dirty="0">
                <a:cs typeface="+mj-cs"/>
              </a:rPr>
              <a:t>هـي </a:t>
            </a:r>
            <a:r>
              <a:rPr lang="ar-DZ" sz="4800" b="1" dirty="0" smtClean="0">
                <a:cs typeface="+mj-cs"/>
              </a:rPr>
              <a:t>الَّـتِي</a:t>
            </a:r>
            <a:r>
              <a:rPr lang="fr-FR" sz="4800" b="1" dirty="0" smtClean="0">
                <a:cs typeface="+mj-cs"/>
              </a:rPr>
              <a:t> </a:t>
            </a:r>
            <a:r>
              <a:rPr lang="ar-DZ" sz="4800" b="1" u="sng" dirty="0" smtClean="0">
                <a:solidFill>
                  <a:srgbClr val="FF0000"/>
                </a:solidFill>
                <a:cs typeface="+mj-cs"/>
              </a:rPr>
              <a:t>تُـحَــدِّدُ الـنَـتَــائِـجَ الـنهَـائــيـة</a:t>
            </a:r>
            <a:r>
              <a:rPr lang="ar-DZ" sz="4800" b="1" dirty="0" smtClean="0">
                <a:cs typeface="+mj-cs"/>
              </a:rPr>
              <a:t> </a:t>
            </a:r>
            <a:r>
              <a:rPr lang="ar-DZ" sz="4800" b="1" dirty="0">
                <a:cs typeface="+mj-cs"/>
              </a:rPr>
              <a:t>( الــمُــخْـــرَجَـــات )</a:t>
            </a:r>
            <a:r>
              <a:rPr lang="ar-SA" sz="4800" b="1" dirty="0" smtClean="0">
                <a:cs typeface="+mj-cs"/>
              </a:rPr>
              <a:t> </a:t>
            </a:r>
            <a:r>
              <a:rPr lang="ar-DZ" sz="4800" b="1" dirty="0">
                <a:cs typeface="+mj-cs"/>
              </a:rPr>
              <a:t>إِذْ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كُــلَّــمَــا غَـــيِّـــرْنَـــا الــمُـــدْخَـــلَات تَــتَــغَــيَّــرُ مَــعَــهَــا الــمُــخْـــرَجَـــات</a:t>
            </a:r>
            <a:endParaRPr lang="ar-DZ" sz="48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2512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/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855562" y="1927727"/>
            <a:ext cx="704063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بِـــدَايَــةَ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أو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نِــهَــايَــةَ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الــمُــخَــطَّــط الاِنْــسِــيَـــابِـي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39416" y="4795463"/>
            <a:ext cx="6912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إِنْـجَــازَ عَــمَــلِــيَــة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مُــعَـــالَــجَــةِ 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الــبَــيَــانَــاتِ </a:t>
            </a:r>
            <a:endParaRPr lang="fr-FR" sz="36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Ellipse 15"/>
          <p:cNvSpPr/>
          <p:nvPr/>
        </p:nvSpPr>
        <p:spPr>
          <a:xfrm>
            <a:off x="9192344" y="2006878"/>
            <a:ext cx="1980000" cy="635473"/>
          </a:xfrm>
          <a:prstGeom prst="ellipse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7" name="Organigramme : Données 15"/>
          <p:cNvSpPr/>
          <p:nvPr/>
        </p:nvSpPr>
        <p:spPr>
          <a:xfrm>
            <a:off x="9192344" y="3571359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1352" y="0"/>
                </a:lnTo>
                <a:lnTo>
                  <a:pt x="10000" y="0"/>
                </a:lnTo>
                <a:lnTo>
                  <a:pt x="897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1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8" name="Organigramme : Données 15"/>
          <p:cNvSpPr/>
          <p:nvPr/>
        </p:nvSpPr>
        <p:spPr>
          <a:xfrm>
            <a:off x="9192344" y="5040367"/>
            <a:ext cx="1980000" cy="540000"/>
          </a:xfrm>
          <a:custGeom>
            <a:avLst/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1352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8970 w 10000"/>
              <a:gd name="connsiteY3" fmla="*/ 10000 h 10000"/>
              <a:gd name="connsiteX4" fmla="*/ 0 w 10000"/>
              <a:gd name="connsiteY4" fmla="*/ 10000 h 10000"/>
              <a:gd name="connsiteX0" fmla="*/ 0 w 10000"/>
              <a:gd name="connsiteY0" fmla="*/ 10000 h 10000"/>
              <a:gd name="connsiteX1" fmla="*/ 0 w 10000"/>
              <a:gd name="connsiteY1" fmla="*/ 0 h 10000"/>
              <a:gd name="connsiteX2" fmla="*/ 10000 w 10000"/>
              <a:gd name="connsiteY2" fmla="*/ 0 h 10000"/>
              <a:gd name="connsiteX3" fmla="*/ 10000 w 10000"/>
              <a:gd name="connsiteY3" fmla="*/ 10000 h 10000"/>
              <a:gd name="connsiteX4" fmla="*/ 0 w 10000"/>
              <a:gd name="connsiteY4" fmla="*/ 1000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00">
                <a:moveTo>
                  <a:pt x="0" y="10000"/>
                </a:moveTo>
                <a:lnTo>
                  <a:pt x="0" y="0"/>
                </a:ln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close/>
              </a:path>
            </a:pathLst>
          </a:cu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 b="1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67976" y="3408122"/>
            <a:ext cx="81721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إِدْخَــال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الـبَـيَـانَـات </a:t>
            </a:r>
            <a:r>
              <a:rPr lang="ar-DZ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(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)</a:t>
            </a:r>
            <a:r>
              <a:rPr lang="ar-DZ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Lire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/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إِظْـهَـار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الـبَـيَـانَـات </a:t>
            </a:r>
            <a:r>
              <a:rPr lang="fr-FR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Ecrire ( )</a:t>
            </a:r>
            <a:endParaRPr lang="fr-FR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16778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4" grpId="0" animBg="1"/>
      <p:bldP spid="16" grpId="0" animBg="1"/>
      <p:bldP spid="17" grpId="0" animBg="1"/>
      <p:bldP spid="18" grpId="0" animBg="1"/>
      <p:bldP spid="12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5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500" b="1" dirty="0">
                <a:solidFill>
                  <a:srgbClr val="FF0000"/>
                </a:solidFill>
                <a:cs typeface="Times New Roman" panose="02020603050405020304" pitchFamily="18" charset="0"/>
              </a:rPr>
              <a:t>  </a:t>
            </a:r>
            <a:r>
              <a:rPr lang="ar-DZ" sz="4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( 2.2 مُــكَــوِنَـــات الــمُــخَــطَّــط الاِنْــسِـــيَـــابِـي )</a:t>
            </a:r>
            <a:endParaRPr lang="fr-FR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fr-FR" sz="5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/>
          </p:nvPr>
        </p:nvGraphicFramePr>
        <p:xfrm>
          <a:off x="767404" y="1570512"/>
          <a:ext cx="10524045" cy="439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22669"/>
                <a:gridCol w="8201376"/>
              </a:tblGrid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fr-FR" sz="1800" b="1" kern="1200" dirty="0" smtClean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/>
                          <a:latin typeface="+mn-lt"/>
                          <a:ea typeface="+mn-ea"/>
                          <a:cs typeface="+mj-cs"/>
                        </a:rPr>
                        <a:t> </a:t>
                      </a:r>
                      <a:r>
                        <a:rPr lang="ar-DZ" sz="3200" b="1" kern="1200" baseline="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يُ</a:t>
                      </a: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ـمَـثِّـلُ  ...............................................................</a:t>
                      </a:r>
                      <a:endParaRPr lang="fr-FR" sz="3200" b="1" kern="1200" dirty="0" smtClean="0">
                        <a:solidFill>
                          <a:srgbClr val="00206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n-lt"/>
                        <a:ea typeface="+mn-ea"/>
                        <a:cs typeface="+mj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1464000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3200" b="1" kern="1200" dirty="0" smtClean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DZ" sz="3200" b="1" kern="1200" dirty="0" smtClean="0">
                          <a:solidFill>
                            <a:srgbClr val="00206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  <a:ea typeface="+mn-ea"/>
                          <a:cs typeface="+mj-cs"/>
                        </a:rPr>
                        <a:t> يُـمَـثِّـلُ  ...............................................................</a:t>
                      </a: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609600" y="4795463"/>
            <a:ext cx="7254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نـقـطـة </a:t>
            </a:r>
            <a:r>
              <a:rPr lang="ar-DZ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تَـوْصِـيـل بَـيْـنَ أَجْــزَاءِ </a:t>
            </a:r>
            <a:r>
              <a:rPr lang="ar-DZ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الـمُـخَـطَّــطِ الانْـسِـيَــابِـي</a:t>
            </a:r>
            <a:endParaRPr lang="fr-FR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Organigramme : Décision 12"/>
          <p:cNvSpPr/>
          <p:nvPr/>
        </p:nvSpPr>
        <p:spPr>
          <a:xfrm>
            <a:off x="9405936" y="1788537"/>
            <a:ext cx="1552815" cy="993350"/>
          </a:xfrm>
          <a:prstGeom prst="flowChartDecision">
            <a:avLst/>
          </a:prstGeom>
          <a:solidFill>
            <a:sysClr val="window" lastClr="FFFFFF"/>
          </a:solidFill>
          <a:ln w="381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en-US" sz="1300">
                <a:solidFill>
                  <a:srgbClr val="00000A"/>
                </a:solidFill>
                <a:effectLst/>
                <a:latin typeface="Times New Roman" panose="02020603050405020304" pitchFamily="18" charset="0"/>
                <a:ea typeface="Droid Sans Fallback"/>
                <a:cs typeface="FreeSans"/>
              </a:rPr>
              <a:t> </a:t>
            </a:r>
            <a:endParaRPr lang="fr-FR" sz="120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cxnSp>
        <p:nvCxnSpPr>
          <p:cNvPr id="15" name="Connecteur droit 14"/>
          <p:cNvCxnSpPr/>
          <p:nvPr/>
        </p:nvCxnSpPr>
        <p:spPr>
          <a:xfrm flipH="1">
            <a:off x="9338751" y="3803328"/>
            <a:ext cx="1584000" cy="0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Organigramme : Connecteur 18"/>
          <p:cNvSpPr/>
          <p:nvPr/>
        </p:nvSpPr>
        <p:spPr>
          <a:xfrm>
            <a:off x="9824751" y="5001215"/>
            <a:ext cx="468000" cy="468000"/>
          </a:xfrm>
          <a:prstGeom prst="flowChartConnector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16" name="Rectangle 15"/>
          <p:cNvSpPr/>
          <p:nvPr/>
        </p:nvSpPr>
        <p:spPr>
          <a:xfrm>
            <a:off x="609600" y="1927727"/>
            <a:ext cx="7254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اِتِّـخَــاذَ قَـــرَارٍ 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بَـعْــدَ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الـتَّـحَــقُــقِ </a:t>
            </a:r>
            <a:r>
              <a:rPr lang="ar-DZ" sz="3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مِـنْ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شـــرْطٍ 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مُـحَــدَدٍ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09600" y="3371280"/>
            <a:ext cx="7254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تَــسَــلْــسُــلَ (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اِنْــسِــيَــاب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 ) خُــطُــوَاتِ الــمَــسْــأَلَــةِ</a:t>
            </a:r>
            <a:endParaRPr lang="fr-FR" sz="3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3143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4" grpId="0" animBg="1"/>
      <p:bldP spid="13" grpId="0" animBg="1"/>
      <p:bldP spid="19" grpId="0" animBg="1"/>
      <p:bldP spid="16" grpId="0" animBg="1"/>
      <p:bldP spid="17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. تــطــبـــيـــقـــات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نــشـــاط </a:t>
            </a:r>
            <a:r>
              <a:rPr lang="fr-FR" sz="40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قُـــمْ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بِــصِــيَــــاغَـــةِ حَـــلٍ لِلْــمَـــسْـــأَلَـــةِ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  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الـتـحــقــق اذا كــان الـعــددان </a:t>
            </a:r>
            <a:r>
              <a:rPr lang="fr-F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مـن نـفـس الإشــارة أَوْ مُـخْـتَـلِـفَـيْـنِ، عِــلْــمًــا أَنَّـهُــمَــا غــيــر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مَــعْــدُومَــيْــنِ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«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ثُــمَ ارْسُـــمْ الــمُــخَــطَّــطَ الاِنْــسِـــيَــابِـي الـمُــوَافِـــقَ لَـهَـا.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5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48513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b="1" dirty="0" smtClean="0">
                <a:solidFill>
                  <a:srgbClr val="00B050"/>
                </a:solidFill>
              </a:rPr>
              <a:t>صــيـــاغــة </a:t>
            </a:r>
            <a:r>
              <a:rPr lang="ar-DZ" b="1" dirty="0">
                <a:solidFill>
                  <a:srgbClr val="00B050"/>
                </a:solidFill>
              </a:rPr>
              <a:t>حـــل  الـمــشــكــلــة</a:t>
            </a:r>
            <a:r>
              <a:rPr lang="ar-DZ" b="1" dirty="0" smtClean="0">
                <a:solidFill>
                  <a:srgbClr val="00B050"/>
                </a:solidFill>
              </a:rPr>
              <a:t> – تـــابــع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65000"/>
              </a:lnSpc>
              <a:buNone/>
            </a:pPr>
            <a:r>
              <a:rPr lang="ar-DZ" sz="3800" b="1" dirty="0" smtClean="0">
                <a:solidFill>
                  <a:srgbClr val="C00000"/>
                </a:solidFill>
                <a:cs typeface="+mj-cs"/>
              </a:rPr>
              <a:t>صـيـاغــة حــل مـســألـة يـكـون </a:t>
            </a:r>
            <a:r>
              <a:rPr lang="ar-DZ" sz="3800" baseline="-25000" dirty="0" smtClean="0">
                <a:solidFill>
                  <a:srgbClr val="C00000"/>
                </a:solidFill>
                <a:cs typeface="+mj-cs"/>
              </a:rPr>
              <a:t>..................................................................... </a:t>
            </a:r>
          </a:p>
          <a:p>
            <a:pPr algn="just" rtl="1">
              <a:lnSpc>
                <a:spcPct val="150000"/>
              </a:lnSpc>
            </a:pPr>
            <a:r>
              <a:rPr lang="ar-DZ" sz="4800" b="1" u="sng" dirty="0" smtClean="0">
                <a:solidFill>
                  <a:srgbClr val="0070C0"/>
                </a:solidFill>
                <a:cs typeface="+mj-cs"/>
              </a:rPr>
              <a:t>الـمُــدْخَــلاَت</a:t>
            </a:r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: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 </a:t>
            </a:r>
            <a:r>
              <a:rPr lang="ar-DZ" sz="4800" baseline="-25000" dirty="0" smtClean="0">
                <a:solidFill>
                  <a:srgbClr val="0070C0"/>
                </a:solidFill>
                <a:cs typeface="+mj-cs"/>
              </a:rPr>
              <a:t>...........................</a:t>
            </a: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 الَّـتِي ن</a:t>
            </a:r>
            <a:r>
              <a:rPr lang="ar-DZ" sz="4800" b="1" dirty="0">
                <a:solidFill>
                  <a:schemeClr val="tx1"/>
                </a:solidFill>
                <a:cs typeface="+mj-cs"/>
              </a:rPr>
              <a:t>ـ</a:t>
            </a:r>
            <a:r>
              <a:rPr lang="ar-DZ" sz="4800" b="1" dirty="0" smtClean="0">
                <a:solidFill>
                  <a:schemeClr val="tx1"/>
                </a:solidFill>
                <a:cs typeface="+mj-cs"/>
              </a:rPr>
              <a:t>حــتـاجـهـا</a:t>
            </a:r>
            <a:r>
              <a:rPr lang="fr-FR" sz="4800" b="1" dirty="0" smtClean="0">
                <a:solidFill>
                  <a:schemeClr val="tx1"/>
                </a:solidFill>
                <a:cs typeface="+mj-cs"/>
              </a:rPr>
              <a:t> </a:t>
            </a:r>
            <a:r>
              <a:rPr lang="ar-SA" sz="4800" b="1" dirty="0" smtClean="0">
                <a:cs typeface="+mj-cs"/>
              </a:rPr>
              <a:t>عــنـد بـحـثِــنـا</a:t>
            </a:r>
            <a:r>
              <a:rPr lang="ar-DZ" sz="4800" b="1" dirty="0">
                <a:cs typeface="+mj-cs"/>
              </a:rPr>
              <a:t> </a:t>
            </a:r>
            <a:r>
              <a:rPr lang="ar-SA" sz="4800" b="1" dirty="0" smtClean="0">
                <a:cs typeface="+mj-cs"/>
              </a:rPr>
              <a:t>عـن الحـل</a:t>
            </a:r>
            <a:r>
              <a:rPr lang="fr-FR" sz="4800" b="1" dirty="0" smtClean="0">
                <a:cs typeface="+mj-cs"/>
              </a:rPr>
              <a:t> </a:t>
            </a:r>
            <a:r>
              <a:rPr lang="ar-DZ" sz="4800" b="1" dirty="0" smtClean="0">
                <a:cs typeface="+mj-cs"/>
              </a:rPr>
              <a:t>بـحــيــث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لَا نَــسْــتَــغْـــنِـي عَــنْـهَـا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>
                <a:cs typeface="+mj-cs"/>
              </a:rPr>
              <a:t>( ضَـــرُورِيَـــة </a:t>
            </a:r>
            <a:r>
              <a:rPr lang="ar-DZ" sz="4800" b="1" dirty="0" smtClean="0">
                <a:cs typeface="+mj-cs"/>
              </a:rPr>
              <a:t>)</a:t>
            </a:r>
            <a:endParaRPr lang="ar-DZ" sz="48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13620" y="1416935"/>
            <a:ext cx="58864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SA" sz="4000" b="1" dirty="0">
                <a:solidFill>
                  <a:srgbClr val="0070C0"/>
                </a:solidFill>
                <a:cs typeface="+mj-cs"/>
              </a:rPr>
              <a:t>بــتـحـديــد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عــنـاصـرهـا الأسـاسـيـة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591944" y="2546684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الــمُــعْــطَــيَــات</a:t>
            </a:r>
            <a:endParaRPr lang="fr-FR" sz="48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73466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2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2.2 صــيــاغــة حــل  </a:t>
            </a:r>
            <a:r>
              <a:rPr lang="ar-DZ" sz="4200" b="1" dirty="0">
                <a:solidFill>
                  <a:srgbClr val="00B050"/>
                </a:solidFill>
                <a:cs typeface="+mj-cs"/>
              </a:rPr>
              <a:t>الـمــشــكــلــة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 – </a:t>
            </a: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الــمُــدْخَـــلاَت</a:t>
            </a:r>
            <a:r>
              <a:rPr lang="ar-DZ" sz="42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2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just" rtl="1">
              <a:lnSpc>
                <a:spcPct val="150000"/>
              </a:lnSpc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 smtClean="0">
                <a:cs typeface="+mj-cs"/>
              </a:rPr>
              <a:t> بِـالإِضَـافَــةِ </a:t>
            </a:r>
            <a:r>
              <a:rPr lang="ar-DZ" sz="4800" b="1" dirty="0">
                <a:cs typeface="+mj-cs"/>
              </a:rPr>
              <a:t>إِلَـى </a:t>
            </a:r>
            <a:r>
              <a:rPr lang="ar-DZ" sz="4800" b="1" dirty="0" smtClean="0">
                <a:cs typeface="+mj-cs"/>
              </a:rPr>
              <a:t>كَـوْنِـهَـا </a:t>
            </a:r>
            <a:r>
              <a:rPr lang="ar-DZ" sz="4800" b="1" dirty="0">
                <a:cs typeface="+mj-cs"/>
              </a:rPr>
              <a:t>هـي </a:t>
            </a:r>
            <a:r>
              <a:rPr lang="ar-DZ" sz="4800" b="1" dirty="0" smtClean="0">
                <a:cs typeface="+mj-cs"/>
              </a:rPr>
              <a:t>الَّـتِي</a:t>
            </a:r>
            <a:r>
              <a:rPr lang="fr-FR" sz="4800" b="1" dirty="0" smtClean="0">
                <a:cs typeface="+mj-cs"/>
              </a:rPr>
              <a:t> </a:t>
            </a:r>
            <a:r>
              <a:rPr lang="ar-DZ" sz="4800" b="1" u="sng" dirty="0" smtClean="0">
                <a:solidFill>
                  <a:srgbClr val="FF0000"/>
                </a:solidFill>
                <a:cs typeface="+mj-cs"/>
              </a:rPr>
              <a:t>تُـحَــدِّدُ الـنَـتَــائِـجَ الـنهَـائــيـة</a:t>
            </a:r>
            <a:r>
              <a:rPr lang="ar-DZ" sz="4800" b="1" dirty="0" smtClean="0">
                <a:cs typeface="+mj-cs"/>
              </a:rPr>
              <a:t> </a:t>
            </a:r>
            <a:r>
              <a:rPr lang="ar-DZ" sz="4800" b="1" dirty="0">
                <a:cs typeface="+mj-cs"/>
              </a:rPr>
              <a:t>( الــمُــخْـــرَجَـــات )</a:t>
            </a:r>
            <a:r>
              <a:rPr lang="ar-SA" sz="4800" b="1" dirty="0" smtClean="0">
                <a:cs typeface="+mj-cs"/>
              </a:rPr>
              <a:t> </a:t>
            </a:r>
            <a:r>
              <a:rPr lang="ar-DZ" sz="4800" b="1" dirty="0">
                <a:cs typeface="+mj-cs"/>
              </a:rPr>
              <a:t>إِذْ </a:t>
            </a:r>
            <a:r>
              <a:rPr lang="ar-DZ" sz="4800" b="1" u="sng" dirty="0">
                <a:solidFill>
                  <a:srgbClr val="FF0000"/>
                </a:solidFill>
                <a:cs typeface="+mj-cs"/>
              </a:rPr>
              <a:t>كُــلَّــمَــا غَـــيِّـــرْنَـــا الــمُـــدْخَـــلَات تَــتَــغَــيَّــرُ مَــعَــهَــا الــمُــخْـــرَجَـــات</a:t>
            </a:r>
            <a:endParaRPr lang="ar-DZ" sz="4800" b="1" dirty="0" smtClean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08303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. تــطــبـــيـــقـــات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نــشـــاط 10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قُـــمْ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بِــصِــيَــــاغَـــةِ حَـــلٍ لِلْــمَـــسْـــأَلَـــةِ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  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تـحــديـــد حــلــول الـمـعـــادلــة : </a:t>
            </a:r>
            <a:r>
              <a:rPr lang="fr-FR" sz="4000" b="1" dirty="0"/>
              <a:t>a </a:t>
            </a:r>
            <a:r>
              <a:rPr lang="fr-FR" sz="4000" b="1" dirty="0" smtClean="0"/>
              <a:t>X </a:t>
            </a:r>
            <a:r>
              <a:rPr lang="fr-FR" sz="4000" b="1" dirty="0"/>
              <a:t>+ b = 0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ثُــمَ ارْسُـــمْ الــمُــخَــطَّــطَ الاِنْــسِـــيَــابِـي الـمُــوَافِـــقَ لَـهَـا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fr-FR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lnSpc>
                <a:spcPct val="150000"/>
              </a:lnSpc>
              <a:buNone/>
            </a:pPr>
            <a:r>
              <a:rPr lang="ar-DZ" sz="3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(</a:t>
            </a:r>
            <a:r>
              <a:rPr lang="ar-DZ" sz="3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+mj-cs"/>
              </a:rPr>
              <a:t> </a:t>
            </a:r>
            <a:r>
              <a:rPr lang="ar-DZ" sz="3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واجــب </a:t>
            </a:r>
            <a:r>
              <a:rPr lang="ar-DZ" sz="38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مــنــزلـي1 </a:t>
            </a:r>
            <a:r>
              <a:rPr lang="ar-DZ" sz="3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يُــسَــلِّــمُــهُ الـطَــالِــبُ فــي ورقـــة مــزْدَوَجَــة</a:t>
            </a:r>
            <a:r>
              <a:rPr lang="ar-DZ" sz="3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)</a:t>
            </a:r>
            <a:endParaRPr lang="ar-DZ" sz="3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6  (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واجــب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مــنــزلـي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1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40738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  <p:bldP spid="5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u="sng" dirty="0" smtClean="0">
                <a:solidFill>
                  <a:srgbClr val="FF0000"/>
                </a:solidFill>
                <a:cs typeface="+mj-cs"/>
              </a:rPr>
              <a:t>صــيــاغــة حــل الــمــســألــة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: 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a X + b = 0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 </a:t>
            </a:r>
            <a:r>
              <a:rPr lang="fr-F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Symbol" panose="05050102010706020507" pitchFamily="18" charset="2"/>
              </a:rPr>
              <a:t></a:t>
            </a:r>
            <a:r>
              <a:rPr lang="fr-FR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0 </a:t>
            </a: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algn="r" rtl="1">
              <a:buFont typeface="Wingdings" panose="05000000000000000000" pitchFamily="2" charset="2"/>
              <a:buChar char="v"/>
            </a:pPr>
            <a:r>
              <a:rPr lang="ar-DZ" sz="3800" b="1" u="sng" dirty="0" smtClean="0">
                <a:solidFill>
                  <a:schemeClr val="tx1"/>
                </a:solidFill>
                <a:cs typeface="+mj-cs"/>
              </a:rPr>
              <a:t> صـيــاغــة حــل هــذه الــمــســألــة يـكـون 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تـحــديــد </a:t>
            </a:r>
            <a:r>
              <a:rPr lang="ar-DZ" sz="3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الـخــطــوات</a:t>
            </a:r>
            <a:r>
              <a:rPr lang="ar-DZ" sz="3800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</a:p>
          <a:p>
            <a:pPr marL="444500" indent="0" algn="r" rtl="1">
              <a:lnSpc>
                <a:spcPct val="150000"/>
              </a:lnSpc>
              <a:buNone/>
            </a:pP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1.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20000"/>
              </a:lnSpc>
              <a:buNone/>
            </a:pP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3. </a:t>
            </a:r>
            <a:r>
              <a:rPr lang="ar-DZ" sz="40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.................................................................................................................</a:t>
            </a:r>
          </a:p>
          <a:p>
            <a:pPr marL="444500" indent="0" algn="r" rtl="1">
              <a:lnSpc>
                <a:spcPct val="150000"/>
              </a:lnSpc>
              <a:buNone/>
            </a:pPr>
            <a:endParaRPr lang="ar-DZ" sz="1100" baseline="-25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algn="r" rtl="1">
              <a:lnSpc>
                <a:spcPct val="120000"/>
              </a:lnSpc>
              <a:buFont typeface="Wingdings" panose="05000000000000000000" pitchFamily="2" charset="2"/>
              <a:buChar char="v"/>
            </a:pPr>
            <a:r>
              <a:rPr lang="ar-DZ" sz="3600" b="1" dirty="0">
                <a:cs typeface="+mj-cs"/>
              </a:rPr>
              <a:t> </a:t>
            </a:r>
            <a:r>
              <a:rPr lang="ar-DZ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تــمــثــيــل الـخـطـوات يـكـون بـواسـطـة </a:t>
            </a:r>
            <a:r>
              <a:rPr lang="ar-DZ" sz="36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</a:t>
            </a:r>
          </a:p>
          <a:p>
            <a:pPr marL="0" indent="0" algn="r" rtl="1">
              <a:lnSpc>
                <a:spcPct val="13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839416" y="2288903"/>
            <a:ext cx="94330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>
              <a:tabLst>
                <a:tab pos="357188" algn="l"/>
              </a:tabLst>
            </a:pP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الـمُـدْخَــلات ( مـعـطـيـات )  :  الـعــدديـن ( </a:t>
            </a:r>
            <a:r>
              <a:rPr lang="fr-FR" sz="4300" b="1" dirty="0" smtClean="0">
                <a:solidFill>
                  <a:srgbClr val="0070C0"/>
                </a:solidFill>
                <a:cs typeface="+mj-cs"/>
              </a:rPr>
              <a:t> a , b</a:t>
            </a:r>
            <a:r>
              <a:rPr lang="ar-DZ" sz="43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3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9415" y="324229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185738" algn="r" rtl="1"/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عـــمــلــيـــات الــمــعـــالــجــة  : 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X = - b / a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39416" y="4200320"/>
            <a:ext cx="943304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الـمُــخْـــرَجَـــات </a:t>
            </a:r>
            <a:r>
              <a:rPr lang="ar-DZ" sz="4400" b="1" dirty="0">
                <a:solidFill>
                  <a:srgbClr val="0070C0"/>
                </a:solidFill>
              </a:rPr>
              <a:t>( </a:t>
            </a:r>
            <a:r>
              <a:rPr lang="ar-DZ" sz="4400" b="1" dirty="0" smtClean="0">
                <a:solidFill>
                  <a:srgbClr val="0070C0"/>
                </a:solidFill>
              </a:rPr>
              <a:t>نــتــائــج )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 :  الـحــــل ( </a:t>
            </a:r>
            <a:r>
              <a:rPr lang="fr-FR" sz="44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X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39415" y="5153707"/>
            <a:ext cx="410445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357188" algn="r" rtl="1">
              <a:tabLst>
                <a:tab pos="357188" algn="l"/>
              </a:tabLst>
            </a:pP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مُـخَــطَّــطَ انْـسِــيَــابِـي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71502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الــمُــخَــطَّــط الانــســـيــابـي الـمُــوَافِــق </a:t>
            </a:r>
            <a:r>
              <a:rPr lang="ar-DZ" sz="3200" b="1" u="sng" dirty="0" smtClean="0">
                <a:solidFill>
                  <a:srgbClr val="FF0000"/>
                </a:solidFill>
                <a:cs typeface="+mj-cs"/>
              </a:rPr>
              <a:t>للــمــســألــة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fr-FR" sz="3200" b="1" dirty="0">
                <a:solidFill>
                  <a:srgbClr val="FF0000"/>
                </a:solidFill>
                <a:cs typeface="+mj-cs"/>
              </a:rPr>
              <a:t>a X + b = 0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 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fr-F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( 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 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  <a:sym typeface="Symbol" panose="05050102010706020507" pitchFamily="18" charset="2"/>
              </a:rPr>
              <a:t></a:t>
            </a:r>
            <a:r>
              <a:rPr lang="fr-FR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0 </a:t>
            </a:r>
            <a:r>
              <a:rPr lang="fr-FR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)</a:t>
            </a:r>
            <a:endParaRPr lang="fr-FR" sz="3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256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200" b="1" dirty="0">
                <a:solidFill>
                  <a:srgbClr val="FF0000"/>
                </a:solidFill>
              </a:rPr>
              <a:t>لـمـاذا 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هــذا الــمُـخَــطَّــط الانــســيــابـي لا يُــوَافِــقُ </a:t>
            </a:r>
            <a:r>
              <a:rPr lang="ar-DZ" sz="3200" b="1" u="sng" dirty="0" smtClean="0">
                <a:solidFill>
                  <a:srgbClr val="FF0000"/>
                </a:solidFill>
                <a:cs typeface="+mj-cs"/>
              </a:rPr>
              <a:t>الـمــســألــة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a </a:t>
            </a:r>
            <a:r>
              <a:rPr lang="fr-FR" sz="3200" b="1" dirty="0">
                <a:solidFill>
                  <a:srgbClr val="FF0000"/>
                </a:solidFill>
                <a:cs typeface="+mj-cs"/>
              </a:rPr>
              <a:t>X + b = 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0</a:t>
            </a:r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؟</a:t>
            </a:r>
            <a:endParaRPr lang="fr-FR" sz="3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Espace réservé du contenu 21"/>
          <p:cNvSpPr txBox="1">
            <a:spLocks/>
          </p:cNvSpPr>
          <p:nvPr/>
        </p:nvSpPr>
        <p:spPr>
          <a:xfrm>
            <a:off x="839416" y="5157192"/>
            <a:ext cx="4172272" cy="1323763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 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7894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10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200" b="1" dirty="0" smtClean="0">
                <a:solidFill>
                  <a:srgbClr val="FF0000"/>
                </a:solidFill>
                <a:cs typeface="+mj-cs"/>
              </a:rPr>
              <a:t> هــذا الــمُــخَــطَّــط الانــســـيــابـي لا يــوافــق </a:t>
            </a:r>
            <a:r>
              <a:rPr lang="ar-DZ" sz="3200" b="1" u="sng" dirty="0">
                <a:solidFill>
                  <a:srgbClr val="FF0000"/>
                </a:solidFill>
                <a:cs typeface="+mj-cs"/>
              </a:rPr>
              <a:t>الــمــســألــة</a:t>
            </a:r>
            <a:r>
              <a:rPr lang="ar-DZ" sz="3200" b="1" dirty="0">
                <a:solidFill>
                  <a:srgbClr val="FF0000"/>
                </a:solidFill>
                <a:cs typeface="+mj-cs"/>
              </a:rPr>
              <a:t> : </a:t>
            </a:r>
            <a:r>
              <a:rPr lang="fr-FR" sz="3200" b="1" dirty="0">
                <a:solidFill>
                  <a:srgbClr val="FF0000"/>
                </a:solidFill>
                <a:cs typeface="+mj-cs"/>
              </a:rPr>
              <a:t>a X + b = </a:t>
            </a:r>
            <a:r>
              <a:rPr lang="fr-FR" sz="3200" b="1" dirty="0" smtClean="0">
                <a:solidFill>
                  <a:srgbClr val="FF0000"/>
                </a:solidFill>
                <a:cs typeface="+mj-cs"/>
              </a:rPr>
              <a:t>0</a:t>
            </a:r>
            <a:endParaRPr lang="fr-FR" sz="3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2567608" y="4005064"/>
            <a:ext cx="6552728" cy="231660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إِذَا كَـانَ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مَـعْــدُومًـا فَـإنَّـهُ </a:t>
            </a:r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لا يُـمْـكِـنُ إِنْــجَــازُ هــذه الـعـمـلـيـة</a:t>
            </a:r>
            <a:r>
              <a:rPr lang="ar-DZ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fr-FR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X = - b / a</a:t>
            </a:r>
            <a:endParaRPr lang="fr-FR" sz="3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21085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3600" b="1" dirty="0">
                <a:solidFill>
                  <a:srgbClr val="FF0000"/>
                </a:solidFill>
                <a:cs typeface="+mj-cs"/>
              </a:rPr>
              <a:t>ســؤال : هــل </a:t>
            </a:r>
            <a:r>
              <a:rPr lang="ar-DZ" sz="3600" b="1" u="sng" dirty="0">
                <a:solidFill>
                  <a:srgbClr val="FF0000"/>
                </a:solidFill>
                <a:cs typeface="+mj-cs"/>
              </a:rPr>
              <a:t>حــل </a:t>
            </a:r>
            <a:r>
              <a:rPr lang="ar-DZ" sz="3600" b="1" u="sng" dirty="0" smtClean="0">
                <a:solidFill>
                  <a:srgbClr val="FF0000"/>
                </a:solidFill>
                <a:cs typeface="+mj-cs"/>
              </a:rPr>
              <a:t>هـــذه الــمــســألــة</a:t>
            </a:r>
            <a:r>
              <a:rPr lang="ar-DZ" sz="36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: </a:t>
            </a:r>
            <a:r>
              <a:rPr lang="fr-FR" sz="3600" b="1" dirty="0">
                <a:solidFill>
                  <a:srgbClr val="FF0000"/>
                </a:solidFill>
                <a:cs typeface="+mj-cs"/>
              </a:rPr>
              <a:t>a X + b = 0</a:t>
            </a:r>
            <a:r>
              <a:rPr lang="ar-DZ" sz="3600" b="1" dirty="0">
                <a:solidFill>
                  <a:srgbClr val="FF0000"/>
                </a:solidFill>
                <a:cs typeface="+mj-cs"/>
              </a:rPr>
              <a:t>  حَـــلًا شَــامِــلًا ؟</a:t>
            </a:r>
            <a:endParaRPr lang="fr-FR" sz="3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7" name="Espace réservé du contenu 6"/>
          <p:cNvSpPr>
            <a:spLocks noGrp="1"/>
          </p:cNvSpPr>
          <p:nvPr>
            <p:ph idx="1"/>
          </p:nvPr>
        </p:nvSpPr>
        <p:spPr>
          <a:xfrm>
            <a:off x="609600" y="1340769"/>
            <a:ext cx="10972800" cy="525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1002">
            <a:schemeClr val="lt2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Aft>
                <a:spcPts val="0"/>
              </a:spcAft>
            </a:pPr>
            <a:r>
              <a:rPr lang="ar-DZ" sz="5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  <a:p>
            <a:pPr algn="ctr">
              <a:spcAft>
                <a:spcPts val="0"/>
              </a:spcAft>
            </a:pPr>
            <a:r>
              <a:rPr lang="en-US" sz="800" dirty="0">
                <a:solidFill>
                  <a:srgbClr val="00000A"/>
                </a:solidFill>
                <a:effectLst/>
                <a:latin typeface="Liberation Serif"/>
                <a:ea typeface="Droid Sans Fallback"/>
                <a:cs typeface="FreeSans"/>
              </a:rPr>
              <a:t> </a:t>
            </a:r>
            <a:endParaRPr lang="fr-FR" sz="1200" dirty="0">
              <a:solidFill>
                <a:srgbClr val="00000A"/>
              </a:solidFill>
              <a:effectLst/>
              <a:latin typeface="Liberation Serif"/>
              <a:ea typeface="Droid Sans Fallback"/>
              <a:cs typeface="FreeSans"/>
            </a:endParaRPr>
          </a:p>
        </p:txBody>
      </p:sp>
      <p:pic>
        <p:nvPicPr>
          <p:cNvPr id="8" name="Image 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227024"/>
            <a:ext cx="6768752" cy="532859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95400" y="3429000"/>
            <a:ext cx="3960440" cy="271132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إ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ذن هــذا الحــل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جــزئـي</a:t>
            </a:r>
            <a:r>
              <a:rPr lang="ar-DZ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3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ولـيـس حَــلًا شَـامِـلًا </a:t>
            </a:r>
            <a:endParaRPr lang="fr-FR" sz="3400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6704538" y="2924944"/>
            <a:ext cx="4720054" cy="3215385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اذا كـان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a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و </a:t>
            </a:r>
            <a:r>
              <a:rPr lang="fr-FR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b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مَـعْــدُومَـيْـنِ فــإِنَّ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كُــلَّ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عَـــدَدٍ حــقــيــقـي هــو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حــل لـهــذه الـمـسـألـة </a:t>
            </a:r>
            <a:endParaRPr lang="fr-FR" b="1" dirty="0" smtClean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04571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build="p" animBg="1"/>
      <p:bldP spid="9" grpId="0" animBg="1"/>
      <p:bldP spid="10" grpId="0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. تــطــبـــيـــقـــات ( تـــــابـــع )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نــشـــاط 10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قُـــمْ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بِــصِــيَــــاغَـــةِ حَـــلٍ لِلْــمَـــسْـــأَلَـــةِ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  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تـحــديـــد حــلــول الـمـعـــادلــة : </a:t>
            </a:r>
            <a:r>
              <a:rPr lang="fr-FR" sz="4000" b="1" dirty="0"/>
              <a:t>a </a:t>
            </a:r>
            <a:r>
              <a:rPr lang="fr-FR" sz="4000" b="1" dirty="0" smtClean="0"/>
              <a:t>* X </a:t>
            </a:r>
            <a:r>
              <a:rPr lang="fr-FR" sz="4000" b="1" dirty="0"/>
              <a:t>+ b = 0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ثُــمَ ارْسُـــمْ الــمُــخَــطَّــطَ الاِنْــسِـــيَــابِـي الـمُــوَافِـــقَ لَـهَـا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fr-FR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lnSpc>
                <a:spcPct val="150000"/>
              </a:lnSpc>
              <a:buNone/>
            </a:pPr>
            <a:r>
              <a:rPr lang="ar-DZ" sz="3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(</a:t>
            </a:r>
            <a:r>
              <a:rPr lang="ar-DZ" sz="3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+mj-cs"/>
              </a:rPr>
              <a:t> </a:t>
            </a:r>
            <a:r>
              <a:rPr lang="ar-DZ" sz="3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واجــب </a:t>
            </a:r>
            <a:r>
              <a:rPr lang="ar-DZ" sz="38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مــنــزلـي1 </a:t>
            </a:r>
            <a:r>
              <a:rPr lang="ar-DZ" sz="38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يُــسَــلِّــمُــهُ الـطَــالِــبُ فــي ورقـــة مــزْدَوَجَــة</a:t>
            </a:r>
            <a:r>
              <a:rPr lang="ar-DZ" sz="38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)</a:t>
            </a:r>
            <a:endParaRPr lang="ar-DZ" sz="3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6  (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واجــب </a:t>
            </a:r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مــنــزلـي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1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6938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نــشــاط 11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4000" b="1" dirty="0"/>
              <a:t>تَــتَــبَّـعْ سَــيْــرَ الـمُــخــطَّــط الانــســيــ</a:t>
            </a:r>
            <a:r>
              <a:rPr lang="ar-DZ" sz="4000" b="1" dirty="0"/>
              <a:t>ـ</a:t>
            </a:r>
            <a:r>
              <a:rPr lang="ar-SA" sz="4000" b="1" dirty="0"/>
              <a:t>ابـي الــتــالـي </a:t>
            </a:r>
            <a:r>
              <a:rPr lang="ar-SA" sz="4000" b="1" u="sng" dirty="0"/>
              <a:t>بِــشَــرْحِ كُــلِّ خُــطْــوَةٍ</a:t>
            </a:r>
            <a:r>
              <a:rPr lang="ar-SA" sz="4000" b="1" dirty="0"/>
              <a:t> مِـنْ خُــطُــوَاتِـ</a:t>
            </a:r>
            <a:r>
              <a:rPr lang="ar-DZ" sz="4000" b="1" dirty="0"/>
              <a:t>ـ</a:t>
            </a:r>
            <a:r>
              <a:rPr lang="ar-SA" sz="4000" b="1" dirty="0"/>
              <a:t>ه، ثُــمَ </a:t>
            </a:r>
            <a:r>
              <a:rPr lang="ar-SA" sz="4000" b="1" u="sng" dirty="0"/>
              <a:t>حَـــدِّد الـهـــدف</a:t>
            </a:r>
            <a:r>
              <a:rPr lang="ar-SA" sz="4000" b="1" dirty="0"/>
              <a:t> الــمَــرْجُـــوِ مِــنْـهُ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fr-FR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3914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00B050"/>
                </a:solidFill>
                <a:cs typeface="+mj-cs"/>
              </a:rPr>
              <a:t>أ - تـتـبع سـيـر الـمـخـطـط الانـسـيـابـي</a:t>
            </a:r>
            <a:endParaRPr lang="ar-DZ" b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1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</a:t>
            </a: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2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3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4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44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1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</a:t>
            </a: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2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3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4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9600" y="1368864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عــمــلــيــة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إســنــاد الـقـيـمـة 2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إلـى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الـمــتــغـــيـــر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53587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1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</a:t>
            </a: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2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3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4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9600" y="1368864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عــمــلــيــة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إســنــاد الـقـيـمـة 2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إلـى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الـمــتــغـــيـــر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2297" y="2247735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الـمُـخْـرَجَـة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الَّـتِي تَـسْـمَـحُ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بِـإِظْـهَــار قِــيـمَةِ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الـمـتـغـيـر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74841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1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</a:t>
            </a: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2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3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4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9600" y="1368864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عــمــلــيــة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إســنــاد الـقـيـمـة 2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إلـى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الـمــتــغـــيـــر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2297" y="2247735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الـمُـخْـرَجَـة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الَّـتِي تَـسْـمَـحُ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بِـإِظْـهَــار قِــيـمَةِ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الـمـتـغـيـر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3174864"/>
            <a:ext cx="9952060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1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عـمـلـيـة</a:t>
            </a:r>
            <a:r>
              <a:rPr lang="ar-DZ" sz="31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إجـراء </a:t>
            </a:r>
            <a:r>
              <a:rPr lang="ar-DZ" sz="31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الـحـسـاب </a:t>
            </a:r>
            <a:r>
              <a:rPr lang="fr-FR" sz="31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X+2 )</a:t>
            </a:r>
            <a:r>
              <a:rPr lang="ar-DZ" sz="31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ثـم </a:t>
            </a:r>
            <a:r>
              <a:rPr lang="ar-DZ" sz="31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إسـنـاد الـنـتـيـجـة </a:t>
            </a:r>
            <a:r>
              <a:rPr lang="ar-DZ" sz="31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إلى </a:t>
            </a:r>
            <a:r>
              <a:rPr lang="ar-DZ" sz="31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الـمـتـغــيـر </a:t>
            </a:r>
            <a:r>
              <a:rPr lang="fr-FR" sz="31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fr-FR" sz="31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52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0" grpId="0" animBg="1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1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</a:t>
            </a: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2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3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4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9600" y="1368864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عــمــلــيــة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إســنــاد الـقـيـمـة 2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إلـى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الـمــتــغـــيـــر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2297" y="2247735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الـمُـخْـرَجَـة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الَّـتِي تَـسْـمَـحُ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بِـإِظْـهَــار قِــيـمَةِ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الـمـتـغـيـر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7358" y="4248118"/>
            <a:ext cx="9700295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اِتّــخَـــاذ قَــــرار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بـعْــدَ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الـتَّــحَــقُـــقِ مِــنْ الــشــرط   (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&lt;= 20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3174864"/>
            <a:ext cx="9952060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1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عـمـلـيـة</a:t>
            </a:r>
            <a:r>
              <a:rPr lang="ar-DZ" sz="31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إجـراء </a:t>
            </a:r>
            <a:r>
              <a:rPr lang="ar-DZ" sz="31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الـحـسـاب </a:t>
            </a:r>
            <a:r>
              <a:rPr lang="fr-FR" sz="31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X+2 )</a:t>
            </a:r>
            <a:r>
              <a:rPr lang="ar-DZ" sz="31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ثـم </a:t>
            </a:r>
            <a:r>
              <a:rPr lang="ar-DZ" sz="31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إسـنـاد الـنـتـيـجـة </a:t>
            </a:r>
            <a:r>
              <a:rPr lang="ar-DZ" sz="31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إلى </a:t>
            </a:r>
            <a:r>
              <a:rPr lang="ar-DZ" sz="31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الـمـتـغــيـر </a:t>
            </a:r>
            <a:r>
              <a:rPr lang="fr-FR" sz="31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fr-FR" sz="31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1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6" grpId="0" animBg="1"/>
      <p:bldP spid="10" grpId="0" animBg="1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1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</a:t>
            </a: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2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3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4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9600" y="1368864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عــمــلــيــة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إســنــاد الـقـيـمـة 2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إلـى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الـمــتــغـــيـــر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2297" y="2247735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الـمُـخْـرَجَـة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الَّـتِي تَـسْـمَـحُ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بِـإِظْـهَــار قِــيـمَةِ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الـمـتـغـيـر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7358" y="4248118"/>
            <a:ext cx="9700295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اِتّــخَـــاذ قَــــرار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بـعْــدَ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الـتَّــحَــقُـــقِ مِــنْ الــشــرط   (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&lt;= 20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3174864"/>
            <a:ext cx="9952060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1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عـمـلـيـة</a:t>
            </a:r>
            <a:r>
              <a:rPr lang="ar-DZ" sz="31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1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إجـراء </a:t>
            </a:r>
            <a:r>
              <a:rPr lang="ar-DZ" sz="31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الـحـسـاب </a:t>
            </a:r>
            <a:r>
              <a:rPr lang="fr-FR" sz="31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X+2 )</a:t>
            </a:r>
            <a:r>
              <a:rPr lang="ar-DZ" sz="31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ثـم </a:t>
            </a:r>
            <a:r>
              <a:rPr lang="ar-DZ" sz="31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إسـنـاد الـنـتـيـجـة </a:t>
            </a:r>
            <a:r>
              <a:rPr lang="ar-DZ" sz="31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إلى </a:t>
            </a:r>
            <a:r>
              <a:rPr lang="ar-DZ" sz="31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الـمـتـغــيـر </a:t>
            </a:r>
            <a:r>
              <a:rPr lang="fr-FR" sz="31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fr-FR" sz="31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96" y="292875"/>
            <a:ext cx="7740000" cy="6092571"/>
          </a:xfrm>
          <a:prstGeom prst="rect">
            <a:avLst/>
          </a:prstGeom>
          <a:ln w="190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68944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6" grpId="0" animBg="1"/>
      <p:bldP spid="10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5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6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89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5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6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487488" y="1268760"/>
            <a:ext cx="8986711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tabLst>
                <a:tab pos="357188" algn="l"/>
              </a:tabLst>
            </a:pP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تـحـقـق الـشــرط ( </a:t>
            </a:r>
            <a:r>
              <a:rPr lang="fr-FR" sz="30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 &lt;= 20</a:t>
            </a: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</a:t>
            </a:r>
            <a:r>
              <a:rPr lang="ar-DZ" sz="3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مـا دام هــذا الـشــرط مُـحَــقَــقًــا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03540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5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6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487488" y="1268760"/>
            <a:ext cx="8986711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tabLst>
                <a:tab pos="357188" algn="l"/>
              </a:tabLst>
            </a:pP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تـحـقـق الـشــرط ( </a:t>
            </a:r>
            <a:r>
              <a:rPr lang="fr-FR" sz="30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 &lt;= 20</a:t>
            </a: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</a:t>
            </a:r>
            <a:r>
              <a:rPr lang="ar-DZ" sz="3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مـا دام هــذا الـشــرط مُـحَــقَــقًــا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51134" y="2247363"/>
            <a:ext cx="6632105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فَـإنَّـهُ يُـعَــاد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تــنـفــيــذ الـخـطــوات خ 2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و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خ 3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و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خ 4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59651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  <p:bldP spid="9" grpId="0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5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6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487488" y="1268760"/>
            <a:ext cx="8986711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tabLst>
                <a:tab pos="357188" algn="l"/>
              </a:tabLst>
            </a:pP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تـحـقـق الـشــرط ( </a:t>
            </a:r>
            <a:r>
              <a:rPr lang="fr-FR" sz="30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 &lt;= 20</a:t>
            </a: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</a:t>
            </a:r>
            <a:r>
              <a:rPr lang="ar-DZ" sz="3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مـا دام هــذا الـشــرط مُـحَــقَــقًــا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51134" y="2247363"/>
            <a:ext cx="6632105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فَـإنَّـهُ يُـعَــاد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تــنـفــيــذ الـخـطــوات خ 2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و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خ 3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و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خ 4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663" y="301934"/>
            <a:ext cx="6336000" cy="6064317"/>
          </a:xfrm>
          <a:prstGeom prst="rect">
            <a:avLst/>
          </a:prstGeom>
          <a:ln w="19050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6940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  <p:bldP spid="9" grpId="0" animBg="1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5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6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487488" y="1268760"/>
            <a:ext cx="8986711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tabLst>
                <a:tab pos="357188" algn="l"/>
              </a:tabLst>
            </a:pP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تـحـقـق الـشــرط ( </a:t>
            </a:r>
            <a:r>
              <a:rPr lang="fr-FR" sz="30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 &lt;= 20</a:t>
            </a: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</a:t>
            </a:r>
            <a:r>
              <a:rPr lang="ar-DZ" sz="3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مـا دام هــذا الـشــرط مُـحَــقَــقًــا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51134" y="2247363"/>
            <a:ext cx="6632105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فَـإنَّـهُ يُـعَــاد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تــنـفــيــذ الـخـطــوات خ 2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و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خ 3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و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خ 4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90336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  <p:bldP spid="9" grpId="0" animBg="1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5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6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11824" y="3140434"/>
            <a:ext cx="6120680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عَــدَم تَـحَــقُــقِ الـشـرط</a:t>
            </a:r>
            <a:r>
              <a:rPr lang="ar-DZ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&lt;= 20</a:t>
            </a:r>
            <a:r>
              <a:rPr lang="ar-DZ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عــنـد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87488" y="1268760"/>
            <a:ext cx="8986711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tabLst>
                <a:tab pos="357188" algn="l"/>
              </a:tabLst>
            </a:pP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تـحـقـق الـشــرط ( </a:t>
            </a:r>
            <a:r>
              <a:rPr lang="fr-FR" sz="30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 &lt;= 20</a:t>
            </a: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</a:t>
            </a:r>
            <a:r>
              <a:rPr lang="ar-DZ" sz="3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مـا دام هــذا الـشــرط مُـحَــقَــقًــا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51134" y="2247363"/>
            <a:ext cx="6632105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فَـإنَّـهُ يُـعَــاد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تــنـفــيــذ الـخـطــوات خ 2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و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خ 3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و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خ 4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3574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 animBg="1"/>
      <p:bldP spid="10" grpId="0" animBg="1"/>
      <p:bldP spid="12" grpId="0" animBg="1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5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6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11824" y="3140434"/>
            <a:ext cx="6120680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عَــدَم تَـحَــقُــقِ الـشـرط</a:t>
            </a:r>
            <a:r>
              <a:rPr lang="ar-DZ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&lt;= 20</a:t>
            </a:r>
            <a:r>
              <a:rPr lang="ar-DZ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عــنـد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99656" y="4810872"/>
            <a:ext cx="8280482" cy="11840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بـلـوغ الـمـتـغــيـر </a:t>
            </a:r>
            <a:r>
              <a:rPr lang="fr-FR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للـقـيــمـة 22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يـكـون </a:t>
            </a: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الـشـرط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غــيـر مُـحَــقَــقًـا</a:t>
            </a:r>
          </a:p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فـيـتـوقـف الـتـنـفــيــذ ويــكــتــمــل</a:t>
            </a:r>
            <a:r>
              <a:rPr lang="fr-FR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بـذلـك الـمـخـطـط الاِنـســيــابـي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87488" y="1268760"/>
            <a:ext cx="8986711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tabLst>
                <a:tab pos="357188" algn="l"/>
              </a:tabLst>
            </a:pP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تـحـقـق الـشــرط ( </a:t>
            </a:r>
            <a:r>
              <a:rPr lang="fr-FR" sz="30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 &lt;= 20</a:t>
            </a: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</a:t>
            </a:r>
            <a:r>
              <a:rPr lang="ar-DZ" sz="3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مـا دام هــذا الـشــرط مُـحَــقَــقًــا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51134" y="2247363"/>
            <a:ext cx="6632105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فَـإنَّـهُ يُـعَــاد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تــنـفــيــذ الـخـطــوات خ 2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و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خ 3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و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خ 4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46032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 animBg="1"/>
      <p:bldP spid="14" grpId="0" animBg="1"/>
      <p:bldP spid="10" grpId="0" animBg="1"/>
      <p:bldP spid="12" grpId="0" animBg="1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5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6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11824" y="3140434"/>
            <a:ext cx="6120680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عَــدَم تَـحَــقُــقِ الـشـرط</a:t>
            </a:r>
            <a:r>
              <a:rPr lang="ar-DZ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&lt;= 20</a:t>
            </a:r>
            <a:r>
              <a:rPr lang="ar-DZ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عــنـد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99656" y="4810872"/>
            <a:ext cx="8280482" cy="11840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بـلـوغ الـمـتـغــيـر </a:t>
            </a:r>
            <a:r>
              <a:rPr lang="fr-FR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للـقـيــمـة 22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يـكـون </a:t>
            </a: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الـشـرط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غــيـر مُـحَــقَــقًـا</a:t>
            </a:r>
          </a:p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فـيـتـوقـف الـتـنـفــيــذ ويــكــتــمــل</a:t>
            </a:r>
            <a:r>
              <a:rPr lang="fr-FR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بـذلـك الـمـخـطـط الاِنـســيــابـي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87488" y="1268760"/>
            <a:ext cx="8986711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tabLst>
                <a:tab pos="357188" algn="l"/>
              </a:tabLst>
            </a:pP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تـحـقـق الـشــرط ( </a:t>
            </a:r>
            <a:r>
              <a:rPr lang="fr-FR" sz="30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 &lt;= 20</a:t>
            </a: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</a:t>
            </a:r>
            <a:r>
              <a:rPr lang="ar-DZ" sz="3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مـا دام هــذا الـشــرط مُـحَــقَــقًــا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51134" y="2247363"/>
            <a:ext cx="6632105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فَـإنَّـهُ يُـعَــاد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تــنـفــيــذ الـخـطــوات خ 2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و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خ 3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و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خ 4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5" name="Imag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7096" y="292875"/>
            <a:ext cx="7740000" cy="6092571"/>
          </a:xfrm>
          <a:prstGeom prst="rect">
            <a:avLst/>
          </a:prstGeom>
          <a:ln w="190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750323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 animBg="1"/>
      <p:bldP spid="14" grpId="0" animBg="1"/>
      <p:bldP spid="10" grpId="0" animBg="1"/>
      <p:bldP spid="12" grpId="0" animBg="1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5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6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11824" y="3140434"/>
            <a:ext cx="6120680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عَــدَم تَـحَــقُــقِ الـشـرط</a:t>
            </a:r>
            <a:r>
              <a:rPr lang="ar-DZ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&lt;= 20</a:t>
            </a:r>
            <a:r>
              <a:rPr lang="ar-DZ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عــنـد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99656" y="4810872"/>
            <a:ext cx="8280482" cy="11840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بـلـوغ الـمـتـغــيـر </a:t>
            </a:r>
            <a:r>
              <a:rPr lang="fr-FR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للـقـيــمـة 22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يـكـون </a:t>
            </a: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الـشـرط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غــيـر مُـحَــقَــقًـا</a:t>
            </a:r>
          </a:p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فـيـتـوقـف الـتـنـفــيــذ ويــكــتــمــل</a:t>
            </a:r>
            <a:r>
              <a:rPr lang="fr-FR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بـذلـك الـمـخـطـط الاِنـســيــابـي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87488" y="1268760"/>
            <a:ext cx="8986711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tabLst>
                <a:tab pos="357188" algn="l"/>
              </a:tabLst>
            </a:pP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تـحـقـق الـشــرط ( </a:t>
            </a:r>
            <a:r>
              <a:rPr lang="fr-FR" sz="30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 &lt;= 20</a:t>
            </a: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</a:t>
            </a:r>
            <a:r>
              <a:rPr lang="ar-DZ" sz="3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مـا دام هــذا الـشــرط مُـحَــقَــقًــا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51134" y="2247363"/>
            <a:ext cx="6632105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فَـإنَّـهُ يُـعَــاد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تــنـفــيــذ الـخـطــوات خ 2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و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خ 3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و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خ 4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1663" y="301934"/>
            <a:ext cx="6336000" cy="6064317"/>
          </a:xfrm>
          <a:prstGeom prst="rect">
            <a:avLst/>
          </a:prstGeom>
          <a:ln w="19050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335319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 animBg="1"/>
      <p:bldP spid="14" grpId="0" animBg="1"/>
      <p:bldP spid="10" grpId="0" animBg="1"/>
      <p:bldP spid="12" grpId="0" animBg="1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5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6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511824" y="3140434"/>
            <a:ext cx="6120680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عَــدَم تَـحَــقُــقِ الـشـرط</a:t>
            </a:r>
            <a:r>
              <a:rPr lang="ar-DZ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&lt;= 20</a:t>
            </a:r>
            <a:r>
              <a:rPr lang="ar-DZ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2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عــنـد</a:t>
            </a:r>
            <a:endParaRPr lang="fr-FR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999656" y="4810872"/>
            <a:ext cx="8280482" cy="11840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بـلـوغ الـمـتـغــيـر </a:t>
            </a:r>
            <a:r>
              <a:rPr lang="fr-FR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للـقـيــمـة 22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يـكـون </a:t>
            </a: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الـشـرط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غــيـر مُـحَــقَــقًـا</a:t>
            </a:r>
          </a:p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فـيـتـوقـف الـتـنـفــيــذ ويــكــتــمــل</a:t>
            </a:r>
            <a:r>
              <a:rPr lang="fr-FR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بـذلـك الـمـخـطـط الاِنـســيــابـي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487488" y="1268760"/>
            <a:ext cx="8986711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tabLst>
                <a:tab pos="357188" algn="l"/>
              </a:tabLst>
            </a:pP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تـحـقـق الـشــرط ( </a:t>
            </a:r>
            <a:r>
              <a:rPr lang="fr-FR" sz="30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X &lt;= 20</a:t>
            </a:r>
            <a:r>
              <a:rPr lang="ar-DZ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3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</a:t>
            </a:r>
            <a:r>
              <a:rPr lang="ar-DZ" sz="3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مـا دام هــذا الـشــرط مُـحَــقَــقًــا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51134" y="2247363"/>
            <a:ext cx="6632105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فَـإنَّـهُ يُـعَــاد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تــنـفــيــذ الـخـطــوات خ 2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و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خ 3 </a:t>
            </a:r>
            <a:r>
              <a:rPr lang="ar-DZ" sz="3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و</a:t>
            </a:r>
            <a:r>
              <a:rPr lang="ar-DZ" sz="3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خ 4</a:t>
            </a:r>
            <a:endParaRPr lang="fr-FR" sz="3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9794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 animBg="1"/>
      <p:bldP spid="14" grpId="0" animBg="1"/>
      <p:bldP spid="10" grpId="0" animBg="1"/>
      <p:bldP spid="12" grpId="0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ب. الـهــدف مـن الـمُـخَــطَّـط الاِنْـسِــيَــابِـي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585416" y="1844824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Espace réservé du contenu 21"/>
          <p:cNvSpPr txBox="1">
            <a:spLocks/>
          </p:cNvSpPr>
          <p:nvPr/>
        </p:nvSpPr>
        <p:spPr>
          <a:xfrm>
            <a:off x="585416" y="2708920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600" y="3573016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574425" y="5375937"/>
            <a:ext cx="1296144" cy="756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620590" y="4550551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8" name="Espace réservé du contenu 21"/>
          <p:cNvSpPr txBox="1">
            <a:spLocks/>
          </p:cNvSpPr>
          <p:nvPr/>
        </p:nvSpPr>
        <p:spPr>
          <a:xfrm>
            <a:off x="4367809" y="4550551"/>
            <a:ext cx="6912768" cy="143118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أَوَلًا : نُـحُــدِّدْ الـمُــخْــرَجَـــات</a:t>
            </a:r>
            <a:endParaRPr lang="fr-FR" sz="3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44470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585416" y="1844824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Espace réservé du contenu 21"/>
          <p:cNvSpPr txBox="1">
            <a:spLocks/>
          </p:cNvSpPr>
          <p:nvPr/>
        </p:nvSpPr>
        <p:spPr>
          <a:xfrm>
            <a:off x="585416" y="2708920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600" y="3573016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574425" y="5375937"/>
            <a:ext cx="1296144" cy="756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620590" y="4550551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8" name="Espace réservé du contenu 21"/>
          <p:cNvSpPr txBox="1">
            <a:spLocks/>
          </p:cNvSpPr>
          <p:nvPr/>
        </p:nvSpPr>
        <p:spPr>
          <a:xfrm>
            <a:off x="4367809" y="4550551"/>
            <a:ext cx="6912768" cy="143118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DZ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أَوَلًا : نُـحُــدِّدْ الـمُــخْــرَجَـــات</a:t>
            </a:r>
            <a:endParaRPr lang="fr-FR" sz="3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2577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585416" y="1844824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Espace réservé du contenu 21"/>
          <p:cNvSpPr txBox="1">
            <a:spLocks/>
          </p:cNvSpPr>
          <p:nvPr/>
        </p:nvSpPr>
        <p:spPr>
          <a:xfrm>
            <a:off x="585416" y="2708920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4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600" y="3573016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574425" y="5375937"/>
            <a:ext cx="1296144" cy="756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620590" y="4550551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8" name="Espace réservé du contenu 21"/>
          <p:cNvSpPr txBox="1">
            <a:spLocks/>
          </p:cNvSpPr>
          <p:nvPr/>
        </p:nvSpPr>
        <p:spPr>
          <a:xfrm>
            <a:off x="4367809" y="4550551"/>
            <a:ext cx="6912768" cy="143118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DZ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أَوَلًا : نُـحُــدِّدْ الـمُــخْــرَجَـــات</a:t>
            </a:r>
            <a:endParaRPr lang="fr-FR" sz="3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36076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585416" y="1844824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Espace réservé du contenu 21"/>
          <p:cNvSpPr txBox="1">
            <a:spLocks/>
          </p:cNvSpPr>
          <p:nvPr/>
        </p:nvSpPr>
        <p:spPr>
          <a:xfrm>
            <a:off x="585416" y="2708920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4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600" y="3573016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6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574425" y="5375937"/>
            <a:ext cx="1296144" cy="756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620590" y="4550551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8" name="Espace réservé du contenu 21"/>
          <p:cNvSpPr txBox="1">
            <a:spLocks/>
          </p:cNvSpPr>
          <p:nvPr/>
        </p:nvSpPr>
        <p:spPr>
          <a:xfrm>
            <a:off x="4367809" y="4550551"/>
            <a:ext cx="6912768" cy="143118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DZ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أَوَلًا : نُـحُــدِّدْ الـمُــخْــرَجَـــات</a:t>
            </a:r>
            <a:endParaRPr lang="fr-FR" sz="3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06370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585416" y="1844824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Espace réservé du contenu 21"/>
          <p:cNvSpPr txBox="1">
            <a:spLocks/>
          </p:cNvSpPr>
          <p:nvPr/>
        </p:nvSpPr>
        <p:spPr>
          <a:xfrm>
            <a:off x="585416" y="2708920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4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600" y="3573016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6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574425" y="5375937"/>
            <a:ext cx="1296144" cy="756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20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620590" y="4550551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8" name="Espace réservé du contenu 21"/>
          <p:cNvSpPr txBox="1">
            <a:spLocks/>
          </p:cNvSpPr>
          <p:nvPr/>
        </p:nvSpPr>
        <p:spPr>
          <a:xfrm>
            <a:off x="4367809" y="4550551"/>
            <a:ext cx="6912768" cy="143118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DZ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أَوَلًا : نُـحُــدِّدْ الـمُــخْــرَجَـــات</a:t>
            </a:r>
            <a:endParaRPr lang="fr-FR" sz="3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70935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6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585416" y="1844824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Espace réservé du contenu 21"/>
          <p:cNvSpPr txBox="1">
            <a:spLocks/>
          </p:cNvSpPr>
          <p:nvPr/>
        </p:nvSpPr>
        <p:spPr>
          <a:xfrm>
            <a:off x="585416" y="2708920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4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600" y="3573016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6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574425" y="5375937"/>
            <a:ext cx="1296144" cy="756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20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620590" y="4550551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7" name="Espace réservé du contenu 21"/>
          <p:cNvSpPr txBox="1">
            <a:spLocks/>
          </p:cNvSpPr>
          <p:nvPr/>
        </p:nvSpPr>
        <p:spPr>
          <a:xfrm>
            <a:off x="3777607" y="4286066"/>
            <a:ext cx="7682160" cy="200012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ثــانِــيًــا : نُـحَــلِّــلَ الـمُـخْــرَجَــات جَــيِــدًا لِــفَـهْــمِــهَــا </a:t>
            </a:r>
            <a:endParaRPr lang="fr-FR" sz="3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350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585416" y="1844824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Espace réservé du contenu 21"/>
          <p:cNvSpPr txBox="1">
            <a:spLocks/>
          </p:cNvSpPr>
          <p:nvPr/>
        </p:nvSpPr>
        <p:spPr>
          <a:xfrm>
            <a:off x="585416" y="2708920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4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600" y="3573016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6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574425" y="5375937"/>
            <a:ext cx="1296144" cy="756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20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620590" y="4550551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8" name="Espace réservé du contenu 21"/>
          <p:cNvSpPr txBox="1">
            <a:spLocks/>
          </p:cNvSpPr>
          <p:nvPr/>
        </p:nvSpPr>
        <p:spPr>
          <a:xfrm>
            <a:off x="4633374" y="4077072"/>
            <a:ext cx="6791218" cy="2243718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44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فَــهْــم الــمُــخْـــرَجَـــات </a:t>
            </a:r>
          </a:p>
          <a:p>
            <a:pPr marL="0" indent="0" algn="ctr" rtl="1">
              <a:buFont typeface="Arial" pitchFamily="34" charset="0"/>
              <a:buNone/>
            </a:pP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يَــسْــمَــحُ بِـ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تَـحْــدِيـــدِ</a:t>
            </a:r>
            <a:r>
              <a:rPr lang="ar-DZ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الـهَـــدَف</a:t>
            </a:r>
            <a:endParaRPr lang="fr-FR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82024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7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59" y="344438"/>
            <a:ext cx="4006016" cy="5976000"/>
          </a:xfrm>
          <a:prstGeom prst="rect">
            <a:avLst/>
          </a:prstGeom>
        </p:spPr>
      </p:pic>
      <p:sp>
        <p:nvSpPr>
          <p:cNvPr id="12" name="Espace réservé du contenu 21"/>
          <p:cNvSpPr txBox="1">
            <a:spLocks/>
          </p:cNvSpPr>
          <p:nvPr/>
        </p:nvSpPr>
        <p:spPr>
          <a:xfrm>
            <a:off x="585416" y="1844824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3" name="Espace réservé du contenu 21"/>
          <p:cNvSpPr txBox="1">
            <a:spLocks/>
          </p:cNvSpPr>
          <p:nvPr/>
        </p:nvSpPr>
        <p:spPr>
          <a:xfrm>
            <a:off x="585416" y="2708920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4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4" name="Espace réservé du contenu 21"/>
          <p:cNvSpPr txBox="1">
            <a:spLocks/>
          </p:cNvSpPr>
          <p:nvPr/>
        </p:nvSpPr>
        <p:spPr>
          <a:xfrm>
            <a:off x="609600" y="3573016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6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574425" y="5375937"/>
            <a:ext cx="1296144" cy="756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20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6" name="Espace réservé du contenu 21"/>
          <p:cNvSpPr txBox="1">
            <a:spLocks/>
          </p:cNvSpPr>
          <p:nvPr/>
        </p:nvSpPr>
        <p:spPr>
          <a:xfrm>
            <a:off x="620590" y="4550551"/>
            <a:ext cx="1296144" cy="61200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ar-DZ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11824" y="2564904"/>
            <a:ext cx="6808633" cy="24482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 rtl="1">
              <a:tabLst>
                <a:tab pos="357188" algn="l"/>
              </a:tabLst>
            </a:pPr>
            <a:r>
              <a:rPr lang="ar-DZ" sz="32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إِبْـــرَازُ ( إِظْــهَــارُ ) مُــضَــاعَـــفَـــات الـعَـــدَد 2 الأَصْــغَــر أو تُــسَــاوِي 20 مـَـعَ تَــرْتِــيــبِـهَـا تَــرْتِــيــبًـا تَـصَـاعُــدِيًــا 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ar-DZ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 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 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3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  20</a:t>
            </a:r>
            <a:r>
              <a:rPr lang="ar-DZ" sz="32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endParaRPr lang="fr-FR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3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2" grpId="0" animBg="1"/>
      <p:bldP spid="13" grpId="0" animBg="1"/>
      <p:bldP spid="14" grpId="0" animBg="1"/>
      <p:bldP spid="15" grpId="0" animBg="1"/>
      <p:bldP spid="16" grpId="0" animBg="1"/>
      <p:bldP spid="19" grpId="0" animBg="1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8</a:t>
            </a:r>
            <a:endParaRPr lang="ar-DZ" sz="4800" b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نــشــاط 12</a:t>
            </a:r>
            <a:r>
              <a:rPr lang="ar-DZ" sz="4000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: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SA" sz="4000" b="1" dirty="0" smtClean="0"/>
              <a:t>تَــتَــبَّـعْ </a:t>
            </a:r>
            <a:r>
              <a:rPr lang="ar-SA" sz="4000" b="1" dirty="0"/>
              <a:t>سَــيْــرَ الـمُــخــطَّــط الانــســيــ</a:t>
            </a:r>
            <a:r>
              <a:rPr lang="ar-DZ" sz="4000" b="1" dirty="0"/>
              <a:t>ـ</a:t>
            </a:r>
            <a:r>
              <a:rPr lang="ar-SA" sz="4000" b="1" dirty="0" smtClean="0"/>
              <a:t>ابـي الــتــالـي </a:t>
            </a:r>
            <a:r>
              <a:rPr lang="ar-SA" sz="4000" b="1" u="sng" dirty="0" smtClean="0"/>
              <a:t>بِــشَــرْحِ كُــلِّ خُــطْــوَةٍ</a:t>
            </a:r>
            <a:r>
              <a:rPr lang="ar-SA" sz="4000" b="1" dirty="0" smtClean="0"/>
              <a:t> مِـنْ خُــطُــوَاتِـ</a:t>
            </a:r>
            <a:r>
              <a:rPr lang="ar-DZ" sz="4000" b="1" dirty="0" smtClean="0"/>
              <a:t>ـ</a:t>
            </a:r>
            <a:r>
              <a:rPr lang="ar-SA" sz="4000" b="1" dirty="0" smtClean="0"/>
              <a:t>ه، ثُــمَ </a:t>
            </a:r>
            <a:r>
              <a:rPr lang="ar-SA" sz="4000" b="1" u="sng" dirty="0" smtClean="0"/>
              <a:t>حَـــدِّد الـهـــدف</a:t>
            </a:r>
            <a:r>
              <a:rPr lang="ar-SA" sz="4000" b="1" dirty="0" smtClean="0"/>
              <a:t> الــمَــرْجُـــوِ مِــنْـهُ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fr-FR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11596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ت 8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1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</a:t>
            </a: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2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u="sng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3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681" y="28853"/>
            <a:ext cx="7308000" cy="633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9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8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buNone/>
            </a:pPr>
            <a:r>
              <a:rPr lang="ar-DZ" sz="4400" b="1" u="sng" dirty="0">
                <a:solidFill>
                  <a:srgbClr val="0070C0"/>
                </a:solidFill>
                <a:cs typeface="Times New Roman" panose="02020603050405020304" pitchFamily="18" charset="0"/>
              </a:rPr>
              <a:t> أ- </a:t>
            </a:r>
            <a:r>
              <a:rPr lang="ar-SA" sz="4400" b="1" u="sng" dirty="0">
                <a:solidFill>
                  <a:srgbClr val="0070C0"/>
                </a:solidFill>
                <a:cs typeface="Times New Roman" panose="02020603050405020304" pitchFamily="18" charset="0"/>
              </a:rPr>
              <a:t>تَــتَــبَّـعْ سَــيْــرَ الـمُــخــطَّــط الانــســيــ</a:t>
            </a:r>
            <a:r>
              <a:rPr lang="ar-DZ" sz="4400" b="1" u="sng" dirty="0">
                <a:solidFill>
                  <a:srgbClr val="0070C0"/>
                </a:solidFill>
                <a:cs typeface="Times New Roman" panose="02020603050405020304" pitchFamily="18" charset="0"/>
              </a:rPr>
              <a:t>ـ</a:t>
            </a:r>
            <a:r>
              <a:rPr lang="ar-SA" sz="4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ابـي</a:t>
            </a:r>
            <a:r>
              <a:rPr lang="ar-DZ" sz="4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</a:p>
          <a:p>
            <a:pPr marL="0" lvl="0" indent="0" algn="just" rtl="1">
              <a:buNone/>
            </a:pPr>
            <a:endParaRPr lang="ar-DZ" sz="2000" b="1" dirty="0" smtClean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marL="0" lvl="0" indent="0" algn="just" rtl="1">
              <a:buNone/>
            </a:pPr>
            <a:r>
              <a:rPr lang="ar-DZ" sz="4000" b="1" u="sng" dirty="0">
                <a:solidFill>
                  <a:srgbClr val="002060"/>
                </a:solidFill>
                <a:cs typeface="Times New Roman" panose="02020603050405020304" pitchFamily="18" charset="0"/>
              </a:rPr>
              <a:t>الـخـطــوة 1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: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</a:t>
            </a:r>
          </a:p>
          <a:p>
            <a:pPr marL="0" lvl="0" indent="0" algn="just" rtl="1">
              <a:buNone/>
            </a:pPr>
            <a:endParaRPr lang="ar-DZ" sz="2400" baseline="-250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marL="0" lvl="0" indent="0" algn="just" rtl="1">
              <a:buNone/>
            </a:pPr>
            <a:r>
              <a:rPr lang="ar-DZ" sz="4000" b="1" u="sng" dirty="0">
                <a:solidFill>
                  <a:srgbClr val="002060"/>
                </a:solidFill>
                <a:cs typeface="Times New Roman" panose="02020603050405020304" pitchFamily="18" charset="0"/>
              </a:rPr>
              <a:t>الـخـطــوة 2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 :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</a:t>
            </a:r>
          </a:p>
          <a:p>
            <a:pPr marL="0" lvl="0" indent="0" algn="just" rtl="1">
              <a:buNone/>
            </a:pPr>
            <a:endParaRPr lang="ar-DZ" sz="2400" baseline="-25000" dirty="0">
              <a:solidFill>
                <a:srgbClr val="002060"/>
              </a:solidFill>
              <a:cs typeface="Times New Roman" panose="02020603050405020304" pitchFamily="18" charset="0"/>
            </a:endParaRPr>
          </a:p>
          <a:p>
            <a:pPr marL="0" lv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الـخـطــوة 3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: </a:t>
            </a:r>
            <a:r>
              <a:rPr lang="ar-DZ" sz="40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</a:t>
            </a:r>
          </a:p>
          <a:p>
            <a:pPr marL="0" lvl="0" indent="0" algn="just" rtl="1">
              <a:lnSpc>
                <a:spcPct val="150000"/>
              </a:lnSpc>
              <a:buNone/>
            </a:pP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3587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ت 8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1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</a:t>
            </a: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2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u="sng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3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681" y="28853"/>
            <a:ext cx="7308000" cy="633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918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ت 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8 (  نــشــاط 12 )</a:t>
            </a:r>
            <a:endParaRPr lang="ar-DZ" sz="4800" b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1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</a:t>
            </a: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2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u="sng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3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681" y="28853"/>
            <a:ext cx="7308000" cy="63309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49546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عــمــلــيــة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إســنــاد الـقـيـمـة 0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إلـى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الـمــتــغـــيـــر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S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6134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8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1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</a:t>
            </a: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2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u="sng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3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681" y="28853"/>
            <a:ext cx="7308000" cy="63309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49546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عــمــلــيــة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إســنــاد الـقـيـمـة 0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إلـى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الـمــتــغـــيـــر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S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3392" y="2275337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عــمــلــيــة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إســنــاد الـقـيـمـة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5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إلـى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الـمــتــغـــيـــر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i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40420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8" grpId="0" animBg="1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8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11 )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1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</a:t>
            </a: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الـخـطــوة 2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u="sng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3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681" y="28853"/>
            <a:ext cx="7308000" cy="63309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9600" y="1449546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عــمــلــيــة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إســنــاد الـقـيـمـة 0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إلـى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الـمــتــغـــيـــر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S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3392" y="2275337"/>
            <a:ext cx="8438728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عــمــلــيــة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إســنــاد الـقـيـمـة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5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إلـى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الـمــتــغـــيـــر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i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7358" y="4068715"/>
            <a:ext cx="9700295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اِتّــخَـــاذ قَــــرار </a:t>
            </a:r>
            <a:r>
              <a:rPr lang="ar-DZ" sz="36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بـعْــدَ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الـتَّــحَــقُـــقِ مِــنْ الــشــرط   (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&lt; 55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352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7" grpId="0" animBg="1"/>
      <p:bldP spid="8" grpId="0" animBg="1"/>
      <p:bldP spid="9" grpId="0" animBg="1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8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4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5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</a:t>
            </a:r>
            <a:r>
              <a:rPr lang="fr-FR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5" y="13086"/>
            <a:ext cx="7380000" cy="639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7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8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4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5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</a:t>
            </a:r>
            <a:r>
              <a:rPr lang="fr-FR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5" y="13086"/>
            <a:ext cx="7380000" cy="63933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5796" y="1342336"/>
            <a:ext cx="10421612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tabLst>
                <a:tab pos="357188" algn="l"/>
              </a:tabLst>
            </a:pP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تـحـقـق الـشــرط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مـا دام هــذا الـشــرط مُـحَــقَــقًــا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9281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5" grpId="0" animBg="1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8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4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5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</a:t>
            </a:r>
            <a:r>
              <a:rPr lang="fr-FR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5" y="13086"/>
            <a:ext cx="7380000" cy="63933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5796" y="1342336"/>
            <a:ext cx="10421612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tabLst>
                <a:tab pos="357188" algn="l"/>
              </a:tabLst>
            </a:pP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تـحـقـق الـشــرط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مـا دام هــذا الـشــرط مُـحَــقَــقًــا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5794" y="2204864"/>
            <a:ext cx="10984119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فَــإنَّــهُ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يُــعَـــاد تــنــفـــيـــذ الـخــطــوات :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خ 5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و 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خ 6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و 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خ 3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6320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5" grpId="0" animBg="1"/>
      <p:bldP spid="16" grpId="0" animBg="1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8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4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5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</a:t>
            </a:r>
            <a:r>
              <a:rPr lang="fr-FR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5" y="13086"/>
            <a:ext cx="7380000" cy="63933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5796" y="1342336"/>
            <a:ext cx="10421612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tabLst>
                <a:tab pos="357188" algn="l"/>
              </a:tabLst>
            </a:pP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تـحـقـق الـشــرط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مـا دام هــذا الـشــرط مُـحَــقَــقًــا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5794" y="2204864"/>
            <a:ext cx="10984119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فَــإنَّــهُ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يُــعَـــاد تــنــفـــيـــذ الـخــطــوات :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خ 5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و 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خ 6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و 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خ 3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5794" y="3219798"/>
            <a:ext cx="10329842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عـمـلـيـة</a:t>
            </a:r>
            <a:r>
              <a:rPr lang="ar-DZ" sz="33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إجـراء </a:t>
            </a:r>
            <a:r>
              <a:rPr lang="ar-DZ" sz="3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الـحـسـاب </a:t>
            </a:r>
            <a:r>
              <a:rPr lang="fr-FR" sz="3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S + i )</a:t>
            </a:r>
            <a:r>
              <a:rPr lang="ar-DZ" sz="33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ثـم </a:t>
            </a:r>
            <a:r>
              <a:rPr lang="ar-DZ" sz="3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إسـنـاد الـنـتـيـجـة </a:t>
            </a:r>
            <a:r>
              <a:rPr lang="ar-DZ" sz="33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إلى </a:t>
            </a:r>
            <a:r>
              <a:rPr lang="ar-DZ" sz="3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الـمـتـغــيـر </a:t>
            </a:r>
            <a:r>
              <a:rPr lang="fr-FR" sz="3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fr-FR" sz="33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0219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5" grpId="0" animBg="1"/>
      <p:bldP spid="16" grpId="0" animBg="1"/>
      <p:bldP spid="17" grpId="0" animBg="1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8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4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5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 </a:t>
            </a:r>
            <a:r>
              <a:rPr lang="fr-FR" sz="4000" b="1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5" y="13086"/>
            <a:ext cx="7380000" cy="639331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5796" y="1342336"/>
            <a:ext cx="10421612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tabLst>
                <a:tab pos="357188" algn="l"/>
              </a:tabLst>
            </a:pP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تـحـقـق الـشــرط 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fr-FR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fr-FR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مـا دام هــذا الـشــرط مُـحَــقَــقًــا</a:t>
            </a:r>
            <a:endParaRPr lang="fr-FR" sz="36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5794" y="2204864"/>
            <a:ext cx="10984119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فَــإنَّــهُ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يُــعَـــاد تــنــفـــيـــذ الـخــطــوات :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خ 5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 و 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خ 6  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و 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خ 3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5794" y="3219798"/>
            <a:ext cx="10329842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عـمـلـيـة</a:t>
            </a:r>
            <a:r>
              <a:rPr lang="ar-DZ" sz="33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إجـراء </a:t>
            </a:r>
            <a:r>
              <a:rPr lang="ar-DZ" sz="3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الـحـسـاب </a:t>
            </a:r>
            <a:r>
              <a:rPr lang="fr-FR" sz="3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S + i )</a:t>
            </a:r>
            <a:r>
              <a:rPr lang="ar-DZ" sz="33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ثـم </a:t>
            </a:r>
            <a:r>
              <a:rPr lang="ar-DZ" sz="3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إسـنـاد الـنـتـيـجـة </a:t>
            </a:r>
            <a:r>
              <a:rPr lang="ar-DZ" sz="33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إلى </a:t>
            </a:r>
            <a:r>
              <a:rPr lang="ar-DZ" sz="3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الـمـتـغــيـر </a:t>
            </a:r>
            <a:r>
              <a:rPr lang="fr-FR" sz="3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fr-FR" sz="33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5794" y="4050827"/>
            <a:ext cx="10329842" cy="72161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عـمـلـيـة</a:t>
            </a:r>
            <a:r>
              <a:rPr lang="ar-DZ" sz="33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إجـراء </a:t>
            </a:r>
            <a:r>
              <a:rPr lang="ar-DZ" sz="3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الـحـسـاب </a:t>
            </a:r>
            <a:r>
              <a:rPr lang="fr-FR" sz="3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i + 5 )</a:t>
            </a:r>
            <a:r>
              <a:rPr lang="ar-DZ" sz="33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ثـم </a:t>
            </a:r>
            <a:r>
              <a:rPr lang="ar-DZ" sz="3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إسـنـاد الـنـتـيـجـة </a:t>
            </a:r>
            <a:r>
              <a:rPr lang="ar-DZ" sz="33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إلى </a:t>
            </a:r>
            <a:r>
              <a:rPr lang="ar-DZ" sz="3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الـمـتـغــيـر </a:t>
            </a:r>
            <a:r>
              <a:rPr lang="fr-FR" sz="33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fr-FR" sz="33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139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5" grpId="0" animBg="1"/>
      <p:bldP spid="16" grpId="0" animBg="1"/>
      <p:bldP spid="17" grpId="0" animBg="1"/>
      <p:bldP spid="19" grpId="0" animBg="1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8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4000" b="1" u="sng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7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chemeClr val="bg1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خ 8</a:t>
            </a:r>
            <a:r>
              <a:rPr lang="ar-DZ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  <a:cs typeface="Times New Roman" panose="02020603050405020304" pitchFamily="18" charset="0"/>
              </a:rPr>
              <a:t>:</a:t>
            </a:r>
            <a:r>
              <a:rPr lang="ar-DZ" sz="36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83" y="38140"/>
            <a:ext cx="7992000" cy="634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90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8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4000" b="1" u="sng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7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chemeClr val="bg1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خ 8</a:t>
            </a:r>
            <a:r>
              <a:rPr lang="ar-DZ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  <a:cs typeface="Times New Roman" panose="02020603050405020304" pitchFamily="18" charset="0"/>
              </a:rPr>
              <a:t>:</a:t>
            </a:r>
            <a:r>
              <a:rPr lang="ar-DZ" sz="36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83" y="38140"/>
            <a:ext cx="7992000" cy="63427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2366" y="2291102"/>
            <a:ext cx="9814015" cy="93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عَــدَم تَـحُـقُـقِ الـشــرط </a:t>
            </a:r>
            <a:r>
              <a:rPr lang="ar-DZ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fr-FR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fr-FR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ar-DZ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3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عــنـد </a:t>
            </a:r>
            <a:r>
              <a:rPr lang="ar-DZ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بـلـوغ الـمـتـغــيـر </a:t>
            </a:r>
            <a:r>
              <a:rPr lang="fr-FR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ar-DZ" sz="3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81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 animBg="1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8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4000" b="1" u="sng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7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chemeClr val="bg1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خ 8</a:t>
            </a:r>
            <a:r>
              <a:rPr lang="ar-DZ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  <a:cs typeface="Times New Roman" panose="02020603050405020304" pitchFamily="18" charset="0"/>
              </a:rPr>
              <a:t>:</a:t>
            </a:r>
            <a:r>
              <a:rPr lang="ar-DZ" sz="36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95" y="13086"/>
            <a:ext cx="7380000" cy="6393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58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8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4000" b="1" u="sng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7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chemeClr val="bg1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خ 8</a:t>
            </a:r>
            <a:r>
              <a:rPr lang="ar-DZ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  <a:cs typeface="Times New Roman" panose="02020603050405020304" pitchFamily="18" charset="0"/>
              </a:rPr>
              <a:t>:</a:t>
            </a:r>
            <a:r>
              <a:rPr lang="ar-DZ" sz="36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83" y="38140"/>
            <a:ext cx="7992000" cy="63427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2366" y="2291102"/>
            <a:ext cx="9814015" cy="93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عَــدَم تَـحُـقُـقِ الـشــرط </a:t>
            </a:r>
            <a:r>
              <a:rPr lang="ar-DZ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fr-FR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fr-FR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ar-DZ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3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عــنـد </a:t>
            </a:r>
            <a:r>
              <a:rPr lang="ar-DZ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بـلـوغ الـمـتـغــيـر </a:t>
            </a:r>
            <a:r>
              <a:rPr lang="fr-FR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ar-DZ" sz="3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09600" y="3264518"/>
            <a:ext cx="10814992" cy="93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للـقـيــمـة </a:t>
            </a:r>
            <a:r>
              <a:rPr lang="fr-FR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ar-DZ" sz="3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يـكـون </a:t>
            </a:r>
            <a:r>
              <a:rPr lang="ar-DZ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الـشـرط </a:t>
            </a:r>
            <a:r>
              <a:rPr lang="ar-DZ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غــيـر مُـحَــقَــقًـا </a:t>
            </a:r>
            <a:r>
              <a:rPr lang="ar-DZ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400" b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فــنَــنْــتَــقِــلُ</a:t>
            </a:r>
            <a:r>
              <a:rPr lang="ar-DZ" sz="3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إلـى</a:t>
            </a:r>
            <a:r>
              <a:rPr lang="ar-DZ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الخــطــوة 8</a:t>
            </a:r>
            <a:endParaRPr lang="fr-FR" sz="3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237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 animBg="1"/>
      <p:bldP spid="18" grpId="0" animBg="1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8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4000" b="1" u="sng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+mj-cs"/>
              </a:rPr>
              <a:t>خ 7</a:t>
            </a:r>
            <a:r>
              <a:rPr lang="ar-DZ" sz="3600" b="1" dirty="0" smtClean="0">
                <a:solidFill>
                  <a:srgbClr val="002060"/>
                </a:solidFill>
                <a:cs typeface="+mj-cs"/>
              </a:rPr>
              <a:t> :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</a:t>
            </a:r>
          </a:p>
          <a:p>
            <a:pPr marL="0" indent="0" algn="just" rtl="1">
              <a:buNone/>
            </a:pP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chemeClr val="bg1"/>
                </a:solidFill>
              </a:rPr>
              <a:t>......................................................................</a:t>
            </a:r>
            <a:endParaRPr lang="ar-DZ" sz="40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just" rtl="1">
              <a:buNone/>
            </a:pPr>
            <a:r>
              <a:rPr lang="ar-DZ" sz="3600" b="1" u="sng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خ 8</a:t>
            </a:r>
            <a:r>
              <a:rPr lang="ar-DZ" sz="36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2060"/>
                </a:solidFill>
                <a:cs typeface="Times New Roman" panose="02020603050405020304" pitchFamily="18" charset="0"/>
              </a:rPr>
              <a:t>:</a:t>
            </a:r>
            <a:r>
              <a:rPr lang="ar-DZ" sz="36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</a:t>
            </a: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83" y="38140"/>
            <a:ext cx="7992000" cy="63427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2366" y="2291102"/>
            <a:ext cx="9814015" cy="93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عَــدَم </a:t>
            </a:r>
            <a:r>
              <a:rPr lang="ar-DZ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تَـحُـقُـقِ </a:t>
            </a:r>
            <a:r>
              <a:rPr lang="ar-DZ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الـشــرط </a:t>
            </a:r>
            <a:r>
              <a:rPr lang="ar-DZ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fr-FR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fr-FR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</a:t>
            </a:r>
            <a:r>
              <a:rPr lang="fr-FR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ar-DZ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3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</a:t>
            </a:r>
            <a:r>
              <a:rPr lang="ar-DZ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عــنـد </a:t>
            </a:r>
            <a:r>
              <a:rPr lang="ar-DZ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بـلـوغ الـمـتـغــيـر </a:t>
            </a:r>
            <a:r>
              <a:rPr lang="fr-FR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ar-DZ" sz="3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6531" y="4393461"/>
            <a:ext cx="9784084" cy="84256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الـمُـخْـرَجَـة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الَّـتِي تَـسْـمَـحُ 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بِـإِظْـهَــار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قِـــيــمَــةِ </a:t>
            </a:r>
            <a:r>
              <a:rPr lang="ar-DZ" sz="4000" b="1" dirty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الـمـتـغـيـر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+mj-cs"/>
              </a:rPr>
              <a:t>S</a:t>
            </a:r>
            <a:endParaRPr lang="fr-FR" sz="4000" b="1" dirty="0">
              <a:solidFill>
                <a:srgbClr val="FF000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3264518"/>
            <a:ext cx="10814992" cy="9360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>
              <a:tabLst>
                <a:tab pos="357188" algn="l"/>
              </a:tabLst>
            </a:pPr>
            <a:r>
              <a:rPr lang="ar-DZ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للـقـيــمـة </a:t>
            </a:r>
            <a:r>
              <a:rPr lang="fr-FR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55</a:t>
            </a:r>
            <a:r>
              <a:rPr lang="ar-DZ" sz="3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يـكـون </a:t>
            </a:r>
            <a:r>
              <a:rPr lang="ar-DZ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الـشـرط </a:t>
            </a:r>
            <a:r>
              <a:rPr lang="ar-DZ" sz="3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غــيـر مُـحَــقَــقًـا </a:t>
            </a:r>
            <a:r>
              <a:rPr lang="ar-DZ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400" b="1" u="sng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فــنَــنْــتَــقِــلُ</a:t>
            </a:r>
            <a:r>
              <a:rPr lang="ar-DZ" sz="3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إلـى</a:t>
            </a:r>
            <a:r>
              <a:rPr lang="ar-DZ" sz="3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الخــطــوة 8</a:t>
            </a:r>
            <a:endParaRPr lang="fr-FR" sz="3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1741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 animBg="1"/>
      <p:bldP spid="8" grpId="0" animBg="1"/>
      <p:bldP spid="9" grpId="0" animBg="1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8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680" y="148424"/>
            <a:ext cx="7380000" cy="6393316"/>
          </a:xfrm>
          <a:prstGeom prst="rect">
            <a:avLst/>
          </a:prstGeom>
        </p:spPr>
      </p:pic>
      <p:sp>
        <p:nvSpPr>
          <p:cNvPr id="20" name="Espace réservé du contenu 21"/>
          <p:cNvSpPr txBox="1">
            <a:spLocks/>
          </p:cNvSpPr>
          <p:nvPr/>
        </p:nvSpPr>
        <p:spPr>
          <a:xfrm>
            <a:off x="6960096" y="4077072"/>
            <a:ext cx="4464496" cy="229276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DZ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أَوَلًا : نُـحُــدِّدْ الـمُــخْــرَجَـــات</a:t>
            </a:r>
            <a:endParaRPr lang="fr-FR" sz="3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22" name="Espace réservé du contenu 21"/>
          <p:cNvSpPr txBox="1">
            <a:spLocks/>
          </p:cNvSpPr>
          <p:nvPr/>
        </p:nvSpPr>
        <p:spPr>
          <a:xfrm>
            <a:off x="596280" y="4909377"/>
            <a:ext cx="2547392" cy="1255927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 = …..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19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7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20" grpId="0" animBg="1"/>
      <p:bldP spid="22" grpId="0" animBg="1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8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83" y="38140"/>
            <a:ext cx="7992000" cy="6342700"/>
          </a:xfrm>
          <a:prstGeom prst="rect">
            <a:avLst/>
          </a:prstGeom>
        </p:spPr>
      </p:pic>
      <p:sp>
        <p:nvSpPr>
          <p:cNvPr id="14" name="Espace réservé du contenu 21"/>
          <p:cNvSpPr txBox="1">
            <a:spLocks/>
          </p:cNvSpPr>
          <p:nvPr/>
        </p:nvSpPr>
        <p:spPr>
          <a:xfrm>
            <a:off x="4583832" y="4939046"/>
            <a:ext cx="2808312" cy="141125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 = …..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Espace réservé du contenu 21"/>
          <p:cNvSpPr txBox="1">
            <a:spLocks/>
          </p:cNvSpPr>
          <p:nvPr/>
        </p:nvSpPr>
        <p:spPr>
          <a:xfrm>
            <a:off x="7248128" y="4795030"/>
            <a:ext cx="3960440" cy="152578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DZ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أَوَلًا : نُـحُــدِّدْ الـمُــخْــرَجَـــات</a:t>
            </a:r>
            <a:endParaRPr lang="fr-FR" sz="3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92327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4" grpId="0" animBg="1"/>
      <p:bldP spid="15" grpId="0" animBg="1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8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83" y="38140"/>
            <a:ext cx="7992000" cy="6342700"/>
          </a:xfrm>
          <a:prstGeom prst="rect">
            <a:avLst/>
          </a:prstGeom>
        </p:spPr>
      </p:pic>
      <p:sp>
        <p:nvSpPr>
          <p:cNvPr id="13" name="Espace réservé du contenu 21"/>
          <p:cNvSpPr txBox="1">
            <a:spLocks/>
          </p:cNvSpPr>
          <p:nvPr/>
        </p:nvSpPr>
        <p:spPr>
          <a:xfrm>
            <a:off x="4583832" y="4939046"/>
            <a:ext cx="2808312" cy="141125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 = 275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Espace réservé du contenu 21"/>
          <p:cNvSpPr txBox="1">
            <a:spLocks/>
          </p:cNvSpPr>
          <p:nvPr/>
        </p:nvSpPr>
        <p:spPr>
          <a:xfrm>
            <a:off x="7248128" y="4795030"/>
            <a:ext cx="3960440" cy="1525780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DZ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أَوَلًا : نُـحُــدِّدْ الـمُــخْــرَجَـــات</a:t>
            </a:r>
            <a:endParaRPr lang="fr-FR" sz="3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11270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3" grpId="0" animBg="1"/>
      <p:bldP spid="8" grpId="0" animBg="1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8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83" y="38140"/>
            <a:ext cx="7992000" cy="6342700"/>
          </a:xfrm>
          <a:prstGeom prst="rect">
            <a:avLst/>
          </a:prstGeom>
        </p:spPr>
      </p:pic>
      <p:sp>
        <p:nvSpPr>
          <p:cNvPr id="9" name="Espace réservé du contenu 21"/>
          <p:cNvSpPr txBox="1">
            <a:spLocks/>
          </p:cNvSpPr>
          <p:nvPr/>
        </p:nvSpPr>
        <p:spPr>
          <a:xfrm>
            <a:off x="6577992" y="2236246"/>
            <a:ext cx="4806205" cy="143118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rtl="1">
              <a:spcBef>
                <a:spcPts val="0"/>
              </a:spcBef>
              <a:buNone/>
            </a:pPr>
            <a:r>
              <a:rPr lang="ar-DZ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 أَوَلًا : نُـحُــدِّدْ الـمُــخْــرَجَـــات</a:t>
            </a:r>
            <a:endParaRPr lang="fr-FR" sz="36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0" name="Espace réservé du contenu 21"/>
          <p:cNvSpPr txBox="1">
            <a:spLocks/>
          </p:cNvSpPr>
          <p:nvPr/>
        </p:nvSpPr>
        <p:spPr>
          <a:xfrm>
            <a:off x="6510322" y="3572834"/>
            <a:ext cx="4896544" cy="2783519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None/>
            </a:pPr>
            <a:r>
              <a:rPr lang="ar-DZ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ثــانِــيًــا : نُـحَــلِّــلَ الـمُـخْــرَجَــات جَــيِــدًا لِــفَـهْــمِــهَــا </a:t>
            </a:r>
            <a:endParaRPr lang="fr-FR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12" name="Espace réservé du contenu 21"/>
          <p:cNvSpPr txBox="1">
            <a:spLocks/>
          </p:cNvSpPr>
          <p:nvPr/>
        </p:nvSpPr>
        <p:spPr>
          <a:xfrm>
            <a:off x="4295800" y="4939046"/>
            <a:ext cx="2808312" cy="1411254"/>
          </a:xfrm>
          <a:prstGeom prst="cloud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rtl="1">
              <a:buFont typeface="Arial" pitchFamily="34" charset="0"/>
              <a:buNone/>
            </a:pPr>
            <a:r>
              <a:rPr lang="fr-FR" sz="3600" b="1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 = 275</a:t>
            </a:r>
            <a:endParaRPr lang="fr-FR" sz="36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922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10" grpId="0" animBg="1"/>
      <p:bldP spid="12" grpId="0" animBg="1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8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ب- الـهــدف مــن </a:t>
            </a:r>
            <a:r>
              <a:rPr lang="ar-SA" sz="4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الـمُــخــطَّــط </a:t>
            </a:r>
            <a:r>
              <a:rPr lang="ar-SA" sz="4400" b="1" dirty="0">
                <a:solidFill>
                  <a:srgbClr val="0070C0"/>
                </a:solidFill>
                <a:cs typeface="Times New Roman" panose="02020603050405020304" pitchFamily="18" charset="0"/>
              </a:rPr>
              <a:t>الانــســيــ</a:t>
            </a:r>
            <a:r>
              <a:rPr lang="ar-DZ" sz="4400" b="1" dirty="0">
                <a:solidFill>
                  <a:srgbClr val="0070C0"/>
                </a:solidFill>
                <a:cs typeface="Times New Roman" panose="02020603050405020304" pitchFamily="18" charset="0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ابـي</a:t>
            </a:r>
            <a:r>
              <a:rPr lang="ar-DZ" sz="4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 هــو :</a:t>
            </a: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3122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8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ب- الـهــدف مــن </a:t>
            </a:r>
            <a:r>
              <a:rPr lang="ar-SA" sz="4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الـمُــخــطَّــط </a:t>
            </a:r>
            <a:r>
              <a:rPr lang="ar-SA" sz="4400" b="1" dirty="0">
                <a:solidFill>
                  <a:srgbClr val="0070C0"/>
                </a:solidFill>
                <a:cs typeface="Times New Roman" panose="02020603050405020304" pitchFamily="18" charset="0"/>
              </a:rPr>
              <a:t>الانــســيــ</a:t>
            </a:r>
            <a:r>
              <a:rPr lang="ar-DZ" sz="4400" b="1" dirty="0">
                <a:solidFill>
                  <a:srgbClr val="0070C0"/>
                </a:solidFill>
                <a:cs typeface="Times New Roman" panose="02020603050405020304" pitchFamily="18" charset="0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ابـي</a:t>
            </a:r>
            <a:r>
              <a:rPr lang="ar-DZ" sz="4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 هــو :</a:t>
            </a: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</a:t>
            </a:r>
            <a:endParaRPr lang="fr-FR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28" y="305762"/>
            <a:ext cx="8316000" cy="604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031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. تــطــبـــيـــقـــات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dirty="0" smtClean="0">
                <a:cs typeface="+mj-cs"/>
              </a:rPr>
              <a:t>تَــتَــبَّـعْ </a:t>
            </a:r>
            <a:r>
              <a:rPr lang="ar-SA" sz="4000" b="1" dirty="0">
                <a:cs typeface="+mj-cs"/>
              </a:rPr>
              <a:t>سَــيْــرَ الـمُــخــطَّــط الانــســيــ</a:t>
            </a:r>
            <a:r>
              <a:rPr lang="ar-DZ" sz="4000" b="1" dirty="0">
                <a:cs typeface="+mj-cs"/>
              </a:rPr>
              <a:t>ـ</a:t>
            </a:r>
            <a:r>
              <a:rPr lang="ar-SA" sz="4000" b="1" dirty="0">
                <a:cs typeface="+mj-cs"/>
              </a:rPr>
              <a:t>ابـي الــتــالـي </a:t>
            </a:r>
            <a:r>
              <a:rPr lang="ar-SA" sz="4000" b="1" u="sng" dirty="0">
                <a:cs typeface="+mj-cs"/>
              </a:rPr>
              <a:t>بِــشَــرْحِ كُــلِّ خُــطْــوَةٍ</a:t>
            </a:r>
            <a:r>
              <a:rPr lang="ar-SA" sz="4000" b="1" dirty="0">
                <a:cs typeface="+mj-cs"/>
              </a:rPr>
              <a:t> مِـنْ خُــطُــوَاتِـ</a:t>
            </a:r>
            <a:r>
              <a:rPr lang="ar-DZ" sz="4000" b="1" dirty="0">
                <a:cs typeface="+mj-cs"/>
              </a:rPr>
              <a:t>ـ</a:t>
            </a:r>
            <a:r>
              <a:rPr lang="ar-SA" sz="4000" b="1" dirty="0">
                <a:cs typeface="+mj-cs"/>
              </a:rPr>
              <a:t>ه، ثُــمَ </a:t>
            </a:r>
            <a:r>
              <a:rPr lang="ar-SA" sz="4000" b="1" u="sng" dirty="0">
                <a:cs typeface="+mj-cs"/>
              </a:rPr>
              <a:t>حَـــدِّد الـهـــدف</a:t>
            </a:r>
            <a:r>
              <a:rPr lang="ar-SA" sz="4000" b="1" dirty="0">
                <a:cs typeface="+mj-cs"/>
              </a:rPr>
              <a:t> الــمَــرْجُـــوِ مِــنْـهُ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fr-FR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lnSpc>
                <a:spcPct val="150000"/>
              </a:lnSpc>
              <a:buNone/>
            </a:pPr>
            <a:r>
              <a:rPr lang="ar-DZ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(</a:t>
            </a:r>
            <a:r>
              <a:rPr lang="ar-DZ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+mj-cs"/>
              </a:rPr>
              <a:t> </a:t>
            </a:r>
            <a:r>
              <a:rPr lang="ar-DZ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واجــب مــنــزلـي 2  يُــسَــلِّــمُــهُ الـطَــالِــبُ فــي ورقــة مــزْدَوَجَــة </a:t>
            </a: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)</a:t>
            </a:r>
            <a:endParaRPr lang="ar-DZ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واجــب مــنــزلـي 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13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2389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. تــطــبـــيـــقـــات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dirty="0" smtClean="0">
                <a:cs typeface="+mj-cs"/>
              </a:rPr>
              <a:t>تَــتَــبَّـعْ </a:t>
            </a:r>
            <a:r>
              <a:rPr lang="ar-SA" sz="4000" b="1" dirty="0">
                <a:cs typeface="+mj-cs"/>
              </a:rPr>
              <a:t>سَــيْــرَ الـمُــخــطَّــط الانــســيــ</a:t>
            </a:r>
            <a:r>
              <a:rPr lang="ar-DZ" sz="4000" b="1" dirty="0">
                <a:cs typeface="+mj-cs"/>
              </a:rPr>
              <a:t>ـ</a:t>
            </a:r>
            <a:r>
              <a:rPr lang="ar-SA" sz="4000" b="1" dirty="0">
                <a:cs typeface="+mj-cs"/>
              </a:rPr>
              <a:t>ابـي الــتــالـي </a:t>
            </a:r>
            <a:r>
              <a:rPr lang="ar-SA" sz="4000" b="1" u="sng" dirty="0">
                <a:cs typeface="+mj-cs"/>
              </a:rPr>
              <a:t>بِــشَــرْحِ كُــلِّ خُــطْــوَةٍ</a:t>
            </a:r>
            <a:r>
              <a:rPr lang="ar-SA" sz="4000" b="1" dirty="0">
                <a:cs typeface="+mj-cs"/>
              </a:rPr>
              <a:t> مِـنْ خُــطُــوَاتِـ</a:t>
            </a:r>
            <a:r>
              <a:rPr lang="ar-DZ" sz="4000" b="1" dirty="0">
                <a:cs typeface="+mj-cs"/>
              </a:rPr>
              <a:t>ـ</a:t>
            </a:r>
            <a:r>
              <a:rPr lang="ar-SA" sz="4000" b="1" dirty="0">
                <a:cs typeface="+mj-cs"/>
              </a:rPr>
              <a:t>ه، ثُــمَ </a:t>
            </a:r>
            <a:r>
              <a:rPr lang="ar-SA" sz="4000" b="1" u="sng" dirty="0">
                <a:cs typeface="+mj-cs"/>
              </a:rPr>
              <a:t>حَـــدِّد الـهـــدف</a:t>
            </a:r>
            <a:r>
              <a:rPr lang="ar-SA" sz="4000" b="1" dirty="0">
                <a:cs typeface="+mj-cs"/>
              </a:rPr>
              <a:t> الــمَــرْجُـــوِ مِــنْـهُ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fr-FR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lnSpc>
                <a:spcPct val="150000"/>
              </a:lnSpc>
              <a:buNone/>
            </a:pPr>
            <a:r>
              <a:rPr lang="ar-DZ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(</a:t>
            </a:r>
            <a:r>
              <a:rPr lang="ar-DZ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+mj-cs"/>
              </a:rPr>
              <a:t> </a:t>
            </a:r>
            <a:r>
              <a:rPr lang="ar-DZ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واجــب مــنــزلـي 2  يُــسَــلِّــمُــهُ الـطَــالِــبُ فــي ورقــة مــزْدَوَجَــة </a:t>
            </a: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)</a:t>
            </a:r>
            <a:endParaRPr lang="ar-DZ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واجــب مــنــزلـي 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13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663" y="301934"/>
            <a:ext cx="6336000" cy="6064317"/>
          </a:xfrm>
          <a:prstGeom prst="rect">
            <a:avLst/>
          </a:prstGeom>
          <a:ln w="19050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987394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. تــطــبـــيـــقـــات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dirty="0" smtClean="0">
                <a:cs typeface="+mj-cs"/>
              </a:rPr>
              <a:t>تَــتَــبَّـعْ </a:t>
            </a:r>
            <a:r>
              <a:rPr lang="ar-SA" sz="4000" b="1" dirty="0">
                <a:cs typeface="+mj-cs"/>
              </a:rPr>
              <a:t>سَــيْــرَ الـمُــخــطَّــط الانــســيــ</a:t>
            </a:r>
            <a:r>
              <a:rPr lang="ar-DZ" sz="4000" b="1" dirty="0">
                <a:cs typeface="+mj-cs"/>
              </a:rPr>
              <a:t>ـ</a:t>
            </a:r>
            <a:r>
              <a:rPr lang="ar-SA" sz="4000" b="1" dirty="0">
                <a:cs typeface="+mj-cs"/>
              </a:rPr>
              <a:t>ابـي الــتــالـي </a:t>
            </a:r>
            <a:r>
              <a:rPr lang="ar-SA" sz="4000" b="1" u="sng" dirty="0">
                <a:cs typeface="+mj-cs"/>
              </a:rPr>
              <a:t>بِــشَــرْحِ كُــلِّ خُــطْــوَةٍ</a:t>
            </a:r>
            <a:r>
              <a:rPr lang="ar-SA" sz="4000" b="1" dirty="0">
                <a:cs typeface="+mj-cs"/>
              </a:rPr>
              <a:t> مِـنْ خُــطُــوَاتِـ</a:t>
            </a:r>
            <a:r>
              <a:rPr lang="ar-DZ" sz="4000" b="1" dirty="0">
                <a:cs typeface="+mj-cs"/>
              </a:rPr>
              <a:t>ـ</a:t>
            </a:r>
            <a:r>
              <a:rPr lang="ar-SA" sz="4000" b="1" dirty="0">
                <a:cs typeface="+mj-cs"/>
              </a:rPr>
              <a:t>ه، ثُــمَ </a:t>
            </a:r>
            <a:r>
              <a:rPr lang="ar-SA" sz="4000" b="1" u="sng" dirty="0">
                <a:cs typeface="+mj-cs"/>
              </a:rPr>
              <a:t>حَـــدِّد الـهـــدف</a:t>
            </a:r>
            <a:r>
              <a:rPr lang="ar-SA" sz="4000" b="1" dirty="0">
                <a:cs typeface="+mj-cs"/>
              </a:rPr>
              <a:t> الــمَــرْجُـــوِ مِــنْـهُ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fr-FR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lnSpc>
                <a:spcPct val="150000"/>
              </a:lnSpc>
              <a:buNone/>
            </a:pPr>
            <a:r>
              <a:rPr lang="ar-DZ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(</a:t>
            </a:r>
            <a:r>
              <a:rPr lang="ar-DZ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+mj-cs"/>
              </a:rPr>
              <a:t> </a:t>
            </a:r>
            <a:r>
              <a:rPr lang="ar-DZ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واجــب مــنــزلـي </a:t>
            </a:r>
            <a:r>
              <a:rPr lang="ar-DZ" sz="36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3  </a:t>
            </a:r>
            <a:r>
              <a:rPr lang="ar-DZ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يُــسَــلِّــمُــهُ الـطَــالِــبُ فــي ورقــة مــزْدَوَجَــة </a:t>
            </a: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)</a:t>
            </a:r>
            <a:endParaRPr lang="ar-DZ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واجــب مــنــزلـي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3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87271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5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. تــطــبـــيـــقـــات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dirty="0" smtClean="0">
                <a:cs typeface="+mj-cs"/>
              </a:rPr>
              <a:t>تَــتَــبَّـعْ </a:t>
            </a:r>
            <a:r>
              <a:rPr lang="ar-SA" sz="4000" b="1" dirty="0">
                <a:cs typeface="+mj-cs"/>
              </a:rPr>
              <a:t>سَــيْــرَ الـمُــخــطَّــط الانــســيــ</a:t>
            </a:r>
            <a:r>
              <a:rPr lang="ar-DZ" sz="4000" b="1" dirty="0">
                <a:cs typeface="+mj-cs"/>
              </a:rPr>
              <a:t>ـ</a:t>
            </a:r>
            <a:r>
              <a:rPr lang="ar-SA" sz="4000" b="1" dirty="0">
                <a:cs typeface="+mj-cs"/>
              </a:rPr>
              <a:t>ابـي الــتــالـي </a:t>
            </a:r>
            <a:r>
              <a:rPr lang="ar-SA" sz="4000" b="1" u="sng" dirty="0">
                <a:cs typeface="+mj-cs"/>
              </a:rPr>
              <a:t>بِــشَــرْحِ كُــلِّ خُــطْــوَةٍ</a:t>
            </a:r>
            <a:r>
              <a:rPr lang="ar-SA" sz="4000" b="1" dirty="0">
                <a:cs typeface="+mj-cs"/>
              </a:rPr>
              <a:t> مِـنْ خُــطُــوَاتِـ</a:t>
            </a:r>
            <a:r>
              <a:rPr lang="ar-DZ" sz="4000" b="1" dirty="0">
                <a:cs typeface="+mj-cs"/>
              </a:rPr>
              <a:t>ـ</a:t>
            </a:r>
            <a:r>
              <a:rPr lang="ar-SA" sz="4000" b="1" dirty="0">
                <a:cs typeface="+mj-cs"/>
              </a:rPr>
              <a:t>ه، ثُــمَ </a:t>
            </a:r>
            <a:r>
              <a:rPr lang="ar-SA" sz="4000" b="1" u="sng" dirty="0">
                <a:cs typeface="+mj-cs"/>
              </a:rPr>
              <a:t>حَـــدِّد الـهـــدف</a:t>
            </a:r>
            <a:r>
              <a:rPr lang="ar-SA" sz="4000" b="1" dirty="0">
                <a:cs typeface="+mj-cs"/>
              </a:rPr>
              <a:t> الــمَــرْجُـــوِ مِــنْـهُ </a:t>
            </a:r>
            <a:r>
              <a:rPr lang="ar-DZ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  <a:endParaRPr lang="fr-FR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0" indent="0" algn="ctr" rtl="1">
              <a:lnSpc>
                <a:spcPct val="150000"/>
              </a:lnSpc>
              <a:buNone/>
            </a:pPr>
            <a:r>
              <a:rPr lang="ar-DZ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(</a:t>
            </a:r>
            <a:r>
              <a:rPr lang="ar-DZ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+mj-cs"/>
              </a:rPr>
              <a:t> </a:t>
            </a:r>
            <a:r>
              <a:rPr lang="ar-DZ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واجــب مــنــزلـي </a:t>
            </a:r>
            <a:r>
              <a:rPr lang="ar-DZ" sz="3600" b="1" u="sng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3  </a:t>
            </a:r>
            <a:r>
              <a:rPr lang="ar-DZ" sz="3600" b="1" u="sng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يُــسَــلِّــمُــهُ الـطَــالِــبُ فــي ورقــة مــزْدَوَجَــة </a:t>
            </a: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iberation Serif"/>
                <a:ea typeface="Droid Sans Fallback"/>
                <a:cs typeface="+mj-cs"/>
              </a:rPr>
              <a:t>)</a:t>
            </a:r>
            <a:endParaRPr lang="ar-DZ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واجــب مــنــزلـي 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3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14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0961" y="302762"/>
            <a:ext cx="6372000" cy="6045231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4217876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04/01/2026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60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8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83" y="38140"/>
            <a:ext cx="7992000" cy="634270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042" y="307338"/>
            <a:ext cx="8316000" cy="604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22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8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83" y="38140"/>
            <a:ext cx="7992000" cy="6342700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94" y="292858"/>
            <a:ext cx="8424000" cy="605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917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تـطــبــيــق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8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(  نــشــاط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12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indent="0" algn="just" rtl="1">
              <a:buNone/>
            </a:pPr>
            <a:r>
              <a:rPr lang="ar-DZ" sz="4000" b="1" u="sng" dirty="0" smtClean="0">
                <a:solidFill>
                  <a:srgbClr val="002060"/>
                </a:solidFill>
                <a:cs typeface="+mj-cs"/>
              </a:rPr>
              <a:t>الـهــدف مـن الـمُـخَــطَّـط الاِنْـسِــيَـــابِـي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  <a:endParaRPr lang="ar-DZ" sz="4000" baseline="-25000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04/01/2026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083" y="38140"/>
            <a:ext cx="7992000" cy="63427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79376" y="2348880"/>
            <a:ext cx="10945216" cy="244827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lnSpc>
                <a:spcPct val="150000"/>
              </a:lnSpc>
              <a:tabLst>
                <a:tab pos="357188" algn="l"/>
              </a:tabLst>
            </a:pP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حــســاب مــجــمــوع مــضــاعــفــات الـعــدد 5 الأصــغــر مــن  55  :</a:t>
            </a:r>
          </a:p>
          <a:p>
            <a:pPr algn="ctr" rtl="1">
              <a:tabLst>
                <a:tab pos="357188" algn="l"/>
              </a:tabLst>
            </a:pP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ar-DZ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 </a:t>
            </a:r>
            <a:r>
              <a:rPr lang="ar-DZ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15 </a:t>
            </a:r>
            <a:r>
              <a:rPr lang="ar-DZ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..... </a:t>
            </a:r>
            <a:r>
              <a:rPr lang="ar-DZ" sz="3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ar-DZ" sz="38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r>
              <a:rPr lang="ar-DZ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endParaRPr lang="fr-FR" sz="3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3142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1" grpId="0" animBg="1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27794</TotalTime>
  <Words>6884</Words>
  <Application>Microsoft Office PowerPoint</Application>
  <PresentationFormat>Grand écran</PresentationFormat>
  <Paragraphs>1726</Paragraphs>
  <Slides>216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12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216</vt:i4>
      </vt:variant>
    </vt:vector>
  </HeadingPairs>
  <TitlesOfParts>
    <vt:vector size="230" baseType="lpstr">
      <vt:lpstr>Arial Unicode MS</vt:lpstr>
      <vt:lpstr>宋体</vt:lpstr>
      <vt:lpstr>宋体</vt:lpstr>
      <vt:lpstr>Arial</vt:lpstr>
      <vt:lpstr>Calibri</vt:lpstr>
      <vt:lpstr>Droid Sans Fallback</vt:lpstr>
      <vt:lpstr>FreeSans</vt:lpstr>
      <vt:lpstr>Liberation Serif</vt:lpstr>
      <vt:lpstr>Sakkal Majalla</vt:lpstr>
      <vt:lpstr>Symbol</vt:lpstr>
      <vt:lpstr>Times New Roman</vt:lpstr>
      <vt:lpstr>Wingdings</vt:lpstr>
      <vt:lpstr>Thème Office</vt:lpstr>
      <vt:lpstr>Modèle par défaut</vt:lpstr>
      <vt:lpstr>Présentation PowerPoint</vt:lpstr>
      <vt:lpstr>Présentation PowerPoint</vt:lpstr>
      <vt:lpstr>1. مـفــهـــوم الــبَــرْمَـــجَــة </vt:lpstr>
      <vt:lpstr>أتـذكـر ( 1.1  تـعـــريــف الــبَـرْمَـــجَــة )</vt:lpstr>
      <vt:lpstr>أتـذكـر ( 1.1  تـعـــريــف الــبَـرْمَـــجَــة )</vt:lpstr>
      <vt:lpstr>أتـذكـر ( 1.1  تـعـــريــف الــبَـرْمَـــجَــة )</vt:lpstr>
      <vt:lpstr>أتـذكـر ( 1.1  تـعـــريــف الــبَـرْمَـــجَــة )</vt:lpstr>
      <vt:lpstr>أتـذكـر ( 1.1  تـعـــريــف الــبَـرْمَـــجَــة )</vt:lpstr>
      <vt:lpstr>1. مـفــهـــوم الــبَــرْمَـــجَــة </vt:lpstr>
      <vt:lpstr>نَـشَــاط 5 : الـمــكــونــات الـداخــلــيــة  (Unité Centrale  )</vt:lpstr>
      <vt:lpstr>أتـذكـر ( 2.1  تـعـــريــف الــبَـــرْمَـــجِـــيَـــة )</vt:lpstr>
      <vt:lpstr>أتـذكـر ( 2.1  تـعـــريــف الــبَـــرْمَـــجِـــيَـــة )</vt:lpstr>
      <vt:lpstr>أتـذكـر ( 2.1  تـعـــريــف الــبَـــرْمَـــجِـــيَـــة )</vt:lpstr>
      <vt:lpstr>أتـذكـر ( 2.1  تـعـــريــف الــبَـــرْمَـــجِـــيَـــة )</vt:lpstr>
      <vt:lpstr>2. مـفــهـــوم الـمــشــكــلــة  Problème </vt:lpstr>
      <vt:lpstr>أتـذكـر ( 1.2  تـعـــريــف الـمــشــكــلــة )</vt:lpstr>
      <vt:lpstr>أتـذكـر ( 1.2  تـعـــريــف الـمــشــكــلــة )</vt:lpstr>
      <vt:lpstr>أتـذكـر ( 1.2  تـعـــريــف الـمــشــكــلــة )</vt:lpstr>
      <vt:lpstr>أتـذكـر ( 1.2  تـعـــريــف الـمــشــكــلــة )</vt:lpstr>
      <vt:lpstr>أتـذكـر ( 1.2  تـعـــريــف الـمــشــكــلــة )</vt:lpstr>
      <vt:lpstr>أتـذكـر ( 1.2  تـعـــريــف الـمــشــكــلــة )</vt:lpstr>
      <vt:lpstr>أتـذكـر ( 1.2  تـعـــريــف الـمــشــكــلــة )</vt:lpstr>
      <vt:lpstr>أتـذكـر ( 1.2  تـعـــريــف الـمــشــكــلــة – تـــابــع )</vt:lpstr>
      <vt:lpstr>أتـذكـر ( 1.2  تـعـــريــف الـمــشــكــلــة – تـــابــع )</vt:lpstr>
      <vt:lpstr>أتـذكـر ( 1.2  تـعـــريــف الـمــشــكــلــة – تـــابــع )</vt:lpstr>
      <vt:lpstr>2. مـفــهـــوم الـمــشــكــلــة  Problème </vt:lpstr>
      <vt:lpstr>أتـذكـر ( 2.2  صــيـــاغــة حـــل  مــشــكــلــة )</vt:lpstr>
      <vt:lpstr>أتـذكـر ( 2.2  صــيـــاغــة حـــل  مــشــكــلــة )</vt:lpstr>
      <vt:lpstr>أتـذكـر (  فــهــم الـســؤال نـصـف الـجــواب - الـفــهــم الـدقــيــق )</vt:lpstr>
      <vt:lpstr>أتـذكـر (  فــهــم الـســؤال نـصـف الـجــواب - الـفــهــم الـدقــيــق )</vt:lpstr>
      <vt:lpstr>أتـذكـر (  فــهــم الـســؤال نـصـف الـجــواب - الـفــهــم الـدقــيــق )</vt:lpstr>
      <vt:lpstr>أتـذكـر (  فـهـم الـســؤال نـصـف الـجــواب - الـفــهــم الــشــامــل )</vt:lpstr>
      <vt:lpstr>أتـذكـر (  فـهـم الـســؤال نـصـف الـجــواب - الـفــهــم الــشــامــل )</vt:lpstr>
      <vt:lpstr>أتـذكـر (  فـهـم الـســؤال نـصـف الـجــواب - الـفــهــم الــشــامــل )</vt:lpstr>
      <vt:lpstr>أتـذكـر (  فـهـم الـســؤال نـصـف الـجــواب - الـفــهــم الــشــامــل )</vt:lpstr>
      <vt:lpstr>أتـذكـر ( شـــرح فــهــم الـســـؤال نــصــف الـجــواب )</vt:lpstr>
      <vt:lpstr>أتـذكـر ( شــرح فــهــم الـســـؤال نــصــف الـجــواب  –  تـــابــع )</vt:lpstr>
      <vt:lpstr>أتـذكـر ( 2.2 صــيـــاغــة حـــل  الـمــشــكــلــة – تـــابــع )</vt:lpstr>
      <vt:lpstr>أتـذكـر ( 2.2 صــيـــاغــة حـــل  الـمــشــكــلــة – تـــابــع )</vt:lpstr>
      <vt:lpstr>أتـذكـر ( 2.2 صــيـــاغــة حـــل  الـمــشــكــلــة – تـــابــع )</vt:lpstr>
      <vt:lpstr>أتـذكـر ( 2.2 صــيـــاغــة حـــل  الـمــشــكــلــة – تـــابــع )</vt:lpstr>
      <vt:lpstr>أتـذكـر ( 2.2 صــيـــاغــة حـــل  الـمــشــكــلــة – تـــابــع )</vt:lpstr>
      <vt:lpstr>أتـذكـر ( 2.2 صــيــاغــة حــل  الـمــشــكــلــة – الــمُــدْخَـــلاَت )</vt:lpstr>
      <vt:lpstr>أتـذكـر ( 2.2 صــيـــاغــة حـــل  الـمــشــكــلــة – تـــابــع )</vt:lpstr>
      <vt:lpstr>أتـذكـر ( 2.2 صــيـــاغــة حـــل  الـمــشــكــلــة – تـــابــع )</vt:lpstr>
      <vt:lpstr>أتـذكـر ( 2.2 صــيـــاغــة حـــل  الـمــشــكــلــة – تـــابــع )</vt:lpstr>
      <vt:lpstr>أتـذكـر ( 2.2 صــيـــاغــة حـــل  الـمــشــكــلــة – تـــابــع )</vt:lpstr>
      <vt:lpstr>أتـذكـر ( 2.2 صــيـــاغــة حـــل  الـمــشــكــلــة – تـــابــع )</vt:lpstr>
      <vt:lpstr>أتـذكـر ( 2.2 صــيـــاغــة حـــل  الـمــشــكــلــة – تـــابــع )</vt:lpstr>
      <vt:lpstr>أتـذكـر ( 2.2 صــيـــاغــة حـــل  الـمــشــكــلــة – تـــابــع )</vt:lpstr>
      <vt:lpstr> تَــــــــــوَافُــــــــقُ  الــــعَــــــــتَــــــــــــــادِ  Hardware والـــــبَــــــــــــــَرامـِـــــــــــج  Software</vt:lpstr>
      <vt:lpstr>Présentation PowerPoint</vt:lpstr>
      <vt:lpstr>الإشــكــالــيــة :</vt:lpstr>
      <vt:lpstr>الإجــابــة :</vt:lpstr>
      <vt:lpstr>أتـذكـر ( 2.2 صــيـــاغــة حـــل  الـمــشــكــلــة – تـــابــع )</vt:lpstr>
      <vt:lpstr>الإجــابــة :</vt:lpstr>
      <vt:lpstr>الإجــابــة :</vt:lpstr>
      <vt:lpstr>الإجــابــة :</vt:lpstr>
      <vt:lpstr>الإجــابــة :</vt:lpstr>
      <vt:lpstr>الإجــابــة :</vt:lpstr>
      <vt:lpstr>Présentation PowerPoint</vt:lpstr>
      <vt:lpstr>1. تـعــريــف الـمُــخَــطَّــط الانــســـيـــابـي</vt:lpstr>
      <vt:lpstr>صــيــاغــة حــل الــمــســألــة : a X + b = 0     ( a  0 ) </vt:lpstr>
      <vt:lpstr>ســـؤال : مــمــا يــتــألــف الــمُــخَــطَّــط الانــســـيـــابـي ؟</vt:lpstr>
      <vt:lpstr>ســـؤال : مــمــا يــتــألــف الــمُــخَــطَّــط الانــســـيـــابـي ؟</vt:lpstr>
      <vt:lpstr>ســؤال : مــاذا تـحــتــوي هــذه الأشــكــال الـمــوجــودة في الــمُـخَـطَّــط ؟</vt:lpstr>
      <vt:lpstr>صــيــاغــة حــل الــمــســألــة : a X + b = 0     ( a  0 ) </vt:lpstr>
      <vt:lpstr>ســؤال : مــاذا تـحــتــوي هــذه الأشــكــال الـمــوجــودة في الــمُـخَـطَّــط ؟</vt:lpstr>
      <vt:lpstr>أتـذكـر ( 1. تـعــريـف الـمُــخــطَّــط الانــســيـــابـي )</vt:lpstr>
      <vt:lpstr>أتـذكـر ( 1. تـعــريـف الـمُــخــطَّــط الانــســيـــابـي )</vt:lpstr>
      <vt:lpstr>أتـذكـر ( 1. تـعــريـف الـمُــخــطَّــط الانــســيـــابـي )</vt:lpstr>
      <vt:lpstr>أتـذكـر ( 1. تـعــريـف الـمُــخــطَّــط الانــســيـــابـي )</vt:lpstr>
      <vt:lpstr>ســؤال : مــا هـي الـغــايــة مـن اســتــعــمـال الأسـهـم فـي الـمـخــطــط ؟</vt:lpstr>
      <vt:lpstr>ســؤال : مــا هـي الـغــايــة مـن اســتــعــمـال الأسـهـم فـي الـمـخــطــط ؟</vt:lpstr>
      <vt:lpstr>أتـذكـر ( 1. تـعــريـف الـمُــخــطَّــط الانــســيـــابـي )</vt:lpstr>
      <vt:lpstr>أتـذكـر ( 1. تـعــريـف الـمُــخــطَّــط الانــســيـــابـي )</vt:lpstr>
      <vt:lpstr>ســؤال : هــل حــل هــذه الـمــســألــة  :  a X + b = 0  صـحــيــحًــا ؟</vt:lpstr>
      <vt:lpstr>ســؤال : هــل حــل هــذه الـمــســألــة  :  a X + b = 0  صـحــيــحًــا ؟</vt:lpstr>
      <vt:lpstr>ســؤال : هــل حــل هــذه الـمــســألــة : a X + b = 0  حَـــلًا شَــامِــلًا ؟</vt:lpstr>
      <vt:lpstr>ســؤال : هــل حــل هــذه الـمــســألــة : a X + b = 0  حَـــلًا شَــامِــلًا ؟</vt:lpstr>
      <vt:lpstr>ســؤال : هــل حــل الـمـســألــة : a X + b = 0 ( a  0 ) صـحـيـحـا وشـامـلا ؟</vt:lpstr>
      <vt:lpstr>أتـذكـر ( 1. تـعــريـف الـمُــخــطَّــط الانــســيـــابـي )</vt:lpstr>
      <vt:lpstr>أتـذكـر ( 1. تـعــريـف الـمُــخــطَّــط الانــســيـــابـي )</vt:lpstr>
      <vt:lpstr>2. إنــشـــاء الـمُــخَــطَّــط الانــســـيـــابـي</vt:lpstr>
      <vt:lpstr>أتـذكـر ( 2. إنــشـــاء الـمُــخــطَّــط الانــســيـــابـي )</vt:lpstr>
      <vt:lpstr>أتـذكـر ( 2. إنــشـــاء الـمُــخــطَّــط الانــســيـــابـي )</vt:lpstr>
      <vt:lpstr>أتـذكـر ( 2. إنــشـــاء الـمُــخــطَّــط الانــســيـــابـي )</vt:lpstr>
      <vt:lpstr>1.2 تـحــلــيــل الـمــســـألــة وتـحــديـــد عـــنـــاصــرهــا </vt:lpstr>
      <vt:lpstr>أتـذكـر ( 1.2 تَـحْــلِــيــلُ الـمَــسْــأَلَــةِ وَتَـحْــدِيـــدِ عَـــنَــاصِــرِهَــا )</vt:lpstr>
      <vt:lpstr>أتـذكـر ( 1.2 تَـحْــلِــيــلُ الـمَــسْــأَلَــةِ وَتَـحْــدِيـــدِ عَـــنَــاصِــرِهَــا )</vt:lpstr>
      <vt:lpstr>أتـذكـر ( 1.2 تَـحْــلِــيــلُ الـمَــسْــأَلَــةِ وَتَـحْــدِيـــدِ عَـــنَــاصِــرِهَــا )</vt:lpstr>
      <vt:lpstr>أتـذكـر ( 1.2 تَـحْــلِــيــلُ الـمَــسْــأَلَــةِ وَتَـحْــدِيـــدِ عَـــنَــاصِــرِهَــا )</vt:lpstr>
      <vt:lpstr>أتـذكـر ( 1.2 تَـحْــلِــيــلُ الـمَــسْــأَلَــةِ وَتَـحْــدِيـــدِ عَـــنَــاصِــرِهَــا )</vt:lpstr>
      <vt:lpstr>أتـذكـر ( 1.2 تَـحْــلِــيــلُ الـمَــسْــأَلَــةِ وَتَـحْــدِيـــدِ عَـــنَــاصِــرِهَــا )</vt:lpstr>
      <vt:lpstr>أتـذكـر ( 1.2 تَـحْــلِــيــلُ الـمَــسْــأَلَــةِ وَتَـحْــدِيـــدِ عَـــنَــاصِــرِهَــا )</vt:lpstr>
      <vt:lpstr>أتـذكـر ( 1.2 تَـحْــلِــيــلُ الـمَــسْــأَلَــةِ وَتَـحْــدِيـــدِ عَـــنَــاصِــرِهَــا )</vt:lpstr>
      <vt:lpstr>أتـذكـر ( 1.2 تَـحْــلِــيــلُ الـمَــسْــأَلَــةِ وَتَـحْــدِيـــدِ عَـــنَــاصِــرِهَــا )</vt:lpstr>
      <vt:lpstr>2.2 -  مُــكَــوِنَـــات الــمُــخَــطَّــط الاِنْــسِـــيَـــابِـي</vt:lpstr>
      <vt:lpstr>2.2 -  مُــكَــوِنَـــات الــمُــخَــطَّــط الاِنْــسِـــيَـــابِـي</vt:lpstr>
      <vt:lpstr>سـؤال : كـيـف يــتـمُ تــمــثــيــل بــدايــة / نـهــايــة الـمـخـطـط بَــيَــانِــيًــا ؟</vt:lpstr>
      <vt:lpstr>سـؤال : كـيـف يــتـمُ تــمــثــيــل بــدايــة / نـهــايــة الـمـخـطـط بَــيَــانِــيًــا ؟</vt:lpstr>
      <vt:lpstr>أتـذكـر ( 2.2 مُــكَــوِنَـــات الــمُــخَــطَّــط الاِنْــسِـــيَـــابِـي )</vt:lpstr>
      <vt:lpstr>أتـذكـر ( 2.2 مُــكَــوِنَـــات الــمُــخَــطَّــط الاِنْــسِـــيَـــابِـي )</vt:lpstr>
      <vt:lpstr>ســؤال : كـيـف يــتـمُ تــمــثــيــل الـمُــدْخَــلَاتِ والـمُـخْــرَجَــاتِ بَــيَــانِـيًـا ؟</vt:lpstr>
      <vt:lpstr>سـؤال : كـيـف يــتـمُ تــمــثــيــل الـمُــدْخَــلَاتِ والـمُـخْــرَجَــاتِ بَــيَــانِـيًـا ؟</vt:lpstr>
      <vt:lpstr>سـؤال : أيـن يَـكْـمُـن الـفَــرْقَ بــيـن شـكـل الـمُــدْخَــلَات والـمُـخْــرَجَــات ؟</vt:lpstr>
      <vt:lpstr>سـؤال : أيـن يَـكْـمُـن الـفَــرْقَ بــيـن شـكـل الـمُــدْخَــلَات والـمُـخْــرَجَــات ؟</vt:lpstr>
      <vt:lpstr>أتـذكـر ( 1.2 تَـحْــلِــيــلُ الـمَــسْــأَلَــةِ وَتَـحْــدِيـــدِ عَـــنَــاصِــرِهَــا )</vt:lpstr>
      <vt:lpstr>سـؤال : أيـن يَـكْـمُـن الـفَــرْقَ بــيـن شـكـل الـمُــدْخَــلَات والـمُـخْــرَجَــات ؟</vt:lpstr>
      <vt:lpstr>أتـذكـر ( 1.2 تَـحْــلِــيــلُ الـمَــسْــأَلَــةِ وَتَـحْــدِيـــدِ عَـــنَــاصِــرِهَــا )</vt:lpstr>
      <vt:lpstr>سـؤال : أيـن يَـكْـمُـن الـفَــرْقَ بــيـن شـكـل الـمُــدْخَــلَات والـمُـخْــرَجَــات ؟</vt:lpstr>
      <vt:lpstr>سـؤال : أيـن يَـكْـمُـن الـفَــرْقَ بــيـن شـكـل الـمُــدْخَــلَات والـمُـخْــرَجَــات ؟</vt:lpstr>
      <vt:lpstr>أتـذكـر  ( 2.2 مُــكَــوِنَـــات الــمُــخَــطَّــط الاِنْــسِـــيَـــابِـي )</vt:lpstr>
      <vt:lpstr>أتـذكـر  ( 2.2 مُــكَــوِنَـــات الــمُــخَــطَّــط الاِنْــسِـــيَـــابِـي )</vt:lpstr>
      <vt:lpstr>ســؤال : كـيـف يــتـمُ تــمــثــيــل عــمــلــيــاتِ الـمــعــالــجــة بَــيَــانِـيًـا ؟</vt:lpstr>
      <vt:lpstr>ســؤال : كـيـف يــتـمُ تــمــثــيــل عــمــلــيــاتِ الـمــعــالــجــة بَــيَــانِـيًـا ؟</vt:lpstr>
      <vt:lpstr>أتـذكـر  ( 2.2 مُــكَــوِنَـــات الــمُــخَــطَّــط الاِنْــسِـــيَـــابِـي )</vt:lpstr>
      <vt:lpstr>أتـذكـر  ( 2.2 مُــكَــوِنَـــات الــمُــخَــطَّــط الاِنْــسِـــيَـــابِـي )</vt:lpstr>
      <vt:lpstr>أتـذكـر  ( 2.2 مُــكَــوِنَـــات الــمُــخَــطَّــط الاِنْــسِـــيَـــابِـي )</vt:lpstr>
      <vt:lpstr>أتـذكـر  ( 2.2 مُــكَــوِنَـــات الــمُــخَــطَّــط الاِنْــسِـــيَـــابِـي )</vt:lpstr>
      <vt:lpstr>أتـذكـر  ( 2.2 مُــكَــوِنَـــات الــمُــخَــطَّــط الاِنْــسِـــيَـــابِـي )</vt:lpstr>
      <vt:lpstr>أتـذكـر  ( 2.2 مُــكَــوِنَـــات الــمُــخَــطَّــط الاِنْــسِـــيَـــابِـي )</vt:lpstr>
      <vt:lpstr>5. تــطــبـــيـــقـــات </vt:lpstr>
      <vt:lpstr>صــيـــاغـــة حــل الــمـــســـألـــة ( نــشـــاط 5 ) :</vt:lpstr>
      <vt:lpstr>صــيـــاغـــة حــل الــمـــســـألـــة ( نــشـــاط 5 ) :</vt:lpstr>
      <vt:lpstr>صــيـــاغـــة حــل الــمـــســـألـــة ( نــشـــاط 5 ) :</vt:lpstr>
      <vt:lpstr>أتـذكـر ( 2.2 صــيـــاغــة حـــل  الـمــشــكــلــة – تـــابــع )</vt:lpstr>
      <vt:lpstr>أتـذكـر ( 2.2 صــيــاغــة حــل  الـمــشــكــلــة – الــمُــدْخَـــلاَت )</vt:lpstr>
      <vt:lpstr>صــيـــاغـــة حــل الــمـــســـألـــة ( نــشـــاط 5 ) :</vt:lpstr>
      <vt:lpstr>صــيـــاغـــة حــل الــمـــســـألـــة ( نــشـــاط 5 ) :</vt:lpstr>
      <vt:lpstr>أتـذكـر  ( 2.2 مُــكَــوِنَـــات الــمُــخَــطَّــط الاِنْــسِـــيَـــابِـي )</vt:lpstr>
      <vt:lpstr>5. تــطــبـــيـــقـــات </vt:lpstr>
      <vt:lpstr>صــيـــاغـــة حــل الــمـــســـألـــة ( نــشـــاط 6 ) :</vt:lpstr>
      <vt:lpstr>صــيـــاغـــة حــل الــمـــســـألـــة ( نــشـــاط 6 ) :</vt:lpstr>
      <vt:lpstr>صــيـــاغـــة حــل الــمـــســـألـــة ( نــشـــاط 6 ) :</vt:lpstr>
      <vt:lpstr>أتـذكـر ( 2.2 صــيـــاغــة حـــل  الـمــشــكــلــة – تـــابــع )</vt:lpstr>
      <vt:lpstr>أتـذكـر ( 2.2 صــيــاغــة حــل  الـمــشــكــلــة – الــمُــدْخَـــلاَت )</vt:lpstr>
      <vt:lpstr>صــيـــاغـــة حــل الــمـــســـألـــة ( نــشـــاط 6 ) :</vt:lpstr>
      <vt:lpstr>صــيـــاغـــة حــل الــمـــســـألـــة ( نــشـــاط 6 ) :</vt:lpstr>
      <vt:lpstr>أتـذكـر  ( 2.2 مُــكَــوِنَـــات الــمُــخَــطَّــط الاِنْــسِـــيَـــابِـي )</vt:lpstr>
      <vt:lpstr>5. تــطــبـــيـــقـــات </vt:lpstr>
      <vt:lpstr>أتـذكـر ( 2.2 صــيـــاغــة حـــل  الـمــشــكــلــة – تـــابــع )</vt:lpstr>
      <vt:lpstr>أتـذكـر ( 2.2 صــيــاغــة حــل  الـمــشــكــلــة – الــمُــدْخَـــلاَت )</vt:lpstr>
      <vt:lpstr>أتـذكـر  ( 2.2 مُــكَــوِنَـــات الــمُــخَــطَّــط الاِنْــسِـــيَـــابِـي )</vt:lpstr>
      <vt:lpstr>أتـذكـر  ( 2.2 مُــكَــوِنَـــات الــمُــخَــطَّــط الاِنْــسِـــيَـــابِـي )</vt:lpstr>
      <vt:lpstr>5. تــطــبـــيـــقـــات </vt:lpstr>
      <vt:lpstr>أتـذكـر ( 2.2 صــيـــاغــة حـــل  الـمــشــكــلــة – تـــابــع )</vt:lpstr>
      <vt:lpstr>أتـذكـر ( 2.2 صــيــاغــة حــل  الـمــشــكــلــة – الــمُــدْخَـــلاَت )</vt:lpstr>
      <vt:lpstr>أتـذكـر  ( 2.2 مُــكَــوِنَـــات الــمُــخَــطَّــط الاِنْــسِـــيَـــابِـي )</vt:lpstr>
      <vt:lpstr>أتـذكـر  ( 2.2 مُــكَــوِنَـــات الــمُــخَــطَّــط الاِنْــسِـــيَـــابِـي )</vt:lpstr>
      <vt:lpstr>5. تــطــبـــيـــقـــات </vt:lpstr>
      <vt:lpstr>أتـذكـر ( 2.2 صــيـــاغــة حـــل  الـمــشــكــلــة – تـــابــع )</vt:lpstr>
      <vt:lpstr>أتـذكـر ( 2.2 صــيــاغــة حــل  الـمــشــكــلــة – الــمُــدْخَـــلاَت )</vt:lpstr>
      <vt:lpstr>5. تــطــبـــيـــقـــات </vt:lpstr>
      <vt:lpstr>صــيــاغــة حــل الــمــســألــة : a X + b = 0     ( a  0 ) </vt:lpstr>
      <vt:lpstr>الــمُــخَــطَّــط الانــســـيــابـي الـمُــوَافِــق للــمــســألــة : a X + b = 0   ( a  0 )</vt:lpstr>
      <vt:lpstr> لـمـاذا هــذا الــمُـخَــطَّــط الانــســيــابـي لا يُــوَافِــقُ الـمــســألــة : a X + b = 0 ؟</vt:lpstr>
      <vt:lpstr> هــذا الــمُــخَــطَّــط الانــســـيــابـي لا يــوافــق الــمــســألــة : a X + b = 0</vt:lpstr>
      <vt:lpstr>ســؤال : هــل حــل هـــذه الــمــســألــة : a X + b = 0  حَـــلًا شَــامِــلًا ؟</vt:lpstr>
      <vt:lpstr>5. تــطــبـــيـــقـــات ( تـــــابـــع ) </vt:lpstr>
      <vt:lpstr>تـطــبــيــق 7 (  نــشــاط 11 )</vt:lpstr>
      <vt:lpstr>أ - تـتـبع سـيـر الـمـخـطـط الانـسـيـابـي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7 (  نــشــاط 11 )</vt:lpstr>
      <vt:lpstr>تـطــبــيــق 8</vt:lpstr>
      <vt:lpstr>ت 8 (  نــشــاط 12 )</vt:lpstr>
      <vt:lpstr>تـطــبــيــق 8 (  نــشــاط 12 )</vt:lpstr>
      <vt:lpstr>ت 8 (  نــشــاط 12 )</vt:lpstr>
      <vt:lpstr> ت 8 (  نــشــاط 12 )</vt:lpstr>
      <vt:lpstr>تـطــبــيــق 8 (  نــشــاط 11 )</vt:lpstr>
      <vt:lpstr>تـطــبــيــق 8 (  نــشــاط 11 )</vt:lpstr>
      <vt:lpstr>تـطــبــيــق 8 (  نــشــاط 12 )</vt:lpstr>
      <vt:lpstr>تـطــبــيــق 8 (  نــشــاط 12 )</vt:lpstr>
      <vt:lpstr>تـطــبــيــق 8 (  نــشــاط 12 )</vt:lpstr>
      <vt:lpstr>تـطــبــيــق 8 (  نــشــاط 12 )</vt:lpstr>
      <vt:lpstr>تـطــبــيــق 8 (  نــشــاط 12 )</vt:lpstr>
      <vt:lpstr>تـطــبــيــق 8 (  نــشــاط 12 )</vt:lpstr>
      <vt:lpstr>تـطــبــيــق 8 (  نــشــاط 12 )</vt:lpstr>
      <vt:lpstr>تـطــبــيــق 8 (  نــشــاط 12 )</vt:lpstr>
      <vt:lpstr>تـطــبــيــق 8 (  نــشــاط 12 )</vt:lpstr>
      <vt:lpstr>تـطــبــيــق 8 (  نــشــاط 12 )</vt:lpstr>
      <vt:lpstr>تـطــبــيــق 8 (  نــشــاط 12 )</vt:lpstr>
      <vt:lpstr>تـطــبــيــق 8 (  نــشــاط 12 )</vt:lpstr>
      <vt:lpstr>تـطــبــيــق 8 (  نــشــاط 12 )</vt:lpstr>
      <vt:lpstr>تـطــبــيــق 8 (  نــشــاط 12 )</vt:lpstr>
      <vt:lpstr>تـطــبــيــق 8 (  نــشــاط 12 )</vt:lpstr>
      <vt:lpstr>تـطــبــيــق 8 (  نــشــاط 12 )</vt:lpstr>
      <vt:lpstr>5. تــطــبـــيـــقـــات </vt:lpstr>
      <vt:lpstr>5. تــطــبـــيـــقـــات </vt:lpstr>
      <vt:lpstr>5. تــطــبـــيـــقـــات </vt:lpstr>
      <vt:lpstr>5. تــطــبـــيـــقـــات </vt:lpstr>
      <vt:lpstr>Présentation PowerPoint</vt:lpstr>
      <vt:lpstr>تـطــبــيــق 8 (  نــشــاط 12 )</vt:lpstr>
      <vt:lpstr>تـطــبــيــق 8 (  نــشــاط 12 )</vt:lpstr>
      <vt:lpstr>تـطــبــيــق 8 (  نــشــاط 12 )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2084</cp:revision>
  <dcterms:created xsi:type="dcterms:W3CDTF">2015-11-30T21:00:22Z</dcterms:created>
  <dcterms:modified xsi:type="dcterms:W3CDTF">2026-01-04T07:48:38Z</dcterms:modified>
</cp:coreProperties>
</file>