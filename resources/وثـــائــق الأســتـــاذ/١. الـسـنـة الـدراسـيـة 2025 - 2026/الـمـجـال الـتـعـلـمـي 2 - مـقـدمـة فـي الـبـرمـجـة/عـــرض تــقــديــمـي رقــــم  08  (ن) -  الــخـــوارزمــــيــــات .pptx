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3"/>
  </p:notesMasterIdLst>
  <p:sldIdLst>
    <p:sldId id="273" r:id="rId3"/>
    <p:sldId id="291" r:id="rId4"/>
    <p:sldId id="552" r:id="rId5"/>
    <p:sldId id="698" r:id="rId6"/>
    <p:sldId id="853" r:id="rId7"/>
    <p:sldId id="852" r:id="rId8"/>
    <p:sldId id="553" r:id="rId9"/>
    <p:sldId id="697" r:id="rId10"/>
    <p:sldId id="696" r:id="rId11"/>
    <p:sldId id="695" r:id="rId12"/>
    <p:sldId id="694" r:id="rId13"/>
    <p:sldId id="693" r:id="rId14"/>
    <p:sldId id="685" r:id="rId15"/>
    <p:sldId id="692" r:id="rId16"/>
    <p:sldId id="691" r:id="rId17"/>
    <p:sldId id="690" r:id="rId18"/>
    <p:sldId id="689" r:id="rId19"/>
    <p:sldId id="688" r:id="rId20"/>
    <p:sldId id="686" r:id="rId21"/>
    <p:sldId id="687" r:id="rId22"/>
    <p:sldId id="856" r:id="rId23"/>
    <p:sldId id="549" r:id="rId24"/>
    <p:sldId id="258" r:id="rId25"/>
    <p:sldId id="447" r:id="rId26"/>
    <p:sldId id="725" r:id="rId27"/>
    <p:sldId id="292" r:id="rId28"/>
    <p:sldId id="551" r:id="rId29"/>
    <p:sldId id="854" r:id="rId30"/>
    <p:sldId id="855" r:id="rId31"/>
    <p:sldId id="394" r:id="rId32"/>
    <p:sldId id="724" r:id="rId33"/>
    <p:sldId id="723" r:id="rId34"/>
    <p:sldId id="858" r:id="rId35"/>
    <p:sldId id="862" r:id="rId36"/>
    <p:sldId id="866" r:id="rId37"/>
    <p:sldId id="861" r:id="rId38"/>
    <p:sldId id="864" r:id="rId39"/>
    <p:sldId id="865" r:id="rId40"/>
    <p:sldId id="860" r:id="rId41"/>
    <p:sldId id="867" r:id="rId42"/>
    <p:sldId id="868" r:id="rId43"/>
    <p:sldId id="869" r:id="rId44"/>
    <p:sldId id="722" r:id="rId45"/>
    <p:sldId id="700" r:id="rId46"/>
    <p:sldId id="701" r:id="rId47"/>
    <p:sldId id="728" r:id="rId48"/>
    <p:sldId id="727" r:id="rId49"/>
    <p:sldId id="726" r:id="rId50"/>
    <p:sldId id="703" r:id="rId51"/>
    <p:sldId id="845" r:id="rId52"/>
    <p:sldId id="850" r:id="rId53"/>
    <p:sldId id="849" r:id="rId54"/>
    <p:sldId id="848" r:id="rId55"/>
    <p:sldId id="847" r:id="rId56"/>
    <p:sldId id="846" r:id="rId57"/>
    <p:sldId id="704" r:id="rId58"/>
    <p:sldId id="844" r:id="rId59"/>
    <p:sldId id="712" r:id="rId60"/>
    <p:sldId id="872" r:id="rId61"/>
    <p:sldId id="713" r:id="rId62"/>
    <p:sldId id="718" r:id="rId63"/>
    <p:sldId id="714" r:id="rId64"/>
    <p:sldId id="717" r:id="rId65"/>
    <p:sldId id="716" r:id="rId66"/>
    <p:sldId id="715" r:id="rId67"/>
    <p:sldId id="893" r:id="rId68"/>
    <p:sldId id="720" r:id="rId69"/>
    <p:sldId id="894" r:id="rId70"/>
    <p:sldId id="721" r:id="rId71"/>
    <p:sldId id="873" r:id="rId72"/>
    <p:sldId id="875" r:id="rId73"/>
    <p:sldId id="881" r:id="rId74"/>
    <p:sldId id="876" r:id="rId75"/>
    <p:sldId id="877" r:id="rId76"/>
    <p:sldId id="878" r:id="rId77"/>
    <p:sldId id="879" r:id="rId78"/>
    <p:sldId id="882" r:id="rId79"/>
    <p:sldId id="880" r:id="rId80"/>
    <p:sldId id="883" r:id="rId81"/>
    <p:sldId id="802" r:id="rId82"/>
    <p:sldId id="801" r:id="rId83"/>
    <p:sldId id="800" r:id="rId84"/>
    <p:sldId id="729" r:id="rId85"/>
    <p:sldId id="805" r:id="rId86"/>
    <p:sldId id="804" r:id="rId87"/>
    <p:sldId id="803" r:id="rId88"/>
    <p:sldId id="730" r:id="rId89"/>
    <p:sldId id="807" r:id="rId90"/>
    <p:sldId id="806" r:id="rId91"/>
    <p:sldId id="731" r:id="rId92"/>
    <p:sldId id="732" r:id="rId93"/>
    <p:sldId id="808" r:id="rId94"/>
    <p:sldId id="884" r:id="rId95"/>
    <p:sldId id="890" r:id="rId96"/>
    <p:sldId id="885" r:id="rId97"/>
    <p:sldId id="812" r:id="rId98"/>
    <p:sldId id="811" r:id="rId99"/>
    <p:sldId id="810" r:id="rId100"/>
    <p:sldId id="809" r:id="rId101"/>
    <p:sldId id="734" r:id="rId102"/>
    <p:sldId id="735" r:id="rId103"/>
    <p:sldId id="736" r:id="rId104"/>
    <p:sldId id="737" r:id="rId105"/>
    <p:sldId id="815" r:id="rId106"/>
    <p:sldId id="814" r:id="rId107"/>
    <p:sldId id="813" r:id="rId108"/>
    <p:sldId id="738" r:id="rId109"/>
    <p:sldId id="816" r:id="rId110"/>
    <p:sldId id="871" r:id="rId111"/>
    <p:sldId id="851" r:id="rId112"/>
    <p:sldId id="886" r:id="rId113"/>
    <p:sldId id="887" r:id="rId114"/>
    <p:sldId id="891" r:id="rId115"/>
    <p:sldId id="892" r:id="rId116"/>
    <p:sldId id="741" r:id="rId117"/>
    <p:sldId id="742" r:id="rId118"/>
    <p:sldId id="820" r:id="rId119"/>
    <p:sldId id="819" r:id="rId120"/>
    <p:sldId id="818" r:id="rId121"/>
    <p:sldId id="740" r:id="rId122"/>
    <p:sldId id="822" r:id="rId123"/>
    <p:sldId id="821" r:id="rId124"/>
    <p:sldId id="743" r:id="rId125"/>
    <p:sldId id="744" r:id="rId126"/>
    <p:sldId id="745" r:id="rId127"/>
    <p:sldId id="824" r:id="rId128"/>
    <p:sldId id="823" r:id="rId129"/>
    <p:sldId id="748" r:id="rId130"/>
    <p:sldId id="747" r:id="rId131"/>
    <p:sldId id="749" r:id="rId132"/>
    <p:sldId id="827" r:id="rId133"/>
    <p:sldId id="826" r:id="rId134"/>
    <p:sldId id="825" r:id="rId135"/>
    <p:sldId id="750" r:id="rId136"/>
    <p:sldId id="752" r:id="rId137"/>
    <p:sldId id="753" r:id="rId138"/>
    <p:sldId id="754" r:id="rId139"/>
    <p:sldId id="895" r:id="rId140"/>
    <p:sldId id="896" r:id="rId141"/>
    <p:sldId id="897" r:id="rId142"/>
    <p:sldId id="755" r:id="rId143"/>
    <p:sldId id="759" r:id="rId144"/>
    <p:sldId id="760" r:id="rId145"/>
    <p:sldId id="761" r:id="rId146"/>
    <p:sldId id="763" r:id="rId147"/>
    <p:sldId id="768" r:id="rId148"/>
    <p:sldId id="767" r:id="rId149"/>
    <p:sldId id="766" r:id="rId150"/>
    <p:sldId id="765" r:id="rId151"/>
    <p:sldId id="764" r:id="rId152"/>
    <p:sldId id="905" r:id="rId153"/>
    <p:sldId id="769" r:id="rId154"/>
    <p:sldId id="770" r:id="rId155"/>
    <p:sldId id="771" r:id="rId156"/>
    <p:sldId id="772" r:id="rId157"/>
    <p:sldId id="777" r:id="rId158"/>
    <p:sldId id="776" r:id="rId159"/>
    <p:sldId id="775" r:id="rId160"/>
    <p:sldId id="774" r:id="rId161"/>
    <p:sldId id="773" r:id="rId162"/>
    <p:sldId id="778" r:id="rId163"/>
    <p:sldId id="906" r:id="rId164"/>
    <p:sldId id="779" r:id="rId165"/>
    <p:sldId id="780" r:id="rId166"/>
    <p:sldId id="917" r:id="rId167"/>
    <p:sldId id="782" r:id="rId168"/>
    <p:sldId id="907" r:id="rId169"/>
    <p:sldId id="783" r:id="rId170"/>
    <p:sldId id="900" r:id="rId171"/>
    <p:sldId id="898" r:id="rId172"/>
    <p:sldId id="899" r:id="rId173"/>
    <p:sldId id="784" r:id="rId174"/>
    <p:sldId id="786" r:id="rId175"/>
    <p:sldId id="787" r:id="rId176"/>
    <p:sldId id="792" r:id="rId177"/>
    <p:sldId id="913" r:id="rId178"/>
    <p:sldId id="915" r:id="rId179"/>
    <p:sldId id="791" r:id="rId180"/>
    <p:sldId id="790" r:id="rId181"/>
    <p:sldId id="789" r:id="rId182"/>
    <p:sldId id="911" r:id="rId183"/>
    <p:sldId id="788" r:id="rId184"/>
    <p:sldId id="793" r:id="rId185"/>
    <p:sldId id="912" r:id="rId186"/>
    <p:sldId id="918" r:id="rId187"/>
    <p:sldId id="796" r:id="rId188"/>
    <p:sldId id="919" r:id="rId189"/>
    <p:sldId id="840" r:id="rId190"/>
    <p:sldId id="794" r:id="rId191"/>
    <p:sldId id="797" r:id="rId192"/>
    <p:sldId id="837" r:id="rId193"/>
    <p:sldId id="833" r:id="rId194"/>
    <p:sldId id="831" r:id="rId195"/>
    <p:sldId id="830" r:id="rId196"/>
    <p:sldId id="829" r:id="rId197"/>
    <p:sldId id="828" r:id="rId198"/>
    <p:sldId id="799" r:id="rId199"/>
    <p:sldId id="836" r:id="rId200"/>
    <p:sldId id="835" r:id="rId201"/>
    <p:sldId id="834" r:id="rId202"/>
    <p:sldId id="798" r:id="rId203"/>
    <p:sldId id="920" r:id="rId204"/>
    <p:sldId id="839" r:id="rId205"/>
    <p:sldId id="795" r:id="rId206"/>
    <p:sldId id="842" r:id="rId207"/>
    <p:sldId id="843" r:id="rId208"/>
    <p:sldId id="908" r:id="rId209"/>
    <p:sldId id="909" r:id="rId210"/>
    <p:sldId id="910" r:id="rId211"/>
    <p:sldId id="338" r:id="rId2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F1FF"/>
    <a:srgbClr val="FF0000"/>
    <a:srgbClr val="E7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434" autoAdjust="0"/>
  </p:normalViewPr>
  <p:slideViewPr>
    <p:cSldViewPr>
      <p:cViewPr varScale="1">
        <p:scale>
          <a:sx n="68" d="100"/>
          <a:sy n="68" d="100"/>
        </p:scale>
        <p:origin x="4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viewProps" Target="viewProps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theme" Target="theme/theme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tableStyles" Target="tableStyles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14" Type="http://schemas.openxmlformats.org/officeDocument/2006/relationships/commentAuthors" Target="commentAuthors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slide" Target="slides/slide208.xml"/><Relationship Id="rId215" Type="http://schemas.openxmlformats.org/officeDocument/2006/relationships/presProps" Target="presProps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13/02/2026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03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13/02/2026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13/02/2026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13/02/2026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13/02/2026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13/02/2026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13/02/2026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13/02/2026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13/02/2026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13/02/2026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13/02/2026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13/02/2026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13/02/2026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13/02/2026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13/02/2026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13/02/2026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13/02/2026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13/02/2026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13/02/2026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13/02/2026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13/02/2026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13/02/2026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13/02/2026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13/02/2026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13/02/2026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13/02/2026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13/02/2026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مَـــــــــدْخَــــــــل إِلَـــى </a:t>
            </a:r>
            <a:r>
              <a:rPr lang="ar-SA" altLang="zh-CN" sz="40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الـخُـــــــــــــوَارِزْمِ</a:t>
            </a:r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ـيَـ</a:t>
            </a:r>
            <a:r>
              <a:rPr lang="ar-DZ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ـــــــــات</a:t>
            </a:r>
            <a:endParaRPr lang="ar-SA" altLang="zh-CN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الـمـجـال </a:t>
            </a:r>
            <a:r>
              <a:rPr lang="ar-DZ" altLang="zh-CN" sz="32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الـتَـعَــلُــمِـي</a:t>
            </a:r>
            <a:r>
              <a:rPr lang="ar-DZ" altLang="zh-CN" sz="3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: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13/02/2026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1929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1. مـفــهـــوم الـخــوارزمـــيـــة 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مـاذا تـعــرفــون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مــصــطــلـح « الـخـــوارزمـــيـــة » ؟ ومــا هـي عــلاقــة هـــذا الـمــصــطــلـح بـالــريــاضــيــات ؟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600" b="1" dirty="0" smtClean="0">
                <a:solidFill>
                  <a:srgbClr val="00B050"/>
                </a:solidFill>
                <a:cs typeface="+mj-cs"/>
              </a:rPr>
              <a:t>1.1 أصــل مــصــطــلـح « الـخــوارزمــيــة » ودلالــتــه </a:t>
            </a:r>
            <a:r>
              <a:rPr lang="ar-DZ" sz="46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46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576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الـخــوارزمــيــة »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الـخــوارزمــيــة </a:t>
            </a:r>
            <a:r>
              <a:rPr lang="ar-DZ" sz="4000" b="1" dirty="0">
                <a:solidFill>
                  <a:srgbClr val="002060"/>
                </a:solidFill>
              </a:rPr>
              <a:t>هــي </a:t>
            </a:r>
            <a:r>
              <a:rPr lang="ar-DZ" sz="4000" b="1" dirty="0" smtClean="0">
                <a:solidFill>
                  <a:srgbClr val="002060"/>
                </a:solidFill>
              </a:rPr>
              <a:t>مــصــطــلــح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نِــسْــبَــةً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الـعَــالَــمِ الـجَــلِــيــلِ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وقــبــل شـــرح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الـمــصــطــلـح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فـلا بُــدَ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أنْ نُــقَــدِّمَ نَــبْــذَةً يَــسِــيــرَةً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>
                <a:solidFill>
                  <a:srgbClr val="002060"/>
                </a:solidFill>
              </a:rPr>
              <a:t>الـعَــالَــمِ </a:t>
            </a:r>
            <a:r>
              <a:rPr lang="ar-DZ" sz="4000" b="1" dirty="0" smtClean="0">
                <a:solidFill>
                  <a:srgbClr val="002060"/>
                </a:solidFill>
              </a:rPr>
              <a:t>الـجَــلِــيــلِ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498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الـخــوارزمــيــة »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الـخــوارزمــيــة </a:t>
            </a:r>
            <a:r>
              <a:rPr lang="ar-DZ" sz="4000" b="1" dirty="0">
                <a:solidFill>
                  <a:srgbClr val="002060"/>
                </a:solidFill>
              </a:rPr>
              <a:t>هــي </a:t>
            </a:r>
            <a:r>
              <a:rPr lang="ar-DZ" sz="4000" b="1" dirty="0" smtClean="0">
                <a:solidFill>
                  <a:srgbClr val="002060"/>
                </a:solidFill>
              </a:rPr>
              <a:t>مــصــطــلــح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نِــسْــبَــةً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الـعَــالَــمِ الـجَــلِــيــلِ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وقــبــل شـــرح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الـمــصــطــلـح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فـلا بُــدَ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أنْ نُــقَــدِّمَ نَــبْــذَةً يَــسِــيــرَةً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>
                <a:solidFill>
                  <a:srgbClr val="002060"/>
                </a:solidFill>
              </a:rPr>
              <a:t>الـعَــالَــمِ </a:t>
            </a:r>
            <a:r>
              <a:rPr lang="ar-DZ" sz="4000" b="1" dirty="0" smtClean="0">
                <a:solidFill>
                  <a:srgbClr val="002060"/>
                </a:solidFill>
              </a:rPr>
              <a:t>الـجَــلِــيــلِ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351584" y="175232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مُــشْــتَــقٌ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7509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الـخــوارزمــيــة »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الـخــوارزمــيــة </a:t>
            </a:r>
            <a:r>
              <a:rPr lang="ar-DZ" sz="4000" b="1" dirty="0">
                <a:solidFill>
                  <a:srgbClr val="002060"/>
                </a:solidFill>
              </a:rPr>
              <a:t>هــي </a:t>
            </a:r>
            <a:r>
              <a:rPr lang="ar-DZ" sz="4000" b="1" dirty="0" smtClean="0">
                <a:solidFill>
                  <a:srgbClr val="002060"/>
                </a:solidFill>
              </a:rPr>
              <a:t>مــصــطــلــح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نِــسْــبَــةً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الـعَــالَــمِ الـجَــلِــيــلِ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وقــبــل شـــرح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الـمــصــطــلـح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فـلا بُــدَ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أنْ نُــقَــدِّمَ نَــبْــذَةً يَــسِــيــرَةً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>
                <a:solidFill>
                  <a:srgbClr val="002060"/>
                </a:solidFill>
              </a:rPr>
              <a:t>الـعَــالَــمِ </a:t>
            </a:r>
            <a:r>
              <a:rPr lang="ar-DZ" sz="4000" b="1" dirty="0" smtClean="0">
                <a:solidFill>
                  <a:srgbClr val="002060"/>
                </a:solidFill>
              </a:rPr>
              <a:t>الـجَــلِــيــلِ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351584" y="175232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مُــشْــتَــقٌ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0986" y="266435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الـخُــوَارِزْمِــي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0790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574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487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4120" y="2673429"/>
            <a:ext cx="2785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الــرِّيَــاضــيَّــات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3988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4120" y="2673429"/>
            <a:ext cx="2785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الــرِّيَــاضــيَّــات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88401" y="3585895"/>
            <a:ext cx="19015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الـفَــلَــكِ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0771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4120" y="2673429"/>
            <a:ext cx="2785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الــرِّيَــاضــيَّــات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88401" y="3585895"/>
            <a:ext cx="19015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الـفَــلَــكِ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34120" y="3587346"/>
            <a:ext cx="38459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الــتُّــرَاثِ الـحَــضَـارِيِّ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1524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4120" y="2673429"/>
            <a:ext cx="2785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الــرِّيَــاضــيَّــات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88401" y="3585895"/>
            <a:ext cx="19015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الـفَــلَــكِ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34120" y="3587346"/>
            <a:ext cx="38459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الــتُّــرَاثِ الـحَــضَـارِيِّ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61730" y="4501263"/>
            <a:ext cx="36405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عِــلْــمَ الـجَــبْــرِ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8523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9826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0544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8197" y="2649756"/>
            <a:ext cx="3470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الـحـسـاب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الـعـشـري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8988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8197" y="2649756"/>
            <a:ext cx="3470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الـحـسـاب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الـعـشـري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32304" y="3566348"/>
            <a:ext cx="14128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أوروبا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888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8197" y="2649756"/>
            <a:ext cx="3470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الـحـسـاب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الـعـشـري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32304" y="3566348"/>
            <a:ext cx="14128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أوروبا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64352" y="4482940"/>
            <a:ext cx="17168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مَــدْلُــولاً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372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8197" y="2649756"/>
            <a:ext cx="3470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الـحـسـاب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الـعـشـري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32304" y="3566348"/>
            <a:ext cx="14128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أوروبا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64352" y="4482940"/>
            <a:ext cx="17168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مَــدْلُــولاً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83432" y="4509797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الـبَــرْمَـجَـةِ والـبَــرَامـِـجِ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700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الـتــرابــط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بــيـن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الـمــخـــطـــط الانــســـيـــابــي والــخـــوارزمـــيـــة : 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الـوثــيـــقــة " 1 "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أَبـــرِزْ  الـعــلاقـــة الـمــوجــودة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بــيـن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الــمـخــطــط الانــســـيـــابــي »  و  « الــخــوارزمـــيــة »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5481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الـتــرابــط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بــيـن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الـمــخـــطـــط الانــســـيـــابــي والــخـــوارزمـــيـــة : 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9"/>
            <a:ext cx="10814992" cy="608171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15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الـتــرابــط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بــيـن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الـمــخـــطـــط الانــســـيـــابــي والــخـــوارزمـــيـــة : 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74" y="16897"/>
            <a:ext cx="10404000" cy="6702875"/>
          </a:xfrm>
          <a:prstGeom prst="rect">
            <a:avLst/>
          </a:prstGeom>
          <a:ln w="381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0946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الـمـجـال </a:t>
            </a:r>
            <a:r>
              <a:rPr lang="ar-DZ" altLang="zh-CN" sz="32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الـتَـعَــلُــمِـي</a:t>
            </a:r>
            <a:r>
              <a:rPr lang="ar-DZ" altLang="zh-CN" sz="3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: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13/02/2026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الـبــرامــج تُــمَــثِّــلُ حُــلُــولًا لـمُــشْــكِــلَات كــنـا </a:t>
            </a:r>
            <a:r>
              <a:rPr lang="ar-DZ" sz="3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نـواجـهـهـا</a:t>
            </a:r>
            <a:r>
              <a:rPr lang="ar-DZ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وأهــم مـرحــلـة عــنــد تـصـمـيــم بــرنــامـج هـي إيـجــاد خــطــة واضــحـة مــكــتــوبــة فـي هــيــئــة قــابــلــة للـتــنــفــيـــذ مـن طــرف الـحــاســوب، فــمــا هــي تـلـك الـخــطّــة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الـخــطــة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هـي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...............................................................................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الـخــطــة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هـي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...............................................................................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271464" y="2799731"/>
            <a:ext cx="6624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الـخُـــوَارِزْمِـــيـــة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286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الــخُـــــوَارِزْمِـــــــيـــــــات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الـمـجـال </a:t>
            </a:r>
            <a:r>
              <a:rPr lang="ar-DZ" altLang="zh-CN" sz="3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الـتَـعَــلُــمِـي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: </a:t>
            </a:r>
            <a:r>
              <a:rPr lang="ar-DZ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13/02/2026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Algorithme</a:t>
            </a:r>
            <a:r>
              <a:rPr lang="fr-FR" altLang="zh-CN" sz="4000" b="1" u="sng" dirty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fr-FR" altLang="zh-CN" sz="4000" b="1" u="sng" dirty="0" err="1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AlgoBox</a:t>
            </a: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ar-SA" altLang="zh-CN" sz="4000" b="1" dirty="0">
              <a:ln w="0"/>
              <a:solidFill>
                <a:prstClr val="black"/>
              </a:solidFill>
              <a:latin typeface="Arial" pitchFamily="34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تـعــريــف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الـخـــوارزمـــيــة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الـوثــيـــقــة " 1 "  ثُــمَ عَـــرِّفْ الـخـــوارزمـــيــة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1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249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تـعــريــف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الـخـــوارزمـــيــة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الـوثــيـــقــة " 1 "  ثُــمَ عَـــرِّفْ الـخـــوارزمـــيــة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1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6" name="Imag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9"/>
            <a:ext cx="10814992" cy="608171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7517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تـعــريــف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الـخـــوارزمـــيــة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الـوثــيـــقــة " 1 "  ثُــمَ عَـــرِّفْ الـخـــوارزمـــيــة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1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20" y="42035"/>
            <a:ext cx="10404000" cy="67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</a:t>
            </a:r>
            <a:r>
              <a:rPr lang="ar-DZ" b="1" dirty="0">
                <a:solidFill>
                  <a:srgbClr val="FF0000"/>
                </a:solidFill>
              </a:rPr>
              <a:t>الـخـــوارزمـــيــة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هي مـجــمـوعــة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الـلازمــة لـحــلِّ مــســألــة بـحــيــث يَــتِّـمُ الانـطــلاق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للـوصــول 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087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</a:t>
            </a:r>
            <a:r>
              <a:rPr lang="ar-DZ" b="1" dirty="0">
                <a:solidFill>
                  <a:srgbClr val="FF0000"/>
                </a:solidFill>
              </a:rPr>
              <a:t>الـخـــوارزمـــيــة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هي مـجــمـوعــة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الـلازمــة لـحــلِّ مــســألــة بـحــيــث يَــتِّـمُ الانـطــلاق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للـوصــول 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5400" y="1927481"/>
            <a:ext cx="7128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الـخـطــوات الـریــاضــیــة والـمــنـطــقــیــة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90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</a:t>
            </a:r>
            <a:r>
              <a:rPr lang="ar-DZ" b="1" dirty="0">
                <a:solidFill>
                  <a:srgbClr val="FF0000"/>
                </a:solidFill>
              </a:rPr>
              <a:t>الـخـــوارزمـــيــة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هي مـجــمـوعــة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الـلازمــة لـحــلِّ مــســألــة بـحــيــث يَــتِّـمُ الانـطــلاق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للـوصــول 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5400" y="1927481"/>
            <a:ext cx="7128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الـخـطــوات الـریــاضــیــة والـمــنـطــقــیــة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3758280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مـعـــطــیــات ابــتــدائــیـة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4010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</a:t>
            </a:r>
            <a:r>
              <a:rPr lang="ar-SA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مـا هــو الـفــرق بــيـن 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الـمــدخـــلات</a:t>
            </a:r>
            <a:r>
              <a:rPr lang="ar-SA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و 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الـمـعـطـيـات الابـتـدائـيـة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550247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.....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.....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......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الـمـعــطــيــات الابــتـــدائـــيــة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622464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.....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492896"/>
            <a:ext cx="1482703" cy="15264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6126927" y="2482944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567272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7555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</a:t>
            </a:r>
            <a:r>
              <a:rPr lang="ar-SA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مـا هــو الـفــرق بــيـن 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الـمــدخـــلات</a:t>
            </a:r>
            <a:r>
              <a:rPr lang="ar-SA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و 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الـمـعـطـيـات الابـتـدائـيـة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550247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مــخــتــارة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الـمـعــطــيــات الابــتـــدائـــيــة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622464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.....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......</a:t>
            </a: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492896"/>
            <a:ext cx="1482703" cy="15264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6126927" y="2482944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567272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195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</a:t>
            </a:r>
            <a:r>
              <a:rPr lang="ar-SA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مـا هــو الـفــرق بــيـن 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الـمــدخـــلات</a:t>
            </a:r>
            <a:r>
              <a:rPr lang="ar-SA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و 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الـمـعـطـيـات الابـتـدائـيـة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550247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مــخــتــارة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الـمـعــطــيــات الابــتـــدائـــيــة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622464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مــفــروضــة</a:t>
            </a:r>
            <a:endParaRPr lang="fr-FR"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492896"/>
            <a:ext cx="1482703" cy="15264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6126927" y="2482944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567272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403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ســؤال :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مَــتـى 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ت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ـكــون 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الــمـعــطــيـــات </a:t>
            </a:r>
            <a:r>
              <a:rPr lang="ar-SA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مــخــتــارة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550247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مــخــتــارة</a:t>
            </a:r>
            <a:endParaRPr lang="fr-FR" sz="5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الـمـعــطــيــات الابــتـــدائـــيــة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622464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مــفــروضــة</a:t>
            </a:r>
            <a:endParaRPr lang="fr-FR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492896"/>
            <a:ext cx="1482703" cy="15264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6126927" y="2482944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567272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chemeClr val="tx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0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ســؤال :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مَــتـى 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ت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ـكــون 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الــمـعــطــيـــات </a:t>
            </a:r>
            <a:r>
              <a:rPr lang="ar-SA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مــخــتــارة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550247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مــخــتــارة</a:t>
            </a:r>
            <a:endParaRPr lang="fr-FR" sz="5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الـمـعــطــيــات الابــتـــدائـــيــة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622464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مــفــروضــة</a:t>
            </a:r>
            <a:endParaRPr lang="fr-FR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492896"/>
            <a:ext cx="1482703" cy="15264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6126927" y="2482944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567272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مــدخــلات</a:t>
            </a:r>
            <a:endParaRPr lang="fr-FR" sz="48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chemeClr val="tx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534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الــمُــخَــطَّــط الانــســـيــابـي الـمُــوَافِــق </a:t>
            </a:r>
            <a:r>
              <a:rPr lang="ar-DZ" sz="3200" b="1" u="sng" dirty="0" smtClean="0">
                <a:solidFill>
                  <a:srgbClr val="FF0000"/>
                </a:solidFill>
                <a:cs typeface="+mj-cs"/>
              </a:rPr>
              <a:t>للــمــســألــة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fr-FR" sz="3200" b="1" dirty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</a:t>
            </a:r>
            <a:r>
              <a:rPr lang="fr-F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600055" y="1628800"/>
            <a:ext cx="4999021" cy="371944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endParaRPr lang="ar-DZ" sz="14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Font typeface="Arial" pitchFamily="34" charset="0"/>
              <a:buNone/>
            </a:pP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نـسـتـطـيـع اخــتــيــار 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قِــيَــم </a:t>
            </a:r>
            <a:r>
              <a:rPr lang="fr-FR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 </a:t>
            </a:r>
            <a:r>
              <a:rPr lang="fr-FR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b</a:t>
            </a: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عــنــد ادخــالـهـا</a:t>
            </a:r>
            <a:endParaRPr lang="fr-FR" sz="35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0420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ســؤال :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مَــتـى 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ت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ـكــون 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الــمـعــطــيـــات </a:t>
            </a:r>
            <a:r>
              <a:rPr lang="ar-SA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مــفــروضــة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550247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مــخــتــارة</a:t>
            </a:r>
            <a:endParaRPr lang="fr-FR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الـمـعــطــيــات الابــتـــدائـــيــة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622464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مــفــروضــة</a:t>
            </a:r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492896"/>
            <a:ext cx="1482703" cy="15264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6126927" y="2482944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567272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مــدخــلات</a:t>
            </a:r>
            <a:endParaRPr lang="fr-FR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09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ســؤال :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مَــتـى 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ت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ـكــون </a:t>
            </a:r>
            <a:r>
              <a:rPr lang="ar-SA" sz="4800" b="1" dirty="0" smtClean="0">
                <a:solidFill>
                  <a:srgbClr val="00B050"/>
                </a:solidFill>
                <a:cs typeface="+mj-cs"/>
              </a:rPr>
              <a:t>الــمـعــطــيـــات </a:t>
            </a:r>
            <a:r>
              <a:rPr lang="ar-SA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مــفــروضــة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550247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مــخــتــارة</a:t>
            </a:r>
            <a:endParaRPr lang="fr-FR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الـمـعــطــيــات الابــتـــدائـــيــة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622464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مــفــروضــة</a:t>
            </a:r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492896"/>
            <a:ext cx="1482703" cy="15264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6126927" y="2482944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567272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مــدخــلات</a:t>
            </a:r>
            <a:endParaRPr lang="fr-FR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603" y="81968"/>
            <a:ext cx="7452000" cy="6455690"/>
          </a:xfrm>
          <a:prstGeom prst="rect">
            <a:avLst/>
          </a:prstGeom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6847007" y="2348880"/>
            <a:ext cx="4680000" cy="345638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endParaRPr lang="ar-DZ" sz="14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Font typeface="Arial" pitchFamily="34" charset="0"/>
              <a:buNone/>
            </a:pP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نـسـتـطـيـع 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اخــتــيــار </a:t>
            </a:r>
            <a:endParaRPr lang="ar-DZ" sz="35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Font typeface="Arial" pitchFamily="34" charset="0"/>
              <a:buNone/>
            </a:pPr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قِـــيَــم  </a:t>
            </a:r>
            <a:r>
              <a:rPr lang="fr-FR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</a:t>
            </a: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و  </a:t>
            </a:r>
            <a:r>
              <a:rPr lang="fr-FR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i</a:t>
            </a: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730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الــمُــخَــطَّــط الانــســـيــابـي الـمُــوَافِــق </a:t>
            </a:r>
            <a:r>
              <a:rPr lang="ar-DZ" sz="3200" b="1" u="sng" dirty="0" smtClean="0">
                <a:solidFill>
                  <a:srgbClr val="FF0000"/>
                </a:solidFill>
                <a:cs typeface="+mj-cs"/>
              </a:rPr>
              <a:t>للــمــســألــة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fr-FR" sz="3200" b="1" dirty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</a:t>
            </a:r>
            <a:r>
              <a:rPr lang="fr-F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600055" y="1628800"/>
            <a:ext cx="4999021" cy="371944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endParaRPr lang="ar-DZ" sz="14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Font typeface="Arial" pitchFamily="34" charset="0"/>
              <a:buNone/>
            </a:pP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نـسـتـطـيـع اخــتــيــار 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قِــيَــم </a:t>
            </a:r>
            <a:r>
              <a:rPr lang="fr-FR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 </a:t>
            </a:r>
            <a:r>
              <a:rPr lang="fr-FR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b</a:t>
            </a: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sz="35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عــنــد ادخــالـهـا</a:t>
            </a:r>
            <a:endParaRPr lang="fr-FR" sz="35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9230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</a:t>
            </a:r>
            <a:r>
              <a:rPr lang="ar-DZ" b="1" dirty="0">
                <a:solidFill>
                  <a:srgbClr val="FF0000"/>
                </a:solidFill>
              </a:rPr>
              <a:t>الـخـــوارزمـــيــة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هي مـجــمـوعــة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الـلازمــة لـحــلِّ مــســألــة بـحــيــث يَــتِّـمُ الانـطــلاق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للـوصــول 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5400" y="1927481"/>
            <a:ext cx="7128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الـخـطــوات الـریــاضــیــة والـمــنـطــقــیــة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3758280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مـعـــطــیــات ابــتــدائــیـة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1006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</a:t>
            </a:r>
            <a:r>
              <a:rPr lang="ar-DZ" b="1" dirty="0">
                <a:solidFill>
                  <a:srgbClr val="FF0000"/>
                </a:solidFill>
              </a:rPr>
              <a:t>الـخـــوارزمـــيــة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هي مـجــمـوعــة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الـلازمــة لـحــلِّ مــســألــة بـحــيــث يَــتِّـمُ الانـطــلاق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للـوصــول 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5400" y="1927481"/>
            <a:ext cx="7128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الـخـطــوات الـریــاضــیــة والـمــنـطــقــیــة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3758280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مـعـــطــیــات ابــتــدائــیـة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3751771"/>
            <a:ext cx="33261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نــتــائـج مُــحَـــدَّدَةٍ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710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خــصــائــص الـخـــوارزمـــيــة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الـســـلـــيــــمــة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بَــيِّــنْ خــصـائـص الـخــوارزمــيـة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الـســلــيــمـة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2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1520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بِـعِــبَـارَاتٍ دَقِـيـقَـةٍ وُدُونَ أَيِّ غُــمُـوضٍ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7018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بِـعِــبَـارَاتٍ دَقِـيـقَـةٍ وُدُونَ أَيِّ غُــمُـوضٍ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ومـحـدودة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503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بِـعِــبَـارَاتٍ دَقِـيـقَـةٍ وُدُونَ أَيِّ غُــمُـوضٍ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ومـحـدودة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0256" y="3367825"/>
            <a:ext cx="27439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وَاضِـحَـةً تَـمَـامًـا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9070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بِـعِــبَـارَاتٍ دَقِـيـقَـةٍ وُدُونَ أَيِّ غُــمُـوضٍ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ومـحـدودة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0256" y="3367825"/>
            <a:ext cx="27439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وَاضِـحَـةً تَـمَـامًـا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32103" y="4361367"/>
            <a:ext cx="39680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شَـامِـلَـةً لِـكُـلِّ جَــوَانِــبِ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026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امْــلَأْ الـفـــراغـــات بـتـحــديـــد أجـــزاء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الـخــوارزمــيــة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3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87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2720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1295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45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459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1539" y="1898759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الـمُـتَـغَـيِّـرات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734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3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1539" y="1898759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الـمُـتَـغَـيِّـرات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85866" y="3873879"/>
            <a:ext cx="1944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الـتـعـلـيـمــات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1048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1539" y="1898759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الـمُـتَـغَـيِّـرات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17304" y="2886307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17304" y="3441879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35449" y="3984620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68820" y="4887428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85866" y="3873879"/>
            <a:ext cx="1944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الـتـعـلـيـمــات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9781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1539" y="1898759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الـمُـتَـغَـيِّـرات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17304" y="2886307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17304" y="3441879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35449" y="3984620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68820" y="4887428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85866" y="3873879"/>
            <a:ext cx="1944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الـتـعـلـيـمــات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982410" y="5499012"/>
            <a:ext cx="1008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1900" b="1" dirty="0" smtClean="0">
                <a:solidFill>
                  <a:srgbClr val="0070C0"/>
                </a:solidFill>
                <a:cs typeface="+mj-cs"/>
              </a:rPr>
              <a:t>الـتعـلـيـمـة</a:t>
            </a:r>
            <a:endParaRPr lang="fr-FR" sz="19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0536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حَــلِّــلْ الـصُــورَة الـتــالــيــة ، فــمــاذا تــســتــنــتــج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649" y="300661"/>
            <a:ext cx="9828000" cy="6287108"/>
          </a:xfrm>
          <a:prstGeom prst="rect">
            <a:avLst/>
          </a:prstGeom>
          <a:ln w="381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4280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حَــلِّــلْ الـصُــورَة الـتــالــيــة ، فــمــاذا تــســتــنــتــج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73" y="289451"/>
            <a:ext cx="9252000" cy="6319670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4628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تـحــلــيــل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أجـــزاء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الــخــوارزمـــيـــة وعـــنــاصــرهــا 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cs typeface="+mj-cs"/>
              </a:rPr>
              <a:t>نــشــاط </a:t>
            </a: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4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ar-DZ" sz="44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بَــيِّــنْ دَوْرَ الـجُــزْءِ الأول مــن الـخــوارزمــيـة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4 .1 – اســـم الـخـــوارزمـــيــة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629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حَــلِّــلْ الـصُــورَة الـتــالــيــة ، فــمــاذا تــســتــنــتــج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649" y="300661"/>
            <a:ext cx="9828000" cy="6287108"/>
          </a:xfrm>
          <a:prstGeom prst="rect">
            <a:avLst/>
          </a:prstGeom>
          <a:ln w="381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252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4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.1 – اســـم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الـخـــوارزمـــيــة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اســـم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الـخـــوارزمـــيــة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الـخـــوارزمـــيــة بـحــيــث </a:t>
            </a:r>
            <a:r>
              <a:rPr lang="ar-DZ" sz="3600" b="1" dirty="0" smtClean="0">
                <a:solidFill>
                  <a:srgbClr val="002060"/>
                </a:solidFill>
              </a:rPr>
              <a:t>يَــجِــبُ كـــتـــابـــة </a:t>
            </a:r>
            <a:r>
              <a:rPr lang="ar-DZ" sz="3600" b="1" dirty="0">
                <a:solidFill>
                  <a:srgbClr val="002060"/>
                </a:solidFill>
              </a:rPr>
              <a:t>ذلــك الاســـم بــعــد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7963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4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.1 – اســـم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الـخـــوارزمـــيــة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اســـم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الـخـــوارزمـــيــة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الـخـــوارزمـــيــة بـحــيــث </a:t>
            </a:r>
            <a:r>
              <a:rPr lang="ar-DZ" sz="3600" b="1" dirty="0" smtClean="0">
                <a:solidFill>
                  <a:srgbClr val="002060"/>
                </a:solidFill>
              </a:rPr>
              <a:t>يَــجِــبُ كـــتـــابـــة </a:t>
            </a:r>
            <a:r>
              <a:rPr lang="ar-DZ" sz="3600" b="1" dirty="0">
                <a:solidFill>
                  <a:srgbClr val="002060"/>
                </a:solidFill>
              </a:rPr>
              <a:t>ذلــك الاســـم بــعــد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007768" y="1740385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الـغـــايـــة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1537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4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.1 – اســـم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الـخـــوارزمـــيــة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اســـم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الـخـــوارزمـــيــة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الـخـــوارزمـــيــة بـحــيــث </a:t>
            </a:r>
            <a:r>
              <a:rPr lang="ar-DZ" sz="3600" b="1" dirty="0" smtClean="0">
                <a:solidFill>
                  <a:srgbClr val="002060"/>
                </a:solidFill>
              </a:rPr>
              <a:t>يَــجِــبُ كـــتـــابـــة </a:t>
            </a:r>
            <a:r>
              <a:rPr lang="ar-DZ" sz="3600" b="1" dirty="0">
                <a:solidFill>
                  <a:srgbClr val="002060"/>
                </a:solidFill>
              </a:rPr>
              <a:t>ذلــك الاســـم بــعــد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007768" y="1740385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الـغـــايـــة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424" y="1727505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إنــشـــاء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739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4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.1 – اســـم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الـخـــوارزمـــيــة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اســـم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الـخـــوارزمـــيــة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الـخـــوارزمـــيــة بـحــيــث </a:t>
            </a:r>
            <a:r>
              <a:rPr lang="ar-DZ" sz="3600" b="1" dirty="0" smtClean="0">
                <a:solidFill>
                  <a:srgbClr val="002060"/>
                </a:solidFill>
              </a:rPr>
              <a:t>يَــجِــبُ كـــتـــابـــة </a:t>
            </a:r>
            <a:r>
              <a:rPr lang="ar-DZ" sz="3600" b="1" dirty="0">
                <a:solidFill>
                  <a:srgbClr val="002060"/>
                </a:solidFill>
              </a:rPr>
              <a:t>ذلــك الاســـم بــعــد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007768" y="1740385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الـغـــايـــة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424" y="1727505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إنــشـــاء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16492" y="3525077"/>
            <a:ext cx="49685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الـكــلــمــة الـمَــحْــجُـ</a:t>
            </a:r>
            <a:r>
              <a:rPr lang="ar-DZ" sz="3800" b="1" dirty="0">
                <a:solidFill>
                  <a:srgbClr val="0070C0"/>
                </a:solidFill>
                <a:cs typeface="+mj-cs"/>
              </a:rPr>
              <a:t>ـ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ـوزَةِ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370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  <p:bldP spid="1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5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مُــلَــخَــص قَــوَاعِـــدِ أَسْــمَـ</a:t>
            </a:r>
            <a:r>
              <a:rPr lang="ar-DZ" sz="5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</a:t>
            </a:r>
            <a:r>
              <a:rPr lang="ar-DZ" sz="5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ـاءِ الــمُـعَـــرَّفَــــات</a:t>
            </a:r>
            <a:endParaRPr lang="fr-FR" sz="5000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599" y="1152172"/>
            <a:ext cx="11007297" cy="5373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684" y="1932330"/>
            <a:ext cx="10972800" cy="458570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269677"/>
            <a:ext cx="4838330" cy="2088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endParaRPr lang="ar-DZ" sz="1000" b="1" dirty="0" smtClean="0">
              <a:solidFill>
                <a:srgbClr val="00B050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تَـجَـنُـبُ الـكَـلِـمَـات الـمَـحْـجُــوزَة</a:t>
            </a:r>
            <a:endParaRPr lang="fr-FR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684" y="1152403"/>
            <a:ext cx="10972800" cy="100811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الـحَــرْفُ الـثـانـي مـن اِسْــمِ الـمُـعَــرَّف حـتـى نـهـايــة الاســم</a:t>
            </a:r>
            <a:endParaRPr lang="fr-FR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13247" y="3356992"/>
            <a:ext cx="4859822" cy="2808312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</a:p>
          <a:p>
            <a:pPr algn="ctr" rtl="1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26367" y="3495339"/>
            <a:ext cx="4608513" cy="959797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الـحَــرْفُ الأَوَل مِـنْ الاِسْـم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5768" y="2262540"/>
            <a:ext cx="10598968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1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2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3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4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5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6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7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8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9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83432" y="3161577"/>
            <a:ext cx="4520484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Tiret de 8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57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4" grpId="0" animBg="1"/>
      <p:bldP spid="22" grpId="0" animBg="1"/>
      <p:bldP spid="17" grpId="0" animBg="1"/>
      <p:bldP spid="19" grpId="0" animBg="1"/>
      <p:bldP spid="20" grpId="0"/>
      <p:bldP spid="2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تـحــلــيــل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أجـــزاء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الــخــوارزمـــيـــة وعـــنــاصــرهــا 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cs typeface="+mj-cs"/>
              </a:rPr>
              <a:t>نــشــاط </a:t>
            </a: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5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ar-DZ" sz="44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امْــلَأْ الـفــراغــات بـتـحــديــد دَوْرَ وخــصــائـص الـجُــزْءِ 2 مـن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الـخــوارزمــيـة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– الـتـصـريــحــات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1174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حَــلِّــلْ الـصُــورَة الـتــالــيــة ، فــمــاذا تــســتــنــتــج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649" y="300661"/>
            <a:ext cx="9828000" cy="6287108"/>
          </a:xfrm>
          <a:prstGeom prst="rect">
            <a:avLst/>
          </a:prstGeom>
          <a:ln w="381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8447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الـمــتـغــيِّــر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يُــمَــثِّــلُ </a:t>
            </a:r>
            <a:r>
              <a:rPr lang="ar-DZ" sz="40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أيْــنَ </a:t>
            </a:r>
            <a:r>
              <a:rPr lang="ar-DZ" sz="3600" b="1" dirty="0" smtClean="0">
                <a:solidFill>
                  <a:srgbClr val="002060"/>
                </a:solidFill>
              </a:rPr>
              <a:t>تُــحْــفَــظُ </a:t>
            </a:r>
            <a:r>
              <a:rPr lang="ar-DZ" sz="36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</a:t>
            </a:r>
            <a:r>
              <a:rPr lang="ar-DZ" sz="3600" b="1" dirty="0" smtClean="0">
                <a:solidFill>
                  <a:srgbClr val="002060"/>
                </a:solidFill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والَّــتِي تَــكُــونُ مِــنْ إحْـــدى الأنـــواع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الــتـــالــيــة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21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مـا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هي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الـعـلاقـة الـمـوجـودة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بـيـن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الـمُـتَـغَــيِّـر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وَالـذَاكِـرَةِ الـحَـيَـة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24192" y="3018761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الـمُ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ـتَـ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غَـ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ـيِّـ</a:t>
            </a:r>
            <a:r>
              <a:rPr lang="ar-DZ" sz="4400" b="1" dirty="0" smtClean="0">
                <a:solidFill>
                  <a:srgbClr val="FF0000"/>
                </a:solidFill>
              </a:rPr>
              <a:t>ــ</a:t>
            </a:r>
            <a:r>
              <a:rPr lang="ar-SA" sz="4400" b="1" dirty="0" smtClean="0">
                <a:solidFill>
                  <a:srgbClr val="FF0000"/>
                </a:solidFill>
              </a:rPr>
              <a:t>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1"/>
          </p:cNvCxnSpPr>
          <p:nvPr/>
        </p:nvCxnSpPr>
        <p:spPr>
          <a:xfrm flipH="1" flipV="1">
            <a:off x="6005826" y="1879696"/>
            <a:ext cx="1818366" cy="16251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30" name="Espace réservé du contenu 21"/>
          <p:cNvSpPr txBox="1">
            <a:spLocks/>
          </p:cNvSpPr>
          <p:nvPr/>
        </p:nvSpPr>
        <p:spPr>
          <a:xfrm>
            <a:off x="7371696" y="4542740"/>
            <a:ext cx="4001336" cy="162256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40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22" grpId="0" animBg="1"/>
      <p:bldP spid="3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مـا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هي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الـعـلاقـة الـمـوجـودة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بـيـن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الـمُـتَـغَــيِّـر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وَالـذَاكِـرَةِ الـحَـيَـة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24192" y="3018761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الـمُ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ـتَـ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غَـ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ـيِّـ</a:t>
            </a:r>
            <a:r>
              <a:rPr lang="ar-DZ" sz="4400" b="1" dirty="0" smtClean="0">
                <a:solidFill>
                  <a:srgbClr val="FF0000"/>
                </a:solidFill>
              </a:rPr>
              <a:t>ــ</a:t>
            </a:r>
            <a:r>
              <a:rPr lang="ar-SA" sz="4400" b="1" dirty="0" smtClean="0">
                <a:solidFill>
                  <a:srgbClr val="FF0000"/>
                </a:solidFill>
              </a:rPr>
              <a:t>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1"/>
          </p:cNvCxnSpPr>
          <p:nvPr/>
        </p:nvCxnSpPr>
        <p:spPr>
          <a:xfrm flipH="1" flipV="1">
            <a:off x="6005826" y="1879696"/>
            <a:ext cx="1818366" cy="16251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371696" y="4542740"/>
            <a:ext cx="4001336" cy="162256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مَــوْضِــع</a:t>
            </a:r>
            <a:endParaRPr lang="fr-FR" sz="40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" name="Cadre 5"/>
          <p:cNvSpPr/>
          <p:nvPr/>
        </p:nvSpPr>
        <p:spPr>
          <a:xfrm>
            <a:off x="3071664" y="3745816"/>
            <a:ext cx="1348322" cy="11953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>
            <a:stCxn id="14" idx="2"/>
          </p:cNvCxnSpPr>
          <p:nvPr/>
        </p:nvCxnSpPr>
        <p:spPr>
          <a:xfrm flipH="1" flipV="1">
            <a:off x="3745826" y="4325085"/>
            <a:ext cx="3638282" cy="10289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4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14" grpId="0" animBg="1"/>
      <p:bldP spid="2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مـا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هي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الـعـلاقـة الـمـوجـودة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بـيـن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الـمُـتَـغَــيِّـر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وَالـذَاكِـرَةِ الـحَـيَـة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24192" y="3018761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الـمُ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ـتَـ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غَـ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ـيِّـ</a:t>
            </a:r>
            <a:r>
              <a:rPr lang="ar-DZ" sz="4400" b="1" dirty="0" smtClean="0">
                <a:solidFill>
                  <a:srgbClr val="FF0000"/>
                </a:solidFill>
              </a:rPr>
              <a:t>ــ</a:t>
            </a:r>
            <a:r>
              <a:rPr lang="ar-SA" sz="4400" b="1" dirty="0" smtClean="0">
                <a:solidFill>
                  <a:srgbClr val="FF0000"/>
                </a:solidFill>
              </a:rPr>
              <a:t>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1"/>
          </p:cNvCxnSpPr>
          <p:nvPr/>
        </p:nvCxnSpPr>
        <p:spPr>
          <a:xfrm flipH="1" flipV="1">
            <a:off x="6005826" y="1879696"/>
            <a:ext cx="1818366" cy="16251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371696" y="4542740"/>
            <a:ext cx="4001336" cy="162256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مَــوْضِــع</a:t>
            </a:r>
            <a:endParaRPr lang="fr-FR" sz="40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" name="Cadre 5"/>
          <p:cNvSpPr/>
          <p:nvPr/>
        </p:nvSpPr>
        <p:spPr>
          <a:xfrm>
            <a:off x="3071664" y="3745816"/>
            <a:ext cx="1348322" cy="11953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>
            <a:stCxn id="14" idx="2"/>
          </p:cNvCxnSpPr>
          <p:nvPr/>
        </p:nvCxnSpPr>
        <p:spPr>
          <a:xfrm flipH="1" flipV="1">
            <a:off x="3745826" y="4325085"/>
            <a:ext cx="3638282" cy="10289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601" y="327453"/>
            <a:ext cx="9072000" cy="624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1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14" grpId="0" animBg="1"/>
      <p:bldP spid="2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</a:t>
            </a:r>
            <a:r>
              <a:rPr lang="ar-DZ" sz="4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بـمـاذا يَــتَــمَــيَّــزُ كـل  </a:t>
            </a:r>
            <a:r>
              <a:rPr lang="ar-DZ" sz="4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مُــتَــغَـــيِّــر ( مَــوْضِـع ) </a:t>
            </a:r>
            <a:r>
              <a:rPr lang="ar-DZ" sz="4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6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24192" y="3018761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الـمُ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ـتَـ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غَـ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ـيِّـ</a:t>
            </a:r>
            <a:r>
              <a:rPr lang="ar-DZ" sz="4400" b="1" dirty="0" smtClean="0">
                <a:solidFill>
                  <a:srgbClr val="FF0000"/>
                </a:solidFill>
              </a:rPr>
              <a:t>ــ</a:t>
            </a:r>
            <a:r>
              <a:rPr lang="ar-SA" sz="4400" b="1" dirty="0" smtClean="0">
                <a:solidFill>
                  <a:srgbClr val="FF0000"/>
                </a:solidFill>
              </a:rPr>
              <a:t>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1"/>
          </p:cNvCxnSpPr>
          <p:nvPr/>
        </p:nvCxnSpPr>
        <p:spPr>
          <a:xfrm flipH="1" flipV="1">
            <a:off x="6005826" y="1879696"/>
            <a:ext cx="1818366" cy="16251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" name="Cadre 5"/>
          <p:cNvSpPr/>
          <p:nvPr/>
        </p:nvSpPr>
        <p:spPr>
          <a:xfrm>
            <a:off x="3071664" y="3745816"/>
            <a:ext cx="1348322" cy="11953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/>
          <p:nvPr/>
        </p:nvCxnSpPr>
        <p:spPr>
          <a:xfrm flipH="1" flipV="1">
            <a:off x="3745826" y="4325085"/>
            <a:ext cx="3638282" cy="10289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320136" y="4581128"/>
            <a:ext cx="4001336" cy="162256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468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22" grpId="0" animBg="1"/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بـمـاذا يَــتَــمَــيَّــزُ كـل 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مُــتَــغَـــيِّــر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550247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556793"/>
            <a:ext cx="10959008" cy="97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يَــتَــمَــيَّــزُ كـل 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مُــتَــغَـــيِّــر بــ :</a:t>
            </a:r>
            <a:endParaRPr lang="fr-FR" sz="5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622464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</a:t>
            </a:r>
            <a:endParaRPr lang="fr-FR"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528793"/>
            <a:ext cx="1554711" cy="14905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6126927" y="2482944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567272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653136"/>
            <a:ext cx="4001336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9492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بـمـاذا يَــتَــمَــيَّــزُ كـل 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مُــتَــغَـــيِّــر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356783"/>
            <a:ext cx="3816424" cy="9872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اســم</a:t>
            </a:r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505865"/>
            <a:ext cx="10959008" cy="97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يَــتَــمَــيَّــزُ كـل 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مُــتَــغَـــيِّــر بــ :</a:t>
            </a:r>
            <a:endParaRPr lang="fr-FR" sz="5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429000"/>
            <a:ext cx="3682378" cy="9872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قــيــمـة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477865"/>
            <a:ext cx="1554711" cy="14447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6126927" y="2482944"/>
            <a:ext cx="1440160" cy="13674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7567272" y="4725144"/>
            <a:ext cx="4001336" cy="151216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725144"/>
            <a:ext cx="4001336" cy="151216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9837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مـا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هي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الـعـلاقـة الـمـوجـودة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بـيـن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الـمُـتَـغَــيِّـر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وَالـذَاكِـرَةِ الـحَـيَـة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26760" y="2009906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الـمُ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ـتَـ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غَـ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ـيِّـ</a:t>
            </a:r>
            <a:r>
              <a:rPr lang="ar-DZ" sz="4400" b="1" dirty="0" smtClean="0">
                <a:solidFill>
                  <a:srgbClr val="FF0000"/>
                </a:solidFill>
              </a:rPr>
              <a:t>ــ</a:t>
            </a:r>
            <a:r>
              <a:rPr lang="ar-SA" sz="4400" b="1" dirty="0" smtClean="0">
                <a:solidFill>
                  <a:srgbClr val="FF0000"/>
                </a:solidFill>
              </a:rPr>
              <a:t>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1"/>
          </p:cNvCxnSpPr>
          <p:nvPr/>
        </p:nvCxnSpPr>
        <p:spPr>
          <a:xfrm flipH="1" flipV="1">
            <a:off x="6000382" y="1885781"/>
            <a:ext cx="1926378" cy="6101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371696" y="3198041"/>
            <a:ext cx="4001336" cy="315831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الاس</a:t>
            </a:r>
            <a:r>
              <a:rPr lang="ar-DZ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ـ</a:t>
            </a:r>
            <a:r>
              <a:rPr lang="ar-DZ" sz="4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ـم هــو عـنـوان ذلـك الـمـوضـع</a:t>
            </a:r>
            <a:endParaRPr lang="fr-FR" sz="40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" name="Cadre 5"/>
          <p:cNvSpPr/>
          <p:nvPr/>
        </p:nvSpPr>
        <p:spPr>
          <a:xfrm>
            <a:off x="3071664" y="3745816"/>
            <a:ext cx="1348322" cy="11953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>
            <a:stCxn id="14" idx="2"/>
          </p:cNvCxnSpPr>
          <p:nvPr/>
        </p:nvCxnSpPr>
        <p:spPr>
          <a:xfrm flipH="1" flipV="1">
            <a:off x="3745826" y="4325087"/>
            <a:ext cx="3638282" cy="4521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80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14" grpId="0" animBg="1"/>
      <p:bldP spid="2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مـا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هي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الـعـلاقـة الـمـوجـودة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بـيـن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الـمُـتَـغَــيِّـر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وَالـذَاكِـرَةِ الـحَـيَـة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26760" y="2009906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الـمُ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ـتَـ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غَـ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ـيِّـ</a:t>
            </a:r>
            <a:r>
              <a:rPr lang="ar-DZ" sz="4400" b="1" dirty="0" smtClean="0">
                <a:solidFill>
                  <a:srgbClr val="FF0000"/>
                </a:solidFill>
              </a:rPr>
              <a:t>ــ</a:t>
            </a:r>
            <a:r>
              <a:rPr lang="ar-SA" sz="4400" b="1" dirty="0" smtClean="0">
                <a:solidFill>
                  <a:srgbClr val="FF0000"/>
                </a:solidFill>
              </a:rPr>
              <a:t>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1"/>
          </p:cNvCxnSpPr>
          <p:nvPr/>
        </p:nvCxnSpPr>
        <p:spPr>
          <a:xfrm flipH="1" flipV="1">
            <a:off x="6000382" y="1885781"/>
            <a:ext cx="1926378" cy="6101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371696" y="3198041"/>
            <a:ext cx="4001336" cy="315831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الاسـم هـو عـنـوان ذلـك الـمـوضع</a:t>
            </a:r>
            <a:endParaRPr lang="fr-FR" sz="40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" name="Cadre 5"/>
          <p:cNvSpPr/>
          <p:nvPr/>
        </p:nvSpPr>
        <p:spPr>
          <a:xfrm>
            <a:off x="3071664" y="3745816"/>
            <a:ext cx="1348322" cy="11953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>
            <a:stCxn id="14" idx="2"/>
          </p:cNvCxnSpPr>
          <p:nvPr/>
        </p:nvCxnSpPr>
        <p:spPr>
          <a:xfrm flipH="1" flipV="1">
            <a:off x="3745826" y="4325087"/>
            <a:ext cx="3638282" cy="4521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Imag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649" y="300661"/>
            <a:ext cx="9828000" cy="6287108"/>
          </a:xfrm>
          <a:prstGeom prst="rect">
            <a:avLst/>
          </a:prstGeom>
          <a:ln w="381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5382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14" grpId="0" animBg="1"/>
      <p:bldP spid="2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مـا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هي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الـعـلاقـة الـمـوجـودة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بـيـن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الـمُـتَـغَــيِّـر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وَالـذَاكِـرَةِ الـحَـيَـة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26760" y="2009906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FF0000"/>
                </a:solidFill>
              </a:rPr>
              <a:t>الـمُ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ـتَـ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غَـ</a:t>
            </a:r>
            <a:r>
              <a:rPr lang="ar-DZ" sz="4400" b="1" dirty="0" smtClean="0">
                <a:solidFill>
                  <a:srgbClr val="FF0000"/>
                </a:solidFill>
              </a:rPr>
              <a:t>ـ</a:t>
            </a:r>
            <a:r>
              <a:rPr lang="ar-SA" sz="4400" b="1" dirty="0" smtClean="0">
                <a:solidFill>
                  <a:srgbClr val="FF0000"/>
                </a:solidFill>
              </a:rPr>
              <a:t>ـيِّـ</a:t>
            </a:r>
            <a:r>
              <a:rPr lang="ar-DZ" sz="4400" b="1" dirty="0" smtClean="0">
                <a:solidFill>
                  <a:srgbClr val="FF0000"/>
                </a:solidFill>
              </a:rPr>
              <a:t>ــ</a:t>
            </a:r>
            <a:r>
              <a:rPr lang="ar-SA" sz="4400" b="1" dirty="0" smtClean="0">
                <a:solidFill>
                  <a:srgbClr val="FF0000"/>
                </a:solidFill>
              </a:rPr>
              <a:t>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1"/>
          </p:cNvCxnSpPr>
          <p:nvPr/>
        </p:nvCxnSpPr>
        <p:spPr>
          <a:xfrm flipH="1" flipV="1">
            <a:off x="6000382" y="1885781"/>
            <a:ext cx="1926378" cy="6101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371696" y="3198041"/>
            <a:ext cx="4001336" cy="339931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endParaRPr lang="ar-DZ" sz="1000" b="1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الـمـوضـع مُهَـيَّـأ مـن أجـل حـفـظ بـيـانـات</a:t>
            </a:r>
            <a:endParaRPr lang="fr-FR" sz="36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" name="Cadre 5"/>
          <p:cNvSpPr/>
          <p:nvPr/>
        </p:nvSpPr>
        <p:spPr>
          <a:xfrm>
            <a:off x="3071664" y="3745816"/>
            <a:ext cx="1348322" cy="11953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>
            <a:stCxn id="14" idx="2"/>
          </p:cNvCxnSpPr>
          <p:nvPr/>
        </p:nvCxnSpPr>
        <p:spPr>
          <a:xfrm flipH="1" flipV="1">
            <a:off x="3745826" y="4325087"/>
            <a:ext cx="3638282" cy="5726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97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14" grpId="0" animBg="1"/>
      <p:bldP spid="2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بـمـاذا يَــتَــمَــيَّــزُ كـل 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مُــتَــغَـــيِّــر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7087" y="3356783"/>
            <a:ext cx="3816424" cy="9872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اســم</a:t>
            </a:r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699118"/>
            <a:ext cx="10959008" cy="97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يَــتَــمَــيَّــزُ كـل 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مُــتَــغَـــيِّــر بــ :</a:t>
            </a:r>
            <a:endParaRPr lang="fr-FR" sz="5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15" y="3429000"/>
            <a:ext cx="3682378" cy="9872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قــيــمـة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cxnSp>
        <p:nvCxnSpPr>
          <p:cNvPr id="10" name="Connecteur droit avec flèche 9"/>
          <p:cNvCxnSpPr>
            <a:stCxn id="8" idx="2"/>
            <a:endCxn id="9" idx="3"/>
          </p:cNvCxnSpPr>
          <p:nvPr/>
        </p:nvCxnSpPr>
        <p:spPr>
          <a:xfrm flipH="1">
            <a:off x="4534393" y="2671118"/>
            <a:ext cx="1554711" cy="12515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8" idx="2"/>
            <a:endCxn id="6" idx="1"/>
          </p:cNvCxnSpPr>
          <p:nvPr/>
        </p:nvCxnSpPr>
        <p:spPr>
          <a:xfrm>
            <a:off x="6089104" y="2671118"/>
            <a:ext cx="1477983" cy="11792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6528048" y="4585024"/>
            <a:ext cx="4855463" cy="20123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endParaRPr lang="ar-DZ" sz="1000" b="1" dirty="0" smtClean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عــنـوان الـمـوضـع</a:t>
            </a:r>
            <a:endParaRPr lang="fr-FR" sz="40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581129"/>
            <a:ext cx="4320480" cy="201622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6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Réel, Entier, Caractère …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6089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6" grpId="0" animBg="1"/>
      <p:bldP spid="8" grpId="0" animBg="1"/>
      <p:bldP spid="9" grpId="0" animBg="1"/>
      <p:bldP spid="12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الـمــتـغــيِّــر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يُــمَــثِّــلُ </a:t>
            </a:r>
            <a:r>
              <a:rPr lang="ar-DZ" sz="40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أيْــنَ </a:t>
            </a:r>
            <a:r>
              <a:rPr lang="ar-DZ" sz="3600" b="1" dirty="0" smtClean="0">
                <a:solidFill>
                  <a:srgbClr val="002060"/>
                </a:solidFill>
              </a:rPr>
              <a:t>تُــحْــفَــظُ </a:t>
            </a:r>
            <a:r>
              <a:rPr lang="ar-DZ" sz="36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</a:t>
            </a:r>
            <a:r>
              <a:rPr lang="ar-DZ" sz="3600" b="1" dirty="0" smtClean="0">
                <a:solidFill>
                  <a:srgbClr val="002060"/>
                </a:solidFill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والَّــتِي تَــكُــونُ مِــنْ إحْـــدى الأنـــواع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الــتـــالــيــة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0408" y="2683161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5091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الـمــتـغــيِّــر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يُــمَــثِّــلُ </a:t>
            </a:r>
            <a:r>
              <a:rPr lang="ar-DZ" sz="40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أيْــنَ </a:t>
            </a:r>
            <a:r>
              <a:rPr lang="ar-DZ" sz="3600" b="1" dirty="0" smtClean="0">
                <a:solidFill>
                  <a:srgbClr val="002060"/>
                </a:solidFill>
              </a:rPr>
              <a:t>تُــحْــفَــظُ </a:t>
            </a:r>
            <a:r>
              <a:rPr lang="ar-DZ" sz="36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</a:t>
            </a:r>
            <a:r>
              <a:rPr lang="ar-DZ" sz="3600" b="1" dirty="0" smtClean="0">
                <a:solidFill>
                  <a:srgbClr val="002060"/>
                </a:solidFill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والَّــتِي تَــكُــونُ مِــنْ إحْـــدى الأنـــواع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الــتـــالــيــة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0408" y="2683161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2670283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221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الـمــتـغــيِّــر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يُــمَــثِّــلُ </a:t>
            </a:r>
            <a:r>
              <a:rPr lang="ar-DZ" sz="40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أيْــنَ </a:t>
            </a:r>
            <a:r>
              <a:rPr lang="ar-DZ" sz="3600" b="1" dirty="0" smtClean="0">
                <a:solidFill>
                  <a:srgbClr val="002060"/>
                </a:solidFill>
              </a:rPr>
              <a:t>تُــحْــفَــظُ </a:t>
            </a:r>
            <a:r>
              <a:rPr lang="ar-DZ" sz="36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</a:t>
            </a:r>
            <a:r>
              <a:rPr lang="ar-DZ" sz="3600" b="1" dirty="0" smtClean="0">
                <a:solidFill>
                  <a:srgbClr val="002060"/>
                </a:solidFill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والَّــتِي تَــكُــونُ مِــنْ إحْـــدى الأنـــواع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الــتـــالــيــة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0408" y="2683161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2670283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07669" y="3591819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قِــيــمَــتُــهَ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883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عـــدد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أو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IQ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endParaRPr lang="fr-FR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34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عـــدد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أو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IQ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endParaRPr lang="fr-FR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4071" y="25444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صــحــيــح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40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عـــدد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أو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IQ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endParaRPr lang="fr-FR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4071" y="25444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صــحــيــح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47728" y="3573016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حــقــيـــقـي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005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عـــدد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أو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IQ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endParaRPr lang="fr-FR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4071" y="25444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صــحــيــح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47728" y="3573016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حــقــيـــقـي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51984" y="4723455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حَـــرْفٌ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79576" y="4723455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رَمْـــزٌ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472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de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عِـــدَّة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r>
              <a:rPr lang="ar-IQ" sz="4000" b="1" dirty="0">
                <a:solidFill>
                  <a:srgbClr val="002060"/>
                </a:solidFill>
              </a:rPr>
              <a:t>و / أ و </a:t>
            </a:r>
            <a:r>
              <a:rPr lang="ar-IQ" sz="4000" b="1" dirty="0" smtClean="0">
                <a:solidFill>
                  <a:srgbClr val="002060"/>
                </a:solidFill>
              </a:rPr>
              <a:t>عِـــدَّة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Booléen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IQ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مــنــطـــقـي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أي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 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2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Chaine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de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aractère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عِـــدَّة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r>
              <a:rPr lang="ar-IQ" sz="4000" b="1" dirty="0">
                <a:solidFill>
                  <a:srgbClr val="002060"/>
                </a:solidFill>
              </a:rPr>
              <a:t>و / أ و </a:t>
            </a:r>
            <a:r>
              <a:rPr lang="ar-IQ" sz="4000" b="1" dirty="0" smtClean="0">
                <a:solidFill>
                  <a:srgbClr val="002060"/>
                </a:solidFill>
              </a:rPr>
              <a:t>عِـــدَّة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Booléen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IQ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مــنــطـــقـي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أي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 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3868" y="2636912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84032" y="3645024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رُمُـــوز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805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Chaine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de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aractère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عِـــدَّة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r>
              <a:rPr lang="ar-IQ" sz="4000" b="1" dirty="0">
                <a:solidFill>
                  <a:srgbClr val="002060"/>
                </a:solidFill>
              </a:rPr>
              <a:t>و / أ و </a:t>
            </a:r>
            <a:r>
              <a:rPr lang="ar-IQ" sz="4000" b="1" dirty="0" smtClean="0">
                <a:solidFill>
                  <a:srgbClr val="002060"/>
                </a:solidFill>
              </a:rPr>
              <a:t>عِـــدَّة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Booléen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IQ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مــنــطـــقـي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أي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 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3868" y="2636912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84032" y="3645024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رُمُـــوز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19736" y="4710576"/>
            <a:ext cx="1946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صـحــيــح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70553" y="4708515"/>
            <a:ext cx="176207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خــطــأ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372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3" grpId="0" animBg="1"/>
      <p:bldP spid="10" grpId="0" animBg="1"/>
      <p:bldP spid="1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تــصــريـــح مُــتَــغَـــيِّـــر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Variable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Type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endParaRPr lang="ar-DZ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68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أمــثــلــة</a:t>
            </a:r>
            <a:r>
              <a:rPr lang="ar-DZ" sz="44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Variable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Nom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Prenom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: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Chaine de 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</a:p>
          <a:p>
            <a:pPr marL="0" lvl="0" indent="0" algn="just"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	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	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Y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: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</a:p>
          <a:p>
            <a:pPr marL="0" lvl="0" indent="0" algn="just">
              <a:buNone/>
            </a:pP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: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endParaRPr lang="ar-DZ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69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94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مـا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هي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الـعـلاقـة الـمـوجـودة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بـيـن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الـثـابــت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وَالـذَاكِـرَةِ الـحَـيَـة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24192" y="3018761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الـثَـابِــت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1"/>
          </p:cNvCxnSpPr>
          <p:nvPr/>
        </p:nvCxnSpPr>
        <p:spPr>
          <a:xfrm flipH="1" flipV="1">
            <a:off x="6005826" y="1879696"/>
            <a:ext cx="1818366" cy="16251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371696" y="4542740"/>
            <a:ext cx="4001336" cy="162256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  <a:endParaRPr lang="fr-FR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" name="Cadre 5"/>
          <p:cNvSpPr/>
          <p:nvPr/>
        </p:nvSpPr>
        <p:spPr>
          <a:xfrm>
            <a:off x="3071664" y="3745816"/>
            <a:ext cx="1348322" cy="1195352"/>
          </a:xfrm>
          <a:prstGeom prst="fram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>
            <a:stCxn id="14" idx="2"/>
          </p:cNvCxnSpPr>
          <p:nvPr/>
        </p:nvCxnSpPr>
        <p:spPr>
          <a:xfrm flipH="1" flipV="1">
            <a:off x="3745826" y="4325085"/>
            <a:ext cx="3638282" cy="10289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83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14" grpId="0" animBg="1"/>
      <p:bldP spid="2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مـا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هي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الـعـلاقـة الـمـوجـودة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بـيـن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الـثـابــت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وَالـذَاكِـرَةِ الـحَـيَـة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24192" y="3018761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الـثَـابِــت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>
            <a:stCxn id="8" idx="1"/>
          </p:cNvCxnSpPr>
          <p:nvPr/>
        </p:nvCxnSpPr>
        <p:spPr>
          <a:xfrm flipH="1" flipV="1">
            <a:off x="6005826" y="1879696"/>
            <a:ext cx="1818366" cy="16251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371696" y="4542740"/>
            <a:ext cx="4001336" cy="162256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مَــوْضِــع</a:t>
            </a:r>
            <a:endParaRPr lang="fr-FR" sz="40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" name="Cadre 5"/>
          <p:cNvSpPr/>
          <p:nvPr/>
        </p:nvSpPr>
        <p:spPr>
          <a:xfrm>
            <a:off x="3071664" y="3745816"/>
            <a:ext cx="1348322" cy="1195352"/>
          </a:xfrm>
          <a:prstGeom prst="fram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>
            <a:stCxn id="14" idx="2"/>
          </p:cNvCxnSpPr>
          <p:nvPr/>
        </p:nvCxnSpPr>
        <p:spPr>
          <a:xfrm flipH="1" flipV="1">
            <a:off x="3745826" y="4325085"/>
            <a:ext cx="3638282" cy="10289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53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14" grpId="0" animBg="1"/>
      <p:bldP spid="2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مـا </a:t>
            </a:r>
            <a:r>
              <a:rPr lang="ar-DZ" sz="42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هــو الـفَــرْقُ بــيـن </a:t>
            </a:r>
            <a:r>
              <a:rPr lang="ar-DZ" sz="42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الـثـوابــت</a:t>
            </a:r>
            <a:r>
              <a:rPr lang="ar-DZ" sz="42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وَالـمُــتَــغَــيِّــرَات ؟</a:t>
            </a:r>
            <a:endParaRPr lang="fr-FR" sz="42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54601" y="2924944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الـثَـابِــت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120696"/>
            <a:ext cx="5396226" cy="444922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600" y="1340769"/>
            <a:ext cx="5396226" cy="100811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الـذاكــرة الـحــيــة</a:t>
            </a:r>
            <a:endParaRPr lang="fr-FR" sz="44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6" name="Cadre 5"/>
          <p:cNvSpPr/>
          <p:nvPr/>
        </p:nvSpPr>
        <p:spPr>
          <a:xfrm>
            <a:off x="3372438" y="2809712"/>
            <a:ext cx="1348322" cy="1195352"/>
          </a:xfrm>
          <a:prstGeom prst="fram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/>
          <p:nvPr/>
        </p:nvCxnSpPr>
        <p:spPr>
          <a:xfrm flipH="1">
            <a:off x="4647245" y="3407388"/>
            <a:ext cx="320735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869725" y="4784869"/>
            <a:ext cx="3168352" cy="9721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الـمُــتَــغَــيِّــر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Cadre 18"/>
          <p:cNvSpPr/>
          <p:nvPr/>
        </p:nvSpPr>
        <p:spPr>
          <a:xfrm>
            <a:off x="3372438" y="4753928"/>
            <a:ext cx="1348322" cy="11953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0" name="Connecteur droit avec flèche 19"/>
          <p:cNvCxnSpPr/>
          <p:nvPr/>
        </p:nvCxnSpPr>
        <p:spPr>
          <a:xfrm flipH="1">
            <a:off x="4662368" y="5304520"/>
            <a:ext cx="3207357" cy="3326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02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8" grpId="0" animBg="1"/>
      <p:bldP spid="9" grpId="0" animBg="1"/>
      <p:bldP spid="22" grpId="0" animBg="1"/>
      <p:bldP spid="1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7608" y="262499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221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7608" y="262499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6388" y="3621348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408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7608" y="262499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6388" y="3621348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1560" y="3621348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قِــيــمَــة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1311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7608" y="262499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6388" y="3621348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1560" y="3621348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قِــيــمَــة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99855" y="4575305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تــغــيــيــرهـا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2986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تــصــريـــح </a:t>
            </a:r>
            <a:r>
              <a:rPr lang="ar-DZ" sz="44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ثـــابــت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Constante 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     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Valeur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endParaRPr lang="ar-DZ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ــ  تـــابـــع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6600056" y="4293096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61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أمــثــلــة</a:t>
            </a:r>
            <a:r>
              <a:rPr lang="ar-DZ" sz="44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Constante 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Pi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 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 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3.14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</a:p>
          <a:p>
            <a:pPr marL="0" lvl="0" indent="0" algn="just">
              <a:buNone/>
            </a:pP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B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      </a:t>
            </a:r>
            <a:r>
              <a:rPr lang="fr-FR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Vrai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endParaRPr lang="ar-DZ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  تـــابـــع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4047898" y="3750403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4073656" y="4457604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20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6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: </a:t>
            </a:r>
            <a:endParaRPr lang="ar-DZ" sz="4400" b="1" dirty="0" smtClean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مــاهـي </a:t>
            </a:r>
            <a:r>
              <a:rPr lang="ar-DZ" sz="4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الـقـــواعـــد الَّـتي يـجـب احــتــرامـهـا عــنـد اخــتــيــار أســـمـــاء الـمـــتـــغـــيـــرات والـثــوابــت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؟ 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يـضُّـمُ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الاســم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مــن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) 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0  إلـى  9  )</a:t>
            </a: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يَـجِــبُ أَنْ تَــبْــدَأَ أَسْــمَــاءُ الــمُــعَـــرَّفَـــاتِ 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دَائِــمًــا بِـ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)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6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يـضُّـمُ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الاســم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مــن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) 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0  إلـى  9  )</a:t>
            </a: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يَـجِــبُ أَنْ تَــبْــدَأَ أَسْــمَــاءُ الــمُــعَـــرَّفَـــاتِ 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دَائِــمًــا بِـ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)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23792" y="2491207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حُـــرُوفًــا انــجــلــيــزيــة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290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يـضُّـمُ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الاســم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مــن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) 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0  إلـى  9  )</a:t>
            </a: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يَـجِــبُ أَنْ تَــبْــدَأَ أَسْــمَــاءُ الــمُــعَـــرَّفَـــاتِ 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دَائِــمًــا بِـ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)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23792" y="2491207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حُـــرُوفًــا انــجــلــيــزيــة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3453975"/>
            <a:ext cx="2592288" cy="7501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أَرْقَـــامًـــا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687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يـضُّـمُ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الاســم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مــن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) 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0  إلـى  9  )</a:t>
            </a: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يَـجِــبُ أَنْ تَــبْــدَأَ أَسْــمَــاءُ الــمُــعَـــرَّفَـــاتِ 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دَائِــمًــا بِـ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)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23792" y="2491207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حُـــرُوفًــا انــجــلــيــزيــة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3453975"/>
            <a:ext cx="2592288" cy="7501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أَرْقَـــامًـــا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48128" y="5136700"/>
            <a:ext cx="35651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حَـــرْفٍ انــجــلــيــزي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233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لا يُــمْـكِـنُ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لاســم</a:t>
            </a:r>
            <a:r>
              <a:rPr lang="fr-FR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الــمُــعَــــرَّفَ</a:t>
            </a:r>
            <a:r>
              <a:rPr lang="fr-FR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أن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يـحــتــوي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لـكـن بَـــدَلًا عــنـهـا يُــمْــكِــنُــنَـا اســتــعـــمــال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الــرَمْـــزِ 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Tiret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du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8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marL="0" lvl="0" indent="0" algn="just" rtl="1">
              <a:lnSpc>
                <a:spcPct val="13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Val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Abs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، 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Equation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2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degre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…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ـــ   تـــابــع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39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لا يُــمْـكِـنُ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لاســم</a:t>
            </a:r>
            <a:r>
              <a:rPr lang="fr-FR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الــمُــعَــــرَّفَ</a:t>
            </a:r>
            <a:r>
              <a:rPr lang="fr-FR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أن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يـحــتــوي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لـكـن بَـــدَلًا عــنـهـا يُــمْــكِــنُــنَـا اســتــعـــمــال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الــرَمْـــزِ 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Tiret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du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8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marL="0" lvl="0" indent="0" algn="just" rtl="1">
              <a:lnSpc>
                <a:spcPct val="13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Val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Abs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، 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Equation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2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degre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…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ـــ   تـــابــع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30282" y="3356992"/>
            <a:ext cx="43570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فَـــرَاغَـــاتٍ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Espaces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28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تـجَـنُـبُ اسـتـعــمـال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Algorithme 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Variable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de 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Booléen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Début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Fin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Lire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Alors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Sinon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Pour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... 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إلــخ</a:t>
            </a:r>
            <a:endParaRPr lang="ar-DZ" sz="3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ـــ   تـــابــع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96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تـجَـنُـبُ اسـتـعــمـال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Algorithme 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Variable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de 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Booléen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Début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Fin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Lire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Alors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Sinon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Pour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... 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إلــخ</a:t>
            </a:r>
            <a:endParaRPr lang="ar-DZ" sz="3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ـــ   تـــابــع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54399" y="2506343"/>
            <a:ext cx="4009753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الـكــلـمـات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الـمَـحْـجُــوزَة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87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4096" y="222161"/>
            <a:ext cx="10972800" cy="878998"/>
          </a:xfrm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مُــلَــخَــص قَــوَاعِـــدِ أَسْــمَـ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ـاءِ الــمُـعَـــرَّفَــــات</a:t>
            </a:r>
            <a:endParaRPr lang="fr-FR" sz="4800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599" y="1152172"/>
            <a:ext cx="11007297" cy="5373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684" y="1932329"/>
            <a:ext cx="10972800" cy="464402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944526" y="4214565"/>
            <a:ext cx="4838330" cy="2088000"/>
          </a:xfrm>
          <a:prstGeom prst="cloud">
            <a:avLst/>
          </a:prstGeom>
          <a:ln w="28575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endParaRPr lang="ar-DZ" sz="1000" b="1" dirty="0" smtClean="0">
              <a:solidFill>
                <a:srgbClr val="00B050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تَـجَـنُـبُ الـكَـلِـمَـات الـمَـحْـجُــوزَة</a:t>
            </a:r>
            <a:endParaRPr lang="fr-FR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684" y="1152403"/>
            <a:ext cx="10972800" cy="1008111"/>
          </a:xfrm>
          <a:prstGeom prst="rect">
            <a:avLst/>
          </a:prstGeom>
          <a:solidFill>
            <a:srgbClr val="C5F1FF"/>
          </a:solidFill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الـحَــرْفُ الـثَــانِـي مِـنْ اِسْــمِ الـمُـعَــرَّف حَــتَـى نِـهَـايَــةِ الِاسْــمِ</a:t>
            </a:r>
            <a:endParaRPr lang="fr-FR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58759" y="3312913"/>
            <a:ext cx="4859822" cy="2808312"/>
          </a:xfrm>
          <a:prstGeom prst="rect">
            <a:avLst/>
          </a:prstGeom>
          <a:solidFill>
            <a:srgbClr val="E7F9FF"/>
          </a:solidFill>
          <a:ln w="5715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</a:p>
          <a:p>
            <a:pPr algn="ctr" rtl="1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71879" y="3451260"/>
            <a:ext cx="4608513" cy="959797"/>
          </a:xfrm>
          <a:prstGeom prst="rect">
            <a:avLst/>
          </a:prstGeom>
          <a:solidFill>
            <a:srgbClr val="E7F9FF"/>
          </a:solidFill>
          <a:ln w="381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الـحَــرْفُ الأَوَل مِـنْ الاِسْـم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5768" y="2262540"/>
            <a:ext cx="10598968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1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2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3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4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5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6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7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8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9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83432" y="3161577"/>
            <a:ext cx="4520484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Tiret de 8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3709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4" grpId="0" animBg="1"/>
      <p:bldP spid="22" grpId="0" animBg="1"/>
      <p:bldP spid="17" grpId="0" animBg="1"/>
      <p:bldP spid="19" grpId="0" animBg="1"/>
      <p:bldP spid="20" grpId="0"/>
      <p:bldP spid="24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تـجَـنُـبُ اسـتـعــمـال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Algorithme 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Variable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de 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Booléen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Début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Fin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Lire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Alors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Sinon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fr-FR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Pour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... 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إلــخ</a:t>
            </a:r>
            <a:endParaRPr lang="ar-DZ" sz="3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ـــ   تـــابــع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54399" y="2506343"/>
            <a:ext cx="4009753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الـكــلـمـات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الـمَـحْـجُــوزَة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28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5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مُــلَــخَــص قَــوَاعِـــدِ أَسْــمَـ</a:t>
            </a:r>
            <a:r>
              <a:rPr lang="ar-DZ" sz="5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</a:t>
            </a:r>
            <a:r>
              <a:rPr lang="ar-DZ" sz="5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ـاءِ الــمُـعَـــرَّفَــــات</a:t>
            </a:r>
            <a:endParaRPr lang="fr-FR" sz="5000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599" y="1152172"/>
            <a:ext cx="11007297" cy="5373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684" y="1932330"/>
            <a:ext cx="10972800" cy="458570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269677"/>
            <a:ext cx="4838330" cy="2088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endParaRPr lang="ar-DZ" sz="1000" b="1" dirty="0" smtClean="0">
              <a:solidFill>
                <a:srgbClr val="00B050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تَـجَـنُـبُ الـكَـلِـمَـات الـمَـحْـجُــوزَة</a:t>
            </a:r>
            <a:endParaRPr lang="fr-FR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684" y="1152403"/>
            <a:ext cx="10972800" cy="100811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الـحَــرْفُ الـثـانـي مـن اِسْــمِ الـمُـعَــرَّف حـتـى نـهـايــة الاســم</a:t>
            </a:r>
            <a:endParaRPr lang="fr-FR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13247" y="3356992"/>
            <a:ext cx="4859822" cy="2808312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</a:p>
          <a:p>
            <a:pPr algn="ctr" rtl="1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26367" y="3495339"/>
            <a:ext cx="4608513" cy="959797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الـحَــرْفُ الأَوَل مِـنْ الاِسْـم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5768" y="2262540"/>
            <a:ext cx="10598968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1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2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3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4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5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6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7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8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9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83432" y="3161577"/>
            <a:ext cx="4520484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Tiret de 8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649" y="300661"/>
            <a:ext cx="9828000" cy="6287108"/>
          </a:xfrm>
          <a:prstGeom prst="rect">
            <a:avLst/>
          </a:prstGeom>
          <a:ln w="381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6611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4" grpId="0" animBg="1"/>
      <p:bldP spid="22" grpId="0" animBg="1"/>
      <p:bldP spid="17" grpId="0" animBg="1"/>
      <p:bldP spid="19" grpId="0" animBg="1"/>
      <p:bldP spid="20" grpId="0"/>
      <p:bldP spid="24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5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مُــلَــخَــص قَــوَاعِـــدِ أَسْــمَـ</a:t>
            </a:r>
            <a:r>
              <a:rPr lang="ar-DZ" sz="5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</a:t>
            </a:r>
            <a:r>
              <a:rPr lang="ar-DZ" sz="5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ـاءِ الــمُـعَـــرَّفَــــات</a:t>
            </a:r>
            <a:endParaRPr lang="fr-FR" sz="5000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599" y="1152172"/>
            <a:ext cx="11007297" cy="5373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684" y="1932330"/>
            <a:ext cx="10972800" cy="458570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67408" y="4269677"/>
            <a:ext cx="4838330" cy="2088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endParaRPr lang="ar-DZ" sz="1000" b="1" dirty="0" smtClean="0">
              <a:solidFill>
                <a:srgbClr val="00B050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تَـجَـنُـبُ الـكَـلِـمَـات الـمَـحْـجُــوزَة</a:t>
            </a:r>
            <a:endParaRPr lang="fr-FR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684" y="1152403"/>
            <a:ext cx="10972800" cy="100811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الـحَــرْفُ الـثـانـي مـن اِسْــمِ الـمُـعَــرَّف حـتـى نـهـايــة الاســم</a:t>
            </a:r>
            <a:endParaRPr lang="fr-FR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13247" y="3356992"/>
            <a:ext cx="4859822" cy="2808312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</a:p>
          <a:p>
            <a:pPr algn="ctr" rtl="1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26367" y="3495339"/>
            <a:ext cx="4608513" cy="959797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الـحَــرْفُ الأَوَل مِـنْ الاِسْـم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5768" y="2262540"/>
            <a:ext cx="10598968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1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2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3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4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5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6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7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8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9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83432" y="3161577"/>
            <a:ext cx="4520484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Tiret de 8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8080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4" grpId="0" animBg="1"/>
      <p:bldP spid="22" grpId="0" animBg="1"/>
      <p:bldP spid="17" grpId="0" animBg="1"/>
      <p:bldP spid="19" grpId="0" animBg="1"/>
      <p:bldP spid="20" grpId="0"/>
      <p:bldP spid="24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يَـضُّـمُ الـجُــزْءِ الـثــالـث مـن الـخــوارزمــيـة الـتــعــلــيـــمــات  فـمـاذا تُــمَــثِّــلُ ؟ ومـا هــو دَوْرُهَـا بـالـنِـسْـبَـة للـحــاســوب ؟ حَـــدِّدْ أَنْـــوَاع الـتــعــلــيـــمــات وخــصـائـصـهـا </a:t>
            </a: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نــشــاط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7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97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للـجــهـــاز بــتــحـــديــــد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الــمُـــرَاد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وهــي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أنـــواع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7783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للـجــهـــاز بــتــحـــديــــد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الــمُـــرَاد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وهــي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أنـــواع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4" y="1971669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أَوَامِـــرٌ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35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للـجــهـــاز بــتــحـــديــــد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الــمُـــرَاد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وهــي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أنـــواع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4" y="1971669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أَوَامِـــرٌ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2925032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الـعــمــلــيــة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92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للـجــهـــاز بــتــحـــديــــد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الــمُـــرَاد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وهــي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أنـــواع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4" y="1971669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أَوَامِـــرٌ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2925032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الـعــمــلــيــة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07768" y="2925032"/>
            <a:ext cx="2420793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إنـجـــازهــا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02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بـإدخــال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الـجــهــاز بــواســطــة لــوحــة الـمــفــاتــيـح وحــفــظـهـا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فـي الــذاكـــرة الــحـــيَّــة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الـقـــراءة </a:t>
            </a:r>
            <a:r>
              <a:rPr lang="ar-DZ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de lecture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3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بـإدخــال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الـجــهــاز بــواســطــة لــوحــة الـمــفــاتــيـح وحــفــظـهـا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فـي الــذاكـــرة الــحـــيَّــة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الـقـــراءة </a:t>
            </a:r>
            <a:r>
              <a:rPr lang="ar-DZ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de lecture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19936" y="26369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637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بـإدخــال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الـجــهــاز بــواســطــة لــوحــة الـمــفــاتــيـح وحــفــظـهـا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فـي الــذاكـــرة الــحـــيَّــة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الـقـــراءة </a:t>
            </a:r>
            <a:r>
              <a:rPr lang="ar-DZ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de lecture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19936" y="26369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3645024"/>
            <a:ext cx="401639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الـمـوضـع الـمُـخَــصَّـصِ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8651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الـقـــراءة  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Lire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Nom_Variable1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Nom_Variable2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…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الـقـــراءة 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7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algn="just" rt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  </a:t>
            </a:r>
          </a:p>
          <a:p>
            <a:pPr marL="0" indent="0" algn="just">
              <a:buNone/>
            </a:pP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Lire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rayon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ar-DZ" sz="4000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Lire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Y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0" indent="0" algn="just">
              <a:buNone/>
            </a:pP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Lire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b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,c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                 </a:t>
            </a: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الـقـــراءة 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14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بِـإِظْـهَــارِ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مُــعَـــيَّـــنـــة عــلـى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الــشـــاشـــة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. - تـعـــلــيــمــة الإخْـــراج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d’écriture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9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بِـإِظْـهَــارِ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مُــعَـــيَّـــنـــة عــلـى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الــشـــاشـــة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. - تـعـــلــيــمــة الإخْـــراج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d’écriture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6847" y="2668594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2838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بِـإِظْـهَــارِ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مُــعَـــيَّـــنـــة عــلـى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الــشـــاشـــة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. - تـعـــلــيــمــة الإخْـــراج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d’écriture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6847" y="2668594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1424" y="2647193"/>
            <a:ext cx="42484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عِـــبَــــارَةٍ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2526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الإخْـــراج :</a:t>
            </a:r>
            <a:endParaRPr lang="ar-DZ" sz="4000" b="1" dirty="0" smtClean="0">
              <a:solidFill>
                <a:srgbClr val="00B05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Ecrire (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Expression1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Nom_Var_1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…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. - تــعـــلــيـــمــة الإخْـــراج</a:t>
            </a:r>
            <a:r>
              <a:rPr lang="fr-FR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66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algn="just" rt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  </a:t>
            </a:r>
          </a:p>
          <a:p>
            <a:pPr marL="0" indent="0" algn="just">
              <a:buNone/>
            </a:pP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</a:t>
            </a:r>
            <a:r>
              <a:rPr lang="en-US" sz="40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("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  =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2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0" indent="0" algn="just">
              <a:buNone/>
            </a:pP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("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La surface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est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: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2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ب. - تــعـــلــيـــمــة الإخْـــراج</a:t>
            </a:r>
            <a:r>
              <a:rPr lang="fr-FR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20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بـإِسْــنَــاد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مُــحَــدَّدة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نــتــيــجــة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عـــبــارة حـــســابــيــة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 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بـحــفــظـهـا في الـمــوضــع الـمـحْـجُــوزِ لَــهُ فـي الـذاكـــرة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الـحــيَّــة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تـعـــلــيــمــة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d’affectation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42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بـإِسْــنَــاد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مُــحَــدَّدة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نــتــيــجــة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عـــبــارة حـــســابــيــة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 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بـحــفــظـهـا في الـمــوضــع الـمـحْـجُــوزِ لَــهُ فـي الـذاكـــرة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الـحــيَّــة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تـعـــلــيــمــة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d’affectation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07968" y="2602031"/>
            <a:ext cx="18430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4670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بـإِسْــنَــاد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مُــحَــدَّدة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نــتــيــجــة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عـــبــارة حـــســابــيــة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 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بـحــفــظـهـا في الـمــوضــع الـمـحْـجُــوزِ لَــهُ فـي الـذاكـــرة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الـحــيَّــة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تـعـــلــيــمــة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d’affectation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07968" y="2602031"/>
            <a:ext cx="18430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76120" y="3506062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صــيـغــة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16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بـإِسْــنَــاد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مُــحَــدَّدة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نــتــيــجــة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عـــبــارة حـــســابــيــة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 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بـحــفــظـهـا في الـمــوضــع الـمـحْـجُــوزِ لَــهُ فـي الـذاكـــرة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الـحــيَّــة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تـعـــلــيــمــة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d’affectation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07968" y="2602031"/>
            <a:ext cx="18430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76120" y="3506062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صــيـغــة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51024" y="4468830"/>
            <a:ext cx="2333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مــتــغــيِّـــرٍ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3538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الإسْــنَـــاد :</a:t>
            </a:r>
            <a:endParaRPr lang="ar-DZ" sz="4000" b="1" dirty="0" smtClean="0">
              <a:solidFill>
                <a:srgbClr val="00B05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&lt;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Nom_Variable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&gt;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&lt;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Expression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&gt;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5303912" y="4149080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10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algn="just" rtl="1">
              <a:lnSpc>
                <a:spcPct val="7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endParaRPr lang="fr-FR" sz="4000" b="1" dirty="0" smtClean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1438275" indent="0" algn="just">
              <a:buNone/>
            </a:pP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         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1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1438275" indent="0" algn="just">
              <a:buNone/>
            </a:pP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Surface_Rect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        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Long *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Larg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1438275" indent="0" algn="just">
              <a:buNone/>
            </a:pP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Y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     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abs</a:t>
            </a:r>
            <a:r>
              <a:rPr lang="fr-FR" sz="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1438275" indent="0" algn="just">
              <a:buNone/>
            </a:pP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X1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fr-FR" sz="2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sqrt</a:t>
            </a:r>
            <a:r>
              <a:rPr lang="fr-FR" sz="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( Delta ) – b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) / (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2</a:t>
            </a:r>
            <a:r>
              <a:rPr lang="fr-FR" sz="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*</a:t>
            </a:r>
            <a:r>
              <a:rPr lang="fr-FR" sz="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تــعـــلــيـــمــة الإسْــنَـــاد 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2657836" y="3631577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5303912" y="4365104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>
            <a:off x="2711624" y="5085184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H="1">
            <a:off x="2891074" y="5805264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3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يـنـبـغـي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الـتــنــويـــه أنَّــه فـي تـعــلــيـــمــة الإسْــنَـــاد بـإمـكـانــنــا تــوظــيــف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الــمُـعَـــامِـــلات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الـحــســابــيــة الـتــالــيــة  :  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،   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،   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،   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،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إلــخ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تــعـــلــيـــمــة الإسْــنَـــاد  ـــ  تــــابــع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94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تــطـــبــيــقـــات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  <a:spcAft>
                <a:spcPts val="0"/>
              </a:spcAft>
            </a:pP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SA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«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حـ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ـســ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اب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وإبـــراز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ــاحــ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ة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ومــحـ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ــط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مــسـتـطــيــل طــولــه 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وعــ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رضـ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ه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</a:pP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«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حـ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ـســ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اب وإبـــراز مــسـ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ــاحــ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ة 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ومــحـ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ــط 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دائـــرة بـحــيــث نــصــف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قُـــطْـــرِهَــا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أكــتــب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الـخــوارزمــيــات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الَّـتِي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تــســمـح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بـحــل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الــمــســائــل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الــتــالــيــة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94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4096" y="222161"/>
            <a:ext cx="10972800" cy="878998"/>
          </a:xfrm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مُــلَــخَــص قَــوَاعِـــدِ أَسْــمَـ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ـاءِ الــمُـعَـــرَّفَــــات</a:t>
            </a:r>
            <a:endParaRPr lang="fr-FR" sz="4800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599" y="1152172"/>
            <a:ext cx="11007297" cy="5373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684" y="1932329"/>
            <a:ext cx="10972800" cy="464402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944526" y="4214565"/>
            <a:ext cx="4838330" cy="2088000"/>
          </a:xfrm>
          <a:prstGeom prst="cloud">
            <a:avLst/>
          </a:prstGeom>
          <a:ln w="28575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endParaRPr lang="ar-DZ" sz="1000" b="1" dirty="0" smtClean="0">
              <a:solidFill>
                <a:srgbClr val="00B050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تَـجَـنُـبُ الـكَـلِـمَـات الـمَـحْـجُــوزَة</a:t>
            </a:r>
            <a:endParaRPr lang="fr-FR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684" y="1152403"/>
            <a:ext cx="10972800" cy="1008111"/>
          </a:xfrm>
          <a:prstGeom prst="rect">
            <a:avLst/>
          </a:prstGeom>
          <a:solidFill>
            <a:srgbClr val="C5F1FF"/>
          </a:solidFill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الـحَــرْفُ الـثَــانِـي مِـنْ اِسْــمِ الـمُـعَــرَّف حَــتَـى نِـهَـايَــةِ الِاسْــمِ</a:t>
            </a:r>
            <a:endParaRPr lang="fr-FR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58759" y="3312913"/>
            <a:ext cx="4859822" cy="2808312"/>
          </a:xfrm>
          <a:prstGeom prst="rect">
            <a:avLst/>
          </a:prstGeom>
          <a:solidFill>
            <a:srgbClr val="E7F9FF"/>
          </a:solidFill>
          <a:ln w="5715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</a:p>
          <a:p>
            <a:pPr algn="ctr" rtl="1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71879" y="3451260"/>
            <a:ext cx="4608513" cy="959797"/>
          </a:xfrm>
          <a:prstGeom prst="rect">
            <a:avLst/>
          </a:prstGeom>
          <a:solidFill>
            <a:srgbClr val="E7F9FF"/>
          </a:solidFill>
          <a:ln w="381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الـحَــرْفُ الأَوَل مِـنْ الاِسْـم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5768" y="2262540"/>
            <a:ext cx="10598968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1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2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3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4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5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6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7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8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9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83432" y="3161577"/>
            <a:ext cx="4520484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Tiret de 8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513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4" grpId="0" animBg="1"/>
      <p:bldP spid="22" grpId="0" animBg="1"/>
      <p:bldP spid="17" grpId="0" animBg="1"/>
      <p:bldP spid="19" grpId="0" animBg="1"/>
      <p:bldP spid="20" grpId="0"/>
      <p:bldP spid="24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الـقـــراءة  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Lire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Nom_Variable1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Nom_Variable2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…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الـقـــراءة 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79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الإسْــنَـــاد :</a:t>
            </a:r>
            <a:endParaRPr lang="ar-DZ" sz="4000" b="1" dirty="0" smtClean="0">
              <a:solidFill>
                <a:srgbClr val="00B05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&lt;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Nom_Variable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&gt;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&lt;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Expression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&gt;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5303912" y="4149080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66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نـحــتــاج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أحــيــانــا أن يـكـون تــنــفــيــذ تـعــلــيــمــات مُـعَــيَّــنـة مَـقْــرُونًـا بـتـحــقُّــق شــروطٍ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مُـحَــدَّدة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يُـحَـتـِّـمُ عــلــيــنــا اســتـعــمــال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الــتـعــلــيـــمــات الـشــرطــيــة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يَــضُّــمُ الــشَــرْطُ مُــقَـــارَنَــةً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 أو أكــثــر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بـاســتـغـــلال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12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الــمُــعَـــامِـــلات الــمَــنْــطِـــقِـــيَـــة الــتــالــيــة  :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&lt;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&lt;=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&gt;=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&lt;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( 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: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!=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أو</a:t>
            </a:r>
            <a:r>
              <a:rPr lang="fr-FR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&lt;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) </a:t>
            </a: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ـــ  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4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u="sng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8</a:t>
            </a: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حَــلِّــلْ الـتــمــثــيــل الـبــيــانـي الـمــوجــود فـي الـصـفـحـة الــتـــالـــيــة ثُــمَ حَـــدِّدْ خــصــائــص الـتـعــلــيــمــة الـشــرطــيــة </a:t>
            </a: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الـبـســيـطـة</a:t>
            </a: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34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الـمَــقْـــرُونَ بـهــذه الـتـعــلــيـــمــة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 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5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للــتـعـــلــيـــمــة الـشــرطـــيــة الـبــســيــطــة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9" name="Espace réservé du contenu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1124726"/>
            <a:ext cx="9108000" cy="5225182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30447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الـمَــقْـــرُونَ بـهــذه الـتـعــلــيـــمــة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51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الـمَــقْـــرُونَ بـهــذه الـتـعــلــيـــمــة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8248" y="3410780"/>
            <a:ext cx="2621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824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الـمَــقْـــرُونَ بـهــذه الـتـعــلــيـــمــة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8248" y="3410780"/>
            <a:ext cx="2621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11624" y="3413864"/>
            <a:ext cx="2333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تــنــفــيــذهـا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463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الــمَــقْـــرُونَ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بـهــذه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8248" y="3410780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11624" y="3413864"/>
            <a:ext cx="2333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تــنــفــيــذهـا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33478" y="4341464"/>
            <a:ext cx="22517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038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الــتـعـــلــيـــمــات الـشــرطـــيــة الـبــســيــطــة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الـشــرطــيـة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الـبـسـيـطـة :</a:t>
            </a:r>
            <a:endParaRPr lang="ar-DZ" sz="4000" b="1" dirty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Si  &lt;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Condition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Alors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&lt;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Fin_Si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;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4355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FF000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بِـعِــبَـارَاتٍ دَقِـيـقَـةٍ وُدُونَ أَيِّ غُــمُـوضٍ</a:t>
            </a:r>
            <a:endParaRPr lang="ar-DZ" sz="4000" baseline="-25000" dirty="0">
              <a:solidFill>
                <a:srgbClr val="FF000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ومـحـدودة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0256" y="3367825"/>
            <a:ext cx="27439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وَاضِـحَـةً تَـمَـامًـا</a:t>
            </a:r>
            <a:endParaRPr lang="fr-FR" sz="38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32103" y="4361367"/>
            <a:ext cx="39680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شَـامِـلَـةً لِـكُـلِّ جَــوَانِــبِ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458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  <p:bldP spid="12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u="sng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9</a:t>
            </a: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حَــلِّــلْ الـتــمــثــيــل الـبــيــانـي أَدْنَـــاه ثُـمَ حَــدِّدْ خــصــائــص الـتـعــلــيــمــة الـشــرطــيــة </a:t>
            </a: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الاخــتــيــاريــة .</a:t>
            </a: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الاخــتــيــاريــة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86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82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للــتـعـــلــيـــمــة الـشــرطـــيــة الاخــتــيــاريــة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047749"/>
            <a:ext cx="10407348" cy="5292000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9196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8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457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9644" y="3415156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192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9644" y="3415156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433320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555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9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9644" y="3415156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433320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84232" y="5251962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مــجـــمـــوعـــة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335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9644" y="3415156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433320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84232" y="5251962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مــجـــمـــوعـــة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55640" y="5251258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176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الــتـعـــلــيـــمــات 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6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الـشـكـل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الـنـظــامـي للـتـعــلــيــمـة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الـشـرطــيـة الاخــتــيـاريـة :</a:t>
            </a:r>
            <a:endParaRPr lang="ar-DZ" sz="4000" b="1" dirty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Si 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Condition</a:t>
            </a:r>
            <a:r>
              <a:rPr lang="en-US" sz="38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  </a:t>
            </a:r>
            <a:r>
              <a:rPr lang="en-US" sz="3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Alors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&lt; </a:t>
            </a:r>
            <a:r>
              <a:rPr lang="en-US" sz="3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Liste</a:t>
            </a:r>
            <a:r>
              <a:rPr lang="en-US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d’Instructions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</a:t>
            </a:r>
            <a:r>
              <a:rPr lang="en-US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 Sinon 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&lt;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2 &gt;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Fin_Si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;</a:t>
            </a:r>
            <a:endParaRPr lang="ar-DZ" sz="4000" b="1" dirty="0" smtClean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5414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FF000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بِـعِــبَـارَاتٍ دَقِـيـقَـةٍ وُدُونَ أَيِّ غُــمُـوضٍ</a:t>
            </a:r>
            <a:endParaRPr lang="ar-DZ" sz="4000" baseline="-25000" dirty="0">
              <a:solidFill>
                <a:srgbClr val="FF000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ومـحـدودة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0256" y="3367825"/>
            <a:ext cx="27439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وَاضِـحَـةً تَـمَـامًـا</a:t>
            </a:r>
            <a:endParaRPr lang="fr-FR" sz="38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32103" y="4361367"/>
            <a:ext cx="39680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شَـامِـلَـةً لِـكُـلِّ جَــوَانِــبِ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788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  <p:bldP spid="12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ـــ  تــــابـــع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الـجــدول الـتــالـي يــوضـح كــيــفــيـة اســتــغـــلال الـتــعــلــيـــمــة الـشــرطــيـة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بــنــوعــيـهـا :</a:t>
            </a:r>
          </a:p>
          <a:p>
            <a:pPr lvl="0" algn="just" rtl="1">
              <a:lnSpc>
                <a:spcPct val="135000"/>
              </a:lnSpc>
              <a:buClr>
                <a:srgbClr val="002060"/>
              </a:buClr>
              <a:buSzPct val="100000"/>
              <a:buFont typeface="Wingdings" panose="05000000000000000000" pitchFamily="2" charset="2"/>
              <a:buChar char=""/>
            </a:pP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ا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شـ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رطـ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الـبــســـيــطــة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82888" lvl="0" indent="0"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)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Alors 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0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Fin_Si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 smtClean="0"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9182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ـــ  تــــابـــع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الـجــدول الـتــالـي يــوضـح كــيــفــيـة اســتــغـــلال الـتــعــلــيـــمــة الـشــرطــيـة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بــنــوعــيـهـا :</a:t>
            </a:r>
          </a:p>
          <a:p>
            <a:pPr lvl="0" algn="just" rtl="1">
              <a:lnSpc>
                <a:spcPct val="135000"/>
              </a:lnSpc>
              <a:buClr>
                <a:srgbClr val="002060"/>
              </a:buClr>
              <a:buSzPct val="100000"/>
              <a:buFont typeface="Wingdings" panose="05000000000000000000" pitchFamily="2" charset="2"/>
              <a:buChar char=""/>
            </a:pP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ا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لـتـعـلـيــمـة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الـشـرطـيـة الـبــســـيــطــة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: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)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Alors 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 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Fin_Si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 smtClean="0"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1166812"/>
            <a:ext cx="11896725" cy="5189541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9498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ـــ  تــــابـــع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endParaRPr lang="ar-DZ" sz="1800" b="1" dirty="0" smtClean="0">
              <a:ea typeface="Droid Sans Fallback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buClr>
                <a:srgbClr val="002060"/>
              </a:buClr>
              <a:buSzPct val="100000"/>
              <a:buFont typeface="Wingdings" panose="05000000000000000000" pitchFamily="2" charset="2"/>
              <a:buChar char=""/>
            </a:pP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ا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شـ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رطـ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الاخـ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ـاري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789113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)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Alors 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Sinon     ……   ;</a:t>
            </a:r>
          </a:p>
          <a:p>
            <a:pPr marL="1882775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Fin_Si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 smtClean="0"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10854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ـــ  تــــابـــع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endParaRPr lang="ar-DZ" sz="1800" b="1" dirty="0" smtClean="0">
              <a:ea typeface="Droid Sans Fallback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buClr>
                <a:srgbClr val="002060"/>
              </a:buClr>
              <a:buSzPct val="100000"/>
              <a:buFont typeface="Wingdings" panose="05000000000000000000" pitchFamily="2" charset="2"/>
              <a:buChar char=""/>
            </a:pP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ا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شـ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رطـ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الاخـ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ـاري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789113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)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Alors 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Sinon     ……   ;</a:t>
            </a:r>
          </a:p>
          <a:p>
            <a:pPr marL="1882775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Fin_Si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 smtClean="0"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6" y="1157287"/>
            <a:ext cx="11772000" cy="5211317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615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FF000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بِـعِــبَـارَاتٍ دَقِـيـقَـةٍ وُدُونَ أَيِّ غُــمُـوضٍ</a:t>
            </a:r>
            <a:endParaRPr lang="ar-DZ" sz="4000" baseline="-25000" dirty="0">
              <a:solidFill>
                <a:srgbClr val="FF000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ومـحـدودة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0256" y="3367825"/>
            <a:ext cx="27439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وَاضِـحَـةً تَـمَـامًـا</a:t>
            </a:r>
            <a:endParaRPr lang="fr-FR" sz="38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32103" y="4361367"/>
            <a:ext cx="39680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شَـامِـلَـةً لِـكُـلِّ جَــوَانِــبِ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6891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  <p:bldP spid="12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تــطـــبــيــقـــات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  <a:spcAft>
                <a:spcPts val="0"/>
              </a:spcAft>
            </a:pP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تـعــيــيــن</a:t>
            </a:r>
            <a:r>
              <a:rPr lang="ar-DZ" sz="3600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وإبـــراز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الـقــيــمـة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الـمـطــلــقــة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Y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للـعـــدد الـحــقــيــقـي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X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؛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وذلـك بـطــريــقــتــيـن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</a:pP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تـحــديـــد</a:t>
            </a:r>
            <a:r>
              <a:rPr lang="ar-DZ" sz="3600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وإبــراز أكــبــر قــيــمـة (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Max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وأصـغـــر قــيــمـة (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Min1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بــيـن الـعــدديــن 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X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و 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Y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أكــتــب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الـخــوارزمــيــات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الَّـتِي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تــســمـح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بـحــل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الــمــســائــل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الــتــالــيــة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5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4096" y="222161"/>
            <a:ext cx="10972800" cy="878998"/>
          </a:xfrm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مُــلَــخَــص قَــوَاعِـــدِ أَسْــمَـ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ـاءِ الــمُـعَـــرَّفَــــات</a:t>
            </a:r>
            <a:endParaRPr lang="fr-FR" sz="4800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599" y="1152172"/>
            <a:ext cx="11007297" cy="5373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684" y="1932329"/>
            <a:ext cx="10972800" cy="464402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944526" y="4214565"/>
            <a:ext cx="4838330" cy="2088000"/>
          </a:xfrm>
          <a:prstGeom prst="cloud">
            <a:avLst/>
          </a:prstGeom>
          <a:ln w="28575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endParaRPr lang="ar-DZ" sz="1000" b="1" dirty="0" smtClean="0">
              <a:solidFill>
                <a:srgbClr val="00B050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تَـجَـنُـبُ الـكَـلِـمَـات الـمَـحْـجُــوزَة</a:t>
            </a:r>
            <a:endParaRPr lang="fr-FR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684" y="1152403"/>
            <a:ext cx="10972800" cy="1008111"/>
          </a:xfrm>
          <a:prstGeom prst="rect">
            <a:avLst/>
          </a:prstGeom>
          <a:solidFill>
            <a:srgbClr val="C5F1FF"/>
          </a:solidFill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الـحَــرْفُ الـثَــانِـي مِـنْ اِسْــمِ الـمُـعَــرَّف حَــتَـى نِـهَـايَــةِ الِاسْــمِ</a:t>
            </a:r>
            <a:endParaRPr lang="fr-FR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58759" y="3312913"/>
            <a:ext cx="4859822" cy="2808312"/>
          </a:xfrm>
          <a:prstGeom prst="rect">
            <a:avLst/>
          </a:prstGeom>
          <a:solidFill>
            <a:srgbClr val="E7F9FF"/>
          </a:solidFill>
          <a:ln w="5715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</a:p>
          <a:p>
            <a:pPr algn="ctr" rtl="1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71879" y="3451260"/>
            <a:ext cx="4608513" cy="959797"/>
          </a:xfrm>
          <a:prstGeom prst="rect">
            <a:avLst/>
          </a:prstGeom>
          <a:solidFill>
            <a:srgbClr val="E7F9FF"/>
          </a:solidFill>
          <a:ln w="381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الـحَــرْفُ الأَوَل مِـنْ الاِسْـم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5768" y="2262540"/>
            <a:ext cx="10598968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1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2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3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4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5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6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7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8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9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83432" y="3161577"/>
            <a:ext cx="4520484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Tiret de 8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6573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4" grpId="0" animBg="1"/>
      <p:bldP spid="22" grpId="0" animBg="1"/>
      <p:bldP spid="17" grpId="0" animBg="1"/>
      <p:bldP spid="19" grpId="0" animBg="1"/>
      <p:bldP spid="20" grpId="0"/>
      <p:bldP spid="24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الـقـــراءة  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Lire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Nom_Variable1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Nom_Variable2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…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الـقـــراءة 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29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الإسْــنَـــاد :</a:t>
            </a:r>
            <a:endParaRPr lang="ar-DZ" sz="4000" b="1" dirty="0" smtClean="0">
              <a:solidFill>
                <a:srgbClr val="00B05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&lt;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Nom_Variable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&gt;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&lt;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Expression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&gt;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5303912" y="4149080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22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يَـــلْــزَمُـــنـــا أحـــيـــانًــا أخـــرى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تــكــرار تــنــفــيــذ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نــفــس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الـمـجــمــوعــة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الــتـعــلــيــمـات ، بـحــيــث الــتــكــرار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مُــرْتَــبِــطًـا بــتـحــقّــق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شـــروط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مـعــيَّــنـة .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6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</a:t>
            </a:r>
            <a:r>
              <a:rPr lang="ar-DZ" sz="3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الـتــكـــراريـــة 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u="sng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10</a:t>
            </a: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حَــلِّــلْ الــتــمــثــيــل الــبـــيـــانـي أَدْنَــــاه ثُــمَ حَـــدِّدْ</a:t>
            </a:r>
            <a:r>
              <a:rPr lang="ar-DZ" sz="40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خــصــائــص الــتــعـــلـــيـــمـــة الـتــكــراريـــة 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88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Bef>
                <a:spcPts val="0"/>
              </a:spcBef>
            </a:pP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97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الــتـعـــلــيـــمــة الـتــكـــراريـــة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269" y="1196752"/>
            <a:ext cx="9000000" cy="5130962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6334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للــتـعـــلــيـــمــة الـشــرطـــيــة الـبــســيــطــة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9" name="Espace réservé du contenu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1124726"/>
            <a:ext cx="9108000" cy="5225182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8191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الــتـعـــلــيـــمــة الـتــكـــراريـــة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269" y="1196752"/>
            <a:ext cx="9000000" cy="5130962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2670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12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09584" y="3410780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2334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09584" y="3410780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31142" y="3427311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20312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FF000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تـتـوقـف عــنـد حَــدٍّ مـعــقـول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B050"/>
                </a:solidFill>
              </a:rPr>
              <a:t>─</a:t>
            </a:r>
            <a:r>
              <a:rPr lang="ar-DZ" sz="4000" baseline="-25000" dirty="0" smtClean="0">
                <a:solidFill>
                  <a:srgbClr val="00B05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فهي مُـعَــرَّفَـةً بِـعِــبَـارَاتٍ دَقِـيـقَـةٍ وُدُونَ أَيِّ غُــمُـوضٍ</a:t>
            </a:r>
            <a:endParaRPr lang="ar-DZ" sz="4000" baseline="-25000" dirty="0">
              <a:solidFill>
                <a:srgbClr val="00B05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ومـحـدودة </a:t>
            </a:r>
            <a:endParaRPr lang="fr-FR" sz="38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0256" y="3367825"/>
            <a:ext cx="27439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وَاضِـحَـةً تَـمَـامًـا</a:t>
            </a:r>
            <a:endParaRPr lang="fr-FR" sz="3800" b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32103" y="4361367"/>
            <a:ext cx="39680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شَـامِـلَـةً لِـكُـلِّ جَــوَانِــبِ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9194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  <p:bldP spid="12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09584" y="3410780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31142" y="3427311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91944" y="434410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تـوقــفـهـا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555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الـتــكـــراريـــة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 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ar-DZ" sz="38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438275" lvl="0" indent="0" algn="just">
              <a:buNone/>
            </a:pP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&lt;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Condition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&gt;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Début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	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&lt;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endParaRPr lang="ar-DZ" sz="40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1438275" indent="0">
              <a:spcBef>
                <a:spcPts val="1200"/>
              </a:spcBef>
              <a:spcAft>
                <a:spcPts val="1000"/>
              </a:spcAft>
              <a:buNone/>
              <a:tabLst>
                <a:tab pos="1438275" algn="l"/>
              </a:tabLst>
            </a:pP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Fin_Tant_que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23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الــتـعـــلــيـــمــات الـشــرطـــيــة الـبــســيــطــة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الـشــرطــيـة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الـبـسـيـطـة :</a:t>
            </a:r>
            <a:endParaRPr lang="ar-DZ" sz="4000" b="1" dirty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Si  &lt;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Condition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Alors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&lt;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Fin_Si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;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6403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الــتـعـــلــيـــمــات الـشــرطـــيــة الاخــتــيــاريــة </a:t>
            </a:r>
            <a:r>
              <a:rPr lang="ar-DZ" sz="42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تـــابـــع</a:t>
            </a:r>
            <a:endParaRPr lang="fr-FR" sz="42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6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الـشـكـل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الـنـظــامـي للـتـعــلــيــمـة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الـشـرطــيـة الاخــتــيـاريـة :</a:t>
            </a:r>
            <a:endParaRPr lang="ar-DZ" sz="4000" b="1" dirty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Si 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Condition</a:t>
            </a:r>
            <a:r>
              <a:rPr lang="en-US" sz="38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  </a:t>
            </a:r>
            <a:r>
              <a:rPr lang="en-US" sz="3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Alors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&lt; </a:t>
            </a:r>
            <a:r>
              <a:rPr lang="en-US" sz="3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Liste</a:t>
            </a:r>
            <a:r>
              <a:rPr lang="en-US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d’Instructions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</a:t>
            </a:r>
            <a:r>
              <a:rPr lang="en-US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Sinon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&lt;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2 &gt;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Fin_Si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;</a:t>
            </a:r>
            <a:endParaRPr lang="ar-DZ" sz="4000" b="1" dirty="0" smtClean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Espace réservé du contenu 21"/>
          <p:cNvSpPr txBox="1">
            <a:spLocks/>
          </p:cNvSpPr>
          <p:nvPr/>
        </p:nvSpPr>
        <p:spPr>
          <a:xfrm>
            <a:off x="7544544" y="3955177"/>
            <a:ext cx="3880048" cy="2508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الـتـعـلـيـمـة الـشــرطــيــة الاخــتــيــاريــة</a:t>
            </a:r>
            <a:endParaRPr lang="fr-FR" dirty="0">
              <a:solidFill>
                <a:schemeClr val="tx1"/>
              </a:solidFill>
              <a:cs typeface="+mj-cs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 flipV="1">
            <a:off x="2207568" y="4293096"/>
            <a:ext cx="5587848" cy="916476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22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                  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تـا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الـتــكـــراريـــة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 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ar-DZ" sz="38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438275" lvl="0" indent="0" algn="just">
              <a:buNone/>
            </a:pP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&lt;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Condition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&gt;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Début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	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&lt;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endParaRPr lang="ar-DZ" sz="40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1438275" indent="0">
              <a:spcBef>
                <a:spcPts val="1200"/>
              </a:spcBef>
              <a:spcAft>
                <a:spcPts val="1000"/>
              </a:spcAft>
              <a:buNone/>
              <a:tabLst>
                <a:tab pos="1438275" algn="l"/>
              </a:tabLst>
            </a:pP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Fin_Tant_que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321081"/>
            <a:ext cx="7560000" cy="6005028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3298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ـــ  تــــابـــع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endParaRPr lang="ar-DZ" sz="1800" b="1" dirty="0" smtClean="0">
              <a:ea typeface="Droid Sans Fallback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buClr>
                <a:srgbClr val="002060"/>
              </a:buClr>
              <a:buSzPct val="100000"/>
              <a:buFont typeface="Wingdings" panose="05000000000000000000" pitchFamily="2" charset="2"/>
              <a:buChar char=""/>
            </a:pPr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الـ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شـ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رطـ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الاخـ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ـتــ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يـ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ـاري</a:t>
            </a:r>
            <a:r>
              <a:rPr lang="ar-DZ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789113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)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Alors 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Sinon     ……   ;</a:t>
            </a:r>
          </a:p>
          <a:p>
            <a:pPr marL="1882775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Fin_Si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 smtClean="0"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Espace réservé du contenu 21"/>
          <p:cNvSpPr txBox="1">
            <a:spLocks/>
          </p:cNvSpPr>
          <p:nvPr/>
        </p:nvSpPr>
        <p:spPr>
          <a:xfrm>
            <a:off x="6960096" y="3441701"/>
            <a:ext cx="4565336" cy="309634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الـتـعـلـيـمـة الـشــرطــيــة الاخــتــيــاريــة</a:t>
            </a:r>
            <a:endParaRPr lang="fr-FR" sz="4000" dirty="0">
              <a:solidFill>
                <a:schemeClr val="tx1"/>
              </a:solidFill>
              <a:cs typeface="+mj-cs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 flipV="1">
            <a:off x="3850305" y="4567681"/>
            <a:ext cx="3888432" cy="90131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7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مــســألــة 5 </a:t>
            </a:r>
            <a:r>
              <a:rPr lang="ar-DZ" sz="3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: </a:t>
            </a: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«</a:t>
            </a:r>
            <a:r>
              <a:rPr lang="ar-DZ" sz="3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3000" b="1" dirty="0">
                <a:ea typeface="Droid Sans Fallback"/>
                <a:cs typeface="+mj-cs"/>
              </a:rPr>
              <a:t>بـاســتــعــمــال </a:t>
            </a:r>
            <a:r>
              <a:rPr lang="ar-DZ" sz="3000" b="1" dirty="0" smtClean="0">
                <a:solidFill>
                  <a:srgbClr val="00000A"/>
                </a:solidFill>
                <a:ea typeface="Droid Sans Fallback"/>
                <a:cs typeface="+mj-cs"/>
              </a:rPr>
              <a:t>الــتـعـــلــيــمــة الــــكــراريــة </a:t>
            </a:r>
            <a:r>
              <a:rPr lang="en-US" sz="3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»</a:t>
            </a:r>
            <a:r>
              <a:rPr lang="ar-DZ" sz="3000" b="1" dirty="0" smtClean="0">
                <a:solidFill>
                  <a:srgbClr val="00000A"/>
                </a:solidFill>
                <a:ea typeface="Droid Sans Fallback"/>
                <a:cs typeface="+mj-cs"/>
              </a:rPr>
              <a:t> </a:t>
            </a:r>
            <a:r>
              <a:rPr lang="en-US" sz="3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 </a:t>
            </a:r>
            <a:r>
              <a:rPr lang="en-US" sz="3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«</a:t>
            </a:r>
            <a:r>
              <a:rPr lang="en-US" sz="3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  </a:t>
            </a:r>
            <a:r>
              <a:rPr lang="fr-FR" sz="3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Tant que </a:t>
            </a:r>
            <a:r>
              <a:rPr lang="ar-DZ" sz="3000" b="1" dirty="0" smtClean="0">
                <a:ea typeface="Droid Sans Fallback"/>
                <a:cs typeface="+mj-cs"/>
              </a:rPr>
              <a:t>أُكْــتُــبْ خـــوارزمـــيــة تــســمـح بـإظـهــار جــمــيـع </a:t>
            </a:r>
            <a:r>
              <a:rPr lang="ar-DZ" sz="3000" b="1" dirty="0">
                <a:ea typeface="Droid Sans Fallback"/>
                <a:cs typeface="+mj-cs"/>
              </a:rPr>
              <a:t>الأعـــداد الـفــرديــة الأصــغـــر مـن  100  مـع تــرتــيـــبـهـا تــصــاعُـــدِيًــا.  وكــيـف نُـظْـهِــرُهَـا تَــنَــازُلِــيًــا ؟  </a:t>
            </a: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»</a:t>
            </a:r>
          </a:p>
          <a:p>
            <a:pPr marL="0" lvl="0" indent="0" algn="ctr" rtl="1">
              <a:lnSpc>
                <a:spcPct val="150000"/>
              </a:lnSpc>
              <a:buNone/>
            </a:pP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 </a:t>
            </a:r>
            <a:r>
              <a:rPr lang="ar-DZ" sz="3800" b="1" dirty="0" smtClean="0">
                <a:solidFill>
                  <a:srgbClr val="0070C0"/>
                </a:solidFill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ea typeface="Droid Sans Fallback"/>
                <a:cs typeface="+mj-cs"/>
              </a:rPr>
              <a:t>واجــب 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+mj-cs"/>
              </a:rPr>
              <a:t>مــنــزلـي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ea typeface="Droid Sans Fallback"/>
                <a:cs typeface="+mj-cs"/>
              </a:rPr>
              <a:t>يـســلِّــمُــه الـطَــالِــبُ فـي 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+mj-cs"/>
              </a:rPr>
              <a:t>وَرَقَــةٍ مُــزْدَوَجَــةٍ </a:t>
            </a:r>
            <a:r>
              <a:rPr lang="ar-DZ" sz="3800" b="1" dirty="0" smtClean="0">
                <a:solidFill>
                  <a:srgbClr val="0070C0"/>
                </a:solidFill>
                <a:latin typeface="Liberation Serif"/>
                <a:ea typeface="Droid Sans Fallback"/>
                <a:cs typeface="+mj-cs"/>
              </a:rPr>
              <a:t>)</a:t>
            </a:r>
            <a:endParaRPr lang="ar-DZ" sz="3800" b="1" dirty="0" smtClean="0">
              <a:solidFill>
                <a:srgbClr val="00000A"/>
              </a:solidFill>
              <a:ea typeface="Droid Sans Fallback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42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11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حَــلِّــلْ الــتــمــثــيــل الــبـــيـــانـي أَدْنَــــاه ثُــمَ حَـــدِّدْ</a:t>
            </a:r>
            <a:r>
              <a:rPr lang="ar-DZ" sz="40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خــصــائــص الــتــعـــلـــيـــمـــة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الــتــكــراريـــة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.</a:t>
            </a: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4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83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الــتـعـــلــيـــمــة </a:t>
            </a:r>
            <a:r>
              <a:rPr lang="ar-DZ" sz="36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الـتــكـــراريـــة    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96" y="307555"/>
            <a:ext cx="6804000" cy="6059964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9222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57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34590" y="2475448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612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34590" y="2475448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56557" y="2502342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97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34590" y="2475448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56557" y="2502342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0296" y="4281288"/>
            <a:ext cx="1770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عَـــدَّادٍ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1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34590" y="2475448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56557" y="2502342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0296" y="4281288"/>
            <a:ext cx="1770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عَـــدَّادٍ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7408" y="4299839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قِــيــمَـةٍ أَوَلِــيَـةٍ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532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تــزدادُ قــيــمـةُ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بـخُــطْــوَة وذلـك حـتـى بــلــوغ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لــقــيــمـة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أيْـنَ يـتـوقــف تــنــفــيــذ الـتـعــلــيــمــة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ومــواصــلــة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بــقــيـة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الـخــوارزمـــيــة.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23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تــزدادُ قــيــمـةُ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بـخُــطْــوَة وذلـك حـتـى بــلــوغ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لــقــيــمـة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أيْـنَ يـتـوقــف تــنــفــيــذ الـتـعــلــيــمــة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ومــواصــلــة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بــقــيـة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الـخــوارزمـــيــة.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9146" y="2502516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730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تــزدادُ قــيــمـةُ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بـخُــطْــوَة وذلـك حـتـى بــلــوغ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لــقــيــمـة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أيْـنَ يـتـوقــف تــنــفــيــذ الـتـعــلــيــمــة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ومــواصــلــة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بــقــيـة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الـخــوارزمـــيــة.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9146" y="2502516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01254" y="3411611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80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10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تــزدادُ قــيــمـةُ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بـخُــطْــوَة وذلـك حـتـى بــلــوغ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لــقــيــمـة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أيْـنَ يـتـوقــف تــنــفــيــذ الـتـعــلــيــمــة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ومــواصــلــة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بــقــيـة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الـخــوارزمـــيــة.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9146" y="2502516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64079" y="3411611"/>
            <a:ext cx="2225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نــهــائــيــة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01254" y="3411611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499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9" grpId="0" animBg="1"/>
      <p:bldP spid="10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8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fr-FR" sz="10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0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538163" algn="l"/>
              </a:tabLst>
            </a:pP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Nom_variable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     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Valeur_Initiale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à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Valeur_Finale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Faire </a:t>
            </a:r>
          </a:p>
          <a:p>
            <a:pPr marL="0" lvl="0" indent="0" algn="just">
              <a:buNone/>
              <a:tabLst>
                <a:tab pos="538163" algn="l"/>
              </a:tabLst>
            </a:pPr>
            <a:endParaRPr lang="ar-DZ" sz="26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000"/>
              </a:spcAft>
              <a:buNone/>
              <a:tabLst>
                <a:tab pos="538163" algn="l"/>
              </a:tabLst>
            </a:pPr>
            <a:r>
              <a:rPr lang="ar-DZ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	</a:t>
            </a:r>
            <a:r>
              <a:rPr lang="en-US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d’Instructions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endParaRPr lang="ar-DZ" sz="26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000"/>
              </a:spcAft>
              <a:buNone/>
              <a:tabLst>
                <a:tab pos="538163" algn="l"/>
              </a:tabLst>
            </a:pPr>
            <a:r>
              <a:rPr lang="en-US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Fin_Pour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ar-DZ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cxnSp>
        <p:nvCxnSpPr>
          <p:cNvPr id="5" name="Connecteur droit avec flèche 4"/>
          <p:cNvCxnSpPr/>
          <p:nvPr/>
        </p:nvCxnSpPr>
        <p:spPr>
          <a:xfrm flipH="1">
            <a:off x="4111443" y="3199529"/>
            <a:ext cx="540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49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الــتـعـــلــيـــمــة </a:t>
            </a:r>
            <a:r>
              <a:rPr lang="ar-DZ" sz="36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الـتــكـــراريـــة    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96" y="307555"/>
            <a:ext cx="6804000" cy="6059964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5448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                    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تــابـع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8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fr-FR" sz="10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0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538163" algn="l"/>
              </a:tabLst>
            </a:pP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Nom_variable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     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Valeur_Initiale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à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Valeur_Finale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Faire </a:t>
            </a:r>
          </a:p>
          <a:p>
            <a:pPr marL="0" lvl="0" indent="0" algn="just">
              <a:buNone/>
              <a:tabLst>
                <a:tab pos="538163" algn="l"/>
              </a:tabLst>
            </a:pPr>
            <a:endParaRPr lang="ar-DZ" sz="26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000"/>
              </a:spcAft>
              <a:buNone/>
              <a:tabLst>
                <a:tab pos="538163" algn="l"/>
              </a:tabLst>
            </a:pPr>
            <a:r>
              <a:rPr lang="ar-DZ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	</a:t>
            </a:r>
            <a:r>
              <a:rPr lang="en-US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d’Instructions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endParaRPr lang="ar-DZ" sz="26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000"/>
              </a:spcAft>
              <a:buNone/>
              <a:tabLst>
                <a:tab pos="538163" algn="l"/>
              </a:tabLst>
            </a:pPr>
            <a:r>
              <a:rPr lang="en-US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Fin_Pour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ar-DZ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cxnSp>
        <p:nvCxnSpPr>
          <p:cNvPr id="5" name="Connecteur droit avec flèche 4"/>
          <p:cNvCxnSpPr/>
          <p:nvPr/>
        </p:nvCxnSpPr>
        <p:spPr>
          <a:xfrm flipH="1">
            <a:off x="4111443" y="3199529"/>
            <a:ext cx="540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25" y="0"/>
            <a:ext cx="6010275" cy="6356353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58" y="0"/>
            <a:ext cx="5760000" cy="6356353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8763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مــســألــة </a:t>
            </a:r>
            <a:r>
              <a:rPr lang="ar-DZ" sz="3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6 : </a:t>
            </a: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ar-DZ" sz="3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ea typeface="Droid Sans Fallback"/>
                <a:cs typeface="Times New Roman" panose="02020603050405020304" pitchFamily="18" charset="0"/>
              </a:rPr>
              <a:t>بـاســتــعــمــال </a:t>
            </a:r>
            <a:r>
              <a:rPr lang="ar-DZ" sz="38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الــتــعـــلـــيـــمــة الــتــكـــراريـــة </a:t>
            </a:r>
            <a:r>
              <a:rPr lang="en-US" sz="3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»</a:t>
            </a:r>
            <a:r>
              <a:rPr lang="ar-DZ" sz="38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3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«</a:t>
            </a:r>
            <a:r>
              <a:rPr lang="en-US" sz="3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en-US" sz="3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Pour</a:t>
            </a:r>
            <a:r>
              <a:rPr lang="ar-DZ" sz="38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ea typeface="Droid Sans Fallback"/>
                <a:cs typeface="Times New Roman" panose="02020603050405020304" pitchFamily="18" charset="0"/>
              </a:rPr>
              <a:t>أُكْــتُــبْ خـــوارزمـــيــة تــســمـح بـإظـهــار جــمــيـع </a:t>
            </a:r>
            <a:r>
              <a:rPr lang="ar-DZ" sz="3800" b="1" dirty="0">
                <a:ea typeface="Droid Sans Fallback"/>
                <a:cs typeface="Times New Roman" panose="02020603050405020304" pitchFamily="18" charset="0"/>
              </a:rPr>
              <a:t>الأعـــداد الــزوجـــيــة الأصــغـــر أو تــســاوي 100  </a:t>
            </a: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»</a:t>
            </a:r>
          </a:p>
          <a:p>
            <a:pPr marL="0" lvl="0" indent="0" algn="ctr" rtl="1">
              <a:lnSpc>
                <a:spcPct val="150000"/>
              </a:lnSpc>
              <a:buNone/>
            </a:pP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3800" b="1" dirty="0" smtClean="0">
                <a:solidFill>
                  <a:srgbClr val="0070C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(</a:t>
            </a:r>
            <a:r>
              <a:rPr lang="ar-DZ" sz="3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واجــب 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مــنــزلـي </a:t>
            </a:r>
            <a:r>
              <a:rPr lang="ar-DZ" sz="38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2 يـســلِّــمُــه الـطَــالِــبُ فـي 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وَرَقَــةٍ مُــزْدَوَجَــةٍ </a:t>
            </a:r>
            <a:r>
              <a:rPr lang="ar-DZ" sz="3800" b="1" dirty="0" smtClean="0">
                <a:solidFill>
                  <a:srgbClr val="0070C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)</a:t>
            </a:r>
            <a:endParaRPr lang="ar-DZ" sz="38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26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تــطـــبــيــقـــات </a:t>
            </a:r>
            <a:r>
              <a:rPr lang="ar-DZ" sz="4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مُـــقْـــتَـــرَحَـــة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  <a:spcAft>
                <a:spcPts val="0"/>
              </a:spcAft>
            </a:pP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تــحـــديـــد</a:t>
            </a:r>
            <a:r>
              <a:rPr lang="ar-DZ" sz="3600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وإِبْـــرَازُ حـــلـــول الــمــعـــادلــة 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a X + b = 0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</a:rPr>
              <a:t> ،  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  و  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</a:rPr>
              <a:t>b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قـــد يــكــونــان مــعـــدومــيــن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</a:pP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الـخـــوارزمـــيــة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Liberation Serif"/>
              </a:rPr>
              <a:t>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الــمــوافِـــقَـــة للــمــخــطــط الانــســـيـــابـي الــمُــمَــثَّــلِ فـي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الــوثـــيـــقــة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"2"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أكــتــب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الـخــوارزمــيــات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الَّـتِي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تــســمـح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بـحــل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الــمــســائــل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الــتــالــيــة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0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تــطـــبــيــقـــات </a:t>
            </a:r>
            <a:r>
              <a:rPr lang="ar-DZ" sz="4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مُـــقْـــتَـــرَحَـــة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  <a:spcAft>
                <a:spcPts val="0"/>
              </a:spcAft>
            </a:pP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تــحـــديـــد</a:t>
            </a:r>
            <a:r>
              <a:rPr lang="ar-DZ" sz="3600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وإِبْـــرَازُ حـــلـــول الــمــعـــادلــة 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a X + b = 0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</a:rPr>
              <a:t> ،  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  و  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</a:rPr>
              <a:t>b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قـــد يــكــونــان مــعـــدومــيــن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</a:pP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الـخـــوارزمـــيــة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Liberation Serif"/>
              </a:rPr>
              <a:t>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الــمــوافِـــقَـــة للــمــخــطــط الانــســـيـــابـي الــمُــمَــثَّــلِ فـي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الــوثـــيـــقــة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"2"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أكــتــب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الـخــوارزمــيــات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الَّـتِي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تــســمـح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بـحــل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الــمــســائــل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الــتــالــيــة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462" y="310683"/>
            <a:ext cx="4791075" cy="6048375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1503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الـقـــراءة  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Lire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Nom_Variable1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Nom_Variable2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…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الـقـــراءة 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76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الإسْــنَـــاد :</a:t>
            </a:r>
            <a:endParaRPr lang="ar-DZ" sz="4000" b="1" dirty="0" smtClean="0">
              <a:solidFill>
                <a:srgbClr val="00B05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&lt;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Nom_Variable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&gt;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&lt;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Expression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&gt;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5303912" y="4149080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24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4096" y="222161"/>
            <a:ext cx="10972800" cy="878998"/>
          </a:xfrm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مُــلَــخَــص قَــوَاعِـــدِ أَسْــمَـ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ـاءِ الــمُـعَـــرَّفَــــات</a:t>
            </a:r>
            <a:endParaRPr lang="fr-FR" sz="4800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13/02/2026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599" y="1152172"/>
            <a:ext cx="11007297" cy="5373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684" y="1932329"/>
            <a:ext cx="10972800" cy="464402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944526" y="4214565"/>
            <a:ext cx="4838330" cy="2088000"/>
          </a:xfrm>
          <a:prstGeom prst="cloud">
            <a:avLst/>
          </a:prstGeom>
          <a:ln w="28575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endParaRPr lang="ar-DZ" sz="1000" b="1" dirty="0" smtClean="0">
              <a:solidFill>
                <a:srgbClr val="00B050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تَـجَـنُـبُ الـكَـلِـمَـات الـمَـحْـجُــوزَة</a:t>
            </a:r>
            <a:endParaRPr lang="fr-FR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684" y="1152403"/>
            <a:ext cx="10972800" cy="1008111"/>
          </a:xfrm>
          <a:prstGeom prst="rect">
            <a:avLst/>
          </a:prstGeom>
          <a:solidFill>
            <a:srgbClr val="C5F1FF"/>
          </a:solidFill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الـحَــرْفُ الـثَــانِـي مِـنْ اِسْــمِ الـمُـعَــرَّف حَــتَـى نِـهَـايَــةِ الِاسْــمِ</a:t>
            </a:r>
            <a:endParaRPr lang="fr-FR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58759" y="3312913"/>
            <a:ext cx="4859822" cy="2808312"/>
          </a:xfrm>
          <a:prstGeom prst="rect">
            <a:avLst/>
          </a:prstGeom>
          <a:solidFill>
            <a:srgbClr val="E7F9FF"/>
          </a:solidFill>
          <a:ln w="5715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fr-FR" sz="1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ar-DZ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</a:p>
          <a:p>
            <a:pPr algn="ctr" rtl="1"/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z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71879" y="3451260"/>
            <a:ext cx="4608513" cy="959797"/>
          </a:xfrm>
          <a:prstGeom prst="rect">
            <a:avLst/>
          </a:prstGeom>
          <a:solidFill>
            <a:srgbClr val="E7F9FF"/>
          </a:solidFill>
          <a:ln w="381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الـحَــرْفُ الأَوَل مِـنْ الاِسْـم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5768" y="2262540"/>
            <a:ext cx="10598968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1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2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3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4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5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6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7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8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9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83432" y="3161577"/>
            <a:ext cx="4520484" cy="1008111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Tiret de 8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7151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4" grpId="0" animBg="1"/>
      <p:bldP spid="22" grpId="0" animBg="1"/>
      <p:bldP spid="17" grpId="0" animBg="1"/>
      <p:bldP spid="19" grpId="0" animBg="1"/>
      <p:bldP spid="20" grpId="0"/>
      <p:bldP spid="24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13/02/2026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28356</TotalTime>
  <Words>6373</Words>
  <Application>Microsoft Office PowerPoint</Application>
  <PresentationFormat>Grand écran</PresentationFormat>
  <Paragraphs>1548</Paragraphs>
  <Slides>210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210</vt:i4>
      </vt:variant>
    </vt:vector>
  </HeadingPairs>
  <TitlesOfParts>
    <vt:vector size="223" baseType="lpstr">
      <vt:lpstr>Arial Unicode MS</vt:lpstr>
      <vt:lpstr>SimSun</vt:lpstr>
      <vt:lpstr>SimSun</vt:lpstr>
      <vt:lpstr>Arial</vt:lpstr>
      <vt:lpstr>Calibri</vt:lpstr>
      <vt:lpstr>Droid Sans Fallback</vt:lpstr>
      <vt:lpstr>FreeSans</vt:lpstr>
      <vt:lpstr>Liberation Serif</vt:lpstr>
      <vt:lpstr>Symbol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1. مـفــهـــوم الـخــوارزمـــيـــة </vt:lpstr>
      <vt:lpstr>أتـذكـر ( 1.1 أصــل مــصــطــلـح « الـخــوارزمــيــة » )</vt:lpstr>
      <vt:lpstr>أتـذكـر ( 1.1 أصــل مــصــطــلـح « الـخــوارزمــيــة » )</vt:lpstr>
      <vt:lpstr>أتـذكـر ( 1.1 أصــل مــصــطــلـح « الـخــوارزمــيــة »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2. الـتــرابــط بــيـن الـمــخـــطـــط الانــســـيـــابــي والــخـــوارزمـــيـــة : </vt:lpstr>
      <vt:lpstr>2. الـتــرابــط بــيـن الـمــخـــطـــط الانــســـيـــابــي والــخـــوارزمـــيـــة : </vt:lpstr>
      <vt:lpstr>2. الـتــرابــط بــيـن الـمــخـــطـــط الانــســـيـــابــي والــخـــوارزمـــيـــة : 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1. تـعــريــف الـخـــوارزمـــيــة :</vt:lpstr>
      <vt:lpstr>1. تـعــريــف الـخـــوارزمـــيــة :</vt:lpstr>
      <vt:lpstr>1. تـعــريــف الـخـــوارزمـــيــة :</vt:lpstr>
      <vt:lpstr>أتـذكـر ( 1. تـعــريـف الـخـــوارزمـــيــة )</vt:lpstr>
      <vt:lpstr>أتـذكـر ( 1. تـعــريـف الـخـــوارزمـــيــة )</vt:lpstr>
      <vt:lpstr>أتـذكـر ( 1. تـعــريـف الـخـــوارزمـــيــة )</vt:lpstr>
      <vt:lpstr>ســؤال : مـا هــو الـفــرق بــيـن الـمــدخـــلات و الـمـعـطـيـات الابـتـدائـيـة ؟</vt:lpstr>
      <vt:lpstr>ســؤال : مـا هــو الـفــرق بــيـن الـمــدخـــلات و الـمـعـطـيـات الابـتـدائـيـة ؟</vt:lpstr>
      <vt:lpstr>ســؤال : مـا هــو الـفــرق بــيـن الـمــدخـــلات و الـمـعـطـيـات الابـتـدائـيـة ؟</vt:lpstr>
      <vt:lpstr>ســؤال :  مَــتـى تـكــون الــمـعــطــيـــات  مــخــتــارة ؟</vt:lpstr>
      <vt:lpstr>ســؤال :  مَــتـى تـكــون الــمـعــطــيـــات  مــخــتــارة ؟</vt:lpstr>
      <vt:lpstr>الــمُــخَــطَّــط الانــســـيــابـي الـمُــوَافِــق للــمــســألــة : a X + b = 0   ( a  0 )</vt:lpstr>
      <vt:lpstr>ســؤال :  مَــتـى تـكــون الــمـعــطــيـــات مــفــروضــة ؟</vt:lpstr>
      <vt:lpstr>ســؤال :  مَــتـى تـكــون الــمـعــطــيـــات مــفــروضــة ؟</vt:lpstr>
      <vt:lpstr>الــمُــخَــطَّــط الانــســـيــابـي الـمُــوَافِــق للــمــســألــة : a X + b = 0   ( a  0 )</vt:lpstr>
      <vt:lpstr>أتـذكـر ( 1. تـعــريـف الـخـــوارزمـــيــة )</vt:lpstr>
      <vt:lpstr>أتـذكـر ( 1. تـعــريـف الـخـــوارزمـــيــة )</vt:lpstr>
      <vt:lpstr>2. خــصــائــص الـخـــوارزمـــيــة الـســـلـــيــــمــة :</vt:lpstr>
      <vt:lpstr>أتـذكـر ( 2. خــصــائــص الـخـــوارزمـــيــة الـســـلـــيـــمــة )</vt:lpstr>
      <vt:lpstr>أتـذكـر ( 2. خــصــائــص الـخـــوارزمـــيــة الـســـلـــيـــمــة )</vt:lpstr>
      <vt:lpstr>أتـذكـر ( 2. خــصــائــص الـخـــوارزمـــيــة الـســـلـــيـــمــة )</vt:lpstr>
      <vt:lpstr>أتـذكـر ( 2. خــصــائــص الـخـــوارزمـــيــة الـســـلـــيـــمــة )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ســؤال : حَــلِّــلْ الـصُــورَة الـتــالــيــة ، فــمــاذا تــســتــنــتــج ؟</vt:lpstr>
      <vt:lpstr>ســؤال : حَــلِّــلْ الـصُــورَة الـتــالــيــة ، فــمــاذا تــســتــنــتــج ؟</vt:lpstr>
      <vt:lpstr>4. تـحــلــيــل أجـــزاء الــخــوارزمـــيـــة وعـــنــاصــرهــا :</vt:lpstr>
      <vt:lpstr>ســؤال : حَــلِّــلْ الـصُــورَة الـتــالــيــة ، فــمــاذا تــســتــنــتــج ؟</vt:lpstr>
      <vt:lpstr>أتـذكـر ( 4 .1 – اســـم الـخـــوارزمـــيــة )</vt:lpstr>
      <vt:lpstr>أتـذكـر ( 4 .1 – اســـم الـخـــوارزمـــيــة )</vt:lpstr>
      <vt:lpstr>أتـذكـر ( 4 .1 – اســـم الـخـــوارزمـــيــة )</vt:lpstr>
      <vt:lpstr>أتـذكـر ( 4 .1 – اســـم الـخـــوارزمـــيــة )</vt:lpstr>
      <vt:lpstr>مُــلَــخَــص قَــوَاعِـــدِ أَسْــمَـــاءِ الــمُـعَـــرَّفَــــات</vt:lpstr>
      <vt:lpstr>4. تـحــلــيــل أجـــزاء الــخــوارزمـــيـــة وعـــنــاصــرهــا :</vt:lpstr>
      <vt:lpstr>ســؤال : حَــلِّــلْ الـصُــورَة الـتــالــيــة ، فــمــاذا تــســتــنــتــج ؟</vt:lpstr>
      <vt:lpstr>4 .2 – الـتـصـريــحــات  :</vt:lpstr>
      <vt:lpstr>ســؤال : مـا هي الـعـلاقـة الـمـوجـودة بـيـن الـمُـتَـغَــيِّـر وَالـذَاكِـرَةِ الـحَـيَـة ؟</vt:lpstr>
      <vt:lpstr>ســؤال : مـا هي الـعـلاقـة الـمـوجـودة بـيـن الـمُـتَـغَــيِّـر وَالـذَاكِـرَةِ الـحَـيَـة ؟</vt:lpstr>
      <vt:lpstr>ســؤال : مـا هي الـعـلاقـة الـمـوجـودة بـيـن الـمُـتَـغَــيِّـر وَالـذَاكِـرَةِ الـحَـيَـة ؟</vt:lpstr>
      <vt:lpstr>ســؤال : بـمـاذا يَــتَــمَــيَّــزُ كـل  مُــتَــغَـــيِّــر ( مَــوْضِـع ) ؟</vt:lpstr>
      <vt:lpstr>ســؤال : بـمـاذا يَــتَــمَــيَّــزُ كـل  مُــتَــغَـــيِّــر ؟</vt:lpstr>
      <vt:lpstr>ســؤال : بـمـاذا يَــتَــمَــيَّــزُ كـل  مُــتَــغَـــيِّــر ؟</vt:lpstr>
      <vt:lpstr>ســؤال : مـا هي الـعـلاقـة الـمـوجـودة بـيـن الـمُـتَـغَــيِّـر وَالـذَاكِـرَةِ الـحَـيَـة ؟</vt:lpstr>
      <vt:lpstr>ســؤال : مـا هي الـعـلاقـة الـمـوجـودة بـيـن الـمُـتَـغَــيِّـر وَالـذَاكِـرَةِ الـحَـيَـة ؟</vt:lpstr>
      <vt:lpstr>ســؤال : مـا هي الـعـلاقـة الـمـوجـودة بـيـن الـمُـتَـغَــيِّـر وَالـذَاكِـرَةِ الـحَـيَـة ؟</vt:lpstr>
      <vt:lpstr>ســؤال : بـمـاذا يَــتَــمَــيَّــزُ كـل  مُــتَــغَـــيِّــر ؟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ســؤال : مـا هي الـعـلاقـة الـمـوجـودة بـيـن الـثـابــت وَالـذَاكِـرَةِ الـحَـيَـة ؟</vt:lpstr>
      <vt:lpstr>ســؤال : مـا هي الـعـلاقـة الـمـوجـودة بـيـن الـثـابــت وَالـذَاكِـرَةِ الـحَـيَـة ؟</vt:lpstr>
      <vt:lpstr>ســؤال : مـا هــو الـفَــرْقُ بــيـن الـثـوابــت وَالـمُــتَــغَــيِّــرَات ؟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مُــلَــخَــص قَــوَاعِـــدِ أَسْــمَـــاءِ الــمُـعَـــرَّفَــــات</vt:lpstr>
      <vt:lpstr>4 .2 – الـتـصـريــحــات  :</vt:lpstr>
      <vt:lpstr>مُــلَــخَــص قَــوَاعِـــدِ أَسْــمَـــاءِ الــمُـعَـــرَّفَــــات</vt:lpstr>
      <vt:lpstr>مُــلَــخَــص قَــوَاعِـــدِ أَسْــمَـــاءِ الــمُـعَـــرَّفَــــات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تــطـــبــيــقـــات :</vt:lpstr>
      <vt:lpstr>مُــلَــخَــص قَــوَاعِـــدِ أَسْــمَـــاءِ الــمُـعَـــرَّفَــــات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 الـتـمــثــيــل الـبــيــانـي للــتـعـــلــيـــمــة الـشــرطـــيــة الـبــســيــطــة :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 الــتـعـــلــيـــمــات الـشــرطـــيــة الـبــســيــطــة  ـــ  تـــابـــع</vt:lpstr>
      <vt:lpstr>أتـذكـر ( 2. خــصــائــص الـخـــوارزمـــيــة الـســـلـــيـــمــة )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 الـتـمــثــيــل الـبــيــانـي للــتـعـــلــيـــمــة الـشــرطـــيــة الاخــتــيــاريــة :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 الــتـعـــلــيـــمــات الـشــرطـــيــة الاخــتــيــاريــة ـــ  تـــابـــع</vt:lpstr>
      <vt:lpstr>أتـذكـر ( 2. خــصــائــص الـخـــوارزمـــيــة الـســـلـــيـــمــة )</vt:lpstr>
      <vt:lpstr>د. الـتـعــلــيــمــات الـشــرطـــيــة  ـــ  تــــابـــع</vt:lpstr>
      <vt:lpstr>د. الـتـعــلــيــمــات الـشــرطـــيــة  ـــ  تــــابـــع</vt:lpstr>
      <vt:lpstr>د. الـتـعــلــيــمــات الـشــرطـــيــة  ـــ  تــــابـــع</vt:lpstr>
      <vt:lpstr>د. الـتـعــلــيــمــات الـشــرطـــيــة  ـــ  تــــابـــع</vt:lpstr>
      <vt:lpstr>أتـذكـر ( 2. خــصــائــص الـخـــوارزمـــيــة الـســـلـــيـــمــة )</vt:lpstr>
      <vt:lpstr>تــطـــبــيــقـــات :</vt:lpstr>
      <vt:lpstr>مُــلَــخَــص قَــوَاعِـــدِ أَسْــمَـــاءِ الــمُـعَـــرَّفَــــات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 الـتـمــثــيــل الـبــيــانـي الــتـعـــلــيـــمــة الـتــكـــراريـــة  Tant que :</vt:lpstr>
      <vt:lpstr> الـتـمــثــيــل الـبــيــانـي للــتـعـــلــيـــمــة الـشــرطـــيــة الـبــســيــطــة :</vt:lpstr>
      <vt:lpstr> الـتـمــثــيــل الـبــيــانـي الــتـعـــلــيـــمــة الـتــكـــراريـــة  Tant que :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أتـذكـر ( 2. خــصــائــص الـخـــوارزمـــيــة الـســـلـــيـــمــة )</vt:lpstr>
      <vt:lpstr>هـ. الـتـعــلــيــمــات الـتــكـــراريـــة  Instructions Répétitives</vt:lpstr>
      <vt:lpstr> الــتـعـــلــيـــمــة الـتــكـــراريـــة   » Tant que «   ـــ   تـــابـــع</vt:lpstr>
      <vt:lpstr> الــتـعـــلــيـــمــات الـشــرطـــيــة الـبــســيــطــة  ـــ  تـــابـــع</vt:lpstr>
      <vt:lpstr> الــتـعـــلــيـــمــات الـشــرطـــيــة الاخــتــيــاريــة ـــ  تـــابـــع</vt:lpstr>
      <vt:lpstr> الــتـعـــلــيـــمــة الـتــكـــراريـــة                       » Tant que «  ـــ تـا</vt:lpstr>
      <vt:lpstr>د. الـتـعــلــيــمــات الـشــرطـــيــة  ـــ  تــــابـــع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 الـتـمــثــيــل الـبــيــانـي الــتـعـــلــيـــمــة الـتــكـــراريـــة      Pour  :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 الــتـعـــلــيـــمــة الـتــكـــراريـــة   » Pour «   ـــ   تـــابـــع</vt:lpstr>
      <vt:lpstr> الـتـمــثــيــل الـبــيــانـي الــتـعـــلــيـــمــة الـتــكـــراريـــة      Pour  :</vt:lpstr>
      <vt:lpstr> الــتـعـــلــيـــمــة الـتــكـــراريـــة                         » Pour «  ـــ تــابـع</vt:lpstr>
      <vt:lpstr>هـ. الـتـعــلــيــمــات الـتــكـــراريـــة  Instructions Répétitives</vt:lpstr>
      <vt:lpstr>تــطـــبــيــقـــات مُـــقْـــتَـــرَحَـــة :</vt:lpstr>
      <vt:lpstr>تــطـــبــيــقـــات مُـــقْـــتَـــرَحَـــة :</vt:lpstr>
      <vt:lpstr>4 .3 –  الـتــعـــلــيـــمـــات الأســـاســـيـــة  :</vt:lpstr>
      <vt:lpstr>4 .3 –  الـتــعـــلــيـــمـــات الأســـاســـيـــة  :</vt:lpstr>
      <vt:lpstr>مُــلَــخَــص قَــوَاعِـــدِ أَسْــمَـــاءِ الــمُـعَـــرَّفَــــات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2350</cp:revision>
  <dcterms:created xsi:type="dcterms:W3CDTF">2015-11-30T21:00:22Z</dcterms:created>
  <dcterms:modified xsi:type="dcterms:W3CDTF">2026-02-13T10:15:07Z</dcterms:modified>
</cp:coreProperties>
</file>