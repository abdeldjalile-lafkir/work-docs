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2"/>
  </p:notesMasterIdLst>
  <p:sldIdLst>
    <p:sldId id="273" r:id="rId3"/>
    <p:sldId id="291" r:id="rId4"/>
    <p:sldId id="258" r:id="rId5"/>
    <p:sldId id="447" r:id="rId6"/>
    <p:sldId id="540" r:id="rId7"/>
    <p:sldId id="292" r:id="rId8"/>
    <p:sldId id="595" r:id="rId9"/>
    <p:sldId id="596" r:id="rId10"/>
    <p:sldId id="293" r:id="rId11"/>
    <p:sldId id="529" r:id="rId12"/>
    <p:sldId id="541" r:id="rId13"/>
    <p:sldId id="599" r:id="rId14"/>
    <p:sldId id="598" r:id="rId15"/>
    <p:sldId id="597" r:id="rId16"/>
    <p:sldId id="542" r:id="rId17"/>
    <p:sldId id="543" r:id="rId18"/>
    <p:sldId id="601" r:id="rId19"/>
    <p:sldId id="600" r:id="rId20"/>
    <p:sldId id="561" r:id="rId21"/>
    <p:sldId id="564" r:id="rId22"/>
    <p:sldId id="653" r:id="rId23"/>
    <p:sldId id="563" r:id="rId24"/>
    <p:sldId id="544" r:id="rId25"/>
    <p:sldId id="602" r:id="rId26"/>
    <p:sldId id="545" r:id="rId27"/>
    <p:sldId id="652" r:id="rId28"/>
    <p:sldId id="604" r:id="rId29"/>
    <p:sldId id="603" r:id="rId30"/>
    <p:sldId id="395" r:id="rId31"/>
    <p:sldId id="519" r:id="rId32"/>
    <p:sldId id="546" r:id="rId33"/>
    <p:sldId id="520" r:id="rId34"/>
    <p:sldId id="547" r:id="rId35"/>
    <p:sldId id="607" r:id="rId36"/>
    <p:sldId id="606" r:id="rId37"/>
    <p:sldId id="605" r:id="rId38"/>
    <p:sldId id="764" r:id="rId39"/>
    <p:sldId id="763" r:id="rId40"/>
    <p:sldId id="521" r:id="rId41"/>
    <p:sldId id="403" r:id="rId42"/>
    <p:sldId id="743" r:id="rId43"/>
    <p:sldId id="766" r:id="rId44"/>
    <p:sldId id="767" r:id="rId45"/>
    <p:sldId id="765" r:id="rId46"/>
    <p:sldId id="608" r:id="rId47"/>
    <p:sldId id="754" r:id="rId48"/>
    <p:sldId id="755" r:id="rId49"/>
    <p:sldId id="756" r:id="rId50"/>
    <p:sldId id="753" r:id="rId51"/>
    <p:sldId id="757" r:id="rId52"/>
    <p:sldId id="742" r:id="rId53"/>
    <p:sldId id="760" r:id="rId54"/>
    <p:sldId id="759" r:id="rId55"/>
    <p:sldId id="761" r:id="rId56"/>
    <p:sldId id="489" r:id="rId57"/>
    <p:sldId id="523" r:id="rId58"/>
    <p:sldId id="549" r:id="rId59"/>
    <p:sldId id="745" r:id="rId60"/>
    <p:sldId id="747" r:id="rId61"/>
    <p:sldId id="610" r:id="rId62"/>
    <p:sldId id="746" r:id="rId63"/>
    <p:sldId id="748" r:id="rId64"/>
    <p:sldId id="750" r:id="rId65"/>
    <p:sldId id="609" r:id="rId66"/>
    <p:sldId id="749" r:id="rId67"/>
    <p:sldId id="550" r:id="rId68"/>
    <p:sldId id="490" r:id="rId69"/>
    <p:sldId id="733" r:id="rId70"/>
    <p:sldId id="551" r:id="rId71"/>
    <p:sldId id="734" r:id="rId72"/>
    <p:sldId id="751" r:id="rId73"/>
    <p:sldId id="752" r:id="rId74"/>
    <p:sldId id="491" r:id="rId75"/>
    <p:sldId id="465" r:id="rId76"/>
    <p:sldId id="554" r:id="rId77"/>
    <p:sldId id="611" r:id="rId78"/>
    <p:sldId id="720" r:id="rId79"/>
    <p:sldId id="712" r:id="rId80"/>
    <p:sldId id="729" r:id="rId81"/>
    <p:sldId id="612" r:id="rId82"/>
    <p:sldId id="736" r:id="rId83"/>
    <p:sldId id="730" r:id="rId84"/>
    <p:sldId id="731" r:id="rId85"/>
    <p:sldId id="727" r:id="rId86"/>
    <p:sldId id="762" r:id="rId87"/>
    <p:sldId id="732" r:id="rId88"/>
    <p:sldId id="494" r:id="rId89"/>
    <p:sldId id="557" r:id="rId90"/>
    <p:sldId id="618" r:id="rId91"/>
    <p:sldId id="617" r:id="rId92"/>
    <p:sldId id="616" r:id="rId93"/>
    <p:sldId id="615" r:id="rId94"/>
    <p:sldId id="614" r:id="rId95"/>
    <p:sldId id="496" r:id="rId96"/>
    <p:sldId id="559" r:id="rId97"/>
    <p:sldId id="621" r:id="rId98"/>
    <p:sldId id="560" r:id="rId99"/>
    <p:sldId id="622" r:id="rId100"/>
    <p:sldId id="495" r:id="rId101"/>
    <p:sldId id="558" r:id="rId102"/>
    <p:sldId id="620" r:id="rId103"/>
    <p:sldId id="619" r:id="rId104"/>
    <p:sldId id="497" r:id="rId105"/>
    <p:sldId id="498" r:id="rId106"/>
    <p:sldId id="565" r:id="rId107"/>
    <p:sldId id="624" r:id="rId108"/>
    <p:sldId id="623" r:id="rId109"/>
    <p:sldId id="625" r:id="rId110"/>
    <p:sldId id="626" r:id="rId111"/>
    <p:sldId id="503" r:id="rId112"/>
    <p:sldId id="627" r:id="rId113"/>
    <p:sldId id="718" r:id="rId114"/>
    <p:sldId id="719" r:id="rId115"/>
    <p:sldId id="566" r:id="rId116"/>
    <p:sldId id="629" r:id="rId117"/>
    <p:sldId id="628" r:id="rId118"/>
    <p:sldId id="506" r:id="rId119"/>
    <p:sldId id="567" r:id="rId120"/>
    <p:sldId id="568" r:id="rId121"/>
    <p:sldId id="631" r:id="rId122"/>
    <p:sldId id="630" r:id="rId123"/>
    <p:sldId id="504" r:id="rId124"/>
    <p:sldId id="569" r:id="rId125"/>
    <p:sldId id="716" r:id="rId126"/>
    <p:sldId id="717" r:id="rId127"/>
    <p:sldId id="715" r:id="rId128"/>
    <p:sldId id="637" r:id="rId129"/>
    <p:sldId id="740" r:id="rId130"/>
    <p:sldId id="636" r:id="rId131"/>
    <p:sldId id="739" r:id="rId132"/>
    <p:sldId id="635" r:id="rId133"/>
    <p:sldId id="738" r:id="rId134"/>
    <p:sldId id="634" r:id="rId135"/>
    <p:sldId id="633" r:id="rId136"/>
    <p:sldId id="775" r:id="rId137"/>
    <p:sldId id="449" r:id="rId138"/>
    <p:sldId id="507" r:id="rId139"/>
    <p:sldId id="516" r:id="rId140"/>
    <p:sldId id="572" r:id="rId141"/>
    <p:sldId id="571" r:id="rId142"/>
    <p:sldId id="508" r:id="rId143"/>
    <p:sldId id="573" r:id="rId144"/>
    <p:sldId id="515" r:id="rId145"/>
    <p:sldId id="574" r:id="rId146"/>
    <p:sldId id="511" r:id="rId147"/>
    <p:sldId id="512" r:id="rId148"/>
    <p:sldId id="577" r:id="rId149"/>
    <p:sldId id="513" r:id="rId150"/>
    <p:sldId id="576" r:id="rId151"/>
    <p:sldId id="514" r:id="rId152"/>
    <p:sldId id="578" r:id="rId153"/>
    <p:sldId id="713" r:id="rId154"/>
    <p:sldId id="795" r:id="rId155"/>
    <p:sldId id="786" r:id="rId156"/>
    <p:sldId id="787" r:id="rId157"/>
    <p:sldId id="522" r:id="rId158"/>
    <p:sldId id="538" r:id="rId159"/>
    <p:sldId id="654" r:id="rId160"/>
    <p:sldId id="539" r:id="rId161"/>
    <p:sldId id="579" r:id="rId162"/>
    <p:sldId id="530" r:id="rId163"/>
    <p:sldId id="655" r:id="rId164"/>
    <p:sldId id="531" r:id="rId165"/>
    <p:sldId id="580" r:id="rId166"/>
    <p:sldId id="656" r:id="rId167"/>
    <p:sldId id="588" r:id="rId168"/>
    <p:sldId id="582" r:id="rId169"/>
    <p:sldId id="769" r:id="rId170"/>
    <p:sldId id="593" r:id="rId171"/>
    <p:sldId id="594" r:id="rId172"/>
    <p:sldId id="770" r:id="rId173"/>
    <p:sldId id="589" r:id="rId174"/>
    <p:sldId id="788" r:id="rId175"/>
    <p:sldId id="792" r:id="rId176"/>
    <p:sldId id="791" r:id="rId177"/>
    <p:sldId id="793" r:id="rId178"/>
    <p:sldId id="783" r:id="rId179"/>
    <p:sldId id="794" r:id="rId180"/>
    <p:sldId id="790" r:id="rId181"/>
    <p:sldId id="771" r:id="rId182"/>
    <p:sldId id="772" r:id="rId183"/>
    <p:sldId id="537" r:id="rId184"/>
    <p:sldId id="586" r:id="rId185"/>
    <p:sldId id="640" r:id="rId186"/>
    <p:sldId id="526" r:id="rId187"/>
    <p:sldId id="639" r:id="rId188"/>
    <p:sldId id="638" r:id="rId189"/>
    <p:sldId id="587" r:id="rId190"/>
    <p:sldId id="642" r:id="rId191"/>
    <p:sldId id="641" r:id="rId192"/>
    <p:sldId id="525" r:id="rId193"/>
    <p:sldId id="458" r:id="rId194"/>
    <p:sldId id="534" r:id="rId195"/>
    <p:sldId id="644" r:id="rId196"/>
    <p:sldId id="643" r:id="rId197"/>
    <p:sldId id="649" r:id="rId198"/>
    <p:sldId id="650" r:id="rId199"/>
    <p:sldId id="648" r:id="rId200"/>
    <p:sldId id="647" r:id="rId201"/>
    <p:sldId id="528" r:id="rId202"/>
    <p:sldId id="536" r:id="rId203"/>
    <p:sldId id="651" r:id="rId204"/>
    <p:sldId id="657" r:id="rId205"/>
    <p:sldId id="659" r:id="rId206"/>
    <p:sldId id="662" r:id="rId207"/>
    <p:sldId id="664" r:id="rId208"/>
    <p:sldId id="708" r:id="rId209"/>
    <p:sldId id="668" r:id="rId210"/>
    <p:sldId id="709" r:id="rId211"/>
    <p:sldId id="667" r:id="rId212"/>
    <p:sldId id="710" r:id="rId213"/>
    <p:sldId id="666" r:id="rId214"/>
    <p:sldId id="711" r:id="rId215"/>
    <p:sldId id="665" r:id="rId216"/>
    <p:sldId id="660" r:id="rId217"/>
    <p:sldId id="676" r:id="rId218"/>
    <p:sldId id="672" r:id="rId219"/>
    <p:sldId id="779" r:id="rId220"/>
    <p:sldId id="780" r:id="rId221"/>
    <p:sldId id="675" r:id="rId222"/>
    <p:sldId id="674" r:id="rId223"/>
    <p:sldId id="673" r:id="rId224"/>
    <p:sldId id="774" r:id="rId225"/>
    <p:sldId id="677" r:id="rId226"/>
    <p:sldId id="679" r:id="rId227"/>
    <p:sldId id="678" r:id="rId228"/>
    <p:sldId id="681" r:id="rId229"/>
    <p:sldId id="682" r:id="rId230"/>
    <p:sldId id="680" r:id="rId231"/>
    <p:sldId id="683" r:id="rId232"/>
    <p:sldId id="685" r:id="rId233"/>
    <p:sldId id="686" r:id="rId234"/>
    <p:sldId id="684" r:id="rId235"/>
    <p:sldId id="776" r:id="rId236"/>
    <p:sldId id="777" r:id="rId237"/>
    <p:sldId id="778" r:id="rId238"/>
    <p:sldId id="688" r:id="rId239"/>
    <p:sldId id="687" r:id="rId240"/>
    <p:sldId id="694" r:id="rId241"/>
    <p:sldId id="691" r:id="rId242"/>
    <p:sldId id="696" r:id="rId243"/>
    <p:sldId id="781" r:id="rId244"/>
    <p:sldId id="782" r:id="rId245"/>
    <p:sldId id="695" r:id="rId246"/>
    <p:sldId id="697" r:id="rId247"/>
    <p:sldId id="698" r:id="rId248"/>
    <p:sldId id="701" r:id="rId249"/>
    <p:sldId id="704" r:id="rId250"/>
    <p:sldId id="703" r:id="rId251"/>
    <p:sldId id="702" r:id="rId252"/>
    <p:sldId id="699" r:id="rId253"/>
    <p:sldId id="707" r:id="rId254"/>
    <p:sldId id="706" r:id="rId255"/>
    <p:sldId id="705" r:id="rId256"/>
    <p:sldId id="700" r:id="rId257"/>
    <p:sldId id="392" r:id="rId258"/>
    <p:sldId id="338" r:id="rId259"/>
    <p:sldId id="669" r:id="rId260"/>
    <p:sldId id="773" r:id="rId26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434" autoAdjust="0"/>
  </p:normalViewPr>
  <p:slideViewPr>
    <p:cSldViewPr>
      <p:cViewPr varScale="1">
        <p:scale>
          <a:sx n="82" d="100"/>
          <a:sy n="82" d="100"/>
        </p:scale>
        <p:origin x="1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63" Type="http://schemas.openxmlformats.org/officeDocument/2006/relationships/slide" Target="slides/slide61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226" Type="http://schemas.openxmlformats.org/officeDocument/2006/relationships/slide" Target="slides/slide22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37" Type="http://schemas.openxmlformats.org/officeDocument/2006/relationships/slide" Target="slides/slide235.xml"/><Relationship Id="rId258" Type="http://schemas.openxmlformats.org/officeDocument/2006/relationships/slide" Target="slides/slide256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27" Type="http://schemas.openxmlformats.org/officeDocument/2006/relationships/slide" Target="slides/slide225.xml"/><Relationship Id="rId248" Type="http://schemas.openxmlformats.org/officeDocument/2006/relationships/slide" Target="slides/slide246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8" Type="http://schemas.openxmlformats.org/officeDocument/2006/relationships/slide" Target="slides/slide236.xml"/><Relationship Id="rId259" Type="http://schemas.openxmlformats.org/officeDocument/2006/relationships/slide" Target="slides/slide257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228" Type="http://schemas.openxmlformats.org/officeDocument/2006/relationships/slide" Target="slides/slide226.xml"/><Relationship Id="rId249" Type="http://schemas.openxmlformats.org/officeDocument/2006/relationships/slide" Target="slides/slide247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260" Type="http://schemas.openxmlformats.org/officeDocument/2006/relationships/slide" Target="slides/slide258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39" Type="http://schemas.openxmlformats.org/officeDocument/2006/relationships/slide" Target="slides/slide237.xml"/><Relationship Id="rId250" Type="http://schemas.openxmlformats.org/officeDocument/2006/relationships/slide" Target="slides/slide248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229" Type="http://schemas.openxmlformats.org/officeDocument/2006/relationships/slide" Target="slides/slide227.xml"/><Relationship Id="rId240" Type="http://schemas.openxmlformats.org/officeDocument/2006/relationships/slide" Target="slides/slide238.xml"/><Relationship Id="rId261" Type="http://schemas.openxmlformats.org/officeDocument/2006/relationships/slide" Target="slides/slide259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219" Type="http://schemas.openxmlformats.org/officeDocument/2006/relationships/slide" Target="slides/slide217.xml"/><Relationship Id="rId230" Type="http://schemas.openxmlformats.org/officeDocument/2006/relationships/slide" Target="slides/slide228.xml"/><Relationship Id="rId251" Type="http://schemas.openxmlformats.org/officeDocument/2006/relationships/slide" Target="slides/slide249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220" Type="http://schemas.openxmlformats.org/officeDocument/2006/relationships/slide" Target="slides/slide218.xml"/><Relationship Id="rId241" Type="http://schemas.openxmlformats.org/officeDocument/2006/relationships/slide" Target="slides/slide23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262" Type="http://schemas.openxmlformats.org/officeDocument/2006/relationships/notesMaster" Target="notesMasters/notesMaster1.xml"/><Relationship Id="rId78" Type="http://schemas.openxmlformats.org/officeDocument/2006/relationships/slide" Target="slides/slide76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64" Type="http://schemas.openxmlformats.org/officeDocument/2006/relationships/slide" Target="slides/slide162.xml"/><Relationship Id="rId185" Type="http://schemas.openxmlformats.org/officeDocument/2006/relationships/slide" Target="slides/slide183.xml"/><Relationship Id="rId9" Type="http://schemas.openxmlformats.org/officeDocument/2006/relationships/slide" Target="slides/slide7.xml"/><Relationship Id="rId210" Type="http://schemas.openxmlformats.org/officeDocument/2006/relationships/slide" Target="slides/slide208.xml"/><Relationship Id="rId26" Type="http://schemas.openxmlformats.org/officeDocument/2006/relationships/slide" Target="slides/slide24.xml"/><Relationship Id="rId231" Type="http://schemas.openxmlformats.org/officeDocument/2006/relationships/slide" Target="slides/slide229.xml"/><Relationship Id="rId252" Type="http://schemas.openxmlformats.org/officeDocument/2006/relationships/slide" Target="slides/slide250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242" Type="http://schemas.openxmlformats.org/officeDocument/2006/relationships/slide" Target="slides/slide240.xml"/><Relationship Id="rId263" Type="http://schemas.openxmlformats.org/officeDocument/2006/relationships/commentAuthors" Target="commentAuthors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32" Type="http://schemas.openxmlformats.org/officeDocument/2006/relationships/slide" Target="slides/slide230.xml"/><Relationship Id="rId253" Type="http://schemas.openxmlformats.org/officeDocument/2006/relationships/slide" Target="slides/slide251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243" Type="http://schemas.openxmlformats.org/officeDocument/2006/relationships/slide" Target="slides/slide241.xml"/><Relationship Id="rId264" Type="http://schemas.openxmlformats.org/officeDocument/2006/relationships/presProps" Target="presProps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33" Type="http://schemas.openxmlformats.org/officeDocument/2006/relationships/slide" Target="slides/slide231.xml"/><Relationship Id="rId254" Type="http://schemas.openxmlformats.org/officeDocument/2006/relationships/slide" Target="slides/slide252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slide" Target="slides/slide221.xml"/><Relationship Id="rId244" Type="http://schemas.openxmlformats.org/officeDocument/2006/relationships/slide" Target="slides/slide242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265" Type="http://schemas.openxmlformats.org/officeDocument/2006/relationships/viewProps" Target="viewProps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34" Type="http://schemas.openxmlformats.org/officeDocument/2006/relationships/slide" Target="slides/slide23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55" Type="http://schemas.openxmlformats.org/officeDocument/2006/relationships/slide" Target="slides/slide253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245" Type="http://schemas.openxmlformats.org/officeDocument/2006/relationships/slide" Target="slides/slide243.xml"/><Relationship Id="rId266" Type="http://schemas.openxmlformats.org/officeDocument/2006/relationships/theme" Target="theme/theme1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35" Type="http://schemas.openxmlformats.org/officeDocument/2006/relationships/slide" Target="slides/slide233.xml"/><Relationship Id="rId256" Type="http://schemas.openxmlformats.org/officeDocument/2006/relationships/slide" Target="slides/slide254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179" Type="http://schemas.openxmlformats.org/officeDocument/2006/relationships/slide" Target="slides/slide17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5" Type="http://schemas.openxmlformats.org/officeDocument/2006/relationships/slide" Target="slides/slide223.xml"/><Relationship Id="rId246" Type="http://schemas.openxmlformats.org/officeDocument/2006/relationships/slide" Target="slides/slide244.xml"/><Relationship Id="rId267" Type="http://schemas.openxmlformats.org/officeDocument/2006/relationships/tableStyles" Target="tableStyles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94" Type="http://schemas.openxmlformats.org/officeDocument/2006/relationships/slide" Target="slides/slide92.xml"/><Relationship Id="rId148" Type="http://schemas.openxmlformats.org/officeDocument/2006/relationships/slide" Target="slides/slide146.xml"/><Relationship Id="rId169" Type="http://schemas.openxmlformats.org/officeDocument/2006/relationships/slide" Target="slides/slide167.xml"/><Relationship Id="rId4" Type="http://schemas.openxmlformats.org/officeDocument/2006/relationships/slide" Target="slides/slide2.xml"/><Relationship Id="rId180" Type="http://schemas.openxmlformats.org/officeDocument/2006/relationships/slide" Target="slides/slide178.xml"/><Relationship Id="rId215" Type="http://schemas.openxmlformats.org/officeDocument/2006/relationships/slide" Target="slides/slide213.xml"/><Relationship Id="rId236" Type="http://schemas.openxmlformats.org/officeDocument/2006/relationships/slide" Target="slides/slide234.xml"/><Relationship Id="rId257" Type="http://schemas.openxmlformats.org/officeDocument/2006/relationships/slide" Target="slides/slide255.xml"/><Relationship Id="rId42" Type="http://schemas.openxmlformats.org/officeDocument/2006/relationships/slide" Target="slides/slide40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47" Type="http://schemas.openxmlformats.org/officeDocument/2006/relationships/slide" Target="slides/slide2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07/01/2026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7448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1222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07/01/2026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07/01/2026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07/01/2026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07/01/2026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07/01/2026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07/01/2026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07/01/2026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07/01/2026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07/01/2026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07/01/2026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07/01/2026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07/01/2026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07/01/2026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07/01/2026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07/01/2026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07/01/2026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07/01/2026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07/01/2026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07/01/2026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07/01/2026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07/01/2026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07/01/2026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ة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......................................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07/01/2026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r>
              <a:rPr lang="ar-DZ" sz="4400" b="1" dirty="0" smtClean="0">
                <a:cs typeface="+mj-cs"/>
              </a:rPr>
              <a:t>يَـضُـمُّ </a:t>
            </a:r>
            <a:r>
              <a:rPr lang="ar-DZ" sz="4400" b="1" dirty="0">
                <a:cs typeface="+mj-cs"/>
              </a:rPr>
              <a:t>مـقـهـى الأنـتـرنـت عِـــدَّة حــواسـيـب وطـابـعـة واحــدة، ومـع ذلـك بـإمـكـان رُوَّادِه طـبـاعـة الـمـسـتـنـدات مـن أيِّ حــاســوب، فـمــا هـي الـوسـيـلـة الّـتي يـتِـمُّ اسـتـعـمـالـهـا لـتــمـكـيـن كـلِّ الـحـواسـيـب مـن اسـتـخـدام تـلـك </a:t>
            </a:r>
            <a:r>
              <a:rPr lang="ar-DZ" sz="4400" b="1" dirty="0" smtClean="0">
                <a:cs typeface="+mj-cs"/>
              </a:rPr>
              <a:t>الـطــابـعــة</a:t>
            </a:r>
            <a:r>
              <a:rPr lang="fr-FR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؟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>
                <a:cs typeface="+mj-cs"/>
              </a:rPr>
              <a:t>الـوســيــلـة هـي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>
                <a:cs typeface="+mj-cs"/>
              </a:rPr>
              <a:t>الـوســيــلـة هـي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11424" y="2707231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B050"/>
                </a:solidFill>
              </a:rPr>
              <a:t>الــشـــبـــكــــة الــمــحـــلـــيــة </a:t>
            </a:r>
            <a:r>
              <a:rPr lang="fr-FR" sz="4400" b="1" dirty="0" smtClean="0">
                <a:solidFill>
                  <a:srgbClr val="00B050"/>
                </a:solidFill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</a:rPr>
              <a:t> </a:t>
            </a:r>
            <a:r>
              <a:rPr lang="fr-FR" sz="4400" b="1" dirty="0" smtClean="0">
                <a:solidFill>
                  <a:srgbClr val="00B050"/>
                </a:solidFill>
              </a:rPr>
              <a:t>Réseau Local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058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ة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......................................</a:t>
            </a:r>
            <a:r>
              <a:rPr lang="fr-FR" sz="4000" b="1" dirty="0">
                <a:solidFill>
                  <a:srgbClr val="00B050"/>
                </a:solidFill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07/01/2026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الــشـــبــــكـــــة الــمــحـــلـــيــة</a:t>
            </a:r>
            <a:r>
              <a:rPr lang="fr-FR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07/01/2026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37478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الــشـــبــــكـــــة الــمــحـــلـــيــة</a:t>
            </a:r>
            <a:r>
              <a:rPr lang="fr-FR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07/01/2026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Réseau Local ( LAN )</a:t>
            </a:r>
            <a:endParaRPr lang="ar-SA" altLang="zh-CN" sz="4000" b="1" dirty="0">
              <a:ln w="0"/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lang="fr-F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4" y="4716258"/>
            <a:ext cx="3636498" cy="2216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87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تـعــريـف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الـشـبـكـة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الـمـحــلـيـة  </a:t>
            </a:r>
            <a:r>
              <a:rPr lang="fr-FR" sz="48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/>
              <a:t>ا</a:t>
            </a:r>
            <a:r>
              <a:rPr lang="ar-SA" sz="4400" b="1" dirty="0" smtClean="0"/>
              <a:t>ش</a:t>
            </a:r>
            <a:r>
              <a:rPr lang="ar-DZ" sz="4400" b="1" dirty="0" smtClean="0"/>
              <a:t>ـــرح الــكــلــمــة</a:t>
            </a:r>
            <a:r>
              <a:rPr lang="fr-FR" sz="4400" b="1" dirty="0" smtClean="0"/>
              <a:t> </a:t>
            </a:r>
            <a:r>
              <a:rPr lang="ar-DZ" sz="4400" b="1" dirty="0" smtClean="0"/>
              <a:t> « </a:t>
            </a:r>
            <a:r>
              <a:rPr lang="ar-DZ" sz="4400" b="1" u="dbl" dirty="0" smtClean="0"/>
              <a:t>الــشــبــكــة</a:t>
            </a:r>
            <a:r>
              <a:rPr lang="ar-DZ" sz="4400" b="1" dirty="0" smtClean="0"/>
              <a:t> » لُــغَــةً</a:t>
            </a:r>
            <a:r>
              <a:rPr lang="ar-DZ" sz="4400" b="1" dirty="0"/>
              <a:t>، </a:t>
            </a:r>
            <a:r>
              <a:rPr lang="ar-DZ" sz="4400" b="1" dirty="0" smtClean="0"/>
              <a:t>ثُــم </a:t>
            </a:r>
            <a:r>
              <a:rPr lang="ar-DZ" sz="4400" b="1" dirty="0"/>
              <a:t>عَـــرِّفْ </a:t>
            </a:r>
            <a:r>
              <a:rPr lang="ar-DZ" sz="4400" b="1" dirty="0" smtClean="0"/>
              <a:t>الــشـــبــكــة الــمــحــلـــيــة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…………………..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..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.................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…………………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.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................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.. 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187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شـبـكـات 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ف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الـسـلـكـي /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ن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ق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213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شـبـكـات 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ف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الـسـلـكـي /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ن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ق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شـبـكـات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الـطــرق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740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شـبـكـات 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ف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الـسـلـكـي /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ن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ق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شـبـكـات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الـطــرق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شـبـكـة الـكـهـربــاء ، 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شـبـكـة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الــمــاء ... 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8850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شـبـكـات 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ف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الـسـلـكـي /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ن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ق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smtClean="0">
                <a:solidFill>
                  <a:srgbClr val="00B0F0"/>
                </a:solidFill>
                <a:cs typeface="+mj-cs"/>
              </a:rPr>
              <a:t>شـبـكـة الـصــيـد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، شـبـكـة الـمــرمـى ...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شـبـكـات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الـطــرق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شـبـكـة الـكـهـربــاء ، 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شـبـكـة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الــمــاء ... 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632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يـجـمـع هــذه الـشــبـكـ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مـاذا تـع</a:t>
            </a:r>
            <a:r>
              <a:rPr lang="ar-DZ" sz="3600" b="1" dirty="0">
                <a:solidFill>
                  <a:srgbClr val="FF0000"/>
                </a:solidFill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</a:rPr>
              <a:t>ـني الـ</a:t>
            </a:r>
            <a:r>
              <a:rPr lang="ar-SA" sz="3600" b="1" dirty="0" smtClean="0">
                <a:solidFill>
                  <a:srgbClr val="FF0000"/>
                </a:solidFill>
              </a:rPr>
              <a:t>شـبـكـة</a:t>
            </a:r>
            <a:r>
              <a:rPr lang="ar-DZ" sz="3600" b="1" dirty="0" smtClean="0">
                <a:solidFill>
                  <a:srgbClr val="FF0000"/>
                </a:solidFill>
              </a:rPr>
              <a:t> لُـغَــةً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076220" y="2767528"/>
            <a:ext cx="3096344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839416" y="2767529"/>
            <a:ext cx="2834625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192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4930" y="4063672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>
                <a:solidFill>
                  <a:srgbClr val="00B0F0"/>
                </a:solidFill>
              </a:rPr>
              <a:t>شـ</a:t>
            </a:r>
            <a:r>
              <a:rPr lang="ar-DZ" sz="3600" b="1" dirty="0">
                <a:solidFill>
                  <a:srgbClr val="00B0F0"/>
                </a:solidFill>
              </a:rPr>
              <a:t>ـ</a:t>
            </a:r>
            <a:r>
              <a:rPr lang="ar-SA" sz="3600" b="1" dirty="0">
                <a:solidFill>
                  <a:srgbClr val="00B0F0"/>
                </a:solidFill>
              </a:rPr>
              <a:t>ب</a:t>
            </a:r>
            <a:r>
              <a:rPr lang="ar-DZ" sz="3600" b="1" dirty="0">
                <a:solidFill>
                  <a:srgbClr val="00B0F0"/>
                </a:solidFill>
              </a:rPr>
              <a:t>ـ</a:t>
            </a:r>
            <a:r>
              <a:rPr lang="ar-SA" sz="3600" b="1" dirty="0">
                <a:solidFill>
                  <a:srgbClr val="00B0F0"/>
                </a:solidFill>
              </a:rPr>
              <a:t>ـ</a:t>
            </a:r>
            <a:r>
              <a:rPr lang="ar-SA" sz="3600" b="1" dirty="0" err="1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4599783" y="5108706"/>
            <a:ext cx="2834625" cy="120061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411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يـجـمـع هــذه الـشــبـكـ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مـاذا تـعــني الـ</a:t>
            </a:r>
            <a:r>
              <a:rPr lang="ar-SA" sz="3600" b="1" dirty="0" smtClean="0">
                <a:solidFill>
                  <a:srgbClr val="FF0000"/>
                </a:solidFill>
              </a:rPr>
              <a:t>شـبـكـة</a:t>
            </a:r>
            <a:r>
              <a:rPr lang="ar-DZ" sz="3600" b="1" dirty="0" smtClean="0">
                <a:solidFill>
                  <a:srgbClr val="FF0000"/>
                </a:solidFill>
              </a:rPr>
              <a:t> لُـغَــةً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076220" y="2767528"/>
            <a:ext cx="3096344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192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4930" y="4063672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99783" y="5108706"/>
            <a:ext cx="2834625" cy="120061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839416" y="2767529"/>
            <a:ext cx="2834625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681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2" grpId="0" animBg="1"/>
      <p:bldP spid="13" grpId="0" animBg="1"/>
      <p:bldP spid="14" grpId="0" animBg="1"/>
      <p:bldP spid="11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يـجـمـع هــذه الـشــبـكـ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مـاذا تـعــني الـ</a:t>
            </a:r>
            <a:r>
              <a:rPr lang="ar-SA" sz="3600" b="1" dirty="0" smtClean="0">
                <a:solidFill>
                  <a:srgbClr val="FF0000"/>
                </a:solidFill>
              </a:rPr>
              <a:t>شـبـكـة</a:t>
            </a:r>
            <a:r>
              <a:rPr lang="ar-DZ" sz="3600" b="1" dirty="0" smtClean="0">
                <a:solidFill>
                  <a:srgbClr val="FF0000"/>
                </a:solidFill>
              </a:rPr>
              <a:t> لُـغَــةً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076220" y="2767528"/>
            <a:ext cx="3096344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839416" y="2767529"/>
            <a:ext cx="2834625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192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4930" y="4063672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99783" y="5108706"/>
            <a:ext cx="2834625" cy="120061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4916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يـجـمـع هــذه الـشــبـكـ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مـاذا تـعــني الـ</a:t>
            </a:r>
            <a:r>
              <a:rPr lang="ar-SA" sz="3600" b="1" dirty="0" smtClean="0">
                <a:solidFill>
                  <a:srgbClr val="FF0000"/>
                </a:solidFill>
              </a:rPr>
              <a:t>شـبـكـة</a:t>
            </a:r>
            <a:r>
              <a:rPr lang="ar-DZ" sz="3600" b="1" dirty="0" smtClean="0">
                <a:solidFill>
                  <a:srgbClr val="FF0000"/>
                </a:solidFill>
              </a:rPr>
              <a:t> لُـغَــةً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076220" y="2767528"/>
            <a:ext cx="3096344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839416" y="2767529"/>
            <a:ext cx="2834625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192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4930" y="4063672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4599783" y="5108706"/>
            <a:ext cx="2834625" cy="120061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181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مــاذا تــعــنـي كــلــمــة الــ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ش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ـب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ـكـ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ة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لُــغَـــةً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153126" y="2767528"/>
            <a:ext cx="3096344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sz="3000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61274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6220" y="1772816"/>
            <a:ext cx="33483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7818" y="1770993"/>
            <a:ext cx="3078342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1772816"/>
            <a:ext cx="30783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961274" y="4437112"/>
            <a:ext cx="10288196" cy="209174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B0F0"/>
                </a:solidFill>
                <a:cs typeface="+mj-cs"/>
              </a:rPr>
              <a:t>الـ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شـ</a:t>
            </a:r>
            <a:r>
              <a:rPr lang="ar-DZ" sz="3600" b="1" dirty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ب</a:t>
            </a:r>
            <a:r>
              <a:rPr lang="ar-DZ" sz="3600" b="1" dirty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ـك</a:t>
            </a:r>
            <a:r>
              <a:rPr lang="ar-DZ" sz="3600" b="1" dirty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ـة</a:t>
            </a:r>
            <a:r>
              <a:rPr lang="ar-DZ" sz="3600" b="1" dirty="0">
                <a:solidFill>
                  <a:srgbClr val="00B0F0"/>
                </a:solidFill>
                <a:cs typeface="+mj-cs"/>
              </a:rPr>
              <a:t> لُــغَــةً :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.............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مُــتَــرَابِــطَــة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تَـهْــدُفُ لـتـحــقــيــق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................. 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مُــحَــدَّدَة</a:t>
            </a:r>
            <a:endParaRPr lang="fr-FR" sz="36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57200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sz="3000" b="1" u="sng" dirty="0" smtClean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732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مــاذا تــعــنـي كــلــمــة الــ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ش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ـب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ـكـ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ة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لُــغَـــةً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153126" y="2767528"/>
            <a:ext cx="3096344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sz="3000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61274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6220" y="1772816"/>
            <a:ext cx="33483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7818" y="1770993"/>
            <a:ext cx="3078342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1772816"/>
            <a:ext cx="30783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57200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sz="3000" b="1" u="sng" dirty="0" smtClean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961274" y="4433598"/>
            <a:ext cx="10288196" cy="209174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ـك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ـة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لُــغَــةً : </a:t>
            </a:r>
            <a:r>
              <a:rPr lang="ar-DZ" sz="3600" b="1" u="sng" dirty="0" smtClean="0">
                <a:solidFill>
                  <a:srgbClr val="00B0F0"/>
                </a:solidFill>
                <a:cs typeface="+mj-cs"/>
              </a:rPr>
              <a:t>عــنــاصــر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مُــتَــرَابِــطَــة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Times New Roman" panose="02020603050405020304" pitchFamily="18" charset="0"/>
              </a:rPr>
              <a:t>تَـهْــدُفُ لـتـحــقــيــق ................. مُــحَــدَّدَة</a:t>
            </a:r>
            <a:endParaRPr lang="fr-FR" sz="36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724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1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مــاذا تــعــنـي كــلــمــة الــ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ش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ـب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ـكـ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ة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لُــغَـــةً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153126" y="2767528"/>
            <a:ext cx="3096344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sz="3000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61274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6220" y="1772816"/>
            <a:ext cx="33483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7818" y="1770993"/>
            <a:ext cx="3078342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1772816"/>
            <a:ext cx="30783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57200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sz="3000" b="1" u="sng" dirty="0" smtClean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961274" y="4433598"/>
            <a:ext cx="10288196" cy="209174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ـك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ـة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لُــغَــةً : </a:t>
            </a:r>
            <a:r>
              <a:rPr lang="ar-DZ" sz="3600" b="1" u="sng" dirty="0" smtClean="0">
                <a:solidFill>
                  <a:srgbClr val="00B0F0"/>
                </a:solidFill>
                <a:cs typeface="+mj-cs"/>
              </a:rPr>
              <a:t>عــنــاصــر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مُــتَــرَابِــطَــة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تَـهْــدُفُ لــتــحـــقــيــق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مَــصْــلَـحَـةٍ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مُــحَــدَّدَةٍ</a:t>
            </a:r>
            <a:endParaRPr lang="fr-FR" sz="36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796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1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تــتــألــف الـشــبــكــة الـمــحــلــيــة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8033138" y="500761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dirty="0">
              <a:cs typeface="+mj-cs"/>
            </a:endParaRPr>
          </a:p>
        </p:txBody>
      </p:sp>
      <p:sp>
        <p:nvSpPr>
          <p:cNvPr id="6" name="Espace réservé du contenu 21"/>
          <p:cNvSpPr txBox="1">
            <a:spLocks/>
          </p:cNvSpPr>
          <p:nvPr/>
        </p:nvSpPr>
        <p:spPr>
          <a:xfrm>
            <a:off x="983432" y="5014398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مــشــاركــة ...............</a:t>
            </a:r>
            <a:endParaRPr lang="fr-FR" sz="4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8999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تــتــألــف الـشــبــكــة الـمــحــلــيــة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8026424" y="499558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الأجــهــزة</a:t>
            </a:r>
            <a:endParaRPr lang="fr-FR" sz="4400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83432" y="5014398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مــشــاركــة ...............</a:t>
            </a:r>
            <a:endParaRPr lang="fr-FR" sz="4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951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تــتــألــف الـشــبــكــة الـمــحــلــيــة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8026424" y="499558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الأجــهــزة</a:t>
            </a:r>
            <a:endParaRPr lang="fr-FR" sz="4400" dirty="0">
              <a:cs typeface="+mj-cs"/>
            </a:endParaRPr>
          </a:p>
        </p:txBody>
      </p:sp>
      <p:sp>
        <p:nvSpPr>
          <p:cNvPr id="6" name="Espace réservé du contenu 21"/>
          <p:cNvSpPr txBox="1">
            <a:spLocks/>
          </p:cNvSpPr>
          <p:nvPr/>
        </p:nvSpPr>
        <p:spPr>
          <a:xfrm>
            <a:off x="983432" y="499558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مــشــاركــة الــمــوارد</a:t>
            </a:r>
            <a:endParaRPr lang="fr-FR" sz="4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056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9656" y="2585784"/>
            <a:ext cx="4177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أجــهــزة 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900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9656" y="2585784"/>
            <a:ext cx="4177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أجــهــزة 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11488" y="3604606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الـتَّــوَاصُــلِ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7654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9656" y="2585784"/>
            <a:ext cx="4177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أجــهــزة 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11488" y="3604606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الـتَّــوَاصُــلِ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43472" y="4507431"/>
            <a:ext cx="9729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الــمَــــوَارِدِ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(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طـــابــعـــة ، مــلــفـــات ، بـــرامـــج ...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5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</a:t>
            </a:r>
            <a:r>
              <a:rPr lang="ar-DZ" sz="4800" b="1" u="sng" dirty="0">
                <a:solidFill>
                  <a:srgbClr val="0070C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بـاِعْـــتِـــبَـــارِ </a:t>
            </a:r>
            <a:r>
              <a:rPr lang="ar-DZ" sz="4800" b="1" dirty="0">
                <a:cs typeface="+mj-cs"/>
              </a:rPr>
              <a:t>« </a:t>
            </a:r>
            <a:r>
              <a:rPr lang="ar-DZ" sz="4800" b="1" dirty="0" smtClean="0">
                <a:cs typeface="+mj-cs"/>
              </a:rPr>
              <a:t>وســـيـــلــة الــرَبْـــطِ </a:t>
            </a:r>
            <a:r>
              <a:rPr lang="ar-DZ" sz="4800" b="1" dirty="0">
                <a:cs typeface="+mj-cs"/>
              </a:rPr>
              <a:t>» </a:t>
            </a:r>
            <a:r>
              <a:rPr lang="ar-DZ" sz="4800" b="1" dirty="0" smtClean="0">
                <a:cs typeface="+mj-cs"/>
              </a:rPr>
              <a:t>كَــمِــعْـــيَــــار </a:t>
            </a:r>
            <a:r>
              <a:rPr lang="ar-DZ" sz="4800" b="1" dirty="0">
                <a:cs typeface="+mj-cs"/>
              </a:rPr>
              <a:t>حَـــدِّدْ نــوعــي </a:t>
            </a:r>
            <a:r>
              <a:rPr lang="ar-DZ" sz="4800" b="1" dirty="0" smtClean="0">
                <a:cs typeface="+mj-cs"/>
              </a:rPr>
              <a:t>الــشـــبـــكـــة 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– وســــيــــلـــة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695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تـصــنــيــف شــبــكــة يـتـطـلـب اخــتــيــار مـعــيــار فـمـاذا يُـمَـثِّـل </a:t>
            </a:r>
            <a:r>
              <a:rPr lang="ar-DZ" sz="3400" b="1" dirty="0" smtClean="0">
                <a:solidFill>
                  <a:srgbClr val="FF0000"/>
                </a:solidFill>
              </a:rPr>
              <a:t>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1480592" y="4565762"/>
            <a:ext cx="9446840" cy="157456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الـمِــعْــيَــار : ...........................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075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تـصــنــيــف شــبــكــة يـتـطـلـب اخــتــيــار مـعــيــار فـمـاذا يُـمَـثِّـل </a:t>
            </a:r>
            <a:r>
              <a:rPr lang="ar-DZ" sz="3400" b="1" dirty="0" smtClean="0">
                <a:solidFill>
                  <a:srgbClr val="FF0000"/>
                </a:solidFill>
              </a:rPr>
              <a:t>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1480592" y="4565762"/>
            <a:ext cx="9446840" cy="157456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الـمِــعْـــيَـــار :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الــجــانــب الَّـذِي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نَــنْــظُــرُ مِــنْــهُ إلــى الـشــبـــكــة</a:t>
            </a:r>
            <a:endParaRPr lang="fr-FR" sz="4400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35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</a:t>
            </a:r>
            <a:endParaRPr lang="fr-FR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  <p:sp>
        <p:nvSpPr>
          <p:cNvPr id="8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</a:t>
            </a:r>
            <a:endParaRPr lang="fr-FR" sz="3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990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وســيــلــة الــربــط</a:t>
            </a:r>
            <a:endParaRPr lang="fr-FR" dirty="0"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</a:t>
            </a:r>
            <a:endParaRPr lang="fr-FR" sz="3000" dirty="0"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2227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وســيــلــة الــربــط</a:t>
            </a:r>
            <a:endParaRPr lang="fr-FR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الامـتــداد الـجــغــرافـي</a:t>
            </a:r>
            <a:endParaRPr lang="fr-FR" dirty="0"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</a:t>
            </a:r>
            <a:endParaRPr lang="fr-FR" sz="3000" dirty="0"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412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وســيــلــة الــربــط</a:t>
            </a:r>
            <a:endParaRPr lang="fr-FR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الامـتــداد الـجــغــرافـي</a:t>
            </a:r>
            <a:endParaRPr lang="fr-FR" dirty="0">
              <a:cs typeface="+mj-cs"/>
            </a:endParaRPr>
          </a:p>
        </p:txBody>
      </p:sp>
      <p:sp>
        <p:nvSpPr>
          <p:cNvPr id="8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الـعــلاقــة الـوظــيـــفــيــة</a:t>
            </a:r>
            <a:endParaRPr lang="fr-FR" dirty="0"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</a:t>
            </a:r>
            <a:endParaRPr lang="fr-FR" sz="3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065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وســيــلــة الــربــط</a:t>
            </a:r>
            <a:endParaRPr lang="fr-FR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الامـتــداد الـجــغــرافـي</a:t>
            </a:r>
            <a:endParaRPr lang="fr-FR" dirty="0">
              <a:cs typeface="+mj-cs"/>
            </a:endParaRPr>
          </a:p>
        </p:txBody>
      </p:sp>
      <p:sp>
        <p:nvSpPr>
          <p:cNvPr id="8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الـعــلاقــة الـوظــيـــفــيــة</a:t>
            </a:r>
            <a:endParaRPr lang="fr-FR" dirty="0"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الـربــط</a:t>
            </a:r>
            <a:endParaRPr lang="fr-FR" sz="3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103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/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0816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</a:t>
            </a:r>
            <a:r>
              <a:rPr lang="ar-DZ" sz="4800" b="1" u="sng" dirty="0">
                <a:solidFill>
                  <a:srgbClr val="0070C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بـاِعْـــتِـــبَـــارِ </a:t>
            </a:r>
            <a:r>
              <a:rPr lang="ar-DZ" sz="4800" b="1" dirty="0">
                <a:cs typeface="+mj-cs"/>
              </a:rPr>
              <a:t>« </a:t>
            </a:r>
            <a:r>
              <a:rPr lang="ar-DZ" sz="4800" b="1" dirty="0" smtClean="0">
                <a:cs typeface="+mj-cs"/>
              </a:rPr>
              <a:t>وســـيـــلــة الــرَبْـــطِ </a:t>
            </a:r>
            <a:r>
              <a:rPr lang="ar-DZ" sz="4800" b="1" dirty="0">
                <a:cs typeface="+mj-cs"/>
              </a:rPr>
              <a:t>» </a:t>
            </a:r>
            <a:r>
              <a:rPr lang="ar-DZ" sz="4800" b="1" dirty="0" smtClean="0">
                <a:cs typeface="+mj-cs"/>
              </a:rPr>
              <a:t>كَــمِــعْـــيَــــار </a:t>
            </a:r>
            <a:r>
              <a:rPr lang="ar-DZ" sz="4800" b="1" dirty="0">
                <a:cs typeface="+mj-cs"/>
              </a:rPr>
              <a:t>حَـــدِّدْ نــوعــي </a:t>
            </a:r>
            <a:r>
              <a:rPr lang="ar-DZ" sz="4800" b="1" dirty="0" smtClean="0">
                <a:cs typeface="+mj-cs"/>
              </a:rPr>
              <a:t>الــشـــبـــكـــة 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– وســــيــــلـــة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50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79557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تـحـت الـحـمـراء</a:t>
                      </a:r>
                      <a:r>
                        <a:rPr lang="fr-FR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1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79557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تـحـت الـحـمـراء</a:t>
                      </a:r>
                      <a:r>
                        <a:rPr lang="fr-FR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79" y="42676"/>
            <a:ext cx="6120000" cy="251053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64" y="2331"/>
            <a:ext cx="5399920" cy="2510534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" y="2475414"/>
            <a:ext cx="10814992" cy="424606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5636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79557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تـحـت الـحـمـراء</a:t>
                      </a:r>
                      <a:r>
                        <a:rPr lang="fr-FR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79" y="42676"/>
            <a:ext cx="6120000" cy="251053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64" y="2331"/>
            <a:ext cx="5399920" cy="2510534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" y="2475414"/>
            <a:ext cx="10814992" cy="424606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Espace réservé du contenu 21"/>
          <p:cNvSpPr txBox="1">
            <a:spLocks/>
          </p:cNvSpPr>
          <p:nvPr/>
        </p:nvSpPr>
        <p:spPr>
          <a:xfrm>
            <a:off x="552064" y="1743168"/>
            <a:ext cx="6196136" cy="17007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الـسِــلْــك الـمِـحْــوَرِي</a:t>
            </a:r>
          </a:p>
          <a:p>
            <a:pPr marL="0" indent="0" algn="ctr" rtl="1">
              <a:buNone/>
            </a:pP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câble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coaxial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3413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79557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تـحـت الـحـمـراء</a:t>
                      </a:r>
                      <a:r>
                        <a:rPr lang="fr-FR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1" name="Imag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983432" y="1484783"/>
            <a:ext cx="10081120" cy="487156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435708" y="5445223"/>
            <a:ext cx="9320584" cy="91112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Câbles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Paires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Torsadées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39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79557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تـحـت الـحـمـراء</a:t>
                      </a:r>
                      <a:r>
                        <a:rPr lang="fr-FR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79" y="42676"/>
            <a:ext cx="6120000" cy="251053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64" y="2331"/>
            <a:ext cx="5399920" cy="2510534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" y="2475414"/>
            <a:ext cx="10814992" cy="424606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Espace réservé du contenu 21"/>
          <p:cNvSpPr txBox="1">
            <a:spLocks/>
          </p:cNvSpPr>
          <p:nvPr/>
        </p:nvSpPr>
        <p:spPr>
          <a:xfrm>
            <a:off x="722079" y="4583449"/>
            <a:ext cx="5464641" cy="170089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الـسِــلْــك الـمـُلْــتَــوِي</a:t>
            </a: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1415480" y="1610129"/>
            <a:ext cx="6196136" cy="17007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الـسِــلْــك الـمِـحْــوَرِي</a:t>
            </a:r>
          </a:p>
          <a:p>
            <a:pPr marL="0" indent="0" algn="ctr" rtl="1">
              <a:buNone/>
            </a:pP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câble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coaxial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582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7113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96" y="311774"/>
            <a:ext cx="10260000" cy="603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7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7113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53" y="304533"/>
            <a:ext cx="10082086" cy="6084000"/>
          </a:xfrm>
          <a:prstGeom prst="rect">
            <a:avLst/>
          </a:prstGeom>
        </p:spPr>
      </p:pic>
      <p:sp>
        <p:nvSpPr>
          <p:cNvPr id="8" name="Espace réservé du contenu 21"/>
          <p:cNvSpPr txBox="1">
            <a:spLocks/>
          </p:cNvSpPr>
          <p:nvPr/>
        </p:nvSpPr>
        <p:spPr>
          <a:xfrm>
            <a:off x="4886447" y="4437112"/>
            <a:ext cx="6196136" cy="191924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الألــيــاف</a:t>
            </a:r>
            <a:r>
              <a:rPr lang="ar-DZ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الــبـصــريــة</a:t>
            </a:r>
            <a:endParaRPr lang="fr-FR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 rtl="1">
              <a:buNone/>
            </a:pPr>
            <a:r>
              <a:rPr lang="fr-FR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Fibres Optiques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8649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7113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44" y="1184132"/>
            <a:ext cx="10800000" cy="5142876"/>
          </a:xfrm>
          <a:prstGeom prst="rect">
            <a:avLst/>
          </a:prstGeom>
        </p:spPr>
      </p:pic>
      <p:sp>
        <p:nvSpPr>
          <p:cNvPr id="8" name="Espace réservé du contenu 21"/>
          <p:cNvSpPr txBox="1">
            <a:spLocks/>
          </p:cNvSpPr>
          <p:nvPr/>
        </p:nvSpPr>
        <p:spPr>
          <a:xfrm>
            <a:off x="6168008" y="1155042"/>
            <a:ext cx="5400600" cy="191924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الألــيــاف</a:t>
            </a:r>
            <a:r>
              <a:rPr lang="ar-DZ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الــبـصــريــة</a:t>
            </a:r>
            <a:endParaRPr lang="fr-FR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 rtl="1">
              <a:buNone/>
            </a:pPr>
            <a:r>
              <a:rPr lang="fr-FR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Fibres Optiques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198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/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تـحـت الـحـمـراء</a:t>
                      </a:r>
                      <a:r>
                        <a:rPr lang="fr-FR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38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7113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933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7113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096" y="1196672"/>
            <a:ext cx="9288000" cy="515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7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7113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5290" y="4230335"/>
            <a:ext cx="35283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لا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335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7113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5290" y="4230335"/>
            <a:ext cx="35283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لا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68" y="274638"/>
            <a:ext cx="10656000" cy="609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5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87113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5290" y="4230335"/>
            <a:ext cx="35283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لا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506" y="1091881"/>
            <a:ext cx="7920000" cy="526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9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/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أو </a:t>
                      </a:r>
                      <a:r>
                        <a:rPr lang="ar-DZ" sz="4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الألــيــاف الــبـصــريــة</a:t>
                      </a:r>
                      <a:endParaRPr lang="fr-FR" sz="40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</a:t>
                      </a:r>
                      <a:r>
                        <a:rPr lang="ar-DZ" sz="38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5290" y="4230335"/>
            <a:ext cx="35283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لا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831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نــشــاط 3 :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بـاِعْـــتِـــبَـــار « </a:t>
            </a:r>
            <a:r>
              <a:rPr lang="ar-DZ" sz="4800" b="1" u="sng" dirty="0" smtClean="0">
                <a:cs typeface="+mj-cs"/>
              </a:rPr>
              <a:t>الــمـــســــاحــــة</a:t>
            </a:r>
            <a:r>
              <a:rPr lang="ar-DZ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الَّـتِي </a:t>
            </a:r>
            <a:r>
              <a:rPr lang="ar-DZ" sz="4800" b="1" dirty="0" smtClean="0">
                <a:cs typeface="+mj-cs"/>
              </a:rPr>
              <a:t>تــحــتــلــهــا شــبــكــة </a:t>
            </a:r>
            <a:r>
              <a:rPr lang="ar-DZ" sz="4800" b="1" dirty="0">
                <a:cs typeface="+mj-cs"/>
              </a:rPr>
              <a:t>» </a:t>
            </a:r>
            <a:r>
              <a:rPr lang="ar-DZ" sz="4800" b="1" dirty="0" smtClean="0">
                <a:cs typeface="+mj-cs"/>
              </a:rPr>
              <a:t>كَــمِــعْـــيَــــار </a:t>
            </a:r>
            <a:r>
              <a:rPr lang="ar-DZ" sz="4800" b="1" dirty="0">
                <a:cs typeface="+mj-cs"/>
              </a:rPr>
              <a:t>حَـــدِّدْ أنــواع </a:t>
            </a:r>
            <a:r>
              <a:rPr lang="ar-DZ" sz="4800" b="1" dirty="0" smtClean="0">
                <a:cs typeface="+mj-cs"/>
              </a:rPr>
              <a:t>الــشـــبـــكـــات 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–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963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7075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921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22" grpId="0" animBg="1"/>
      <p:bldP spid="23" grpId="0" animBg="1"/>
      <p:bldP spid="21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692"/>
            <a:ext cx="8352000" cy="5877290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8457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22" grpId="0" animBg="1"/>
      <p:bldP spid="23" grpId="0" animBg="1"/>
      <p:bldP spid="21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517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22" grpId="0" animBg="1"/>
      <p:bldP spid="23" grpId="0" animBg="1"/>
      <p:bldP spid="21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إقـلـيـمـيـة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918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2" grpId="0" animBg="1"/>
      <p:bldP spid="23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إقـلـيـمـيـة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4744"/>
            <a:ext cx="7380000" cy="552980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244" y="1124745"/>
            <a:ext cx="5362948" cy="559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2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2" grpId="0" animBg="1"/>
      <p:bldP spid="23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إقـلـيـمـيـة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7742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2" grpId="0" animBg="1"/>
      <p:bldP spid="23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إقـلـيـمـيـة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واسـعـة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30" y="1340768"/>
            <a:ext cx="11808000" cy="51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2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إقـلـيـمـيـة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واسـعـة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11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إقـلـيـمـيـة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واسـعـة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10" y="44618"/>
            <a:ext cx="10980000" cy="67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6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910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ar-DZ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497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بِــنَــايَــةً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بِــنَــايَــاتٍ مُــتَـجَــاوِرَةٍ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ar-DZ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383310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إقـلـيـمـيـة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ar-DZ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بِــنَــايَــةً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بِــنَــايَــاتٍ مُــتَـجَــاوِرَةٍ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668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3" grpId="0" animBg="1"/>
      <p:bldP spid="14" grpId="0" animBg="1"/>
      <p:bldP spid="15" grpId="0" animBg="1"/>
      <p:bldP spid="1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إقـلـيـمـيـة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مَـدِيــنَـةً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</a:rPr>
              <a:t>مَـدِيـنَـتَـيْـنِ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مُــتَـجَـاوِرَتَـيْـن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بِــنَــايَــةً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بِــنَــايَــاتٍ مُــتَـجَــاوِرَةٍ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853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إقـلـيـمـيـة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مَـدِيــنَـةً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</a:rPr>
              <a:t>مَـدِيـنَـتَـيْـنِ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مُــتَـجَـاوِرَتَـيْـن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بِــنَــايَــةً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بِــنَــايَــاتٍ مُــتَـجَــاوِرَةٍ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واسـعـة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835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إقـلـيـمـيـة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مَـدِيــنَـةً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</a:rPr>
              <a:t>مَـدِيـنَـتَـيْـنِ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مُــتَـجَـاوِرَتَـيْـن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بِــنَــايَــةً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بِــنَــايَــاتٍ مُــتَـجَــاوِرَةٍ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واسـعـة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بَــلَــدًا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، </a:t>
            </a:r>
            <a:r>
              <a:rPr lang="ar-DZ" sz="3600" b="1" dirty="0" smtClean="0">
                <a:solidFill>
                  <a:srgbClr val="FF0000"/>
                </a:solidFill>
              </a:rPr>
              <a:t>قَـــارَةً</a:t>
            </a:r>
            <a:r>
              <a:rPr lang="ar-DZ" sz="3600" b="1" dirty="0" smtClean="0">
                <a:solidFill>
                  <a:srgbClr val="0070C0"/>
                </a:solidFill>
              </a:rPr>
              <a:t> أو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الأَرْضَ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بِـأَكْــمَــلِـهَـا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689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  <p:bldP spid="15" grpId="0" animBg="1"/>
      <p:bldP spid="16" grpId="0" animBg="1"/>
      <p:bldP spid="1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نــشــاط 4 :</a:t>
            </a:r>
            <a:r>
              <a:rPr lang="ar-DZ" sz="48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بـاِعْـــتِـــبَـــار « وظـــيـــفــة </a:t>
            </a:r>
            <a:r>
              <a:rPr lang="ar-DZ" sz="4400" b="1" dirty="0">
                <a:cs typeface="+mj-cs"/>
              </a:rPr>
              <a:t>جـهــاز فــي الـشــبـكـة وعــلاقــتـه </a:t>
            </a:r>
            <a:r>
              <a:rPr lang="ar-DZ" sz="4400" b="1" dirty="0" smtClean="0">
                <a:cs typeface="+mj-cs"/>
              </a:rPr>
              <a:t>بالأجـهــزة </a:t>
            </a:r>
            <a:r>
              <a:rPr lang="ar-DZ" sz="4400" b="1" dirty="0">
                <a:cs typeface="+mj-cs"/>
              </a:rPr>
              <a:t>الأخــرى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» </a:t>
            </a:r>
            <a:r>
              <a:rPr lang="ar-DZ" sz="4400" b="1" dirty="0" smtClean="0">
                <a:cs typeface="+mj-cs"/>
              </a:rPr>
              <a:t>كَــمِـعْـــيَـــار حَــدِّدْ نَــوْعَـيْ الــشــبــكــة مـع بَـيَـانِ خـصـائـص كـل نــوع</a:t>
            </a:r>
            <a:endParaRPr lang="ar-DZ" sz="2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–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الـعــلاقــة الـوظــيــفــيــة  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11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مَــا هـي نَـوْعَـيْ الــشــبــكــة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حَــسْــبَ الـعــلاقــة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الـوظــيــفــيـة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678667" y="4158435"/>
            <a:ext cx="2497453" cy="159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933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70478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793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1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مَــا هـي نَـوْعَـيْ الــشــبــكــة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حَــسْــبَ الـعــلاقــة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الـوظــيــفــيـة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</a:t>
            </a:r>
            <a:endParaRPr lang="fr-FR" dirty="0">
              <a:cs typeface="+mj-cs"/>
            </a:endParaRPr>
          </a:p>
        </p:txBody>
      </p:sp>
      <p:sp>
        <p:nvSpPr>
          <p:cNvPr id="20" name="Espace réservé du contenu 21"/>
          <p:cNvSpPr txBox="1">
            <a:spLocks/>
          </p:cNvSpPr>
          <p:nvPr/>
        </p:nvSpPr>
        <p:spPr>
          <a:xfrm>
            <a:off x="4696597" y="4162918"/>
            <a:ext cx="2497453" cy="159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609599" y="4670478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0358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20" grpId="0" animBg="1"/>
      <p:bldP spid="1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مَــا هـي نَـوْعَـيْ الــشــبــكــة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حَــسْــبَ الـعــلاقــة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الـوظــيــفــيـة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sp>
        <p:nvSpPr>
          <p:cNvPr id="20" name="Espace réservé du contenu 21"/>
          <p:cNvSpPr txBox="1">
            <a:spLocks/>
          </p:cNvSpPr>
          <p:nvPr/>
        </p:nvSpPr>
        <p:spPr>
          <a:xfrm>
            <a:off x="4696597" y="4162918"/>
            <a:ext cx="2497453" cy="159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2366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ســؤال </a:t>
            </a:r>
            <a:r>
              <a:rPr lang="ar-DZ" sz="3600" b="1" dirty="0">
                <a:solidFill>
                  <a:srgbClr val="00B05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مَــاذا يُــمَــثِّــلُ 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الـخــادم 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و 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الـزبــون 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فـي الــشــبــكــة ؟</a:t>
            </a:r>
            <a:endParaRPr lang="fr-FR" sz="36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sp>
        <p:nvSpPr>
          <p:cNvPr id="20" name="Espace réservé du contenu 21"/>
          <p:cNvSpPr txBox="1">
            <a:spLocks/>
          </p:cNvSpPr>
          <p:nvPr/>
        </p:nvSpPr>
        <p:spPr>
          <a:xfrm>
            <a:off x="4696597" y="4162918"/>
            <a:ext cx="2497453" cy="159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704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9656" y="2585784"/>
            <a:ext cx="4177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</a:rPr>
              <a:t>أجــهــزة الـحــاســوب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11488" y="3604606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الـتَّــوَاصُــلِ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43472" y="4507431"/>
            <a:ext cx="9729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الــمَــــوَارِدِ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(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طـــابــعـــة ، مــلــفـــات ، بـــرامـــج ...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4606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ســؤال </a:t>
            </a:r>
            <a:r>
              <a:rPr lang="ar-DZ" sz="3600" b="1" dirty="0">
                <a:solidFill>
                  <a:srgbClr val="00B05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مَــاذا يُــمَــثِّــلُ 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الـخــادم 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و 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الـزبــون 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فـي الــشــبــكــة ؟</a:t>
            </a:r>
            <a:endParaRPr lang="fr-FR" sz="36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sp>
        <p:nvSpPr>
          <p:cNvPr id="20" name="Espace réservé du contenu 21"/>
          <p:cNvSpPr txBox="1">
            <a:spLocks/>
          </p:cNvSpPr>
          <p:nvPr/>
        </p:nvSpPr>
        <p:spPr>
          <a:xfrm>
            <a:off x="4696597" y="4162918"/>
            <a:ext cx="2497453" cy="159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396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ســؤال : مَــاذا يُــمَــثِّــلُ 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الـخــادم 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و 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الـزبــون 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فـي الــشــبــكــة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</a:t>
            </a:r>
            <a:endParaRPr lang="fr-FR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667843" y="5343720"/>
            <a:ext cx="2644717" cy="1105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حـواسـيـب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5583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1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ســؤال :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مَــتـى يـكــون 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حــاســوب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مــحــدَّد 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خَــادِمًــا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فـي الــشــبــكــة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pic>
        <p:nvPicPr>
          <p:cNvPr id="17" name="Image 1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Espace réservé du contenu 21"/>
          <p:cNvSpPr txBox="1">
            <a:spLocks/>
          </p:cNvSpPr>
          <p:nvPr/>
        </p:nvSpPr>
        <p:spPr>
          <a:xfrm>
            <a:off x="5375920" y="5138891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4531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1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ســؤال :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كَــيْــفَ نُــسَــمِـي 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الـحــاســوب 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الَّـذِي يُــقَــدِّمُ 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خَـــدَمَــات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pic>
        <p:nvPicPr>
          <p:cNvPr id="19" name="Imag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5375920" y="5138891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745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ســؤال :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كَــيْــفَ نُــسَــمِـي 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الـحــاســوب 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الَّـذِي يُــقَــدِّمُ 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خَـــدَمَــات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pic>
        <p:nvPicPr>
          <p:cNvPr id="19" name="Imag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364132" y="5138891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خَـــادِم</a:t>
            </a:r>
            <a:endParaRPr lang="fr-FR" sz="3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77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ســؤال : مَــتـى يـكــون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الـحــاســوب زَبُـــونًـــا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فـي الــشــبــكــة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pic>
        <p:nvPicPr>
          <p:cNvPr id="19" name="Imag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364132" y="5138891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خَـــادِم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1487488" y="1772973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878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0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ســؤال : كَــيْــفَ نُــسَــمِـي 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الـحــواسـيـب  </a:t>
            </a:r>
            <a:r>
              <a:rPr lang="ar-DZ" sz="36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الَّـتي تَــطْــلُـبُ 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خَـــدَمَــات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pic>
        <p:nvPicPr>
          <p:cNvPr id="19" name="Imag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364132" y="5138891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خَـــادِم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1487488" y="1772973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682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0" grpId="0" animBg="1"/>
      <p:bldP spid="1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ســؤال : كَــيْــفَ نُــسَــمِـي 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الـحــواسـيـب 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الَّـتي تَــطْــلُـبُ 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خَـــدَمَــات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pic>
        <p:nvPicPr>
          <p:cNvPr id="19" name="Imag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364132" y="5138891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خَـــادِم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1487488" y="1772973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زَبَــائِــن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5688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0" grpId="0" animBg="1"/>
      <p:bldP spid="1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الـخَــادِمِ والــزَبُــونِ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192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  <p:bldP spid="7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28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579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5728" y="3884563"/>
            <a:ext cx="35610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الـحـاسـوب الـخَــادِم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413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  <p:bldP spid="1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5728" y="3884563"/>
            <a:ext cx="35610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الـحـاسـوب الـخَــادِم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5400" y="3749784"/>
            <a:ext cx="187220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الـزَبــائِــن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897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  <p:bldP spid="12" grpId="0" animBg="1"/>
      <p:bldP spid="1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5728" y="3884563"/>
            <a:ext cx="35610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الـحـاسـوب الـخَــادِم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5400" y="3749784"/>
            <a:ext cx="187220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الـزَبــائِــن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7759" y="4625442"/>
            <a:ext cx="1940223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الـطِـبَـاعَـة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3321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5728" y="3884563"/>
            <a:ext cx="35610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الـحـاسـوب الـخَــادِم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5400" y="3749784"/>
            <a:ext cx="187220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الـزَبــائِــن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7759" y="4625442"/>
            <a:ext cx="1940223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الـطِـبَـاعَـة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43672" y="5273442"/>
            <a:ext cx="234421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الـبــرامــج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433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...........</a:t>
            </a:r>
          </a:p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زبــون 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.........</a:t>
            </a:r>
          </a:p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544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مــلــفــات </a:t>
            </a:r>
            <a:r>
              <a:rPr lang="ar-DZ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زبــون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</a:t>
            </a:r>
            <a:endParaRPr lang="fr-FR" sz="3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.........</a:t>
            </a:r>
          </a:p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761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مــلــفــات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زبــون طــبــاعـة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.........</a:t>
            </a:r>
          </a:p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929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مــلــفــات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زبــون طــبــاعـة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طِــبَــاعَــة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</a:t>
            </a:r>
            <a:r>
              <a:rPr lang="ar-DZ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</a:t>
            </a:r>
            <a:endParaRPr lang="fr-FR" sz="3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611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مــلــفــات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زبــون طــبــاعـة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طِــبَــاعَــة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مــلــفــات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9089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تــابـع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 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تــتــألــف مــن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عَـــادَةً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 تـكـون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بـنـفـس 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يُــمْـكِـنُ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لأيِّ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حـــاســوبٍ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أن يـكـون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فـي نـفـس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الـوقــت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بـالـتَــنَــاوُبِ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6" y="1700888"/>
            <a:ext cx="6336704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 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Peer / Peer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323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  <p:bldP spid="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تــابـع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 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تــتــألــف مــن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عَـــادَةً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 تـكـون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بـنـفـس 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يُــمْـكِـنُ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لأيِّ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حـــاســوبٍ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أن يـكـون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فـي نـفـس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الـوقــت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بـالـتَــنَــاوُبِ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6" y="1700888"/>
            <a:ext cx="6336704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 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Peer / Peer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75920" y="2723191"/>
            <a:ext cx="280831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حـــواســـيـــبٍ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7674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تــابـع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 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تــتــألــف مــن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عَـــادَةً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 تـكـون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بـنـفـس 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يُــمْـكِـنُ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لأيِّ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حـــاســوبٍ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أن يـكـون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فـي نـفـس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الـوقــت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بـالـتَــنَــاوُبِ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6" y="1700888"/>
            <a:ext cx="6336704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 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Peer / Peer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75920" y="2723191"/>
            <a:ext cx="280831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حـــواســـيـــبٍ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9416" y="3644664"/>
            <a:ext cx="104549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الـخـــصـــائــص الــتـــقـــنـــيــة ( الـسُــرْعَـــة ، الــسِّــعَـــة ... )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511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1" grpId="0" animBg="1"/>
      <p:bldP spid="1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تــابـع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 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تــتــألــف مــن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عَـــادَةً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 تـكـون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بـنـفـس 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يُــمْـكِـنُ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لأيِّ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حـــاســوبٍ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أن يـكـون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فـي نـفـس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الـوقــت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بـالـتَــنَــاوُبِ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6" y="1700888"/>
            <a:ext cx="6336704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 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Peer / Peer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75920" y="2723191"/>
            <a:ext cx="280831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حـــواســـيـــبٍ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1424" y="4566137"/>
            <a:ext cx="3777082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خَـــادِمًـــا أو زَبُـــونًــا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9416" y="3644664"/>
            <a:ext cx="104549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الـخـــصـــائــص الــتـــقـــنـــيــة ( الـسُــرْعَـــة ، الــسِّــعَـــة ... )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620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1" grpId="0" animBg="1"/>
      <p:bldP spid="12" grpId="0" animBg="1"/>
      <p:bldP spid="1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نــشــاط 5 :</a:t>
            </a:r>
            <a:r>
              <a:rPr lang="ar-DZ" sz="48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بـاِعْـــتِـــبَـــار «</a:t>
            </a:r>
            <a:r>
              <a:rPr lang="ar-DZ" sz="4400" b="1" dirty="0"/>
              <a:t>الـتــشــكــيــل الَّــذي تــأخــذه الـشــبــكــة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» </a:t>
            </a:r>
            <a:r>
              <a:rPr lang="ar-DZ" sz="4400" b="1" dirty="0" smtClean="0">
                <a:cs typeface="+mj-cs"/>
              </a:rPr>
              <a:t>كَــمِـعْـــيَـــار حَــدِّدْ </a:t>
            </a:r>
            <a:r>
              <a:rPr lang="ar-DZ" sz="4400" b="1" dirty="0"/>
              <a:t>أنــواع </a:t>
            </a:r>
            <a:r>
              <a:rPr lang="ar-DZ" sz="4400" b="1" dirty="0" smtClean="0">
                <a:cs typeface="+mj-cs"/>
              </a:rPr>
              <a:t>الــشــبــكــة مـع بَـيَـانِ خـصـائـص كـل نــوع</a:t>
            </a:r>
            <a:endParaRPr lang="ar-DZ" sz="2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–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طُــوبُــولُــوجْـــيَـــا الــربـــط   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881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18" name="Image 17" descr="F:\_Wrk\1. Courses\1ـ الـسـنـة الـدراسـيـة 2020 - 2021\الـمـجــال 1  - بــيـئـة الـتـعــامــل مــع الـحــاســوب\2ـ  الـدروس\_Files\Images INF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90496"/>
            <a:ext cx="10814992" cy="435878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911424" y="5072835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82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18" name="Image 17" descr="F:\_Wrk\1. Courses\1ـ الـسـنـة الـدراسـيـة 2020 - 2021\الـمـجــال 1  - بــيـئـة الـتـعــامــل مــع الـحــاســوب\2ـ  الـدروس\_Files\Images INF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90496"/>
            <a:ext cx="10814992" cy="435878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911424" y="5072835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81945" y="546881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الـخَــطِـي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8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Ring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 2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600202"/>
            <a:ext cx="10081120" cy="391703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1434486" y="5021907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871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Ring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 2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600202"/>
            <a:ext cx="10081120" cy="391703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1434486" y="5021907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05720" y="5417656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الـحَـــلَـــقِــي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0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5" grpId="0" animBg="1"/>
      <p:bldP spid="1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173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3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</a:rPr>
              <a:t>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ت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ُــرْسَــلُ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الـبــيـانـات إلـى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ولا يَــتِـمُّ قُــبُــولُـهـا إلا مـن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fr-FR" sz="48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الـمَـعْـنِي فـقـط</a:t>
            </a:r>
            <a:endParaRPr lang="fr-FR" sz="4800" dirty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02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18" name="Image 17" descr="F:\_Wrk\1. Courses\1ـ الـسـنـة الـدراسـيـة 2020 - 2021\الـمـجــال 1  - بــيـئـة الـتـعــامــل مــع الـحــاســوب\2ـ  الـدروس\_Files\Images INF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90496"/>
            <a:ext cx="10814992" cy="435878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911424" y="5072835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81945" y="546881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الـخَــطِـي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543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18" name="Image 17" descr="F:\_Wrk\1. Courses\1ـ الـسـنـة الـدراسـيـة 2020 - 2021\الـمـجــال 1  - بــيـئـة الـتـعــامــل مــع الـحــاســوب\2ـ  الـدروس\_Files\Images INF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90496"/>
            <a:ext cx="10814992" cy="435878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90496"/>
            <a:ext cx="5796000" cy="3856943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3036096" y="3675778"/>
            <a:ext cx="6196136" cy="228782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الـسِــلْــك الـمِـحْــوَرِي</a:t>
            </a: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câble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coaxial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764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18" name="Image 17" descr="F:\_Wrk\1. Courses\1ـ الـسـنـة الـدراسـيـة 2020 - 2021\الـمـجــال 1  - بــيـئـة الـتـعــامــل مــع الـحــاســوب\2ـ  الـدروس\_Files\Images INF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90496"/>
            <a:ext cx="10814992" cy="435878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70" y="1659969"/>
            <a:ext cx="6120000" cy="2320194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93286" y="3638652"/>
            <a:ext cx="6196136" cy="228782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الـسِــلْــك الـمِـحْــوَرِي</a:t>
            </a:r>
          </a:p>
          <a:p>
            <a:pPr marL="0" indent="0" algn="ctr" rtl="1">
              <a:buNone/>
            </a:pP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câble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coaxial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362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</a:rPr>
              <a:t>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ت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ُــرْسَــلُ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الـبــيـانـات إلـى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ولا يَــتِـمُّ قُــبُــولُـهـا إلا مـن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fr-FR" sz="48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الـمَـعْـنِي فـقـط</a:t>
            </a:r>
            <a:endParaRPr lang="fr-FR" sz="4800" dirty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87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</a:rPr>
              <a:t>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ت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ُــرْسَــلُ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الـبــيـانـات إلـى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ولا يَــتِـمُّ قُــبُــولُـهـا إلا مـن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fr-FR" sz="48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الـمَـعْـنِي فـقـط</a:t>
            </a:r>
            <a:endParaRPr lang="fr-FR" sz="4800" dirty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55304" y="2111784"/>
            <a:ext cx="4673624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جـــمـــيــع الأجـــهـــزة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9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</a:rPr>
              <a:t>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ت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ُــرْسَــلُ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الـبــيـانـات إلـى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ولا يَــتِـمُّ قُــبُــولُـهـا إلا مـن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fr-FR" sz="48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الـمَـعْـنِي فـقـط</a:t>
            </a:r>
            <a:endParaRPr lang="fr-FR" sz="4800" dirty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55304" y="2111784"/>
            <a:ext cx="4673624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جـــمـــيــع الأجـــهـــزة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70076" y="3206192"/>
            <a:ext cx="2726928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الـجـــهـــاز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31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─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تَــنْــتَــقِــلُ الــبَــيَــانَــات عــلـى مَـــدَارِ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في اتـجَـ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اهٍ وَاحِ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ـدٍ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بـحـيـ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ث الإِرْسَـ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الُ يَ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ـكُ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err="1" smtClean="0">
                <a:solidFill>
                  <a:srgbClr val="002060"/>
                </a:solidFill>
                <a:cs typeface="+mj-cs"/>
              </a:rPr>
              <a:t>ونُ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بِـ 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الـدَوْرِ</a:t>
            </a:r>
            <a:endParaRPr lang="fr-FR" sz="4800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3007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Ring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 2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600202"/>
            <a:ext cx="10081120" cy="391703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1434486" y="5021907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05720" y="5417656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الـحَـــلَـــقِــي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36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5" grpId="0" animBg="1"/>
      <p:bldP spid="16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─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تَــنْــتَــقِــلُ الــبَــيَــانَــات عــلـى مَـــدَارِ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في اتـجَـ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اهٍ وَاحِ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ـدٍ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بـحـيـ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ث الإِرْسَـ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الُ يَ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ـكُ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err="1" smtClean="0">
                <a:solidFill>
                  <a:srgbClr val="002060"/>
                </a:solidFill>
                <a:cs typeface="+mj-cs"/>
              </a:rPr>
              <a:t>ونُ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بِـ 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الـدَوْرِ</a:t>
            </a:r>
            <a:endParaRPr lang="fr-FR" sz="4800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771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─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تَــنْــتَــقِــلُ الــبَــيَــانَــات عــلـى مَـــدَارِ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في اتـجَـ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اهٍ وَاحِ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ـدٍ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بـحـيـ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ث الإِرْسَـ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الُ يَ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ـكُ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err="1" smtClean="0">
                <a:solidFill>
                  <a:srgbClr val="002060"/>
                </a:solidFill>
                <a:cs typeface="+mj-cs"/>
              </a:rPr>
              <a:t>ونُ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بِـ 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الـدَوْرِ</a:t>
            </a:r>
            <a:endParaRPr lang="fr-FR" sz="48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7986" y="2060848"/>
            <a:ext cx="2441944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195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─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تَــنْــتَــقِــلُ الــبَــيَــانَــات عــلـى مَـــدَارِ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في اتـجَـ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اهٍ وَاحِ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ـدٍ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بـحـيـ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ث الإِرْسَـ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الُ يَ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ـكُ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err="1" smtClean="0">
                <a:solidFill>
                  <a:srgbClr val="002060"/>
                </a:solidFill>
                <a:cs typeface="+mj-cs"/>
              </a:rPr>
              <a:t>ونُ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بِـ 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الـدَوْرِ</a:t>
            </a:r>
            <a:endParaRPr lang="fr-FR" sz="48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7986" y="2060848"/>
            <a:ext cx="2441944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20336" y="4257168"/>
            <a:ext cx="218531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تَـــبَـــادُلِ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95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8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\Switch 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56" y="1507916"/>
            <a:ext cx="9721080" cy="450644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111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335" y="1153225"/>
            <a:ext cx="9324000" cy="533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4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4"/>
          <p:cNvPicPr/>
          <p:nvPr/>
        </p:nvPicPr>
        <p:blipFill>
          <a:blip r:embed="rId3"/>
          <a:stretch>
            <a:fillRect/>
          </a:stretch>
        </p:blipFill>
        <p:spPr>
          <a:xfrm>
            <a:off x="961021" y="1435478"/>
            <a:ext cx="10081120" cy="487156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0856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04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4"/>
          <p:cNvPicPr/>
          <p:nvPr/>
        </p:nvPicPr>
        <p:blipFill>
          <a:blip r:embed="rId3"/>
          <a:stretch>
            <a:fillRect/>
          </a:stretch>
        </p:blipFill>
        <p:spPr>
          <a:xfrm>
            <a:off x="961021" y="1435478"/>
            <a:ext cx="10081120" cy="487156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6106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0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\Switch 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56" y="1507916"/>
            <a:ext cx="9721080" cy="450644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7090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46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335" y="1153225"/>
            <a:ext cx="9324000" cy="533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6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3668" y="3069032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76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  <p:bldP spid="10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3668" y="3069032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5200" y="3698785"/>
            <a:ext cx="2168431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20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  <p:bldP spid="10" grpId="0" animBg="1"/>
      <p:bldP spid="14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3668" y="3069032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5200" y="3698785"/>
            <a:ext cx="2168431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823630" y="5067507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82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3.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الـمــكــونـــات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الــمــاديــة للــشــبــكــة الـمـحــلــيــة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cs typeface="+mj-cs"/>
              </a:rPr>
              <a:t>مـا هـي مـكــونــات الــشــبــكــة الــمـحــلـيـة </a:t>
            </a:r>
            <a:r>
              <a:rPr lang="ar-DZ" sz="4800" b="1" dirty="0" smtClean="0">
                <a:cs typeface="+mj-cs"/>
              </a:rPr>
              <a:t>؟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436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C:\Users\Dual\Pictures\pc 2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54930"/>
            <a:ext cx="9937104" cy="500142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2783632" y="4640787"/>
            <a:ext cx="7808416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cs typeface="+mj-cs"/>
              </a:rPr>
              <a:t>حــواســيــب  </a:t>
            </a:r>
            <a:r>
              <a:rPr lang="ar-DZ" sz="3600" b="1" dirty="0">
                <a:cs typeface="+mj-cs"/>
              </a:rPr>
              <a:t>( </a:t>
            </a:r>
            <a:r>
              <a:rPr lang="ar-DZ" sz="3600" b="1" dirty="0" smtClean="0">
                <a:cs typeface="+mj-cs"/>
              </a:rPr>
              <a:t>عـلى  الأقــل اثـنـين ) مُــزَوَّدة بـ  .................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3221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C:\Users\Dual\Pictures\pc 2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54930"/>
            <a:ext cx="9937104" cy="500142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2783632" y="4640787"/>
            <a:ext cx="7808416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cs typeface="+mj-cs"/>
              </a:rPr>
              <a:t>حــواســيــب  </a:t>
            </a:r>
            <a:r>
              <a:rPr lang="ar-DZ" sz="3600" b="1" dirty="0">
                <a:cs typeface="+mj-cs"/>
              </a:rPr>
              <a:t>( </a:t>
            </a:r>
            <a:r>
              <a:rPr lang="ar-DZ" sz="3600" b="1" dirty="0" smtClean="0">
                <a:cs typeface="+mj-cs"/>
              </a:rPr>
              <a:t>عـلى  الأقــل اثـنـين ) مُــزَوَّدة بـ  .................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515770"/>
            <a:ext cx="9176568" cy="320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1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C:\Users\Dual\Pictures\pc 2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54930"/>
            <a:ext cx="9937104" cy="500142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2783632" y="4640787"/>
            <a:ext cx="7808416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cs typeface="+mj-cs"/>
              </a:rPr>
              <a:t>حــواســيــب  </a:t>
            </a:r>
            <a:r>
              <a:rPr lang="ar-DZ" sz="3600" b="1" dirty="0">
                <a:cs typeface="+mj-cs"/>
              </a:rPr>
              <a:t>( </a:t>
            </a:r>
            <a:r>
              <a:rPr lang="ar-DZ" sz="3600" b="1" dirty="0" smtClean="0">
                <a:cs typeface="+mj-cs"/>
              </a:rPr>
              <a:t>عـلى  الأقــل اثـنـين ) مُــزَوَّدة بـ  .................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35138" y="5344638"/>
            <a:ext cx="2713212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بـطـاقـة الـشـبـكـة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515770"/>
            <a:ext cx="9176568" cy="320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7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C:\Users\Dual\Pictures\pc 2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54930"/>
            <a:ext cx="9937104" cy="500142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2783632" y="4640787"/>
            <a:ext cx="7808416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cs typeface="+mj-cs"/>
              </a:rPr>
              <a:t>حــواســيــب  </a:t>
            </a:r>
            <a:r>
              <a:rPr lang="ar-DZ" sz="3600" b="1" dirty="0">
                <a:cs typeface="+mj-cs"/>
              </a:rPr>
              <a:t>( </a:t>
            </a:r>
            <a:r>
              <a:rPr lang="ar-DZ" sz="3600" b="1" dirty="0" smtClean="0">
                <a:cs typeface="+mj-cs"/>
              </a:rPr>
              <a:t>عـلى  الأقــل اثـنـين ) مُــزَوَّدة بـ  .................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35138" y="5344638"/>
            <a:ext cx="2713212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بـطـاقـة الـشـبـكـة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18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/>
          <p:cNvPicPr/>
          <p:nvPr/>
        </p:nvPicPr>
        <p:blipFill>
          <a:blip r:embed="rId2"/>
          <a:stretch>
            <a:fillRect/>
          </a:stretch>
        </p:blipFill>
        <p:spPr>
          <a:xfrm>
            <a:off x="983432" y="1484783"/>
            <a:ext cx="10081120" cy="487156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435708" y="5445223"/>
            <a:ext cx="9320584" cy="91112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Câbles à Paires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Torsadées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04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/>
          <p:cNvPicPr/>
          <p:nvPr/>
        </p:nvPicPr>
        <p:blipFill>
          <a:blip r:embed="rId2"/>
          <a:stretch>
            <a:fillRect/>
          </a:stretch>
        </p:blipFill>
        <p:spPr>
          <a:xfrm>
            <a:off x="983432" y="1484783"/>
            <a:ext cx="10081120" cy="487156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435708" y="5457320"/>
            <a:ext cx="9320584" cy="98313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Câbles à Paires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Torsadées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2104" y="5560571"/>
            <a:ext cx="3384376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أَسْــلاَك مُــلْــتَــوِيَــة</a:t>
            </a:r>
            <a:endParaRPr lang="fr-FR" sz="3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0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4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56804" y="5005912"/>
            <a:ext cx="9320584" cy="143716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 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Connecteurs RJ 45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99" y="2231726"/>
            <a:ext cx="3086531" cy="235300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60" y="1594253"/>
            <a:ext cx="3009524" cy="299047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940" y="1523749"/>
            <a:ext cx="3420858" cy="307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3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56804" y="5005912"/>
            <a:ext cx="9320584" cy="143716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 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Connecteurs RJ 45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44072" y="5396089"/>
            <a:ext cx="3384376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وَصْــلَات مِـنْ نَــوْعِ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99" y="2231726"/>
            <a:ext cx="3086531" cy="235300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60" y="1594253"/>
            <a:ext cx="3009524" cy="299047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940" y="1523749"/>
            <a:ext cx="3420858" cy="307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 2\Connecteur RJ 4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536" y="1459061"/>
            <a:ext cx="9871992" cy="3770139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56804" y="5319353"/>
            <a:ext cx="9320584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Connecteurs RJ 45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44072" y="5486242"/>
            <a:ext cx="3384376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وَصْــلَات مِـنْ نَــوْعِ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93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/>
          <p:nvPr/>
        </p:nvPicPr>
        <p:blipFill>
          <a:blip r:embed="rId2"/>
          <a:stretch>
            <a:fillRect/>
          </a:stretch>
        </p:blipFill>
        <p:spPr>
          <a:xfrm>
            <a:off x="1127449" y="1354929"/>
            <a:ext cx="9505056" cy="477123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127449" y="5453409"/>
            <a:ext cx="9320584" cy="112157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Pince à Sertir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58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/>
          <p:nvPr/>
        </p:nvPicPr>
        <p:blipFill>
          <a:blip r:embed="rId2"/>
          <a:stretch>
            <a:fillRect/>
          </a:stretch>
        </p:blipFill>
        <p:spPr>
          <a:xfrm>
            <a:off x="1127449" y="1354929"/>
            <a:ext cx="9505056" cy="477123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127449" y="5453409"/>
            <a:ext cx="9320584" cy="112157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Pince à Sertir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75920" y="5628142"/>
            <a:ext cx="4398121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آَلَــة الـضَـغْــط أو الـكَــبْــسِ</a:t>
            </a:r>
            <a:endParaRPr lang="fr-FR" sz="3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25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7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 descr="F:\_Wrk\1. Courses\1ـ الـسـنـة الـدراسـيـة 2020 - 2021\الـمـجــال 1  - بــيـئـة الـتـعــامــل مــع الـحــاســوب\2ـ  الـدروس\_Files\Images INF\Switch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484784"/>
            <a:ext cx="9721080" cy="450644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118667" y="5481514"/>
            <a:ext cx="9320584" cy="105514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fr-FR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ar-DZ" dirty="0" smtClean="0">
                <a:latin typeface="Times New Roman" panose="02020603050405020304" pitchFamily="18" charset="0"/>
                <a:cs typeface="+mj-cs"/>
              </a:rPr>
              <a:t>............</a:t>
            </a:r>
            <a:r>
              <a:rPr lang="fr-FR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en-US" sz="4000" b="1" dirty="0" smtClean="0">
                <a:cs typeface="+mj-cs"/>
              </a:rPr>
              <a:t>Switch</a:t>
            </a:r>
            <a:r>
              <a:rPr lang="fr-FR" sz="4000" b="1" dirty="0">
                <a:cs typeface="+mj-cs"/>
              </a:rPr>
              <a:t>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6038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 descr="F:\_Wrk\1. Courses\1ـ الـسـنـة الـدراسـيـة 2020 - 2021\الـمـجــال 1  - بــيـئـة الـتـعــامــل مــع الـحــاســوب\2ـ  الـدروس\_Files\Images INF\Switch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484784"/>
            <a:ext cx="9721080" cy="450644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118667" y="5517232"/>
            <a:ext cx="9320584" cy="108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fr-FR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ar-DZ" dirty="0" smtClean="0">
                <a:latin typeface="Times New Roman" panose="02020603050405020304" pitchFamily="18" charset="0"/>
                <a:cs typeface="+mj-cs"/>
              </a:rPr>
              <a:t>............</a:t>
            </a:r>
            <a:r>
              <a:rPr lang="fr-FR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en-US" sz="4000" b="1" dirty="0" smtClean="0">
                <a:cs typeface="+mj-cs"/>
              </a:rPr>
              <a:t>Switch</a:t>
            </a:r>
            <a:r>
              <a:rPr lang="fr-FR" sz="4000" b="1" dirty="0">
                <a:cs typeface="+mj-cs"/>
              </a:rPr>
              <a:t>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59896" y="5661328"/>
            <a:ext cx="218896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الـمُــحَ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ــوِّل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72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4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\Router img 8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67" y="1340768"/>
            <a:ext cx="9729861" cy="503073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43472" y="6093296"/>
            <a:ext cx="9320584" cy="648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dirty="0" smtClean="0">
                <a:latin typeface="Times New Roman" panose="02020603050405020304" pitchFamily="18" charset="0"/>
                <a:cs typeface="+mj-cs"/>
              </a:rPr>
              <a:t>.................</a:t>
            </a:r>
            <a:r>
              <a:rPr lang="fr-FR" sz="2800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ar-DZ" sz="2800" dirty="0" smtClean="0">
                <a:latin typeface="Times New Roman" panose="02020603050405020304" pitchFamily="18" charset="0"/>
                <a:cs typeface="+mj-cs"/>
              </a:rPr>
              <a:t>......</a:t>
            </a:r>
            <a:r>
              <a:rPr lang="fr-FR" sz="2800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en-US" sz="4000" b="1" dirty="0"/>
              <a:t>Router</a:t>
            </a:r>
            <a:r>
              <a:rPr lang="fr-FR" sz="4000" b="1" dirty="0" smtClean="0">
                <a:cs typeface="+mj-cs"/>
              </a:rPr>
              <a:t>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4686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\Router img 8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67" y="1340768"/>
            <a:ext cx="9729861" cy="503073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43472" y="5517232"/>
            <a:ext cx="9320584" cy="100811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dirty="0" smtClean="0">
                <a:latin typeface="Times New Roman" panose="02020603050405020304" pitchFamily="18" charset="0"/>
                <a:cs typeface="+mj-cs"/>
              </a:rPr>
              <a:t>.................</a:t>
            </a:r>
            <a:r>
              <a:rPr lang="fr-FR" sz="2800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ar-DZ" sz="2800" dirty="0" smtClean="0">
                <a:latin typeface="Times New Roman" panose="02020603050405020304" pitchFamily="18" charset="0"/>
                <a:cs typeface="+mj-cs"/>
              </a:rPr>
              <a:t>......</a:t>
            </a:r>
            <a:r>
              <a:rPr lang="fr-FR" sz="2800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en-US" sz="4000" b="1" dirty="0"/>
              <a:t>Router</a:t>
            </a:r>
            <a:r>
              <a:rPr lang="fr-FR" sz="4000" b="1" dirty="0" smtClean="0">
                <a:cs typeface="+mj-cs"/>
              </a:rPr>
              <a:t>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29338" y="5805344"/>
            <a:ext cx="235083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الــمُــوَجِّــــه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19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7871" y="274638"/>
            <a:ext cx="10814991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67871" y="1277345"/>
            <a:ext cx="10814992" cy="5139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 rtl="1">
              <a:buNone/>
            </a:pPr>
            <a:endParaRPr lang="fr-FR" sz="2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S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 ( عـلى الأقــل اثـنـيـن ) مُـجَـهَّــزة بـبـطـاقـة شـبـكـة</a:t>
            </a:r>
            <a:endParaRPr lang="fr-FR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أســـلاك مــلــتــويــة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Câbles à </a:t>
            </a:r>
            <a:r>
              <a:rPr lang="fr-FR" sz="4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Paires Torsadées  </a:t>
            </a:r>
            <a:endParaRPr lang="fr-FR" sz="4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وصــلات مـن نـــوع</a:t>
            </a:r>
            <a:r>
              <a:rPr lang="ar-DZ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4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  </a:t>
            </a:r>
            <a:r>
              <a:rPr lang="ar-DZ" sz="4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   </a:t>
            </a:r>
            <a:r>
              <a:rPr lang="en-US" sz="4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Connecteurs</a:t>
            </a:r>
            <a:r>
              <a:rPr lang="en-US" sz="4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RJ 45</a:t>
            </a:r>
            <a:r>
              <a:rPr lang="ar-DZ" sz="4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278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7871" y="274638"/>
            <a:ext cx="10814991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 ــ  تــــابـــع</a:t>
            </a:r>
            <a:endParaRPr lang="fr-F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67871" y="1277345"/>
            <a:ext cx="10814992" cy="5139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fr-F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آلــة الـضـغــط أو الـكــبــس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Pince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Sertir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 </a:t>
            </a:r>
            <a:r>
              <a:rPr lang="en-US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للـرَبْـطِ بَـيْـنَ أجـهــزة الـشـبـكـة 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ونَــقْــلِ  الــبــيــانــات  دَاخِــلَ  الـشــبــكــة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الـمُــوَجِّــه </a:t>
            </a:r>
            <a:r>
              <a:rPr lang="en-US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للــرَبْـــطِ بَــيْــنَ الـشــبــكــات (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وَنَــقْــلِ  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الـشــبــكــات )</a:t>
            </a:r>
            <a:endParaRPr lang="ar-DZ" sz="4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61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7871" y="274638"/>
            <a:ext cx="10814991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 ــ  تــــابـــع</a:t>
            </a:r>
            <a:endParaRPr lang="fr-F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67871" y="1277345"/>
            <a:ext cx="10814992" cy="5139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fr-F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آلــة الـضـغــط أو الـكــبــس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Pince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Sertir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 </a:t>
            </a: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للـرَبْـطِ بَـيْـنَ أجـهــزة الـشـبـكـة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ونَــقْــلِ  الــبــيــانــات  دَاخِــلَ  الـشــبــكــة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الـمُــوَجِّــه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للــرَبْـــطِ بَــيْــنَ الـشــبــكــات (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وَنَــقْــلِ 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84403"/>
            <a:ext cx="10836000" cy="576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9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7871" y="274638"/>
            <a:ext cx="10814991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 ــ  تــــابـــع</a:t>
            </a:r>
            <a:endParaRPr lang="fr-F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67871" y="1277345"/>
            <a:ext cx="10814992" cy="5139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fr-F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آلــة الـضـغــط أو الـكــبــس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Pince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Sertir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 </a:t>
            </a: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للـرَبْـطِ بَـيْـنَ أجـهــزة الـشـبـكـة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ونَــقْــلِ  الــبــيــانــات  دَاخِــلَ  الـشــبــكــة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الـمُــوَجِّــه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للــرَبْـــطِ بَــيْــنَ الـشــبــكــات (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وَنَــقْــلِ 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04" y="1124744"/>
            <a:ext cx="8079791" cy="53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6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إعـــداد  الــشـــبـــكــة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الـمـحــلــيــة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/>
              <a:t>لـمـاذا لا يـكـفـي تـوصــيـل الــمـكــونــات الــمــاديــة للــشــبــكــة للاســتــفـــادة مــنـهــا ؟ فــكــيــف يَــتِــمُّ إِعْـــدَادُ الــشــبــكــة </a:t>
            </a:r>
            <a:r>
              <a:rPr lang="ar-DZ" sz="4800" b="1" dirty="0" smtClean="0"/>
              <a:t>؟ </a:t>
            </a:r>
            <a:endParaRPr lang="ar-DZ" sz="4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نـشــاط </a:t>
            </a:r>
            <a:r>
              <a:rPr lang="ar-DZ" sz="5400" b="1" u="sng" dirty="0">
                <a:solidFill>
                  <a:srgbClr val="0070C0"/>
                </a:solidFill>
                <a:cs typeface="+mj-cs"/>
              </a:rPr>
              <a:t>7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502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بــعــد ربــط الأجـهــزة فــيــزيـــائـــيًــا ( مَـــادِيًـــا ) والـتـــأكُّـــد مـن حــســن تـوصــيــلـهـا نَــعْـــمَـــدُ إلــى 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ربــط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مَــنْــطِــقِـــيًـــا بِـضَــمِّـهـا فـي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cs typeface="+mj-cs"/>
              </a:rPr>
              <a:t>Workgroup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 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واحـــدة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8313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en-US" sz="4400" b="1" dirty="0">
                <a:solidFill>
                  <a:srgbClr val="00B050"/>
                </a:solidFill>
              </a:rPr>
              <a:t>Workgroup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B050"/>
                </a:solidFill>
              </a:rPr>
              <a:t>واحـــدة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وَتَـعْــرِيــفِ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كُــلِّ حَــاسُــوبٍ 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en-US" sz="4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adresse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IP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8844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87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تـجــمــيـع مـكـونـات الـحـاسـوب كـافـيـا للاسـتـفــادة مـنـه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مــكــونــاتــه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خــدمــات الـحــاســوب 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71327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 الـبـرامـج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519783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273818" y="4382445"/>
            <a:ext cx="4438806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CPU, RAM, HDD, Clavier, Souris, Ecran ...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398990"/>
            <a:ext cx="4159144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Windows</a:t>
            </a:r>
          </a:p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Word, Excel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5494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تـجــمــيـع مـكـونـات الـحـاسـوب كـافـيـا للاسـتـفــادة مـنـه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تـجـمـيـع مــكــونــات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ـه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خــدمــات الـحــاســوب 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71327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............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الـبـرامـج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519783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273818" y="4382445"/>
            <a:ext cx="4438806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CPU, RAM, HDD, Clavier, Souris, Ecran ...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398990"/>
            <a:ext cx="4159144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Windows</a:t>
            </a:r>
          </a:p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Word, Excel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9370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تـجــمــيـع مـكـونـات الـحـاسـوب كـافـيـا للاسـتـفــادة مـنـه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تـجـمـيـع مــكــونــات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ـه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خــدمــات الـحــاســوب 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71327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إعـــداد الـبـرامـج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519783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273818" y="4382445"/>
            <a:ext cx="4438806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CPU, RAM, HDD, Clavier, Souris, Ecran ...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398990"/>
            <a:ext cx="4159144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Windows</a:t>
            </a:r>
          </a:p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Word, Excel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479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تـوصـيـل مـكـونـات الــشــبـكـة كـافـيـا للاسـتـفــادة مـنـهـا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 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827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تـوصـيـل مـكـونـات الــشــبـكـة كـافـيـا للاسـتـفــادة مـنـهـا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تـوصـيـل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158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تـوصـيـل مـكـونـات الــشــبـكـة كـافـيـا للاسـتـفــادة مـنـهـا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تـوصـيـل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إعـــداد 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755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>
                <a:solidFill>
                  <a:srgbClr val="00B050"/>
                </a:solidFill>
                <a:cs typeface="+mj-cs"/>
              </a:rPr>
              <a:t>ســؤال : كـيـف يـتـم تـحـديــد اســم الــشـبـكـة  </a:t>
            </a:r>
            <a:r>
              <a:rPr lang="fr-FR" sz="4000" b="1" dirty="0" err="1">
                <a:solidFill>
                  <a:srgbClr val="00B050"/>
                </a:solidFill>
                <a:cs typeface="+mj-cs"/>
              </a:rPr>
              <a:t>workgroup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  ؟</a:t>
            </a:r>
            <a:endParaRPr lang="fr-FR" sz="4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تـوصـيـل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إعـــداد 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6662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FF000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FF0000"/>
                </a:solidFill>
              </a:rPr>
              <a:t>workgroup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 ؟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31" y="44616"/>
            <a:ext cx="9648000" cy="6758654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063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00B05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00B050"/>
                </a:solidFill>
              </a:rPr>
              <a:t>workgroup</a:t>
            </a:r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  ؟</a:t>
            </a:r>
            <a:endParaRPr lang="fr-FR" sz="32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04" y="971696"/>
            <a:ext cx="10980000" cy="535904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5607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00B05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00B050"/>
                </a:solidFill>
              </a:rPr>
              <a:t>workgroup</a:t>
            </a:r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  ؟</a:t>
            </a:r>
            <a:endParaRPr lang="fr-FR" sz="32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00" y="947586"/>
            <a:ext cx="11772000" cy="577605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8982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00B05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00B050"/>
                </a:solidFill>
              </a:rPr>
              <a:t>workgroup</a:t>
            </a:r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  ؟</a:t>
            </a:r>
            <a:endParaRPr lang="fr-FR" sz="32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" y="957904"/>
            <a:ext cx="10872000" cy="5398449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7879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00B05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00B050"/>
                </a:solidFill>
              </a:rPr>
              <a:t>workgroup</a:t>
            </a:r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  ؟</a:t>
            </a:r>
            <a:endParaRPr lang="fr-FR" sz="32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30" y="980710"/>
            <a:ext cx="10980000" cy="5387229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7690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ســؤال : كـيـف يـتـم تـحـديــد أرقــام الـحـواســيــب </a:t>
            </a:r>
            <a:r>
              <a:rPr lang="fr-FR" sz="3600" b="1" dirty="0">
                <a:solidFill>
                  <a:srgbClr val="00B050"/>
                </a:solidFill>
                <a:cs typeface="+mj-cs"/>
              </a:rPr>
              <a:t>@IP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فـي الــشـبـكـة ؟</a:t>
            </a:r>
            <a:endParaRPr lang="fr-FR" sz="36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تـوصـيـل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إعـــداد 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</a:t>
            </a:r>
            <a:r>
              <a:rPr lang="fr-FR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...</a:t>
            </a:r>
            <a:endParaRPr lang="fr-FR" sz="2800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4727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أرقــام الـحـواســي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ـب </a:t>
            </a: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@IP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فـي الــ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268760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فـي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الــشـبـكـة يـكـون كـالـتـالـي : </a:t>
            </a:r>
            <a:endParaRPr lang="fr-FR" sz="4000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708920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84403"/>
            <a:ext cx="10836000" cy="576229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96" y="291815"/>
            <a:ext cx="10092363" cy="6444000"/>
          </a:xfrm>
          <a:prstGeom prst="rect">
            <a:avLst/>
          </a:prstGeom>
          <a:ln w="9525"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64808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7871" y="274638"/>
            <a:ext cx="10814991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 ــ  تــــابـــع</a:t>
            </a:r>
            <a:endParaRPr lang="fr-F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67871" y="1277345"/>
            <a:ext cx="10814992" cy="5139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fr-F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آلــة الـضـغــط أو الـكــبــس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Pince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Sertir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 </a:t>
            </a: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للـرَبْـطِ بَـيْـنَ أجـهــزة الـشـبـكـة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ونَــقْــلِ  الــبــيــانــات  دَاخِــلَ  الـشــبــكــة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الـمُــوَجِّــه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للــرَبْـــطِ بَــيْــنَ الـشــبــكــات (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وَنَــقْــلِ 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84403"/>
            <a:ext cx="10836000" cy="576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2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7871" y="274638"/>
            <a:ext cx="10814991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 ــ  تــــابـــع</a:t>
            </a:r>
            <a:endParaRPr lang="fr-F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67871" y="1277345"/>
            <a:ext cx="10814992" cy="5139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fr-F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آلــة الـضـغــط أو الـكــبــس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Pince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Sertir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 </a:t>
            </a:r>
            <a:r>
              <a:rPr lang="en-US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للـرَبْـطِ بَـيْـنَ أجـهــزة الـشـبـكـة 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ونَــقْــلِ  الــبــيــانــات  دَاخِــلَ  الـشــبــكــة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الـمُــوَجِّــه 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للــرَبْـــطِ بَــيْــنَ الـشــبــكــات (</a:t>
            </a:r>
            <a:r>
              <a:rPr lang="fr-FR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وَنَــقْــلِ  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</a:t>
            </a:r>
            <a:r>
              <a:rPr lang="fr-FR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الـشــبــكــات )</a:t>
            </a:r>
            <a:endParaRPr lang="ar-DZ" sz="4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67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أرقــام الـحـواســي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ـب </a:t>
            </a: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@IP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فـي الــشـبـكـة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268760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فـي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الــشـبـكـة يـكـون كـالـتـالـي : </a:t>
            </a:r>
            <a:endParaRPr lang="fr-FR" sz="4000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708920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1247003"/>
            <a:ext cx="8079791" cy="53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9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أرقــام الـحـواســي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ـب </a:t>
            </a: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@IP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فـي الــشـبـكـة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268760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فـي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الــشـبـكـة يـكـون كـالـتـالـي : </a:t>
            </a:r>
            <a:endParaRPr lang="fr-FR" sz="4000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708920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11289"/>
            <a:ext cx="10836000" cy="55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0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أرقــام الـحـواســي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ـب </a:t>
            </a: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@IP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فـي الــ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268760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فـي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الــشـبـكـة يـكـون كـالـتـالـي : </a:t>
            </a:r>
            <a:endParaRPr lang="fr-FR" sz="4000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708920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84403"/>
            <a:ext cx="10836000" cy="576229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40" y="274637"/>
            <a:ext cx="9826617" cy="6336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162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أرقــام الـحـواســي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ـب </a:t>
            </a: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@IP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فـي الــ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268760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فـي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الــشـبـكـة يـكـون كـالـتـالـي : </a:t>
            </a:r>
            <a:endParaRPr lang="fr-FR" sz="4000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708920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84403"/>
            <a:ext cx="10836000" cy="576229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69" y="282015"/>
            <a:ext cx="9900000" cy="6315337"/>
          </a:xfrm>
          <a:prstGeom prst="rect">
            <a:avLst/>
          </a:prstGeom>
          <a:ln w="19050">
            <a:solidFill>
              <a:schemeClr val="tx1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426139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أرقــام الـحـواســي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ـب </a:t>
            </a: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@IP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فـي الــشـبـكـة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268760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فـي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الــشـبـكـة يـكـون كـالـتـالـي : </a:t>
            </a:r>
            <a:endParaRPr lang="fr-FR" sz="4000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708920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26" y="51509"/>
            <a:ext cx="10656000" cy="6779195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911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أرقــام الـحـواســي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ـب </a:t>
            </a: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@IP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فـي الــشـبـكـة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268760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فـي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الــشـبـكـة يـكـون كـالـتـالـي : </a:t>
            </a:r>
            <a:endParaRPr lang="fr-FR" sz="4000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708920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5" y="45780"/>
            <a:ext cx="10512000" cy="6784924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477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بــعــد ربــط الأجـهــزة فــيــزيـــائـــيًــا ( مَـــادِيًـــا ) والـتـــأكُّـــد مـن حــســن تـوصــيــلـهـا نَــعْـــمَـــدُ إلــى 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ربــط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مَــنْــطِــقِـــيًـــا بِـضَــمِّـهـا فـي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cs typeface="+mj-cs"/>
              </a:rPr>
              <a:t>Workgroup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 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واحـــدة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9449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بــعــد ربــط الأجـهــزة فــيــزيـــائـــيًــا ( مَـــادِيًـــا ) والـتـــأكُّـــد مـن حــســن تـوصــيــلـهـا نَــعْـــمَـــدُ إلــى 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ربــط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مَــنْــطِــقِـــيًـــا بِـضَــمِّـهـا فـي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cs typeface="+mj-cs"/>
              </a:rPr>
              <a:t>Workgroup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 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واحـــدة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8048" y="383190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9111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بــعــد ربــط الأجـهــزة فــيــزيـــائـــيًــا ( مَـــادِيًـــا ) والـتـــأكُّـــد مـن حــســن تـوصــيــلـهـا نَــعْـــمَـــدُ إلــى 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ربــط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مَــنْــطِــقِـــيًـــا بِـضَــمِّـهـا فـي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4400" b="1" dirty="0" smtClean="0">
                <a:solidFill>
                  <a:srgbClr val="00B050"/>
                </a:solidFill>
                <a:cs typeface="+mj-cs"/>
              </a:rPr>
              <a:t>Workgroup</a:t>
            </a:r>
            <a:r>
              <a:rPr lang="fr-FR" sz="44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  </a:t>
            </a:r>
            <a:r>
              <a:rPr lang="ar-DZ" sz="4400" b="1" dirty="0">
                <a:solidFill>
                  <a:srgbClr val="00B050"/>
                </a:solidFill>
                <a:cs typeface="+mj-cs"/>
              </a:rPr>
              <a:t>واحـــدة</a:t>
            </a:r>
            <a:endParaRPr lang="ar-DZ" sz="4400" b="1" dirty="0" smtClean="0">
              <a:solidFill>
                <a:srgbClr val="00B05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8048" y="383190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7424" y="4938647"/>
            <a:ext cx="5124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مــجـــمـــوعـــة عـــمـــل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596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en-US" sz="4400" b="1" dirty="0">
                <a:solidFill>
                  <a:srgbClr val="00B050"/>
                </a:solidFill>
              </a:rPr>
              <a:t>Workgroup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B050"/>
                </a:solidFill>
              </a:rPr>
              <a:t>واحـــدة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وَتَـعْــرِيــفِ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كُــلِّ حَــاسُــوبٍ 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en-US" sz="4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adresse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IP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815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en-US" sz="4400" b="1" dirty="0">
                <a:solidFill>
                  <a:srgbClr val="00B050"/>
                </a:solidFill>
              </a:rPr>
              <a:t>Workgroup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B050"/>
                </a:solidFill>
              </a:rPr>
              <a:t>واحـــدة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وَتَـعْــرِيــفِ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كُــلِّ حَــاسُــوبٍ 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en-US" sz="4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adresse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IP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83832" y="2946771"/>
            <a:ext cx="6204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عُـــنْــوَان مَــنْــطِــقِــي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458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5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616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2312" y="184482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إِنْـــتِــمَــاءِ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26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2312" y="184482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إِنْـــتِــمَــاءِ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74232" y="2946771"/>
            <a:ext cx="3320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الــشــبــكــة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8224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0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2312" y="184482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إِنْـــتِــمَــاءِ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74232" y="2946771"/>
            <a:ext cx="3320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الــشــبــكــة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17096" y="4254672"/>
            <a:ext cx="4980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الـمَــوَارِدِ الـمُــشْــتَــرَكَــة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739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0" grpId="0" animBg="1"/>
      <p:bldP spid="8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اســتـغــلال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600" b="1" dirty="0">
                <a:cs typeface="+mj-cs"/>
              </a:rPr>
              <a:t>مـاذا </a:t>
            </a:r>
            <a:r>
              <a:rPr lang="ar-DZ" sz="4600" b="1" dirty="0" smtClean="0">
                <a:cs typeface="+mj-cs"/>
              </a:rPr>
              <a:t>تـعـني </a:t>
            </a:r>
            <a:r>
              <a:rPr lang="ar-DZ" sz="4600" b="1" dirty="0">
                <a:cs typeface="+mj-cs"/>
              </a:rPr>
              <a:t>لـكـم </a:t>
            </a:r>
            <a:r>
              <a:rPr lang="ar-DZ" sz="4600" b="1" dirty="0" smtClean="0">
                <a:cs typeface="+mj-cs"/>
              </a:rPr>
              <a:t>مـشــاركـة </a:t>
            </a:r>
            <a:r>
              <a:rPr lang="ar-DZ" sz="4600" b="1" dirty="0">
                <a:cs typeface="+mj-cs"/>
              </a:rPr>
              <a:t>مــوارد </a:t>
            </a:r>
            <a:r>
              <a:rPr lang="ar-DZ" sz="4600" b="1" dirty="0" smtClean="0">
                <a:cs typeface="+mj-cs"/>
              </a:rPr>
              <a:t>شــبــكـة </a:t>
            </a:r>
            <a:r>
              <a:rPr lang="ar-DZ" sz="4600" b="1" dirty="0">
                <a:cs typeface="+mj-cs"/>
              </a:rPr>
              <a:t>مـحــلــيــة ؟ بَــيِّـنْ أنــواع </a:t>
            </a:r>
            <a:r>
              <a:rPr lang="ar-DZ" sz="4600" b="1" dirty="0" smtClean="0">
                <a:cs typeface="+mj-cs"/>
              </a:rPr>
              <a:t>الـمــشــاركــة الـمُــتَــاحَـة عــنـد </a:t>
            </a:r>
            <a:r>
              <a:rPr lang="ar-DZ" sz="4600" b="1" dirty="0">
                <a:cs typeface="+mj-cs"/>
              </a:rPr>
              <a:t>اســتـغــلال تـلـك </a:t>
            </a:r>
            <a:r>
              <a:rPr lang="ar-DZ" sz="4600" b="1" dirty="0" smtClean="0">
                <a:cs typeface="+mj-cs"/>
              </a:rPr>
              <a:t>الـمــوارد</a:t>
            </a:r>
            <a:r>
              <a:rPr lang="fr-FR" sz="4600" b="1" dirty="0" smtClean="0">
                <a:latin typeface="Times New Roman" panose="02020603050405020304" pitchFamily="18" charset="0"/>
                <a:cs typeface="+mj-cs"/>
              </a:rPr>
              <a:t>)</a:t>
            </a:r>
            <a:r>
              <a:rPr lang="fr-FR" sz="4600" b="1" dirty="0" smtClean="0">
                <a:cs typeface="+mj-cs"/>
              </a:rPr>
              <a:t> </a:t>
            </a:r>
            <a:r>
              <a:rPr lang="ar-DZ" sz="4600" b="1" dirty="0" smtClean="0">
                <a:cs typeface="+mj-cs"/>
              </a:rPr>
              <a:t> طــابـعـة ، قــرص </a:t>
            </a:r>
            <a:r>
              <a:rPr lang="fr-FR" sz="4600" b="1" dirty="0">
                <a:cs typeface="+mj-cs"/>
              </a:rPr>
              <a:t>HDD</a:t>
            </a:r>
            <a:r>
              <a:rPr lang="ar-DZ" sz="4600" b="1" dirty="0" smtClean="0">
                <a:cs typeface="+mj-cs"/>
              </a:rPr>
              <a:t> </a:t>
            </a:r>
            <a:r>
              <a:rPr lang="ar-DZ" sz="4600" b="1" dirty="0" smtClean="0"/>
              <a:t>،</a:t>
            </a:r>
            <a:r>
              <a:rPr lang="ar-DZ" sz="4600" b="1" dirty="0" smtClean="0">
                <a:cs typeface="+mj-cs"/>
              </a:rPr>
              <a:t>  مـجـلــد </a:t>
            </a:r>
            <a:r>
              <a:rPr lang="ar-DZ" sz="4600" b="1" dirty="0">
                <a:cs typeface="+mj-cs"/>
              </a:rPr>
              <a:t>... </a:t>
            </a:r>
            <a:r>
              <a:rPr lang="fr-FR" sz="4600" b="1" dirty="0">
                <a:latin typeface="Times New Roman" panose="02020603050405020304" pitchFamily="18" charset="0"/>
                <a:cs typeface="+mj-cs"/>
              </a:rPr>
              <a:t>(</a:t>
            </a:r>
            <a:r>
              <a:rPr lang="ar-DZ" sz="4600" b="1" dirty="0" smtClean="0">
                <a:cs typeface="+mj-cs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نـشــاط 8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3919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8  –  اســتـغــلال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الـمــشــاركــة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تــعــنـي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لـحــواســيــب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الــمُــتَــمَــثِّــلَــة فـي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الــطــابــعــات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قـــارئ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نـــاســخ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الأقــــراص الـرقـــمـــيـــة ... إلـــخ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562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8  –  اســتـغــلال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الـمــشــاركــة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تــعــنـي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لـحــواســيــب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الــمُــتَــمَــثِّــلَــة فـي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الــطــابــعــات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قـــارئ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نـــاســخ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الأقــــراص الـرقـــمـــيـــة ... إلـــخ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7728" y="1772816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إِعْــطَــاءُ الـحَــقِّ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92344" y="2797519"/>
            <a:ext cx="1973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الـشـبـكـة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508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8  –  اســتـغــلال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الـمــشــاركــة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تــعــنـي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لـحــواســيــب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الــمُــتَــمَــثِّــلَــة فـي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الــطــابــعــات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قـــارئ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نـــاســخ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الأقــــراص الـرقـــمـــيـــة ... إلـــخ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7728" y="1772816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إِعْــطَــاءُ الـحَــقِّ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92344" y="2797519"/>
            <a:ext cx="1973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الـشـبـكـة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46420" y="2780928"/>
            <a:ext cx="37263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اسـتـغـلال مـواردهـا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9081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  <p:bldP spid="11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8  –  اســتـغــلال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الـمــشــاركــة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تــعــنـي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لـحــواســيــب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الــمُــتَــمَــثِّــلَــة فـي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الــطــابــعــات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قـــارئ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نـــاســخ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الأقــــراص الـرقـــمـــيـــة ... إلـــخ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7728" y="1772816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إِعْــطَــاءُ الـحَــقِّ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92344" y="2797519"/>
            <a:ext cx="1973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الـشـبـكـة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46420" y="2780928"/>
            <a:ext cx="37263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اسـتـغـلال مـواردهـا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214" y="3922362"/>
            <a:ext cx="30062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smtClean="0">
                <a:solidFill>
                  <a:srgbClr val="0070C0"/>
                </a:solidFill>
                <a:cs typeface="+mj-cs"/>
              </a:rPr>
              <a:t>الـوســائـــل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182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  <p:bldP spid="11" grpId="0" animBg="1"/>
      <p:bldP spid="12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الـمُــجَــلَــدَات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، فـي هـــذه الـحــالــة فــإنَّ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الـمــشــاركــة قــد تـكـون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تــســمـح لــنــا بـالـقــيــام بــجــمــيـع الـعــمــلــيــات مـن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662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الـمُــجَــلَــدَات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، فـي هـــذه الـحــالــة فــإنَّ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الـمــشــاركــة قــد تـكـون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تــســمـح لــنــا بـالـقــيــام بــجــمــيـع الـعــمــلــيــات مـن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75536" y="1557928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الأقـراص الـصـلـبـة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1160" y="1572215"/>
            <a:ext cx="24167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496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الـمُــجَــلَــدَات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، فـي هـــذه الـحــالــة فــإنَّ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الـمــشــاركــة قــد تـكـون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تــســمـح لــنــا بـالـقــيــام بــجــمــيـع الـعــمــلــيــات مـن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75536" y="1557928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الأقـراص الـصـلـبـة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1160" y="1572215"/>
            <a:ext cx="24167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09462" y="3371913"/>
            <a:ext cx="2025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كَــامِـــلَــةً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287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  <p:bldP spid="10" grpId="0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الـمُــجَــلَــدَات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، فـي هـــذه الـحــالــة فــإنَّ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الـمــشــاركــة قــد تـكـون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تــســمـح لــنــا بـالـقــيــام بــجــمــيـع الـعــمــلــيــات مـن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75536" y="1557928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الأقـراص الـصـلـبـة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1160" y="1572215"/>
            <a:ext cx="24167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09462" y="3371913"/>
            <a:ext cx="2025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كَــامِـــلَــةً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19736" y="5041752"/>
            <a:ext cx="7325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قـــراءة  ،   تــغـــيـــيـــر   وحَـــذْف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583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  <p:bldP spid="10" grpId="0" animBg="1"/>
      <p:bldP spid="11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قــد تــكــون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تـــســمـح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لــنــا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فـقـط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2538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قــد تــكــون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تـــســمـح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لــنــا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فـقـط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75920" y="170137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مَــحْـــدُودَةً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283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قــد تــكــون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تـــســمـح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لــنــا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فـقـط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75920" y="170137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مَــحْـــدُودَةً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88288" y="2664367"/>
            <a:ext cx="2025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الـقـــراءة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8459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0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الــــوضـــعـــــيــــة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الإدمـــــــاجــــــيـــــة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7022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0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742950" lvl="0" indent="-74295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تـــحـــــديـــــــد الأنــــــواع الأربـــــعـــــة لــــهــــذه الــــشـــــبـــــكـــــة مـــع بَــــــيَــــانِ الــــمِـــــعْــــــيَـــــــار الــــمُـــــرْتَــــــبِـــــط بِـــكُـــلِّ نَـــــــــوْعٍ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6229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6998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4" name="Rectangle 13"/>
          <p:cNvSpPr/>
          <p:nvPr/>
        </p:nvSpPr>
        <p:spPr>
          <a:xfrm>
            <a:off x="646384" y="2578351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ســـــلــــكــــيــــة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Filaire </a:t>
            </a:r>
          </a:p>
        </p:txBody>
      </p:sp>
    </p:spTree>
    <p:extLst>
      <p:ext uri="{BB962C8B-B14F-4D97-AF65-F5344CB8AC3E}">
        <p14:creationId xmlns:p14="http://schemas.microsoft.com/office/powerpoint/2010/main" val="208479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34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4" name="Rectangle 13"/>
          <p:cNvSpPr/>
          <p:nvPr/>
        </p:nvSpPr>
        <p:spPr>
          <a:xfrm>
            <a:off x="646384" y="2578351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ســـــلــــكــــيــــة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Filaire 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92" y="3512766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مـــحــــلــــيــــة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Local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22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7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4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4" name="Rectangle 13"/>
          <p:cNvSpPr/>
          <p:nvPr/>
        </p:nvSpPr>
        <p:spPr>
          <a:xfrm>
            <a:off x="646384" y="2578351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ســـــلــــكــــيــــة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Filaire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937" y="4495673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</a:t>
            </a:r>
            <a:r>
              <a:rPr lang="ar-DZ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ـــ</a:t>
            </a:r>
            <a:r>
              <a:rPr lang="ar-SA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ن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نـــوع </a:t>
            </a:r>
            <a:r>
              <a:rPr lang="ar-SA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الــخـــــادم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والـــزبــــون</a:t>
            </a:r>
            <a:r>
              <a:rPr lang="ar-DZ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3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Client / Server</a:t>
            </a:r>
            <a:endParaRPr lang="fr-FR" sz="33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92" y="3512766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مـــحــــلــــيــــة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Local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8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6" grpId="0" animBg="1"/>
      <p:bldP spid="8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2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4" name="Rectangle 13"/>
          <p:cNvSpPr/>
          <p:nvPr/>
        </p:nvSpPr>
        <p:spPr>
          <a:xfrm>
            <a:off x="646384" y="2578351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ســـــلــــكــــيــــة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Filaire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937" y="4495673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</a:t>
            </a:r>
            <a:r>
              <a:rPr lang="ar-DZ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ـــ</a:t>
            </a:r>
            <a:r>
              <a:rPr lang="ar-SA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ن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نـــوع </a:t>
            </a:r>
            <a:r>
              <a:rPr lang="ar-SA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الــخـــــادم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والـــزبــــون</a:t>
            </a:r>
            <a:r>
              <a:rPr lang="ar-DZ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3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Client / Server</a:t>
            </a:r>
            <a:endParaRPr lang="fr-FR" sz="33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3392" y="3512766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مـــحــــلــــيــــة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Local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92" y="5430088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ea typeface="Calibri" panose="020F0502020204030204" pitchFamily="34" charset="0"/>
                <a:cs typeface="Traditional Arabic" panose="02020603050405020304" pitchFamily="18" charset="-78"/>
              </a:rPr>
              <a:t>الــــتــــشــكـــــيــــل </a:t>
            </a:r>
            <a:r>
              <a:rPr lang="ar-SA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الـــنــ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جـــمـــي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en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Etoile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0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6" grpId="0" animBg="1"/>
      <p:bldP spid="9" grpId="0" animBg="1"/>
      <p:bldP spid="10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أ‌. بــيـن 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8699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0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الــتــــواصــل بــــيـــن الــحــــواســـيـــب داخــــل الـــشـــــبـــكــــة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ب‌.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الــتــواصــل بــيـن حــواســيــب الــشـــبــكـــة وشــبــكــة الأنــتــرنــت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3670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8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بِـنُـ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إرســال </a:t>
            </a:r>
            <a:r>
              <a:rPr lang="ar-DZ" sz="6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3668" y="3069032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5200" y="3698785"/>
            <a:ext cx="2168431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23630" y="5067507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79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  <p:bldP spid="10" grpId="0" animBg="1"/>
      <p:bldP spid="14" grpId="0" animBg="1"/>
      <p:bldP spid="16" grpId="0" animBg="1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الــتــــواصــل بــــيـــن الــحــــواســـيـــب داخــــل الـــشـــــبـــكــــة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ب‌.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الــتــواصــل بــيـن حــواســيــب الــشـــبــكـــة وشــبــكــة الأنــتــرنــت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1876636" y="2794548"/>
            <a:ext cx="8280920" cy="8504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مــن خــلال الـمَـحَــوِّل   </a:t>
            </a:r>
            <a:r>
              <a:rPr lang="fr-FR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Switch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668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3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الــتــــواصــل بــــيـــن الــحــــواســـيـــب داخــــل الـــشـــــبـــكــــة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ب‌.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الــتــواصــل بــيـن حــواســيــب الــشـــبــكـــة وشــبــكــة الأنــتــرنــت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4954788"/>
            <a:ext cx="7848872" cy="8504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مــن خــلال ا</a:t>
            </a:r>
            <a:r>
              <a:rPr lang="ar-DZ" sz="4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لـمُــوَجِّــه  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Router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76636" y="2794548"/>
            <a:ext cx="8280920" cy="8504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مــن خــلال الـمَـحَــوِّل   </a:t>
            </a:r>
            <a:r>
              <a:rPr lang="fr-FR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Switch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235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7871" y="274638"/>
            <a:ext cx="10814991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 ــ  تــــابـــع</a:t>
            </a:r>
            <a:endParaRPr lang="fr-F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67871" y="1277345"/>
            <a:ext cx="10814992" cy="5139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fr-F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آلــة الـضـغــط أو الـكــبــس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Pince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Sertir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 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للـرَبْـطِ بَـيْـنَ أجـهــزة الـشـبـكـة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ونَــقْــلِ  الــبــيــانــات  دَاخِــلَ  الـشــبــكــة</a:t>
            </a:r>
            <a:r>
              <a:rPr lang="fr-FR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الـمُــوَجِّــه </a:t>
            </a:r>
            <a:r>
              <a:rPr lang="en-US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للــرَبْـــطِ بَــيْــنَ الـشــبــكــات (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وَنَــقْــلِ  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الـشــبــكــات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8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3.كــيـــف يَــــتَـــــأَثَــــــرُ الــــتـــــواصـــل فـــي الـــشــــبــــكـــة عـــنــــد تَــــعَـــطُّـــلُ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‌الـخَـــادِم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Server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‌أحــد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الـمُـخْـتَـلِـفَـة عــن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الـخــادم</a:t>
            </a:r>
          </a:p>
          <a:p>
            <a:pPr mar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ج‌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‌الـمَـحَــوِّل   </a:t>
            </a:r>
            <a:r>
              <a:rPr lang="fr-FR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Switch</a:t>
            </a: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د‌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الـمُــوَجِّــه   </a:t>
            </a:r>
            <a:r>
              <a:rPr lang="fr-FR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Router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0408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914400" lvl="0" indent="-914400" algn="just" rtl="1">
              <a:spcBef>
                <a:spcPts val="1200"/>
              </a:spcBef>
              <a:spcAft>
                <a:spcPts val="800"/>
              </a:spcAft>
              <a:buAutoNum type="arabicPeriod" startAt="3"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تَــــــــأَثَـــــــــرُ الـــتـــــواصـــل فــــي الــــشــــبــــكـــــة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الـخَــادِم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8118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8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914400" lvl="0" indent="-914400" algn="just" rtl="1">
              <a:spcBef>
                <a:spcPts val="1200"/>
              </a:spcBef>
              <a:spcAft>
                <a:spcPts val="800"/>
              </a:spcAft>
              <a:buAutoNum type="arabicPeriod" startAt="3"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تَــــــــأَثَـــــــــرُ الـــتـــــواصـــل فــــي الــــشــــبــــكـــــة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الـخَــادِم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897977" y="2456992"/>
            <a:ext cx="7056784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يُــؤَثَــرُ عــلـى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بــاقـي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1404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4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914400" lvl="0" indent="-914400" algn="just" rtl="1">
              <a:spcBef>
                <a:spcPts val="1200"/>
              </a:spcBef>
              <a:spcAft>
                <a:spcPts val="800"/>
              </a:spcAft>
              <a:buAutoNum type="arabicPeriod" startAt="3"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تَــــــــأَثَـــــــــرُ الـــتـــــواصـــل فــــي الــــشــــبــــكـــــة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الـخَــادِم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897977" y="2456992"/>
            <a:ext cx="7056784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يُــؤَثَــرُ عــلـى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بــاقـي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7976" y="3586636"/>
            <a:ext cx="10310592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بـحـيــث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يُـعَــطِّــلُ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خِــدْمَــتَـيْ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الــطــبــاعـــة والأنـ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تــرنــت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633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‌تَــعَــطُّــلُ أحـــد الـــحـــواســـــيــــب الـــمُـــخْــــتَــــلِــــــفَــــة عـــن الــخـــــادم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4288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6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‌تَــعَــطُّــلُ أحـــد الـــحـــواســـــيــــب الـــمُـــخْــــتَــــلِــــــفَــــة عـــن الــخـــــادم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199456" y="3249080"/>
            <a:ext cx="878497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لا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يُــؤَثَــرُ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عــلـى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بــاقـي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34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‌الــمَــحَــوِّل </a:t>
            </a:r>
            <a:r>
              <a:rPr lang="fr-FR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Switch</a:t>
            </a:r>
            <a:r>
              <a:rPr lang="ar-DZ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3280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24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بِـنُـ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إرســال </a:t>
            </a:r>
            <a:r>
              <a:rPr lang="ar-DZ" sz="6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3668" y="3069032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5200" y="3698785"/>
            <a:ext cx="2168431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23630" y="5067507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87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  <p:bldP spid="10" grpId="0" animBg="1"/>
      <p:bldP spid="14" grpId="0" animBg="1"/>
      <p:bldP spid="16" grpId="0" animBg="1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‌الــمَــحَــوِّل </a:t>
            </a:r>
            <a:r>
              <a:rPr lang="fr-FR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Switch</a:t>
            </a:r>
            <a:r>
              <a:rPr lang="ar-DZ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06044" y="1493994"/>
            <a:ext cx="554461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يُـؤَثَــرُ عـلى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كــل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266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‌الــمَــحَــوِّل </a:t>
            </a:r>
            <a:r>
              <a:rPr lang="fr-FR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Switch</a:t>
            </a:r>
            <a:r>
              <a:rPr lang="ar-DZ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06044" y="1493994"/>
            <a:ext cx="554461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يُـؤَثَــرُ عـلى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كــل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83432" y="2902487"/>
            <a:ext cx="1008112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بـحـيــث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يُـعَــطِّــلُ الـتـ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واصـ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 بــيــنـهـا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فــقــدان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3432" y="4347420"/>
            <a:ext cx="1008112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واص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مــع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أيِّ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جــهــاز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داخــل الــشـــبــكـــة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9864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6" grpId="0" animBg="1"/>
      <p:bldP spid="7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د.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الـمُــوَجِّــه 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Router</a:t>
            </a:r>
            <a:r>
              <a:rPr lang="ar-DZ" sz="2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8347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5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د.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الـمُــوَجِّــه 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Router</a:t>
            </a:r>
            <a:r>
              <a:rPr lang="ar-DZ" sz="2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8444" y="1493994"/>
            <a:ext cx="554461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يُـؤَثَــرُ عـلى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كــل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1045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الــتــــواصــل بــــيـــن الــحــــواســـيـــب داخــــل الـــشـــــبـــكــــة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ب‌.</a:t>
            </a:r>
            <a:r>
              <a:rPr lang="ar-DZ" sz="48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الــتــواصــل بــيـن حــواســيــب الــشـــبــكـــة وشــبــكــة الأنــتــرنــت يـــكـــون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</a:t>
            </a:r>
            <a:endParaRPr lang="ar-DZ" sz="3800" b="1" dirty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4954788"/>
            <a:ext cx="7848872" cy="8504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مــن خــلال ا</a:t>
            </a:r>
            <a:r>
              <a:rPr lang="ar-DZ" sz="4400" b="1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لـمُــوَجِّــه   </a:t>
            </a:r>
            <a:r>
              <a:rPr lang="fr-FR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Router</a:t>
            </a:r>
            <a:endParaRPr lang="fr-FR" sz="44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76636" y="2794548"/>
            <a:ext cx="8280920" cy="8504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مــن خــلال الـمَـحَــوِّل   </a:t>
            </a:r>
            <a:r>
              <a:rPr lang="fr-FR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Switch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6461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7871" y="274638"/>
            <a:ext cx="10814991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 ــ  تــــابـــع</a:t>
            </a:r>
            <a:endParaRPr lang="fr-F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667871" y="1277345"/>
            <a:ext cx="10814992" cy="51395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endParaRPr lang="fr-F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آلــة الـضـغــط أو الـكــبــس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Pince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Sertir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 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للـرَبْـطِ بَـيْـنَ أجـهــزة الـشـبـكـة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ونَــقْــلِ  الــبــيــانــات  دَاخِــلَ  الـشــبــكــة</a:t>
            </a:r>
            <a:r>
              <a:rPr lang="fr-FR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</a:p>
          <a:p>
            <a:pPr lvl="0" algn="r" rtl="1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الـمُــوَجِّــه </a:t>
            </a:r>
            <a:r>
              <a:rPr lang="en-US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للــرَبْـــطِ بَــيْــنَ الـشــبــكــات (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وَنَــقْــلِ  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</a:t>
            </a:r>
            <a:r>
              <a:rPr lang="fr-FR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الـشــبــكــات</a:t>
            </a:r>
            <a:r>
              <a:rPr lang="ar-DZ" sz="4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46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د.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الـمُــوَجِّــه 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Router</a:t>
            </a:r>
            <a:r>
              <a:rPr lang="ar-DZ" sz="2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8444" y="1493994"/>
            <a:ext cx="554461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يُـؤَثَــرُ عـلى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كــل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5832" y="3054887"/>
            <a:ext cx="1008112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بـحـيــث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يُـعَــطِّــلُ الـتـ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واصـ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 بـالأنــتــرنــت (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فــقــدان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35832" y="4499820"/>
            <a:ext cx="1008112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واص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مــع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أيِّ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جــهــاز خـــارج  الــشـــبــكـــة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6995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 مـــــا هـــــو أفَــــضــل تـــصـــمـــيـــم لــــربــــط أجــــهــــزة هــــذه الـــشـــبـــكـــة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؟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عَــــلِّــــلْ إجـــــابـــــتــــك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0725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3584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2290319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ش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ـك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ـن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 الـ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ــس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ــيـه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697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2290319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ش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ـك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ـن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 الـ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ــس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ــيـه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3298431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ــك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ــاد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يَـ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خْـ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لُـ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err="1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مـ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ن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ــوب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ـود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</a:t>
            </a:r>
            <a:endParaRPr lang="fr-FR" sz="4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59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2290319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ش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ـك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ـن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 الـ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ــس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ــيـه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3298431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ــك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ــاد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يَـ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خْـ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لُـ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err="1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مـ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ن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ــوب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ـود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</a:t>
            </a:r>
            <a:endParaRPr lang="fr-FR" sz="42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4293192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ص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ام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ـم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الأُخْـــرى إِذْ يَــتَــمَــيِّـــزُ عَــنْـهَــا بِــ  </a:t>
            </a:r>
            <a:r>
              <a:rPr lang="ar-DZ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714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2290319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ش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ـك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ـن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 الـ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ــس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ــيـه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3298431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ــك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ــاد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يَـ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خْـ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لُـ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err="1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مـ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ن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ــوب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ـود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</a:t>
            </a:r>
            <a:endParaRPr lang="fr-FR" sz="42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4293192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ص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ام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ـم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الأُخْـــرى إِذْ يَــتَــمَــيِّـــزُ عَــنْـهَــا بِــ  </a:t>
            </a:r>
            <a:r>
              <a:rPr lang="ar-DZ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5301304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الـت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ـغ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إ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ض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ـاف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ـة ح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يــب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8861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350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1358988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ـــان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حــاســوب لا يُــؤَثِّــرُ )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3690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1358988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ـــان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حــاســوب لا يُــؤَثِّــرُ )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385320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قَــابِــلِــيَــةِ الإِرْسَــالِ وَالِاسْــتِــقْــبَــالِ فِـي آَنٍ وَاحِــدٍ وَبِــدُونِ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3339740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ــأ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 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ـاد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ٍ لِـلْــبَــيَــانَـــاتِ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496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1358988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ـــان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حــاســوب لا يُــؤَثِّــرُ )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385320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قَــابِــلِــيَــةِ الإِرْسَــالِ وَالِاسْــتِــقْــبَــالِ فِـي آَنٍ وَاحِــدٍ وَبِــدُونِ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3339740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ــأ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 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ـاد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ٍ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لِـلْــبَــيَــانَـــاتِ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302642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اظ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ـى الـخ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الــب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ـان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5157192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ـى الـج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ــاز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ِّ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ف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ــق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ــط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220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"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ومـن الـجــديــر بـالـذكــر أنَّ تَـعَــطُّــلَ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الـمُـحَــوِّل </a:t>
            </a:r>
            <a:r>
              <a:rPr lang="fr-FR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Switch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فـي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شـــبــكــة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ذات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الـتــشــكــيــل الـنــجــمـي يُــؤَدِي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إلـى تَــعَــطُّــلِ الـتــواصـل داخــل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الـشــبـكـة،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لـكـن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بـإمـكــانــنـا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تـجــاوز هــذا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الـمــشــكــل بــتـوفــيــر مُــحَــوِّل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احــتــيــاطـي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لاســتــبــدال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الـمُـحَــوِّل الـمُــعَــطَّــل وبــذلـك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نَــسْــتَــرِجِــعُ الـتَّــوَاصُــل فـي وَقْــتٍ وَجِــيــزٍ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"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0167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واجــب مـنـزلـي</a:t>
            </a:r>
            <a:r>
              <a:rPr lang="ar-DZ" sz="4800" b="1" dirty="0">
                <a:solidFill>
                  <a:srgbClr val="FF000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SA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 –</a:t>
            </a:r>
            <a:r>
              <a:rPr lang="ar-S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مــا هــو الـفَـــرْقَ بـيـن مــكــونـــات شــبــكــة مــحــلــيــة فـي الـحــالــتــيــن :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800100" lvl="0" indent="6350" algn="r" rtl="1"/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شــبــكــة </a:t>
            </a:r>
            <a:r>
              <a:rPr lang="ar-S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مـحــلــيــة ســـلـــكـــيـــة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800100" lvl="0" indent="6350" algn="r" rtl="1"/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شــبــكــة مـحــلــيــة لا </a:t>
            </a:r>
            <a:r>
              <a:rPr lang="ar-SA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ســلــكــيــة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buNone/>
            </a:pPr>
            <a:endParaRPr lang="fr-FR" sz="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 –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قَـــارِنْ بـيـن الــمُــحَــوِّل  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والــمُـــوَزِّع 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804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07/01/2026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2. حَـــدِّد الأنـــواع الأربـعــة لـهــذه الــشــبــكــة مـع بـــيــان الــمِــعْـــيَـــار الــمُــرْتَــبِــط بِــكُــلِّ نَـــوْعٍ</a:t>
            </a:r>
            <a:endParaRPr lang="ar-DZ" sz="18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699" y="298465"/>
            <a:ext cx="9504000" cy="606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2. حَـــدِّد الأنـــواع الأربـعــة لـهــذه الــشــبــكــة مـع بـــيــان الــمِــعْـــيَـــار الــمُــرْتَــبِــط بِــكُــلِّ نَـــوْعٍ</a:t>
            </a:r>
            <a:endParaRPr lang="ar-DZ" sz="18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07/01/2026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699" y="298465"/>
            <a:ext cx="9504000" cy="606617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45" y="367179"/>
            <a:ext cx="10728000" cy="5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3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26968</TotalTime>
  <Words>8288</Words>
  <Application>Microsoft Office PowerPoint</Application>
  <PresentationFormat>Grand écran</PresentationFormat>
  <Paragraphs>1814</Paragraphs>
  <Slides>259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259</vt:i4>
      </vt:variant>
    </vt:vector>
  </HeadingPairs>
  <TitlesOfParts>
    <vt:vector size="272" baseType="lpstr">
      <vt:lpstr>Arial Unicode MS</vt:lpstr>
      <vt:lpstr>SimSun</vt:lpstr>
      <vt:lpstr>SimSun</vt:lpstr>
      <vt:lpstr>Arial</vt:lpstr>
      <vt:lpstr>Calibri</vt:lpstr>
      <vt:lpstr>Droid Sans Fallback</vt:lpstr>
      <vt:lpstr>FreeSans</vt:lpstr>
      <vt:lpstr>Liberation Serif</vt:lpstr>
      <vt:lpstr>Times New Roman</vt:lpstr>
      <vt:lpstr>Traditional Arabic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Présentation PowerPoint</vt:lpstr>
      <vt:lpstr>1. تـعــريـف الـشـبـكـة الـمـحــلـيـة  LAN</vt:lpstr>
      <vt:lpstr>سـؤال : مـا هـي  الـشــبــكــات الَّـتِي تـعـرفـونـهـا ؟ حَــدِّدْ دَوْرَ كُـل شـبـكـة</vt:lpstr>
      <vt:lpstr>سـؤال : مـا هـي  الـشــبــكــات الَّـتِي تـعـرفـونـهـا ؟ حَــدِّدْ دَوْرَ كُـل شـبـكـة</vt:lpstr>
      <vt:lpstr>سـؤال : مـا هـي  الـشــبــكــات الَّـتِي تـعـرفـونـهـا ؟ حَــدِّدْ دَوْرَ كُـل شـبـكـة</vt:lpstr>
      <vt:lpstr>سـؤال : مـا هـي  الـشــبــكــات الَّـتِي تـعـرفـونـهـا ؟ حَــدِّدْ دَوْرَ كُـل شـبـكـة</vt:lpstr>
      <vt:lpstr>سـؤال : مـا هـي  الـشــبــكــات الَّـتِي تـعـرفـونـهـا ؟ حَــدِّدْ دَوْرَ كُـل شـبـكـة</vt:lpstr>
      <vt:lpstr>ســؤال : مــاذا يـجـمـع هــذه الـشــبـكـات ؟ مـاذا تـعــني الـشـبـكـة لُـغَــةً ؟</vt:lpstr>
      <vt:lpstr>ســؤال : مــاذا يـجـمـع هــذه الـشــبـكـات ؟ مـاذا تـعــني الـشـبـكـة لُـغَــةً ؟</vt:lpstr>
      <vt:lpstr>ســؤال : مــاذا يـجـمـع هــذه الـشــبـكـات ؟ مـاذا تـعــني الـشـبـكـة لُـغَــةً ؟</vt:lpstr>
      <vt:lpstr>ســؤال : مــاذا يـجـمـع هــذه الـشــبـكـات ؟ مـاذا تـعــني الـشـبـكـة لُـغَــةً ؟</vt:lpstr>
      <vt:lpstr>ســـؤال : مــاذا تــعــنـي كــلــمــة الــشــبــكــة لُــغَـــةً ؟</vt:lpstr>
      <vt:lpstr>ســـؤال : مــاذا تــعــنـي كــلــمــة الــشــبــكــة لُــغَـــةً ؟</vt:lpstr>
      <vt:lpstr>ســـؤال : مــاذا تــعــنـي كــلــمــة الــشــبــكــة لُــغَـــةً ؟</vt:lpstr>
      <vt:lpstr>ســـؤال : مــمــا تــتــألــف الـشــبــكــة الـمــحــلــيــة ؟</vt:lpstr>
      <vt:lpstr>ســـؤال : مــمــا تــتــألــف الـشــبــكــة الـمــحــلــيــة ؟</vt:lpstr>
      <vt:lpstr>ســـؤال : مــمــا تــتــألــف الـشــبــكــة الـمــحــلــيــة ؟</vt:lpstr>
      <vt:lpstr>أتـذكـر </vt:lpstr>
      <vt:lpstr>أتـذكـر </vt:lpstr>
      <vt:lpstr>أتـذكـر </vt:lpstr>
      <vt:lpstr>أتـذكـر </vt:lpstr>
      <vt:lpstr>2. تــصــنــيــف الــشــبــكـــات </vt:lpstr>
      <vt:lpstr>ســؤال : تـصــنــيــف شــبــكــة يـتـطـلـب اخــتــيــار مـعــيــار فـمـاذا يُـمَـثِّـل ؟</vt:lpstr>
      <vt:lpstr>ســؤال : تـصــنــيــف شــبــكــة يـتـطـلـب اخــتــيــار مـعــيــار فـمـاذا يُـمَـثِّـل ؟</vt:lpstr>
      <vt:lpstr>ســؤال :  مـا هـي الـمـعــايــيــر الـمــتــبــعــة عــنـد تـصـنــيــف شــبـكـة ؟</vt:lpstr>
      <vt:lpstr>ســؤال :  مـا هـي الـمـعــايــيــر الـمــتــبــعــة عــنـد تـصـنــيــف شــبـكـة ؟</vt:lpstr>
      <vt:lpstr>ســؤال :  مـا هـي الـمـعــايــيــر الـمــتــبــعــة عــنـد تـصـنــيــف شــبـكـة ؟</vt:lpstr>
      <vt:lpstr>ســؤال :  مـا هـي الـمـعــايــيــر الـمــتــبــعــة عــنـد تـصـنــيــف شــبـكـة ؟</vt:lpstr>
      <vt:lpstr>ســؤال :  مـا هـي الـمـعــايــيــر الـمــتــبــعــة عــنـد تـصـنــيــف شــبـكـة ؟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2. تــصــنــيــف الــشــبــكـــات 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2. تــصــنــيــف الــشــبــكـــات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أتـذكـر  ( 2.2 الامــتـــداد الـجــغـــرافــي )</vt:lpstr>
      <vt:lpstr>أتـذكـر  ( 2.2 الامــتـــداد الـجــغـــرافــي )</vt:lpstr>
      <vt:lpstr>أتـذكـر  ( 2.2 الامــتـــداد الـجــغـــرافــي )</vt:lpstr>
      <vt:lpstr>أتـذكـر  ( 2.2 الامــتـــداد الـجــغـــرافــي )</vt:lpstr>
      <vt:lpstr>أتـذكـر  ( 2.2 الامــتـــداد الـجــغـــرافــي )</vt:lpstr>
      <vt:lpstr>أتـذكـر  ( 2.2 الامــتـــداد الـجــغـــرافــي )</vt:lpstr>
      <vt:lpstr>أتـذكـر  ( 2.2 الامــتـــداد الـجــغـــرافــي )</vt:lpstr>
      <vt:lpstr>2. تــصــنــيــف الــشــبــكـــات </vt:lpstr>
      <vt:lpstr>ســؤال : مَــا هـي نَـوْعَـيْ الــشــبــكــة حَــسْــبَ الـعــلاقــة الـوظــيــفــيـة ؟</vt:lpstr>
      <vt:lpstr>ســؤال : مَــا هـي نَـوْعَـيْ الــشــبــكــة حَــسْــبَ الـعــلاقــة الـوظــيــفــيـة ؟</vt:lpstr>
      <vt:lpstr>ســؤال : مَــا هـي نَـوْعَـيْ الــشــبــكــة حَــسْــبَ الـعــلاقــة الـوظــيــفــيـة ؟</vt:lpstr>
      <vt:lpstr> ســؤال : مَــاذا يُــمَــثِّــلُ  الـخــادم   و  الـزبــون   فـي الــشــبــكــة ؟</vt:lpstr>
      <vt:lpstr>أتـذكـر </vt:lpstr>
      <vt:lpstr> ســؤال : مَــاذا يُــمَــثِّــلُ  الـخــادم   و  الـزبــون   فـي الــشــبــكــة ؟</vt:lpstr>
      <vt:lpstr> ســؤال : مَــاذا يُــمَــثِّــلُ  الـخــادم   و  الـزبــون   فـي الــشــبــكــة ؟</vt:lpstr>
      <vt:lpstr> ســؤال : مَــتـى يـكــون  حــاســوب مــحــدَّد  خَــادِمًــا  فـي الــشــبــكــة ؟</vt:lpstr>
      <vt:lpstr> ســؤال : كَــيْــفَ نُــسَــمِـي  الـحــاســوب  الَّـذِي يُــقَــدِّمُ  خَـــدَمَــات ؟</vt:lpstr>
      <vt:lpstr> ســؤال : كَــيْــفَ نُــسَــمِـي  الـحــاســوب  الَّـذِي يُــقَــدِّمُ  خَـــدَمَــات ؟</vt:lpstr>
      <vt:lpstr> ســؤال : مَــتـى يـكــون الـحــاســوب زَبُـــونًـــا فـي الــشــبــكــة ؟</vt:lpstr>
      <vt:lpstr> ســؤال : كَــيْــفَ نُــسَــمِـي  الـحــواسـيـب  الَّـتي تَــطْــلُـبُ  خَـــدَمَــات ؟</vt:lpstr>
      <vt:lpstr> ســؤال : كَــيْــفَ نُــسَــمِـي  الـحــواسـيـب  الَّـتي تَــطْــلُـبُ  خَـــدَمَــات ؟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شـــبــكــة مـن نــوع  « الــنِّـــد لِلــنِّـــد   Peer / Peer »</vt:lpstr>
      <vt:lpstr>شـــبــكــة مـن نــوع  « الــنِّـــد لِلــنِّـــد   Peer / Peer »</vt:lpstr>
      <vt:lpstr>شـــبــكــة مـن نــوع  « الــنِّـــد لِلــنِّـــد   Peer / Peer »</vt:lpstr>
      <vt:lpstr>شـــبــكــة مـن نــوع  « الــنِّـــد لِلــنِّـــد   Peer / Peer »</vt:lpstr>
      <vt:lpstr>شـــبــكــة مـن نــوع  « الــنِّـــد لِلــنِّـــد   Peer / Peer »</vt:lpstr>
      <vt:lpstr> أتـذكـر : ( 3.2 – الـعــلاقــة الـوظــيــفــيــة  –  تــابـع ) </vt:lpstr>
      <vt:lpstr> أتـذكـر : ( 3.2 – الـعــلاقــة الـوظــيــفــيــة  –  تــابـع ) </vt:lpstr>
      <vt:lpstr> أتـذكـر : ( 3.2 – الـعــلاقــة الـوظــيــفــيــة  –  تــابـع ) </vt:lpstr>
      <vt:lpstr> أتـذكـر : ( 3.2 – الـعــلاقــة الـوظــيــفــيــة  –  تــابـع ) </vt:lpstr>
      <vt:lpstr>2. تــصــنــيــف الــشــبــكـــات 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طُــوبُــولُــوجْــيَـا  .................. « . Topologie en  ……….…….»</vt:lpstr>
      <vt:lpstr>طُــوبُــولُــوجْــيَـا  .................. « . Topologie en  ……….…….»</vt:lpstr>
      <vt:lpstr>3. الـمــكــونـــات الــمــاديــة للــشــبــكــة الـمـحــلــيــة 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 ــ  تــــابـــع</vt:lpstr>
      <vt:lpstr> الـمـكــونــات الـمــاديـة لـشــبــكــة مـحــلــيــة  ــ  تــــابـــع</vt:lpstr>
      <vt:lpstr> الـمـكــونــات الـمــاديـة لـشــبــكــة مـحــلــيــة  ــ  تــــابـــع</vt:lpstr>
      <vt:lpstr>4. إعـــداد  الــشـــبـــكــة الـمـحــلــيــة </vt:lpstr>
      <vt:lpstr> أتـذكـر: ( نَــشَـاط 7 –  إعـــداد الــشــبــكــة الـمـحــلــيــة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ســؤال : هــل تـجــمــيـع مـكـونـات الـحـاسـوب كـافـيـا للاسـتـفــادة مـنـه ؟</vt:lpstr>
      <vt:lpstr>ســؤال : هــل تـجــمــيـع مـكـونـات الـحـاسـوب كـافـيـا للاسـتـفــادة مـنـه ؟</vt:lpstr>
      <vt:lpstr>ســؤال : هــل تـجــمــيـع مـكـونـات الـحـاسـوب كـافـيـا للاسـتـفــادة مـنـه ؟</vt:lpstr>
      <vt:lpstr>ســؤال : هــل تـوصـيـل مـكـونـات الــشــبـكـة كـافـيـا للاسـتـفــادة مـنـهـا ؟</vt:lpstr>
      <vt:lpstr>ســؤال : هــل تـوصـيـل مـكـونـات الــشــبـكـة كـافـيـا للاسـتـفــادة مـنـهـا ؟</vt:lpstr>
      <vt:lpstr>ســؤال : هــل تـوصـيـل مـكـونـات الــشــبـكـة كـافـيـا للاسـتـفــادة مـنـهـا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كـيـف يـتـم تـحـديــد أرقــام الـحـواســيــب @IP فـي الــشـبـكـة ؟</vt:lpstr>
      <vt:lpstr>ســؤال : كـيـف يـتـم تـحـديــد أرقــام الـحـواســيــب @IP فـي الــ</vt:lpstr>
      <vt:lpstr> الـمـكــونــات الـمــاديـة لـشــبــكــة مـحــلــيــة  ــ  تــــابـــع</vt:lpstr>
      <vt:lpstr> الـمـكــونــات الـمــاديـة لـشــبــكــة مـحــلــيــة  ــ  تــــابـــع</vt:lpstr>
      <vt:lpstr>ســؤال : كـيـف يـتـم تـحـديــد أرقــام الـحـواســيــب @IP فـي الــشـبـكـة ؟</vt:lpstr>
      <vt:lpstr>ســؤال : كـيـف يـتـم تـحـديــد أرقــام الـحـواســيــب @IP فـي الــشـبـكـة ؟</vt:lpstr>
      <vt:lpstr>ســؤال : كـيـف يـتـم تـحـديــد أرقــام الـحـواســيــب @IP فـي الــ</vt:lpstr>
      <vt:lpstr>ســؤال : كـيـف يـتـم تـحـديــد أرقــام الـحـواســيــب @IP فـي الــ</vt:lpstr>
      <vt:lpstr>ســؤال : كـيـف يـتـم تـحـديــد أرقــام الـحـواســيــب @IP فـي الــشـبـكـة ؟</vt:lpstr>
      <vt:lpstr>ســؤال : كـيـف يـتـم تـحـديــد أرقــام الـحـواســيــب @IP فـي الــشـبـكـة ؟</vt:lpstr>
      <vt:lpstr> أتـذكـر: ( نَــشَـاط 7 –  إعـــداد الــشــبــكــة الـمـحــلــيــة ) </vt:lpstr>
      <vt:lpstr> أتـذكـر: ( نَــشَـاط 7 –  إعـــداد الــشــبــكــة الـمـحــلــيــة ) </vt:lpstr>
      <vt:lpstr> أتـذكـر: ( نَــشَـاط 7 –  إعـــداد الــشــبــكــة الـمـحــلــيــة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5. اســتـغــلال الــمــوارد الـمُــشْــتَــرَكَــة </vt:lpstr>
      <vt:lpstr> أتـذكـر: ( نَــشَـاط 8  –  اســتـغــلال الــمــوارد الـمُــشْــتَــرَكَــة ) </vt:lpstr>
      <vt:lpstr> أتـذكـر: ( نَــشَـاط 8  –  اســتـغــلال الــمــوارد الـمُــشْــتَــرَكَــة ) </vt:lpstr>
      <vt:lpstr> أتـذكـر: ( نَــشَـاط 8  –  اســتـغــلال الــمــوارد الـمُــشْــتَــرَكَــة ) </vt:lpstr>
      <vt:lpstr> أتـذكـر: ( نَــشَـاط 8  –  اســتـغــلال الــمــوارد الـمُــشْــتَــرَكَــة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الــــوضـــعـــــيــــة الإدمـــــــاجــــــيـــــة :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الـمـكــونــات الـمــاديـة لـشــبــكــة مـحــلــيــة  ــ  تــــابـــع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الـمـكــونــات الـمــاديـة لـشــبــكــة مـحــلــيــة  ــ  تــــابـــع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واجــب مـنـزلـي :</vt:lpstr>
      <vt:lpstr>Présentation PowerPoint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1753</cp:revision>
  <dcterms:created xsi:type="dcterms:W3CDTF">2015-11-30T21:00:22Z</dcterms:created>
  <dcterms:modified xsi:type="dcterms:W3CDTF">2026-01-07T17:08:17Z</dcterms:modified>
</cp:coreProperties>
</file>