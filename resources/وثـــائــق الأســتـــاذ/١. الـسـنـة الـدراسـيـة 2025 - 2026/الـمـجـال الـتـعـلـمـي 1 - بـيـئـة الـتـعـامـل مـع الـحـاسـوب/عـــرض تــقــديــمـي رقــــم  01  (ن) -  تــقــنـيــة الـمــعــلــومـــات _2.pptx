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6"/>
  </p:notesMasterIdLst>
  <p:sldIdLst>
    <p:sldId id="273" r:id="rId3"/>
    <p:sldId id="439" r:id="rId4"/>
    <p:sldId id="258" r:id="rId5"/>
    <p:sldId id="361" r:id="rId6"/>
    <p:sldId id="362" r:id="rId7"/>
    <p:sldId id="454" r:id="rId8"/>
    <p:sldId id="405" r:id="rId9"/>
    <p:sldId id="292" r:id="rId10"/>
    <p:sldId id="293" r:id="rId11"/>
    <p:sldId id="364" r:id="rId12"/>
    <p:sldId id="406" r:id="rId13"/>
    <p:sldId id="395" r:id="rId14"/>
    <p:sldId id="363" r:id="rId15"/>
    <p:sldId id="365" r:id="rId16"/>
    <p:sldId id="396" r:id="rId17"/>
    <p:sldId id="366" r:id="rId18"/>
    <p:sldId id="407" r:id="rId19"/>
    <p:sldId id="367" r:id="rId20"/>
    <p:sldId id="397" r:id="rId21"/>
    <p:sldId id="448" r:id="rId22"/>
    <p:sldId id="449" r:id="rId23"/>
    <p:sldId id="408" r:id="rId24"/>
    <p:sldId id="368" r:id="rId25"/>
    <p:sldId id="450" r:id="rId26"/>
    <p:sldId id="453" r:id="rId27"/>
    <p:sldId id="452" r:id="rId28"/>
    <p:sldId id="451" r:id="rId29"/>
    <p:sldId id="403" r:id="rId30"/>
    <p:sldId id="371" r:id="rId31"/>
    <p:sldId id="409" r:id="rId32"/>
    <p:sldId id="373" r:id="rId33"/>
    <p:sldId id="399" r:id="rId34"/>
    <p:sldId id="457" r:id="rId35"/>
    <p:sldId id="456" r:id="rId36"/>
    <p:sldId id="455" r:id="rId37"/>
    <p:sldId id="369" r:id="rId38"/>
    <p:sldId id="374" r:id="rId39"/>
    <p:sldId id="410" r:id="rId40"/>
    <p:sldId id="411" r:id="rId41"/>
    <p:sldId id="441" r:id="rId42"/>
    <p:sldId id="400" r:id="rId43"/>
    <p:sldId id="376" r:id="rId44"/>
    <p:sldId id="458" r:id="rId45"/>
    <p:sldId id="375" r:id="rId46"/>
    <p:sldId id="413" r:id="rId47"/>
    <p:sldId id="412" r:id="rId48"/>
    <p:sldId id="443" r:id="rId49"/>
    <p:sldId id="442" r:id="rId50"/>
    <p:sldId id="377" r:id="rId51"/>
    <p:sldId id="459" r:id="rId52"/>
    <p:sldId id="401" r:id="rId53"/>
    <p:sldId id="378" r:id="rId54"/>
    <p:sldId id="444" r:id="rId55"/>
    <p:sldId id="357" r:id="rId56"/>
    <p:sldId id="402" r:id="rId57"/>
    <p:sldId id="379" r:id="rId58"/>
    <p:sldId id="460" r:id="rId59"/>
    <p:sldId id="372" r:id="rId60"/>
    <p:sldId id="380" r:id="rId61"/>
    <p:sldId id="381" r:id="rId62"/>
    <p:sldId id="417" r:id="rId63"/>
    <p:sldId id="416" r:id="rId64"/>
    <p:sldId id="415" r:id="rId65"/>
    <p:sldId id="414" r:id="rId66"/>
    <p:sldId id="389" r:id="rId67"/>
    <p:sldId id="388" r:id="rId68"/>
    <p:sldId id="387" r:id="rId69"/>
    <p:sldId id="386" r:id="rId70"/>
    <p:sldId id="422" r:id="rId71"/>
    <p:sldId id="423" r:id="rId72"/>
    <p:sldId id="384" r:id="rId73"/>
    <p:sldId id="421" r:id="rId74"/>
    <p:sldId id="420" r:id="rId75"/>
    <p:sldId id="424" r:id="rId76"/>
    <p:sldId id="419" r:id="rId77"/>
    <p:sldId id="445" r:id="rId78"/>
    <p:sldId id="446" r:id="rId79"/>
    <p:sldId id="394" r:id="rId80"/>
    <p:sldId id="427" r:id="rId81"/>
    <p:sldId id="426" r:id="rId82"/>
    <p:sldId id="425" r:id="rId83"/>
    <p:sldId id="447" r:id="rId84"/>
    <p:sldId id="428" r:id="rId85"/>
    <p:sldId id="431" r:id="rId86"/>
    <p:sldId id="432" r:id="rId87"/>
    <p:sldId id="433" r:id="rId88"/>
    <p:sldId id="438" r:id="rId89"/>
    <p:sldId id="437" r:id="rId90"/>
    <p:sldId id="436" r:id="rId91"/>
    <p:sldId id="435" r:id="rId92"/>
    <p:sldId id="434" r:id="rId93"/>
    <p:sldId id="393" r:id="rId94"/>
    <p:sldId id="338" r:id="rId9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65" autoAdjust="0"/>
    <p:restoredTop sz="94434" autoAdjust="0"/>
  </p:normalViewPr>
  <p:slideViewPr>
    <p:cSldViewPr>
      <p:cViewPr varScale="1">
        <p:scale>
          <a:sx n="67" d="100"/>
          <a:sy n="67" d="100"/>
        </p:scale>
        <p:origin x="912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32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C345B4-DCF6-4771-9F5C-7807F77C79AF}" type="doc">
      <dgm:prSet loTypeId="urn:microsoft.com/office/officeart/2005/8/layout/cycle6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F6CF4AD-B646-4A2B-8D95-D4FBD88DF9DA}">
      <dgm:prSet/>
      <dgm:spPr/>
      <dgm:t>
        <a:bodyPr/>
        <a:lstStyle/>
        <a:p>
          <a:pPr rtl="1"/>
          <a:r>
            <a:rPr lang="ar-DZ" dirty="0" smtClean="0"/>
            <a:t>الـهـاتـف</a:t>
          </a:r>
          <a:endParaRPr lang="fr-FR" dirty="0"/>
        </a:p>
      </dgm:t>
    </dgm:pt>
    <dgm:pt modelId="{D2F7CED3-B394-4E9C-8659-1B903AD2DC4A}" type="parTrans" cxnId="{9B6D08DF-C340-41F1-9B8B-045138D414DA}">
      <dgm:prSet/>
      <dgm:spPr/>
      <dgm:t>
        <a:bodyPr/>
        <a:lstStyle/>
        <a:p>
          <a:endParaRPr lang="fr-FR"/>
        </a:p>
      </dgm:t>
    </dgm:pt>
    <dgm:pt modelId="{4E06EEB2-0669-4CB3-8CF3-16E7B2206293}" type="sibTrans" cxnId="{9B6D08DF-C340-41F1-9B8B-045138D414DA}">
      <dgm:prSet/>
      <dgm:spPr/>
      <dgm:t>
        <a:bodyPr/>
        <a:lstStyle/>
        <a:p>
          <a:endParaRPr lang="fr-FR"/>
        </a:p>
      </dgm:t>
    </dgm:pt>
    <dgm:pt modelId="{1AAD96FF-4A36-4C5D-B4E5-E6C50FC1A367}">
      <dgm:prSet custT="1"/>
      <dgm:spPr/>
      <dgm:t>
        <a:bodyPr/>
        <a:lstStyle/>
        <a:p>
          <a:pPr rtl="1"/>
          <a:r>
            <a:rPr lang="ar-DZ" sz="3200" b="1" dirty="0" smtClean="0">
              <a:cs typeface="+mj-cs"/>
            </a:rPr>
            <a:t>الـتــلــفــاز</a:t>
          </a:r>
          <a:endParaRPr lang="fr-FR" sz="3200" b="1" dirty="0">
            <a:cs typeface="+mj-cs"/>
          </a:endParaRPr>
        </a:p>
      </dgm:t>
    </dgm:pt>
    <dgm:pt modelId="{5DCCF793-07CF-4FF4-81E8-89AF688D4206}" type="parTrans" cxnId="{C4BD73A6-C682-441D-ACFD-3076979FF33A}">
      <dgm:prSet/>
      <dgm:spPr/>
      <dgm:t>
        <a:bodyPr/>
        <a:lstStyle/>
        <a:p>
          <a:endParaRPr lang="fr-FR"/>
        </a:p>
      </dgm:t>
    </dgm:pt>
    <dgm:pt modelId="{AAEA6D36-FBDA-4528-9F9D-2FF1C8BE47AE}" type="sibTrans" cxnId="{C4BD73A6-C682-441D-ACFD-3076979FF33A}">
      <dgm:prSet/>
      <dgm:spPr/>
      <dgm:t>
        <a:bodyPr/>
        <a:lstStyle/>
        <a:p>
          <a:endParaRPr lang="fr-FR"/>
        </a:p>
      </dgm:t>
    </dgm:pt>
    <dgm:pt modelId="{0856687D-B56A-47ED-95A2-CAB7D9126A60}">
      <dgm:prSet custT="1"/>
      <dgm:spPr/>
      <dgm:t>
        <a:bodyPr/>
        <a:lstStyle/>
        <a:p>
          <a:pPr rtl="1"/>
          <a:r>
            <a:rPr lang="ar-DZ" sz="3200" b="1" dirty="0" smtClean="0">
              <a:cs typeface="+mj-cs"/>
            </a:rPr>
            <a:t>الـبــرامــج</a:t>
          </a:r>
          <a:endParaRPr lang="fr-FR" sz="3200" b="1" dirty="0">
            <a:cs typeface="+mj-cs"/>
          </a:endParaRPr>
        </a:p>
      </dgm:t>
    </dgm:pt>
    <dgm:pt modelId="{9F031D24-0146-4141-8A70-3DF1F1F1A1D0}" type="parTrans" cxnId="{6298B271-4106-48AC-BA96-0BA6BCF2551C}">
      <dgm:prSet/>
      <dgm:spPr/>
      <dgm:t>
        <a:bodyPr/>
        <a:lstStyle/>
        <a:p>
          <a:endParaRPr lang="fr-FR"/>
        </a:p>
      </dgm:t>
    </dgm:pt>
    <dgm:pt modelId="{A99EB3D1-2219-41BF-87D0-A502C6DD77B3}" type="sibTrans" cxnId="{6298B271-4106-48AC-BA96-0BA6BCF2551C}">
      <dgm:prSet/>
      <dgm:spPr/>
      <dgm:t>
        <a:bodyPr/>
        <a:lstStyle/>
        <a:p>
          <a:endParaRPr lang="fr-FR"/>
        </a:p>
      </dgm:t>
    </dgm:pt>
    <dgm:pt modelId="{5CD84F01-16FD-42DA-9687-2ACFAFDD3518}">
      <dgm:prSet custT="1"/>
      <dgm:spPr/>
      <dgm:t>
        <a:bodyPr/>
        <a:lstStyle/>
        <a:p>
          <a:pPr rtl="1"/>
          <a:r>
            <a:rPr lang="ar-DZ" sz="3200" b="1" dirty="0" smtClean="0">
              <a:cs typeface="+mj-cs"/>
            </a:rPr>
            <a:t>الـمـحـمـول</a:t>
          </a:r>
          <a:endParaRPr lang="fr-FR" sz="3200" b="1" dirty="0">
            <a:cs typeface="+mj-cs"/>
          </a:endParaRPr>
        </a:p>
      </dgm:t>
    </dgm:pt>
    <dgm:pt modelId="{E8216311-56FE-4F7A-A6B0-80B9E4A3CD9F}" type="parTrans" cxnId="{6011D5F3-833E-4E7E-AA12-628290EF7BCE}">
      <dgm:prSet/>
      <dgm:spPr/>
      <dgm:t>
        <a:bodyPr/>
        <a:lstStyle/>
        <a:p>
          <a:endParaRPr lang="fr-FR"/>
        </a:p>
      </dgm:t>
    </dgm:pt>
    <dgm:pt modelId="{A211C1F6-BE74-42B1-BC5E-43DD02AB22D2}" type="sibTrans" cxnId="{6011D5F3-833E-4E7E-AA12-628290EF7BCE}">
      <dgm:prSet/>
      <dgm:spPr/>
      <dgm:t>
        <a:bodyPr/>
        <a:lstStyle/>
        <a:p>
          <a:endParaRPr lang="fr-FR"/>
        </a:p>
      </dgm:t>
    </dgm:pt>
    <dgm:pt modelId="{ECC0732E-22F5-4A7B-BD89-B2F5EF2492F3}">
      <dgm:prSet custT="1"/>
      <dgm:spPr/>
      <dgm:t>
        <a:bodyPr/>
        <a:lstStyle/>
        <a:p>
          <a:pPr rtl="1"/>
          <a:r>
            <a:rPr lang="ar-DZ" sz="3200" b="1" dirty="0" smtClean="0">
              <a:cs typeface="+mj-cs"/>
            </a:rPr>
            <a:t>الـحــاســوب</a:t>
          </a:r>
          <a:endParaRPr lang="fr-FR" sz="3200" b="1" dirty="0">
            <a:cs typeface="+mj-cs"/>
          </a:endParaRPr>
        </a:p>
      </dgm:t>
    </dgm:pt>
    <dgm:pt modelId="{BE272062-63A1-48A9-8D8C-1BBCA8CC11E5}" type="parTrans" cxnId="{21292BC1-02EF-4F35-8695-2F1B6991C06F}">
      <dgm:prSet/>
      <dgm:spPr/>
      <dgm:t>
        <a:bodyPr/>
        <a:lstStyle/>
        <a:p>
          <a:endParaRPr lang="fr-FR"/>
        </a:p>
      </dgm:t>
    </dgm:pt>
    <dgm:pt modelId="{8E3F6403-3854-4B0A-9611-48EBE979D7D2}" type="sibTrans" cxnId="{21292BC1-02EF-4F35-8695-2F1B6991C06F}">
      <dgm:prSet/>
      <dgm:spPr/>
      <dgm:t>
        <a:bodyPr/>
        <a:lstStyle/>
        <a:p>
          <a:endParaRPr lang="fr-FR"/>
        </a:p>
      </dgm:t>
    </dgm:pt>
    <dgm:pt modelId="{03BE3595-392C-4E4D-9D76-19BB228DB2B7}" type="pres">
      <dgm:prSet presAssocID="{7FC345B4-DCF6-4771-9F5C-7807F77C79AF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7B51568-A1F9-4C50-81F9-7D9751C68637}" type="pres">
      <dgm:prSet presAssocID="{AF6CF4AD-B646-4A2B-8D95-D4FBD88DF9DA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0E56915-46C5-41DD-9492-4714BB3CEE2C}" type="pres">
      <dgm:prSet presAssocID="{AF6CF4AD-B646-4A2B-8D95-D4FBD88DF9DA}" presName="spNode" presStyleCnt="0"/>
      <dgm:spPr/>
      <dgm:t>
        <a:bodyPr/>
        <a:lstStyle/>
        <a:p>
          <a:endParaRPr lang="fr-FR"/>
        </a:p>
      </dgm:t>
    </dgm:pt>
    <dgm:pt modelId="{DE5918C6-B976-47F5-977A-8A10A5EBEFEB}" type="pres">
      <dgm:prSet presAssocID="{4E06EEB2-0669-4CB3-8CF3-16E7B2206293}" presName="sibTrans" presStyleLbl="sibTrans1D1" presStyleIdx="0" presStyleCnt="5"/>
      <dgm:spPr/>
      <dgm:t>
        <a:bodyPr/>
        <a:lstStyle/>
        <a:p>
          <a:endParaRPr lang="fr-FR"/>
        </a:p>
      </dgm:t>
    </dgm:pt>
    <dgm:pt modelId="{2F2D4351-C129-4799-AD87-7C0FE3F4C1CB}" type="pres">
      <dgm:prSet presAssocID="{1AAD96FF-4A36-4C5D-B4E5-E6C50FC1A367}" presName="node" presStyleLbl="node1" presStyleIdx="1" presStyleCnt="5" custRadScaleRad="137632" custRadScaleInc="4927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EF6E1E5-4C15-4AB6-A001-0ECC13E58F07}" type="pres">
      <dgm:prSet presAssocID="{1AAD96FF-4A36-4C5D-B4E5-E6C50FC1A367}" presName="spNode" presStyleCnt="0"/>
      <dgm:spPr/>
      <dgm:t>
        <a:bodyPr/>
        <a:lstStyle/>
        <a:p>
          <a:endParaRPr lang="fr-FR"/>
        </a:p>
      </dgm:t>
    </dgm:pt>
    <dgm:pt modelId="{5C90E873-4B68-4D56-A684-8212D4A4CE4F}" type="pres">
      <dgm:prSet presAssocID="{AAEA6D36-FBDA-4528-9F9D-2FF1C8BE47AE}" presName="sibTrans" presStyleLbl="sibTrans1D1" presStyleIdx="1" presStyleCnt="5"/>
      <dgm:spPr/>
      <dgm:t>
        <a:bodyPr/>
        <a:lstStyle/>
        <a:p>
          <a:endParaRPr lang="fr-FR"/>
        </a:p>
      </dgm:t>
    </dgm:pt>
    <dgm:pt modelId="{B09EBAA4-3766-461C-B15E-C3E876ACF291}" type="pres">
      <dgm:prSet presAssocID="{0856687D-B56A-47ED-95A2-CAB7D9126A60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4C47855-60DC-4948-B809-9AD30BA909FB}" type="pres">
      <dgm:prSet presAssocID="{0856687D-B56A-47ED-95A2-CAB7D9126A60}" presName="spNode" presStyleCnt="0"/>
      <dgm:spPr/>
      <dgm:t>
        <a:bodyPr/>
        <a:lstStyle/>
        <a:p>
          <a:endParaRPr lang="fr-FR"/>
        </a:p>
      </dgm:t>
    </dgm:pt>
    <dgm:pt modelId="{2A3D88C3-D04D-4C7F-A156-97ADB553DF7C}" type="pres">
      <dgm:prSet presAssocID="{A99EB3D1-2219-41BF-87D0-A502C6DD77B3}" presName="sibTrans" presStyleLbl="sibTrans1D1" presStyleIdx="2" presStyleCnt="5"/>
      <dgm:spPr/>
      <dgm:t>
        <a:bodyPr/>
        <a:lstStyle/>
        <a:p>
          <a:endParaRPr lang="fr-FR"/>
        </a:p>
      </dgm:t>
    </dgm:pt>
    <dgm:pt modelId="{360AC870-620E-4B8C-976D-7AA17E6C6A3F}" type="pres">
      <dgm:prSet presAssocID="{5CD84F01-16FD-42DA-9687-2ACFAFDD3518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35DECB6-0332-405B-A7FC-DDA8DE78EA8D}" type="pres">
      <dgm:prSet presAssocID="{5CD84F01-16FD-42DA-9687-2ACFAFDD3518}" presName="spNode" presStyleCnt="0"/>
      <dgm:spPr/>
      <dgm:t>
        <a:bodyPr/>
        <a:lstStyle/>
        <a:p>
          <a:endParaRPr lang="fr-FR"/>
        </a:p>
      </dgm:t>
    </dgm:pt>
    <dgm:pt modelId="{154A72E4-2260-4656-80BF-89697F1076A6}" type="pres">
      <dgm:prSet presAssocID="{A211C1F6-BE74-42B1-BC5E-43DD02AB22D2}" presName="sibTrans" presStyleLbl="sibTrans1D1" presStyleIdx="3" presStyleCnt="5"/>
      <dgm:spPr/>
      <dgm:t>
        <a:bodyPr/>
        <a:lstStyle/>
        <a:p>
          <a:endParaRPr lang="fr-FR"/>
        </a:p>
      </dgm:t>
    </dgm:pt>
    <dgm:pt modelId="{6043F11F-8AA5-49B9-86C4-E1CF73F1FA14}" type="pres">
      <dgm:prSet presAssocID="{ECC0732E-22F5-4A7B-BD89-B2F5EF2492F3}" presName="node" presStyleLbl="node1" presStyleIdx="4" presStyleCnt="5" custRadScaleRad="162091" custRadScaleInc="-4870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DCDC17E-A055-4DF4-A65A-5C47A4351C04}" type="pres">
      <dgm:prSet presAssocID="{ECC0732E-22F5-4A7B-BD89-B2F5EF2492F3}" presName="spNode" presStyleCnt="0"/>
      <dgm:spPr/>
      <dgm:t>
        <a:bodyPr/>
        <a:lstStyle/>
        <a:p>
          <a:endParaRPr lang="fr-FR"/>
        </a:p>
      </dgm:t>
    </dgm:pt>
    <dgm:pt modelId="{85B39D33-4996-4878-A93E-F4A6681A406A}" type="pres">
      <dgm:prSet presAssocID="{8E3F6403-3854-4B0A-9611-48EBE979D7D2}" presName="sibTrans" presStyleLbl="sibTrans1D1" presStyleIdx="4" presStyleCnt="5"/>
      <dgm:spPr/>
      <dgm:t>
        <a:bodyPr/>
        <a:lstStyle/>
        <a:p>
          <a:endParaRPr lang="fr-FR"/>
        </a:p>
      </dgm:t>
    </dgm:pt>
  </dgm:ptLst>
  <dgm:cxnLst>
    <dgm:cxn modelId="{F8C0F0C0-115D-4E83-82C6-2CD65297F875}" type="presOf" srcId="{1AAD96FF-4A36-4C5D-B4E5-E6C50FC1A367}" destId="{2F2D4351-C129-4799-AD87-7C0FE3F4C1CB}" srcOrd="0" destOrd="0" presId="urn:microsoft.com/office/officeart/2005/8/layout/cycle6"/>
    <dgm:cxn modelId="{38743E99-0B42-42D4-87F7-9CF909982D34}" type="presOf" srcId="{7FC345B4-DCF6-4771-9F5C-7807F77C79AF}" destId="{03BE3595-392C-4E4D-9D76-19BB228DB2B7}" srcOrd="0" destOrd="0" presId="urn:microsoft.com/office/officeart/2005/8/layout/cycle6"/>
    <dgm:cxn modelId="{9B6D08DF-C340-41F1-9B8B-045138D414DA}" srcId="{7FC345B4-DCF6-4771-9F5C-7807F77C79AF}" destId="{AF6CF4AD-B646-4A2B-8D95-D4FBD88DF9DA}" srcOrd="0" destOrd="0" parTransId="{D2F7CED3-B394-4E9C-8659-1B903AD2DC4A}" sibTransId="{4E06EEB2-0669-4CB3-8CF3-16E7B2206293}"/>
    <dgm:cxn modelId="{21292BC1-02EF-4F35-8695-2F1B6991C06F}" srcId="{7FC345B4-DCF6-4771-9F5C-7807F77C79AF}" destId="{ECC0732E-22F5-4A7B-BD89-B2F5EF2492F3}" srcOrd="4" destOrd="0" parTransId="{BE272062-63A1-48A9-8D8C-1BBCA8CC11E5}" sibTransId="{8E3F6403-3854-4B0A-9611-48EBE979D7D2}"/>
    <dgm:cxn modelId="{95EA0B1D-0D57-4BC6-B3B1-9D74B54F3B21}" type="presOf" srcId="{A211C1F6-BE74-42B1-BC5E-43DD02AB22D2}" destId="{154A72E4-2260-4656-80BF-89697F1076A6}" srcOrd="0" destOrd="0" presId="urn:microsoft.com/office/officeart/2005/8/layout/cycle6"/>
    <dgm:cxn modelId="{D4DA1C9F-285B-4EBC-889E-D2F5D458F993}" type="presOf" srcId="{0856687D-B56A-47ED-95A2-CAB7D9126A60}" destId="{B09EBAA4-3766-461C-B15E-C3E876ACF291}" srcOrd="0" destOrd="0" presId="urn:microsoft.com/office/officeart/2005/8/layout/cycle6"/>
    <dgm:cxn modelId="{6298B271-4106-48AC-BA96-0BA6BCF2551C}" srcId="{7FC345B4-DCF6-4771-9F5C-7807F77C79AF}" destId="{0856687D-B56A-47ED-95A2-CAB7D9126A60}" srcOrd="2" destOrd="0" parTransId="{9F031D24-0146-4141-8A70-3DF1F1F1A1D0}" sibTransId="{A99EB3D1-2219-41BF-87D0-A502C6DD77B3}"/>
    <dgm:cxn modelId="{12813386-4654-4599-808D-A0274C56C321}" type="presOf" srcId="{AAEA6D36-FBDA-4528-9F9D-2FF1C8BE47AE}" destId="{5C90E873-4B68-4D56-A684-8212D4A4CE4F}" srcOrd="0" destOrd="0" presId="urn:microsoft.com/office/officeart/2005/8/layout/cycle6"/>
    <dgm:cxn modelId="{6011D5F3-833E-4E7E-AA12-628290EF7BCE}" srcId="{7FC345B4-DCF6-4771-9F5C-7807F77C79AF}" destId="{5CD84F01-16FD-42DA-9687-2ACFAFDD3518}" srcOrd="3" destOrd="0" parTransId="{E8216311-56FE-4F7A-A6B0-80B9E4A3CD9F}" sibTransId="{A211C1F6-BE74-42B1-BC5E-43DD02AB22D2}"/>
    <dgm:cxn modelId="{C56AE7AE-CD31-4D0C-A758-CB005286B174}" type="presOf" srcId="{5CD84F01-16FD-42DA-9687-2ACFAFDD3518}" destId="{360AC870-620E-4B8C-976D-7AA17E6C6A3F}" srcOrd="0" destOrd="0" presId="urn:microsoft.com/office/officeart/2005/8/layout/cycle6"/>
    <dgm:cxn modelId="{9C64AD63-4C82-4729-863F-3FC004D4A118}" type="presOf" srcId="{4E06EEB2-0669-4CB3-8CF3-16E7B2206293}" destId="{DE5918C6-B976-47F5-977A-8A10A5EBEFEB}" srcOrd="0" destOrd="0" presId="urn:microsoft.com/office/officeart/2005/8/layout/cycle6"/>
    <dgm:cxn modelId="{C4BD73A6-C682-441D-ACFD-3076979FF33A}" srcId="{7FC345B4-DCF6-4771-9F5C-7807F77C79AF}" destId="{1AAD96FF-4A36-4C5D-B4E5-E6C50FC1A367}" srcOrd="1" destOrd="0" parTransId="{5DCCF793-07CF-4FF4-81E8-89AF688D4206}" sibTransId="{AAEA6D36-FBDA-4528-9F9D-2FF1C8BE47AE}"/>
    <dgm:cxn modelId="{A41BDB79-8A93-49A6-A14B-8A8173425E91}" type="presOf" srcId="{ECC0732E-22F5-4A7B-BD89-B2F5EF2492F3}" destId="{6043F11F-8AA5-49B9-86C4-E1CF73F1FA14}" srcOrd="0" destOrd="0" presId="urn:microsoft.com/office/officeart/2005/8/layout/cycle6"/>
    <dgm:cxn modelId="{1371E745-946A-405E-9FA5-FE039C48DB65}" type="presOf" srcId="{AF6CF4AD-B646-4A2B-8D95-D4FBD88DF9DA}" destId="{A7B51568-A1F9-4C50-81F9-7D9751C68637}" srcOrd="0" destOrd="0" presId="urn:microsoft.com/office/officeart/2005/8/layout/cycle6"/>
    <dgm:cxn modelId="{047B6E62-E8F7-4DEB-99B7-EEE9EC437FF9}" type="presOf" srcId="{A99EB3D1-2219-41BF-87D0-A502C6DD77B3}" destId="{2A3D88C3-D04D-4C7F-A156-97ADB553DF7C}" srcOrd="0" destOrd="0" presId="urn:microsoft.com/office/officeart/2005/8/layout/cycle6"/>
    <dgm:cxn modelId="{4476F500-73A5-424E-ADF6-E870372B3F3D}" type="presOf" srcId="{8E3F6403-3854-4B0A-9611-48EBE979D7D2}" destId="{85B39D33-4996-4878-A93E-F4A6681A406A}" srcOrd="0" destOrd="0" presId="urn:microsoft.com/office/officeart/2005/8/layout/cycle6"/>
    <dgm:cxn modelId="{7EE897FD-B02B-4209-BAC1-FE9A4B6B61EE}" type="presParOf" srcId="{03BE3595-392C-4E4D-9D76-19BB228DB2B7}" destId="{A7B51568-A1F9-4C50-81F9-7D9751C68637}" srcOrd="0" destOrd="0" presId="urn:microsoft.com/office/officeart/2005/8/layout/cycle6"/>
    <dgm:cxn modelId="{E620C80D-D06C-43FA-8B5E-20B344F83593}" type="presParOf" srcId="{03BE3595-392C-4E4D-9D76-19BB228DB2B7}" destId="{10E56915-46C5-41DD-9492-4714BB3CEE2C}" srcOrd="1" destOrd="0" presId="urn:microsoft.com/office/officeart/2005/8/layout/cycle6"/>
    <dgm:cxn modelId="{62EE19FF-8116-4A90-B5A7-8B2E59285CCC}" type="presParOf" srcId="{03BE3595-392C-4E4D-9D76-19BB228DB2B7}" destId="{DE5918C6-B976-47F5-977A-8A10A5EBEFEB}" srcOrd="2" destOrd="0" presId="urn:microsoft.com/office/officeart/2005/8/layout/cycle6"/>
    <dgm:cxn modelId="{71DE50D3-EAFA-4189-9CD8-DBAAEEB8B2DE}" type="presParOf" srcId="{03BE3595-392C-4E4D-9D76-19BB228DB2B7}" destId="{2F2D4351-C129-4799-AD87-7C0FE3F4C1CB}" srcOrd="3" destOrd="0" presId="urn:microsoft.com/office/officeart/2005/8/layout/cycle6"/>
    <dgm:cxn modelId="{035ADAB1-2521-4821-909E-9DBE37A5AA8F}" type="presParOf" srcId="{03BE3595-392C-4E4D-9D76-19BB228DB2B7}" destId="{BEF6E1E5-4C15-4AB6-A001-0ECC13E58F07}" srcOrd="4" destOrd="0" presId="urn:microsoft.com/office/officeart/2005/8/layout/cycle6"/>
    <dgm:cxn modelId="{97528F2A-389F-427D-BCEC-330ADF098999}" type="presParOf" srcId="{03BE3595-392C-4E4D-9D76-19BB228DB2B7}" destId="{5C90E873-4B68-4D56-A684-8212D4A4CE4F}" srcOrd="5" destOrd="0" presId="urn:microsoft.com/office/officeart/2005/8/layout/cycle6"/>
    <dgm:cxn modelId="{7A12AA28-8D49-4262-9384-B34AA17A7664}" type="presParOf" srcId="{03BE3595-392C-4E4D-9D76-19BB228DB2B7}" destId="{B09EBAA4-3766-461C-B15E-C3E876ACF291}" srcOrd="6" destOrd="0" presId="urn:microsoft.com/office/officeart/2005/8/layout/cycle6"/>
    <dgm:cxn modelId="{A63766D5-4B5B-4DFC-967B-2F7BC0B25881}" type="presParOf" srcId="{03BE3595-392C-4E4D-9D76-19BB228DB2B7}" destId="{94C47855-60DC-4948-B809-9AD30BA909FB}" srcOrd="7" destOrd="0" presId="urn:microsoft.com/office/officeart/2005/8/layout/cycle6"/>
    <dgm:cxn modelId="{F093CD33-6078-455E-9840-30FBB11BC89E}" type="presParOf" srcId="{03BE3595-392C-4E4D-9D76-19BB228DB2B7}" destId="{2A3D88C3-D04D-4C7F-A156-97ADB553DF7C}" srcOrd="8" destOrd="0" presId="urn:microsoft.com/office/officeart/2005/8/layout/cycle6"/>
    <dgm:cxn modelId="{9F4C45EC-DAE0-47EF-861C-CD27D0C3EADB}" type="presParOf" srcId="{03BE3595-392C-4E4D-9D76-19BB228DB2B7}" destId="{360AC870-620E-4B8C-976D-7AA17E6C6A3F}" srcOrd="9" destOrd="0" presId="urn:microsoft.com/office/officeart/2005/8/layout/cycle6"/>
    <dgm:cxn modelId="{AAB8E550-075F-4057-891D-4798CA357515}" type="presParOf" srcId="{03BE3595-392C-4E4D-9D76-19BB228DB2B7}" destId="{235DECB6-0332-405B-A7FC-DDA8DE78EA8D}" srcOrd="10" destOrd="0" presId="urn:microsoft.com/office/officeart/2005/8/layout/cycle6"/>
    <dgm:cxn modelId="{A0799B6C-85C3-46CA-9C5C-8D3DD5C1ACEB}" type="presParOf" srcId="{03BE3595-392C-4E4D-9D76-19BB228DB2B7}" destId="{154A72E4-2260-4656-80BF-89697F1076A6}" srcOrd="11" destOrd="0" presId="urn:microsoft.com/office/officeart/2005/8/layout/cycle6"/>
    <dgm:cxn modelId="{90442130-8C18-4B68-8E8D-7784DA69EBC9}" type="presParOf" srcId="{03BE3595-392C-4E4D-9D76-19BB228DB2B7}" destId="{6043F11F-8AA5-49B9-86C4-E1CF73F1FA14}" srcOrd="12" destOrd="0" presId="urn:microsoft.com/office/officeart/2005/8/layout/cycle6"/>
    <dgm:cxn modelId="{3CF99835-01C9-4813-8668-BF104829D20A}" type="presParOf" srcId="{03BE3595-392C-4E4D-9D76-19BB228DB2B7}" destId="{5DCDC17E-A055-4DF4-A65A-5C47A4351C04}" srcOrd="13" destOrd="0" presId="urn:microsoft.com/office/officeart/2005/8/layout/cycle6"/>
    <dgm:cxn modelId="{159722A9-5057-4383-A9AA-2EA81F8D1DE1}" type="presParOf" srcId="{03BE3595-392C-4E4D-9D76-19BB228DB2B7}" destId="{85B39D33-4996-4878-A93E-F4A6681A406A}" srcOrd="14" destOrd="0" presId="urn:microsoft.com/office/officeart/2005/8/layout/cycle6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11/10/2025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296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00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11/10/2025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11/10/2025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11/10/2025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11/10/2025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11/10/2025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11/10/2025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11/10/2025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11/10/2025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11/10/2025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11/10/2025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11/10/2025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11/10/2025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11/10/2025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11/10/2025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11/10/2025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11/10/2025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11/10/2025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11/10/2025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11/10/2025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11/10/2025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11/10/2025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11/10/2025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11/10/2025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11/10/2025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11/10/2025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11/10/2025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SA" altLang="zh-CN" sz="4000" b="1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............................................. </a:t>
            </a:r>
            <a:endParaRPr lang="ar-SA" altLang="zh-CN" sz="4000" b="1" dirty="0">
              <a:solidFill>
                <a:srgbClr val="FF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u="sng" dirty="0" err="1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: </a:t>
            </a:r>
            <a:r>
              <a:rPr lang="ar-DZ" altLang="zh-CN" sz="40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11/10/2025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21065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r>
              <a:rPr lang="ar-DZ" sz="4800" b="1" dirty="0">
                <a:cs typeface="+mj-cs"/>
              </a:rPr>
              <a:t>يَـتـمَـيِّـزُ هـذا الـعـصـر </a:t>
            </a:r>
            <a:r>
              <a:rPr lang="ar-DZ" sz="4800" b="1" dirty="0" smtClean="0">
                <a:cs typeface="+mj-cs"/>
              </a:rPr>
              <a:t>بِـبُـرُوزِ </a:t>
            </a:r>
            <a:r>
              <a:rPr lang="ar-DZ" sz="4800" b="1" dirty="0">
                <a:cs typeface="+mj-cs"/>
              </a:rPr>
              <a:t>الـوسـائـل والـتــقــنــيــات الـرقــمــيــة الَّـتي تـغــزو جـمـيـع الـمـجـالات لاسِـيَّـمَـا عـنـد الـتـواصـل وتـبـادل </a:t>
            </a:r>
            <a:r>
              <a:rPr lang="ar-DZ" sz="4800" b="1" dirty="0" smtClean="0">
                <a:cs typeface="+mj-cs"/>
              </a:rPr>
              <a:t>الـمـلـفـات</a:t>
            </a:r>
            <a:r>
              <a:rPr lang="ar-DZ" sz="4800" b="1" dirty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( صـور، فـيـديــوهـات ... ) ، </a:t>
            </a:r>
            <a:r>
              <a:rPr lang="ar-DZ" sz="4800" b="1" dirty="0">
                <a:cs typeface="+mj-cs"/>
              </a:rPr>
              <a:t>فـمـا هـي أشـهــر تـلـك الـوســائــل والـتـقــنــيــات </a:t>
            </a:r>
            <a:r>
              <a:rPr lang="ar-DZ" sz="4800" b="1" dirty="0" smtClean="0">
                <a:cs typeface="+mj-cs"/>
              </a:rPr>
              <a:t>؟</a:t>
            </a: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/>
            <a:r>
              <a:rPr lang="ar-DZ" sz="4800" b="1" dirty="0">
                <a:cs typeface="+mj-cs"/>
              </a:rPr>
              <a:t>أشـهـر الـوسـائـل الـرقــمـيـة </a:t>
            </a:r>
            <a:r>
              <a:rPr lang="ar-DZ" sz="4800" b="1" dirty="0" smtClean="0">
                <a:cs typeface="+mj-cs"/>
              </a:rPr>
              <a:t>: </a:t>
            </a:r>
            <a:r>
              <a:rPr lang="ar-DZ" sz="4000" baseline="-25000" dirty="0" smtClean="0">
                <a:cs typeface="+mj-cs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 smtClean="0">
                <a:cs typeface="+mj-cs"/>
              </a:rPr>
              <a:t>  </a:t>
            </a:r>
            <a:r>
              <a:rPr lang="ar-DZ" sz="4800" dirty="0" smtClean="0">
                <a:cs typeface="+mj-cs"/>
              </a:rPr>
              <a:t>...</a:t>
            </a:r>
            <a:endParaRPr lang="fr-FR" sz="4800" dirty="0">
              <a:cs typeface="+mj-cs"/>
            </a:endParaRPr>
          </a:p>
          <a:p>
            <a:pPr lvl="0" algn="r" rtl="1"/>
            <a:r>
              <a:rPr lang="ar-DZ" sz="4800" b="1" dirty="0">
                <a:cs typeface="+mj-cs"/>
              </a:rPr>
              <a:t>أبــرز الـتـقــنــيــات الـرقــمــيــة : </a:t>
            </a:r>
            <a:endParaRPr lang="ar-DZ" sz="4800" b="1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4000" baseline="-25000" dirty="0" smtClean="0">
                <a:cs typeface="+mj-cs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 smtClean="0">
                <a:cs typeface="+mj-cs"/>
              </a:rPr>
              <a:t>  </a:t>
            </a:r>
            <a:endParaRPr lang="fr-FR" sz="4000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6681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/>
            <a:r>
              <a:rPr lang="ar-DZ" sz="4800" b="1" dirty="0">
                <a:cs typeface="+mj-cs"/>
              </a:rPr>
              <a:t>أشـهـر الـوسـائـل الـرقــمـيـة </a:t>
            </a:r>
            <a:r>
              <a:rPr lang="ar-DZ" sz="4800" b="1" dirty="0" smtClean="0">
                <a:cs typeface="+mj-cs"/>
              </a:rPr>
              <a:t>: </a:t>
            </a:r>
            <a:r>
              <a:rPr lang="ar-DZ" sz="4000" baseline="-25000" dirty="0" smtClean="0">
                <a:cs typeface="+mj-cs"/>
              </a:rPr>
              <a:t>......................................................................................................................</a:t>
            </a:r>
            <a:r>
              <a:rPr lang="ar-DZ" sz="4000" b="1" dirty="0" smtClean="0">
                <a:cs typeface="+mj-cs"/>
              </a:rPr>
              <a:t>  </a:t>
            </a:r>
            <a:endParaRPr lang="ar-DZ" sz="4800" dirty="0">
              <a:cs typeface="+mj-cs"/>
            </a:endParaRPr>
          </a:p>
          <a:p>
            <a:pPr lvl="0" algn="r" rtl="1"/>
            <a:endParaRPr lang="fr-FR" sz="4800" dirty="0" smtClean="0">
              <a:cs typeface="+mj-cs"/>
            </a:endParaRPr>
          </a:p>
          <a:p>
            <a:pPr lvl="0" algn="r" rtl="1"/>
            <a:r>
              <a:rPr lang="ar-DZ" sz="4800" b="1" dirty="0" smtClean="0">
                <a:cs typeface="+mj-cs"/>
              </a:rPr>
              <a:t>أبــرز الـتـقــنــيــات الـرقــمــيــة : </a:t>
            </a:r>
            <a:r>
              <a:rPr lang="ar-DZ" sz="2000" dirty="0" smtClean="0">
                <a:cs typeface="+mj-cs"/>
              </a:rPr>
              <a:t>..................................................................................................................................................................</a:t>
            </a:r>
            <a:endParaRPr lang="fr-FR" sz="2000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7408" y="2434335"/>
            <a:ext cx="10369152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3600" b="1" dirty="0">
                <a:solidFill>
                  <a:srgbClr val="0070C0"/>
                </a:solidFill>
                <a:cs typeface="+mj-cs"/>
              </a:rPr>
              <a:t>الـهـواتـف الـذكـيـة، الـحـواسـيـب، الـبـرمـجـيـات، الأنـتـرنـت ... إلـخ</a:t>
            </a:r>
            <a:endParaRPr lang="fr-FR" sz="3600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503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/>
            <a:r>
              <a:rPr lang="ar-DZ" sz="4800" b="1" dirty="0">
                <a:cs typeface="+mj-cs"/>
              </a:rPr>
              <a:t>أشـهـر الـوسـائـل الـرقــمـيـة </a:t>
            </a:r>
            <a:r>
              <a:rPr lang="ar-DZ" sz="4800" b="1" dirty="0" smtClean="0">
                <a:cs typeface="+mj-cs"/>
              </a:rPr>
              <a:t>: </a:t>
            </a:r>
            <a:r>
              <a:rPr lang="ar-DZ" sz="4000" baseline="-25000" dirty="0" smtClean="0">
                <a:cs typeface="+mj-cs"/>
              </a:rPr>
              <a:t>......................................................................................................................</a:t>
            </a:r>
            <a:r>
              <a:rPr lang="ar-DZ" sz="4000" b="1" dirty="0" smtClean="0">
                <a:cs typeface="+mj-cs"/>
              </a:rPr>
              <a:t>  </a:t>
            </a:r>
            <a:endParaRPr lang="ar-DZ" sz="4800" dirty="0">
              <a:cs typeface="+mj-cs"/>
            </a:endParaRPr>
          </a:p>
          <a:p>
            <a:pPr lvl="0" algn="r" rtl="1"/>
            <a:endParaRPr lang="fr-FR" sz="4800" dirty="0" smtClean="0">
              <a:cs typeface="+mj-cs"/>
            </a:endParaRPr>
          </a:p>
          <a:p>
            <a:pPr lvl="0" algn="r" rtl="1"/>
            <a:r>
              <a:rPr lang="ar-DZ" sz="4800" b="1" dirty="0" smtClean="0">
                <a:cs typeface="+mj-cs"/>
              </a:rPr>
              <a:t>أبــرز الـتـقــنــيــات الـرقــمــيــة : </a:t>
            </a:r>
            <a:r>
              <a:rPr lang="ar-DZ" sz="2000" dirty="0" smtClean="0">
                <a:cs typeface="+mj-cs"/>
              </a:rPr>
              <a:t>..................................................................................................................................................................</a:t>
            </a:r>
            <a:endParaRPr lang="fr-FR" sz="2000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7408" y="2434335"/>
            <a:ext cx="10369152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3600" b="1" dirty="0">
                <a:solidFill>
                  <a:srgbClr val="0070C0"/>
                </a:solidFill>
                <a:cs typeface="+mj-cs"/>
              </a:rPr>
              <a:t>الـهـواتـف الـذكـيـة، الـحـواسـيـب، الـبـرمـجـيـات، الأنـتـرنـت ... إلـخ</a:t>
            </a:r>
            <a:endParaRPr lang="fr-FR" sz="36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7408" y="4871504"/>
            <a:ext cx="10369152" cy="11521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تــقــنــيــة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الـمـعــلــومــات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( IT )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 Technique d'informations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3600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5839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SA" altLang="zh-CN" sz="4000" b="1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............................................. </a:t>
            </a:r>
            <a:endParaRPr lang="ar-SA" altLang="zh-CN" sz="4000" b="1" dirty="0">
              <a:solidFill>
                <a:srgbClr val="FF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u="sng" dirty="0" err="1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: </a:t>
            </a:r>
            <a:r>
              <a:rPr lang="ar-DZ" altLang="zh-CN" sz="40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11/10/2025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384854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20710"/>
            <a:ext cx="10693188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تــقــنــيــة الــمـــعــــلــــومــــات </a:t>
            </a:r>
            <a:endParaRPr lang="ar-SA" altLang="zh-CN" sz="4000" b="1" u="sng" dirty="0">
              <a:solidFill>
                <a:srgbClr val="FF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u="sng" dirty="0" err="1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11/10/2025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 smtClean="0">
                <a:solidFill>
                  <a:srgbClr val="FF0000"/>
                </a:solidFill>
                <a:cs typeface="+mj-cs"/>
              </a:rPr>
              <a:t>1) الـمـفـاهـيـم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الأوَّلِــيَّـة فـي تــقــنــيــة الـمـعــلــومــات </a:t>
            </a:r>
            <a:endParaRPr lang="fr-FR" sz="4800" i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4800" b="1" dirty="0">
                <a:cs typeface="+mj-cs"/>
              </a:rPr>
              <a:t>للحـصـول </a:t>
            </a:r>
            <a:r>
              <a:rPr lang="ar-DZ" sz="4800" b="1" dirty="0" smtClean="0">
                <a:cs typeface="+mj-cs"/>
              </a:rPr>
              <a:t>عـلى مـعـنى </a:t>
            </a:r>
            <a:r>
              <a:rPr lang="ar-DZ" sz="4800" b="1" dirty="0">
                <a:cs typeface="+mj-cs"/>
              </a:rPr>
              <a:t>صـحـيـح </a:t>
            </a:r>
            <a:r>
              <a:rPr lang="ar-DZ" sz="4800" b="1" dirty="0" smtClean="0">
                <a:cs typeface="+mj-cs"/>
              </a:rPr>
              <a:t>رَتِّـب </a:t>
            </a:r>
            <a:r>
              <a:rPr lang="ar-DZ" sz="4800" b="1" dirty="0">
                <a:cs typeface="+mj-cs"/>
              </a:rPr>
              <a:t>الـكـلـمـات الـتـالـيـة : </a:t>
            </a:r>
            <a:r>
              <a:rPr lang="ar-DZ" sz="4800" b="1" dirty="0" smtClean="0">
                <a:cs typeface="+mj-cs"/>
              </a:rPr>
              <a:t>« الـمـعـلـومـاتـيـة </a:t>
            </a:r>
            <a:r>
              <a:rPr lang="ar-DZ" sz="4800" b="1" dirty="0">
                <a:cs typeface="+mj-cs"/>
              </a:rPr>
              <a:t>– </a:t>
            </a:r>
            <a:r>
              <a:rPr lang="ar-DZ" sz="4800" b="1" dirty="0" smtClean="0"/>
              <a:t>فـي </a:t>
            </a:r>
            <a:r>
              <a:rPr lang="ar-DZ" sz="4800" b="1" dirty="0" smtClean="0">
                <a:cs typeface="+mj-cs"/>
              </a:rPr>
              <a:t>– </a:t>
            </a:r>
            <a:r>
              <a:rPr lang="ar-DZ" sz="4800" b="1" dirty="0"/>
              <a:t>الآن</a:t>
            </a:r>
            <a:r>
              <a:rPr lang="ar-DZ" sz="4800" b="1" dirty="0" smtClean="0">
                <a:cs typeface="+mj-cs"/>
              </a:rPr>
              <a:t> – </a:t>
            </a:r>
            <a:r>
              <a:rPr lang="ar-DZ" sz="4800" b="1" dirty="0" smtClean="0"/>
              <a:t>مــادة</a:t>
            </a:r>
            <a:r>
              <a:rPr lang="ar-DZ" sz="4800" b="1" dirty="0" smtClean="0">
                <a:cs typeface="+mj-cs"/>
              </a:rPr>
              <a:t> –</a:t>
            </a:r>
            <a:r>
              <a:rPr lang="ar-DZ" sz="4800" b="1" dirty="0"/>
              <a:t>نـحـن </a:t>
            </a:r>
            <a:r>
              <a:rPr lang="ar-DZ" sz="4800" b="1" dirty="0" smtClean="0">
                <a:cs typeface="+mj-cs"/>
              </a:rPr>
              <a:t>– </a:t>
            </a:r>
            <a:r>
              <a:rPr lang="ar-DZ" sz="4800" b="1" dirty="0" smtClean="0"/>
              <a:t>للـسـنـة </a:t>
            </a:r>
            <a:r>
              <a:rPr lang="ar-DZ" sz="4800" b="1" dirty="0" smtClean="0">
                <a:cs typeface="+mj-cs"/>
              </a:rPr>
              <a:t>– </a:t>
            </a:r>
            <a:r>
              <a:rPr lang="ar-DZ" sz="4800" b="1" dirty="0" smtClean="0"/>
              <a:t>درس </a:t>
            </a:r>
            <a:r>
              <a:rPr lang="ar-DZ" sz="4800" b="1" dirty="0" smtClean="0">
                <a:cs typeface="+mj-cs"/>
              </a:rPr>
              <a:t>– 2026 </a:t>
            </a:r>
            <a:r>
              <a:rPr lang="ar-DZ" sz="4800" b="1" dirty="0">
                <a:cs typeface="+mj-cs"/>
              </a:rPr>
              <a:t>– الـدراســيــة </a:t>
            </a:r>
            <a:r>
              <a:rPr lang="ar-DZ" sz="4800" b="1" dirty="0" smtClean="0">
                <a:cs typeface="+mj-cs"/>
              </a:rPr>
              <a:t>– </a:t>
            </a:r>
            <a:r>
              <a:rPr lang="ar-DZ" sz="4800" b="1" dirty="0">
                <a:cs typeface="+mj-cs"/>
              </a:rPr>
              <a:t>/  – </a:t>
            </a:r>
            <a:r>
              <a:rPr lang="ar-DZ" sz="4800" b="1" dirty="0" smtClean="0">
                <a:cs typeface="+mj-cs"/>
              </a:rPr>
              <a:t>2025 </a:t>
            </a:r>
            <a:r>
              <a:rPr lang="ar-DZ" sz="4800" b="1" dirty="0">
                <a:cs typeface="+mj-cs"/>
              </a:rPr>
              <a:t>» </a:t>
            </a:r>
            <a:endParaRPr lang="ar-DZ" sz="48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800" b="1" dirty="0" smtClean="0">
                <a:cs typeface="+mj-cs"/>
              </a:rPr>
              <a:t>ثُـمَ </a:t>
            </a:r>
            <a:r>
              <a:rPr lang="ar-DZ" sz="4800" b="1" dirty="0">
                <a:cs typeface="+mj-cs"/>
              </a:rPr>
              <a:t>بَـيِّـنْ الـفَــرْقَ </a:t>
            </a:r>
            <a:r>
              <a:rPr lang="ar-DZ" sz="4800" b="1" dirty="0" smtClean="0">
                <a:cs typeface="+mj-cs"/>
              </a:rPr>
              <a:t>بَــيْـن </a:t>
            </a:r>
            <a:r>
              <a:rPr lang="ar-DZ" sz="4800" b="1" dirty="0">
                <a:cs typeface="+mj-cs"/>
              </a:rPr>
              <a:t>الـبــيــانــات </a:t>
            </a:r>
            <a:r>
              <a:rPr lang="ar-DZ" sz="4800" b="1" dirty="0" smtClean="0">
                <a:cs typeface="+mj-cs"/>
              </a:rPr>
              <a:t>والـمــعــلــومــات </a:t>
            </a:r>
            <a:r>
              <a:rPr lang="ar-DZ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 smtClean="0">
                <a:solidFill>
                  <a:srgbClr val="FF0000"/>
                </a:solidFill>
                <a:cs typeface="+mj-cs"/>
              </a:rPr>
              <a:t>1) الـمـفـاهـيـم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الأوَّلِــيَّـة فـي تــقــنــيــة الـمـعــلــومــات </a:t>
            </a:r>
            <a:endParaRPr lang="fr-FR" sz="4800" i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4400" b="1" dirty="0">
                <a:cs typeface="+mj-cs"/>
              </a:rPr>
              <a:t>للحـصـول </a:t>
            </a:r>
            <a:r>
              <a:rPr lang="ar-DZ" sz="4400" b="1" dirty="0" smtClean="0">
                <a:cs typeface="+mj-cs"/>
              </a:rPr>
              <a:t>عـلى مـعـنى </a:t>
            </a:r>
            <a:r>
              <a:rPr lang="ar-DZ" sz="4400" b="1" dirty="0">
                <a:cs typeface="+mj-cs"/>
              </a:rPr>
              <a:t>صـحـيـح </a:t>
            </a:r>
            <a:r>
              <a:rPr lang="ar-DZ" sz="4400" b="1" dirty="0" smtClean="0">
                <a:cs typeface="+mj-cs"/>
              </a:rPr>
              <a:t>رَتِّـب </a:t>
            </a:r>
            <a:r>
              <a:rPr lang="ar-DZ" sz="4400" b="1" dirty="0">
                <a:cs typeface="+mj-cs"/>
              </a:rPr>
              <a:t>الـكـلـمـات الـتـالـيـة : «الـمـعـلـومـاتـيـة – </a:t>
            </a:r>
            <a:r>
              <a:rPr lang="ar-DZ" sz="4400" b="1" dirty="0" smtClean="0">
                <a:cs typeface="+mj-cs"/>
              </a:rPr>
              <a:t>فـي– </a:t>
            </a:r>
            <a:r>
              <a:rPr lang="ar-DZ" sz="4400" b="1" dirty="0">
                <a:cs typeface="+mj-cs"/>
              </a:rPr>
              <a:t>الآن – </a:t>
            </a:r>
            <a:r>
              <a:rPr lang="ar-DZ" sz="4400" b="1" dirty="0" smtClean="0">
                <a:cs typeface="+mj-cs"/>
              </a:rPr>
              <a:t>مـادة – نـحـن </a:t>
            </a:r>
            <a:r>
              <a:rPr lang="ar-DZ" sz="4400" b="1" dirty="0">
                <a:cs typeface="+mj-cs"/>
              </a:rPr>
              <a:t>– للـسـنـة – درس – </a:t>
            </a:r>
            <a:r>
              <a:rPr lang="ar-DZ" sz="4400" b="1" dirty="0" smtClean="0">
                <a:cs typeface="+mj-cs"/>
              </a:rPr>
              <a:t>2026 </a:t>
            </a:r>
            <a:r>
              <a:rPr lang="ar-DZ" sz="4400" b="1" dirty="0">
                <a:cs typeface="+mj-cs"/>
              </a:rPr>
              <a:t>– الـدراســيــة – /  – </a:t>
            </a:r>
            <a:r>
              <a:rPr lang="ar-DZ" sz="4400" b="1" dirty="0" smtClean="0">
                <a:cs typeface="+mj-cs"/>
              </a:rPr>
              <a:t>2025 </a:t>
            </a:r>
            <a:r>
              <a:rPr lang="ar-DZ" sz="4400" b="1" dirty="0">
                <a:cs typeface="+mj-cs"/>
              </a:rPr>
              <a:t>»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5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177800" indent="0" algn="just" rtl="1">
              <a:buNone/>
            </a:pPr>
            <a:r>
              <a:rPr lang="ar-DZ" sz="2800" b="1" dirty="0" smtClean="0">
                <a:cs typeface="+mj-cs"/>
              </a:rPr>
              <a:t>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6282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 smtClean="0">
                <a:solidFill>
                  <a:srgbClr val="FF0000"/>
                </a:solidFill>
                <a:cs typeface="+mj-cs"/>
              </a:rPr>
              <a:t>1) الـمـفـاهـيـم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الأوَّلِــيَّـة فـي تــقــنــيــة الـمـعــلــومــات </a:t>
            </a:r>
            <a:endParaRPr lang="fr-FR" sz="4800" i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4400" b="1" dirty="0">
                <a:cs typeface="+mj-cs"/>
              </a:rPr>
              <a:t>للحـصـول </a:t>
            </a:r>
            <a:r>
              <a:rPr lang="ar-DZ" sz="4400" b="1" dirty="0" smtClean="0">
                <a:cs typeface="+mj-cs"/>
              </a:rPr>
              <a:t>عـلى مـعـنى </a:t>
            </a:r>
            <a:r>
              <a:rPr lang="ar-DZ" sz="4400" b="1" dirty="0">
                <a:cs typeface="+mj-cs"/>
              </a:rPr>
              <a:t>صـحـيـح </a:t>
            </a:r>
            <a:r>
              <a:rPr lang="ar-DZ" sz="4400" b="1" dirty="0" smtClean="0">
                <a:cs typeface="+mj-cs"/>
              </a:rPr>
              <a:t>رَتِّـب </a:t>
            </a:r>
            <a:r>
              <a:rPr lang="ar-DZ" sz="4400" b="1" dirty="0">
                <a:cs typeface="+mj-cs"/>
              </a:rPr>
              <a:t>الـكـلـمـات الـتـالـيـة : «الـمـعـلـومـاتـيـة – </a:t>
            </a:r>
            <a:r>
              <a:rPr lang="ar-DZ" sz="4400" b="1" dirty="0" smtClean="0">
                <a:cs typeface="+mj-cs"/>
              </a:rPr>
              <a:t>فـي– </a:t>
            </a:r>
            <a:r>
              <a:rPr lang="ar-DZ" sz="4400" b="1" dirty="0">
                <a:cs typeface="+mj-cs"/>
              </a:rPr>
              <a:t>الآن – </a:t>
            </a:r>
            <a:r>
              <a:rPr lang="ar-DZ" sz="4400" b="1" dirty="0" smtClean="0">
                <a:cs typeface="+mj-cs"/>
              </a:rPr>
              <a:t>مـادة – نـحـن </a:t>
            </a:r>
            <a:r>
              <a:rPr lang="ar-DZ" sz="4400" b="1" dirty="0">
                <a:cs typeface="+mj-cs"/>
              </a:rPr>
              <a:t>– للـسـنـة – درس – </a:t>
            </a:r>
            <a:r>
              <a:rPr lang="ar-DZ" sz="4400" b="1" dirty="0" smtClean="0">
                <a:cs typeface="+mj-cs"/>
              </a:rPr>
              <a:t>2026 </a:t>
            </a:r>
            <a:r>
              <a:rPr lang="ar-DZ" sz="4400" b="1" dirty="0">
                <a:cs typeface="+mj-cs"/>
              </a:rPr>
              <a:t>– الـدراســيــة – /  – </a:t>
            </a:r>
            <a:r>
              <a:rPr lang="ar-DZ" sz="4400" b="1" dirty="0" smtClean="0">
                <a:cs typeface="+mj-cs"/>
              </a:rPr>
              <a:t>2025 </a:t>
            </a:r>
            <a:r>
              <a:rPr lang="ar-DZ" sz="4400" b="1" dirty="0">
                <a:cs typeface="+mj-cs"/>
              </a:rPr>
              <a:t>»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5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177800" indent="0" algn="just" rtl="1">
              <a:buNone/>
            </a:pPr>
            <a:r>
              <a:rPr lang="ar-DZ" sz="2800" b="1" dirty="0" smtClean="0">
                <a:cs typeface="+mj-cs"/>
              </a:rPr>
              <a:t>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6312" y="4531178"/>
            <a:ext cx="10369152" cy="16561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نـحـن الآن فـي درس مــادة الــمــعــلــومــاتــيــة للــســنــة الـدراســـيــة   2025 / 2026</a:t>
            </a:r>
            <a:endParaRPr lang="fr-FR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51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 smtClean="0">
                <a:cs typeface="+mj-cs"/>
              </a:rPr>
              <a:t>هـي </a:t>
            </a:r>
            <a:r>
              <a:rPr lang="ar-DZ" sz="4400" baseline="-25000" dirty="0" smtClean="0">
                <a:cs typeface="+mj-cs"/>
              </a:rPr>
              <a:t>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>
                <a:cs typeface="+mj-cs"/>
              </a:rPr>
              <a:t>( حـــروف، كــلــمــات، أرقــام، رمــوز أو صــور ) الَّـتِي يَـتِـمُّ </a:t>
            </a:r>
            <a:r>
              <a:rPr lang="ar-DZ" sz="4400" baseline="-25000" dirty="0" smtClean="0">
                <a:cs typeface="+mj-cs"/>
              </a:rPr>
              <a:t>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 smtClean="0">
                <a:cs typeface="+mj-cs"/>
              </a:rPr>
              <a:t> </a:t>
            </a:r>
            <a:r>
              <a:rPr lang="ar-SA" sz="4400" b="1" dirty="0">
                <a:cs typeface="+mj-cs"/>
              </a:rPr>
              <a:t>فـي هـيـئـة مُـحَــدَّدَة قــابــلـة </a:t>
            </a:r>
            <a:r>
              <a:rPr lang="ar-DZ" sz="4400" baseline="-25000" dirty="0" smtClean="0">
                <a:cs typeface="+mj-cs"/>
              </a:rPr>
              <a:t>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>
                <a:cs typeface="+mj-cs"/>
              </a:rPr>
              <a:t>مـن طـرف الـحــاســوب </a:t>
            </a:r>
            <a:endParaRPr lang="fr-FR" sz="4400" dirty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الـبــيــانــات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Données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9308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 smtClean="0">
                <a:cs typeface="+mj-cs"/>
              </a:rPr>
              <a:t>هـي </a:t>
            </a:r>
            <a:r>
              <a:rPr lang="ar-DZ" sz="4400" baseline="-25000" dirty="0" smtClean="0">
                <a:cs typeface="+mj-cs"/>
              </a:rPr>
              <a:t>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>
                <a:cs typeface="+mj-cs"/>
              </a:rPr>
              <a:t>( حـــروف، كــلــمــات، أرقــام، رمــوز أو صــور ) الَّـتِي يَـتِـمُّ </a:t>
            </a:r>
            <a:r>
              <a:rPr lang="ar-DZ" sz="4400" baseline="-25000" dirty="0" smtClean="0">
                <a:cs typeface="+mj-cs"/>
              </a:rPr>
              <a:t>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 smtClean="0">
                <a:cs typeface="+mj-cs"/>
              </a:rPr>
              <a:t> </a:t>
            </a:r>
            <a:r>
              <a:rPr lang="ar-SA" sz="4400" b="1" dirty="0">
                <a:cs typeface="+mj-cs"/>
              </a:rPr>
              <a:t>فـي هـيـئـة مُـحَــدَّدَة قــابــلـة </a:t>
            </a:r>
            <a:r>
              <a:rPr lang="ar-DZ" sz="4400" baseline="-25000" dirty="0" smtClean="0">
                <a:cs typeface="+mj-cs"/>
              </a:rPr>
              <a:t>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>
                <a:cs typeface="+mj-cs"/>
              </a:rPr>
              <a:t>مـن طـرف الـحــاســوب </a:t>
            </a:r>
            <a:endParaRPr lang="fr-FR" sz="4400" dirty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الـبــيــانــات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Données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60096" y="2576214"/>
            <a:ext cx="32403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الـقـيـم الأولـيـة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99656" y="3567577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تـمـثــيــلـهـا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03912" y="4606735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للـمــعــالــجــة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09399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 smtClean="0">
                <a:cs typeface="+mj-cs"/>
              </a:rPr>
              <a:t>هـي</a:t>
            </a:r>
            <a:r>
              <a:rPr lang="ar-DZ" sz="4400" b="1" dirty="0" smtClean="0">
                <a:cs typeface="+mj-cs"/>
              </a:rPr>
              <a:t> تـلـك</a:t>
            </a:r>
            <a:r>
              <a:rPr lang="ar-SA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 smtClean="0">
                <a:cs typeface="+mj-cs"/>
              </a:rPr>
              <a:t>الَّـتِي </a:t>
            </a:r>
            <a:r>
              <a:rPr lang="ar-DZ" sz="4400" b="1" dirty="0">
                <a:cs typeface="+mj-cs"/>
              </a:rPr>
              <a:t>تـمـت </a:t>
            </a:r>
            <a:r>
              <a:rPr lang="ar-DZ" sz="4400" baseline="-25000" dirty="0" smtClean="0">
                <a:cs typeface="+mj-cs"/>
              </a:rPr>
              <a:t>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 smtClean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بـحــيــث أصــبــحــت ذات </a:t>
            </a:r>
            <a:r>
              <a:rPr lang="ar-DZ" sz="4400" baseline="-25000" dirty="0" smtClean="0">
                <a:cs typeface="+mj-cs"/>
              </a:rPr>
              <a:t>............................</a:t>
            </a:r>
            <a:r>
              <a:rPr lang="ar-DZ" sz="4400" b="1" dirty="0" smtClean="0">
                <a:cs typeface="+mj-cs"/>
              </a:rPr>
              <a:t>  وبــاتــت مــرتــبــطــة بـ </a:t>
            </a:r>
            <a:r>
              <a:rPr lang="ar-DZ" sz="4400" baseline="-25000" dirty="0" smtClean="0">
                <a:cs typeface="+mj-cs"/>
              </a:rPr>
              <a:t>............................ </a:t>
            </a:r>
            <a:r>
              <a:rPr lang="ar-DZ" sz="4400" b="1" dirty="0" smtClean="0">
                <a:cs typeface="+mj-cs"/>
              </a:rPr>
              <a:t>مُـعَــيَّـنٍ</a:t>
            </a:r>
            <a:endParaRPr lang="fr-FR" sz="4400" dirty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</a:rPr>
              <a:t>الـمـعـلـومــات  </a:t>
            </a:r>
            <a:r>
              <a:rPr lang="fr-FR" sz="5400" b="1" dirty="0" smtClean="0">
                <a:solidFill>
                  <a:srgbClr val="00B050"/>
                </a:solidFill>
              </a:rPr>
              <a:t>Informations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4436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 smtClean="0">
                <a:cs typeface="+mj-cs"/>
              </a:rPr>
              <a:t>هـي</a:t>
            </a:r>
            <a:r>
              <a:rPr lang="ar-DZ" sz="4400" b="1" dirty="0" smtClean="0">
                <a:cs typeface="+mj-cs"/>
              </a:rPr>
              <a:t> تـلـك</a:t>
            </a:r>
            <a:r>
              <a:rPr lang="ar-SA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 smtClean="0">
                <a:cs typeface="+mj-cs"/>
              </a:rPr>
              <a:t>الَّـتِي </a:t>
            </a:r>
            <a:r>
              <a:rPr lang="ar-DZ" sz="4400" b="1" dirty="0">
                <a:cs typeface="+mj-cs"/>
              </a:rPr>
              <a:t>تـمـت </a:t>
            </a:r>
            <a:r>
              <a:rPr lang="ar-DZ" sz="4400" baseline="-25000" dirty="0" smtClean="0">
                <a:cs typeface="+mj-cs"/>
              </a:rPr>
              <a:t>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 smtClean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بـحــيــث أصــبــحــت ذات </a:t>
            </a:r>
            <a:r>
              <a:rPr lang="ar-DZ" sz="4400" baseline="-25000" dirty="0" smtClean="0">
                <a:cs typeface="+mj-cs"/>
              </a:rPr>
              <a:t>............................</a:t>
            </a:r>
            <a:r>
              <a:rPr lang="ar-DZ" sz="4400" b="1" dirty="0" smtClean="0">
                <a:cs typeface="+mj-cs"/>
              </a:rPr>
              <a:t>  وبــاتــت مــرتــبــطــة بـ </a:t>
            </a:r>
            <a:r>
              <a:rPr lang="ar-DZ" sz="4400" baseline="-25000" dirty="0" smtClean="0">
                <a:cs typeface="+mj-cs"/>
              </a:rPr>
              <a:t>............................ </a:t>
            </a:r>
            <a:r>
              <a:rPr lang="ar-DZ" sz="4400" b="1" dirty="0" smtClean="0">
                <a:cs typeface="+mj-cs"/>
              </a:rPr>
              <a:t>مُـعَــيَّـنٍ</a:t>
            </a:r>
            <a:endParaRPr lang="fr-FR" sz="4400" dirty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</a:rPr>
              <a:t>الـمـعـلـومــات  </a:t>
            </a:r>
            <a:r>
              <a:rPr lang="fr-FR" sz="5400" b="1" dirty="0" smtClean="0">
                <a:solidFill>
                  <a:srgbClr val="00B050"/>
                </a:solidFill>
              </a:rPr>
              <a:t>Informations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00056" y="2607899"/>
            <a:ext cx="2743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الـبــيــانــات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56656" y="3597962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مَــعْــنَـى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3760" y="2588403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مــعــالــجــتـهـا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94475" y="4620383"/>
            <a:ext cx="229639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سِــيَــاقٍ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861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</a:t>
            </a:r>
            <a:r>
              <a:rPr lang="ar-DZ" sz="4200" b="1" dirty="0">
                <a:solidFill>
                  <a:srgbClr val="FF0000"/>
                </a:solidFill>
              </a:rPr>
              <a:t>كــلــمــة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الـمـعـلـومـاتـيـة جــامــدة أم مُــشْــتَــقَــة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FF0000"/>
                </a:solidFill>
              </a:rPr>
              <a:t>Informati</a:t>
            </a:r>
            <a:r>
              <a:rPr lang="fr-FR" sz="4000" b="1" dirty="0">
                <a:solidFill>
                  <a:srgbClr val="FF0000"/>
                </a:solidFill>
              </a:rPr>
              <a:t>q</a:t>
            </a:r>
            <a:r>
              <a:rPr lang="fr-FR" sz="4000" b="1" dirty="0" smtClean="0">
                <a:solidFill>
                  <a:srgbClr val="FF0000"/>
                </a:solidFill>
              </a:rPr>
              <a:t>ue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</a:rPr>
              <a:t>الـمـعـلـومــاتــيــة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</p:cNvCxnSpPr>
          <p:nvPr/>
        </p:nvCxnSpPr>
        <p:spPr>
          <a:xfrm flipH="1">
            <a:off x="2592146" y="2278561"/>
            <a:ext cx="3439391" cy="904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</p:cNvCxnSpPr>
          <p:nvPr/>
        </p:nvCxnSpPr>
        <p:spPr>
          <a:xfrm>
            <a:off x="6031537" y="2278561"/>
            <a:ext cx="2426321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H="1" flipV="1">
            <a:off x="3603918" y="4475212"/>
            <a:ext cx="2276708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475212"/>
            <a:ext cx="2591530" cy="8577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74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</a:t>
            </a:r>
            <a:r>
              <a:rPr lang="ar-DZ" sz="4200" b="1" dirty="0">
                <a:solidFill>
                  <a:srgbClr val="FF0000"/>
                </a:solidFill>
              </a:rPr>
              <a:t>كــلــمــة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الـمـعـلـومـاتـيـة جــامــدة أم مُــشْــتَــقَــة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457858" y="2772313"/>
            <a:ext cx="25732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مـعـلـومـات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30666" y="4078323"/>
            <a:ext cx="25732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200" b="1" dirty="0" smtClean="0">
                <a:solidFill>
                  <a:srgbClr val="0070C0"/>
                </a:solidFill>
              </a:rPr>
              <a:t>Automatique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0666" y="2786417"/>
            <a:ext cx="1561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آلِــيَــة</a:t>
            </a:r>
            <a:endParaRPr lang="fr-FR" sz="44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FF0000"/>
                </a:solidFill>
              </a:rPr>
              <a:t>Informati</a:t>
            </a:r>
            <a:r>
              <a:rPr lang="fr-FR" sz="4000" b="1" dirty="0">
                <a:solidFill>
                  <a:srgbClr val="FF0000"/>
                </a:solidFill>
              </a:rPr>
              <a:t>q</a:t>
            </a:r>
            <a:r>
              <a:rPr lang="fr-FR" sz="4000" b="1" dirty="0" smtClean="0">
                <a:solidFill>
                  <a:srgbClr val="FF0000"/>
                </a:solidFill>
              </a:rPr>
              <a:t>ue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</a:rPr>
              <a:t>الـمـعـلـومــاتــيــة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457858" y="4139777"/>
            <a:ext cx="25732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200" b="1" dirty="0" smtClean="0">
                <a:solidFill>
                  <a:srgbClr val="0070C0"/>
                </a:solidFill>
              </a:rPr>
              <a:t>Information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  <a:endCxn id="8" idx="3"/>
          </p:cNvCxnSpPr>
          <p:nvPr/>
        </p:nvCxnSpPr>
        <p:spPr>
          <a:xfrm flipH="1">
            <a:off x="2592146" y="2278561"/>
            <a:ext cx="3439391" cy="904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2278561"/>
            <a:ext cx="2426321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>
            <a:endCxn id="7" idx="3"/>
          </p:cNvCxnSpPr>
          <p:nvPr/>
        </p:nvCxnSpPr>
        <p:spPr>
          <a:xfrm flipH="1" flipV="1">
            <a:off x="3603918" y="4475212"/>
            <a:ext cx="2276708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475212"/>
            <a:ext cx="2591530" cy="8577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06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3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الـمـعـلـومـاتــيـة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Informatique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كـلـمـة مُـشْـتَـقَـة مـن</a:t>
            </a:r>
            <a:r>
              <a:rPr lang="ar-DZ" sz="4000" baseline="-25000" dirty="0" smtClean="0">
                <a:cs typeface="+mj-cs"/>
              </a:rPr>
              <a:t>............................</a:t>
            </a:r>
            <a:r>
              <a:rPr lang="ar-DZ" sz="4000" b="1" dirty="0" smtClean="0">
                <a:cs typeface="+mj-cs"/>
              </a:rPr>
              <a:t>  و </a:t>
            </a:r>
            <a:r>
              <a:rPr lang="ar-DZ" sz="4000" baseline="-25000" dirty="0" smtClean="0">
                <a:cs typeface="+mj-cs"/>
              </a:rPr>
              <a:t>....................</a:t>
            </a:r>
            <a:r>
              <a:rPr lang="ar-DZ" sz="4000" b="1" dirty="0" smtClean="0">
                <a:cs typeface="+mj-cs"/>
              </a:rPr>
              <a:t> وتُـمَـثِّـلُ </a:t>
            </a:r>
            <a:r>
              <a:rPr lang="ar-DZ" sz="4000" b="1" dirty="0">
                <a:cs typeface="+mj-cs"/>
              </a:rPr>
              <a:t>الـعـلـم الَّـذِي يـسـمـح </a:t>
            </a:r>
            <a:r>
              <a:rPr lang="ar-DZ" sz="4000" b="1" dirty="0" smtClean="0">
                <a:cs typeface="+mj-cs"/>
              </a:rPr>
              <a:t>بـ</a:t>
            </a:r>
            <a:r>
              <a:rPr lang="ar-DZ" sz="4000" baseline="-25000" dirty="0" smtClean="0">
                <a:cs typeface="+mj-cs"/>
              </a:rPr>
              <a:t> ...........................</a:t>
            </a:r>
            <a:r>
              <a:rPr lang="ar-DZ" sz="4000" b="1" dirty="0" smtClean="0">
                <a:cs typeface="+mj-cs"/>
              </a:rPr>
              <a:t> الـمــعــلــومــات بـطــريــقــة </a:t>
            </a:r>
            <a:r>
              <a:rPr lang="ar-DZ" sz="4000" baseline="-25000" dirty="0" smtClean="0">
                <a:cs typeface="+mj-cs"/>
              </a:rPr>
              <a:t>............................ </a:t>
            </a:r>
            <a:r>
              <a:rPr lang="ar-DZ" sz="4000" b="1" dirty="0">
                <a:cs typeface="+mj-cs"/>
              </a:rPr>
              <a:t>وذلـك باســتـخــدام </a:t>
            </a:r>
            <a:r>
              <a:rPr lang="ar-DZ" sz="4000" b="1" dirty="0" smtClean="0">
                <a:cs typeface="+mj-cs"/>
              </a:rPr>
              <a:t>:</a:t>
            </a:r>
            <a:endParaRPr lang="fr-FR" sz="4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................................................................................................................</a:t>
            </a:r>
            <a:endParaRPr lang="fr-FR" sz="4000" dirty="0">
              <a:cs typeface="+mj-cs"/>
            </a:endParaRPr>
          </a:p>
          <a:p>
            <a:pPr marL="0" indent="0" algn="just" rtl="1">
              <a:buNone/>
            </a:pP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5827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3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الـمـعـلـومـاتــيـة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Informatique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كـلـمـة مُـشْـتَـقَـة مـن</a:t>
            </a:r>
            <a:r>
              <a:rPr lang="ar-DZ" sz="4000" baseline="-25000" dirty="0" smtClean="0">
                <a:cs typeface="+mj-cs"/>
              </a:rPr>
              <a:t>............................</a:t>
            </a:r>
            <a:r>
              <a:rPr lang="ar-DZ" sz="4000" b="1" dirty="0" smtClean="0">
                <a:cs typeface="+mj-cs"/>
              </a:rPr>
              <a:t>  و </a:t>
            </a:r>
            <a:r>
              <a:rPr lang="ar-DZ" sz="4000" baseline="-25000" dirty="0" smtClean="0">
                <a:cs typeface="+mj-cs"/>
              </a:rPr>
              <a:t>....................</a:t>
            </a:r>
            <a:r>
              <a:rPr lang="ar-DZ" sz="4000" b="1" dirty="0" smtClean="0">
                <a:cs typeface="+mj-cs"/>
              </a:rPr>
              <a:t> وتُـمَـثِّـلُ </a:t>
            </a:r>
            <a:r>
              <a:rPr lang="ar-DZ" sz="4000" b="1" dirty="0">
                <a:cs typeface="+mj-cs"/>
              </a:rPr>
              <a:t>الـعـلـم الَّـذِي يـسـمـح </a:t>
            </a:r>
            <a:r>
              <a:rPr lang="ar-DZ" sz="4000" b="1" dirty="0" smtClean="0">
                <a:cs typeface="+mj-cs"/>
              </a:rPr>
              <a:t>بـ</a:t>
            </a:r>
            <a:r>
              <a:rPr lang="ar-DZ" sz="4000" baseline="-25000" dirty="0" smtClean="0">
                <a:cs typeface="+mj-cs"/>
              </a:rPr>
              <a:t> ...........................</a:t>
            </a:r>
            <a:r>
              <a:rPr lang="ar-DZ" sz="4000" b="1" dirty="0" smtClean="0">
                <a:cs typeface="+mj-cs"/>
              </a:rPr>
              <a:t> الـمــعــلــومــات بـطــريــقــة </a:t>
            </a:r>
            <a:r>
              <a:rPr lang="ar-DZ" sz="4000" baseline="-25000" dirty="0" smtClean="0">
                <a:cs typeface="+mj-cs"/>
              </a:rPr>
              <a:t>............................ </a:t>
            </a:r>
            <a:r>
              <a:rPr lang="ar-DZ" sz="4000" b="1" dirty="0">
                <a:cs typeface="+mj-cs"/>
              </a:rPr>
              <a:t>وذلـك باســتـخــدام </a:t>
            </a:r>
            <a:r>
              <a:rPr lang="ar-DZ" sz="4000" b="1" dirty="0" smtClean="0"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................................................................................................................</a:t>
            </a:r>
            <a:endParaRPr lang="fr-FR" sz="4000" dirty="0">
              <a:cs typeface="+mj-cs"/>
            </a:endParaRPr>
          </a:p>
          <a:p>
            <a:pPr marL="0" indent="0" algn="just" rtl="1">
              <a:buNone/>
            </a:pP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19936" y="1601505"/>
            <a:ext cx="234455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مـعـلـومـات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8621" y="1601504"/>
            <a:ext cx="1561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آلِــيَــة</a:t>
            </a:r>
            <a:endParaRPr lang="fr-FR" sz="4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952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3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الـمـعـلـومـاتــيـة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Informatique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كـلـمـة مُـشْـتَـقَـة مـن</a:t>
            </a:r>
            <a:r>
              <a:rPr lang="ar-DZ" sz="4000" baseline="-25000" dirty="0" smtClean="0">
                <a:cs typeface="+mj-cs"/>
              </a:rPr>
              <a:t>............................</a:t>
            </a:r>
            <a:r>
              <a:rPr lang="ar-DZ" sz="4000" b="1" dirty="0" smtClean="0">
                <a:cs typeface="+mj-cs"/>
              </a:rPr>
              <a:t>  و </a:t>
            </a:r>
            <a:r>
              <a:rPr lang="ar-DZ" sz="4000" baseline="-25000" dirty="0" smtClean="0">
                <a:cs typeface="+mj-cs"/>
              </a:rPr>
              <a:t>....................</a:t>
            </a:r>
            <a:r>
              <a:rPr lang="ar-DZ" sz="4000" b="1" dirty="0" smtClean="0">
                <a:cs typeface="+mj-cs"/>
              </a:rPr>
              <a:t> وتُـمَـثِّـلُ </a:t>
            </a:r>
            <a:r>
              <a:rPr lang="ar-DZ" sz="4000" b="1" dirty="0">
                <a:cs typeface="+mj-cs"/>
              </a:rPr>
              <a:t>الـعـلـم الَّـذِي يـسـمـح </a:t>
            </a:r>
            <a:r>
              <a:rPr lang="ar-DZ" sz="4000" b="1" dirty="0" smtClean="0">
                <a:cs typeface="+mj-cs"/>
              </a:rPr>
              <a:t>بـ</a:t>
            </a:r>
            <a:r>
              <a:rPr lang="ar-DZ" sz="4000" baseline="-25000" dirty="0" smtClean="0">
                <a:cs typeface="+mj-cs"/>
              </a:rPr>
              <a:t> ...........................</a:t>
            </a:r>
            <a:r>
              <a:rPr lang="ar-DZ" sz="4000" b="1" dirty="0" smtClean="0">
                <a:cs typeface="+mj-cs"/>
              </a:rPr>
              <a:t> الـمــعــلــومــات بـطــريــقــة </a:t>
            </a:r>
            <a:r>
              <a:rPr lang="ar-DZ" sz="4000" baseline="-25000" dirty="0" smtClean="0">
                <a:cs typeface="+mj-cs"/>
              </a:rPr>
              <a:t>............................ </a:t>
            </a:r>
            <a:r>
              <a:rPr lang="ar-DZ" sz="4000" b="1" dirty="0">
                <a:cs typeface="+mj-cs"/>
              </a:rPr>
              <a:t>وذلـك باســتـخــدام </a:t>
            </a:r>
            <a:r>
              <a:rPr lang="ar-DZ" sz="4000" b="1" dirty="0" smtClean="0"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................................................................................................................</a:t>
            </a:r>
            <a:endParaRPr lang="fr-FR" sz="4000" dirty="0">
              <a:cs typeface="+mj-cs"/>
            </a:endParaRPr>
          </a:p>
          <a:p>
            <a:pPr marL="0" indent="0" algn="just" rtl="1">
              <a:buNone/>
            </a:pP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19936" y="1601505"/>
            <a:ext cx="234455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مـعـلـومـات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07968" y="2523748"/>
            <a:ext cx="23017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مـعــالـجـة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8621" y="1601504"/>
            <a:ext cx="1561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آلِــيَــة</a:t>
            </a:r>
            <a:endParaRPr lang="fr-FR" sz="4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247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3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الـمـعـلـومـاتــيـة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Informatique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كـلـمـة مُـشْـتَـقَـة مـن</a:t>
            </a:r>
            <a:r>
              <a:rPr lang="ar-DZ" sz="4000" baseline="-25000" dirty="0" smtClean="0">
                <a:cs typeface="+mj-cs"/>
              </a:rPr>
              <a:t>............................</a:t>
            </a:r>
            <a:r>
              <a:rPr lang="ar-DZ" sz="4000" b="1" dirty="0" smtClean="0">
                <a:cs typeface="+mj-cs"/>
              </a:rPr>
              <a:t>  و </a:t>
            </a:r>
            <a:r>
              <a:rPr lang="ar-DZ" sz="4000" baseline="-25000" dirty="0" smtClean="0">
                <a:cs typeface="+mj-cs"/>
              </a:rPr>
              <a:t>....................</a:t>
            </a:r>
            <a:r>
              <a:rPr lang="ar-DZ" sz="4000" b="1" dirty="0" smtClean="0">
                <a:cs typeface="+mj-cs"/>
              </a:rPr>
              <a:t> وتُـمَـثِّـلُ </a:t>
            </a:r>
            <a:r>
              <a:rPr lang="ar-DZ" sz="4000" b="1" dirty="0">
                <a:cs typeface="+mj-cs"/>
              </a:rPr>
              <a:t>الـعـلـم الَّـذِي يـسـمـح </a:t>
            </a:r>
            <a:r>
              <a:rPr lang="ar-DZ" sz="4000" b="1" dirty="0" smtClean="0">
                <a:cs typeface="+mj-cs"/>
              </a:rPr>
              <a:t>بـ</a:t>
            </a:r>
            <a:r>
              <a:rPr lang="ar-DZ" sz="4000" baseline="-25000" dirty="0" smtClean="0">
                <a:cs typeface="+mj-cs"/>
              </a:rPr>
              <a:t> ...........................</a:t>
            </a:r>
            <a:r>
              <a:rPr lang="ar-DZ" sz="4000" b="1" dirty="0" smtClean="0">
                <a:cs typeface="+mj-cs"/>
              </a:rPr>
              <a:t> الـمــعــلــومــات بـطــريــقــة </a:t>
            </a:r>
            <a:r>
              <a:rPr lang="ar-DZ" sz="4000" baseline="-25000" dirty="0" smtClean="0">
                <a:cs typeface="+mj-cs"/>
              </a:rPr>
              <a:t>............................ </a:t>
            </a:r>
            <a:r>
              <a:rPr lang="ar-DZ" sz="4000" b="1" dirty="0">
                <a:cs typeface="+mj-cs"/>
              </a:rPr>
              <a:t>وذلـك باســتـخــدام </a:t>
            </a:r>
            <a:r>
              <a:rPr lang="ar-DZ" sz="4000" b="1" dirty="0" smtClean="0"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................................................................................................................</a:t>
            </a:r>
            <a:endParaRPr lang="fr-FR" sz="4000" dirty="0">
              <a:cs typeface="+mj-cs"/>
            </a:endParaRPr>
          </a:p>
          <a:p>
            <a:pPr marL="0" indent="0" algn="just" rtl="1">
              <a:buNone/>
            </a:pP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19936" y="1601505"/>
            <a:ext cx="234455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مـعـلـومـات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07968" y="2523748"/>
            <a:ext cx="23017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مـعــالـجـة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8621" y="1601504"/>
            <a:ext cx="1561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آلِــيَــة</a:t>
            </a:r>
            <a:endParaRPr lang="fr-FR" sz="44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264352" y="3442308"/>
            <a:ext cx="1561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آلِــيَــة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9241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  <p:bldP spid="7" grpId="0" animBg="1"/>
      <p:bldP spid="8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3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الـمـعـلـومـاتــيـة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Informatique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كـلـمـة مُـشْـتَـقَـة مـن</a:t>
            </a:r>
            <a:r>
              <a:rPr lang="ar-DZ" sz="4000" baseline="-25000" dirty="0" smtClean="0">
                <a:cs typeface="+mj-cs"/>
              </a:rPr>
              <a:t>............................</a:t>
            </a:r>
            <a:r>
              <a:rPr lang="ar-DZ" sz="4000" b="1" dirty="0" smtClean="0">
                <a:cs typeface="+mj-cs"/>
              </a:rPr>
              <a:t>  و </a:t>
            </a:r>
            <a:r>
              <a:rPr lang="ar-DZ" sz="4000" baseline="-25000" dirty="0" smtClean="0">
                <a:cs typeface="+mj-cs"/>
              </a:rPr>
              <a:t>....................</a:t>
            </a:r>
            <a:r>
              <a:rPr lang="ar-DZ" sz="4000" b="1" dirty="0" smtClean="0">
                <a:cs typeface="+mj-cs"/>
              </a:rPr>
              <a:t> وتُـمَـثِّـلُ </a:t>
            </a:r>
            <a:r>
              <a:rPr lang="ar-DZ" sz="4000" b="1" dirty="0">
                <a:cs typeface="+mj-cs"/>
              </a:rPr>
              <a:t>الـعـلـم الَّـذِي يـسـمـح </a:t>
            </a:r>
            <a:r>
              <a:rPr lang="ar-DZ" sz="4000" b="1" dirty="0" smtClean="0">
                <a:cs typeface="+mj-cs"/>
              </a:rPr>
              <a:t>بـ</a:t>
            </a:r>
            <a:r>
              <a:rPr lang="ar-DZ" sz="4000" baseline="-25000" dirty="0" smtClean="0">
                <a:cs typeface="+mj-cs"/>
              </a:rPr>
              <a:t> ...........................</a:t>
            </a:r>
            <a:r>
              <a:rPr lang="ar-DZ" sz="4000" b="1" dirty="0" smtClean="0">
                <a:cs typeface="+mj-cs"/>
              </a:rPr>
              <a:t> الـمــعــلــومــات بـطــريــقــة </a:t>
            </a:r>
            <a:r>
              <a:rPr lang="ar-DZ" sz="4000" baseline="-25000" dirty="0" smtClean="0">
                <a:cs typeface="+mj-cs"/>
              </a:rPr>
              <a:t>............................ </a:t>
            </a:r>
            <a:r>
              <a:rPr lang="ar-DZ" sz="4000" b="1" dirty="0">
                <a:cs typeface="+mj-cs"/>
              </a:rPr>
              <a:t>وذلـك باســتـخــدام </a:t>
            </a:r>
            <a:r>
              <a:rPr lang="ar-DZ" sz="4000" b="1" dirty="0" smtClean="0"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................................................................................................................</a:t>
            </a:r>
            <a:endParaRPr lang="fr-FR" sz="4000" dirty="0">
              <a:cs typeface="+mj-cs"/>
            </a:endParaRPr>
          </a:p>
          <a:p>
            <a:pPr marL="0" indent="0" algn="just" rtl="1">
              <a:buNone/>
            </a:pP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19936" y="1601505"/>
            <a:ext cx="234455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مـعـلـومـات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07968" y="2523748"/>
            <a:ext cx="23017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مـعــالـجـة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8621" y="1601504"/>
            <a:ext cx="1561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آلِــيَــة</a:t>
            </a:r>
            <a:endParaRPr lang="fr-FR" sz="44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264352" y="3442308"/>
            <a:ext cx="1561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آلِــيَــة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0666" y="4553746"/>
            <a:ext cx="10000444" cy="10354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أجــهــزة الـحــاســوب  </a:t>
            </a:r>
            <a:r>
              <a:rPr lang="fr-FR" sz="3000" b="1" dirty="0" smtClean="0">
                <a:solidFill>
                  <a:schemeClr val="tx1"/>
                </a:solidFill>
                <a:cs typeface="+mj-cs"/>
              </a:rPr>
              <a:t>Hardware</a:t>
            </a:r>
            <a:r>
              <a:rPr lang="ar-DZ" sz="2800" b="1" dirty="0" smtClean="0">
                <a:solidFill>
                  <a:schemeClr val="tx1"/>
                </a:solidFill>
                <a:cs typeface="+mj-cs"/>
              </a:rPr>
              <a:t>       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الـبــرامــج  </a:t>
            </a:r>
            <a:r>
              <a:rPr lang="fr-FR" sz="3000" b="1" dirty="0" smtClean="0">
                <a:solidFill>
                  <a:schemeClr val="tx1"/>
                </a:solidFill>
                <a:cs typeface="+mj-cs"/>
              </a:rPr>
              <a:t>Software</a:t>
            </a:r>
            <a:endParaRPr lang="fr-FR" sz="3000" b="1" dirty="0">
              <a:solidFill>
                <a:schemeClr val="tx1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3462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  <p:bldP spid="7" grpId="0" animBg="1"/>
      <p:bldP spid="8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نـشــاط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- </a:t>
            </a:r>
            <a:r>
              <a:rPr lang="ar-DZ" sz="5400" b="1" dirty="0">
                <a:cs typeface="+mj-cs"/>
              </a:rPr>
              <a:t>حَــلِّــلْ </a:t>
            </a:r>
            <a:r>
              <a:rPr lang="ar-DZ" sz="5400" b="1" dirty="0" smtClean="0">
                <a:cs typeface="+mj-cs"/>
              </a:rPr>
              <a:t>الـعِــبَــارَةَ الـتــالــيــة </a:t>
            </a:r>
            <a:r>
              <a:rPr lang="ar-DZ" sz="3600" b="1" dirty="0" smtClean="0">
                <a:cs typeface="+mj-cs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500"/>
              </a:lnSpc>
              <a:buNone/>
            </a:pPr>
            <a:r>
              <a:rPr lang="ar-DZ" sz="5000" b="1" dirty="0" smtClean="0">
                <a:cs typeface="+mj-cs"/>
              </a:rPr>
              <a:t> </a:t>
            </a:r>
            <a:r>
              <a:rPr lang="ar-DZ" sz="5000" b="1" dirty="0">
                <a:cs typeface="+mj-cs"/>
              </a:rPr>
              <a:t>« </a:t>
            </a:r>
            <a:r>
              <a:rPr lang="ar-DZ" sz="5000" b="1" u="dbl" dirty="0">
                <a:solidFill>
                  <a:srgbClr val="FF0000"/>
                </a:solidFill>
                <a:cs typeface="+mj-cs"/>
              </a:rPr>
              <a:t>تــقــنــيـة</a:t>
            </a:r>
            <a:r>
              <a:rPr lang="ar-DZ" sz="5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5000" b="1" dirty="0">
                <a:cs typeface="+mj-cs"/>
              </a:rPr>
              <a:t>تـجــمــيــع الـحــاســوب والاســتـغــلال </a:t>
            </a:r>
            <a:r>
              <a:rPr lang="ar-DZ" sz="5000" b="1" dirty="0" smtClean="0">
                <a:cs typeface="+mj-cs"/>
              </a:rPr>
              <a:t>الأَمْــثَــل لِـهــذَا الـجـهــاز </a:t>
            </a:r>
            <a:r>
              <a:rPr lang="ar-DZ" sz="5000" b="1" dirty="0">
                <a:cs typeface="+mj-cs"/>
              </a:rPr>
              <a:t>يَـفْـتَـحُ </a:t>
            </a:r>
            <a:r>
              <a:rPr lang="ar-DZ" sz="5000" b="1" dirty="0" smtClean="0">
                <a:cs typeface="+mj-cs"/>
              </a:rPr>
              <a:t>للـطــالــب آفَــاقًــا واسـعـة لِلْـوُلُـوجِ </a:t>
            </a:r>
            <a:r>
              <a:rPr lang="ar-DZ" sz="5000" b="1" dirty="0">
                <a:cs typeface="+mj-cs"/>
              </a:rPr>
              <a:t>إِلَـى </a:t>
            </a:r>
            <a:r>
              <a:rPr lang="ar-DZ" sz="5000" b="1" u="dbl" dirty="0" smtClean="0">
                <a:solidFill>
                  <a:srgbClr val="FF0000"/>
                </a:solidFill>
                <a:cs typeface="+mj-cs"/>
              </a:rPr>
              <a:t>الـتـكـنـولـوجـيـات</a:t>
            </a:r>
            <a:r>
              <a:rPr lang="ar-DZ" sz="5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5000" b="1" dirty="0" smtClean="0">
                <a:cs typeface="+mj-cs"/>
              </a:rPr>
              <a:t>الـحَـدِيـثَـة »</a:t>
            </a:r>
          </a:p>
          <a:p>
            <a:pPr marL="0" indent="0" algn="just" rtl="1">
              <a:buNone/>
            </a:pPr>
            <a:endParaRPr lang="ar-DZ" sz="1200" b="1" dirty="0">
              <a:cs typeface="+mj-cs"/>
            </a:endParaRPr>
          </a:p>
          <a:p>
            <a:pPr marL="0" indent="0" algn="just" rtl="1">
              <a:lnSpc>
                <a:spcPts val="6800"/>
              </a:lnSpc>
              <a:buNone/>
            </a:pPr>
            <a:r>
              <a:rPr lang="ar-DZ" sz="5000" b="1" dirty="0" smtClean="0">
                <a:cs typeface="+mj-cs"/>
              </a:rPr>
              <a:t> </a:t>
            </a:r>
            <a:r>
              <a:rPr lang="ar-DZ" sz="5000" b="1" dirty="0">
                <a:cs typeface="+mj-cs"/>
              </a:rPr>
              <a:t>ثُــمَ عَـــرِّفْ الـتــقــنــيــة </a:t>
            </a:r>
            <a:r>
              <a:rPr lang="ar-DZ" sz="5000" b="1" dirty="0" smtClean="0">
                <a:cs typeface="+mj-cs"/>
              </a:rPr>
              <a:t>والــتـكــنـولـوجــيــا</a:t>
            </a:r>
            <a:r>
              <a:rPr lang="ar-DZ" sz="3600" b="1" dirty="0" smtClean="0">
                <a:cs typeface="+mj-cs"/>
              </a:rPr>
              <a:t>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9371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300"/>
              </a:lnSpc>
              <a:buNone/>
            </a:pPr>
            <a:r>
              <a:rPr lang="ar-SA" sz="4400" b="1" dirty="0" smtClean="0">
                <a:cs typeface="+mj-cs"/>
              </a:rPr>
              <a:t>هـي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مـجـمـوعـة مـن </a:t>
            </a:r>
            <a:r>
              <a:rPr lang="ar-DZ" sz="4400" baseline="-25000" dirty="0" smtClean="0">
                <a:cs typeface="+mj-cs"/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الـقــائــمـة </a:t>
            </a:r>
            <a:r>
              <a:rPr lang="ar-DZ" sz="4400" b="1" dirty="0"/>
              <a:t>عـلى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والَّـتِي نَـتَّـبِـعُـهَـا عـنـد </a:t>
            </a:r>
            <a:r>
              <a:rPr lang="ar-DZ" sz="4400" b="1" dirty="0" smtClean="0"/>
              <a:t>إنـجــاز </a:t>
            </a:r>
            <a:r>
              <a:rPr lang="ar-DZ" sz="4400" baseline="-25000" dirty="0" smtClean="0">
                <a:cs typeface="+mj-cs"/>
              </a:rPr>
              <a:t>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مُـعَــيَّـنٍ </a:t>
            </a:r>
            <a:r>
              <a:rPr lang="ar-DZ" sz="4400" b="1" dirty="0"/>
              <a:t>وذلـك يـقـتـضي اسـتـغــلال </a:t>
            </a:r>
            <a:r>
              <a:rPr lang="ar-DZ" sz="4400" baseline="-25000" dirty="0" smtClean="0">
                <a:cs typeface="+mj-cs"/>
              </a:rPr>
              <a:t>...................................... </a:t>
            </a:r>
            <a:r>
              <a:rPr lang="ar-DZ" sz="4400" b="1" dirty="0"/>
              <a:t>مُـحَــدَّدَة 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الـتـقــنــيــة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Technique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4478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300"/>
              </a:lnSpc>
              <a:buNone/>
            </a:pPr>
            <a:r>
              <a:rPr lang="ar-SA" sz="4400" b="1" dirty="0" smtClean="0">
                <a:cs typeface="+mj-cs"/>
              </a:rPr>
              <a:t>هـي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مـجـمـوعـة مـن </a:t>
            </a:r>
            <a:r>
              <a:rPr lang="ar-DZ" sz="4400" baseline="-25000" dirty="0" smtClean="0">
                <a:cs typeface="+mj-cs"/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الـقــائــمـة </a:t>
            </a:r>
            <a:r>
              <a:rPr lang="ar-DZ" sz="4400" b="1" dirty="0"/>
              <a:t>عـلى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والَّـتِي نَـتَّـبِـعُـهَـا عـنـد </a:t>
            </a:r>
            <a:r>
              <a:rPr lang="ar-DZ" sz="4400" b="1" dirty="0" smtClean="0"/>
              <a:t>إنـجــاز </a:t>
            </a:r>
            <a:r>
              <a:rPr lang="ar-DZ" sz="4400" baseline="-25000" dirty="0" smtClean="0">
                <a:cs typeface="+mj-cs"/>
              </a:rPr>
              <a:t>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مُـعَــيَّـنٍ </a:t>
            </a:r>
            <a:r>
              <a:rPr lang="ar-DZ" sz="4400" b="1" dirty="0"/>
              <a:t>وذلـك يـقـتـضي اسـتـغــلال </a:t>
            </a:r>
            <a:r>
              <a:rPr lang="ar-DZ" sz="4400" baseline="-25000" dirty="0" smtClean="0">
                <a:cs typeface="+mj-cs"/>
              </a:rPr>
              <a:t>...................................... </a:t>
            </a:r>
            <a:r>
              <a:rPr lang="ar-DZ" sz="4400" b="1" dirty="0"/>
              <a:t>مُـحَــدَّدَة 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الـتـقــنــيــة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Technique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79776" y="2535103"/>
            <a:ext cx="2743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الـعــمــلـيــات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0056" y="3456978"/>
            <a:ext cx="46295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الـعــلــم والـمــعـــرفـــة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68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300"/>
              </a:lnSpc>
              <a:buNone/>
            </a:pPr>
            <a:r>
              <a:rPr lang="ar-SA" sz="4400" b="1" dirty="0" smtClean="0">
                <a:cs typeface="+mj-cs"/>
              </a:rPr>
              <a:t>هـي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مـجـمـوعـة مـن </a:t>
            </a:r>
            <a:r>
              <a:rPr lang="ar-DZ" sz="4400" baseline="-25000" dirty="0" smtClean="0">
                <a:cs typeface="+mj-cs"/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الـقــائــمـة </a:t>
            </a:r>
            <a:r>
              <a:rPr lang="ar-DZ" sz="4400" b="1" dirty="0"/>
              <a:t>عـلى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والَّـتِي نَـتَّـبِـعُـهَـا عـنـد </a:t>
            </a:r>
            <a:r>
              <a:rPr lang="ar-DZ" sz="4400" b="1" dirty="0" smtClean="0"/>
              <a:t>إنـجــاز </a:t>
            </a:r>
            <a:r>
              <a:rPr lang="ar-DZ" sz="4400" baseline="-25000" dirty="0" smtClean="0">
                <a:cs typeface="+mj-cs"/>
              </a:rPr>
              <a:t>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مُـعَــيَّـنٍ </a:t>
            </a:r>
            <a:r>
              <a:rPr lang="ar-DZ" sz="4400" b="1" dirty="0"/>
              <a:t>وذلـك يـقـتـضي اسـتـغــلال </a:t>
            </a:r>
            <a:r>
              <a:rPr lang="ar-DZ" sz="4400" baseline="-25000" dirty="0" smtClean="0">
                <a:cs typeface="+mj-cs"/>
              </a:rPr>
              <a:t>...................................... </a:t>
            </a:r>
            <a:r>
              <a:rPr lang="ar-DZ" sz="4400" b="1" dirty="0"/>
              <a:t>مُـحَــدَّدَة 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الـتـقــنــيــة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Technique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79776" y="2535103"/>
            <a:ext cx="2743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الـعــمــلـيــات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0056" y="3456978"/>
            <a:ext cx="46295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الـعــلــم والـمــعـــرفـــة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8168" y="4406414"/>
            <a:ext cx="36214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عــمــل أو نـشــاط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29071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  <p:bldP spid="6" grpId="0" animBg="1"/>
      <p:bldP spid="7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300"/>
              </a:lnSpc>
              <a:buNone/>
            </a:pPr>
            <a:r>
              <a:rPr lang="ar-SA" sz="4400" b="1" dirty="0" smtClean="0">
                <a:cs typeface="+mj-cs"/>
              </a:rPr>
              <a:t>هـي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مـجـمـوعـة مـن </a:t>
            </a:r>
            <a:r>
              <a:rPr lang="ar-DZ" sz="4400" baseline="-25000" dirty="0" smtClean="0">
                <a:cs typeface="+mj-cs"/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الـقــائــمـة </a:t>
            </a:r>
            <a:r>
              <a:rPr lang="ar-DZ" sz="4400" b="1" dirty="0"/>
              <a:t>عـلى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والَّـتِي نَـتَّـبِـعُـهَـا عـنـد </a:t>
            </a:r>
            <a:r>
              <a:rPr lang="ar-DZ" sz="4400" b="1" dirty="0" smtClean="0"/>
              <a:t>إنـجــاز </a:t>
            </a:r>
            <a:r>
              <a:rPr lang="ar-DZ" sz="4400" baseline="-25000" dirty="0" smtClean="0">
                <a:cs typeface="+mj-cs"/>
              </a:rPr>
              <a:t>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مُـعَــيَّـنٍ </a:t>
            </a:r>
            <a:r>
              <a:rPr lang="ar-DZ" sz="4400" b="1" dirty="0"/>
              <a:t>وذلـك يـقـتـضي اسـتـغــلال </a:t>
            </a:r>
            <a:r>
              <a:rPr lang="ar-DZ" sz="4400" baseline="-25000" dirty="0" smtClean="0">
                <a:cs typeface="+mj-cs"/>
              </a:rPr>
              <a:t>...................................... </a:t>
            </a:r>
            <a:r>
              <a:rPr lang="ar-DZ" sz="4400" b="1" dirty="0"/>
              <a:t>مُـحَــدَّدَة 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الـتـقــنــيــة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Technique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79776" y="2535103"/>
            <a:ext cx="2743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الـعــمــلـيــات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0056" y="3456978"/>
            <a:ext cx="46295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الـعــلــم والـمــعـــرفـــة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8168" y="4406414"/>
            <a:ext cx="36214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عــمــل أو نـشــاط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12224" y="5330398"/>
            <a:ext cx="309634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وســائــل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67477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مــا هــو أصـل الـ</a:t>
            </a:r>
            <a:r>
              <a:rPr lang="ar-DZ" sz="4200" b="1" dirty="0" smtClean="0">
                <a:solidFill>
                  <a:srgbClr val="FF0000"/>
                </a:solidFill>
              </a:rPr>
              <a:t>كــلــمــة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« تــكــنـولـوجــيــا »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</a:rPr>
              <a:t>تــكــنـولـوجــيــا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err="1" smtClean="0">
                <a:solidFill>
                  <a:srgbClr val="FF0000"/>
                </a:solidFill>
                <a:cs typeface="+mj-cs"/>
              </a:rPr>
              <a:t>Technologos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</p:cNvCxnSpPr>
          <p:nvPr/>
        </p:nvCxnSpPr>
        <p:spPr>
          <a:xfrm flipH="1">
            <a:off x="4151784" y="2278561"/>
            <a:ext cx="1879753" cy="904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</p:cNvCxnSpPr>
          <p:nvPr/>
        </p:nvCxnSpPr>
        <p:spPr>
          <a:xfrm>
            <a:off x="6031537" y="2278561"/>
            <a:ext cx="1662431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H="1" flipV="1">
            <a:off x="4151784" y="4475212"/>
            <a:ext cx="1728842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475212"/>
            <a:ext cx="1827640" cy="8577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3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مــا هــو أصـل الـ</a:t>
            </a:r>
            <a:r>
              <a:rPr lang="ar-DZ" sz="4200" b="1" dirty="0" smtClean="0">
                <a:solidFill>
                  <a:srgbClr val="FF0000"/>
                </a:solidFill>
              </a:rPr>
              <a:t>كــلــمــة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« تــكــنـولـوجــيــا »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93968" y="2772313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fr-FR" sz="3600" b="1" dirty="0">
                <a:solidFill>
                  <a:srgbClr val="0070C0"/>
                </a:solidFill>
              </a:rPr>
              <a:t>Logos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0666" y="2786417"/>
            <a:ext cx="31211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fr-FR" sz="3600" b="1" dirty="0">
                <a:solidFill>
                  <a:srgbClr val="0070C0"/>
                </a:solidFill>
              </a:rPr>
              <a:t>Techno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err="1" smtClean="0">
                <a:solidFill>
                  <a:srgbClr val="FF0000"/>
                </a:solidFill>
                <a:cs typeface="+mj-cs"/>
              </a:rPr>
              <a:t>Technologos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  <a:endCxn id="8" idx="3"/>
          </p:cNvCxnSpPr>
          <p:nvPr/>
        </p:nvCxnSpPr>
        <p:spPr>
          <a:xfrm flipH="1">
            <a:off x="4151784" y="2278561"/>
            <a:ext cx="1879753" cy="904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2278561"/>
            <a:ext cx="1662431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Nuage 14"/>
          <p:cNvSpPr/>
          <p:nvPr/>
        </p:nvSpPr>
        <p:spPr>
          <a:xfrm>
            <a:off x="7464152" y="3677057"/>
            <a:ext cx="3676972" cy="24239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cs typeface="+mj-cs"/>
              </a:rPr>
              <a:t> </a:t>
            </a:r>
            <a:r>
              <a:rPr lang="fr-FR" sz="2800" b="1" dirty="0" smtClean="0">
                <a:solidFill>
                  <a:srgbClr val="00B050"/>
                </a:solidFill>
                <a:cs typeface="+mj-cs"/>
              </a:rPr>
              <a:t>Psycho</a:t>
            </a:r>
            <a:r>
              <a:rPr lang="fr-FR" sz="2800" b="1" dirty="0" smtClean="0">
                <a:solidFill>
                  <a:srgbClr val="FF0000"/>
                </a:solidFill>
                <a:cs typeface="+mj-cs"/>
              </a:rPr>
              <a:t>logie</a:t>
            </a:r>
            <a:r>
              <a:rPr lang="fr-FR" sz="2800" b="1" dirty="0" smtClean="0">
                <a:cs typeface="+mj-cs"/>
              </a:rPr>
              <a:t> :</a:t>
            </a:r>
            <a:r>
              <a:rPr lang="fr-FR" sz="3200" b="1" dirty="0" smtClean="0">
                <a:cs typeface="+mj-cs"/>
              </a:rPr>
              <a:t> </a:t>
            </a:r>
            <a:endParaRPr lang="ar-DZ" sz="3200" b="1" dirty="0" smtClean="0">
              <a:cs typeface="+mj-cs"/>
            </a:endParaRPr>
          </a:p>
          <a:p>
            <a:pPr algn="ctr" rtl="1"/>
            <a:r>
              <a:rPr lang="ar-DZ" sz="3200" b="1" dirty="0" smtClean="0"/>
              <a:t>عـلـم </a:t>
            </a:r>
            <a:r>
              <a:rPr lang="ar-DZ" sz="3200" b="1" dirty="0" smtClean="0">
                <a:solidFill>
                  <a:srgbClr val="00B050"/>
                </a:solidFill>
              </a:rPr>
              <a:t>الـنـفـس</a:t>
            </a:r>
            <a:r>
              <a:rPr lang="fr-FR" sz="3200" b="1" dirty="0" smtClean="0">
                <a:cs typeface="+mj-cs"/>
              </a:rPr>
              <a:t> </a:t>
            </a:r>
          </a:p>
          <a:p>
            <a:pPr algn="ctr" rtl="1"/>
            <a:r>
              <a:rPr lang="fr-FR" sz="3200" b="1" dirty="0" smtClean="0">
                <a:solidFill>
                  <a:srgbClr val="00B050"/>
                </a:solidFill>
                <a:cs typeface="+mj-cs"/>
              </a:rPr>
              <a:t>Socio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logie</a:t>
            </a:r>
            <a:r>
              <a:rPr lang="fr-FR" sz="3200" b="1" dirty="0" smtClean="0">
                <a:cs typeface="+mj-cs"/>
              </a:rPr>
              <a:t> : </a:t>
            </a:r>
            <a:endParaRPr lang="ar-DZ" sz="3200" b="1" dirty="0" smtClean="0">
              <a:cs typeface="+mj-cs"/>
            </a:endParaRPr>
          </a:p>
          <a:p>
            <a:pPr algn="ctr" rtl="1"/>
            <a:r>
              <a:rPr lang="ar-DZ" sz="3200" b="1" dirty="0" smtClean="0">
                <a:cs typeface="+mj-cs"/>
              </a:rPr>
              <a:t>عـلـم </a:t>
            </a:r>
            <a:r>
              <a:rPr lang="ar-DZ" sz="3200" b="1" dirty="0" smtClean="0">
                <a:solidFill>
                  <a:srgbClr val="00B050"/>
                </a:solidFill>
                <a:cs typeface="+mj-cs"/>
              </a:rPr>
              <a:t>الاجـتـمـاع</a:t>
            </a:r>
            <a:endParaRPr lang="fr-FR" sz="3200" b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8" name="Nuage 17"/>
          <p:cNvSpPr/>
          <p:nvPr/>
        </p:nvSpPr>
        <p:spPr>
          <a:xfrm>
            <a:off x="767408" y="3848789"/>
            <a:ext cx="5596905" cy="22522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cs typeface="+mj-cs"/>
              </a:rPr>
              <a:t> </a:t>
            </a:r>
            <a:r>
              <a:rPr lang="fr-FR" sz="2800" b="1" dirty="0" smtClean="0">
                <a:cs typeface="+mj-cs"/>
              </a:rPr>
              <a:t>Techno ( Technique ) : </a:t>
            </a:r>
            <a:endParaRPr lang="ar-DZ" sz="2800" b="1" dirty="0" smtClean="0">
              <a:cs typeface="+mj-cs"/>
            </a:endParaRPr>
          </a:p>
          <a:p>
            <a:pPr algn="ctr" rtl="1"/>
            <a:r>
              <a:rPr lang="fr-FR" sz="2800" b="1" dirty="0" smtClean="0">
                <a:cs typeface="+mj-cs"/>
              </a:rPr>
              <a:t> </a:t>
            </a:r>
            <a:r>
              <a:rPr lang="ar-DZ" sz="2800" b="1" dirty="0" smtClean="0">
                <a:cs typeface="+mj-cs"/>
              </a:rPr>
              <a:t>تــقــنــيـة</a:t>
            </a:r>
            <a:endParaRPr lang="fr-FR" sz="2800" b="1" dirty="0" smtClean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571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  <p:bldP spid="15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مــا هــو أصـل الـ</a:t>
            </a:r>
            <a:r>
              <a:rPr lang="ar-DZ" sz="4200" b="1" dirty="0" smtClean="0">
                <a:solidFill>
                  <a:srgbClr val="FF0000"/>
                </a:solidFill>
              </a:rPr>
              <a:t>كــلــمــة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« تــكــنـولـوجــيــا »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93968" y="2772313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fr-FR" sz="3600" b="1" dirty="0">
                <a:solidFill>
                  <a:srgbClr val="0070C0"/>
                </a:solidFill>
              </a:rPr>
              <a:t>Logos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0666" y="4078323"/>
            <a:ext cx="31211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تــكــنــو </a:t>
            </a:r>
            <a:r>
              <a:rPr lang="ar-DZ" sz="3200" b="1" dirty="0">
                <a:solidFill>
                  <a:srgbClr val="0070C0"/>
                </a:solidFill>
              </a:rPr>
              <a:t>: </a:t>
            </a:r>
            <a:r>
              <a:rPr lang="ar-DZ" sz="3200" b="1" dirty="0" smtClean="0">
                <a:solidFill>
                  <a:srgbClr val="0070C0"/>
                </a:solidFill>
              </a:rPr>
              <a:t>تــقــنــيــة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0666" y="2786417"/>
            <a:ext cx="31211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fr-FR" sz="3600" b="1" dirty="0">
                <a:solidFill>
                  <a:srgbClr val="0070C0"/>
                </a:solidFill>
              </a:rPr>
              <a:t>Techno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</a:rPr>
              <a:t>تــكــنـولـوجــيــا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err="1" smtClean="0">
                <a:solidFill>
                  <a:srgbClr val="FF0000"/>
                </a:solidFill>
                <a:cs typeface="+mj-cs"/>
              </a:rPr>
              <a:t>Technologos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93968" y="4139777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لــوجــيــا</a:t>
            </a:r>
            <a:r>
              <a:rPr lang="fr-FR" sz="3200" b="1" dirty="0" smtClean="0">
                <a:solidFill>
                  <a:srgbClr val="0070C0"/>
                </a:solidFill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</a:rPr>
              <a:t> </a:t>
            </a:r>
            <a:r>
              <a:rPr lang="ar-DZ" sz="3200" b="1" dirty="0">
                <a:solidFill>
                  <a:srgbClr val="0070C0"/>
                </a:solidFill>
              </a:rPr>
              <a:t>: عــلــم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13" idx="2"/>
            <a:endCxn id="8" idx="3"/>
          </p:cNvCxnSpPr>
          <p:nvPr/>
        </p:nvCxnSpPr>
        <p:spPr>
          <a:xfrm flipH="1">
            <a:off x="4151784" y="2278561"/>
            <a:ext cx="1879753" cy="904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2278561"/>
            <a:ext cx="1662431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>
            <a:endCxn id="7" idx="3"/>
          </p:cNvCxnSpPr>
          <p:nvPr/>
        </p:nvCxnSpPr>
        <p:spPr>
          <a:xfrm flipH="1" flipV="1">
            <a:off x="4151784" y="4475212"/>
            <a:ext cx="1728842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475212"/>
            <a:ext cx="1827640" cy="8577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09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الـتــكــنــولــوجــيــا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 Technologie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900"/>
              </a:lnSpc>
              <a:buNone/>
            </a:pPr>
            <a:r>
              <a:rPr lang="ar-DZ" sz="4400" b="1" dirty="0" smtClean="0">
                <a:cs typeface="+mj-cs"/>
              </a:rPr>
              <a:t>هـي كـلـمـة يُــونَــانِــيَــة </a:t>
            </a:r>
            <a:r>
              <a:rPr lang="ar-DZ" sz="4400" b="1" dirty="0">
                <a:cs typeface="+mj-cs"/>
              </a:rPr>
              <a:t>الأصـل </a:t>
            </a:r>
            <a:r>
              <a:rPr lang="ar-DZ" sz="4400" b="1" dirty="0" smtClean="0">
                <a:cs typeface="+mj-cs"/>
              </a:rPr>
              <a:t>تَـتَـأَلَـفُ مـن مــقــطــعــيـن </a:t>
            </a:r>
            <a:r>
              <a:rPr lang="ar-DZ" sz="3600" b="1" dirty="0" smtClean="0">
                <a:cs typeface="+mj-cs"/>
              </a:rPr>
              <a:t>:</a:t>
            </a:r>
            <a:r>
              <a:rPr lang="ar-DZ" sz="28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وتُــمَـثِّــلُ </a:t>
            </a:r>
            <a:r>
              <a:rPr lang="ar-DZ" sz="4400" b="1" dirty="0" smtClean="0"/>
              <a:t>عِـــلْــم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الَّـتِي </a:t>
            </a:r>
            <a:r>
              <a:rPr lang="ar-DZ" sz="4400" b="1" dirty="0"/>
              <a:t>تـسـمـح </a:t>
            </a:r>
            <a:r>
              <a:rPr lang="ar-DZ" sz="4400" b="1" dirty="0" smtClean="0"/>
              <a:t>لــنــا </a:t>
            </a:r>
            <a:r>
              <a:rPr lang="ar-DZ" sz="4400" b="1" dirty="0"/>
              <a:t>بـأداء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مُـحَــدَّدَةٍ </a:t>
            </a:r>
            <a:r>
              <a:rPr lang="ar-DZ" sz="4400" b="1" dirty="0" smtClean="0"/>
              <a:t>وبُــلُــوغِ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 </a:t>
            </a:r>
            <a:r>
              <a:rPr lang="ar-DZ" sz="4400" b="1" dirty="0" smtClean="0"/>
              <a:t>مَــرْجُــوَةٍ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5646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الـتــكــنــولــوجــيــا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 Technologie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900"/>
              </a:lnSpc>
              <a:buNone/>
            </a:pPr>
            <a:r>
              <a:rPr lang="ar-DZ" sz="4400" b="1" dirty="0" smtClean="0">
                <a:cs typeface="+mj-cs"/>
              </a:rPr>
              <a:t>هـي كـلـمـة يُــونَــانِــيَــة </a:t>
            </a:r>
            <a:r>
              <a:rPr lang="ar-DZ" sz="4400" b="1" dirty="0">
                <a:cs typeface="+mj-cs"/>
              </a:rPr>
              <a:t>الأصـل </a:t>
            </a:r>
            <a:r>
              <a:rPr lang="ar-DZ" sz="4400" b="1" dirty="0" smtClean="0">
                <a:cs typeface="+mj-cs"/>
              </a:rPr>
              <a:t>تَـتَـأَلَـفُ مـن مــقــطــعــيـن </a:t>
            </a:r>
            <a:r>
              <a:rPr lang="ar-DZ" sz="3600" b="1" dirty="0" smtClean="0">
                <a:cs typeface="+mj-cs"/>
              </a:rPr>
              <a:t>:</a:t>
            </a:r>
            <a:r>
              <a:rPr lang="ar-DZ" sz="28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وتُــمَـثِّــلُ </a:t>
            </a:r>
            <a:r>
              <a:rPr lang="ar-DZ" sz="4400" b="1" dirty="0" smtClean="0"/>
              <a:t>عِـــلْــم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الَّـتِي </a:t>
            </a:r>
            <a:r>
              <a:rPr lang="ar-DZ" sz="4400" b="1" dirty="0"/>
              <a:t>تـسـمـح </a:t>
            </a:r>
            <a:r>
              <a:rPr lang="ar-DZ" sz="4400" b="1" dirty="0" smtClean="0"/>
              <a:t>لــنــا </a:t>
            </a:r>
            <a:r>
              <a:rPr lang="ar-DZ" sz="4400" b="1" dirty="0"/>
              <a:t>بـأداء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مُـحَــدَّدَةٍ </a:t>
            </a:r>
            <a:r>
              <a:rPr lang="ar-DZ" sz="4400" b="1" dirty="0" smtClean="0"/>
              <a:t>وبُــلُــوغِ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 </a:t>
            </a:r>
            <a:r>
              <a:rPr lang="ar-DZ" sz="4400" b="1" dirty="0" smtClean="0"/>
              <a:t>مَــرْجُــوَةٍ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457906" y="2728680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Techno  /  logos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7390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الـتــكــنــولــوجــيــا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 Technologie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900"/>
              </a:lnSpc>
              <a:buNone/>
            </a:pPr>
            <a:r>
              <a:rPr lang="ar-DZ" sz="4400" b="1" dirty="0" smtClean="0">
                <a:cs typeface="+mj-cs"/>
              </a:rPr>
              <a:t>هـي كـلـمـة يُــونَــانِــيَــة </a:t>
            </a:r>
            <a:r>
              <a:rPr lang="ar-DZ" sz="4400" b="1" dirty="0">
                <a:cs typeface="+mj-cs"/>
              </a:rPr>
              <a:t>الأصـل </a:t>
            </a:r>
            <a:r>
              <a:rPr lang="ar-DZ" sz="4400" b="1" dirty="0" smtClean="0">
                <a:cs typeface="+mj-cs"/>
              </a:rPr>
              <a:t>تَـتَـأَلَـفُ مـن مــقــطــعــيـن </a:t>
            </a:r>
            <a:r>
              <a:rPr lang="ar-DZ" sz="3600" b="1" dirty="0" smtClean="0">
                <a:cs typeface="+mj-cs"/>
              </a:rPr>
              <a:t>:</a:t>
            </a:r>
            <a:r>
              <a:rPr lang="ar-DZ" sz="28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وتُــمَـثِّــلُ </a:t>
            </a:r>
            <a:r>
              <a:rPr lang="ar-DZ" sz="4400" b="1" dirty="0" smtClean="0"/>
              <a:t>عِـــلْــم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الَّـتِي </a:t>
            </a:r>
            <a:r>
              <a:rPr lang="ar-DZ" sz="4400" b="1" dirty="0"/>
              <a:t>تـسـمـح </a:t>
            </a:r>
            <a:r>
              <a:rPr lang="ar-DZ" sz="4400" b="1" dirty="0" smtClean="0"/>
              <a:t>لــنــا </a:t>
            </a:r>
            <a:r>
              <a:rPr lang="ar-DZ" sz="4400" b="1" dirty="0"/>
              <a:t>بـأداء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مُـحَــدَّدَةٍ </a:t>
            </a:r>
            <a:r>
              <a:rPr lang="ar-DZ" sz="4400" b="1" dirty="0" smtClean="0"/>
              <a:t>وبُــلُــوغِ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 </a:t>
            </a:r>
            <a:r>
              <a:rPr lang="ar-DZ" sz="4400" b="1" dirty="0" smtClean="0"/>
              <a:t>مَــرْجُــوَةٍ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457906" y="2728680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Techno  /  logos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0480" y="2728680"/>
            <a:ext cx="29595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الـتــقــنــيــات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9655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الـتــكــنــولــوجــيــا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 Technologie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900"/>
              </a:lnSpc>
              <a:buNone/>
            </a:pPr>
            <a:r>
              <a:rPr lang="ar-DZ" sz="4400" b="1" dirty="0" smtClean="0">
                <a:cs typeface="+mj-cs"/>
              </a:rPr>
              <a:t>هـي كـلـمـة يُــونَــانِــيَــة </a:t>
            </a:r>
            <a:r>
              <a:rPr lang="ar-DZ" sz="4400" b="1" dirty="0">
                <a:cs typeface="+mj-cs"/>
              </a:rPr>
              <a:t>الأصـل </a:t>
            </a:r>
            <a:r>
              <a:rPr lang="ar-DZ" sz="4400" b="1" dirty="0" smtClean="0">
                <a:cs typeface="+mj-cs"/>
              </a:rPr>
              <a:t>تَـتَـأَلَـفُ مـن مــقــطــعــيـن </a:t>
            </a:r>
            <a:r>
              <a:rPr lang="ar-DZ" sz="3600" b="1" dirty="0" smtClean="0">
                <a:cs typeface="+mj-cs"/>
              </a:rPr>
              <a:t>:</a:t>
            </a:r>
            <a:r>
              <a:rPr lang="ar-DZ" sz="28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وتُــمَـثِّــلُ </a:t>
            </a:r>
            <a:r>
              <a:rPr lang="ar-DZ" sz="4400" b="1" dirty="0" smtClean="0"/>
              <a:t>عِـــلْــم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الَّـتِي </a:t>
            </a:r>
            <a:r>
              <a:rPr lang="ar-DZ" sz="4400" b="1" dirty="0"/>
              <a:t>تـسـمـح </a:t>
            </a:r>
            <a:r>
              <a:rPr lang="ar-DZ" sz="4400" b="1" dirty="0" smtClean="0"/>
              <a:t>لــنــا </a:t>
            </a:r>
            <a:r>
              <a:rPr lang="ar-DZ" sz="4400" b="1" dirty="0"/>
              <a:t>بـأداء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مُـحَــدَّدَةٍ </a:t>
            </a:r>
            <a:r>
              <a:rPr lang="ar-DZ" sz="4400" b="1" dirty="0" smtClean="0"/>
              <a:t>وبُــلُــوغِ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 </a:t>
            </a:r>
            <a:r>
              <a:rPr lang="ar-DZ" sz="4400" b="1" dirty="0" smtClean="0"/>
              <a:t>مَــرْجُــوَةٍ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457906" y="2728680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Techno  /  logos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32112" y="371735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وظــيــفـة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0480" y="2728680"/>
            <a:ext cx="29595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الـتــقــنــيــات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69976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  <p:bldP spid="9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الـتــكــنــولــوجــيــا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 Technologie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900"/>
              </a:lnSpc>
              <a:buNone/>
            </a:pPr>
            <a:r>
              <a:rPr lang="ar-DZ" sz="4400" b="1" dirty="0" smtClean="0">
                <a:cs typeface="+mj-cs"/>
              </a:rPr>
              <a:t>هـي كـلـمـة يُــونَــانِــيَــة </a:t>
            </a:r>
            <a:r>
              <a:rPr lang="ar-DZ" sz="4400" b="1" dirty="0">
                <a:cs typeface="+mj-cs"/>
              </a:rPr>
              <a:t>الأصـل </a:t>
            </a:r>
            <a:r>
              <a:rPr lang="ar-DZ" sz="4400" b="1" dirty="0" smtClean="0">
                <a:cs typeface="+mj-cs"/>
              </a:rPr>
              <a:t>تَـتَـأَلَـفُ مـن مــقــطــعــيـن </a:t>
            </a:r>
            <a:r>
              <a:rPr lang="ar-DZ" sz="3600" b="1" dirty="0" smtClean="0">
                <a:cs typeface="+mj-cs"/>
              </a:rPr>
              <a:t>:</a:t>
            </a:r>
            <a:r>
              <a:rPr lang="ar-DZ" sz="28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وتُــمَـثِّــلُ </a:t>
            </a:r>
            <a:r>
              <a:rPr lang="ar-DZ" sz="4400" b="1" dirty="0" smtClean="0"/>
              <a:t>عِـــلْــم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الَّـتِي </a:t>
            </a:r>
            <a:r>
              <a:rPr lang="ar-DZ" sz="4400" b="1" dirty="0"/>
              <a:t>تـسـمـح </a:t>
            </a:r>
            <a:r>
              <a:rPr lang="ar-DZ" sz="4400" b="1" dirty="0" smtClean="0"/>
              <a:t>لــنــا </a:t>
            </a:r>
            <a:r>
              <a:rPr lang="ar-DZ" sz="4400" b="1" dirty="0"/>
              <a:t>بـأداء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مُـحَــدَّدَةٍ </a:t>
            </a:r>
            <a:r>
              <a:rPr lang="ar-DZ" sz="4400" b="1" dirty="0" smtClean="0"/>
              <a:t>وبُــلُــوغِ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 </a:t>
            </a:r>
            <a:r>
              <a:rPr lang="ar-DZ" sz="4400" b="1" dirty="0" smtClean="0"/>
              <a:t>مَــرْجُــوَةٍ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457906" y="2728680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Techno  /  logos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32112" y="371735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وظــيــفـة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39401" y="4725360"/>
            <a:ext cx="309634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أهـــداف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0480" y="2728680"/>
            <a:ext cx="29595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الـتــقــنــيــات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3729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  <p:bldP spid="9" grpId="0" animBg="1"/>
      <p:bldP spid="10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نـشــاط 3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مـا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="1" dirty="0" smtClean="0">
                <a:cs typeface="+mj-cs"/>
              </a:rPr>
              <a:t>الـعـلاقـة الـمـوجـودة </a:t>
            </a:r>
            <a:r>
              <a:rPr lang="ar-DZ" sz="4400" b="1" dirty="0">
                <a:cs typeface="+mj-cs"/>
              </a:rPr>
              <a:t>بـيـن </a:t>
            </a:r>
            <a:r>
              <a:rPr lang="ar-DZ" sz="4400" b="1" dirty="0" smtClean="0">
                <a:cs typeface="+mj-cs"/>
              </a:rPr>
              <a:t>الإعـلام والـمـعــلـومـات؟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بَــيِّـنْ أيــن يَـكْــمُـن الـفَـــرْقَ بــيـن الإِعْــــلاَم والاتِّــصَــال </a:t>
            </a:r>
            <a:r>
              <a:rPr lang="ar-DZ" sz="4400" b="1" dirty="0">
                <a:cs typeface="+mj-cs"/>
              </a:rPr>
              <a:t>ثُــمَ عَـــرِّفْ بـاخــتــصــار </a:t>
            </a:r>
            <a:r>
              <a:rPr lang="ar-DZ" sz="4400" b="1" dirty="0" smtClean="0">
                <a:cs typeface="+mj-cs"/>
              </a:rPr>
              <a:t>الـمـــصــطــلــح الـتـــالـي :</a:t>
            </a:r>
            <a:endParaRPr lang="fr-FR" sz="4400" b="1" dirty="0" smtClean="0"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</a:t>
            </a:r>
            <a:r>
              <a:rPr lang="ar-DZ" sz="4400" b="1" baseline="30000" dirty="0" smtClean="0">
                <a:cs typeface="+mj-cs"/>
              </a:rPr>
              <a:t>«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تــكــنــولــوجــيــا الإعـــلام </a:t>
            </a:r>
            <a:r>
              <a:rPr lang="ar-DZ" sz="4400" b="1" dirty="0" smtClean="0">
                <a:cs typeface="+mj-cs"/>
              </a:rPr>
              <a:t>والاتِّــصَـال </a:t>
            </a:r>
            <a:r>
              <a:rPr lang="fr-FR" sz="4400" b="1" u="sng" dirty="0" smtClean="0">
                <a:solidFill>
                  <a:srgbClr val="FF0000"/>
                </a:solidFill>
                <a:cs typeface="+mj-cs"/>
              </a:rPr>
              <a:t>TIC</a:t>
            </a:r>
            <a:r>
              <a:rPr lang="ar-DZ" sz="4400" b="1" dirty="0" smtClean="0">
                <a:cs typeface="+mj-cs"/>
              </a:rPr>
              <a:t> </a:t>
            </a:r>
            <a:r>
              <a:rPr lang="fr-FR" sz="4400" b="1" dirty="0" smtClean="0">
                <a:cs typeface="+mj-cs"/>
              </a:rPr>
              <a:t> </a:t>
            </a:r>
            <a:r>
              <a:rPr lang="ar-DZ" sz="4400" b="1" baseline="30000" dirty="0">
                <a:cs typeface="+mj-cs"/>
              </a:rPr>
              <a:t>»</a:t>
            </a:r>
            <a:r>
              <a:rPr lang="ar-DZ" sz="4400" b="1" dirty="0">
                <a:cs typeface="+mj-cs"/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3758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هــنــالــك« إعــلام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</a:rPr>
              <a:t>إعــــلام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Information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9129433" y="27637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rtl="1">
              <a:buNone/>
            </a:pP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0829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4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هــنــالــك« إعــلام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</a:rPr>
              <a:t>إعــــلام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Information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6" idx="1"/>
            <a:endCxn id="8" idx="3"/>
          </p:cNvCxnSpPr>
          <p:nvPr/>
        </p:nvCxnSpPr>
        <p:spPr>
          <a:xfrm flipH="1">
            <a:off x="3321923" y="4688296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9129433" y="27637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rtl="1">
              <a:buNone/>
            </a:pP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6672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  <p:bldP spid="14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هــنــالــك« إعــلام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</a:rPr>
              <a:t>إعــــلام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Information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6" idx="1"/>
            <a:endCxn id="8" idx="3"/>
          </p:cNvCxnSpPr>
          <p:nvPr/>
        </p:nvCxnSpPr>
        <p:spPr>
          <a:xfrm flipH="1">
            <a:off x="3321923" y="4688296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1055440" y="27637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rtl="1">
              <a:buNone/>
            </a:pP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6877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  <p:bldP spid="14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هــنــالــك« إعــلام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</a:rPr>
              <a:t>إعــــلام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Information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6" idx="1"/>
            <a:endCxn id="8" idx="3"/>
          </p:cNvCxnSpPr>
          <p:nvPr/>
        </p:nvCxnSpPr>
        <p:spPr>
          <a:xfrm flipH="1">
            <a:off x="3321923" y="4688296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1055440" y="27637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rtl="1">
              <a:buNone/>
            </a:pP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43638" y="5585263"/>
            <a:ext cx="4695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وســائــل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( حـسـب </a:t>
            </a:r>
            <a:r>
              <a:rPr lang="ar-DZ" sz="3200" b="1" dirty="0">
                <a:solidFill>
                  <a:srgbClr val="0070C0"/>
                </a:solidFill>
                <a:cs typeface="+mj-cs"/>
              </a:rPr>
              <a:t>أسـلـوب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6435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  <p:bldP spid="14" grpId="0" animBg="1"/>
      <p:bldP spid="19" grpId="0" animBg="1"/>
      <p:bldP spid="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6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الإعــــلام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Information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5400" b="1" dirty="0" smtClean="0">
                <a:cs typeface="+mj-cs"/>
              </a:rPr>
              <a:t>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8700"/>
              </a:lnSpc>
              <a:buNone/>
            </a:pPr>
            <a:r>
              <a:rPr lang="ar-DZ" sz="4400" b="1" dirty="0" smtClean="0">
                <a:cs typeface="+mj-cs"/>
              </a:rPr>
              <a:t>هــو </a:t>
            </a:r>
            <a:r>
              <a:rPr lang="ar-DZ" sz="4400" b="1" dirty="0"/>
              <a:t>تــقـديــم </a:t>
            </a:r>
            <a:r>
              <a:rPr lang="ar-DZ" sz="4400" baseline="-25000" dirty="0" smtClean="0"/>
              <a:t>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بـنـقـل رسـالـة </a:t>
            </a:r>
            <a:r>
              <a:rPr lang="ar-DZ" sz="4400" b="1" u="dbl" dirty="0">
                <a:solidFill>
                  <a:srgbClr val="FF0000"/>
                </a:solidFill>
              </a:rPr>
              <a:t>مـن</a:t>
            </a:r>
            <a:r>
              <a:rPr lang="ar-DZ" sz="4400" b="1" dirty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/>
              <a:t>....................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إلـى</a:t>
            </a:r>
            <a:r>
              <a:rPr lang="ar-DZ" sz="4400" b="1" dirty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وذلـك يـكـون بَــعْــدَ اخــتــيــار </a:t>
            </a:r>
            <a:r>
              <a:rPr lang="ar-DZ" sz="4400" baseline="-25000" dirty="0" smtClean="0">
                <a:cs typeface="+mj-cs"/>
              </a:rPr>
              <a:t>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مُـعـيَّـن </a:t>
            </a:r>
            <a:r>
              <a:rPr lang="ar-DZ" sz="4400" b="1" dirty="0" smtClean="0"/>
              <a:t>واسـتـغــلال </a:t>
            </a:r>
            <a:r>
              <a:rPr lang="ar-DZ" sz="4400" baseline="-25000" dirty="0" smtClean="0">
                <a:cs typeface="+mj-cs"/>
              </a:rPr>
              <a:t>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الـمُـنَـاسِـبَـة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3187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6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الإعــــلام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Information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5400" b="1" dirty="0" smtClean="0">
                <a:cs typeface="+mj-cs"/>
              </a:rPr>
              <a:t>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8700"/>
              </a:lnSpc>
              <a:buNone/>
            </a:pPr>
            <a:r>
              <a:rPr lang="ar-DZ" sz="4400" b="1" dirty="0" smtClean="0">
                <a:cs typeface="+mj-cs"/>
              </a:rPr>
              <a:t>هــو </a:t>
            </a:r>
            <a:r>
              <a:rPr lang="ar-DZ" sz="4400" b="1" dirty="0"/>
              <a:t>تــقـديــم </a:t>
            </a:r>
            <a:r>
              <a:rPr lang="ar-DZ" sz="4400" baseline="-25000" dirty="0" smtClean="0"/>
              <a:t>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بـنـقـل رسـالـة </a:t>
            </a:r>
            <a:r>
              <a:rPr lang="ar-DZ" sz="4400" b="1" u="dbl" dirty="0">
                <a:solidFill>
                  <a:srgbClr val="FF0000"/>
                </a:solidFill>
              </a:rPr>
              <a:t>مـن</a:t>
            </a:r>
            <a:r>
              <a:rPr lang="ar-DZ" sz="4400" b="1" dirty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/>
              <a:t>....................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إلـى</a:t>
            </a:r>
            <a:r>
              <a:rPr lang="ar-DZ" sz="4400" b="1" dirty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وذلـك يـكـون بَــعْــدَ اخــتــيــار </a:t>
            </a:r>
            <a:r>
              <a:rPr lang="ar-DZ" sz="4400" baseline="-25000" dirty="0" smtClean="0">
                <a:cs typeface="+mj-cs"/>
              </a:rPr>
              <a:t>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مُـعـيَّـن </a:t>
            </a:r>
            <a:r>
              <a:rPr lang="ar-DZ" sz="4400" b="1" dirty="0" smtClean="0"/>
              <a:t>واسـتـغــلال </a:t>
            </a:r>
            <a:r>
              <a:rPr lang="ar-DZ" sz="4400" baseline="-25000" dirty="0" smtClean="0">
                <a:cs typeface="+mj-cs"/>
              </a:rPr>
              <a:t>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الـمُـنَـاسِـبَـة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2886344"/>
            <a:ext cx="24408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مُــسْــتَــقْــبِــل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7408" y="1798396"/>
            <a:ext cx="19442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مُـــرْسِـــل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10560" y="1790232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مـعــلــومــات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1746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6" grpId="0" animBg="1"/>
      <p:bldP spid="12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6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الإعــــلام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Information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5400" b="1" dirty="0" smtClean="0">
                <a:cs typeface="+mj-cs"/>
              </a:rPr>
              <a:t>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8700"/>
              </a:lnSpc>
              <a:buNone/>
            </a:pPr>
            <a:r>
              <a:rPr lang="ar-DZ" sz="4400" b="1" dirty="0" smtClean="0">
                <a:cs typeface="+mj-cs"/>
              </a:rPr>
              <a:t>هــو </a:t>
            </a:r>
            <a:r>
              <a:rPr lang="ar-DZ" sz="4400" b="1" dirty="0"/>
              <a:t>تــقـديــم </a:t>
            </a:r>
            <a:r>
              <a:rPr lang="ar-DZ" sz="4400" baseline="-25000" dirty="0" smtClean="0"/>
              <a:t>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بـنـقـل رسـالـة </a:t>
            </a:r>
            <a:r>
              <a:rPr lang="ar-DZ" sz="4400" b="1" u="dbl" dirty="0">
                <a:solidFill>
                  <a:srgbClr val="FF0000"/>
                </a:solidFill>
              </a:rPr>
              <a:t>مـن</a:t>
            </a:r>
            <a:r>
              <a:rPr lang="ar-DZ" sz="4400" b="1" dirty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/>
              <a:t>....................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إلـى</a:t>
            </a:r>
            <a:r>
              <a:rPr lang="ar-DZ" sz="4400" b="1" dirty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وذلـك يـكـون بَــعْــدَ اخــتــيــار </a:t>
            </a:r>
            <a:r>
              <a:rPr lang="ar-DZ" sz="4400" baseline="-25000" dirty="0" smtClean="0">
                <a:cs typeface="+mj-cs"/>
              </a:rPr>
              <a:t>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مُـعـيَّـن </a:t>
            </a:r>
            <a:r>
              <a:rPr lang="ar-DZ" sz="4400" b="1" dirty="0" smtClean="0"/>
              <a:t>واسـتـغــلال </a:t>
            </a:r>
            <a:r>
              <a:rPr lang="ar-DZ" sz="4400" baseline="-25000" dirty="0" smtClean="0">
                <a:cs typeface="+mj-cs"/>
              </a:rPr>
              <a:t>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الـمُـنَـاسِـبَـة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2886344"/>
            <a:ext cx="24408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مُــسْــتَــقْــبِــل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56368" y="3995839"/>
            <a:ext cx="21933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الـوســائــل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20336" y="3995839"/>
            <a:ext cx="210077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أســلــوب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7408" y="1798396"/>
            <a:ext cx="19442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مُـــرْسِـــل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10560" y="1790232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مـعــلــومــات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189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 « </a:t>
            </a:r>
            <a:r>
              <a:rPr lang="ar-DZ" sz="4200" b="1" dirty="0" err="1" smtClean="0">
                <a:solidFill>
                  <a:srgbClr val="FF0000"/>
                </a:solidFill>
                <a:cs typeface="+mj-cs"/>
              </a:rPr>
              <a:t>إتِّــصَــال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43639" y="5299519"/>
            <a:ext cx="4695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وســائــل ( حـسـب أسـلـوب )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err="1">
                <a:solidFill>
                  <a:srgbClr val="FF0000"/>
                </a:solidFill>
              </a:rPr>
              <a:t>إتِّــصَــال</a:t>
            </a:r>
            <a:r>
              <a:rPr lang="ar-DZ" sz="36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Communication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3321923" y="4545693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rganigramme : Multidocument 9"/>
          <p:cNvSpPr/>
          <p:nvPr/>
        </p:nvSpPr>
        <p:spPr>
          <a:xfrm>
            <a:off x="1120054" y="2731521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Organigramme : Multidocument 18"/>
          <p:cNvSpPr/>
          <p:nvPr/>
        </p:nvSpPr>
        <p:spPr>
          <a:xfrm>
            <a:off x="9564100" y="2672659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9929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3" grpId="0" animBg="1"/>
      <p:bldP spid="14" grpId="0" animBg="1"/>
      <p:bldP spid="10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هــنــالــك« إعــلام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43638" y="5585263"/>
            <a:ext cx="4695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وســائــل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( حـسـب </a:t>
            </a:r>
            <a:r>
              <a:rPr lang="ar-DZ" sz="3200" b="1" dirty="0">
                <a:solidFill>
                  <a:srgbClr val="0070C0"/>
                </a:solidFill>
                <a:cs typeface="+mj-cs"/>
              </a:rPr>
              <a:t>أسـلـوب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</a:rPr>
              <a:t>إعــــلام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Information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6" idx="1"/>
            <a:endCxn id="8" idx="3"/>
          </p:cNvCxnSpPr>
          <p:nvPr/>
        </p:nvCxnSpPr>
        <p:spPr>
          <a:xfrm flipH="1">
            <a:off x="3321923" y="4688296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9129433" y="27637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rtl="1">
              <a:buNone/>
            </a:pP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38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3" grpId="0" animBg="1"/>
      <p:bldP spid="14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 « </a:t>
            </a:r>
            <a:r>
              <a:rPr lang="ar-DZ" sz="4200" b="1" dirty="0" err="1" smtClean="0">
                <a:solidFill>
                  <a:srgbClr val="FF0000"/>
                </a:solidFill>
                <a:cs typeface="+mj-cs"/>
              </a:rPr>
              <a:t>إتِّــصَــال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43639" y="5299519"/>
            <a:ext cx="4695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وســائــل ( حـسـب أسـلـوب )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err="1">
                <a:solidFill>
                  <a:srgbClr val="FF0000"/>
                </a:solidFill>
              </a:rPr>
              <a:t>إتِّــصَــال</a:t>
            </a:r>
            <a:r>
              <a:rPr lang="ar-DZ" sz="36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Communication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3321923" y="4545693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H="1">
            <a:off x="3321923" y="4895250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rganigramme : Multidocument 9"/>
          <p:cNvSpPr/>
          <p:nvPr/>
        </p:nvSpPr>
        <p:spPr>
          <a:xfrm>
            <a:off x="1120054" y="2731521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Organigramme : Multidocument 18"/>
          <p:cNvSpPr/>
          <p:nvPr/>
        </p:nvSpPr>
        <p:spPr>
          <a:xfrm>
            <a:off x="9564100" y="2672659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4123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3" grpId="0" animBg="1"/>
      <p:bldP spid="14" grpId="0" animBg="1"/>
      <p:bldP spid="10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 « </a:t>
            </a:r>
            <a:r>
              <a:rPr lang="ar-DZ" sz="4200" b="1" dirty="0" err="1" smtClean="0">
                <a:solidFill>
                  <a:srgbClr val="FF0000"/>
                </a:solidFill>
                <a:cs typeface="+mj-cs"/>
              </a:rPr>
              <a:t>إتِّــصَــال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43639" y="5299519"/>
            <a:ext cx="4695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وســائــل ( حـسـب أسـلـوب )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err="1">
                <a:solidFill>
                  <a:srgbClr val="FF0000"/>
                </a:solidFill>
              </a:rPr>
              <a:t>إتِّــصَــال</a:t>
            </a:r>
            <a:r>
              <a:rPr lang="ar-DZ" sz="36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Communication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3321923" y="4545693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H="1">
            <a:off x="3321923" y="4895250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Nuage 4"/>
          <p:cNvSpPr/>
          <p:nvPr/>
        </p:nvSpPr>
        <p:spPr>
          <a:xfrm>
            <a:off x="8851431" y="5290295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rgbClr val="0070C0"/>
                </a:solidFill>
              </a:rPr>
              <a:t>نـفـس .......</a:t>
            </a:r>
            <a:endParaRPr lang="fr-FR" sz="2400" dirty="0"/>
          </a:p>
        </p:txBody>
      </p:sp>
      <p:sp>
        <p:nvSpPr>
          <p:cNvPr id="18" name="Nuage 17"/>
          <p:cNvSpPr/>
          <p:nvPr/>
        </p:nvSpPr>
        <p:spPr>
          <a:xfrm>
            <a:off x="827988" y="5298072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rgbClr val="0070C0"/>
                </a:solidFill>
              </a:rPr>
              <a:t>نـفـس </a:t>
            </a:r>
            <a:r>
              <a:rPr lang="ar-DZ" sz="2400" b="1" dirty="0" smtClean="0">
                <a:solidFill>
                  <a:srgbClr val="0070C0"/>
                </a:solidFill>
              </a:rPr>
              <a:t>.......</a:t>
            </a:r>
            <a:endParaRPr lang="fr-FR" sz="2400" dirty="0"/>
          </a:p>
        </p:txBody>
      </p:sp>
      <p:sp>
        <p:nvSpPr>
          <p:cNvPr id="10" name="Organigramme : Multidocument 9"/>
          <p:cNvSpPr/>
          <p:nvPr/>
        </p:nvSpPr>
        <p:spPr>
          <a:xfrm>
            <a:off x="1120054" y="2731521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Organigramme : Multidocument 18"/>
          <p:cNvSpPr/>
          <p:nvPr/>
        </p:nvSpPr>
        <p:spPr>
          <a:xfrm>
            <a:off x="9564100" y="2672659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4839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3" grpId="0" animBg="1"/>
      <p:bldP spid="14" grpId="0" animBg="1"/>
      <p:bldP spid="5" grpId="0" animBg="1"/>
      <p:bldP spid="18" grpId="0" animBg="1"/>
      <p:bldP spid="10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 « </a:t>
            </a:r>
            <a:r>
              <a:rPr lang="ar-DZ" sz="4200" b="1" dirty="0" err="1" smtClean="0">
                <a:solidFill>
                  <a:srgbClr val="FF0000"/>
                </a:solidFill>
                <a:cs typeface="+mj-cs"/>
              </a:rPr>
              <a:t>إتِّــصَــال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43639" y="5299519"/>
            <a:ext cx="4695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وســائــل ( حـسـب أسـلـوب )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err="1">
                <a:solidFill>
                  <a:srgbClr val="FF0000"/>
                </a:solidFill>
              </a:rPr>
              <a:t>إتِّــصَــال</a:t>
            </a:r>
            <a:r>
              <a:rPr lang="ar-DZ" sz="36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Communication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3321923" y="4545693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H="1">
            <a:off x="3321923" y="4895250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Nuage 4"/>
          <p:cNvSpPr/>
          <p:nvPr/>
        </p:nvSpPr>
        <p:spPr>
          <a:xfrm>
            <a:off x="8851431" y="5290295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rgbClr val="0070C0"/>
                </a:solidFill>
              </a:rPr>
              <a:t>نـفـس </a:t>
            </a:r>
            <a:r>
              <a:rPr lang="ar-DZ" sz="2400" b="1" dirty="0" smtClean="0">
                <a:solidFill>
                  <a:srgbClr val="0070C0"/>
                </a:solidFill>
              </a:rPr>
              <a:t>الـلـغــة</a:t>
            </a:r>
            <a:endParaRPr lang="fr-FR" sz="2400" dirty="0"/>
          </a:p>
        </p:txBody>
      </p:sp>
      <p:sp>
        <p:nvSpPr>
          <p:cNvPr id="18" name="Nuage 17"/>
          <p:cNvSpPr/>
          <p:nvPr/>
        </p:nvSpPr>
        <p:spPr>
          <a:xfrm>
            <a:off x="827988" y="5298072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rgbClr val="0070C0"/>
                </a:solidFill>
              </a:rPr>
              <a:t>نـفـس </a:t>
            </a:r>
            <a:r>
              <a:rPr lang="ar-DZ" sz="2400" b="1" dirty="0" smtClean="0">
                <a:solidFill>
                  <a:srgbClr val="0070C0"/>
                </a:solidFill>
              </a:rPr>
              <a:t>الـلـغــة</a:t>
            </a:r>
            <a:endParaRPr lang="fr-FR" sz="2400" dirty="0"/>
          </a:p>
        </p:txBody>
      </p:sp>
      <p:sp>
        <p:nvSpPr>
          <p:cNvPr id="10" name="Organigramme : Multidocument 9"/>
          <p:cNvSpPr/>
          <p:nvPr/>
        </p:nvSpPr>
        <p:spPr>
          <a:xfrm>
            <a:off x="1120054" y="2731521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Organigramme : Multidocument 18"/>
          <p:cNvSpPr/>
          <p:nvPr/>
        </p:nvSpPr>
        <p:spPr>
          <a:xfrm>
            <a:off x="9564100" y="2672659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7206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3" grpId="0" animBg="1"/>
      <p:bldP spid="14" grpId="0" animBg="1"/>
      <p:bldP spid="5" grpId="0" animBg="1"/>
      <p:bldP spid="18" grpId="0" animBg="1"/>
      <p:bldP spid="10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7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الاتِّــصَــال  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Communication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400" b="1" dirty="0" smtClean="0">
                <a:cs typeface="+mj-cs"/>
              </a:rPr>
              <a:t>هـو </a:t>
            </a:r>
            <a:r>
              <a:rPr lang="ar-DZ" sz="4400" b="1" dirty="0" smtClean="0"/>
              <a:t>تَـبَـادُل</a:t>
            </a:r>
            <a:r>
              <a:rPr lang="ar-DZ" sz="4400" baseline="-25000" dirty="0" smtClean="0"/>
              <a:t>........................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بَـيْـنَ</a:t>
            </a:r>
            <a:r>
              <a:rPr lang="ar-DZ" sz="4400" b="1" dirty="0" smtClean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/>
              <a:t>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وَ</a:t>
            </a:r>
            <a:r>
              <a:rPr lang="ar-DZ" sz="4400" b="1" dirty="0" smtClean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وهــذا يَـتَـطَـلَّـبُ اسـتـعــمـال نـفـس </a:t>
            </a:r>
            <a:r>
              <a:rPr lang="ar-DZ" sz="4400" baseline="-25000" dirty="0" smtClean="0">
                <a:cs typeface="+mj-cs"/>
              </a:rPr>
              <a:t>..............................................</a:t>
            </a:r>
            <a:r>
              <a:rPr lang="ar-DZ" sz="4400" b="1" dirty="0" smtClean="0"/>
              <a:t> لِـفَــهْــمِ </a:t>
            </a:r>
            <a:r>
              <a:rPr lang="ar-DZ" sz="4400" b="1" dirty="0"/>
              <a:t>وَإِدْرَاكِ </a:t>
            </a:r>
            <a:r>
              <a:rPr lang="ar-DZ" sz="4400" b="1" dirty="0" smtClean="0"/>
              <a:t>مَـضْـمُـون</a:t>
            </a:r>
            <a:r>
              <a:rPr lang="ar-DZ" sz="4400" baseline="-25000" dirty="0"/>
              <a:t> </a:t>
            </a:r>
            <a:r>
              <a:rPr lang="ar-DZ" sz="4400" baseline="-25000" dirty="0" smtClean="0"/>
              <a:t>.......................</a:t>
            </a:r>
            <a:r>
              <a:rPr lang="ar-DZ" sz="4400" b="1" dirty="0" smtClean="0"/>
              <a:t> 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1506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7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الاتِّــصَــال  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Communication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400" b="1" dirty="0" smtClean="0">
                <a:cs typeface="+mj-cs"/>
              </a:rPr>
              <a:t>هـو </a:t>
            </a:r>
            <a:r>
              <a:rPr lang="ar-DZ" sz="4400" b="1" dirty="0" smtClean="0"/>
              <a:t>تَـبَـادُل</a:t>
            </a:r>
            <a:r>
              <a:rPr lang="ar-DZ" sz="4400" baseline="-25000" dirty="0" smtClean="0"/>
              <a:t>........................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بَـيْـنَ</a:t>
            </a:r>
            <a:r>
              <a:rPr lang="ar-DZ" sz="4400" b="1" dirty="0" smtClean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/>
              <a:t>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وَ</a:t>
            </a:r>
            <a:r>
              <a:rPr lang="ar-DZ" sz="4400" b="1" dirty="0" smtClean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وهــذا يَـتَـطَـلَّـبُ اسـتـعــمـال نـفـس </a:t>
            </a:r>
            <a:r>
              <a:rPr lang="ar-DZ" sz="4400" baseline="-25000" dirty="0" smtClean="0">
                <a:cs typeface="+mj-cs"/>
              </a:rPr>
              <a:t>..............................................</a:t>
            </a:r>
            <a:r>
              <a:rPr lang="ar-DZ" sz="4400" b="1" dirty="0" smtClean="0"/>
              <a:t> لِـفَــهْــمِ </a:t>
            </a:r>
            <a:r>
              <a:rPr lang="ar-DZ" sz="4400" b="1" dirty="0"/>
              <a:t>وَإِدْرَاكِ </a:t>
            </a:r>
            <a:r>
              <a:rPr lang="ar-DZ" sz="4400" b="1" dirty="0" smtClean="0"/>
              <a:t>مَـضْـمُـون</a:t>
            </a:r>
            <a:r>
              <a:rPr lang="ar-DZ" sz="4400" baseline="-25000" dirty="0"/>
              <a:t> </a:t>
            </a:r>
            <a:r>
              <a:rPr lang="ar-DZ" sz="4400" baseline="-25000" dirty="0" smtClean="0"/>
              <a:t>.......................</a:t>
            </a:r>
            <a:r>
              <a:rPr lang="ar-DZ" sz="4400" b="1" dirty="0" smtClean="0"/>
              <a:t> 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11563" y="1962399"/>
            <a:ext cx="23321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مُــسْــتَــقْــبِــل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75638" y="1959855"/>
            <a:ext cx="177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مُـــرْسِـــل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32104" y="1962399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مـعــلــومــات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710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2" grpId="0" animBg="1"/>
      <p:bldP spid="1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7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الاتِّــصَــال  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Communication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400" b="1" dirty="0" smtClean="0">
                <a:cs typeface="+mj-cs"/>
              </a:rPr>
              <a:t>هـو </a:t>
            </a:r>
            <a:r>
              <a:rPr lang="ar-DZ" sz="4400" b="1" dirty="0" smtClean="0"/>
              <a:t>تَـبَـادُل</a:t>
            </a:r>
            <a:r>
              <a:rPr lang="ar-DZ" sz="4400" baseline="-25000" dirty="0" smtClean="0"/>
              <a:t>........................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بَـيْـنَ</a:t>
            </a:r>
            <a:r>
              <a:rPr lang="ar-DZ" sz="4400" b="1" dirty="0" smtClean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/>
              <a:t>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وَ</a:t>
            </a:r>
            <a:r>
              <a:rPr lang="ar-DZ" sz="4400" b="1" dirty="0" smtClean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وهــذا يَـتَـطَـلَّـبُ اسـتـعــمـال نـفـس </a:t>
            </a:r>
            <a:r>
              <a:rPr lang="ar-DZ" sz="4400" baseline="-25000" dirty="0" smtClean="0">
                <a:cs typeface="+mj-cs"/>
              </a:rPr>
              <a:t>..............................................</a:t>
            </a:r>
            <a:r>
              <a:rPr lang="ar-DZ" sz="4400" b="1" dirty="0" smtClean="0"/>
              <a:t> لِـفَــهْــمِ </a:t>
            </a:r>
            <a:r>
              <a:rPr lang="ar-DZ" sz="4400" b="1" dirty="0"/>
              <a:t>وَإِدْرَاكِ </a:t>
            </a:r>
            <a:r>
              <a:rPr lang="ar-DZ" sz="4400" b="1" dirty="0" smtClean="0"/>
              <a:t>مَـضْـمُـون</a:t>
            </a:r>
            <a:r>
              <a:rPr lang="ar-DZ" sz="4400" baseline="-25000" dirty="0"/>
              <a:t> </a:t>
            </a:r>
            <a:r>
              <a:rPr lang="ar-DZ" sz="4400" baseline="-25000" dirty="0" smtClean="0"/>
              <a:t>.......................</a:t>
            </a:r>
            <a:r>
              <a:rPr lang="ar-DZ" sz="4400" b="1" dirty="0" smtClean="0"/>
              <a:t> 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11563" y="1962399"/>
            <a:ext cx="23321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مُــسْــتَــقْــبِــل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95800" y="4651447"/>
            <a:ext cx="21933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الـرســائــل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75638" y="1959855"/>
            <a:ext cx="177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مُـــرْسِـــل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32104" y="1962399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مـعــلــومــات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7914" y="3283295"/>
            <a:ext cx="41323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الـلـغــة ( الـقــواعـــد )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213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9" grpId="0" animBg="1"/>
      <p:bldP spid="12" grpId="0" animBg="1"/>
      <p:bldP spid="13" grpId="0" animBg="1"/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مــاذا يُـمَـثِّـلُ إِذاً الـمـصـطــلـح  « </a:t>
            </a:r>
            <a:r>
              <a:rPr lang="fr-FR" sz="4200" b="1" dirty="0" smtClean="0">
                <a:solidFill>
                  <a:srgbClr val="FF0000"/>
                </a:solidFill>
                <a:cs typeface="+mj-cs"/>
              </a:rPr>
              <a:t>TIC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»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19317" y="3209745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الاِتِّــصَ</a:t>
            </a:r>
            <a:r>
              <a:rPr lang="ar-DZ" sz="3600" b="1" dirty="0">
                <a:solidFill>
                  <a:srgbClr val="0070C0"/>
                </a:solidFill>
              </a:rPr>
              <a:t>ـ</a:t>
            </a:r>
            <a:r>
              <a:rPr lang="ar-DZ" sz="3600" b="1" dirty="0" smtClean="0">
                <a:solidFill>
                  <a:srgbClr val="0070C0"/>
                </a:solidFill>
              </a:rPr>
              <a:t>ـال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4300" y="3233542"/>
            <a:ext cx="27474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تـكـنـولـوجـيـا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2126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FF0000"/>
                </a:solidFill>
              </a:rPr>
              <a:t>Technologie de l'information et de la </a:t>
            </a:r>
            <a:r>
              <a:rPr lang="fr-FR" sz="3200" b="1" dirty="0" smtClean="0">
                <a:solidFill>
                  <a:srgbClr val="FF0000"/>
                </a:solidFill>
              </a:rPr>
              <a:t>Communication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92428" y="3206257"/>
            <a:ext cx="27531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الإعْـــــلام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6031537" y="2424998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>
            <a:off x="2032000" y="2424996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>
            <a:off x="9836832" y="2411348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>
            <a:off x="6031536" y="4013673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>
            <a:off x="2031999" y="4040967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>
            <a:off x="9870617" y="4013672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Nuage 23"/>
          <p:cNvSpPr/>
          <p:nvPr/>
        </p:nvSpPr>
        <p:spPr>
          <a:xfrm>
            <a:off x="4517484" y="4834497"/>
            <a:ext cx="3028104" cy="11867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rgbClr val="0070C0"/>
                </a:solidFill>
              </a:rPr>
              <a:t>تــقــديــم </a:t>
            </a:r>
            <a:r>
              <a:rPr lang="ar-DZ" sz="2400" b="1" dirty="0">
                <a:solidFill>
                  <a:srgbClr val="0070C0"/>
                </a:solidFill>
              </a:rPr>
              <a:t>................</a:t>
            </a:r>
            <a:endParaRPr lang="fr-FR" sz="2400" dirty="0"/>
          </a:p>
        </p:txBody>
      </p:sp>
      <p:sp>
        <p:nvSpPr>
          <p:cNvPr id="26" name="Nuage 25"/>
          <p:cNvSpPr/>
          <p:nvPr/>
        </p:nvSpPr>
        <p:spPr>
          <a:xfrm>
            <a:off x="8026919" y="4814080"/>
            <a:ext cx="3028104" cy="11867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rgbClr val="0070C0"/>
                </a:solidFill>
              </a:rPr>
              <a:t>تــبــادل </a:t>
            </a:r>
            <a:r>
              <a:rPr lang="ar-DZ" sz="2400" b="1" dirty="0">
                <a:solidFill>
                  <a:srgbClr val="0070C0"/>
                </a:solidFill>
              </a:rPr>
              <a:t>................</a:t>
            </a:r>
            <a:endParaRPr lang="fr-FR" sz="2400" dirty="0"/>
          </a:p>
        </p:txBody>
      </p:sp>
      <p:sp>
        <p:nvSpPr>
          <p:cNvPr id="27" name="Nuage 26"/>
          <p:cNvSpPr/>
          <p:nvPr/>
        </p:nvSpPr>
        <p:spPr>
          <a:xfrm>
            <a:off x="1008049" y="4793800"/>
            <a:ext cx="3028104" cy="11867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rgbClr val="0070C0"/>
                </a:solidFill>
              </a:rPr>
              <a:t>عـــلـــم ................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56030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  <p:bldP spid="14" grpId="0" animBg="1"/>
      <p:bldP spid="24" grpId="0" animBg="1"/>
      <p:bldP spid="26" grpId="0" animBg="1"/>
      <p:bldP spid="2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مــاذا يُـمَـثِّـلُ إِذاً الـمـصـطــلـح  « </a:t>
            </a:r>
            <a:r>
              <a:rPr lang="fr-FR" sz="4200" b="1" dirty="0" smtClean="0">
                <a:solidFill>
                  <a:srgbClr val="FF0000"/>
                </a:solidFill>
                <a:cs typeface="+mj-cs"/>
              </a:rPr>
              <a:t>TIC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»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19317" y="3209745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الاِتِّــصَ</a:t>
            </a:r>
            <a:r>
              <a:rPr lang="ar-DZ" sz="3600" b="1" dirty="0">
                <a:solidFill>
                  <a:srgbClr val="0070C0"/>
                </a:solidFill>
              </a:rPr>
              <a:t>ـ</a:t>
            </a:r>
            <a:r>
              <a:rPr lang="ar-DZ" sz="3600" b="1" dirty="0" smtClean="0">
                <a:solidFill>
                  <a:srgbClr val="0070C0"/>
                </a:solidFill>
              </a:rPr>
              <a:t>ـال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4300" y="3233542"/>
            <a:ext cx="27474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تـكـنـولـوجـيـا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2126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FF0000"/>
                </a:solidFill>
              </a:rPr>
              <a:t>Technologie de l'information et de la </a:t>
            </a:r>
            <a:r>
              <a:rPr lang="fr-FR" sz="3200" b="1" dirty="0" smtClean="0">
                <a:solidFill>
                  <a:srgbClr val="FF0000"/>
                </a:solidFill>
              </a:rPr>
              <a:t>Communication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92428" y="3206257"/>
            <a:ext cx="27531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الإعْـــــلام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6031537" y="2424998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>
            <a:off x="2032000" y="2424996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>
            <a:off x="9836832" y="2411348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>
            <a:off x="6031536" y="4013673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>
            <a:off x="2031999" y="4040967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>
            <a:off x="9870617" y="4013672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Nuage 23"/>
          <p:cNvSpPr/>
          <p:nvPr/>
        </p:nvSpPr>
        <p:spPr>
          <a:xfrm>
            <a:off x="4517484" y="4834497"/>
            <a:ext cx="3028104" cy="11867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rgbClr val="0070C0"/>
                </a:solidFill>
              </a:rPr>
              <a:t>تــقــديــم مــعــلــومــات</a:t>
            </a:r>
            <a:endParaRPr lang="fr-FR" sz="2400" dirty="0"/>
          </a:p>
        </p:txBody>
      </p:sp>
      <p:sp>
        <p:nvSpPr>
          <p:cNvPr id="26" name="Nuage 25"/>
          <p:cNvSpPr/>
          <p:nvPr/>
        </p:nvSpPr>
        <p:spPr>
          <a:xfrm>
            <a:off x="8026919" y="4814080"/>
            <a:ext cx="3028104" cy="11867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rgbClr val="0070C0"/>
                </a:solidFill>
              </a:rPr>
              <a:t>تــبــادل مــعــلــومــات</a:t>
            </a:r>
            <a:endParaRPr lang="fr-FR" sz="2400" dirty="0"/>
          </a:p>
        </p:txBody>
      </p:sp>
      <p:sp>
        <p:nvSpPr>
          <p:cNvPr id="27" name="Nuage 26"/>
          <p:cNvSpPr/>
          <p:nvPr/>
        </p:nvSpPr>
        <p:spPr>
          <a:xfrm>
            <a:off x="1008049" y="4793800"/>
            <a:ext cx="3028104" cy="11867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rgbClr val="0070C0"/>
                </a:solidFill>
              </a:rPr>
              <a:t>عـــلـــم الــتــقـــنــيــات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96766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  <p:bldP spid="14" grpId="0" animBg="1"/>
      <p:bldP spid="24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83303">
            <a:off x="7611911" y="116633"/>
            <a:ext cx="1202534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496300"/>
              </p:ext>
            </p:extLst>
          </p:nvPr>
        </p:nvGraphicFramePr>
        <p:xfrm>
          <a:off x="1970856" y="545467"/>
          <a:ext cx="8229600" cy="6051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Ellipse 5"/>
          <p:cNvSpPr/>
          <p:nvPr/>
        </p:nvSpPr>
        <p:spPr>
          <a:xfrm>
            <a:off x="4295800" y="2675036"/>
            <a:ext cx="3528391" cy="1762075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>
              <a:lnSpc>
                <a:spcPct val="250000"/>
              </a:lnSpc>
            </a:pPr>
            <a:r>
              <a:rPr lang="ar-SA" sz="2800" b="1" dirty="0" smtClean="0">
                <a:cs typeface="+mj-cs"/>
              </a:rPr>
              <a:t>ش</a:t>
            </a:r>
            <a:r>
              <a:rPr lang="ar-DZ" sz="2800" b="1" dirty="0" smtClean="0">
                <a:cs typeface="+mj-cs"/>
              </a:rPr>
              <a:t>ـ</a:t>
            </a:r>
            <a:r>
              <a:rPr lang="ar-SA" sz="2800" b="1" dirty="0" smtClean="0">
                <a:cs typeface="+mj-cs"/>
              </a:rPr>
              <a:t>ب</a:t>
            </a:r>
            <a:r>
              <a:rPr lang="ar-DZ" sz="2800" b="1" dirty="0" smtClean="0">
                <a:cs typeface="+mj-cs"/>
              </a:rPr>
              <a:t>ـ</a:t>
            </a:r>
            <a:r>
              <a:rPr lang="ar-SA" sz="2800" b="1" dirty="0" smtClean="0">
                <a:cs typeface="+mj-cs"/>
              </a:rPr>
              <a:t>ك</a:t>
            </a:r>
            <a:r>
              <a:rPr lang="ar-DZ" sz="2800" b="1" dirty="0" smtClean="0">
                <a:cs typeface="+mj-cs"/>
              </a:rPr>
              <a:t>ـات</a:t>
            </a:r>
            <a:r>
              <a:rPr lang="ar-SA" sz="2800" b="1" dirty="0" smtClean="0">
                <a:cs typeface="+mj-cs"/>
              </a:rPr>
              <a:t> الات</a:t>
            </a:r>
            <a:r>
              <a:rPr lang="ar-DZ" sz="2800" b="1" dirty="0" smtClean="0">
                <a:cs typeface="+mj-cs"/>
              </a:rPr>
              <a:t>ـ</a:t>
            </a:r>
            <a:r>
              <a:rPr lang="ar-SA" sz="2800" b="1" dirty="0" smtClean="0">
                <a:cs typeface="+mj-cs"/>
              </a:rPr>
              <a:t>ص</a:t>
            </a:r>
            <a:r>
              <a:rPr lang="ar-DZ" sz="2800" b="1" dirty="0" smtClean="0">
                <a:cs typeface="+mj-cs"/>
              </a:rPr>
              <a:t>ـ</a:t>
            </a:r>
            <a:r>
              <a:rPr lang="ar-SA" sz="2800" b="1" dirty="0" smtClean="0">
                <a:cs typeface="+mj-cs"/>
              </a:rPr>
              <a:t>ال</a:t>
            </a:r>
            <a:r>
              <a:rPr lang="ar-DZ" sz="2800" b="1" dirty="0" smtClean="0">
                <a:cs typeface="+mj-cs"/>
              </a:rPr>
              <a:t>ات</a:t>
            </a:r>
            <a:endParaRPr lang="ar-DZ" sz="2800" b="1" dirty="0">
              <a:cs typeface="+mj-cs"/>
            </a:endParaRPr>
          </a:p>
          <a:p>
            <a:pPr lvl="0" algn="ctr"/>
            <a:endParaRPr lang="fr-FR" sz="2800" b="1" dirty="0">
              <a:cs typeface="+mj-c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653136"/>
            <a:ext cx="2409825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620688"/>
            <a:ext cx="24384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408" y="836712"/>
            <a:ext cx="2168162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649" y="4556347"/>
            <a:ext cx="2228128" cy="196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917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b="1" dirty="0" smtClean="0">
                <a:solidFill>
                  <a:srgbClr val="00B050"/>
                </a:solidFill>
              </a:rPr>
              <a:t>تــكــنــولــوجــيــا الإعــــلام و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الاتِّــصَــال  </a:t>
            </a:r>
            <a:r>
              <a:rPr lang="ar-DZ" b="1" dirty="0">
                <a:solidFill>
                  <a:srgbClr val="FF0000"/>
                </a:solidFill>
              </a:rPr>
              <a:t>« </a:t>
            </a:r>
            <a:r>
              <a:rPr lang="fr-FR" b="1" dirty="0">
                <a:solidFill>
                  <a:srgbClr val="FF0000"/>
                </a:solidFill>
              </a:rPr>
              <a:t>TIC</a:t>
            </a:r>
            <a:r>
              <a:rPr lang="ar-DZ" b="1" dirty="0">
                <a:solidFill>
                  <a:srgbClr val="FF0000"/>
                </a:solidFill>
              </a:rPr>
              <a:t> </a:t>
            </a:r>
            <a:r>
              <a:rPr lang="ar-DZ" b="1" dirty="0" smtClean="0">
                <a:solidFill>
                  <a:srgbClr val="FF0000"/>
                </a:solidFill>
              </a:rPr>
              <a:t>»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9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هـو </a:t>
            </a:r>
            <a:r>
              <a:rPr lang="ar-DZ" sz="4000" b="1" dirty="0">
                <a:cs typeface="+mj-cs"/>
              </a:rPr>
              <a:t>ذلـك </a:t>
            </a:r>
            <a:r>
              <a:rPr lang="ar-DZ" sz="4000" baseline="-25000" dirty="0" smtClean="0">
                <a:cs typeface="+mj-cs"/>
              </a:rPr>
              <a:t>..................................</a:t>
            </a:r>
            <a:r>
              <a:rPr lang="ar-DZ" sz="4000" b="1" dirty="0" smtClean="0">
                <a:cs typeface="+mj-cs"/>
              </a:rPr>
              <a:t>  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و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aseline="-25000" dirty="0" smtClean="0">
                <a:cs typeface="+mj-cs"/>
              </a:rPr>
              <a:t>..................................</a:t>
            </a:r>
            <a:r>
              <a:rPr lang="ar-DZ" sz="4000" b="1" dirty="0" smtClean="0">
                <a:cs typeface="+mj-cs"/>
              </a:rPr>
              <a:t>  بَــيْـنَ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...........................................</a:t>
            </a:r>
            <a:r>
              <a:rPr lang="ar-DZ" sz="4000" b="1" dirty="0" smtClean="0">
                <a:cs typeface="+mj-cs"/>
              </a:rPr>
              <a:t>( الـحــواســيـب، الـهـواتـف الـذكــيـة  ...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</a:t>
            </a:r>
            <a:r>
              <a:rPr lang="ar-DZ" sz="4000" b="1" dirty="0" smtClean="0">
                <a:cs typeface="+mj-cs"/>
              </a:rPr>
              <a:t>( </a:t>
            </a:r>
            <a:r>
              <a:rPr lang="ar-DZ" sz="4000" b="1" dirty="0" smtClean="0"/>
              <a:t>نُـظُـم الـتـشـغــيـل </a:t>
            </a:r>
            <a:r>
              <a:rPr lang="ar-DZ" sz="4000" b="1" dirty="0" smtClean="0">
                <a:cs typeface="+mj-cs"/>
              </a:rPr>
              <a:t>/ </a:t>
            </a:r>
            <a:r>
              <a:rPr lang="ar-DZ" sz="4000" b="1" dirty="0" smtClean="0"/>
              <a:t>الـبـرامـج الـتـطــبـيــقــيـة</a:t>
            </a:r>
            <a:r>
              <a:rPr lang="ar-DZ" sz="4000" b="1" dirty="0" smtClean="0">
                <a:cs typeface="+mj-cs"/>
              </a:rPr>
              <a:t>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........................................</a:t>
            </a:r>
            <a:r>
              <a:rPr lang="ar-DZ" sz="4000" b="1" dirty="0" smtClean="0">
                <a:cs typeface="+mj-cs"/>
              </a:rPr>
              <a:t>( سـلـكـية، لا</a:t>
            </a:r>
            <a:r>
              <a:rPr lang="ar-DZ" sz="4000" b="1" dirty="0" smtClean="0"/>
              <a:t>سـلـكـية </a:t>
            </a:r>
            <a:r>
              <a:rPr lang="ar-DZ" sz="4000" b="1" dirty="0" smtClean="0">
                <a:cs typeface="+mj-cs"/>
              </a:rPr>
              <a:t>/ الـسـمعـي الـبـصـري) </a:t>
            </a:r>
            <a:endParaRPr lang="ar-DZ" sz="4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4054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b="1" dirty="0" smtClean="0">
                <a:solidFill>
                  <a:srgbClr val="00B050"/>
                </a:solidFill>
              </a:rPr>
              <a:t>تــكــنــولــوجــيــا الإعــــلام و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الاتِّــصَــال  </a:t>
            </a:r>
            <a:r>
              <a:rPr lang="ar-DZ" b="1" dirty="0">
                <a:solidFill>
                  <a:srgbClr val="FF0000"/>
                </a:solidFill>
              </a:rPr>
              <a:t>« </a:t>
            </a:r>
            <a:r>
              <a:rPr lang="fr-FR" b="1" dirty="0">
                <a:solidFill>
                  <a:srgbClr val="FF0000"/>
                </a:solidFill>
              </a:rPr>
              <a:t>TIC</a:t>
            </a:r>
            <a:r>
              <a:rPr lang="ar-DZ" b="1" dirty="0">
                <a:solidFill>
                  <a:srgbClr val="FF0000"/>
                </a:solidFill>
              </a:rPr>
              <a:t> </a:t>
            </a:r>
            <a:r>
              <a:rPr lang="ar-DZ" b="1" dirty="0" smtClean="0">
                <a:solidFill>
                  <a:srgbClr val="FF0000"/>
                </a:solidFill>
              </a:rPr>
              <a:t>»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9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هـو </a:t>
            </a:r>
            <a:r>
              <a:rPr lang="ar-DZ" sz="4000" b="1" dirty="0">
                <a:cs typeface="+mj-cs"/>
              </a:rPr>
              <a:t>ذلـك </a:t>
            </a:r>
            <a:r>
              <a:rPr lang="ar-DZ" sz="4000" baseline="-25000" dirty="0" smtClean="0">
                <a:cs typeface="+mj-cs"/>
              </a:rPr>
              <a:t>..................................</a:t>
            </a:r>
            <a:r>
              <a:rPr lang="ar-DZ" sz="4000" b="1" dirty="0" smtClean="0">
                <a:cs typeface="+mj-cs"/>
              </a:rPr>
              <a:t>  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و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aseline="-25000" dirty="0" smtClean="0">
                <a:cs typeface="+mj-cs"/>
              </a:rPr>
              <a:t>..................................</a:t>
            </a:r>
            <a:r>
              <a:rPr lang="ar-DZ" sz="4000" b="1" dirty="0" smtClean="0">
                <a:cs typeface="+mj-cs"/>
              </a:rPr>
              <a:t>  بَــيْـنَ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...........................................</a:t>
            </a:r>
            <a:r>
              <a:rPr lang="ar-DZ" sz="4000" b="1" dirty="0" smtClean="0">
                <a:cs typeface="+mj-cs"/>
              </a:rPr>
              <a:t>( الـحــواســيـب، الـهـواتـف الـذكــيـة  ...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</a:t>
            </a:r>
            <a:r>
              <a:rPr lang="ar-DZ" sz="4000" b="1" dirty="0" smtClean="0">
                <a:cs typeface="+mj-cs"/>
              </a:rPr>
              <a:t>( </a:t>
            </a:r>
            <a:r>
              <a:rPr lang="ar-DZ" sz="4000" b="1" dirty="0" smtClean="0"/>
              <a:t>نُـظُـم الـتـشـغــيـل </a:t>
            </a:r>
            <a:r>
              <a:rPr lang="ar-DZ" sz="4000" b="1" dirty="0" smtClean="0">
                <a:cs typeface="+mj-cs"/>
              </a:rPr>
              <a:t>/ </a:t>
            </a:r>
            <a:r>
              <a:rPr lang="ar-DZ" sz="4000" b="1" dirty="0" smtClean="0"/>
              <a:t>الـبـرامـج الـتـطــبـيــقــيـة</a:t>
            </a:r>
            <a:r>
              <a:rPr lang="ar-DZ" sz="4000" b="1" dirty="0" smtClean="0">
                <a:cs typeface="+mj-cs"/>
              </a:rPr>
              <a:t>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........................................</a:t>
            </a:r>
            <a:r>
              <a:rPr lang="ar-DZ" sz="4000" b="1" dirty="0" smtClean="0">
                <a:cs typeface="+mj-cs"/>
              </a:rPr>
              <a:t>( سـلـكـية، لا</a:t>
            </a:r>
            <a:r>
              <a:rPr lang="ar-DZ" sz="4000" b="1" dirty="0" smtClean="0"/>
              <a:t>سـلـكـية </a:t>
            </a:r>
            <a:r>
              <a:rPr lang="ar-DZ" sz="4000" b="1" dirty="0" smtClean="0">
                <a:cs typeface="+mj-cs"/>
              </a:rPr>
              <a:t>/ الـسـمعـي الـبـصـري) </a:t>
            </a:r>
            <a:endParaRPr lang="ar-DZ" sz="4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12" name="Rectangle 11"/>
          <p:cNvSpPr/>
          <p:nvPr/>
        </p:nvSpPr>
        <p:spPr>
          <a:xfrm>
            <a:off x="3785632" y="1657903"/>
            <a:ext cx="22902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الـتــكــامــل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06488" y="1657903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الـتــلاقـي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0254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12" grpId="0" animBg="1"/>
      <p:bldP spid="1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b="1" dirty="0" smtClean="0">
                <a:solidFill>
                  <a:srgbClr val="00B050"/>
                </a:solidFill>
              </a:rPr>
              <a:t>تــكــنــولــوجــيــا الإعــــلام و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الاتِّــصَــال  </a:t>
            </a:r>
            <a:r>
              <a:rPr lang="ar-DZ" b="1" dirty="0">
                <a:solidFill>
                  <a:srgbClr val="FF0000"/>
                </a:solidFill>
              </a:rPr>
              <a:t>« </a:t>
            </a:r>
            <a:r>
              <a:rPr lang="fr-FR" b="1" dirty="0">
                <a:solidFill>
                  <a:srgbClr val="FF0000"/>
                </a:solidFill>
              </a:rPr>
              <a:t>TIC</a:t>
            </a:r>
            <a:r>
              <a:rPr lang="ar-DZ" b="1" dirty="0">
                <a:solidFill>
                  <a:srgbClr val="FF0000"/>
                </a:solidFill>
              </a:rPr>
              <a:t> </a:t>
            </a:r>
            <a:r>
              <a:rPr lang="ar-DZ" b="1" dirty="0" smtClean="0">
                <a:solidFill>
                  <a:srgbClr val="FF0000"/>
                </a:solidFill>
              </a:rPr>
              <a:t>»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9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هـو </a:t>
            </a:r>
            <a:r>
              <a:rPr lang="ar-DZ" sz="4000" b="1" dirty="0">
                <a:cs typeface="+mj-cs"/>
              </a:rPr>
              <a:t>ذلـك </a:t>
            </a:r>
            <a:r>
              <a:rPr lang="ar-DZ" sz="4000" baseline="-25000" dirty="0" smtClean="0">
                <a:cs typeface="+mj-cs"/>
              </a:rPr>
              <a:t>..................................</a:t>
            </a:r>
            <a:r>
              <a:rPr lang="ar-DZ" sz="4000" b="1" dirty="0" smtClean="0">
                <a:cs typeface="+mj-cs"/>
              </a:rPr>
              <a:t>  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و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aseline="-25000" dirty="0" smtClean="0">
                <a:cs typeface="+mj-cs"/>
              </a:rPr>
              <a:t>..................................</a:t>
            </a:r>
            <a:r>
              <a:rPr lang="ar-DZ" sz="4000" b="1" dirty="0" smtClean="0">
                <a:cs typeface="+mj-cs"/>
              </a:rPr>
              <a:t>  بَــيْـنَ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...........................................</a:t>
            </a:r>
            <a:r>
              <a:rPr lang="ar-DZ" sz="4000" b="1" dirty="0" smtClean="0">
                <a:cs typeface="+mj-cs"/>
              </a:rPr>
              <a:t>( الـحــواســيـب، الـهـواتـف الـذكــيـة  ...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</a:t>
            </a:r>
            <a:r>
              <a:rPr lang="ar-DZ" sz="4000" b="1" dirty="0" smtClean="0">
                <a:cs typeface="+mj-cs"/>
              </a:rPr>
              <a:t>( </a:t>
            </a:r>
            <a:r>
              <a:rPr lang="ar-DZ" sz="4000" b="1" dirty="0" smtClean="0"/>
              <a:t>نُـظُـم الـتـشـغــيـل </a:t>
            </a:r>
            <a:r>
              <a:rPr lang="ar-DZ" sz="4000" b="1" dirty="0" smtClean="0">
                <a:cs typeface="+mj-cs"/>
              </a:rPr>
              <a:t>/ </a:t>
            </a:r>
            <a:r>
              <a:rPr lang="ar-DZ" sz="4000" b="1" dirty="0" smtClean="0"/>
              <a:t>الـبـرامـج الـتـطــبـيــقــيـة</a:t>
            </a:r>
            <a:r>
              <a:rPr lang="ar-DZ" sz="4000" b="1" dirty="0" smtClean="0">
                <a:cs typeface="+mj-cs"/>
              </a:rPr>
              <a:t>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........................................</a:t>
            </a:r>
            <a:r>
              <a:rPr lang="ar-DZ" sz="4000" b="1" dirty="0" smtClean="0">
                <a:cs typeface="+mj-cs"/>
              </a:rPr>
              <a:t>( سـلـكـية، لا</a:t>
            </a:r>
            <a:r>
              <a:rPr lang="ar-DZ" sz="4000" b="1" dirty="0" smtClean="0"/>
              <a:t>سـلـكـية </a:t>
            </a:r>
            <a:r>
              <a:rPr lang="ar-DZ" sz="4000" b="1" dirty="0" smtClean="0">
                <a:cs typeface="+mj-cs"/>
              </a:rPr>
              <a:t>/ الـسـمعـي الـبـصـري) </a:t>
            </a:r>
            <a:endParaRPr lang="ar-DZ" sz="4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12" name="Rectangle 11"/>
          <p:cNvSpPr/>
          <p:nvPr/>
        </p:nvSpPr>
        <p:spPr>
          <a:xfrm>
            <a:off x="3785632" y="1657903"/>
            <a:ext cx="22902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الـتــكــامــل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06488" y="1657903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الـتــلاقـي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40216" y="2711024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الأجــهــزة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688288" y="3720825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الـبـــرامــج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0216" y="4792543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شـبـكـات الاِتِّـصَـالات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776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1" grpId="0" animBg="1"/>
      <p:bldP spid="14" grpId="0" animBg="1"/>
      <p:bldP spid="1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</a:rPr>
              <a:t>2. مـجـــالات الاســتــعــمــال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800" b="1" dirty="0">
                <a:solidFill>
                  <a:srgbClr val="FF0000"/>
                </a:solidFill>
                <a:cs typeface="+mj-cs"/>
              </a:rPr>
              <a:t>نـشــاط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4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عَـيِّـنْ </a:t>
            </a:r>
            <a:r>
              <a:rPr lang="ar-DZ" sz="4400" b="1" dirty="0">
                <a:cs typeface="+mj-cs"/>
              </a:rPr>
              <a:t>بـعـض الـخـدمـات الَّـتِي تُـقَـدِمُـهَـا لـنـا تـكـنـولـوجـيـات الإعــلام والاتـصـال </a:t>
            </a:r>
            <a:r>
              <a:rPr lang="fr-FR" sz="4400" b="1" u="sng" dirty="0">
                <a:cs typeface="+mj-cs"/>
              </a:rPr>
              <a:t>TIC</a:t>
            </a:r>
            <a:r>
              <a:rPr lang="ar-DZ" sz="4400" b="1" dirty="0">
                <a:cs typeface="+mj-cs"/>
              </a:rPr>
              <a:t> في الـمـجـالات الـتـالـيـة :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24840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مـجـــالات الاســتــعــمــال 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800" b="1" dirty="0" smtClean="0"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الـتـعــلـيـم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الـصـحـة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الإدارة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الاقـتـصـاد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الـنــقــل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</a:t>
            </a:r>
            <a:r>
              <a:rPr lang="ar-DZ" sz="4400" baseline="-25000" dirty="0" smtClean="0">
                <a:cs typeface="+mj-cs"/>
              </a:rPr>
              <a:t> .........................................................................................</a:t>
            </a:r>
            <a:endParaRPr lang="ar-DZ" sz="44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1023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مـجـــالات الاســتــعــمــال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800" b="1" dirty="0" smtClean="0"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الـتـعــلـيـم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الـصـحـة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الإدارة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الاقـتـصـاد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الـنــقــل  :</a:t>
            </a:r>
            <a:r>
              <a:rPr lang="ar-DZ" sz="4400" baseline="-25000" dirty="0" smtClean="0">
                <a:cs typeface="+mj-cs"/>
              </a:rPr>
              <a:t> .......................................................................................</a:t>
            </a:r>
            <a:endParaRPr lang="ar-DZ" sz="44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55440" y="1484784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الـتـعــلــيــم الإلـكــتــرونـي ،  الـتـعــلــيــم عــن بُـعْــد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5442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مـجـــالات الاســتــعــمــال 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800" b="1" dirty="0" smtClean="0"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الـتـعــلـيـم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الـصـحـة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الإدارة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الاقـتـصـاد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الـنــقــل  :</a:t>
            </a:r>
            <a:r>
              <a:rPr lang="ar-DZ" sz="4400" baseline="-25000" dirty="0" smtClean="0">
                <a:cs typeface="+mj-cs"/>
              </a:rPr>
              <a:t> .......................................................................................</a:t>
            </a:r>
            <a:endParaRPr lang="ar-DZ" sz="44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55440" y="1484784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الـتـعــلــيــم الإلـكــتــرونـي ،  الـتـعــلــيــم عــن بُـعْــد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3899" y="2369862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>
                <a:solidFill>
                  <a:srgbClr val="0070C0"/>
                </a:solidFill>
                <a:cs typeface="+mj-cs"/>
              </a:rPr>
              <a:t>الـمـتــابـعــة الـرقــمــيــة للـمــرضـى ،  الـجــراحــة عــن بُـعْــد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612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مـجـــالات الاســتــعــمــال </a:t>
            </a:r>
            <a:r>
              <a:rPr lang="ar-DZ" sz="5400" b="1" dirty="0">
                <a:solidFill>
                  <a:srgbClr val="FF0000"/>
                </a:solidFill>
              </a:rPr>
              <a:t>ــ </a:t>
            </a:r>
            <a:r>
              <a:rPr lang="ar-DZ" sz="5400" b="1" dirty="0" smtClean="0">
                <a:solidFill>
                  <a:srgbClr val="FF0000"/>
                </a:solidFill>
              </a:rPr>
              <a:t>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800" b="1" dirty="0" smtClean="0"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الـتـعــلـيـم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الـصـحـة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الإدارة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الاقـتـصـاد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الـنــقــل  :</a:t>
            </a:r>
            <a:r>
              <a:rPr lang="ar-DZ" sz="4400" baseline="-25000" dirty="0" smtClean="0">
                <a:cs typeface="+mj-cs"/>
              </a:rPr>
              <a:t> .......................................................................................</a:t>
            </a:r>
            <a:endParaRPr lang="ar-DZ" sz="44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55440" y="1484784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الـتـعــلــيــم الإلـكــتــرونـي ،  الـتـعــلــيــم عــن بُـعْــد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3899" y="2369862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>
                <a:solidFill>
                  <a:srgbClr val="0070C0"/>
                </a:solidFill>
                <a:cs typeface="+mj-cs"/>
              </a:rPr>
              <a:t>الـمـتــابـعــة الـرقــمــيــة للـمــرضـى ،  الـجــراحــة عــن بُـعْــد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92358" y="3254940"/>
            <a:ext cx="84600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رقــمــنـة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الـوثـائـق، الـتـسـجـيـلات الـجـامـعــيـة عـن بُعْـد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3536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مـجـــالات الاســتــعــمــال </a:t>
            </a:r>
            <a:r>
              <a:rPr lang="ar-DZ" sz="5400" b="1" dirty="0">
                <a:solidFill>
                  <a:srgbClr val="FF0000"/>
                </a:solidFill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800" b="1" dirty="0" smtClean="0"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الـتـعــلـيـم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الـصـحـة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الإدارة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الاقـتـصـاد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الـنــقــل  :</a:t>
            </a:r>
            <a:r>
              <a:rPr lang="ar-DZ" sz="4400" baseline="-25000" dirty="0" smtClean="0">
                <a:cs typeface="+mj-cs"/>
              </a:rPr>
              <a:t> .......................................................................................</a:t>
            </a:r>
            <a:endParaRPr lang="ar-DZ" sz="44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55440" y="1484784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الـتـعــلــيــم الإلـكــتــرونـي ،  الـتـعــلــيــم عــن بُـعْــد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3899" y="2369862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>
                <a:solidFill>
                  <a:srgbClr val="0070C0"/>
                </a:solidFill>
                <a:cs typeface="+mj-cs"/>
              </a:rPr>
              <a:t>الـمـتــابـعــة الـرقــمــيــة للـمــرضـى ،  الـجــراحــة عــن بُـعْــد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440" y="4189308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الـتـجــارة الإلـكـتـرونـيـة ،  الـعــمــل عـن بُـعْــد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92358" y="3254940"/>
            <a:ext cx="84600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رقــمــنـة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الـوثـائـق، الـتـسـجـيـلات الـجـامـعــيـة عـن بُعْـد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84091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8" grpId="0" animBg="1"/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مـجـــالات الاســتــعــمــال </a:t>
            </a:r>
            <a:r>
              <a:rPr lang="ar-DZ" sz="5400" b="1" dirty="0">
                <a:solidFill>
                  <a:srgbClr val="FF0000"/>
                </a:solidFill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800" b="1" dirty="0" smtClean="0"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الـتـعــلـيـم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الـصـحـة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الإدارة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الاقـتـصـاد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الـنــقــل  :</a:t>
            </a:r>
            <a:r>
              <a:rPr lang="ar-DZ" sz="4400" baseline="-25000" dirty="0" smtClean="0">
                <a:cs typeface="+mj-cs"/>
              </a:rPr>
              <a:t> .......................................................................................</a:t>
            </a:r>
            <a:endParaRPr lang="ar-DZ" sz="44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55440" y="1484784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الـتـعــلــيــم الإلـكــتــرونـي ،  الـتـعــلــيــم عــن بُـعْــد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3899" y="2369862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>
                <a:solidFill>
                  <a:srgbClr val="0070C0"/>
                </a:solidFill>
                <a:cs typeface="+mj-cs"/>
              </a:rPr>
              <a:t>الـمـتــابـعــة الـرقــمــيــة للـمــرضـى ،  الـجــراحــة عــن بُـعْــد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440" y="4189308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الـتـجــارة الإلـكـتـرونـيـة ،  الـعــمــل عـن بُـعْــد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18522" y="5123676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الـتـذكــرة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الإلـكـتـرونـيـة ، الـتَّـجَـوُّل بـنـظـام  </a:t>
            </a:r>
            <a:r>
              <a:rPr lang="fr-FR" sz="3600" b="1" dirty="0">
                <a:solidFill>
                  <a:srgbClr val="0070C0"/>
                </a:solidFill>
                <a:cs typeface="+mj-cs"/>
              </a:rPr>
              <a:t>GPS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2358" y="3254940"/>
            <a:ext cx="84600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رقــمــنـة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الـوثـائـق، الـتـسـجـيـلات الـجـامـعــيـة عـن بُعْـد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411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</a:rPr>
              <a:t>3. تـطــوُّر تــقــنــيــة الـمــعــلــومــات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93968" y="4147391"/>
            <a:ext cx="3337142" cy="15138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FF0000"/>
                </a:solidFill>
              </a:rPr>
              <a:t>الأجــهــزة   </a:t>
            </a:r>
            <a:r>
              <a:rPr lang="fr-FR" sz="3200" b="1" dirty="0">
                <a:solidFill>
                  <a:srgbClr val="FF0000"/>
                </a:solidFill>
              </a:rPr>
              <a:t>Hardware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0666" y="4147391"/>
            <a:ext cx="3409150" cy="15138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FF0000"/>
                </a:solidFill>
              </a:rPr>
              <a:t>الــبـــرامــج   </a:t>
            </a:r>
            <a:r>
              <a:rPr lang="fr-FR" sz="3200" b="1" dirty="0">
                <a:solidFill>
                  <a:srgbClr val="FF0000"/>
                </a:solidFill>
              </a:rPr>
              <a:t>Software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1315" y="2051865"/>
            <a:ext cx="10000444" cy="13142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الــمــعــــلــــومـــاتــــيـــة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Informatique</a:t>
            </a:r>
            <a:endParaRPr lang="fr-FR" sz="44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  <a:endCxn id="8" idx="3"/>
          </p:cNvCxnSpPr>
          <p:nvPr/>
        </p:nvCxnSpPr>
        <p:spPr>
          <a:xfrm flipH="1">
            <a:off x="4439816" y="3366072"/>
            <a:ext cx="1591721" cy="15382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3366072"/>
            <a:ext cx="1662431" cy="15382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01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</a:rPr>
              <a:t>3. تـطــوُّر تــقــنــيــة الـمــعــلــومــات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93968" y="2772313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</a:rPr>
              <a:t>أجــهــزة الـمـعـالـجـة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30666" y="4078323"/>
            <a:ext cx="34091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الـبــرامـج الـتـطـبـيـقـيـة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0666" y="2786417"/>
            <a:ext cx="34091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</a:rPr>
              <a:t>أجــهــزة الاِتِّـصَـال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</a:rPr>
              <a:t>تـطــوُّر الــبـــرامــج   </a:t>
            </a:r>
            <a:r>
              <a:rPr lang="fr-FR" sz="4000" b="1" dirty="0" smtClean="0">
                <a:solidFill>
                  <a:srgbClr val="FF0000"/>
                </a:solidFill>
              </a:rPr>
              <a:t>Software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تـطــوُّر الأجــهــزة  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Hardware</a:t>
            </a:r>
            <a:endParaRPr lang="fr-FR" sz="44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93968" y="4139777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نُــظُــم الـتــشــغــيــل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13" idx="2"/>
            <a:endCxn id="8" idx="3"/>
          </p:cNvCxnSpPr>
          <p:nvPr/>
        </p:nvCxnSpPr>
        <p:spPr>
          <a:xfrm flipH="1">
            <a:off x="4439816" y="2278561"/>
            <a:ext cx="1591721" cy="904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2278561"/>
            <a:ext cx="1662431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>
            <a:endCxn id="7" idx="3"/>
          </p:cNvCxnSpPr>
          <p:nvPr/>
        </p:nvCxnSpPr>
        <p:spPr>
          <a:xfrm flipH="1" flipV="1">
            <a:off x="4439816" y="4475212"/>
            <a:ext cx="1440810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475212"/>
            <a:ext cx="1827640" cy="8577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93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</a:rPr>
              <a:t>3. تـطــوُّر تــقــنــيــة الـمــعــلــومــات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400" b="1" dirty="0">
                <a:solidFill>
                  <a:schemeClr val="tx1"/>
                </a:solidFill>
                <a:cs typeface="+mj-cs"/>
              </a:rPr>
              <a:t>تـطــوُّر تــقــنــيــة الـمــعــلــومــات </a:t>
            </a: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يَــشْــمُــلُ كـل مـن  :</a:t>
            </a:r>
          </a:p>
          <a:p>
            <a:pPr marL="0" indent="0" algn="just" rtl="1">
              <a:buNone/>
            </a:pPr>
            <a:endParaRPr lang="ar-DZ" sz="1500" b="1" dirty="0" smtClean="0">
              <a:solidFill>
                <a:schemeClr val="tx1"/>
              </a:solidFill>
              <a:cs typeface="+mj-cs"/>
            </a:endParaRPr>
          </a:p>
          <a:p>
            <a:pPr algn="just" rtl="1">
              <a:lnSpc>
                <a:spcPts val="528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تـطــوُّر الأجـهــزة ( أجـهــزة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الــمـعــالـجـة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/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الاِتِّــصـال ) :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الـحــواســيــب ، الـهــواتــف وشــبــكــات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الاِتِّــصــالات </a:t>
            </a:r>
            <a:endParaRPr lang="ar-DZ" sz="4400" b="1" dirty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buNone/>
            </a:pPr>
            <a:endParaRPr lang="ar-DZ" sz="1500" b="1" dirty="0" smtClean="0">
              <a:cs typeface="+mj-cs"/>
            </a:endParaRPr>
          </a:p>
          <a:p>
            <a:pPr algn="just" rtl="1">
              <a:lnSpc>
                <a:spcPts val="528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تـطــوُّر الـبــرامــج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أنـظـمـة الـتــشـغــيـل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Windows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48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، 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Android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48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...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 ، الـبــرمــجــيــات والـتــطـــبـــيـــقـــات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1929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3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تـطــوُّر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تــقــنــيــة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الـمــعــلــومــات ــ تـابـع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spcAft>
                <a:spcPts val="0"/>
              </a:spcAft>
              <a:buNone/>
            </a:pPr>
            <a:r>
              <a:rPr lang="ar-SA" sz="4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1.3 </a:t>
            </a:r>
            <a:r>
              <a:rPr lang="ar-SA" sz="48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– تـطــوُّر أجـهــزة الـمـعــالــجــة  :</a:t>
            </a:r>
            <a:endParaRPr lang="fr-FR" sz="4800" dirty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ts val="5760"/>
              </a:lnSpc>
              <a:buNone/>
            </a:pP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نـشــاط 5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400" b="1" dirty="0" smtClean="0">
                <a:cs typeface="+mj-cs"/>
              </a:rPr>
              <a:t>قَــارِنْ بــيـن الـحــواســيـب الأولـى والـحــواســيـب الـحــالــيـة فـي الـجــوانــب الـتــالــيـة : حــجــم الـجــهــاز، الـطــاقــة الـمــســتــهــلــكــة، الـقــدرات وتــفــاعــل الــمــســتــخــدم مـع الـجـهـاز ( سـهـولـة / صـعـوبـة الاسـتـعـمـال ) 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762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5 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592588"/>
              </p:ext>
            </p:extLst>
          </p:nvPr>
        </p:nvGraphicFramePr>
        <p:xfrm>
          <a:off x="609600" y="1341438"/>
          <a:ext cx="10872000" cy="506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الـحــواســيـب الـحــالــيـة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الـحــواســيــب</a:t>
                      </a:r>
                      <a:endParaRPr lang="ar-DZ" sz="38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 الأولـى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حـــجـــم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الـطــاقــة الـمـســتـهــلـكـة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قــــدرات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الـتــفـــاعـــلــيــة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4907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5 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564536"/>
              </p:ext>
            </p:extLst>
          </p:nvPr>
        </p:nvGraphicFramePr>
        <p:xfrm>
          <a:off x="609600" y="1341438"/>
          <a:ext cx="10872000" cy="506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الـحــواســيـب الـحــالــيـة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الـحــواســيــب</a:t>
                      </a:r>
                      <a:endParaRPr lang="ar-DZ" sz="38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 الأولـى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حـــجـــم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الـطــاقــة الـمـســتـهــلـكـة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قــــدرات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الـتــفـــاعـــلــيــة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583831" y="263691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كـبـيـرة بـحـجـم قـاعـة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636912"/>
            <a:ext cx="38561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صغـيـرة تـحـمـل في الـكـف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4417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5 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592588"/>
              </p:ext>
            </p:extLst>
          </p:nvPr>
        </p:nvGraphicFramePr>
        <p:xfrm>
          <a:off x="609600" y="1341438"/>
          <a:ext cx="10872000" cy="506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الـحــواســيـب الـحــالــيـة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الـحــواســيــب</a:t>
                      </a:r>
                      <a:endParaRPr lang="ar-DZ" sz="38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 الأولـى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حـــجـــم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الـطــاقــة الـمـســتـهــلـكـة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قــــدرات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الـتــفـــاعـــلــيــة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583831" y="263691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كـبـيـرة بـحـجـم قـاعـة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05932" y="3573016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عــالــيــة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636912"/>
            <a:ext cx="38561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صغـيـرة تـحـمـل في الـكـف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493" y="3573016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ضـئـيـلـة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5453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5 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592588"/>
              </p:ext>
            </p:extLst>
          </p:nvPr>
        </p:nvGraphicFramePr>
        <p:xfrm>
          <a:off x="609600" y="1341438"/>
          <a:ext cx="10872000" cy="506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الـحــواســيـب الـحــالــيـة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الـحــواســيــب</a:t>
                      </a:r>
                      <a:endParaRPr lang="ar-DZ" sz="38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 الأولـى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حـــجـــم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الـطــاقــة الـمـســتـهــلـكـة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قــــدرات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الـتــفـــاعـــلــيــة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583831" y="263691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كـبـيـرة بـحـجـم قـاعـة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05932" y="3573016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عــالــيــة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96605" y="4541118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مــحــدودة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636912"/>
            <a:ext cx="38561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صغـيـرة تـحـمـل في الـكـف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493" y="3573016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ضـئـيـلـة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6166" y="4541118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عــالــيــة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7766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5 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592588"/>
              </p:ext>
            </p:extLst>
          </p:nvPr>
        </p:nvGraphicFramePr>
        <p:xfrm>
          <a:off x="609600" y="1341438"/>
          <a:ext cx="10872000" cy="506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الـحــواســيـب الـحــالــيـة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الـحــواســيــب</a:t>
                      </a:r>
                      <a:endParaRPr lang="ar-DZ" sz="38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 الأولـى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حـــجـــم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الـطــاقــة الـمـســتـهــلـكـة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قــــدرات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الـتــفـــاعـــلــيــة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583831" y="263691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كـبـيـرة بـحـجـم قـاعـة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05932" y="3573016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عــالــيــة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96605" y="4541118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مــحــدودة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18706" y="547722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صـعــبـة الاسـتـعــمـال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636912"/>
            <a:ext cx="38561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صغـيـرة تـحـمـل في الـكـف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493" y="3573016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ضـئـيـلـة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6166" y="4541118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عــالــيــة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8267" y="5477222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ســهــلــة الاسـتـعــمـال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499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3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تـطــوُّر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تــقــنــيــة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الـمــعــلــومــات ــ تـابـع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spcAft>
                <a:spcPts val="0"/>
              </a:spcAft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2</a:t>
            </a:r>
            <a:r>
              <a:rPr lang="ar-SA" sz="4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.3 </a:t>
            </a:r>
            <a:r>
              <a:rPr lang="ar-SA" sz="48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– تـطــوُّر أجـهــزة </a:t>
            </a:r>
            <a:r>
              <a:rPr lang="ar-SA" sz="4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ا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لاتِّــصـال</a:t>
            </a:r>
            <a:r>
              <a:rPr lang="ar-SA" sz="4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 </a:t>
            </a:r>
            <a:r>
              <a:rPr lang="ar-SA" sz="48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:</a:t>
            </a:r>
            <a:endParaRPr lang="fr-FR" sz="4800" dirty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نـشــاط 6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400" b="1" dirty="0">
                <a:cs typeface="+mj-cs"/>
              </a:rPr>
              <a:t>الـجـدول الـتـالـي يـوضِّـح تـطـوُّر الـتـواصـل عــبــر الـتــاريـخ، أكــمـل الـجـدول بـالـمـعــلــومــات الـمــنـاسـبـة </a:t>
            </a:r>
            <a:r>
              <a:rPr lang="ar-DZ" sz="4400" b="1" dirty="0" smtClean="0">
                <a:cs typeface="+mj-cs"/>
              </a:rPr>
              <a:t>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397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6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098631"/>
              </p:ext>
            </p:extLst>
          </p:nvPr>
        </p:nvGraphicFramePr>
        <p:xfrm>
          <a:off x="609600" y="1341438"/>
          <a:ext cx="10872000" cy="475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000"/>
                <a:gridCol w="3624000"/>
                <a:gridCol w="3624000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ســـرعـــة الاِتِّــصَــال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مــحــتــوى الـرســالــة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وســيــلـة </a:t>
                      </a:r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الِاتِّــصَــال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بــــطـــيـــــئــــة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dirty="0" smtClean="0">
                          <a:cs typeface="+mj-cs"/>
                        </a:rPr>
                        <a:t>........................................................</a:t>
                      </a:r>
                      <a:endParaRPr lang="fr-FR" sz="3200" b="0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الــحــــمــــام الــزَّاجِـــــل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نُــصُــوص</a:t>
                      </a:r>
                      <a:r>
                        <a:rPr lang="ar-DZ" sz="3000" b="1" baseline="0" dirty="0" smtClean="0">
                          <a:cs typeface="+mj-cs"/>
                        </a:rPr>
                        <a:t> و صُــوَر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ســـــاعـــي الـــبـــريــــــد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نُــصُــوص</a:t>
                      </a:r>
                      <a:r>
                        <a:rPr lang="ar-DZ" sz="3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الـرســائــل الـقــصــيـــرة  </a:t>
                      </a:r>
                      <a:r>
                        <a:rPr lang="en-US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SMS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ســـريــعــة جــدا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الـبــريـــد الإلـكــتــرونـي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8055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</a:t>
            </a:r>
            <a:r>
              <a:rPr lang="ar-SA" sz="4200" b="1" dirty="0" smtClean="0">
                <a:solidFill>
                  <a:srgbClr val="FF0000"/>
                </a:solidFill>
                <a:cs typeface="+mj-cs"/>
              </a:rPr>
              <a:t>مــا هــي أركــان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« </a:t>
            </a:r>
            <a:r>
              <a:rPr lang="ar-SA" sz="4200" b="1" dirty="0" smtClean="0">
                <a:solidFill>
                  <a:srgbClr val="FF0000"/>
                </a:solidFill>
                <a:cs typeface="+mj-cs"/>
              </a:rPr>
              <a:t>ال</a:t>
            </a:r>
            <a:r>
              <a:rPr lang="ar-DZ" sz="4200" b="1" dirty="0" err="1" smtClean="0">
                <a:solidFill>
                  <a:srgbClr val="FF0000"/>
                </a:solidFill>
                <a:cs typeface="+mj-cs"/>
              </a:rPr>
              <a:t>إتِّــصَــال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»</a:t>
            </a:r>
            <a:r>
              <a:rPr lang="ar-SA" sz="4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43639" y="5299519"/>
            <a:ext cx="4695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FF0000"/>
                </a:solidFill>
              </a:rPr>
              <a:t>وســائــل ( حـسـب أسـلـوب )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err="1">
                <a:solidFill>
                  <a:srgbClr val="FF0000"/>
                </a:solidFill>
              </a:rPr>
              <a:t>إتِّــصَــال</a:t>
            </a:r>
            <a:r>
              <a:rPr lang="ar-DZ" sz="36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Communication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3321923" y="4545693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H="1">
            <a:off x="3321923" y="4895250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Nuage 4"/>
          <p:cNvSpPr/>
          <p:nvPr/>
        </p:nvSpPr>
        <p:spPr>
          <a:xfrm>
            <a:off x="8851431" y="5290295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rgbClr val="0070C0"/>
                </a:solidFill>
              </a:rPr>
              <a:t>نـفـس </a:t>
            </a:r>
            <a:r>
              <a:rPr lang="ar-DZ" sz="2400" b="1" dirty="0" smtClean="0">
                <a:solidFill>
                  <a:srgbClr val="0070C0"/>
                </a:solidFill>
              </a:rPr>
              <a:t>الـلـغــة</a:t>
            </a:r>
            <a:endParaRPr lang="fr-FR" sz="2400" dirty="0"/>
          </a:p>
        </p:txBody>
      </p:sp>
      <p:sp>
        <p:nvSpPr>
          <p:cNvPr id="18" name="Nuage 17"/>
          <p:cNvSpPr/>
          <p:nvPr/>
        </p:nvSpPr>
        <p:spPr>
          <a:xfrm>
            <a:off x="827988" y="5298072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rgbClr val="0070C0"/>
                </a:solidFill>
              </a:rPr>
              <a:t>نـفـس </a:t>
            </a:r>
            <a:r>
              <a:rPr lang="ar-DZ" sz="2400" b="1" dirty="0" smtClean="0">
                <a:solidFill>
                  <a:srgbClr val="0070C0"/>
                </a:solidFill>
              </a:rPr>
              <a:t>الـلـغــة</a:t>
            </a:r>
            <a:endParaRPr lang="fr-FR" sz="2400" dirty="0"/>
          </a:p>
        </p:txBody>
      </p:sp>
      <p:sp>
        <p:nvSpPr>
          <p:cNvPr id="10" name="Organigramme : Multidocument 9"/>
          <p:cNvSpPr/>
          <p:nvPr/>
        </p:nvSpPr>
        <p:spPr>
          <a:xfrm>
            <a:off x="1120054" y="2731521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Organigramme : Multidocument 18"/>
          <p:cNvSpPr/>
          <p:nvPr/>
        </p:nvSpPr>
        <p:spPr>
          <a:xfrm>
            <a:off x="9564100" y="2672659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89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3" grpId="0" animBg="1"/>
      <p:bldP spid="14" grpId="0" animBg="1"/>
      <p:bldP spid="5" grpId="0" animBg="1"/>
      <p:bldP spid="18" grpId="0" animBg="1"/>
      <p:bldP spid="10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6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098631"/>
              </p:ext>
            </p:extLst>
          </p:nvPr>
        </p:nvGraphicFramePr>
        <p:xfrm>
          <a:off x="609600" y="1341438"/>
          <a:ext cx="10872000" cy="475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000"/>
                <a:gridCol w="3624000"/>
                <a:gridCol w="3624000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ســـرعـــة الاِتِّــصَــال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مــحــتــوى الـرســالــة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وســيــلـة </a:t>
                      </a:r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الِاتِّــصَــال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بــــطـــيـــــئــــة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dirty="0" smtClean="0">
                          <a:cs typeface="+mj-cs"/>
                        </a:rPr>
                        <a:t>........................................................</a:t>
                      </a:r>
                      <a:endParaRPr lang="fr-FR" sz="3200" b="0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الــحــــمــــام الــزَّاجِـــــل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نُــصُــوص</a:t>
                      </a:r>
                      <a:r>
                        <a:rPr lang="ar-DZ" sz="3000" b="1" baseline="0" dirty="0" smtClean="0">
                          <a:cs typeface="+mj-cs"/>
                        </a:rPr>
                        <a:t> و صُــوَر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ســـــاعـــي الـــبـــريــــــد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نُــصُــوص</a:t>
                      </a:r>
                      <a:r>
                        <a:rPr lang="ar-DZ" sz="3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الـرســائــل الـقــصــيـــرة  </a:t>
                      </a:r>
                      <a:r>
                        <a:rPr lang="en-US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SMS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ســـريــعــة جــدا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الـبــريـــد الإلـكــتــرونـي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8780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6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098631"/>
              </p:ext>
            </p:extLst>
          </p:nvPr>
        </p:nvGraphicFramePr>
        <p:xfrm>
          <a:off x="609600" y="1341438"/>
          <a:ext cx="10872000" cy="475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000"/>
                <a:gridCol w="3624000"/>
                <a:gridCol w="3624000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ســـرعـــة الاِتِّــصَــال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مــحــتــوى الـرســالــة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وســيــلـة </a:t>
                      </a:r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الِاتِّــصَــال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بــــطـــيـــــئــــة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dirty="0" smtClean="0">
                          <a:cs typeface="+mj-cs"/>
                        </a:rPr>
                        <a:t>........................................................</a:t>
                      </a:r>
                      <a:endParaRPr lang="fr-FR" sz="3200" b="0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الــحــــمــــام الــزَّاجِـــــل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نُــصُــوص</a:t>
                      </a:r>
                      <a:r>
                        <a:rPr lang="ar-DZ" sz="3000" b="1" baseline="0" dirty="0" smtClean="0">
                          <a:cs typeface="+mj-cs"/>
                        </a:rPr>
                        <a:t> و صُــوَر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ســـــاعـــي الـــبـــريــــــد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نُــصُــوص</a:t>
                      </a:r>
                      <a:r>
                        <a:rPr lang="ar-DZ" sz="3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الـرســائــل الـقــصــيـــرة  </a:t>
                      </a:r>
                      <a:r>
                        <a:rPr lang="en-US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SMS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ســـريــعــة جــدا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الـبــريـــد الإلـكــتــرونـي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62680" y="233061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نـصـوص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893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6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098631"/>
              </p:ext>
            </p:extLst>
          </p:nvPr>
        </p:nvGraphicFramePr>
        <p:xfrm>
          <a:off x="609600" y="1341438"/>
          <a:ext cx="10872000" cy="475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000"/>
                <a:gridCol w="3624000"/>
                <a:gridCol w="3624000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ســـرعـــة الاِتِّــصَــال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مــحــتــوى الـرســالــة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وســيــلـة </a:t>
                      </a:r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الِاتِّــصَــال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بــــطـــيـــــئــــة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dirty="0" smtClean="0">
                          <a:cs typeface="+mj-cs"/>
                        </a:rPr>
                        <a:t>........................................................</a:t>
                      </a:r>
                      <a:endParaRPr lang="fr-FR" sz="3200" b="0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الــحــــمــــام الــزَّاجِـــــل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نُــصُــوص</a:t>
                      </a:r>
                      <a:r>
                        <a:rPr lang="ar-DZ" sz="3000" b="1" baseline="0" dirty="0" smtClean="0">
                          <a:cs typeface="+mj-cs"/>
                        </a:rPr>
                        <a:t> و صُــوَر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ســـــاعـــي الـــبـــريــــــد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نُــصُــوص</a:t>
                      </a:r>
                      <a:r>
                        <a:rPr lang="ar-DZ" sz="3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الـرســائــل الـقــصــيـــرة  </a:t>
                      </a:r>
                      <a:r>
                        <a:rPr lang="en-US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SMS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ســـريــعــة جــدا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الـبــريـــد الإلـكــتــرونـي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62680" y="233061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نـصـوص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7448" y="329486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بــطــيـــئـــة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66081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6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098631"/>
              </p:ext>
            </p:extLst>
          </p:nvPr>
        </p:nvGraphicFramePr>
        <p:xfrm>
          <a:off x="609600" y="1341438"/>
          <a:ext cx="10872000" cy="475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000"/>
                <a:gridCol w="3624000"/>
                <a:gridCol w="3624000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ســـرعـــة الاِتِّــصَــال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مــحــتــوى الـرســالــة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وســيــلـة </a:t>
                      </a:r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الِاتِّــصَــال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بــــطـــيـــــئــــة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dirty="0" smtClean="0">
                          <a:cs typeface="+mj-cs"/>
                        </a:rPr>
                        <a:t>........................................................</a:t>
                      </a:r>
                      <a:endParaRPr lang="fr-FR" sz="3200" b="0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الــحــــمــــام الــزَّاجِـــــل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نُــصُــوص</a:t>
                      </a:r>
                      <a:r>
                        <a:rPr lang="ar-DZ" sz="3000" b="1" baseline="0" dirty="0" smtClean="0">
                          <a:cs typeface="+mj-cs"/>
                        </a:rPr>
                        <a:t> و صُــوَر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ســـــاعـــي الـــبـــريــــــد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نُــصُــوص</a:t>
                      </a:r>
                      <a:r>
                        <a:rPr lang="ar-DZ" sz="3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الـرســائــل الـقــصــيـــرة  </a:t>
                      </a:r>
                      <a:r>
                        <a:rPr lang="en-US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SMS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ســـريــعــة جــدا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الـبــريـــد الإلـكــتــرونـي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62680" y="233061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نـصـوص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7448" y="329486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بــطــيـــئـــة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27448" y="4221088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ســـريـــعـــة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9434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6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098631"/>
              </p:ext>
            </p:extLst>
          </p:nvPr>
        </p:nvGraphicFramePr>
        <p:xfrm>
          <a:off x="609600" y="1341438"/>
          <a:ext cx="10872000" cy="475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000"/>
                <a:gridCol w="3624000"/>
                <a:gridCol w="3624000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ســـرعـــة الاِتِّــصَــال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مــحــتــوى الـرســالــة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وســيــلـة </a:t>
                      </a:r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الِاتِّــصَــال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بــــطـــيـــــئــــة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dirty="0" smtClean="0">
                          <a:cs typeface="+mj-cs"/>
                        </a:rPr>
                        <a:t>........................................................</a:t>
                      </a:r>
                      <a:endParaRPr lang="fr-FR" sz="3200" b="0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الــحــــمــــام الــزَّاجِـــــل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نُــصُــوص</a:t>
                      </a:r>
                      <a:r>
                        <a:rPr lang="ar-DZ" sz="3000" b="1" baseline="0" dirty="0" smtClean="0">
                          <a:cs typeface="+mj-cs"/>
                        </a:rPr>
                        <a:t> و صُــوَر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ســـــاعـــي الـــبـــريــــــد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نُــصُــوص</a:t>
                      </a:r>
                      <a:r>
                        <a:rPr lang="ar-DZ" sz="3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الـرســائــل الـقــصــيـــرة  </a:t>
                      </a:r>
                      <a:r>
                        <a:rPr lang="en-US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SMS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ســـريــعــة جــدا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الـبــريـــد الإلـكــتــرونـي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62680" y="233061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نـصـوص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7448" y="329486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بــطــيـــئـــة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27448" y="4221088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ســـريـــعـــة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85920" y="5229200"/>
            <a:ext cx="35283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كـل أنــواع الـبــيــانــات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4587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</a:rPr>
              <a:t>3. تـطــوُّر تــقــنــيــة الـمــعــلــومــات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93968" y="2772313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chemeClr val="tx1"/>
                </a:solidFill>
              </a:rPr>
              <a:t> </a:t>
            </a:r>
            <a:r>
              <a:rPr lang="ar-DZ" sz="3200" b="1" dirty="0" smtClean="0">
                <a:solidFill>
                  <a:schemeClr val="tx1"/>
                </a:solidFill>
              </a:rPr>
              <a:t>أجــهــزة الـمـعـالـجـة</a:t>
            </a: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30666" y="4078323"/>
            <a:ext cx="34091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FF0000"/>
                </a:solidFill>
              </a:rPr>
              <a:t>الـبــرامـج الـتـطـبـيـقـيـة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0666" y="2786417"/>
            <a:ext cx="34091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chemeClr val="tx1"/>
                </a:solidFill>
              </a:rPr>
              <a:t> </a:t>
            </a:r>
            <a:r>
              <a:rPr lang="ar-DZ" sz="3200" b="1" dirty="0" smtClean="0">
                <a:solidFill>
                  <a:schemeClr val="tx1"/>
                </a:solidFill>
              </a:rPr>
              <a:t>أجــهــزة الاِتِّـصَـال</a:t>
            </a: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</a:rPr>
              <a:t>تـطــوُّر الــبـــرامــج   </a:t>
            </a:r>
            <a:r>
              <a:rPr lang="fr-FR" sz="4000" b="1" dirty="0" smtClean="0">
                <a:solidFill>
                  <a:srgbClr val="FF0000"/>
                </a:solidFill>
              </a:rPr>
              <a:t>Software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تـطــوُّر</a:t>
            </a:r>
            <a:r>
              <a:rPr lang="ar-SA" sz="36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الأجــهــزة   </a:t>
            </a:r>
            <a:r>
              <a:rPr lang="fr-FR" sz="3600" b="1" dirty="0" smtClean="0">
                <a:solidFill>
                  <a:schemeClr val="tx1"/>
                </a:solidFill>
                <a:cs typeface="+mj-cs"/>
              </a:rPr>
              <a:t>Hardware</a:t>
            </a:r>
            <a:endParaRPr lang="fr-FR" sz="40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93968" y="4139777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FF0000"/>
                </a:solidFill>
              </a:rPr>
              <a:t>نُــظُــم الـتــشــغــيــل</a:t>
            </a:r>
            <a:endParaRPr lang="fr-FR" sz="3200" b="1" dirty="0">
              <a:solidFill>
                <a:srgbClr val="FF0000"/>
              </a:solidFill>
            </a:endParaRPr>
          </a:p>
        </p:txBody>
      </p:sp>
      <p:cxnSp>
        <p:nvCxnSpPr>
          <p:cNvPr id="16" name="Connecteur droit avec flèche 15"/>
          <p:cNvCxnSpPr>
            <a:stCxn id="13" idx="2"/>
            <a:endCxn id="8" idx="3"/>
          </p:cNvCxnSpPr>
          <p:nvPr/>
        </p:nvCxnSpPr>
        <p:spPr>
          <a:xfrm flipH="1">
            <a:off x="4439816" y="2278561"/>
            <a:ext cx="1591721" cy="904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2278561"/>
            <a:ext cx="1662431" cy="8906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>
            <a:endCxn id="7" idx="3"/>
          </p:cNvCxnSpPr>
          <p:nvPr/>
        </p:nvCxnSpPr>
        <p:spPr>
          <a:xfrm flipH="1" flipV="1">
            <a:off x="4439816" y="4475212"/>
            <a:ext cx="1440810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475212"/>
            <a:ext cx="1827640" cy="8577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10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3.3 تـطــوُّر الـبــرامــج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400" b="1" dirty="0">
                <a:solidFill>
                  <a:schemeClr val="tx1"/>
                </a:solidFill>
                <a:cs typeface="+mj-cs"/>
              </a:rPr>
              <a:t>تـنـقـسـم الـبــرامـج إلـى : </a:t>
            </a:r>
            <a:endParaRPr lang="ar-DZ" sz="1500" b="1" dirty="0" smtClean="0">
              <a:cs typeface="+mj-cs"/>
            </a:endParaRPr>
          </a:p>
          <a:p>
            <a:pPr algn="just" rtl="1">
              <a:lnSpc>
                <a:spcPct val="135000"/>
              </a:lnSpc>
            </a:pPr>
            <a:r>
              <a:rPr lang="ar-SA" sz="44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نُــظُــم الـتـشـغــيــل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SA" sz="44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وهـي تـلـك الـبـرامـج الّـتي نُــزَوِّدُ بـهـا الـحــواســيــب، الـلــوحــات الـرقـمـيـة والـهـواتـف الـذكـيـة بـغــرض </a:t>
            </a:r>
            <a:r>
              <a:rPr lang="ar-SA" sz="4400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اســتـغــلال مــكــونــاتـهـا الـمــاديــة </a:t>
            </a:r>
            <a:r>
              <a:rPr lang="ar-SA" sz="44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،  </a:t>
            </a:r>
            <a:r>
              <a:rPr lang="ar-SA" sz="4400" b="1" dirty="0" err="1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واسـتـخ</a:t>
            </a:r>
            <a:r>
              <a:rPr lang="ar-DZ" sz="44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ـ</a:t>
            </a:r>
            <a:r>
              <a:rPr lang="ar-SA" sz="44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ـدام الـبــرامـج الـتـطــبــيــقـيـة فــيـهـا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7523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3.3 تـطــوُّر الـبــرامــج  ــ  تـــابـع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35000"/>
              </a:lnSpc>
            </a:pPr>
            <a:r>
              <a:rPr lang="ar-SA" sz="44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الـبــرامـج الـتـطــبــيــقــيــة</a:t>
            </a:r>
            <a:r>
              <a:rPr lang="ar-DZ" sz="44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هـي الــبــرامـج الّـتي تُــقــدِّم لــنـا </a:t>
            </a:r>
            <a:r>
              <a:rPr lang="ar-DZ" sz="44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خــدمــات مــتــقــدمـة فـي مــجــال مُـحــدَّد</a:t>
            </a:r>
            <a:r>
              <a:rPr lang="ar-DZ" sz="44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َ ( مـعــالـجـة نـصـوص ، مـعـالـجـة صــور ، مـحــاســبــة ... ) </a:t>
            </a: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بـحـيـث </a:t>
            </a:r>
            <a:r>
              <a:rPr lang="ar-DZ" sz="44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نـسـتـفـيـد مـنـهـا مـن خـلال نـظـام الـتـشـغـيـل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1369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3.3 تـطــوُّر الـبــرامــج  ــ  تـــابـع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buNone/>
            </a:pPr>
            <a:endParaRPr lang="ar-DZ" sz="500" b="1" dirty="0" smtClean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ts val="5760"/>
              </a:lnSpc>
              <a:buNone/>
            </a:pP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نـشــاط 7</a:t>
            </a:r>
            <a:r>
              <a:rPr lang="ar-DZ" sz="4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FF0000"/>
                </a:solidFill>
                <a:cs typeface="Times New Roman" panose="02020603050405020304" pitchFamily="18" charset="0"/>
              </a:rPr>
              <a:t>: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بَــيِّــنْ 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الـت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َ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ـع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ْ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ــد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ِ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يــل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َ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ات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ِ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الِّـتِي تَـطْــرَأُ عَــلَــى الـبــرامــج 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ب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ِـ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ـغ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َـ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ـض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ِ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الـنَـظَــرِ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عــن 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نَــوْعـِـهـا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( نُــظُــم تــشـغــيــل / بــرامـج تــطــبــيــقــيــة ) وذلـك فـي الـجــوانــب الـتــالــيـة : الـواجــهــة الـبــيــانــيــة ، نــوعــيــة الـخــدمــات ، الأخــطــاء الـتــقــنــيــة 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(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Bugs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ثَــغَــرَات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( نــقـــاط الـضـعــف ) الـبــرنــامــج :</a:t>
            </a: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3650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7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715375"/>
              </p:ext>
            </p:extLst>
          </p:nvPr>
        </p:nvGraphicFramePr>
        <p:xfrm>
          <a:off x="609600" y="1341438"/>
          <a:ext cx="10887001" cy="496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8768"/>
                <a:gridCol w="2088233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الـتـعـــديــلات فـي الإصــدارات الـجــديــدة مـن الـبــرامــج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4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الـواجــهــة الـبــيــانــيــة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نــوعــيــة الـخــدمــات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الأخــطــاء الـتــقــنــيــة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ثــغـــرات الـبــرنــامــج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3953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الـنـشــاط 7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715375"/>
              </p:ext>
            </p:extLst>
          </p:nvPr>
        </p:nvGraphicFramePr>
        <p:xfrm>
          <a:off x="609600" y="1341438"/>
          <a:ext cx="10887001" cy="496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8768"/>
                <a:gridCol w="2088233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الـتـعـــديــلات فـي الإصــدارات الـجــديــدة مـن الـبــرامــج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4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الـواجــهــة الـبــيــانــيــة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نــوعــيــة الـخــدمــات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الأخــطــاء الـتــقــنــيــة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ثــغـــرات الـبــرنــامــج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09600" y="2348880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تـحــســيـنـهـا وجَـعْـلِــهَـا أكـثـر تــفــاعــلًا مـع الـمـسـتـخـدم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0484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الـنـشــاط 7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715375"/>
              </p:ext>
            </p:extLst>
          </p:nvPr>
        </p:nvGraphicFramePr>
        <p:xfrm>
          <a:off x="609600" y="1341438"/>
          <a:ext cx="10887001" cy="496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8768"/>
                <a:gridCol w="2088233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الـتـعـــديــلات فـي الإصــدارات الـجــديــدة مـن الـبــرامــج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4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الـواجــهــة الـبــيــانــيــة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نــوعــيــة الـخــدمــات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الأخــطــاء الـتــقــنــيــة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ثــغـــرات الـبــرنــامــج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09600" y="2348880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تـحــســيـنـهـا وجَـعْـلِــهَـا أكـثـر تــفــاعــلًا مـع الـمـسـتـخـدم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92" y="3370159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بُــرُوز خــدمـات جــديــدة / </a:t>
            </a:r>
            <a:r>
              <a:rPr lang="ar-DZ" sz="3400" b="1" dirty="0" smtClean="0">
                <a:solidFill>
                  <a:srgbClr val="0070C0"/>
                </a:solidFill>
              </a:rPr>
              <a:t>تـحــســيـن الـخــدمـات الـسـابــقـة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171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الـنـشــاط 7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715375"/>
              </p:ext>
            </p:extLst>
          </p:nvPr>
        </p:nvGraphicFramePr>
        <p:xfrm>
          <a:off x="609600" y="1341438"/>
          <a:ext cx="10887001" cy="496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8768"/>
                <a:gridCol w="2088233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الـتـعـــديــلات فـي الإصــدارات الـجــديــدة مـن الـبــرامــج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4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الـواجــهــة الـبــيــانــيــة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نــوعــيــة الـخــدمــات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الأخــطــاء الـتــقــنــيــة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ثــغـــرات الـبــرنــامــج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09600" y="2348880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تـحــســيـنـهـا وجَـعْـلِــهَـا أكـثـر تــفــاعــلًا مـع الـمـسـتـخـدم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92" y="3370159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بُــرُوز خــدمـات جــديــدة / </a:t>
            </a:r>
            <a:r>
              <a:rPr lang="ar-DZ" sz="3400" b="1" dirty="0" smtClean="0">
                <a:solidFill>
                  <a:srgbClr val="0070C0"/>
                </a:solidFill>
              </a:rPr>
              <a:t>تـحــســيـن الـخــدمـات الـسـابــقـة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392" y="4394816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إصــلاح الأخــطــاء </a:t>
            </a:r>
            <a:r>
              <a:rPr lang="ar-DZ" sz="3400" b="1" dirty="0">
                <a:solidFill>
                  <a:srgbClr val="0070C0"/>
                </a:solidFill>
                <a:cs typeface="+mj-cs"/>
              </a:rPr>
              <a:t>الـتــقــنــيــة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الــمُــكْــتَــشَــفَــة </a:t>
            </a:r>
            <a:r>
              <a:rPr lang="fr-FR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Bugs )</a:t>
            </a:r>
          </a:p>
        </p:txBody>
      </p:sp>
    </p:spTree>
    <p:extLst>
      <p:ext uri="{BB962C8B-B14F-4D97-AF65-F5344CB8AC3E}">
        <p14:creationId xmlns:p14="http://schemas.microsoft.com/office/powerpoint/2010/main" val="340079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الـنـشــاط 7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715375"/>
              </p:ext>
            </p:extLst>
          </p:nvPr>
        </p:nvGraphicFramePr>
        <p:xfrm>
          <a:off x="609600" y="1341438"/>
          <a:ext cx="10887001" cy="496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8768"/>
                <a:gridCol w="2088233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الـتـعـــديــلات فـي الإصــدارات الـجــديــدة مـن الـبــرامــج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4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الـواجــهــة الـبــيــانــيــة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نــوعــيــة الـخــدمــات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الأخــطــاء الـتــقــنــيــة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ثــغـــرات الـبــرنــامــج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09600" y="2348880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تـحــســيـنـهـا وجَـعْـلِــهَـا أكـثـر تــفــاعــلًا مـع الـمـسـتـخـدم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92" y="3370159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بُــرُوز خــدمـات جــديــدة / </a:t>
            </a:r>
            <a:r>
              <a:rPr lang="ar-DZ" sz="3400" b="1" dirty="0" smtClean="0">
                <a:solidFill>
                  <a:srgbClr val="0070C0"/>
                </a:solidFill>
              </a:rPr>
              <a:t>تـحــســيـن الـخــدمـات الـسـابــقـة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392" y="4394816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إصــلاح الأخــطــاء </a:t>
            </a:r>
            <a:r>
              <a:rPr lang="ar-DZ" sz="3400" b="1" dirty="0">
                <a:solidFill>
                  <a:srgbClr val="0070C0"/>
                </a:solidFill>
                <a:cs typeface="+mj-cs"/>
              </a:rPr>
              <a:t>الـتــقــنــيــة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الــمُــكْــتَــشَــفَــة </a:t>
            </a:r>
            <a:r>
              <a:rPr lang="fr-FR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Bugs 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184" y="5416095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سَــد الـثَــغَـــرَات </a:t>
            </a:r>
            <a:r>
              <a:rPr lang="ar-DZ" sz="3400" b="1" dirty="0">
                <a:solidFill>
                  <a:srgbClr val="0070C0"/>
                </a:solidFill>
              </a:rPr>
              <a:t>الــمُــكْــتَــشَــفَــة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لـمـنـع اســتــغــلالـها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8905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3.3 تـطــوُّر الـبــرامــج  ــ  تـــابـع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buNone/>
            </a:pPr>
            <a:endParaRPr lang="ar-DZ" sz="500" b="1" dirty="0" smtClean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0" lvl="0" indent="0" algn="ctr" rtl="1">
              <a:lnSpc>
                <a:spcPts val="5760"/>
              </a:lnSpc>
              <a:buNone/>
            </a:pPr>
            <a:endParaRPr lang="ar-DZ" sz="5400" b="1" dirty="0" smtClean="0">
              <a:solidFill>
                <a:srgbClr val="FF0000"/>
              </a:solidFill>
              <a:ea typeface="Calibri" panose="020F0502020204030204" pitchFamily="34" charset="0"/>
              <a:cs typeface="Traditional Arabic" panose="02020603050405020304" pitchFamily="18" charset="-78"/>
            </a:endParaRPr>
          </a:p>
          <a:p>
            <a:pPr marL="0" lvl="0" indent="0" algn="ctr" rtl="1">
              <a:lnSpc>
                <a:spcPts val="5760"/>
              </a:lnSpc>
              <a:buNone/>
            </a:pPr>
            <a:r>
              <a:rPr lang="ar-DZ" sz="5400" b="1" dirty="0" smtClean="0">
                <a:solidFill>
                  <a:srgbClr val="FF000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" </a:t>
            </a:r>
            <a:r>
              <a:rPr lang="ar-DZ" sz="5400" b="1" u="sng" dirty="0">
                <a:solidFill>
                  <a:srgbClr val="FF000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فـكـلُّ هــذه الـتـحـسـيـنـات وغـيـرهـا تُـبـيِّـنُ مـدى تـطـوُّر الـبـرامـج </a:t>
            </a:r>
            <a:r>
              <a:rPr lang="ar-DZ" sz="4800" b="1" u="sng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،</a:t>
            </a:r>
            <a:r>
              <a:rPr lang="ar-DZ" sz="5400" b="1" u="sng" dirty="0">
                <a:solidFill>
                  <a:srgbClr val="FF000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وهــذا يـنـطـبـق عـلـى أيِّ بـرنـامـج مـعـتـبـر</a:t>
            </a:r>
            <a:r>
              <a:rPr lang="ar-DZ" sz="5400" b="1" dirty="0">
                <a:solidFill>
                  <a:srgbClr val="FF000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".</a:t>
            </a:r>
            <a:endParaRPr lang="ar-DZ" sz="11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2725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واجــب مـنـزلـي</a:t>
            </a:r>
            <a:r>
              <a:rPr lang="ar-DZ" sz="4800" b="1" dirty="0">
                <a:solidFill>
                  <a:srgbClr val="FF000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14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أُكْـتُـبْ مَــقَــالًا عِــلْــمِــيًــا ( </a:t>
            </a:r>
            <a:r>
              <a:rPr lang="ar-SA" sz="4400" b="1" dirty="0">
                <a:cs typeface="+mj-cs"/>
              </a:rPr>
              <a:t>ي</a:t>
            </a:r>
            <a:r>
              <a:rPr lang="ar-DZ" sz="4400" b="1" dirty="0">
                <a:cs typeface="+mj-cs"/>
              </a:rPr>
              <a:t>َ</a:t>
            </a:r>
            <a:r>
              <a:rPr lang="ar-SA" sz="4400" b="1" dirty="0">
                <a:cs typeface="+mj-cs"/>
              </a:rPr>
              <a:t>ـض</a:t>
            </a:r>
            <a:r>
              <a:rPr lang="ar-DZ" sz="4400" b="1" dirty="0">
                <a:cs typeface="+mj-cs"/>
              </a:rPr>
              <a:t>ُـ</a:t>
            </a:r>
            <a:r>
              <a:rPr lang="ar-SA" sz="4400" b="1" dirty="0">
                <a:cs typeface="+mj-cs"/>
              </a:rPr>
              <a:t>م</a:t>
            </a:r>
            <a:r>
              <a:rPr lang="ar-DZ" sz="4400" b="1" dirty="0">
                <a:cs typeface="+mj-cs"/>
              </a:rPr>
              <a:t>ُ</a:t>
            </a:r>
            <a:r>
              <a:rPr lang="ar-SA" sz="4400" b="1" dirty="0">
                <a:cs typeface="+mj-cs"/>
              </a:rPr>
              <a:t> صـ</a:t>
            </a:r>
            <a:r>
              <a:rPr lang="ar-DZ" sz="4400" b="1" dirty="0">
                <a:cs typeface="+mj-cs"/>
              </a:rPr>
              <a:t>ـ</a:t>
            </a:r>
            <a:r>
              <a:rPr lang="ar-SA" sz="4400" b="1" dirty="0">
                <a:cs typeface="+mj-cs"/>
              </a:rPr>
              <a:t>فـحـ</a:t>
            </a:r>
            <a:r>
              <a:rPr lang="ar-DZ" sz="4400" b="1" dirty="0">
                <a:cs typeface="+mj-cs"/>
              </a:rPr>
              <a:t>ـ</a:t>
            </a:r>
            <a:r>
              <a:rPr lang="ar-SA" sz="4400" b="1" dirty="0">
                <a:cs typeface="+mj-cs"/>
              </a:rPr>
              <a:t>تـ</a:t>
            </a:r>
            <a:r>
              <a:rPr lang="ar-DZ" sz="4400" b="1" dirty="0">
                <a:cs typeface="+mj-cs"/>
              </a:rPr>
              <a:t>ـ</a:t>
            </a:r>
            <a:r>
              <a:rPr lang="ar-SA" sz="4400" b="1" dirty="0">
                <a:cs typeface="+mj-cs"/>
              </a:rPr>
              <a:t>يـن</a:t>
            </a:r>
            <a:r>
              <a:rPr lang="ar-DZ" sz="4400" dirty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) تَــشْــرَحُ فـيـه مـفـهـوم تـــكـــنـــولـــوجـــيـــات الإعـــلام والاتِّـصــال مُــبَــيِّــنًــا إيـجــابــيــات وســلــبــيــات </a:t>
            </a:r>
            <a:r>
              <a:rPr lang="fr-FR" sz="4400" b="1" dirty="0" smtClean="0">
                <a:cs typeface="+mj-cs"/>
              </a:rPr>
              <a:t>TIC</a:t>
            </a:r>
            <a:r>
              <a:rPr lang="ar-DZ" sz="4400" b="1" dirty="0" smtClean="0">
                <a:cs typeface="+mj-cs"/>
              </a:rPr>
              <a:t> .</a:t>
            </a:r>
            <a:endParaRPr lang="fr-FR" sz="44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9556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11/10/2025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23256</TotalTime>
  <Words>2858</Words>
  <Application>Microsoft Office PowerPoint</Application>
  <PresentationFormat>Grand écran</PresentationFormat>
  <Paragraphs>840</Paragraphs>
  <Slides>93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93</vt:i4>
      </vt:variant>
    </vt:vector>
  </HeadingPairs>
  <TitlesOfParts>
    <vt:vector size="102" baseType="lpstr">
      <vt:lpstr>Arial Unicode MS</vt:lpstr>
      <vt:lpstr>SimSun</vt:lpstr>
      <vt:lpstr>Arial</vt:lpstr>
      <vt:lpstr>Calibri</vt:lpstr>
      <vt:lpstr>Droid Sans Fallback</vt:lpstr>
      <vt:lpstr>Times New Roman</vt:lpstr>
      <vt:lpstr>Traditional Arabic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الإجــابــة :</vt:lpstr>
      <vt:lpstr>Présentation PowerPoint</vt:lpstr>
      <vt:lpstr>Présentation PowerPoint</vt:lpstr>
      <vt:lpstr>1) الـمـفـاهـيـم الأوَّلِــيَّـة فـي تــقــنــيــة الـمـعــلــومــات </vt:lpstr>
      <vt:lpstr>1) الـمـفـاهـيـم الأوَّلِــيَّـة فـي تــقــنــيــة الـمـعــلــومــات </vt:lpstr>
      <vt:lpstr>1) الـمـفـاهـيـم الأوَّلِــيَّـة فـي تــقــنــيــة الـمـعــلــومــات </vt:lpstr>
      <vt:lpstr>أتـذكـر </vt:lpstr>
      <vt:lpstr>أتـذكـر </vt:lpstr>
      <vt:lpstr>أتـذكـر </vt:lpstr>
      <vt:lpstr>أتـذكـر </vt:lpstr>
      <vt:lpstr>ســؤال : كــلــمــة الـمـعـلـومـاتـيـة جــامــدة أم مُــشْــتَــقَــة ؟</vt:lpstr>
      <vt:lpstr>ســؤال : كــلــمــة الـمـعـلـومـاتـيـة جــامــدة أم مُــشْــتَــقَــة ؟</vt:lpstr>
      <vt:lpstr>3.1 – الـمـعـلـومـاتــيـة Informatique :</vt:lpstr>
      <vt:lpstr>3.1 – الـمـعـلـومـاتــيـة Informatique :</vt:lpstr>
      <vt:lpstr>3.1 – الـمـعـلـومـاتــيـة Informatique :</vt:lpstr>
      <vt:lpstr>3.1 – الـمـعـلـومـاتــيـة Informatique :</vt:lpstr>
      <vt:lpstr>3.1 – الـمـعـلـومـاتــيـة Informatique :</vt:lpstr>
      <vt:lpstr>نـشــاط 2 - حَــلِّــلْ الـعِــبَــارَةَ الـتــالــيــة :</vt:lpstr>
      <vt:lpstr>أتـذكـر </vt:lpstr>
      <vt:lpstr>أتـذكـر </vt:lpstr>
      <vt:lpstr>أتـذكـر </vt:lpstr>
      <vt:lpstr>أتـذكـر </vt:lpstr>
      <vt:lpstr>ســؤال : مــا هــو أصـل الـكــلــمــة « تــكــنـولـوجــيــا » ؟</vt:lpstr>
      <vt:lpstr>ســؤال : مــا هــو أصـل الـكــلــمــة « تــكــنـولـوجــيــا » ؟</vt:lpstr>
      <vt:lpstr>ســؤال : مــا هــو أصـل الـكــلــمــة « تــكــنـولـوجــيــا » ؟</vt:lpstr>
      <vt:lpstr>5.1 – الـتــكــنــولــوجــيــا  Technologie :</vt:lpstr>
      <vt:lpstr>5.1 – الـتــكــنــولــوجــيــا  Technologie :</vt:lpstr>
      <vt:lpstr>5.1 – الـتــكــنــولــوجــيــا  Technologie :</vt:lpstr>
      <vt:lpstr>5.1 – الـتــكــنــولــوجــيــا  Technologie :</vt:lpstr>
      <vt:lpstr>5.1 – الـتــكــنــولــوجــيــا  Technologie :</vt:lpstr>
      <vt:lpstr>نـشــاط 3 :</vt:lpstr>
      <vt:lpstr>ســؤال : هــل  هــنــالــك« إعــلام » بــدون مــعــلــومــات ؟</vt:lpstr>
      <vt:lpstr>ســؤال : هــل  هــنــالــك« إعــلام » بــدون مــعــلــومــات ؟</vt:lpstr>
      <vt:lpstr>ســؤال : هــل  هــنــالــك« إعــلام » بــدون مــعــلــومــات ؟</vt:lpstr>
      <vt:lpstr>ســؤال : هــل  هــنــالــك« إعــلام » بــدون مــعــلــومــات ؟</vt:lpstr>
      <vt:lpstr>6.1 – الإعــــلام  Information   :</vt:lpstr>
      <vt:lpstr>6.1 – الإعــــلام  Information   :</vt:lpstr>
      <vt:lpstr>6.1 – الإعــــلام  Information   :</vt:lpstr>
      <vt:lpstr>ســؤال : هــل  هــنــالــك « إتِّــصَــال » بــدون مــعــلــومــات ؟</vt:lpstr>
      <vt:lpstr>ســؤال : هــل  هــنــالــك« إعــلام » بــدون مــعــلــومــات ؟</vt:lpstr>
      <vt:lpstr>ســؤال : هــل  هــنــالــك « إتِّــصَــال » بــدون مــعــلــومــات ؟</vt:lpstr>
      <vt:lpstr>ســؤال : هــل  هــنــالــك « إتِّــصَــال » بــدون مــعــلــومــات ؟</vt:lpstr>
      <vt:lpstr>ســؤال : هــل  هــنــالــك « إتِّــصَــال » بــدون مــعــلــومــات ؟</vt:lpstr>
      <vt:lpstr>7.1 – الاتِّــصَــال  Communication :</vt:lpstr>
      <vt:lpstr>7.1 – الاتِّــصَــال  Communication :</vt:lpstr>
      <vt:lpstr>7.1 – الاتِّــصَــال  Communication :</vt:lpstr>
      <vt:lpstr>ســؤال : مــاذا يُـمَـثِّـلُ إِذاً الـمـصـطــلـح  « TIC » ؟</vt:lpstr>
      <vt:lpstr>ســؤال : مــاذا يُـمَـثِّـلُ إِذاً الـمـصـطــلـح  « TIC » ؟</vt:lpstr>
      <vt:lpstr>Présentation PowerPoint</vt:lpstr>
      <vt:lpstr>8.1 – تــكــنــولــوجــيــا الإعــــلام والاتِّــصَــال  « TIC » :</vt:lpstr>
      <vt:lpstr>8.1 – تــكــنــولــوجــيــا الإعــــلام والاتِّــصَــال  « TIC » :</vt:lpstr>
      <vt:lpstr>8.1 – تــكــنــولــوجــيــا الإعــــلام والاتِّــصَــال  « TIC » :</vt:lpstr>
      <vt:lpstr>2. مـجـــالات الاســتــعــمــال :</vt:lpstr>
      <vt:lpstr>2. مـجـــالات الاســتــعــمــال ــ  تـــابــع</vt:lpstr>
      <vt:lpstr>2. مـجـــالات الاســتــعــمــال ــ  تـــابــع</vt:lpstr>
      <vt:lpstr>2. مـجـــالات الاســتــعــمــال ــ  تـــابــع</vt:lpstr>
      <vt:lpstr>2. مـجـــالات الاســتــعــمــال ــ  تـــابــع</vt:lpstr>
      <vt:lpstr>2. مـجـــالات الاســتــعــمــال ــ  تـــابــع</vt:lpstr>
      <vt:lpstr>2. مـجـــالات الاســتــعــمــال ــ  تـــابــع</vt:lpstr>
      <vt:lpstr>3. تـطــوُّر تــقــنــيــة الـمــعــلــومــات :</vt:lpstr>
      <vt:lpstr>3. تـطــوُّر تــقــنــيــة الـمــعــلــومــات :</vt:lpstr>
      <vt:lpstr>3. تـطــوُّر تــقــنــيــة الـمــعــلــومــات :</vt:lpstr>
      <vt:lpstr>3. تـطــوُّر تــقــنــيــة الـمــعــلــومــات ــ تـابـع</vt:lpstr>
      <vt:lpstr> الـنـشــاط 5  ــ  تـــابــع</vt:lpstr>
      <vt:lpstr> الـنـشــاط 5  ــ  تـــابــع</vt:lpstr>
      <vt:lpstr> الـنـشــاط 5  ــ  تـــابــع</vt:lpstr>
      <vt:lpstr> الـنـشــاط 5  ــ  تـــابــع</vt:lpstr>
      <vt:lpstr> الـنـشــاط 5  ــ  تـــابــع</vt:lpstr>
      <vt:lpstr>3. تـطــوُّر تــقــنــيــة الـمــعــلــومــات ــ تـابـع</vt:lpstr>
      <vt:lpstr> الـنـشــاط 6 ــ  تـــابــع</vt:lpstr>
      <vt:lpstr>ســؤال : مــا هــي أركــان « الإتِّــصَــال » ؟</vt:lpstr>
      <vt:lpstr> الـنـشــاط 6 ــ  تـــابــع</vt:lpstr>
      <vt:lpstr> الـنـشــاط 6 ــ  تـــابــع</vt:lpstr>
      <vt:lpstr> الـنـشــاط 6 ــ  تـــابــع</vt:lpstr>
      <vt:lpstr> الـنـشــاط 6 ــ  تـــابــع</vt:lpstr>
      <vt:lpstr> الـنـشــاط 6 ــ  تـــابــع</vt:lpstr>
      <vt:lpstr>3. تـطــوُّر تــقــنــيــة الـمــعــلــومــات :</vt:lpstr>
      <vt:lpstr>3.3 تـطــوُّر الـبــرامــج :</vt:lpstr>
      <vt:lpstr>3.3 تـطــوُّر الـبــرامــج  ــ  تـــابـع</vt:lpstr>
      <vt:lpstr>3.3 تـطــوُّر الـبــرامــج  ــ  تـــابـع</vt:lpstr>
      <vt:lpstr> الـنـشــاط 7  ــ  تـــابــع</vt:lpstr>
      <vt:lpstr> الـنـشــاط 7  ــ  تـــابــع</vt:lpstr>
      <vt:lpstr> الـنـشــاط 7  ــ  تـــابــع</vt:lpstr>
      <vt:lpstr> الـنـشــاط 7  ــ  تـــابــع</vt:lpstr>
      <vt:lpstr> الـنـشــاط 7  ــ  تـــابــع</vt:lpstr>
      <vt:lpstr>3.3 تـطــوُّر الـبــرامــج  ــ  تـــابـع</vt:lpstr>
      <vt:lpstr>واجــب مـنـزلـي :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730</cp:revision>
  <dcterms:created xsi:type="dcterms:W3CDTF">2015-11-30T21:00:22Z</dcterms:created>
  <dcterms:modified xsi:type="dcterms:W3CDTF">2025-10-11T09:11:13Z</dcterms:modified>
</cp:coreProperties>
</file>