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31"/>
  </p:notesMasterIdLst>
  <p:sldIdLst>
    <p:sldId id="273" r:id="rId3"/>
    <p:sldId id="291" r:id="rId4"/>
    <p:sldId id="258" r:id="rId5"/>
    <p:sldId id="447" r:id="rId6"/>
    <p:sldId id="489" r:id="rId7"/>
    <p:sldId id="573" r:id="rId8"/>
    <p:sldId id="292" r:id="rId9"/>
    <p:sldId id="521" r:id="rId10"/>
    <p:sldId id="579" r:id="rId11"/>
    <p:sldId id="293" r:id="rId12"/>
    <p:sldId id="594" r:id="rId13"/>
    <p:sldId id="592" r:id="rId14"/>
    <p:sldId id="593" r:id="rId15"/>
    <p:sldId id="595" r:id="rId16"/>
    <p:sldId id="575" r:id="rId17"/>
    <p:sldId id="580" r:id="rId18"/>
    <p:sldId id="581" r:id="rId19"/>
    <p:sldId id="577" r:id="rId20"/>
    <p:sldId id="576" r:id="rId21"/>
    <p:sldId id="421" r:id="rId22"/>
    <p:sldId id="394" r:id="rId23"/>
    <p:sldId id="490" r:id="rId24"/>
    <p:sldId id="524" r:id="rId25"/>
    <p:sldId id="523" r:id="rId26"/>
    <p:sldId id="525" r:id="rId27"/>
    <p:sldId id="522" r:id="rId28"/>
    <p:sldId id="395" r:id="rId29"/>
    <p:sldId id="493" r:id="rId30"/>
    <p:sldId id="492" r:id="rId31"/>
    <p:sldId id="491" r:id="rId32"/>
    <p:sldId id="584" r:id="rId33"/>
    <p:sldId id="585" r:id="rId34"/>
    <p:sldId id="494" r:id="rId35"/>
    <p:sldId id="495" r:id="rId36"/>
    <p:sldId id="496" r:id="rId37"/>
    <p:sldId id="497" r:id="rId38"/>
    <p:sldId id="498" r:id="rId39"/>
    <p:sldId id="449" r:id="rId40"/>
    <p:sldId id="453" r:id="rId41"/>
    <p:sldId id="500" r:id="rId42"/>
    <p:sldId id="529" r:id="rId43"/>
    <p:sldId id="526" r:id="rId44"/>
    <p:sldId id="502" r:id="rId45"/>
    <p:sldId id="454" r:id="rId46"/>
    <p:sldId id="501" r:id="rId47"/>
    <p:sldId id="530" r:id="rId48"/>
    <p:sldId id="528" r:id="rId49"/>
    <p:sldId id="527" r:id="rId50"/>
    <p:sldId id="531" r:id="rId51"/>
    <p:sldId id="455" r:id="rId52"/>
    <p:sldId id="503" r:id="rId53"/>
    <p:sldId id="532" r:id="rId54"/>
    <p:sldId id="536" r:id="rId55"/>
    <p:sldId id="541" r:id="rId56"/>
    <p:sldId id="540" r:id="rId57"/>
    <p:sldId id="539" r:id="rId58"/>
    <p:sldId id="538" r:id="rId59"/>
    <p:sldId id="456" r:id="rId60"/>
    <p:sldId id="504" r:id="rId61"/>
    <p:sldId id="543" r:id="rId62"/>
    <p:sldId id="542" r:id="rId63"/>
    <p:sldId id="537" r:id="rId64"/>
    <p:sldId id="457" r:id="rId65"/>
    <p:sldId id="506" r:id="rId66"/>
    <p:sldId id="587" r:id="rId67"/>
    <p:sldId id="544" r:id="rId68"/>
    <p:sldId id="586" r:id="rId69"/>
    <p:sldId id="508" r:id="rId70"/>
    <p:sldId id="512" r:id="rId71"/>
    <p:sldId id="558" r:id="rId72"/>
    <p:sldId id="557" r:id="rId73"/>
    <p:sldId id="466" r:id="rId74"/>
    <p:sldId id="507" r:id="rId75"/>
    <p:sldId id="511" r:id="rId76"/>
    <p:sldId id="513" r:id="rId77"/>
    <p:sldId id="440" r:id="rId78"/>
    <p:sldId id="509" r:id="rId79"/>
    <p:sldId id="561" r:id="rId80"/>
    <p:sldId id="564" r:id="rId81"/>
    <p:sldId id="560" r:id="rId82"/>
    <p:sldId id="562" r:id="rId83"/>
    <p:sldId id="565" r:id="rId84"/>
    <p:sldId id="559" r:id="rId85"/>
    <p:sldId id="563" r:id="rId86"/>
    <p:sldId id="578" r:id="rId87"/>
    <p:sldId id="514" r:id="rId88"/>
    <p:sldId id="474" r:id="rId89"/>
    <p:sldId id="566" r:id="rId90"/>
    <p:sldId id="510" r:id="rId91"/>
    <p:sldId id="588" r:id="rId92"/>
    <p:sldId id="459" r:id="rId93"/>
    <p:sldId id="515" r:id="rId94"/>
    <p:sldId id="556" r:id="rId95"/>
    <p:sldId id="567" r:id="rId96"/>
    <p:sldId id="475" r:id="rId97"/>
    <p:sldId id="516" r:id="rId98"/>
    <p:sldId id="568" r:id="rId99"/>
    <p:sldId id="569" r:id="rId100"/>
    <p:sldId id="570" r:id="rId101"/>
    <p:sldId id="571" r:id="rId102"/>
    <p:sldId id="517" r:id="rId103"/>
    <p:sldId id="589" r:id="rId104"/>
    <p:sldId id="590" r:id="rId105"/>
    <p:sldId id="572" r:id="rId106"/>
    <p:sldId id="553" r:id="rId107"/>
    <p:sldId id="552" r:id="rId108"/>
    <p:sldId id="551" r:id="rId109"/>
    <p:sldId id="462" r:id="rId110"/>
    <p:sldId id="477" r:id="rId111"/>
    <p:sldId id="479" r:id="rId112"/>
    <p:sldId id="596" r:id="rId113"/>
    <p:sldId id="597" r:id="rId114"/>
    <p:sldId id="598" r:id="rId115"/>
    <p:sldId id="488" r:id="rId116"/>
    <p:sldId id="486" r:id="rId117"/>
    <p:sldId id="546" r:id="rId118"/>
    <p:sldId id="591" r:id="rId119"/>
    <p:sldId id="545" r:id="rId120"/>
    <p:sldId id="463" r:id="rId121"/>
    <p:sldId id="549" r:id="rId122"/>
    <p:sldId id="550" r:id="rId123"/>
    <p:sldId id="548" r:id="rId124"/>
    <p:sldId id="600" r:id="rId125"/>
    <p:sldId id="599" r:id="rId126"/>
    <p:sldId id="464" r:id="rId127"/>
    <p:sldId id="392" r:id="rId128"/>
    <p:sldId id="338" r:id="rId129"/>
    <p:sldId id="413" r:id="rId13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684" autoAdjust="0"/>
    <p:restoredTop sz="94434" autoAdjust="0"/>
  </p:normalViewPr>
  <p:slideViewPr>
    <p:cSldViewPr>
      <p:cViewPr varScale="1">
        <p:scale>
          <a:sx n="71" d="100"/>
          <a:sy n="71" d="100"/>
        </p:scale>
        <p:origin x="468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28" Type="http://schemas.openxmlformats.org/officeDocument/2006/relationships/slide" Target="slides/slide126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134" Type="http://schemas.openxmlformats.org/officeDocument/2006/relationships/theme" Target="theme/theme1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slide" Target="slides/slide122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0" Type="http://schemas.openxmlformats.org/officeDocument/2006/relationships/slide" Target="slides/slide128.xml"/><Relationship Id="rId135" Type="http://schemas.openxmlformats.org/officeDocument/2006/relationships/tableStyles" Target="tableStyles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notesMaster" Target="notesMasters/notesMaster1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presProps" Target="presProps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26" Type="http://schemas.openxmlformats.org/officeDocument/2006/relationships/slide" Target="slides/slide24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707165-6FA1-4F51-AE2F-3E34D4EE60DB}" type="datetimeFigureOut">
              <a:rPr lang="fr-FR" smtClean="0"/>
              <a:pPr/>
              <a:t>31/10/2025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2BD788-2CE9-4B58-A72D-7A842BE88AE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2437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7708524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80387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655512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98630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119987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784152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1799A-AD1E-4EC4-BAE9-72E49FCD3627}" type="datetime1">
              <a:rPr lang="fr-FR" smtClean="0"/>
              <a:t>31/10/2025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01B79-79D6-441E-BF1E-BF238058A2BE}" type="datetime1">
              <a:rPr lang="fr-FR" smtClean="0"/>
              <a:t>31/10/2025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01902-2934-498C-B9CD-ABFFBDC132D2}" type="datetime1">
              <a:rPr lang="fr-FR" smtClean="0"/>
              <a:t>31/10/2025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6BA51-70A3-4108-A886-33F689CBCDCE}" type="datetime1">
              <a:rPr lang="fr-FR" smtClean="0"/>
              <a:t>31/10/2025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6FC74-5BB7-4110-9531-403E0DC6FCC3}" type="datetime1">
              <a:rPr lang="fr-FR" smtClean="0"/>
              <a:t>31/10/2025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5D57-B0FA-4850-A7A9-46BC746BF18D}" type="datetime1">
              <a:rPr lang="fr-FR" smtClean="0"/>
              <a:t>31/10/2025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3EED2-DA68-42E6-BB32-4BDF58561745}" type="datetime1">
              <a:rPr lang="fr-FR" smtClean="0"/>
              <a:t>31/10/2025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E66D5-8CED-4255-B840-C3038CA10D44}" type="datetime1">
              <a:rPr lang="fr-FR" smtClean="0"/>
              <a:t>31/10/2025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74B6-0C57-4CBC-8085-4FAD680CE4E3}" type="datetime1">
              <a:rPr lang="fr-FR" smtClean="0"/>
              <a:t>31/10/2025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783B9-A837-41A0-BB3E-10BAC9E24798}" type="datetime1">
              <a:rPr lang="fr-FR" smtClean="0"/>
              <a:t>31/10/2025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4622B-0FD0-4642-A755-FF44A3648A33}" type="datetime1">
              <a:rPr lang="fr-FR" smtClean="0"/>
              <a:t>31/10/2025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145A6B-277E-4029-9E0B-0271FFE59EB6}" type="datetime1">
              <a:rPr lang="fr-FR" smtClean="0"/>
              <a:t>31/10/2025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27F164-2AFA-4878-B6DC-B21DA486304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303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EEAD95-047D-434C-94E6-21EBF421E084}" type="datetime1">
              <a:rPr lang="fr-FR" smtClean="0"/>
              <a:t>31/10/2025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17CCD0-4F98-4392-B995-B19C0157D76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7935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0E85B-6058-4423-8F7A-4FBB18FA07C1}" type="datetime1">
              <a:rPr lang="fr-FR" smtClean="0"/>
              <a:t>31/10/2025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47F796-EFDC-4369-84AD-973929CACFD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415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2" y="1981201"/>
            <a:ext cx="5077884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5484" y="1981201"/>
            <a:ext cx="5080000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BA6324-8179-42BA-9313-AB3649298C41}" type="datetime1">
              <a:rPr lang="fr-FR" smtClean="0"/>
              <a:t>31/10/2025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CA6A9D-AE4D-4B9F-82A2-A8A1879CF1FD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5076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149203-36D1-40BE-98DA-9DA8422BCD53}" type="datetime1">
              <a:rPr lang="fr-FR" smtClean="0"/>
              <a:t>31/10/2025</a:t>
            </a:fld>
            <a:endParaRPr lang="fr-FR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6DD686-4B0E-404B-9A8C-39B7649B33F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0981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F477A3-8FE0-4B7E-A69A-AF8A31224535}" type="datetime1">
              <a:rPr lang="fr-FR" smtClean="0"/>
              <a:t>31/10/2025</a:t>
            </a:fld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F7A8C2-4022-4423-AD6A-3808F8CCE67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138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4265DF-C9D6-4224-B0D0-B18720FAE376}" type="datetime1">
              <a:rPr lang="fr-FR" smtClean="0"/>
              <a:t>31/10/2025</a:t>
            </a:fld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70BB9D-EEFD-47F1-8456-A76ECCAD119E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384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AB563E-CA6D-4202-9FD3-4E9C2001BF5C}" type="datetime1">
              <a:rPr lang="fr-FR" smtClean="0"/>
              <a:t>31/10/2025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A92917-01B5-4E8C-BFEC-18FD0A17E87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7577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CC719-82BB-485C-9884-0955D2EDAFDA}" type="datetime1">
              <a:rPr lang="fr-FR" smtClean="0"/>
              <a:t>31/10/2025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C56B6E-88B6-4A57-AEFD-EA1E6BE9AD7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3684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E81FDD-F3A2-4361-94BD-09467961B8B4}" type="datetime1">
              <a:rPr lang="fr-FR" smtClean="0"/>
              <a:t>31/10/2025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F4B7C2-8CE4-4BAD-9D0C-80765E61DE9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898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2" y="609603"/>
            <a:ext cx="2588684" cy="5484813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3"/>
            <a:ext cx="7569200" cy="5484813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BB1012-3A3D-4B91-A754-A02A28E75EEE}" type="datetime1">
              <a:rPr lang="fr-FR" smtClean="0"/>
              <a:t>31/10/2025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99EC31-E3B7-4FC8-BB6A-FBF82360E3C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9342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2" y="609603"/>
            <a:ext cx="10361084" cy="1141413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BA0297-0565-4E69-9C42-831900A170AB}" type="datetime1">
              <a:rPr lang="fr-FR" smtClean="0"/>
              <a:t>31/10/2025</a:t>
            </a:fld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9E9879-8CFB-4292-8612-256D92E5B28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7374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F9D3C-AC6F-429E-8EA4-013C4366CE2E}" type="datetime1">
              <a:rPr lang="fr-FR" smtClean="0"/>
              <a:t>31/10/2025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914402" y="609603"/>
            <a:ext cx="10361084" cy="11414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éditer le format du texte-titre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2" y="1981201"/>
            <a:ext cx="10361084" cy="41132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éditer le format du plan de texte</a:t>
            </a:r>
          </a:p>
          <a:p>
            <a:pPr lvl="1"/>
            <a:r>
              <a:rPr lang="en-GB" smtClean="0"/>
              <a:t>Second niveau de plan</a:t>
            </a:r>
          </a:p>
          <a:p>
            <a:pPr lvl="2"/>
            <a:r>
              <a:rPr lang="en-GB" smtClean="0"/>
              <a:t>Troisième niveau de plan</a:t>
            </a:r>
          </a:p>
          <a:p>
            <a:pPr lvl="3"/>
            <a:r>
              <a:rPr lang="en-GB" smtClean="0"/>
              <a:t>Quatrième niveau de plan</a:t>
            </a:r>
          </a:p>
          <a:p>
            <a:pPr lvl="4"/>
            <a:r>
              <a:rPr lang="en-GB" smtClean="0"/>
              <a:t>Cinquième niveau de plan</a:t>
            </a:r>
          </a:p>
          <a:p>
            <a:pPr lvl="4"/>
            <a:r>
              <a:rPr lang="en-GB" smtClean="0"/>
              <a:t>Sixième niveau de plan</a:t>
            </a:r>
          </a:p>
          <a:p>
            <a:pPr lvl="4"/>
            <a:r>
              <a:rPr lang="en-GB" smtClean="0"/>
              <a:t>Septième niveau de plan</a:t>
            </a:r>
          </a:p>
          <a:p>
            <a:pPr lvl="4"/>
            <a:r>
              <a:rPr lang="en-GB" smtClean="0"/>
              <a:t>Huitième niveau de plan</a:t>
            </a:r>
          </a:p>
          <a:p>
            <a:pPr lvl="4"/>
            <a:r>
              <a:rPr lang="en-GB" smtClean="0"/>
              <a:t>Neuvième niveau de plan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914402" y="6248403"/>
            <a:ext cx="25378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mtClean="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fld id="{AFBB3673-710D-4D29-AC82-167E94112C65}" type="datetime1">
              <a:rPr lang="fr-FR" sz="2400" smtClean="0"/>
              <a:pPr defTabSz="449263" fontAlgn="base">
                <a:spcBef>
                  <a:spcPct val="0"/>
                </a:spcBef>
                <a:spcAft>
                  <a:spcPct val="0"/>
                </a:spcAft>
                <a:buSzPct val="100000"/>
                <a:defRPr/>
              </a:pPr>
              <a:t>31/10/2025</a:t>
            </a:fld>
            <a:endParaRPr lang="fr-FR" sz="240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4165602" y="6248403"/>
            <a:ext cx="38586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endParaRPr lang="fr-FR" sz="240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11277602" y="6629403"/>
            <a:ext cx="25378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00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fld id="{7FD84E5A-625F-47DD-A5B9-EA1D8EC3DB43}" type="slidenum">
              <a:rPr lang="fr-FR" smtClean="0"/>
              <a:pPr defTabSz="449263" fontAlgn="base">
                <a:spcBef>
                  <a:spcPct val="0"/>
                </a:spcBef>
                <a:spcAft>
                  <a:spcPct val="0"/>
                </a:spcAft>
                <a:buSzPct val="100000"/>
                <a:defRPr/>
              </a:pPr>
              <a:t>‹N°›</a:t>
            </a:fld>
            <a:endParaRPr lang="fr-FR"/>
          </a:p>
        </p:txBody>
      </p:sp>
      <p:pic>
        <p:nvPicPr>
          <p:cNvPr id="1031" name="Picture 6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0"/>
            <a:ext cx="12192000" cy="1295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46744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hf sldNum="0" hdr="0" ftr="0"/>
  <p:txStyles>
    <p:titleStyle>
      <a:lvl1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2pPr>
      <a:lvl3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3pPr>
      <a:lvl4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4pPr>
      <a:lvl5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5pPr>
      <a:lvl6pPr marL="25146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6pPr>
      <a:lvl7pPr marL="29718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7pPr>
      <a:lvl8pPr marL="34290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8pPr>
      <a:lvl9pPr marL="38862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9pPr>
    </p:titleStyle>
    <p:bodyStyle>
      <a:lvl1pPr marL="342900" indent="-342900" algn="l" defTabSz="449263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defRPr sz="2800">
          <a:solidFill>
            <a:srgbClr val="000000"/>
          </a:solidFill>
          <a:latin typeface="+mn-lt"/>
          <a:ea typeface="+mn-ea"/>
        </a:defRPr>
      </a:lvl2pPr>
      <a:lvl3pPr marL="1143000" indent="-22860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2400">
          <a:solidFill>
            <a:srgbClr val="000000"/>
          </a:solidFill>
          <a:latin typeface="+mn-lt"/>
          <a:ea typeface="+mn-ea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defRPr sz="2000">
          <a:solidFill>
            <a:srgbClr val="000000"/>
          </a:solidFill>
          <a:latin typeface="+mn-lt"/>
          <a:ea typeface="+mn-ea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»"/>
        <a:defRPr sz="2000">
          <a:solidFill>
            <a:srgbClr val="000000"/>
          </a:solidFill>
          <a:latin typeface="+mn-lt"/>
          <a:ea typeface="+mn-ea"/>
        </a:defRPr>
      </a:lvl5pPr>
      <a:lvl6pPr marL="25146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6pPr>
      <a:lvl7pPr marL="29718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7pPr>
      <a:lvl8pPr marL="34290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8pPr>
      <a:lvl9pPr marL="38862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à coins arrondis 8"/>
          <p:cNvSpPr/>
          <p:nvPr/>
        </p:nvSpPr>
        <p:spPr bwMode="auto">
          <a:xfrm>
            <a:off x="10668000" y="2786058"/>
            <a:ext cx="7143800" cy="785818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fr-FR" sz="2400" dirty="0">
              <a:solidFill>
                <a:prstClr val="white"/>
              </a:solidFill>
            </a:endParaRPr>
          </a:p>
        </p:txBody>
      </p:sp>
      <p:pic>
        <p:nvPicPr>
          <p:cNvPr id="2054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16480" y="-71462"/>
            <a:ext cx="1728787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32" y="0"/>
            <a:ext cx="1728788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e la date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B4B70AF9-3FB6-400F-9757-12747EE37EB3}" type="datetime1">
              <a:rPr lang="fr-FR" smtClean="0"/>
              <a:t>31/10/2025</a:t>
            </a:fld>
            <a:endParaRPr lang="fr-FR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1127448" y="2030870"/>
            <a:ext cx="9793088" cy="3456385"/>
          </a:xfrm>
          <a:prstGeom prst="roundRect">
            <a:avLst>
              <a:gd name="adj" fmla="val 26762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ثــانــويــة أسـي يــوسـف بــوغــنـي</a:t>
            </a:r>
            <a:r>
              <a:rPr lang="ar-DZ" altLang="zh-CN" sz="6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 </a:t>
            </a:r>
          </a:p>
          <a:p>
            <a:pPr lvl="0" algn="ctr" defTabSz="10096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الـمــــادة : الـمــعـــلـــومــــاتـــيـــة</a:t>
            </a:r>
            <a:r>
              <a:rPr lang="ar-DZ" altLang="zh-CN" sz="6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 </a:t>
            </a:r>
            <a:endParaRPr lang="ar-SA" altLang="zh-CN" sz="6000" b="1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itchFamily="34" charset="0"/>
              <a:cs typeface="+mj-cs"/>
            </a:endParaRPr>
          </a:p>
          <a:p>
            <a:pPr algn="ctr">
              <a:lnSpc>
                <a:spcPct val="150000"/>
              </a:lnSpc>
            </a:pPr>
            <a:endParaRPr lang="fr-FR" sz="5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62344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3645024"/>
            <a:ext cx="10693188" cy="230425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/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ال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وح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</a:t>
            </a:r>
            <a:r>
              <a:rPr lang="ar-SA" altLang="zh-CN" sz="4000" b="1" dirty="0" err="1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دة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 ال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ت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ع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ل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ي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م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ي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ة :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......................................</a:t>
            </a:r>
            <a:r>
              <a:rPr lang="fr-FR" sz="40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  </a:t>
            </a:r>
            <a:endParaRPr lang="ar-SA" altLang="zh-CN" sz="4000" b="1" dirty="0">
              <a:solidFill>
                <a:srgbClr val="00B050"/>
              </a:solidFill>
              <a:latin typeface="Times New Roman" pitchFamily="18" charset="0"/>
              <a:ea typeface="Times New Roman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244827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rtl="1">
              <a:lnSpc>
                <a:spcPct val="135000"/>
              </a:lnSpc>
            </a:pPr>
            <a:r>
              <a:rPr lang="ar-DZ" altLang="zh-CN" sz="4000" b="1" u="sng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الـمـجــال </a:t>
            </a:r>
            <a:r>
              <a:rPr lang="ar-DZ" altLang="zh-CN" sz="4000" b="1" u="sng" dirty="0" err="1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الـتَــعَـــلُــمِــي</a:t>
            </a:r>
            <a:r>
              <a:rPr lang="ar-DZ" altLang="zh-CN" sz="4000" b="1" u="sng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 : 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بــيــئـة الـتــعــامـل مـع الــحـاســـوب</a:t>
            </a:r>
            <a:endParaRPr lang="fr-FR" sz="4000" u="sng" dirty="0">
              <a:solidFill>
                <a:srgbClr val="FF0000"/>
              </a:solidFill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 u="sng"/>
              <a:t>31/10/2025</a:t>
            </a:fld>
            <a:endParaRPr lang="fr-BE" sz="2400" b="1" u="sng" dirty="0"/>
          </a:p>
        </p:txBody>
      </p:sp>
    </p:spTree>
    <p:extLst>
      <p:ext uri="{BB962C8B-B14F-4D97-AF65-F5344CB8AC3E}">
        <p14:creationId xmlns:p14="http://schemas.microsoft.com/office/powerpoint/2010/main" val="4192908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 smtClean="0">
                <a:solidFill>
                  <a:srgbClr val="FF0000"/>
                </a:solidFill>
                <a:cs typeface="+mj-cs"/>
              </a:rPr>
              <a:t>الإشــكــالــيــة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0" indent="0" algn="just" rtl="1">
              <a:lnSpc>
                <a:spcPct val="130000"/>
              </a:lnSpc>
              <a:buNone/>
            </a:pPr>
            <a:r>
              <a:rPr lang="ar-DZ" sz="4400" b="1" dirty="0">
                <a:cs typeface="+mj-cs"/>
              </a:rPr>
              <a:t>مــا هــي الأخـــطـــار الّـتـي قَــدْ تُــلْــحِــقُ أضــــرَارًا بــالـبــيـــانـــات الــمــحـــفــــوظــة فـي الــحـــــاســــوب ؟ وبــمـاذا يــنــبـغـي أَنْ نُـولِـي </a:t>
            </a:r>
            <a:r>
              <a:rPr lang="ar-DZ" sz="4400" b="1" dirty="0" smtClean="0">
                <a:cs typeface="+mj-cs"/>
              </a:rPr>
              <a:t>الاِهْــتِـــمَـــامَ </a:t>
            </a:r>
            <a:r>
              <a:rPr lang="ar-DZ" sz="4400" b="1" dirty="0">
                <a:cs typeface="+mj-cs"/>
              </a:rPr>
              <a:t>أكــثــر لـضــمــان فــعـــالــيــة الـحـــاســـوب والاســتــفـــادة مِــنْـهُ لـمــدة </a:t>
            </a:r>
            <a:r>
              <a:rPr lang="ar-DZ" sz="4400" b="1" dirty="0" smtClean="0">
                <a:cs typeface="+mj-cs"/>
              </a:rPr>
              <a:t>أطـــول</a:t>
            </a:r>
            <a:r>
              <a:rPr lang="ar-DZ" sz="4800" b="1" dirty="0" smtClean="0">
                <a:cs typeface="+mj-cs"/>
              </a:rPr>
              <a:t> ؟</a:t>
            </a: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lvl="0" algn="r" rtl="1">
              <a:lnSpc>
                <a:spcPct val="150000"/>
              </a:lnSpc>
            </a:pPr>
            <a:r>
              <a:rPr lang="ar-DZ" sz="4400" b="1" dirty="0" smtClean="0">
                <a:cs typeface="+mj-cs"/>
              </a:rPr>
              <a:t>أبــرز الأخــطــار </a:t>
            </a:r>
            <a:r>
              <a:rPr lang="ar-DZ" sz="4400" b="1" dirty="0">
                <a:cs typeface="+mj-cs"/>
              </a:rPr>
              <a:t>الـمُــتَــرَبِــصَـة بـالــبــيــانــات </a:t>
            </a:r>
            <a:r>
              <a:rPr lang="ar-DZ" sz="4400" b="1" dirty="0" smtClean="0">
                <a:cs typeface="+mj-cs"/>
              </a:rPr>
              <a:t>هـي </a:t>
            </a:r>
            <a:r>
              <a:rPr lang="ar-DZ" sz="3600" b="1" dirty="0">
                <a:cs typeface="+mj-cs"/>
              </a:rPr>
              <a:t>: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3600" baseline="-25000" dirty="0" smtClean="0">
                <a:cs typeface="+mj-cs"/>
              </a:rPr>
              <a:t>......................................................................................................................................</a:t>
            </a: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lvl="0" algn="r" rtl="1"/>
            <a:r>
              <a:rPr lang="ar-DZ" sz="4400" b="1" dirty="0" smtClean="0">
                <a:cs typeface="+mj-cs"/>
              </a:rPr>
              <a:t>لـضـمـان </a:t>
            </a:r>
            <a:r>
              <a:rPr lang="ar-DZ" sz="4400" b="1" dirty="0">
                <a:cs typeface="+mj-cs"/>
              </a:rPr>
              <a:t>فـعــالــيـة </a:t>
            </a:r>
            <a:r>
              <a:rPr lang="ar-DZ" sz="4400" b="1" dirty="0" smtClean="0">
                <a:cs typeface="+mj-cs"/>
              </a:rPr>
              <a:t>الـحـاسـوب </a:t>
            </a:r>
            <a:r>
              <a:rPr lang="ar-DZ" sz="4400" b="1" dirty="0">
                <a:cs typeface="+mj-cs"/>
              </a:rPr>
              <a:t>لَا </a:t>
            </a:r>
            <a:r>
              <a:rPr lang="ar-DZ" sz="4400" b="1" dirty="0" smtClean="0">
                <a:cs typeface="+mj-cs"/>
              </a:rPr>
              <a:t>بُــدَّ </a:t>
            </a:r>
            <a:r>
              <a:rPr lang="ar-DZ" sz="4400" b="1" dirty="0">
                <a:cs typeface="+mj-cs"/>
              </a:rPr>
              <a:t>أَنْ نـهـتـمَ أكـثـر بـ </a:t>
            </a:r>
            <a:r>
              <a:rPr lang="ar-DZ" sz="3600" b="1" dirty="0" smtClean="0">
                <a:cs typeface="+mj-cs"/>
              </a:rPr>
              <a:t>: </a:t>
            </a:r>
            <a:endParaRPr lang="ar-DZ" sz="4400" b="1" dirty="0" smtClean="0">
              <a:cs typeface="+mj-cs"/>
            </a:endParaRPr>
          </a:p>
          <a:p>
            <a:pPr marL="268288" lvl="0" indent="0" algn="r" rtl="1">
              <a:buNone/>
            </a:pPr>
            <a:r>
              <a:rPr lang="ar-DZ" sz="3600" baseline="-25000" dirty="0" smtClean="0"/>
              <a:t>...........................................................................................................................</a:t>
            </a: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857739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lvl="0" algn="r" rtl="1">
              <a:lnSpc>
                <a:spcPct val="150000"/>
              </a:lnSpc>
            </a:pPr>
            <a:r>
              <a:rPr lang="ar-DZ" sz="4400" b="1" dirty="0" smtClean="0">
                <a:cs typeface="+mj-cs"/>
              </a:rPr>
              <a:t>أبــرز الأخــطــار </a:t>
            </a:r>
            <a:r>
              <a:rPr lang="ar-DZ" sz="4400" b="1" dirty="0">
                <a:cs typeface="+mj-cs"/>
              </a:rPr>
              <a:t>الـمُــتَــرَبِــصَـة بـالــبــيــانــات </a:t>
            </a:r>
            <a:r>
              <a:rPr lang="ar-DZ" sz="4400" b="1" dirty="0" smtClean="0">
                <a:cs typeface="+mj-cs"/>
              </a:rPr>
              <a:t>هـي </a:t>
            </a:r>
            <a:r>
              <a:rPr lang="ar-DZ" sz="3600" b="1" dirty="0">
                <a:cs typeface="+mj-cs"/>
              </a:rPr>
              <a:t>: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3600" baseline="-25000" dirty="0" smtClean="0">
                <a:cs typeface="+mj-cs"/>
              </a:rPr>
              <a:t>......................................................................................................................................</a:t>
            </a: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lvl="0" algn="r" rtl="1"/>
            <a:r>
              <a:rPr lang="ar-DZ" sz="4400" b="1" dirty="0" smtClean="0">
                <a:cs typeface="+mj-cs"/>
              </a:rPr>
              <a:t>لـضـمـان </a:t>
            </a:r>
            <a:r>
              <a:rPr lang="ar-DZ" sz="4400" b="1" dirty="0">
                <a:cs typeface="+mj-cs"/>
              </a:rPr>
              <a:t>فـعــالــيـة </a:t>
            </a:r>
            <a:r>
              <a:rPr lang="ar-DZ" sz="4400" b="1" dirty="0" smtClean="0">
                <a:cs typeface="+mj-cs"/>
              </a:rPr>
              <a:t>الـحـاسـوب </a:t>
            </a:r>
            <a:r>
              <a:rPr lang="ar-DZ" sz="4400" b="1" dirty="0">
                <a:cs typeface="+mj-cs"/>
              </a:rPr>
              <a:t>لَا </a:t>
            </a:r>
            <a:r>
              <a:rPr lang="ar-DZ" sz="4400" b="1" dirty="0" smtClean="0">
                <a:cs typeface="+mj-cs"/>
              </a:rPr>
              <a:t>بُــدَّ </a:t>
            </a:r>
            <a:r>
              <a:rPr lang="ar-DZ" sz="4400" b="1" dirty="0">
                <a:cs typeface="+mj-cs"/>
              </a:rPr>
              <a:t>أَنْ نـهـتـمَ أكـثـر بـ </a:t>
            </a:r>
            <a:r>
              <a:rPr lang="ar-DZ" sz="3600" b="1" dirty="0" smtClean="0">
                <a:cs typeface="+mj-cs"/>
              </a:rPr>
              <a:t>: </a:t>
            </a:r>
            <a:endParaRPr lang="ar-DZ" sz="4400" b="1" dirty="0" smtClean="0">
              <a:cs typeface="+mj-cs"/>
            </a:endParaRPr>
          </a:p>
          <a:p>
            <a:pPr marL="268288" lvl="0" indent="0" algn="r" rtl="1">
              <a:buNone/>
            </a:pPr>
            <a:r>
              <a:rPr lang="ar-DZ" sz="3600" baseline="-25000" dirty="0" smtClean="0"/>
              <a:t>...........................................................................................................................</a:t>
            </a: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911424" y="2635105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الـفــيـــروســـات أو الـبـــرمــجــيـــات الـخــبـــيـــثــة</a:t>
            </a:r>
            <a:endParaRPr lang="fr-FR" sz="4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95788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lvl="0" algn="r" rtl="1">
              <a:lnSpc>
                <a:spcPct val="150000"/>
              </a:lnSpc>
            </a:pPr>
            <a:r>
              <a:rPr lang="ar-DZ" sz="4400" b="1" dirty="0" smtClean="0">
                <a:cs typeface="+mj-cs"/>
              </a:rPr>
              <a:t>أبــرز الأخــطــار </a:t>
            </a:r>
            <a:r>
              <a:rPr lang="ar-DZ" sz="4400" b="1" dirty="0">
                <a:cs typeface="+mj-cs"/>
              </a:rPr>
              <a:t>الـمُــتَــرَبِــصَـة بـالــبــيــانــات </a:t>
            </a:r>
            <a:r>
              <a:rPr lang="ar-DZ" sz="4400" b="1" dirty="0" smtClean="0">
                <a:cs typeface="+mj-cs"/>
              </a:rPr>
              <a:t>هـي </a:t>
            </a:r>
            <a:r>
              <a:rPr lang="ar-DZ" sz="3600" b="1" dirty="0">
                <a:cs typeface="+mj-cs"/>
              </a:rPr>
              <a:t>: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3600" baseline="-25000" dirty="0" smtClean="0">
                <a:cs typeface="+mj-cs"/>
              </a:rPr>
              <a:t>......................................................................................................................................</a:t>
            </a: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lvl="0" algn="r" rtl="1"/>
            <a:r>
              <a:rPr lang="ar-DZ" sz="4400" b="1" dirty="0" smtClean="0">
                <a:cs typeface="+mj-cs"/>
              </a:rPr>
              <a:t>لـضـمـان </a:t>
            </a:r>
            <a:r>
              <a:rPr lang="ar-DZ" sz="4400" b="1" dirty="0">
                <a:cs typeface="+mj-cs"/>
              </a:rPr>
              <a:t>فـعــالــيـة </a:t>
            </a:r>
            <a:r>
              <a:rPr lang="ar-DZ" sz="4400" b="1" dirty="0" smtClean="0">
                <a:cs typeface="+mj-cs"/>
              </a:rPr>
              <a:t>الـحـاسـوب </a:t>
            </a:r>
            <a:r>
              <a:rPr lang="ar-DZ" sz="4400" b="1" dirty="0">
                <a:cs typeface="+mj-cs"/>
              </a:rPr>
              <a:t>لَا </a:t>
            </a:r>
            <a:r>
              <a:rPr lang="ar-DZ" sz="4400" b="1" dirty="0" smtClean="0">
                <a:cs typeface="+mj-cs"/>
              </a:rPr>
              <a:t>بُــدَّ </a:t>
            </a:r>
            <a:r>
              <a:rPr lang="ar-DZ" sz="4400" b="1" dirty="0">
                <a:cs typeface="+mj-cs"/>
              </a:rPr>
              <a:t>أَنْ نـهـتـمَ أكـثـر بـ </a:t>
            </a:r>
            <a:r>
              <a:rPr lang="ar-DZ" sz="3600" b="1" dirty="0" smtClean="0">
                <a:cs typeface="+mj-cs"/>
              </a:rPr>
              <a:t>: </a:t>
            </a:r>
            <a:endParaRPr lang="ar-DZ" sz="4400" b="1" dirty="0" smtClean="0">
              <a:cs typeface="+mj-cs"/>
            </a:endParaRPr>
          </a:p>
          <a:p>
            <a:pPr marL="268288" lvl="0" indent="0" algn="r" rtl="1">
              <a:buNone/>
            </a:pPr>
            <a:r>
              <a:rPr lang="ar-DZ" sz="3600" baseline="-25000" dirty="0" smtClean="0"/>
              <a:t>...........................................................................................................................</a:t>
            </a: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911424" y="2635105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الـفــيـــروســـات أو الـبـــرمــجــيـــات الـخــبـــيـــثــة</a:t>
            </a:r>
            <a:endParaRPr lang="fr-FR" sz="4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11424" y="4840577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حــ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ـ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مــايـــة الـحــاســوب  </a:t>
            </a:r>
            <a:r>
              <a:rPr lang="fr-FR" sz="3600" b="1" dirty="0" smtClean="0">
                <a:solidFill>
                  <a:srgbClr val="0070C0"/>
                </a:solidFill>
                <a:cs typeface="+mj-cs"/>
              </a:rPr>
              <a:t>Protection de l‘Ordinateur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48096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5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2966770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/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ال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وح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ـــ</a:t>
            </a:r>
            <a:r>
              <a:rPr lang="ar-SA" altLang="zh-CN" sz="4000" b="1" dirty="0" err="1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دة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 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ال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ت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ع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ي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م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ي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ة 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: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......................................</a:t>
            </a:r>
            <a:r>
              <a:rPr lang="fr-FR" sz="40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  </a:t>
            </a:r>
            <a:endParaRPr lang="ar-SA" altLang="zh-CN" sz="4000" b="1" dirty="0">
              <a:solidFill>
                <a:srgbClr val="00B050"/>
              </a:solidFill>
              <a:latin typeface="Times New Roman" pitchFamily="18" charset="0"/>
              <a:ea typeface="Times New Roman" pitchFamily="18" charset="0"/>
              <a:cs typeface="+mj-cs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rtl="1">
              <a:lnSpc>
                <a:spcPct val="135000"/>
              </a:lnSpc>
            </a:pPr>
            <a:r>
              <a:rPr lang="ar-DZ" altLang="zh-CN" sz="40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الـمـجــال </a:t>
            </a:r>
            <a:r>
              <a:rPr lang="ar-DZ" altLang="zh-CN" sz="4000" b="1" dirty="0" err="1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الـتَــعَـــلُــمِــي</a:t>
            </a:r>
            <a:r>
              <a:rPr lang="ar-DZ" altLang="zh-CN" sz="4000" b="1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 </a:t>
            </a:r>
            <a:r>
              <a:rPr lang="ar-DZ" altLang="zh-CN" sz="40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: </a:t>
            </a:r>
            <a:r>
              <a:rPr lang="ar-DZ" altLang="zh-CN" sz="4000" b="1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بــيــئـة الـتــعــامـل مـع الــحـاســـوب</a:t>
            </a:r>
            <a:endParaRPr lang="fr-FR" sz="4000" dirty="0">
              <a:solidFill>
                <a:srgbClr val="FF0000"/>
              </a:solidFill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/>
              <a:t>31/10/2025</a:t>
            </a:fld>
            <a:endParaRPr lang="fr-BE" sz="2400" b="1" dirty="0"/>
          </a:p>
        </p:txBody>
      </p:sp>
    </p:spTree>
    <p:extLst>
      <p:ext uri="{BB962C8B-B14F-4D97-AF65-F5344CB8AC3E}">
        <p14:creationId xmlns:p14="http://schemas.microsoft.com/office/powerpoint/2010/main" val="1942811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2966770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/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وح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err="1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دة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ت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ع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ة 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: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حـــــمـــــايـــــة الـحــــاســــوب</a:t>
            </a:r>
            <a:r>
              <a:rPr lang="fr-FR" sz="4000" b="1" dirty="0" smtClean="0">
                <a:solidFill>
                  <a:srgbClr val="00B050"/>
                </a:solidFill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  </a:t>
            </a:r>
            <a:endParaRPr lang="ar-SA" altLang="zh-CN" sz="4000" b="1" dirty="0">
              <a:solidFill>
                <a:srgbClr val="00B050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rtl="1">
              <a:lnSpc>
                <a:spcPct val="135000"/>
              </a:lnSpc>
            </a:pPr>
            <a:r>
              <a:rPr lang="ar-DZ" altLang="zh-CN" sz="40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الـمـجــال </a:t>
            </a:r>
            <a:r>
              <a:rPr lang="ar-DZ" altLang="zh-CN" sz="4000" b="1" dirty="0" err="1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الـتَــعَـــلُــمِــي</a:t>
            </a:r>
            <a:r>
              <a:rPr lang="ar-DZ" altLang="zh-CN" sz="4000" b="1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 </a:t>
            </a:r>
            <a:r>
              <a:rPr lang="ar-DZ" altLang="zh-CN" sz="40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: </a:t>
            </a:r>
            <a:r>
              <a:rPr lang="ar-DZ" altLang="zh-CN" sz="4000" b="1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بــيــئـة الـتــعــامـل مـع الــحـاســـوب</a:t>
            </a:r>
            <a:endParaRPr lang="fr-FR" sz="4000" dirty="0">
              <a:solidFill>
                <a:srgbClr val="FF0000"/>
              </a:solidFill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/>
              <a:t>31/10/2025</a:t>
            </a:fld>
            <a:endParaRPr lang="fr-BE" sz="2400" b="1" dirty="0"/>
          </a:p>
        </p:txBody>
      </p:sp>
    </p:spTree>
    <p:extLst>
      <p:ext uri="{BB962C8B-B14F-4D97-AF65-F5344CB8AC3E}">
        <p14:creationId xmlns:p14="http://schemas.microsoft.com/office/powerpoint/2010/main" val="4080680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2966770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/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وح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err="1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دة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ت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ع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ة 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: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حـــــمـــــايـــــة الـحــــاســــوب</a:t>
            </a:r>
            <a:r>
              <a:rPr lang="fr-FR" sz="4000" b="1" dirty="0" smtClean="0">
                <a:solidFill>
                  <a:srgbClr val="00B050"/>
                </a:solidFill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  </a:t>
            </a:r>
            <a:endParaRPr lang="ar-SA" altLang="zh-CN" sz="4000" b="1" dirty="0">
              <a:solidFill>
                <a:srgbClr val="00B050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rtl="1">
              <a:lnSpc>
                <a:spcPct val="135000"/>
              </a:lnSpc>
            </a:pPr>
            <a:r>
              <a:rPr lang="ar-DZ" altLang="zh-CN" sz="40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الـمـجــال </a:t>
            </a:r>
            <a:r>
              <a:rPr lang="ar-DZ" altLang="zh-CN" sz="4000" b="1" dirty="0" err="1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الـتَــعَـــلُــمِــي</a:t>
            </a:r>
            <a:r>
              <a:rPr lang="ar-DZ" altLang="zh-CN" sz="4000" b="1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 </a:t>
            </a:r>
            <a:r>
              <a:rPr lang="ar-DZ" altLang="zh-CN" sz="40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: </a:t>
            </a:r>
            <a:r>
              <a:rPr lang="ar-DZ" altLang="zh-CN" sz="4000" b="1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بــيــئـة الـتــعــامـل مـع الــحـاســـوب</a:t>
            </a:r>
            <a:endParaRPr lang="fr-FR" sz="4000" dirty="0">
              <a:solidFill>
                <a:srgbClr val="FF0000"/>
              </a:solidFill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/>
              <a:t>31/10/2025</a:t>
            </a:fld>
            <a:endParaRPr lang="fr-BE" sz="2400" b="1" dirty="0"/>
          </a:p>
        </p:txBody>
      </p:sp>
      <p:sp>
        <p:nvSpPr>
          <p:cNvPr id="9" name="Rectangle à coins arrondis 8"/>
          <p:cNvSpPr/>
          <p:nvPr/>
        </p:nvSpPr>
        <p:spPr>
          <a:xfrm>
            <a:off x="587388" y="5081119"/>
            <a:ext cx="6660740" cy="1586641"/>
          </a:xfrm>
          <a:prstGeom prst="roundRect">
            <a:avLst>
              <a:gd name="adj" fmla="val 26762"/>
            </a:avLst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altLang="zh-CN" sz="4000" b="1" u="sng" dirty="0" smtClean="0">
                <a:ln w="0"/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Protection de l’Ordinateur</a:t>
            </a:r>
            <a:endParaRPr lang="ar-SA" altLang="zh-CN" sz="4000" b="1" dirty="0">
              <a:ln w="0"/>
              <a:solidFill>
                <a:prstClr val="black"/>
              </a:solidFill>
              <a:latin typeface="Arial" pitchFamily="34" charset="0"/>
            </a:endParaRPr>
          </a:p>
          <a:p>
            <a:pPr algn="ctr"/>
            <a:endParaRPr lang="fr-FR" dirty="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0276" y="4586770"/>
            <a:ext cx="2808312" cy="2090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34744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4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1. الـبـرمـجـيــات </a:t>
            </a:r>
            <a:r>
              <a:rPr lang="ar-DZ" sz="4800" b="1" dirty="0">
                <a:solidFill>
                  <a:srgbClr val="FF0000"/>
                </a:solidFill>
                <a:cs typeface="+mj-cs"/>
              </a:rPr>
              <a:t>الـخــبــيــثـة  </a:t>
            </a:r>
            <a:r>
              <a:rPr lang="fr-FR" sz="4800" b="1" dirty="0">
                <a:solidFill>
                  <a:srgbClr val="FF0000"/>
                </a:solidFill>
                <a:cs typeface="+mj-cs"/>
              </a:rPr>
              <a:t>Malwares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cs typeface="+mj-cs"/>
              </a:rPr>
              <a:t>عَـــرِّفْ </a:t>
            </a:r>
            <a:r>
              <a:rPr lang="ar-DZ" sz="4400" b="1" dirty="0"/>
              <a:t>الـبَــرْمَــجِـــيَـــات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>
                <a:cs typeface="+mj-cs"/>
              </a:rPr>
              <a:t>الـخــبــيـــثــة </a:t>
            </a:r>
            <a:r>
              <a:rPr lang="ar-DZ" sz="4400" b="1" dirty="0" smtClean="0">
                <a:cs typeface="+mj-cs"/>
              </a:rPr>
              <a:t>مُــبَــيِّــنًــا الـجَــوَانِــبَ </a:t>
            </a:r>
            <a:r>
              <a:rPr lang="ar-DZ" sz="4400" b="1">
                <a:cs typeface="+mj-cs"/>
              </a:rPr>
              <a:t>الَّـتِي </a:t>
            </a:r>
            <a:r>
              <a:rPr lang="ar-DZ" sz="4400" b="1" smtClean="0">
                <a:cs typeface="+mj-cs"/>
              </a:rPr>
              <a:t>تَــمَــسُّــهَـا </a:t>
            </a:r>
            <a:r>
              <a:rPr lang="ar-DZ" sz="4400" b="1" dirty="0" smtClean="0">
                <a:cs typeface="+mj-cs"/>
              </a:rPr>
              <a:t>بِـأَضْــرَارِهَــا 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5400" b="1" u="sng" dirty="0">
                <a:solidFill>
                  <a:srgbClr val="00B050"/>
                </a:solidFill>
                <a:cs typeface="+mj-cs"/>
              </a:rPr>
              <a:t>نـشـاط </a:t>
            </a:r>
            <a:r>
              <a:rPr lang="ar-DZ" sz="5400" b="1" u="sng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50677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>
                <a:solidFill>
                  <a:srgbClr val="FF0000"/>
                </a:solidFill>
                <a:cs typeface="+mj-cs"/>
              </a:rPr>
              <a:t> ســؤال : </a:t>
            </a:r>
            <a:r>
              <a:rPr lang="ar-DZ" sz="3600" b="1" dirty="0">
                <a:solidFill>
                  <a:srgbClr val="FF0000"/>
                </a:solidFill>
              </a:rPr>
              <a:t>يـتـألـف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الـمـصـطـلح</a:t>
            </a:r>
            <a:r>
              <a:rPr lang="fr-FR" sz="36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3600" b="1" dirty="0" smtClean="0">
                <a:solidFill>
                  <a:srgbClr val="FF0000"/>
                </a:solidFill>
                <a:cs typeface="+mj-cs"/>
              </a:rPr>
              <a:t>Malware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مـن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مــقـطـعــيـن مـا هــمـا ؟</a:t>
            </a:r>
            <a:endParaRPr lang="fr-FR" sz="3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028835" y="3596553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4558" y="4901389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/>
          <p:nvPr/>
        </p:nvCxnSpPr>
        <p:spPr>
          <a:xfrm flipH="1">
            <a:off x="3073894" y="2492896"/>
            <a:ext cx="2216397" cy="110365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>
            <a:off x="6560260" y="2438389"/>
            <a:ext cx="2321630" cy="113113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031315" y="1699119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Malware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374810" y="3622522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</a:t>
            </a:r>
            <a:endParaRPr lang="en-US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Espace réservé du contenu 21"/>
          <p:cNvSpPr txBox="1">
            <a:spLocks/>
          </p:cNvSpPr>
          <p:nvPr/>
        </p:nvSpPr>
        <p:spPr>
          <a:xfrm>
            <a:off x="7269633" y="4800205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..............</a:t>
            </a:r>
            <a:endParaRPr lang="fr-FR" dirty="0">
              <a:cs typeface="+mj-cs"/>
            </a:endParaRPr>
          </a:p>
        </p:txBody>
      </p:sp>
      <p:sp>
        <p:nvSpPr>
          <p:cNvPr id="11" name="Espace réservé du contenu 21"/>
          <p:cNvSpPr txBox="1">
            <a:spLocks/>
          </p:cNvSpPr>
          <p:nvPr/>
        </p:nvSpPr>
        <p:spPr>
          <a:xfrm>
            <a:off x="1356518" y="4725521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..............</a:t>
            </a:r>
            <a:endParaRPr lang="fr-FR" sz="4000" dirty="0">
              <a:cs typeface="+mj-cs"/>
            </a:endParaRP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3737" y="4441885"/>
            <a:ext cx="2808312" cy="2090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82310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4" grpId="0" animBg="1"/>
      <p:bldP spid="20" grpId="0" animBg="1"/>
      <p:bldP spid="10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 ســؤال : </a:t>
            </a:r>
            <a:r>
              <a:rPr lang="ar-DZ" sz="3600" b="1" dirty="0">
                <a:solidFill>
                  <a:srgbClr val="FF0000"/>
                </a:solidFill>
              </a:rPr>
              <a:t>يـتـألـف </a:t>
            </a:r>
            <a:r>
              <a:rPr lang="ar-DZ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الـمـصـطـلح</a:t>
            </a:r>
            <a:r>
              <a:rPr lang="fr-FR" sz="36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cs typeface="+mj-cs"/>
              </a:rPr>
              <a:t>Malware</a:t>
            </a:r>
            <a:r>
              <a:rPr lang="ar-DZ" sz="3600" b="1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مـن مــقـطـعــيـن مـا هــمـا ؟</a:t>
            </a:r>
            <a:endParaRPr lang="fr-FR" sz="3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028835" y="3596553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ware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4558" y="4901389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/>
          <p:nvPr/>
        </p:nvCxnSpPr>
        <p:spPr>
          <a:xfrm flipH="1">
            <a:off x="3071664" y="2492896"/>
            <a:ext cx="2218628" cy="110365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>
            <a:off x="6672064" y="2492896"/>
            <a:ext cx="2218801" cy="107676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031315" y="1699119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Malware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374810" y="3622522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</a:t>
            </a:r>
            <a:endParaRPr lang="en-US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Espace réservé du contenu 21"/>
          <p:cNvSpPr txBox="1">
            <a:spLocks/>
          </p:cNvSpPr>
          <p:nvPr/>
        </p:nvSpPr>
        <p:spPr>
          <a:xfrm>
            <a:off x="7269633" y="4800205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4000" b="1" dirty="0">
                <a:solidFill>
                  <a:srgbClr val="0070C0"/>
                </a:solidFill>
                <a:cs typeface="+mj-cs"/>
              </a:rPr>
              <a:t>..............</a:t>
            </a:r>
            <a:endParaRPr lang="fr-FR" sz="3600" dirty="0"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Espace réservé du contenu 21"/>
          <p:cNvSpPr txBox="1">
            <a:spLocks/>
          </p:cNvSpPr>
          <p:nvPr/>
        </p:nvSpPr>
        <p:spPr>
          <a:xfrm>
            <a:off x="1356518" y="4725521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4000" b="1" dirty="0">
                <a:solidFill>
                  <a:srgbClr val="0070C0"/>
                </a:solidFill>
                <a:cs typeface="+mj-cs"/>
              </a:rPr>
              <a:t>..............</a:t>
            </a:r>
            <a:endParaRPr lang="en-US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7381" y="4442493"/>
            <a:ext cx="2808312" cy="2090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06335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4" grpId="0" animBg="1"/>
      <p:bldP spid="20" grpId="0" animBg="1"/>
      <p:bldP spid="10" grpId="0" animBg="1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 ســؤال : </a:t>
            </a:r>
            <a:r>
              <a:rPr lang="ar-DZ" sz="3600" b="1" dirty="0">
                <a:solidFill>
                  <a:srgbClr val="FF0000"/>
                </a:solidFill>
              </a:rPr>
              <a:t>يـتـألـف </a:t>
            </a:r>
            <a:r>
              <a:rPr lang="ar-DZ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الـمـصـطـلح</a:t>
            </a:r>
            <a:r>
              <a:rPr lang="fr-FR" sz="36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cs typeface="+mj-cs"/>
              </a:rPr>
              <a:t>Malware</a:t>
            </a:r>
            <a:r>
              <a:rPr lang="ar-DZ" sz="3600" b="1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مـن مــقـطـعــيـن مـا هــمـا ؟</a:t>
            </a:r>
            <a:endParaRPr lang="fr-FR" sz="3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028835" y="3596553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ware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4558" y="4901389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/>
          <p:nvPr/>
        </p:nvCxnSpPr>
        <p:spPr>
          <a:xfrm flipH="1">
            <a:off x="3071664" y="2492896"/>
            <a:ext cx="2218628" cy="110365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>
            <a:off x="6672064" y="2492896"/>
            <a:ext cx="2218801" cy="107676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031315" y="1699119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Malware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374810" y="3622522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</a:t>
            </a:r>
            <a:endParaRPr lang="en-US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Espace réservé du contenu 21"/>
          <p:cNvSpPr txBox="1">
            <a:spLocks/>
          </p:cNvSpPr>
          <p:nvPr/>
        </p:nvSpPr>
        <p:spPr>
          <a:xfrm>
            <a:off x="7269633" y="4800205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4000" b="1" dirty="0">
                <a:solidFill>
                  <a:srgbClr val="0070C0"/>
                </a:solidFill>
                <a:cs typeface="Times New Roman" panose="02020603050405020304" pitchFamily="18" charset="0"/>
              </a:rPr>
              <a:t>..............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Espace réservé du contenu 21"/>
          <p:cNvSpPr txBox="1">
            <a:spLocks/>
          </p:cNvSpPr>
          <p:nvPr/>
        </p:nvSpPr>
        <p:spPr>
          <a:xfrm>
            <a:off x="1356518" y="4725521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Malicious</a:t>
            </a:r>
            <a:endParaRPr lang="en-US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7049" y="4442493"/>
            <a:ext cx="2808312" cy="2090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8151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4" grpId="0" animBg="1"/>
      <p:bldP spid="20" grpId="0" animBg="1"/>
      <p:bldP spid="10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 ســؤال : </a:t>
            </a:r>
            <a:r>
              <a:rPr lang="ar-DZ" sz="3600" b="1" dirty="0">
                <a:solidFill>
                  <a:srgbClr val="FF0000"/>
                </a:solidFill>
              </a:rPr>
              <a:t>يـتـألـف </a:t>
            </a:r>
            <a:r>
              <a:rPr lang="ar-DZ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الـمـصـطـلح</a:t>
            </a:r>
            <a:r>
              <a:rPr lang="fr-FR" sz="36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cs typeface="+mj-cs"/>
              </a:rPr>
              <a:t>Malware</a:t>
            </a:r>
            <a:r>
              <a:rPr lang="ar-DZ" sz="3600" b="1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مـن مــقـطـعــيـن مـا هــمـا ؟</a:t>
            </a:r>
            <a:endParaRPr lang="fr-FR" sz="3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028835" y="3596553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ware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4558" y="4901389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/>
          <p:nvPr/>
        </p:nvCxnSpPr>
        <p:spPr>
          <a:xfrm flipH="1">
            <a:off x="3071664" y="2492896"/>
            <a:ext cx="2218628" cy="110365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>
            <a:off x="6672064" y="2492896"/>
            <a:ext cx="2218801" cy="107676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031315" y="1699119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Malware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374810" y="3622522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</a:t>
            </a:r>
            <a:endParaRPr lang="en-US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Espace réservé du contenu 21"/>
          <p:cNvSpPr txBox="1">
            <a:spLocks/>
          </p:cNvSpPr>
          <p:nvPr/>
        </p:nvSpPr>
        <p:spPr>
          <a:xfrm>
            <a:off x="7269633" y="4800205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Espace réservé du contenu 21"/>
          <p:cNvSpPr txBox="1">
            <a:spLocks/>
          </p:cNvSpPr>
          <p:nvPr/>
        </p:nvSpPr>
        <p:spPr>
          <a:xfrm>
            <a:off x="1356518" y="4725521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Malicious</a:t>
            </a:r>
            <a:endParaRPr lang="en-US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7049" y="4442493"/>
            <a:ext cx="2808312" cy="2090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47132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4" grpId="0" animBg="1"/>
      <p:bldP spid="20" grpId="0" animBg="1"/>
      <p:bldP spid="10" grpId="0" animBg="1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سـؤال : مـا هـي الـجَــوَانِــب الّـتِي تَـمُــسُهـا الـبَــرَامِـجُ الـخَــبِــيــثَــة ؟</a:t>
            </a:r>
            <a:endParaRPr lang="fr-FR" sz="3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392143" y="3283294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1315" y="1699119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/>
            <a:r>
              <a:rPr lang="ar-DZ" sz="4400" b="1" dirty="0">
                <a:solidFill>
                  <a:srgbClr val="FF0000"/>
                </a:solidFill>
                <a:cs typeface="Times New Roman" panose="02020603050405020304" pitchFamily="18" charset="0"/>
              </a:rPr>
              <a:t>أضـرار الـبَــرْمَــجِـــيَــــات الـخَـــبِـــيــــثَـــة قـد تَـمَـسُ :</a:t>
            </a:r>
            <a:endParaRPr lang="fr-FR" sz="4400" b="1" dirty="0">
              <a:solidFill>
                <a:srgbClr val="0070C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31315" y="3283295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6702" y="4171622"/>
            <a:ext cx="1728192" cy="210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089" y="4527553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670281" y="2479449"/>
            <a:ext cx="1137599" cy="12007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5807879" y="2479449"/>
            <a:ext cx="1584264" cy="120073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7636171" y="5196961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b="1" dirty="0" smtClean="0">
                <a:solidFill>
                  <a:srgbClr val="0070C0"/>
                </a:solidFill>
                <a:cs typeface="+mj-cs"/>
              </a:rPr>
              <a:t>..............</a:t>
            </a:r>
            <a:endParaRPr lang="fr-FR" dirty="0">
              <a:cs typeface="+mj-cs"/>
            </a:endParaRPr>
          </a:p>
        </p:txBody>
      </p:sp>
      <p:sp>
        <p:nvSpPr>
          <p:cNvPr id="19" name="Espace réservé du contenu 21"/>
          <p:cNvSpPr txBox="1">
            <a:spLocks/>
          </p:cNvSpPr>
          <p:nvPr/>
        </p:nvSpPr>
        <p:spPr>
          <a:xfrm>
            <a:off x="1031315" y="4919041"/>
            <a:ext cx="3374965" cy="160862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cs typeface="+mj-cs"/>
              </a:rPr>
              <a:t>................</a:t>
            </a:r>
            <a:endParaRPr lang="fr-FR" sz="18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4062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17" grpId="0" animBg="1"/>
      <p:bldP spid="1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سـؤال : مـا هـي الـجَــوَانِــب الّـتِي تَـمُــسُهـا الـبَــرَامِـجُ الـخَــبِــيــثَــة ؟</a:t>
            </a:r>
            <a:endParaRPr lang="fr-FR" sz="3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392143" y="3283294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الــحــاســوب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1315" y="1699119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/>
            <a:r>
              <a:rPr lang="ar-DZ" sz="4400" b="1" dirty="0">
                <a:solidFill>
                  <a:srgbClr val="FF0000"/>
                </a:solidFill>
                <a:cs typeface="Times New Roman" panose="02020603050405020304" pitchFamily="18" charset="0"/>
              </a:rPr>
              <a:t>أضـرار الـبَــرْمَــجِـــيَــــات الـخَـــبِـــيــــثَـــة قـد تَـمَـسُ :</a:t>
            </a:r>
            <a:endParaRPr lang="fr-FR" sz="4400" b="1" dirty="0">
              <a:solidFill>
                <a:srgbClr val="0070C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31315" y="3283295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6702" y="4171622"/>
            <a:ext cx="1728192" cy="210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089" y="4527553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670281" y="2479449"/>
            <a:ext cx="1137599" cy="12007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5807879" y="2479449"/>
            <a:ext cx="1584264" cy="120073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7636171" y="5196961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b="1" dirty="0" smtClean="0">
                <a:solidFill>
                  <a:srgbClr val="0070C0"/>
                </a:solidFill>
                <a:cs typeface="+mj-cs"/>
              </a:rPr>
              <a:t>..............</a:t>
            </a:r>
            <a:endParaRPr lang="fr-FR" dirty="0">
              <a:cs typeface="+mj-cs"/>
            </a:endParaRPr>
          </a:p>
        </p:txBody>
      </p:sp>
      <p:sp>
        <p:nvSpPr>
          <p:cNvPr id="19" name="Espace réservé du contenu 21"/>
          <p:cNvSpPr txBox="1">
            <a:spLocks/>
          </p:cNvSpPr>
          <p:nvPr/>
        </p:nvSpPr>
        <p:spPr>
          <a:xfrm>
            <a:off x="1031315" y="4919041"/>
            <a:ext cx="3374965" cy="160862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cs typeface="+mj-cs"/>
              </a:rPr>
              <a:t>................</a:t>
            </a:r>
            <a:endParaRPr lang="fr-FR" sz="18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17020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17" grpId="0" animBg="1"/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سـؤال : مـا هـي الـجَــوَانِــب الّـتِي تَـمُــسُهـا الـبَــرَامِـجُ الـخَــبِــيــثَــة ؟</a:t>
            </a:r>
            <a:endParaRPr lang="fr-FR" sz="3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392143" y="3283294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الــحــاســوب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1315" y="1699119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/>
            <a:r>
              <a:rPr lang="ar-DZ" sz="4400" b="1" dirty="0">
                <a:solidFill>
                  <a:srgbClr val="FF0000"/>
                </a:solidFill>
                <a:cs typeface="Times New Roman" panose="02020603050405020304" pitchFamily="18" charset="0"/>
              </a:rPr>
              <a:t>أضـرار الـبَــرْمَــجِـــيَــــات الـخَـــبِـــيــــثَـــة قـد تَـمَـسُ :</a:t>
            </a:r>
            <a:endParaRPr lang="fr-FR" sz="4400" b="1" dirty="0">
              <a:solidFill>
                <a:srgbClr val="0070C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31315" y="3283295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/>
            <a:r>
              <a:rPr lang="ar-DZ" sz="4400" b="1" dirty="0">
                <a:solidFill>
                  <a:srgbClr val="0070C0"/>
                </a:solidFill>
                <a:cs typeface="Times New Roman" panose="02020603050405020304" pitchFamily="18" charset="0"/>
              </a:rPr>
              <a:t>الــمــســتــخــدم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6702" y="4171622"/>
            <a:ext cx="1728192" cy="210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089" y="4527553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670281" y="2479449"/>
            <a:ext cx="1137599" cy="12007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5807879" y="2479449"/>
            <a:ext cx="1584264" cy="120073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7636171" y="5196961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b="1" dirty="0" smtClean="0">
                <a:solidFill>
                  <a:srgbClr val="0070C0"/>
                </a:solidFill>
                <a:cs typeface="+mj-cs"/>
              </a:rPr>
              <a:t>..............</a:t>
            </a:r>
            <a:endParaRPr lang="fr-FR" dirty="0">
              <a:cs typeface="+mj-cs"/>
            </a:endParaRPr>
          </a:p>
        </p:txBody>
      </p:sp>
      <p:sp>
        <p:nvSpPr>
          <p:cNvPr id="19" name="Espace réservé du contenu 21"/>
          <p:cNvSpPr txBox="1">
            <a:spLocks/>
          </p:cNvSpPr>
          <p:nvPr/>
        </p:nvSpPr>
        <p:spPr>
          <a:xfrm>
            <a:off x="1031315" y="4919041"/>
            <a:ext cx="3374965" cy="160862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cs typeface="+mj-cs"/>
              </a:rPr>
              <a:t>................</a:t>
            </a:r>
            <a:endParaRPr lang="fr-FR" sz="18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61552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17" grpId="0" animBg="1"/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dirty="0">
                <a:solidFill>
                  <a:srgbClr val="00B050"/>
                </a:solidFill>
                <a:cs typeface="Times New Roman" panose="02020603050405020304" pitchFamily="18" charset="0"/>
              </a:rPr>
              <a:t> ســؤال : مـا هـي أضــرار الـبَــرَامِـجُ الـخَــبِــيــثَــة بـالـحــاســوب ؟</a:t>
            </a:r>
            <a:endParaRPr lang="fr-FR" sz="3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392143" y="3283294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الــحــاســوب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1315" y="1699119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أضـرار الـبَــرْمَــجِـــيَــــات الـخَـــبِـــيــــثَـــة قـد تَـمَـسُ :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31315" y="3283295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الــمــســتــخــدم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6702" y="4171622"/>
            <a:ext cx="1728192" cy="210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089" y="4527553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670281" y="2479449"/>
            <a:ext cx="1137599" cy="12007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5807879" y="2479449"/>
            <a:ext cx="1584264" cy="120073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7636171" y="5196961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b="1" dirty="0" smtClean="0">
                <a:solidFill>
                  <a:srgbClr val="0070C0"/>
                </a:solidFill>
                <a:cs typeface="+mj-cs"/>
              </a:rPr>
              <a:t>..............</a:t>
            </a:r>
            <a:endParaRPr lang="fr-FR" dirty="0">
              <a:cs typeface="+mj-cs"/>
            </a:endParaRPr>
          </a:p>
        </p:txBody>
      </p:sp>
      <p:sp>
        <p:nvSpPr>
          <p:cNvPr id="19" name="Espace réservé du contenu 21"/>
          <p:cNvSpPr txBox="1">
            <a:spLocks/>
          </p:cNvSpPr>
          <p:nvPr/>
        </p:nvSpPr>
        <p:spPr>
          <a:xfrm>
            <a:off x="1031315" y="4919041"/>
            <a:ext cx="3374965" cy="160862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cs typeface="+mj-cs"/>
              </a:rPr>
              <a:t>................</a:t>
            </a:r>
            <a:endParaRPr lang="fr-FR" sz="18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73541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17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ســؤال </a:t>
            </a:r>
            <a:r>
              <a:rPr lang="ar-DZ" sz="3800" b="1" dirty="0">
                <a:solidFill>
                  <a:srgbClr val="00B050"/>
                </a:solidFill>
                <a:cs typeface="Times New Roman" panose="02020603050405020304" pitchFamily="18" charset="0"/>
              </a:rPr>
              <a:t>: </a:t>
            </a:r>
            <a:r>
              <a:rPr lang="ar-DZ" sz="3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مـا هـي أضــرار الـبَــرَامِـجُ الـخَــبِــيــثَــة بـالـحــاســوب </a:t>
            </a:r>
            <a:r>
              <a:rPr lang="ar-DZ" sz="3800" b="1" dirty="0">
                <a:solidFill>
                  <a:srgbClr val="00B050"/>
                </a:solidFill>
                <a:cs typeface="Times New Roman" panose="02020603050405020304" pitchFamily="18" charset="0"/>
              </a:rPr>
              <a:t>؟</a:t>
            </a:r>
            <a:endParaRPr lang="fr-FR" sz="3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392143" y="3283294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الــحــاســوب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1315" y="1699119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/>
            <a:r>
              <a:rPr lang="ar-DZ" sz="4400" b="1" dirty="0">
                <a:solidFill>
                  <a:srgbClr val="FF0000"/>
                </a:solidFill>
                <a:cs typeface="Times New Roman" panose="02020603050405020304" pitchFamily="18" charset="0"/>
              </a:rPr>
              <a:t>أضـرار الـبَــرْمَــجِـــيَــــات الـخَـــبِـــيــــثَـــة قـد تَـمَـسُ :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31315" y="3283295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الــمــســتــخــدم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6702" y="4171622"/>
            <a:ext cx="1728192" cy="210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089" y="4527553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670281" y="2479449"/>
            <a:ext cx="1137599" cy="12007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5807879" y="2479449"/>
            <a:ext cx="1584264" cy="120073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Espace réservé du contenu 21"/>
          <p:cNvSpPr txBox="1">
            <a:spLocks/>
          </p:cNvSpPr>
          <p:nvPr/>
        </p:nvSpPr>
        <p:spPr>
          <a:xfrm>
            <a:off x="1031315" y="4919041"/>
            <a:ext cx="3374965" cy="160862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cs typeface="+mj-cs"/>
              </a:rPr>
              <a:t>................</a:t>
            </a:r>
            <a:endParaRPr lang="fr-FR" sz="1800" dirty="0">
              <a:cs typeface="+mj-cs"/>
            </a:endParaRPr>
          </a:p>
        </p:txBody>
      </p:sp>
      <p:sp>
        <p:nvSpPr>
          <p:cNvPr id="20" name="Espace réservé du contenu 21"/>
          <p:cNvSpPr txBox="1">
            <a:spLocks/>
          </p:cNvSpPr>
          <p:nvPr/>
        </p:nvSpPr>
        <p:spPr>
          <a:xfrm>
            <a:off x="7464152" y="5000827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b="1" dirty="0" smtClean="0">
                <a:solidFill>
                  <a:srgbClr val="0070C0"/>
                </a:solidFill>
              </a:rPr>
              <a:t>الــعــــتـــــاد الــبـــيـــانـــات</a:t>
            </a:r>
            <a:endParaRPr lang="fr-FR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48773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19" grpId="0" animBg="1"/>
      <p:bldP spid="2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ســؤال </a:t>
            </a:r>
            <a:r>
              <a:rPr lang="ar-DZ" sz="3800" b="1" dirty="0">
                <a:solidFill>
                  <a:srgbClr val="00B050"/>
                </a:solidFill>
                <a:cs typeface="Times New Roman" panose="02020603050405020304" pitchFamily="18" charset="0"/>
              </a:rPr>
              <a:t>: مـا هـي أضــرار الـبَــرَامِـجُ </a:t>
            </a:r>
            <a:r>
              <a:rPr lang="ar-DZ" sz="3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الـخَــبِــيــثَــة بـالـمــســتــخــدم ؟</a:t>
            </a:r>
            <a:endParaRPr lang="fr-FR" sz="3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392143" y="3283294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الــحــاســوب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1315" y="1699119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/>
            <a:r>
              <a:rPr lang="ar-DZ" sz="4400" b="1" dirty="0">
                <a:solidFill>
                  <a:srgbClr val="FF0000"/>
                </a:solidFill>
                <a:cs typeface="Times New Roman" panose="02020603050405020304" pitchFamily="18" charset="0"/>
              </a:rPr>
              <a:t>أضـرار الـبَــرْمَــجِـــيَــــات الـخَـــبِـــيــــثَـــة قـد تَـمَـسُ :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31315" y="3283295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الــمــســتــخــدم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6702" y="4171622"/>
            <a:ext cx="1728192" cy="210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089" y="4527553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670281" y="2479449"/>
            <a:ext cx="1137599" cy="12007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5807879" y="2479449"/>
            <a:ext cx="1584264" cy="120073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Espace réservé du contenu 21"/>
          <p:cNvSpPr txBox="1">
            <a:spLocks/>
          </p:cNvSpPr>
          <p:nvPr/>
        </p:nvSpPr>
        <p:spPr>
          <a:xfrm>
            <a:off x="1031315" y="4706502"/>
            <a:ext cx="3374965" cy="160862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2700" b="1" dirty="0" smtClean="0">
                <a:solidFill>
                  <a:srgbClr val="0070C0"/>
                </a:solidFill>
                <a:cs typeface="+mj-cs"/>
              </a:rPr>
              <a:t>بـالــتــجــســس وانـتــهــاك خــصـوصـيــتـه</a:t>
            </a:r>
            <a:endParaRPr lang="fr-FR" sz="2700" dirty="0">
              <a:cs typeface="+mj-cs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7464152" y="5000827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b="1" dirty="0" smtClean="0">
                <a:solidFill>
                  <a:srgbClr val="0070C0"/>
                </a:solidFill>
              </a:rPr>
              <a:t>الــعــــتـــــاد الــبـــيـــانـــات</a:t>
            </a:r>
            <a:endParaRPr lang="fr-FR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12873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19" grpId="0" animBg="1"/>
      <p:bldP spid="1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/>
          </a:p>
          <a:p>
            <a:pPr marL="0" indent="0" algn="just" rtl="1"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هـي كـلُّ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صُـمِّـمَـتْ وطُـوِّرَتْ بِـهَـدَفِ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 بـ :</a:t>
            </a:r>
          </a:p>
          <a:p>
            <a:pPr marL="0" indent="0" algn="just" rtl="1">
              <a:buNone/>
            </a:pP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وذلــك فـي عـــتــــاده أو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 </a:t>
            </a: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أو الـمـســتـخـدم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عـلـيـه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وانـتـهـاك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 </a:t>
            </a:r>
            <a:endParaRPr lang="fr-FR" sz="40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تـعــريــف الـبــرمــجـــيــة الـخــبــيــثـة  </a:t>
            </a:r>
            <a:r>
              <a:rPr lang="en-US" b="1" dirty="0" smtClean="0">
                <a:solidFill>
                  <a:srgbClr val="00B050"/>
                </a:solidFill>
                <a:cs typeface="+mj-cs"/>
              </a:rPr>
              <a:t>Malware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08780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/>
          </a:p>
          <a:p>
            <a:pPr marL="0" indent="0" algn="just" rtl="1"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هـي كـلُّ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صُـمِّـمَـتْ وطُـوِّرَتْ بِـهَـدَفِ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 بـ :</a:t>
            </a:r>
          </a:p>
          <a:p>
            <a:pPr marL="0" indent="0" algn="just" rtl="1">
              <a:buNone/>
            </a:pP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وذلــك فـي عـــتــــاده أو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 </a:t>
            </a: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أو الـمـســتـخـدم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عـلـيـه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وانـتـهـاك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 </a:t>
            </a:r>
            <a:endParaRPr lang="fr-FR" sz="40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تـعــريــف الـبــرمــجـــيــة الـخــبــيــثـة  </a:t>
            </a:r>
            <a:r>
              <a:rPr lang="en-US" b="1" dirty="0" smtClean="0">
                <a:solidFill>
                  <a:srgbClr val="00B050"/>
                </a:solidFill>
                <a:cs typeface="+mj-cs"/>
              </a:rPr>
              <a:t>Malware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897336" y="2426566"/>
            <a:ext cx="194421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بَـرْمَـجِـيَـة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17963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/>
          </a:p>
          <a:p>
            <a:pPr marL="0" indent="0" algn="just" rtl="1"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هـي كـلُّ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صُـمِّـمَـتْ وطُـوِّرَتْ بِـهَـدَفِ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 بـ :</a:t>
            </a:r>
          </a:p>
          <a:p>
            <a:pPr marL="0" indent="0" algn="just" rtl="1">
              <a:buNone/>
            </a:pP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وذلــك فـي عـــتــــاده أو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 </a:t>
            </a: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أو الـمـســتـخـدم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عـلـيـه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وانـتـهـاك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 </a:t>
            </a:r>
            <a:endParaRPr lang="fr-FR" sz="40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تـعــريــف الـبــرمــجـــيــة الـخــبــيــثـة  </a:t>
            </a:r>
            <a:r>
              <a:rPr lang="en-US" b="1" dirty="0" smtClean="0">
                <a:solidFill>
                  <a:srgbClr val="00B050"/>
                </a:solidFill>
                <a:cs typeface="+mj-cs"/>
              </a:rPr>
              <a:t>Malware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897336" y="2426566"/>
            <a:ext cx="194421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بَـرْمَـجِـيَـة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73299" y="2416793"/>
            <a:ext cx="272394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إلـحـاق الـضـرر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05833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/>
          </a:p>
          <a:p>
            <a:pPr marL="0" indent="0" algn="just" rtl="1"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هـي كـلُّ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صُـمِّـمَـتْ وطُـوِّرَتْ بِـهَـدَفِ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 بـ :</a:t>
            </a:r>
          </a:p>
          <a:p>
            <a:pPr marL="0" indent="0" algn="just" rtl="1">
              <a:buNone/>
            </a:pP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وذلــك فـي عـــتــــاده أو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 </a:t>
            </a: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أو الـمـســتـخـدم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عـلـيـه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وانـتـهـاك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 </a:t>
            </a:r>
            <a:endParaRPr lang="fr-FR" sz="40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تـعــريــف الـبــرمــجـــيــة الـخــبــيــثـة  </a:t>
            </a:r>
            <a:r>
              <a:rPr lang="en-US" b="1" dirty="0" smtClean="0">
                <a:solidFill>
                  <a:srgbClr val="00B050"/>
                </a:solidFill>
                <a:cs typeface="+mj-cs"/>
              </a:rPr>
              <a:t>Malware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897336" y="2426566"/>
            <a:ext cx="194421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بَـرْمَـجِـيَـة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73299" y="2416793"/>
            <a:ext cx="272394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إلـحـاق الـضـرر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184232" y="3710752"/>
            <a:ext cx="274468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الـحــاســوب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38175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/>
          </a:p>
          <a:p>
            <a:pPr marL="0" indent="0" algn="just" rtl="1"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هـي كـلُّ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صُـمِّـمَـتْ وطُـوِّرَتْ بِـهَـدَفِ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 بـ :</a:t>
            </a:r>
          </a:p>
          <a:p>
            <a:pPr marL="0" indent="0" algn="just" rtl="1">
              <a:buNone/>
            </a:pP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وذلــك فـي عـــتــــاده أو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 </a:t>
            </a: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أو الـمـســتـخـدم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عـلـيـه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وانـتـهـاك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 </a:t>
            </a:r>
            <a:endParaRPr lang="fr-FR" sz="40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تـعــريــف الـبــرمــجـــيــة الـخــبــيــثـة  </a:t>
            </a:r>
            <a:r>
              <a:rPr lang="en-US" b="1" dirty="0" smtClean="0">
                <a:solidFill>
                  <a:srgbClr val="00B050"/>
                </a:solidFill>
                <a:cs typeface="+mj-cs"/>
              </a:rPr>
              <a:t>Malware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897336" y="2426566"/>
            <a:ext cx="194421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بَـرْمَـجِـيَـة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73299" y="2416793"/>
            <a:ext cx="272394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إلـحـاق الـضـرر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184232" y="3710752"/>
            <a:ext cx="274468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الـحــاســوب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84271" y="3732192"/>
            <a:ext cx="274468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بــيــانــاتــه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16098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/>
          </a:p>
          <a:p>
            <a:pPr marL="0" indent="0" algn="just" rtl="1"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هـي كـلُّ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صُـمِّـمَـتْ وطُـوِّرَتْ بِـهَـدَفِ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 بـ :</a:t>
            </a:r>
          </a:p>
          <a:p>
            <a:pPr marL="0" indent="0" algn="just" rtl="1">
              <a:buNone/>
            </a:pP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وذلــك فـي عـــتــــاده أو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 </a:t>
            </a: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أو الـمـســتـخـدم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عـلـيـه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وانـتـهـاك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 </a:t>
            </a:r>
            <a:endParaRPr lang="fr-FR" sz="40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تـعــريــف الـبــرمــجـــيــة الـخــبــيــثـة  </a:t>
            </a:r>
            <a:r>
              <a:rPr lang="en-US" b="1" dirty="0" smtClean="0">
                <a:solidFill>
                  <a:srgbClr val="00B050"/>
                </a:solidFill>
                <a:cs typeface="+mj-cs"/>
              </a:rPr>
              <a:t>Malware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897336" y="2426566"/>
            <a:ext cx="194421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بَـرْمَـجِـيَـة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73299" y="2416793"/>
            <a:ext cx="272394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إلـحـاق الـضـرر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184232" y="3710752"/>
            <a:ext cx="274468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الـحــاســوب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84271" y="3732192"/>
            <a:ext cx="274468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بــيــانــاتــه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168008" y="4881914"/>
            <a:ext cx="249396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بِـالـتَـجَــسُــسِ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69967" y="4881914"/>
            <a:ext cx="25336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خـصـوصـيـتـه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59940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أنــواع الـبــرمــجــيــات الـخــبـــيـــثــة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800" b="1" dirty="0" smtClean="0">
                <a:cs typeface="+mj-cs"/>
              </a:rPr>
              <a:t>ارْبِــطْ </a:t>
            </a:r>
            <a:r>
              <a:rPr lang="ar-DZ" sz="4800" b="1" dirty="0">
                <a:cs typeface="+mj-cs"/>
              </a:rPr>
              <a:t>كُــلَّ بــرمــجــيــة خــبــيــثـة </a:t>
            </a:r>
            <a:r>
              <a:rPr lang="ar-DZ" sz="4800" b="1" dirty="0" smtClean="0">
                <a:cs typeface="+mj-cs"/>
              </a:rPr>
              <a:t>( مـن </a:t>
            </a:r>
            <a:r>
              <a:rPr lang="ar-DZ" sz="4800" b="1" dirty="0">
                <a:cs typeface="+mj-cs"/>
              </a:rPr>
              <a:t>خـــلال ســهــم ) بـالـخــاصـيــة الَّـتِي تــنــاســبــهـا  </a:t>
            </a:r>
            <a:r>
              <a:rPr lang="ar-DZ" sz="4400" b="1" dirty="0" smtClean="0">
                <a:cs typeface="+mj-cs"/>
              </a:rPr>
              <a:t>:</a:t>
            </a: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5400" b="1" u="sng" dirty="0">
                <a:solidFill>
                  <a:srgbClr val="0070C0"/>
                </a:solidFill>
                <a:cs typeface="+mj-cs"/>
              </a:rPr>
              <a:t>نـشـاط </a:t>
            </a:r>
            <a:r>
              <a:rPr lang="ar-DZ" sz="5400" b="1" u="sng" dirty="0" smtClean="0">
                <a:solidFill>
                  <a:srgbClr val="0070C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70C0"/>
                </a:solidFill>
                <a:cs typeface="+mj-cs"/>
              </a:rPr>
              <a:t> :</a:t>
            </a:r>
            <a:endParaRPr lang="fr-FR" sz="5400" i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56952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( 2.1 أنــواع </a:t>
            </a:r>
            <a:r>
              <a:rPr lang="ar-DZ" sz="4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الـبــرمــجــيــات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الـخــبـــيـــثــة )</a:t>
            </a:r>
            <a:endParaRPr lang="fr-FR" sz="3800" b="1" i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870358"/>
              </p:ext>
            </p:extLst>
          </p:nvPr>
        </p:nvGraphicFramePr>
        <p:xfrm>
          <a:off x="767406" y="1484784"/>
          <a:ext cx="10524043" cy="4680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351244"/>
                <a:gridCol w="8172799"/>
              </a:tblGrid>
              <a:tr h="140163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الـفــيــروســـات       </a:t>
                      </a:r>
                      <a:r>
                        <a:rPr lang="fr-FR" sz="3200" b="1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Viruses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63918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الــديـــدان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Worms</a:t>
                      </a:r>
                      <a:endParaRPr lang="ar-DZ" sz="3200" b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63918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حــصـان </a:t>
                      </a:r>
                      <a:r>
                        <a:rPr lang="ar-SA" sz="28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طَــرْوَادَة   </a:t>
                      </a:r>
                      <a:r>
                        <a:rPr lang="fr-FR" sz="2800" b="1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Trojan</a:t>
                      </a:r>
                      <a:r>
                        <a:rPr lang="fr-FR" sz="28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Horse</a:t>
                      </a:r>
                      <a:endParaRPr lang="fr-FR" sz="28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9160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( 2.1 أنــواع </a:t>
            </a:r>
            <a:r>
              <a:rPr lang="ar-DZ" sz="4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الـبــرمــجــيــات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الـخــبـــيـــثــة )</a:t>
            </a:r>
            <a:endParaRPr lang="fr-FR" sz="3800" b="1" i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870358"/>
              </p:ext>
            </p:extLst>
          </p:nvPr>
        </p:nvGraphicFramePr>
        <p:xfrm>
          <a:off x="767406" y="1484784"/>
          <a:ext cx="10524043" cy="4680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351244"/>
                <a:gridCol w="8172799"/>
              </a:tblGrid>
              <a:tr h="140163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الـفــيــروســـات       </a:t>
                      </a:r>
                      <a:r>
                        <a:rPr lang="fr-FR" sz="3200" b="1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Viruses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63918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الــديـــدان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Worms</a:t>
                      </a:r>
                      <a:endParaRPr lang="ar-DZ" sz="3200" b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63918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حــصـان </a:t>
                      </a:r>
                      <a:r>
                        <a:rPr lang="ar-SA" sz="28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طَــرْوَادَة   </a:t>
                      </a:r>
                      <a:r>
                        <a:rPr lang="fr-FR" sz="2800" b="1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Trojan</a:t>
                      </a:r>
                      <a:r>
                        <a:rPr lang="fr-FR" sz="28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Horse</a:t>
                      </a:r>
                      <a:endParaRPr lang="fr-FR" sz="28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911424" y="1763360"/>
            <a:ext cx="78488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000" b="1" dirty="0" smtClean="0">
                <a:solidFill>
                  <a:srgbClr val="0070C0"/>
                </a:solidFill>
                <a:cs typeface="+mj-cs"/>
              </a:rPr>
              <a:t>تـتـنـاسـخ و</a:t>
            </a:r>
            <a:r>
              <a:rPr lang="ar-DZ" sz="3000" b="1" dirty="0" smtClean="0">
                <a:solidFill>
                  <a:srgbClr val="FF0000"/>
                </a:solidFill>
                <a:cs typeface="+mj-cs"/>
              </a:rPr>
              <a:t>تـرتـبـط</a:t>
            </a:r>
            <a:r>
              <a:rPr lang="ar-DZ" sz="30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3000" b="1" dirty="0" smtClean="0">
                <a:solidFill>
                  <a:srgbClr val="FF0000"/>
                </a:solidFill>
                <a:cs typeface="+mj-cs"/>
              </a:rPr>
              <a:t>بالـمـلـفــات</a:t>
            </a:r>
            <a:r>
              <a:rPr lang="ar-DZ" sz="3000" b="1" dirty="0" smtClean="0">
                <a:solidFill>
                  <a:srgbClr val="0070C0"/>
                </a:solidFill>
                <a:cs typeface="+mj-cs"/>
              </a:rPr>
              <a:t> وتـعــتـمـد </a:t>
            </a:r>
            <a:r>
              <a:rPr lang="ar-DZ" sz="3000" b="1" dirty="0">
                <a:solidFill>
                  <a:srgbClr val="0070C0"/>
                </a:solidFill>
                <a:cs typeface="+mj-cs"/>
              </a:rPr>
              <a:t>عـلـيـهـا </a:t>
            </a:r>
            <a:r>
              <a:rPr lang="ar-DZ" sz="3000" b="1" dirty="0" smtClean="0">
                <a:solidFill>
                  <a:srgbClr val="0070C0"/>
                </a:solidFill>
                <a:cs typeface="+mj-cs"/>
              </a:rPr>
              <a:t>للانـتـشــار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52638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( 2.1 أنــواع </a:t>
            </a:r>
            <a:r>
              <a:rPr lang="ar-DZ" sz="4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الـبــرمــجــيــات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الـخــبـــيـــثــة )</a:t>
            </a:r>
            <a:endParaRPr lang="fr-FR" sz="3800" b="1" i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870358"/>
              </p:ext>
            </p:extLst>
          </p:nvPr>
        </p:nvGraphicFramePr>
        <p:xfrm>
          <a:off x="767406" y="1484784"/>
          <a:ext cx="10524043" cy="4680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351244"/>
                <a:gridCol w="8172799"/>
              </a:tblGrid>
              <a:tr h="140163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الـفــيــروســـات       </a:t>
                      </a:r>
                      <a:r>
                        <a:rPr lang="fr-FR" sz="3200" b="1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Viruses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63918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الــديـــدان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Worms</a:t>
                      </a:r>
                      <a:endParaRPr lang="ar-DZ" sz="3200" b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63918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حــصـان </a:t>
                      </a:r>
                      <a:r>
                        <a:rPr lang="ar-SA" sz="28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طَــرْوَادَة   </a:t>
                      </a:r>
                      <a:r>
                        <a:rPr lang="fr-FR" sz="2800" b="1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Trojan</a:t>
                      </a:r>
                      <a:r>
                        <a:rPr lang="fr-FR" sz="28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Horse</a:t>
                      </a:r>
                      <a:endParaRPr lang="fr-FR" sz="28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911424" y="1763360"/>
            <a:ext cx="78488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000" b="1" dirty="0" smtClean="0">
                <a:solidFill>
                  <a:srgbClr val="0070C0"/>
                </a:solidFill>
                <a:cs typeface="+mj-cs"/>
              </a:rPr>
              <a:t>تـتـنـاسـخ و</a:t>
            </a:r>
            <a:r>
              <a:rPr lang="ar-DZ" sz="3000" b="1" dirty="0" smtClean="0">
                <a:solidFill>
                  <a:srgbClr val="FF0000"/>
                </a:solidFill>
                <a:cs typeface="+mj-cs"/>
              </a:rPr>
              <a:t>تـرتـبـط</a:t>
            </a:r>
            <a:r>
              <a:rPr lang="ar-DZ" sz="30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3000" b="1" dirty="0" smtClean="0">
                <a:solidFill>
                  <a:srgbClr val="FF0000"/>
                </a:solidFill>
                <a:cs typeface="+mj-cs"/>
              </a:rPr>
              <a:t>بالـمـلـفــات</a:t>
            </a:r>
            <a:r>
              <a:rPr lang="ar-DZ" sz="3000" b="1" dirty="0" smtClean="0">
                <a:solidFill>
                  <a:srgbClr val="0070C0"/>
                </a:solidFill>
                <a:cs typeface="+mj-cs"/>
              </a:rPr>
              <a:t> وتـعــتـمـد </a:t>
            </a:r>
            <a:r>
              <a:rPr lang="ar-DZ" sz="3000" b="1" dirty="0">
                <a:solidFill>
                  <a:srgbClr val="0070C0"/>
                </a:solidFill>
                <a:cs typeface="+mj-cs"/>
              </a:rPr>
              <a:t>عـلـيـهـا </a:t>
            </a:r>
            <a:r>
              <a:rPr lang="ar-DZ" sz="3000" b="1" dirty="0" smtClean="0">
                <a:solidFill>
                  <a:srgbClr val="0070C0"/>
                </a:solidFill>
                <a:cs typeface="+mj-cs"/>
              </a:rPr>
              <a:t>للانـتـشــار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11424" y="3272822"/>
            <a:ext cx="78488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تـعــتـمــد </a:t>
            </a:r>
            <a:r>
              <a:rPr lang="ar-SA" sz="3000" b="1" dirty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عـلـى </a:t>
            </a:r>
            <a:r>
              <a:rPr lang="ar-SA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نــفــسـهـا </a:t>
            </a:r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للانـتـشــار </a:t>
            </a:r>
            <a:r>
              <a:rPr lang="ar-SA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بـاســتـغــلال</a:t>
            </a:r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SA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الـثـغــرات</a:t>
            </a:r>
            <a:endParaRPr lang="fr-FR" sz="30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60037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  <p:bldP spid="1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600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ar-DZ" sz="4600" b="1" u="sng" dirty="0">
                <a:solidFill>
                  <a:srgbClr val="FF0000"/>
                </a:solidFill>
                <a:cs typeface="Times New Roman" panose="02020603050405020304" pitchFamily="18" charset="0"/>
              </a:rPr>
              <a:t>تــذكــيــر مـن </a:t>
            </a:r>
            <a:r>
              <a:rPr lang="fr-FR" sz="4600" b="1" u="sng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600" b="1" u="sng" dirty="0">
                <a:solidFill>
                  <a:srgbClr val="FF0000"/>
                </a:solidFill>
                <a:cs typeface="Times New Roman" panose="02020603050405020304" pitchFamily="18" charset="0"/>
              </a:rPr>
              <a:t>الــوحـــدة 1</a:t>
            </a:r>
            <a:r>
              <a:rPr lang="fr-FR" sz="46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4600" b="1" dirty="0">
                <a:solidFill>
                  <a:srgbClr val="FF0000"/>
                </a:solidFill>
                <a:cs typeface="Times New Roman" panose="02020603050405020304" pitchFamily="18" charset="0"/>
              </a:rPr>
              <a:t>: </a:t>
            </a:r>
            <a:r>
              <a:rPr lang="fr-FR" sz="46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4600" b="1" dirty="0">
                <a:solidFill>
                  <a:srgbClr val="00B050"/>
                </a:solidFill>
                <a:cs typeface="Times New Roman" panose="02020603050405020304" pitchFamily="18" charset="0"/>
              </a:rPr>
              <a:t>3.3 تـطــوُّر الـبــرامــج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412776"/>
            <a:ext cx="10814992" cy="495706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lvl="0" indent="0" algn="just" rtl="1">
              <a:buNone/>
            </a:pPr>
            <a:endParaRPr lang="ar-DZ" sz="500" b="1" dirty="0" smtClean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ts val="5760"/>
              </a:lnSpc>
              <a:buNone/>
            </a:pPr>
            <a:r>
              <a:rPr lang="ar-DZ" sz="48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نـشــاط 7</a:t>
            </a:r>
            <a:r>
              <a:rPr lang="ar-DZ" sz="44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FF0000"/>
                </a:solidFill>
                <a:cs typeface="Times New Roman" panose="02020603050405020304" pitchFamily="18" charset="0"/>
              </a:rPr>
              <a:t>: </a:t>
            </a:r>
            <a:r>
              <a:rPr lang="ar-DZ" sz="4400" b="1" dirty="0">
                <a:solidFill>
                  <a:prstClr val="black"/>
                </a:solidFill>
                <a:cs typeface="Times New Roman" panose="02020603050405020304" pitchFamily="18" charset="0"/>
              </a:rPr>
              <a:t>بَــيِّــنْ </a:t>
            </a:r>
            <a:r>
              <a:rPr lang="ar-DZ" sz="4400" b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الـت</a:t>
            </a:r>
            <a:r>
              <a:rPr lang="ar-SA" sz="4400" b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َ</a:t>
            </a:r>
            <a:r>
              <a:rPr lang="ar-DZ" sz="4400" b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ـع</a:t>
            </a:r>
            <a:r>
              <a:rPr lang="ar-SA" sz="4400" b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ْ</a:t>
            </a:r>
            <a:r>
              <a:rPr lang="ar-DZ" sz="4400" b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ــد</a:t>
            </a:r>
            <a:r>
              <a:rPr lang="ar-SA" sz="4400" b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ِ</a:t>
            </a:r>
            <a:r>
              <a:rPr lang="ar-DZ" sz="4400" b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يــل</a:t>
            </a:r>
            <a:r>
              <a:rPr lang="ar-SA" sz="4400" b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َ</a:t>
            </a:r>
            <a:r>
              <a:rPr lang="ar-DZ" sz="4400" b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ات</a:t>
            </a:r>
            <a:r>
              <a:rPr lang="ar-SA" sz="4400" b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ِ</a:t>
            </a:r>
            <a:r>
              <a:rPr lang="ar-DZ" sz="4400" b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prstClr val="black"/>
                </a:solidFill>
                <a:cs typeface="Times New Roman" panose="02020603050405020304" pitchFamily="18" charset="0"/>
              </a:rPr>
              <a:t>الِّـتِي تَـطْــرَأُ عَــلَــى الـبــرامــج </a:t>
            </a:r>
            <a:r>
              <a:rPr lang="ar-DZ" sz="4400" b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ب</a:t>
            </a:r>
            <a:r>
              <a:rPr lang="ar-SA" sz="4400" b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ِـ</a:t>
            </a:r>
            <a:r>
              <a:rPr lang="ar-DZ" sz="4400" b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ـغ</a:t>
            </a:r>
            <a:r>
              <a:rPr lang="ar-SA" sz="4400" b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َـ</a:t>
            </a:r>
            <a:r>
              <a:rPr lang="ar-DZ" sz="4400" b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ـض</a:t>
            </a:r>
            <a:r>
              <a:rPr lang="ar-SA" sz="4400" b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ِ</a:t>
            </a:r>
            <a:r>
              <a:rPr lang="ar-DZ" sz="4400" b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 الـنَـظَــرِ </a:t>
            </a:r>
            <a:r>
              <a:rPr lang="ar-DZ" sz="4400" b="1" dirty="0">
                <a:solidFill>
                  <a:prstClr val="black"/>
                </a:solidFill>
                <a:cs typeface="Times New Roman" panose="02020603050405020304" pitchFamily="18" charset="0"/>
              </a:rPr>
              <a:t>عــن </a:t>
            </a:r>
            <a:r>
              <a:rPr lang="ar-DZ" sz="4400" b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نَــوْعـِـهـا </a:t>
            </a:r>
            <a:r>
              <a:rPr lang="ar-DZ" sz="4400" b="1" dirty="0">
                <a:solidFill>
                  <a:prstClr val="black"/>
                </a:solidFill>
                <a:cs typeface="Times New Roman" panose="02020603050405020304" pitchFamily="18" charset="0"/>
              </a:rPr>
              <a:t>( نُــظُــم تــشـغــيــل / بــرامـج تــطــبــيــقــيــة ) وذلـك فـي الـجــوانــب الـتــالــيـة : الـواجــهــة الـبــيــانــيــة ، نــوعــيــة الـخــدمــات ، الأخــطــاء الـتــقــنــيــة </a:t>
            </a:r>
            <a:r>
              <a:rPr lang="ar-DZ" sz="4400" b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(</a:t>
            </a:r>
            <a:r>
              <a:rPr lang="ar-SA" sz="4400" b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Bugs</a:t>
            </a:r>
            <a:r>
              <a:rPr lang="ar-DZ" sz="4400" b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 )</a:t>
            </a:r>
            <a:r>
              <a:rPr lang="fr-FR" sz="4400" b="1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ثَــغَــرَات </a:t>
            </a:r>
            <a:r>
              <a:rPr lang="ar-DZ" sz="4400" b="1" dirty="0">
                <a:solidFill>
                  <a:srgbClr val="FF0000"/>
                </a:solidFill>
                <a:cs typeface="Times New Roman" panose="02020603050405020304" pitchFamily="18" charset="0"/>
              </a:rPr>
              <a:t>( نــقـــاط الـضـعــف ) </a:t>
            </a:r>
            <a:r>
              <a:rPr lang="ar-DZ" sz="44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الـبــرامــج </a:t>
            </a:r>
            <a:r>
              <a:rPr lang="ar-DZ" sz="4400" b="1" dirty="0">
                <a:solidFill>
                  <a:prstClr val="black"/>
                </a:solidFill>
                <a:cs typeface="Times New Roman" panose="02020603050405020304" pitchFamily="18" charset="0"/>
              </a:rPr>
              <a:t>:</a:t>
            </a: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490843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( 2.1 أنــواع </a:t>
            </a:r>
            <a:r>
              <a:rPr lang="ar-DZ" sz="4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الـبــرمــجــيــات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الـخــبـــيـــثــة )</a:t>
            </a:r>
            <a:endParaRPr lang="fr-FR" sz="3800" b="1" i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870358"/>
              </p:ext>
            </p:extLst>
          </p:nvPr>
        </p:nvGraphicFramePr>
        <p:xfrm>
          <a:off x="767406" y="1484784"/>
          <a:ext cx="10524043" cy="4680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351244"/>
                <a:gridCol w="8172799"/>
              </a:tblGrid>
              <a:tr h="140163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الـفــيــروســـات       </a:t>
                      </a:r>
                      <a:r>
                        <a:rPr lang="fr-FR" sz="3200" b="1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Viruses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63918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الــديـــدان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Worms</a:t>
                      </a:r>
                      <a:endParaRPr lang="ar-DZ" sz="3200" b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63918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حــصـان </a:t>
                      </a:r>
                      <a:r>
                        <a:rPr lang="ar-SA" sz="28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طَــرْوَادَة   </a:t>
                      </a:r>
                      <a:r>
                        <a:rPr lang="fr-FR" sz="2800" b="1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Trojan</a:t>
                      </a:r>
                      <a:r>
                        <a:rPr lang="fr-FR" sz="28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Horse</a:t>
                      </a:r>
                      <a:endParaRPr lang="fr-FR" sz="28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911424" y="1763360"/>
            <a:ext cx="78488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000" b="1" dirty="0" smtClean="0">
                <a:solidFill>
                  <a:srgbClr val="0070C0"/>
                </a:solidFill>
                <a:cs typeface="+mj-cs"/>
              </a:rPr>
              <a:t>تـتـنـاسـخ و</a:t>
            </a:r>
            <a:r>
              <a:rPr lang="ar-DZ" sz="3000" b="1" dirty="0" smtClean="0">
                <a:solidFill>
                  <a:srgbClr val="FF0000"/>
                </a:solidFill>
                <a:cs typeface="+mj-cs"/>
              </a:rPr>
              <a:t>تـرتـبـط بالـمـلـفــات</a:t>
            </a:r>
            <a:r>
              <a:rPr lang="ar-DZ" sz="3000" b="1" dirty="0" smtClean="0">
                <a:solidFill>
                  <a:srgbClr val="0070C0"/>
                </a:solidFill>
                <a:cs typeface="+mj-cs"/>
              </a:rPr>
              <a:t> وتـعــتـمـد </a:t>
            </a:r>
            <a:r>
              <a:rPr lang="ar-DZ" sz="3000" b="1" dirty="0">
                <a:solidFill>
                  <a:srgbClr val="0070C0"/>
                </a:solidFill>
                <a:cs typeface="+mj-cs"/>
              </a:rPr>
              <a:t>عـلـيـهـا </a:t>
            </a:r>
            <a:r>
              <a:rPr lang="ar-DZ" sz="3000" b="1" dirty="0" smtClean="0">
                <a:solidFill>
                  <a:srgbClr val="0070C0"/>
                </a:solidFill>
                <a:cs typeface="+mj-cs"/>
              </a:rPr>
              <a:t>للانـتـشــار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11424" y="3272822"/>
            <a:ext cx="78488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تـعــتـمــد </a:t>
            </a:r>
            <a:r>
              <a:rPr lang="ar-SA" sz="3000" b="1" dirty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عـلـى </a:t>
            </a:r>
            <a:r>
              <a:rPr lang="ar-SA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نــفــسـهـا </a:t>
            </a:r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للانـتـشــار </a:t>
            </a:r>
            <a:r>
              <a:rPr lang="ar-SA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بـاســتـغــلال</a:t>
            </a:r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SA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الـثـغــرات</a:t>
            </a:r>
            <a:endParaRPr lang="fr-FR" sz="30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9618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  <p:bldP spid="1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( 2.1 أنــواع </a:t>
            </a:r>
            <a:r>
              <a:rPr lang="ar-DZ" sz="4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الـبــرمــجــيــات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الـخــبـــيـــثــة )</a:t>
            </a:r>
            <a:endParaRPr lang="fr-FR" sz="3800" b="1" i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870358"/>
              </p:ext>
            </p:extLst>
          </p:nvPr>
        </p:nvGraphicFramePr>
        <p:xfrm>
          <a:off x="767406" y="1484784"/>
          <a:ext cx="10524043" cy="4680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351244"/>
                <a:gridCol w="8172799"/>
              </a:tblGrid>
              <a:tr h="140163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الـفــيــروســـات       </a:t>
                      </a:r>
                      <a:r>
                        <a:rPr lang="fr-FR" sz="3200" b="1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Viruses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63918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الــديـــدان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Worms</a:t>
                      </a:r>
                      <a:endParaRPr lang="ar-DZ" sz="3200" b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63918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حــصـان </a:t>
                      </a:r>
                      <a:r>
                        <a:rPr lang="ar-SA" sz="28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طَــرْوَادَة   </a:t>
                      </a:r>
                      <a:r>
                        <a:rPr lang="fr-FR" sz="2800" b="1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Trojan</a:t>
                      </a:r>
                      <a:r>
                        <a:rPr lang="fr-FR" sz="28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Horse</a:t>
                      </a:r>
                      <a:endParaRPr lang="fr-FR" sz="28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911424" y="1763360"/>
            <a:ext cx="78488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000" b="1" dirty="0" smtClean="0">
                <a:solidFill>
                  <a:srgbClr val="0070C0"/>
                </a:solidFill>
                <a:cs typeface="+mj-cs"/>
              </a:rPr>
              <a:t>تـتـنـاسـخ و</a:t>
            </a:r>
            <a:r>
              <a:rPr lang="ar-DZ" sz="3000" b="1" dirty="0" smtClean="0">
                <a:solidFill>
                  <a:srgbClr val="FF0000"/>
                </a:solidFill>
                <a:cs typeface="+mj-cs"/>
              </a:rPr>
              <a:t>تـرتـبـط بالـمـلـفــات </a:t>
            </a:r>
            <a:r>
              <a:rPr lang="ar-DZ" sz="3000" b="1" dirty="0" smtClean="0">
                <a:solidFill>
                  <a:srgbClr val="0070C0"/>
                </a:solidFill>
                <a:cs typeface="+mj-cs"/>
              </a:rPr>
              <a:t>وتـعــتـمـد </a:t>
            </a:r>
            <a:r>
              <a:rPr lang="ar-DZ" sz="3000" b="1" dirty="0">
                <a:solidFill>
                  <a:srgbClr val="0070C0"/>
                </a:solidFill>
                <a:cs typeface="+mj-cs"/>
              </a:rPr>
              <a:t>عـلـيـهـا </a:t>
            </a:r>
            <a:r>
              <a:rPr lang="ar-DZ" sz="3000" b="1" dirty="0" smtClean="0">
                <a:solidFill>
                  <a:srgbClr val="0070C0"/>
                </a:solidFill>
                <a:cs typeface="+mj-cs"/>
              </a:rPr>
              <a:t>للانـتـشــار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11424" y="3272822"/>
            <a:ext cx="78488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تـعــتـمــد </a:t>
            </a:r>
            <a:r>
              <a:rPr lang="ar-SA" sz="3000" b="1" dirty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عـلـى </a:t>
            </a:r>
            <a:r>
              <a:rPr lang="ar-SA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نــفــسـهـا </a:t>
            </a:r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للانـتـشــار </a:t>
            </a:r>
            <a:r>
              <a:rPr lang="ar-SA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بـاســتـغــلال الـثـغــرات</a:t>
            </a:r>
            <a:endParaRPr lang="fr-FR" sz="30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11424" y="5006218"/>
            <a:ext cx="78488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بـرمجـية خــبـيـثـة </a:t>
            </a:r>
            <a:r>
              <a:rPr lang="ar-SA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م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ُـ</a:t>
            </a:r>
            <a:r>
              <a:rPr lang="ar-SA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ت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َ</a:t>
            </a:r>
            <a:r>
              <a:rPr lang="ar-SA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ـو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َ</a:t>
            </a:r>
            <a:r>
              <a:rPr lang="ar-SA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ار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ِ</a:t>
            </a:r>
            <a:r>
              <a:rPr lang="ar-SA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ي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َ</a:t>
            </a:r>
            <a:r>
              <a:rPr lang="ar-SA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ـة </a:t>
            </a:r>
            <a:r>
              <a:rPr lang="ar-SA" sz="3000" b="1" dirty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في </a:t>
            </a:r>
            <a:r>
              <a:rPr lang="ar-SA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بـرنـامج آخـر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كأنهـا جـزء مـنه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67477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  <p:bldP spid="10" grpId="0" animBg="1"/>
      <p:bldP spid="1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( 2.1 أنــواع </a:t>
            </a:r>
            <a:r>
              <a:rPr lang="ar-DZ" sz="4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الـبــرمــجــيــات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الـخــبـــيـــثــة  –  تـــابــع )</a:t>
            </a:r>
            <a:endParaRPr lang="fr-FR" sz="3800" b="1" i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1264439"/>
              </p:ext>
            </p:extLst>
          </p:nvPr>
        </p:nvGraphicFramePr>
        <p:xfrm>
          <a:off x="767407" y="1484784"/>
          <a:ext cx="10524042" cy="4832846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364961"/>
                <a:gridCol w="8159081"/>
              </a:tblGrid>
              <a:tr h="140163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بــرمــجــيــات ال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ـتـ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جـ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</a:t>
                      </a:r>
                      <a:r>
                        <a:rPr lang="ar-SA" sz="3200" b="1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سُّــس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lang="fr-FR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Spyware 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63918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بـ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ـــ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ـرامـ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ج</a:t>
                      </a:r>
                      <a:endParaRPr lang="ar-DZ" sz="3200" b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الإنْ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ــــــ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ــزَال              </a:t>
                      </a:r>
                      <a:r>
                        <a:rPr lang="fr-FR" sz="3200" b="1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Droppers</a:t>
                      </a:r>
                      <a:r>
                        <a:rPr lang="fr-FR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ar-DZ" sz="3200" b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63918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الـقـ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ـن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ـــ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ـابـ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ـــ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ل</a:t>
                      </a:r>
                      <a:endParaRPr lang="ar-DZ" sz="3200" b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الـم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ـنـطــقــيـة </a:t>
                      </a:r>
                      <a:endParaRPr lang="ar-DZ" sz="3200" b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900" b="1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Logic</a:t>
                      </a:r>
                      <a:r>
                        <a:rPr lang="fr-FR" sz="29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fr-FR" sz="2900" b="1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Bombs</a:t>
                      </a:r>
                      <a:r>
                        <a:rPr lang="fr-FR" sz="29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fr-FR" sz="29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7675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( 2.1 أنــواع </a:t>
            </a:r>
            <a:r>
              <a:rPr lang="ar-DZ" sz="4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الـبــرمــجــيــات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الـخــبـــيـــثــة  –  تـــابــع )</a:t>
            </a:r>
            <a:endParaRPr lang="fr-FR" sz="3800" b="1" i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1264439"/>
              </p:ext>
            </p:extLst>
          </p:nvPr>
        </p:nvGraphicFramePr>
        <p:xfrm>
          <a:off x="767407" y="1484784"/>
          <a:ext cx="10524042" cy="4832846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364961"/>
                <a:gridCol w="8159081"/>
              </a:tblGrid>
              <a:tr h="140163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بــرمــجــيــات ال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ـتـ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جـ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</a:t>
                      </a:r>
                      <a:r>
                        <a:rPr lang="ar-SA" sz="3200" b="1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سُّــس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lang="fr-FR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Spyware 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63918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بـ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ـــ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ـرامـ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ج</a:t>
                      </a:r>
                      <a:endParaRPr lang="ar-DZ" sz="3200" b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الإنْ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ــــــ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ــزَال              </a:t>
                      </a:r>
                      <a:r>
                        <a:rPr lang="fr-FR" sz="3200" b="1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Droppers</a:t>
                      </a:r>
                      <a:r>
                        <a:rPr lang="fr-FR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ar-DZ" sz="3200" b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63918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الـقـ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ـن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ـــ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ـابـ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ـــ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ل</a:t>
                      </a:r>
                      <a:endParaRPr lang="ar-DZ" sz="3200" b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الـم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ـنـطــقــيـة </a:t>
                      </a:r>
                      <a:endParaRPr lang="ar-DZ" sz="3200" b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900" b="1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Logic</a:t>
                      </a:r>
                      <a:r>
                        <a:rPr lang="fr-FR" sz="29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fr-FR" sz="2900" b="1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Bombs</a:t>
                      </a:r>
                      <a:r>
                        <a:rPr lang="fr-FR" sz="29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fr-FR" sz="29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911424" y="1911842"/>
            <a:ext cx="78488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تـجـمـ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ع</a:t>
            </a:r>
            <a:r>
              <a:rPr lang="ar-SA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 مـعــلــوم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ـات عـن الـمــسـتـخــدم </a:t>
            </a:r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لأغــراض مـخـتـلـفـة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48562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( 2.1 أنــواع </a:t>
            </a:r>
            <a:r>
              <a:rPr lang="ar-DZ" sz="4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الـبــرمــجــيــات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الـخــبـــيـــثــة  –  تـــابــع )</a:t>
            </a:r>
            <a:endParaRPr lang="fr-FR" sz="3800" b="1" i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1264439"/>
              </p:ext>
            </p:extLst>
          </p:nvPr>
        </p:nvGraphicFramePr>
        <p:xfrm>
          <a:off x="767407" y="1484784"/>
          <a:ext cx="10524042" cy="4832846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364961"/>
                <a:gridCol w="8159081"/>
              </a:tblGrid>
              <a:tr h="140163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بــرمــجــيــات ال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ـتـ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جـ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</a:t>
                      </a:r>
                      <a:r>
                        <a:rPr lang="ar-SA" sz="3200" b="1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سُّــس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lang="fr-FR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Spyware 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63918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بـ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ـــ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ـرامـ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ج</a:t>
                      </a:r>
                      <a:endParaRPr lang="ar-DZ" sz="3200" b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الإنْ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ــــــ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ــزَال              </a:t>
                      </a:r>
                      <a:r>
                        <a:rPr lang="fr-FR" sz="3200" b="1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Droppers</a:t>
                      </a:r>
                      <a:r>
                        <a:rPr lang="fr-FR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ar-DZ" sz="3200" b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63918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الـقـ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ـن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ـــ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ـابـ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ـــ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ل</a:t>
                      </a:r>
                      <a:endParaRPr lang="ar-DZ" sz="3200" b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الـم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ـنـطــقــيـة </a:t>
                      </a:r>
                      <a:endParaRPr lang="ar-DZ" sz="3200" b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900" b="1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Logic</a:t>
                      </a:r>
                      <a:r>
                        <a:rPr lang="fr-FR" sz="29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fr-FR" sz="2900" b="1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Bombs</a:t>
                      </a:r>
                      <a:r>
                        <a:rPr lang="fr-FR" sz="29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fr-FR" sz="29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911424" y="1911842"/>
            <a:ext cx="78488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تـجـمـ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ع</a:t>
            </a:r>
            <a:r>
              <a:rPr lang="ar-SA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 مـعــلــوم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ـات عـن الـمــسـتـخــدم </a:t>
            </a:r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لأغــراض مـخـتـلـفـة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11424" y="3472866"/>
            <a:ext cx="78488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تـسـتـهـدف بـرامـج الـحـ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م</a:t>
            </a:r>
            <a:r>
              <a:rPr lang="ar-SA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ـايـة </a:t>
            </a:r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لإزالـ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3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تـهـا</a:t>
            </a:r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SA" sz="30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أو </a:t>
            </a:r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إبـطـال مـفـعــولـهـا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4224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  <p:bldP spid="1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( 2.1 أنــواع </a:t>
            </a:r>
            <a:r>
              <a:rPr lang="ar-DZ" sz="4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الـبــرمــجــيــات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الـخــبـــيـــثــة  –  تـــابــع )</a:t>
            </a:r>
            <a:endParaRPr lang="fr-FR" sz="3800" b="1" i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1264439"/>
              </p:ext>
            </p:extLst>
          </p:nvPr>
        </p:nvGraphicFramePr>
        <p:xfrm>
          <a:off x="767407" y="1484784"/>
          <a:ext cx="10524042" cy="4832846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364961"/>
                <a:gridCol w="8159081"/>
              </a:tblGrid>
              <a:tr h="140163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بــرمــجــيــات ال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ـتـ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جـ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</a:t>
                      </a:r>
                      <a:r>
                        <a:rPr lang="ar-SA" sz="3200" b="1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سُّــس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lang="fr-FR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Spyware 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63918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بـ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ـــ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ـرامـ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ج</a:t>
                      </a:r>
                      <a:endParaRPr lang="ar-DZ" sz="3200" b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الإنْ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ــــــ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ــزَال              </a:t>
                      </a:r>
                      <a:r>
                        <a:rPr lang="fr-FR" sz="3200" b="1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Droppers</a:t>
                      </a:r>
                      <a:r>
                        <a:rPr lang="fr-FR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ar-DZ" sz="3200" b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63918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الـقـ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ـن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ـــ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ـابـ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ـــ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ل</a:t>
                      </a:r>
                      <a:endParaRPr lang="ar-DZ" sz="3200" b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الـم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</a:t>
                      </a:r>
                      <a:r>
                        <a:rPr lang="ar-SA" sz="32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ـنـطــقــيـة </a:t>
                      </a:r>
                      <a:endParaRPr lang="ar-DZ" sz="3200" b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900" b="1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Logic</a:t>
                      </a:r>
                      <a:r>
                        <a:rPr lang="fr-FR" sz="29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fr-FR" sz="2900" b="1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Bombs</a:t>
                      </a:r>
                      <a:r>
                        <a:rPr lang="fr-FR" sz="29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fr-FR" sz="29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911424" y="1911842"/>
            <a:ext cx="78488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تـجـمـ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ع</a:t>
            </a:r>
            <a:r>
              <a:rPr lang="ar-SA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 مـعــلــوم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ـات عـن الـمــسـتـخــدم </a:t>
            </a:r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لأغــراض مـخـتـلـفـة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11424" y="3472866"/>
            <a:ext cx="78488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تـسـتـهـدف بـرامـج الـحـ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م</a:t>
            </a:r>
            <a:r>
              <a:rPr lang="ar-SA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ـايـة</a:t>
            </a:r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لإزالـ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3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تـهـا</a:t>
            </a:r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SA" sz="30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أو </a:t>
            </a:r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إبـطـال مـفـعــولـهـا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11424" y="5098206"/>
            <a:ext cx="78488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تـقـوم </a:t>
            </a:r>
            <a:r>
              <a:rPr lang="ar-SA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بـمـسـح الـبـي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انـات </a:t>
            </a:r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في ظـروف ي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َـ</a:t>
            </a:r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خ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ْ</a:t>
            </a:r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ـت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َ</a:t>
            </a:r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ـار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ُ</a:t>
            </a:r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هـا 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مَ</a:t>
            </a:r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ـن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ْ</a:t>
            </a:r>
            <a:r>
              <a:rPr lang="ar-SA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صَـمَّـمَها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44130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  <p:bldP spid="10" grpId="0" animBg="1"/>
      <p:bldP spid="1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2. </a:t>
            </a:r>
            <a:r>
              <a:rPr lang="ar-DZ" sz="4800" b="1" dirty="0">
                <a:solidFill>
                  <a:srgbClr val="FF0000"/>
                </a:solidFill>
                <a:cs typeface="+mj-cs"/>
              </a:rPr>
              <a:t>أعـــراض الإصــابــة بـالــفــيـــروســــات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cs typeface="+mj-cs"/>
              </a:rPr>
              <a:t>بـعــد </a:t>
            </a:r>
            <a:r>
              <a:rPr lang="ar-DZ" sz="4400" b="1" dirty="0">
                <a:cs typeface="+mj-cs"/>
              </a:rPr>
              <a:t>تـوصـيـل ذاكــرة الـفــلاش بـالـحـاسـوب تَـغَـيَـرَ سُـلُـوكُـه كُــلِــيًــا، فــمــا هــي الأعـــراض الَّـتي تُــبَــيِّــنُ أنَّ الـجـهــاز </a:t>
            </a:r>
            <a:r>
              <a:rPr lang="ar-DZ" sz="4400" b="1" dirty="0" smtClean="0">
                <a:cs typeface="+mj-cs"/>
              </a:rPr>
              <a:t>مـصـاب </a:t>
            </a:r>
            <a:r>
              <a:rPr lang="ar-DZ" sz="4400" b="1" dirty="0">
                <a:cs typeface="+mj-cs"/>
              </a:rPr>
              <a:t>أو </a:t>
            </a:r>
            <a:r>
              <a:rPr lang="ar-DZ" sz="4400" b="1" dirty="0" smtClean="0">
                <a:cs typeface="+mj-cs"/>
              </a:rPr>
              <a:t>مـخــتـرق </a:t>
            </a:r>
            <a:r>
              <a:rPr lang="ar-DZ" sz="4400" b="1" dirty="0">
                <a:cs typeface="+mj-cs"/>
              </a:rPr>
              <a:t>مـن </a:t>
            </a:r>
            <a:r>
              <a:rPr lang="ar-DZ" sz="4400" b="1" dirty="0" smtClean="0">
                <a:cs typeface="+mj-cs"/>
              </a:rPr>
              <a:t>طــرف الـفــيـروسـات </a:t>
            </a:r>
            <a:r>
              <a:rPr lang="ar-DZ" sz="4400" b="1" dirty="0">
                <a:cs typeface="+mj-cs"/>
              </a:rPr>
              <a:t>؟   </a:t>
            </a: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5400" b="1" u="sng" dirty="0">
                <a:solidFill>
                  <a:srgbClr val="0070C0"/>
                </a:solidFill>
                <a:cs typeface="+mj-cs"/>
              </a:rPr>
              <a:t>نـشـاط </a:t>
            </a:r>
            <a:r>
              <a:rPr lang="ar-DZ" sz="5400" b="1" u="sng" dirty="0" smtClean="0">
                <a:solidFill>
                  <a:srgbClr val="0070C0"/>
                </a:solidFill>
                <a:cs typeface="+mj-cs"/>
              </a:rPr>
              <a:t>3</a:t>
            </a:r>
            <a:r>
              <a:rPr lang="ar-DZ" sz="5400" b="1" dirty="0" smtClean="0">
                <a:solidFill>
                  <a:srgbClr val="0070C0"/>
                </a:solidFill>
                <a:cs typeface="+mj-cs"/>
              </a:rPr>
              <a:t> :</a:t>
            </a:r>
            <a:endParaRPr lang="fr-FR" sz="5400" i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84365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200" b="1" dirty="0" smtClean="0">
                <a:solidFill>
                  <a:srgbClr val="FF0000"/>
                </a:solidFill>
                <a:cs typeface="+mj-cs"/>
              </a:rPr>
              <a:t>سـؤال </a:t>
            </a:r>
            <a:r>
              <a:rPr lang="ar-DZ" sz="32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200" b="1" dirty="0" smtClean="0">
                <a:solidFill>
                  <a:srgbClr val="FF0000"/>
                </a:solidFill>
                <a:cs typeface="+mj-cs"/>
              </a:rPr>
              <a:t>كـيـف يـكـون بِــدْءُ الـتـشــغــيـل وتـنـفــيــذ الـبــرامـج في الـحـــالــتــيــن :</a:t>
            </a:r>
            <a:endParaRPr lang="fr-FR" sz="3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392143" y="3283294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قَــبْــلَ الإِصَــابــة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1315" y="1699119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</a:rPr>
              <a:t>ســرعــة تــنــفــيــذ الـبــرامـج ونــظــام </a:t>
            </a:r>
            <a:r>
              <a:rPr lang="ar-DZ" sz="4400" b="1" dirty="0">
                <a:solidFill>
                  <a:srgbClr val="FF0000"/>
                </a:solidFill>
              </a:rPr>
              <a:t>الـتـشــغــيـل 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31315" y="3283295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بَــعْــدَ الإِصَــابَــة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089" y="4527553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670281" y="2479449"/>
            <a:ext cx="1137599" cy="12007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5807879" y="2479449"/>
            <a:ext cx="1584264" cy="120073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7512542" y="5062622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............</a:t>
            </a:r>
            <a:endParaRPr lang="fr-FR" sz="4000" dirty="0">
              <a:cs typeface="+mj-cs"/>
            </a:endParaRPr>
          </a:p>
        </p:txBody>
      </p:sp>
      <p:pic>
        <p:nvPicPr>
          <p:cNvPr id="14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737" y="4527553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Espace réservé du contenu 21"/>
          <p:cNvSpPr txBox="1">
            <a:spLocks/>
          </p:cNvSpPr>
          <p:nvPr/>
        </p:nvSpPr>
        <p:spPr>
          <a:xfrm>
            <a:off x="575171" y="5062622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............</a:t>
            </a:r>
            <a:endParaRPr lang="fr-FR" sz="40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66266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17" grpId="0" animBg="1"/>
      <p:bldP spid="20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200" b="1" dirty="0" smtClean="0">
                <a:solidFill>
                  <a:srgbClr val="FF0000"/>
                </a:solidFill>
                <a:cs typeface="+mj-cs"/>
              </a:rPr>
              <a:t>سـؤال </a:t>
            </a:r>
            <a:r>
              <a:rPr lang="ar-DZ" sz="32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200" b="1" dirty="0" smtClean="0">
                <a:solidFill>
                  <a:srgbClr val="FF0000"/>
                </a:solidFill>
                <a:cs typeface="+mj-cs"/>
              </a:rPr>
              <a:t>كـيـف يـكـون بِــدْءُ الـتـشــغــيـل وتـنـفــيــذ الـبــرامـج في الـحـــالــتــيــن :</a:t>
            </a:r>
            <a:endParaRPr lang="fr-FR" sz="3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392143" y="3283294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قَــبْــلَ الإِصَــابــة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1315" y="1699119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</a:rPr>
              <a:t>ســرعــة تــنــفــيــذ الـبــرامـج ونــظــام </a:t>
            </a:r>
            <a:r>
              <a:rPr lang="ar-DZ" sz="4400" b="1" dirty="0">
                <a:solidFill>
                  <a:srgbClr val="FF0000"/>
                </a:solidFill>
              </a:rPr>
              <a:t>الـتـشــغــيـل 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31315" y="3283295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بَــعْــدَ الإِصَــابَــة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089" y="4527553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670281" y="2479449"/>
            <a:ext cx="1137599" cy="12007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5807879" y="2479449"/>
            <a:ext cx="1584264" cy="120073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7512542" y="5062622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عَـــادِيَــة</a:t>
            </a:r>
            <a:endParaRPr lang="fr-FR" sz="4000" dirty="0">
              <a:cs typeface="+mj-cs"/>
            </a:endParaRPr>
          </a:p>
        </p:txBody>
      </p:sp>
      <p:pic>
        <p:nvPicPr>
          <p:cNvPr id="14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737" y="4527553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Espace réservé du contenu 21"/>
          <p:cNvSpPr txBox="1">
            <a:spLocks/>
          </p:cNvSpPr>
          <p:nvPr/>
        </p:nvSpPr>
        <p:spPr>
          <a:xfrm>
            <a:off x="575171" y="5062622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4000" b="1" dirty="0">
                <a:solidFill>
                  <a:srgbClr val="0070C0"/>
                </a:solidFill>
                <a:cs typeface="+mj-cs"/>
              </a:rPr>
              <a:t>............</a:t>
            </a:r>
            <a:endParaRPr lang="fr-FR" sz="40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49641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17" grpId="0" animBg="1"/>
      <p:bldP spid="2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200" b="1" dirty="0" smtClean="0">
                <a:solidFill>
                  <a:srgbClr val="FF0000"/>
                </a:solidFill>
                <a:cs typeface="+mj-cs"/>
              </a:rPr>
              <a:t>سـؤال </a:t>
            </a:r>
            <a:r>
              <a:rPr lang="ar-DZ" sz="32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200" b="1" dirty="0" smtClean="0">
                <a:solidFill>
                  <a:srgbClr val="FF0000"/>
                </a:solidFill>
                <a:cs typeface="+mj-cs"/>
              </a:rPr>
              <a:t>كـيـف يـكـون بِــدْءُ الـتـشــغــيـل وتـنـفــيــذ الـبــرامـج في الـحـــالــتــيــن :</a:t>
            </a:r>
            <a:endParaRPr lang="fr-FR" sz="3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392143" y="3283294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قَــبْــلَ الإِصَــابــة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1315" y="1699119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</a:rPr>
              <a:t>ســرعــة تــنــفــيــذ الـبــرامـج ونــظــام </a:t>
            </a:r>
            <a:r>
              <a:rPr lang="ar-DZ" sz="4400" b="1" dirty="0">
                <a:solidFill>
                  <a:srgbClr val="FF0000"/>
                </a:solidFill>
              </a:rPr>
              <a:t>الـتـشــغــيـل 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31315" y="3283295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بَــعْــدَ الإِصَــابَــة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089" y="4527553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670281" y="2479449"/>
            <a:ext cx="1137599" cy="12007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5807879" y="2479449"/>
            <a:ext cx="1584264" cy="120073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7512542" y="5062622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عَـــادِيَــة</a:t>
            </a:r>
            <a:endParaRPr lang="fr-FR" sz="4000" dirty="0">
              <a:cs typeface="+mj-cs"/>
            </a:endParaRPr>
          </a:p>
        </p:txBody>
      </p:sp>
      <p:pic>
        <p:nvPicPr>
          <p:cNvPr id="14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737" y="4527553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Espace réservé du contenu 21"/>
          <p:cNvSpPr txBox="1">
            <a:spLocks/>
          </p:cNvSpPr>
          <p:nvPr/>
        </p:nvSpPr>
        <p:spPr>
          <a:xfrm>
            <a:off x="575171" y="5062622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4000" b="1" dirty="0">
                <a:solidFill>
                  <a:srgbClr val="0070C0"/>
                </a:solidFill>
              </a:rPr>
              <a:t>بَــطِــيـــئَــةً</a:t>
            </a:r>
            <a:endParaRPr lang="fr-FR" sz="40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07516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17" grpId="0" animBg="1"/>
      <p:bldP spid="2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نَــشَـاط </a:t>
            </a:r>
            <a:r>
              <a:rPr lang="ar-DZ" sz="4000" b="1" smtClean="0">
                <a:solidFill>
                  <a:srgbClr val="FF0000"/>
                </a:solidFill>
                <a:cs typeface="+mj-cs"/>
              </a:rPr>
              <a:t>3 – أعـــراض الإصــابــة بـالــفـــيـــروســـات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	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فـي بِـــدْءِ الـتــشـغــيــل، وفـي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الــتــطـــبـــيـــقـــات والــبـــرمــجـــيـــات</a:t>
            </a:r>
            <a:endParaRPr lang="ar-DZ" sz="40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حـــفـــظ الــبــــيـــانــــات لـعــــدم وجــــود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بــســبــب الــتــنـــاســخ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)</a:t>
            </a:r>
            <a:endParaRPr lang="fr-FR" sz="40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7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65558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نَــشَـاط </a:t>
            </a:r>
            <a:r>
              <a:rPr lang="ar-DZ" sz="4000" b="1" smtClean="0">
                <a:solidFill>
                  <a:srgbClr val="FF0000"/>
                </a:solidFill>
                <a:cs typeface="+mj-cs"/>
              </a:rPr>
              <a:t>3 – أعـــراض الإصــابــة بـالــفـــيـــروســـات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	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فـي بِـــدْءِ الـتــشـغــيــل، وفـي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الــتــطـــبـــيـــقـــات والــبـــرمــجـــيـــات</a:t>
            </a:r>
            <a:endParaRPr lang="ar-DZ" sz="40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حـــفـــظ الــبــــيـــانــــات لـعــــدم وجــــود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بــســبــب الــتــنـــاســخ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)</a:t>
            </a:r>
            <a:endParaRPr lang="fr-FR" sz="40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7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790576" y="1743119"/>
            <a:ext cx="155360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بُـــطْء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39416" y="1729384"/>
            <a:ext cx="244427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تــنــفــيــذ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73114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كـيـف تـؤثــر الـفــيـروســات عـلـى الـمــوارد : </a:t>
            </a:r>
            <a:r>
              <a:rPr lang="fr-FR" sz="3600" b="1" dirty="0" smtClean="0">
                <a:solidFill>
                  <a:srgbClr val="FF0000"/>
                </a:solidFill>
                <a:cs typeface="+mj-cs"/>
              </a:rPr>
              <a:t>RAM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 / </a:t>
            </a:r>
            <a:r>
              <a:rPr lang="fr-FR" sz="3600" b="1" dirty="0" smtClean="0">
                <a:solidFill>
                  <a:srgbClr val="FF0000"/>
                </a:solidFill>
                <a:cs typeface="+mj-cs"/>
              </a:rPr>
              <a:t>HDD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392143" y="3283294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قَــبْــلَ الإِصَــابــة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39416" y="1699119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</a:rPr>
              <a:t>مَـنْ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يَـسْـتَـفِـيـدُ ( يَـسْـتَـغِــلُ ) مِـنْ الـمَــوَارِدِ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RAM</a:t>
            </a:r>
            <a:r>
              <a:rPr lang="ar-DZ" sz="3400" b="1" dirty="0" smtClean="0">
                <a:solidFill>
                  <a:srgbClr val="FF0000"/>
                </a:solidFill>
                <a:cs typeface="+mj-cs"/>
              </a:rPr>
              <a:t> /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HDD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31315" y="3283295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بَــعْــدَ الإِصَــابَــة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089" y="4527553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670281" y="2479449"/>
            <a:ext cx="1137599" cy="12007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5807879" y="2479449"/>
            <a:ext cx="1584264" cy="120073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7512542" y="4884016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b="1" dirty="0" smtClean="0">
                <a:solidFill>
                  <a:srgbClr val="0070C0"/>
                </a:solidFill>
                <a:cs typeface="+mj-cs"/>
              </a:rPr>
              <a:t>..............</a:t>
            </a:r>
            <a:endParaRPr lang="fr-FR" dirty="0">
              <a:cs typeface="+mj-cs"/>
            </a:endParaRPr>
          </a:p>
        </p:txBody>
      </p:sp>
      <p:pic>
        <p:nvPicPr>
          <p:cNvPr id="14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737" y="4527553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Espace réservé du contenu 21"/>
          <p:cNvSpPr txBox="1">
            <a:spLocks/>
          </p:cNvSpPr>
          <p:nvPr/>
        </p:nvSpPr>
        <p:spPr>
          <a:xfrm>
            <a:off x="575171" y="4884016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.............</a:t>
            </a:r>
            <a:endParaRPr lang="fr-FR" sz="38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79029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6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17" grpId="0" animBg="1"/>
      <p:bldP spid="20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كـيـف تـؤثــر الـفــيـروســات عـلـى الـمــوارد : </a:t>
            </a:r>
            <a:r>
              <a:rPr lang="fr-FR" sz="3600" b="1" dirty="0" smtClean="0">
                <a:solidFill>
                  <a:srgbClr val="FF0000"/>
                </a:solidFill>
                <a:cs typeface="+mj-cs"/>
              </a:rPr>
              <a:t>RAM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 / </a:t>
            </a:r>
            <a:r>
              <a:rPr lang="fr-FR" sz="3600" b="1" dirty="0" smtClean="0">
                <a:solidFill>
                  <a:srgbClr val="FF0000"/>
                </a:solidFill>
                <a:cs typeface="+mj-cs"/>
              </a:rPr>
              <a:t>HDD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392143" y="3283294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قَــبْــلَ الإِصَــابــة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39416" y="1699119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</a:rPr>
              <a:t>مَـنْ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يَـسْـتَـفِـيـدُ ( يَـسْـتَـغِــلُ ) مِـنْ الـمَــوَارِدِ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RAM</a:t>
            </a:r>
            <a:r>
              <a:rPr lang="ar-DZ" sz="3400" b="1" dirty="0" smtClean="0">
                <a:solidFill>
                  <a:srgbClr val="FF0000"/>
                </a:solidFill>
                <a:cs typeface="+mj-cs"/>
              </a:rPr>
              <a:t> /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HDD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31315" y="3283295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بَــعْــدَ الإِصَــابَــة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089" y="4527553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670281" y="2479449"/>
            <a:ext cx="1137599" cy="12007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5807879" y="2479449"/>
            <a:ext cx="1584264" cy="120073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7512542" y="4884016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b="1" dirty="0" smtClean="0">
                <a:solidFill>
                  <a:srgbClr val="0070C0"/>
                </a:solidFill>
                <a:cs typeface="+mj-cs"/>
              </a:rPr>
              <a:t>بــــــرامــــج الـمــســتــخــدم</a:t>
            </a:r>
            <a:endParaRPr lang="fr-FR" dirty="0">
              <a:cs typeface="+mj-cs"/>
            </a:endParaRPr>
          </a:p>
        </p:txBody>
      </p:sp>
      <p:pic>
        <p:nvPicPr>
          <p:cNvPr id="14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737" y="4527553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Espace réservé du contenu 21"/>
          <p:cNvSpPr txBox="1">
            <a:spLocks/>
          </p:cNvSpPr>
          <p:nvPr/>
        </p:nvSpPr>
        <p:spPr>
          <a:xfrm>
            <a:off x="575171" y="4884016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800" b="1" dirty="0">
                <a:solidFill>
                  <a:srgbClr val="FF0000"/>
                </a:solidFill>
                <a:cs typeface="Times New Roman" panose="02020603050405020304" pitchFamily="18" charset="0"/>
              </a:rPr>
              <a:t>.............</a:t>
            </a:r>
            <a:endParaRPr lang="fr-FR" sz="38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30575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6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17" grpId="0" animBg="1"/>
      <p:bldP spid="20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كـيـف تـؤثــر الـفــيـروســات عـلـى الـمــوارد : </a:t>
            </a:r>
            <a:r>
              <a:rPr lang="fr-FR" sz="3600" b="1" dirty="0" smtClean="0">
                <a:solidFill>
                  <a:srgbClr val="FF0000"/>
                </a:solidFill>
                <a:cs typeface="+mj-cs"/>
              </a:rPr>
              <a:t>RAM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 / </a:t>
            </a:r>
            <a:r>
              <a:rPr lang="fr-FR" sz="3600" b="1" dirty="0" smtClean="0">
                <a:solidFill>
                  <a:srgbClr val="FF0000"/>
                </a:solidFill>
                <a:cs typeface="+mj-cs"/>
              </a:rPr>
              <a:t>HDD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392143" y="3283294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قَــبْــلَ الإِصَــابــة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39416" y="1699119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</a:rPr>
              <a:t>مَـنْ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يَـسْـتَـفِـيـدُ ( يَـسْـتَـغِــلُ ) مِـنْ الـمَــوَارِدِ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RAM</a:t>
            </a:r>
            <a:r>
              <a:rPr lang="ar-DZ" sz="3400" b="1" dirty="0" smtClean="0">
                <a:solidFill>
                  <a:srgbClr val="FF0000"/>
                </a:solidFill>
                <a:cs typeface="+mj-cs"/>
              </a:rPr>
              <a:t> /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HDD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31315" y="3283295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بَــعْــدَ الإِصَــابَــة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089" y="4527553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670281" y="2479449"/>
            <a:ext cx="1137599" cy="12007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5807879" y="2479449"/>
            <a:ext cx="1584264" cy="120073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7512542" y="4884016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b="1" dirty="0" smtClean="0">
                <a:solidFill>
                  <a:srgbClr val="0070C0"/>
                </a:solidFill>
                <a:cs typeface="+mj-cs"/>
              </a:rPr>
              <a:t>بــــــرامــــج الـمــســتــخــدم</a:t>
            </a:r>
            <a:endParaRPr lang="fr-FR" dirty="0">
              <a:cs typeface="+mj-cs"/>
            </a:endParaRPr>
          </a:p>
        </p:txBody>
      </p:sp>
      <p:pic>
        <p:nvPicPr>
          <p:cNvPr id="14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737" y="4527553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Espace réservé du contenu 21"/>
          <p:cNvSpPr txBox="1">
            <a:spLocks/>
          </p:cNvSpPr>
          <p:nvPr/>
        </p:nvSpPr>
        <p:spPr>
          <a:xfrm>
            <a:off x="575171" y="4884016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الـفـيـروسـات</a:t>
            </a:r>
            <a:endParaRPr lang="fr-FR" sz="38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07763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6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17" grpId="0" animBg="1"/>
      <p:bldP spid="2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نَــشَـاط </a:t>
            </a:r>
            <a:r>
              <a:rPr lang="ar-DZ" sz="4000" b="1" smtClean="0">
                <a:solidFill>
                  <a:srgbClr val="FF0000"/>
                </a:solidFill>
                <a:cs typeface="+mj-cs"/>
              </a:rPr>
              <a:t>3 – أعـــراض الإصــابــة بـالــفـــيـــروســـات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	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فـي بِـــدْءِ الـتــشـغــيــل، وفـي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الــتــطـــبـــيـــقـــات والــبـــرمــجـــيـــات</a:t>
            </a:r>
            <a:endParaRPr lang="ar-DZ" sz="40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حـــفـــظ الــبــــيـــانــــات لـعــــدم وجــــود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بــســبــب الــتــنـــاســخ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)</a:t>
            </a:r>
            <a:endParaRPr lang="fr-FR" sz="40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7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790576" y="1743119"/>
            <a:ext cx="155360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بُـــطْء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39416" y="1729384"/>
            <a:ext cx="244427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تــنــفــيــذ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62784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8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نَــشَـاط </a:t>
            </a:r>
            <a:r>
              <a:rPr lang="ar-DZ" sz="4000" b="1" smtClean="0">
                <a:solidFill>
                  <a:srgbClr val="FF0000"/>
                </a:solidFill>
                <a:cs typeface="+mj-cs"/>
              </a:rPr>
              <a:t>3 – أعـــراض الإصــابــة بـالــفـــيـــروســـات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	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فـي بِـــدْءِ الـتــشـغــيــل، وفـي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الــتــطـــبـــيـــقـــات والــبـــرمــجـــيـــات</a:t>
            </a:r>
            <a:endParaRPr lang="ar-DZ" sz="40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حـــفـــظ الــبــــيـــانــــات لـعــــدم وجــــود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بــســبــب الــتــنـــاســخ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)</a:t>
            </a:r>
            <a:endParaRPr lang="fr-FR" sz="40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7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790576" y="1743119"/>
            <a:ext cx="155360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بُـــطْء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39416" y="1729384"/>
            <a:ext cx="244427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تــنــفــيــذ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184232" y="3858791"/>
            <a:ext cx="242095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تَــعَــذُر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82981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8" grpId="0" animBg="1"/>
      <p:bldP spid="1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نَــشَـاط </a:t>
            </a:r>
            <a:r>
              <a:rPr lang="ar-DZ" sz="4000" b="1" smtClean="0">
                <a:solidFill>
                  <a:srgbClr val="FF0000"/>
                </a:solidFill>
                <a:cs typeface="+mj-cs"/>
              </a:rPr>
              <a:t>3 – أعـــراض الإصــابــة بـالــفـــيـــروســـات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	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فـي بِـــدْءِ الـتــشـغــيــل، وفـي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الــتــطـــبـــيـــقـــات والــبـــرمــجـــيـــات</a:t>
            </a:r>
            <a:endParaRPr lang="ar-DZ" sz="40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حـــفـــظ الــبــــيـــانــــات لـعــــدم وجــــود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بــســبــب الــتــنـــاســخ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)</a:t>
            </a:r>
            <a:endParaRPr lang="fr-FR" sz="40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7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790576" y="1743119"/>
            <a:ext cx="155360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بُـــطْء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39416" y="1729384"/>
            <a:ext cx="244427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تــنــفــيــذ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184232" y="3858791"/>
            <a:ext cx="242095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تَــعَــذُر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384032" y="4883448"/>
            <a:ext cx="482453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الــمــســاحــة الـكــافــيــة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13790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8" grpId="0" animBg="1"/>
      <p:bldP spid="13" grpId="0" animBg="1"/>
      <p:bldP spid="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8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كـيـف تُــؤَثِّــرُ الـفــيــروســات عـلـى مـلـفـات الـحــاســوب ؟</a:t>
            </a:r>
            <a:endParaRPr lang="fr-FR" sz="3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392143" y="3283294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قَــبْــلَ الإِصَــابــة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39416" y="1699119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مِــلَــفَــاتُ الـحَــاسُــوبِ تَــكُــونُ :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31315" y="3283295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بَــعْــدَ الإِصَــابَــة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089" y="4527553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670281" y="2479449"/>
            <a:ext cx="1137599" cy="12007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5807879" y="2479449"/>
            <a:ext cx="1584264" cy="120073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7512542" y="4884016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.............</a:t>
            </a:r>
            <a:endParaRPr lang="fr-FR" sz="4000" dirty="0">
              <a:cs typeface="+mj-cs"/>
            </a:endParaRPr>
          </a:p>
        </p:txBody>
      </p:sp>
      <p:pic>
        <p:nvPicPr>
          <p:cNvPr id="14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737" y="4527553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Espace réservé du contenu 21"/>
          <p:cNvSpPr txBox="1">
            <a:spLocks/>
          </p:cNvSpPr>
          <p:nvPr/>
        </p:nvSpPr>
        <p:spPr>
          <a:xfrm>
            <a:off x="575171" y="4527554"/>
            <a:ext cx="3398168" cy="188098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................</a:t>
            </a:r>
            <a:endParaRPr lang="fr-FR" sz="36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73635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6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17" grpId="0" animBg="1"/>
      <p:bldP spid="20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8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كـيـف تُــؤَثِّــرُ الـفــيــروســات عـلـى مـلـفـات الـحــاســوب ؟</a:t>
            </a:r>
            <a:endParaRPr lang="fr-FR" sz="3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392143" y="3283294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قَــبْــلَ الإِصَــابــة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39416" y="1699119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مِــلَــفَــاتُ الـحَــاسُــوبِ تَــكُــونُ :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31315" y="3283295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بَــعْــدَ الإِصَــابَــة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089" y="4527553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670281" y="2479449"/>
            <a:ext cx="1137599" cy="12007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5807879" y="2479449"/>
            <a:ext cx="1584264" cy="120073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7512542" y="4884016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سَـــلِـــيــمَــةً</a:t>
            </a:r>
            <a:endParaRPr lang="fr-FR" sz="4000" dirty="0">
              <a:cs typeface="+mj-cs"/>
            </a:endParaRPr>
          </a:p>
        </p:txBody>
      </p:sp>
      <p:pic>
        <p:nvPicPr>
          <p:cNvPr id="14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737" y="4527553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Espace réservé du contenu 21"/>
          <p:cNvSpPr txBox="1">
            <a:spLocks/>
          </p:cNvSpPr>
          <p:nvPr/>
        </p:nvSpPr>
        <p:spPr>
          <a:xfrm>
            <a:off x="575171" y="4527554"/>
            <a:ext cx="3398168" cy="188098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................</a:t>
            </a:r>
            <a:endParaRPr lang="fr-FR" sz="36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25985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6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17" grpId="0" animBg="1"/>
      <p:bldP spid="20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8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كـيـف تُــؤَثِّــرُ الـفــيــروســات عـلـى مـلـفـات الـحــاســوب ؟</a:t>
            </a:r>
            <a:endParaRPr lang="fr-FR" sz="3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392143" y="3283294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قَــبْــلَ الإِصَــابــة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39416" y="1699119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مِــلَــفَــاتُ الـحَــاسُــوبِ تَــكُــونُ :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31315" y="3283295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بَــعْــدَ الإِصَــابَــة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089" y="4527553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670281" y="2479449"/>
            <a:ext cx="1137599" cy="12007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5807879" y="2479449"/>
            <a:ext cx="1584264" cy="120073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7512542" y="4884016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سَـــلِـــيــمَــةً</a:t>
            </a:r>
            <a:endParaRPr lang="fr-FR" sz="4000" dirty="0">
              <a:cs typeface="+mj-cs"/>
            </a:endParaRPr>
          </a:p>
        </p:txBody>
      </p:sp>
      <p:pic>
        <p:nvPicPr>
          <p:cNvPr id="14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737" y="4527553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Espace réservé du contenu 21"/>
          <p:cNvSpPr txBox="1">
            <a:spLocks/>
          </p:cNvSpPr>
          <p:nvPr/>
        </p:nvSpPr>
        <p:spPr>
          <a:xfrm>
            <a:off x="575171" y="4527554"/>
            <a:ext cx="3398168" cy="188098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مُـخْـتَــفِــيَــة</a:t>
            </a:r>
          </a:p>
          <a:p>
            <a:pPr marL="0" indent="0" algn="ctr" rtl="1">
              <a:buNone/>
            </a:pP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 مُــتْــلَــفَــة</a:t>
            </a:r>
            <a:endParaRPr lang="fr-FR" sz="36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54194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6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17" grpId="0" animBg="1"/>
      <p:bldP spid="20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 :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( 2. أعـــراض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الإصــابــة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بـالــفــيــروســـات  -  تــابـع 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	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بـعـض الــمـلــفــات ، تَـعَــذُّر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أو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إلــى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لا تُــفْــتَــحُ ولَا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تُــنَــفَّــذُ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	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رســـائــل الـخـــطــأ </a:t>
            </a:r>
            <a:endParaRPr lang="ar-DZ" sz="4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3449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 :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( 2. أعـــراض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الإصــابــة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بـالــفــيــروســـات  -  تــابـع 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	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بـعـض الــمـلــفــات ، تَـعَــذُّر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أو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إلــى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لا تُــفْــتَــحُ ولَا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تُــنَــفَّــذُ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	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رســـائــل الـخـــطــأ </a:t>
            </a:r>
            <a:endParaRPr lang="ar-DZ" sz="4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28248" y="1691414"/>
            <a:ext cx="244798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اِخْــتِــفَــاء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93351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 :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( 2. أعـــراض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الإصــابــة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بـالــفــيــروســـات  -  تــابـع 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	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بـعـض الــمـلــفــات ، تَـعَــذُّر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أو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إلــى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لا تُــفْــتَــحُ ولَا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تُــنَــفَّــذُ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	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رســـائــل الـخـــطــأ </a:t>
            </a:r>
            <a:endParaRPr lang="ar-DZ" sz="4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28248" y="1691414"/>
            <a:ext cx="244798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اِخْــتِــفَــاء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93743" y="1677967"/>
            <a:ext cx="244427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فــتــحــهـا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29917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8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 :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( 2. أعـــراض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الإصــابــة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بـالــفــيــروســـات  -  تــابـع 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	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بـعـض الــمـلــفــات ، تَـعَــذُّر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أو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إلــى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لا تُــفْــتَــحُ ولَا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تُــنَــفَّــذُ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	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رســـائــل الـخـــطــأ </a:t>
            </a:r>
            <a:endParaRPr lang="ar-DZ" sz="4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28248" y="1691414"/>
            <a:ext cx="244798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اِخْــتِــفَــاء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93743" y="1677967"/>
            <a:ext cx="244427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فــتــحــهـا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824192" y="2710042"/>
            <a:ext cx="283211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تـحــويــلـهـا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41167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8" grpId="0" animBg="1"/>
      <p:bldP spid="13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 :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( 2. أعـــراض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الإصــابــة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بـالــفــيــروســـات  -  تــابـع 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	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بـعـض الــمـلــفــات ، تَـعَــذُّر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أو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إلــى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لا تُــفْــتَــحُ ولَا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تُــنَــفَّــذُ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	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رســـائــل الـخـــطــأ </a:t>
            </a:r>
            <a:endParaRPr lang="ar-DZ" sz="4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28248" y="1691414"/>
            <a:ext cx="244798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اِخْــتِــفَــاء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93743" y="1677967"/>
            <a:ext cx="244427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فــتــحــهـا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824192" y="2710042"/>
            <a:ext cx="283211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تـحــويــلـهـا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56538" y="2696594"/>
            <a:ext cx="52565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اِخْــتِــصَــارَات  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Raccourcis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635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8" grpId="0" animBg="1"/>
      <p:bldP spid="13" grpId="0" animBg="1"/>
      <p:bldP spid="9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4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4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400" b="1" dirty="0" smtClean="0">
                <a:solidFill>
                  <a:srgbClr val="FF0000"/>
                </a:solidFill>
                <a:cs typeface="+mj-cs"/>
              </a:rPr>
              <a:t>كـيـف يُــؤَثِّــرُ تَــلَــفُ الـمـلـفـات </a:t>
            </a:r>
            <a:r>
              <a:rPr lang="ar-DZ" sz="3400" b="1" dirty="0">
                <a:solidFill>
                  <a:srgbClr val="FF0000"/>
                </a:solidFill>
                <a:cs typeface="+mj-cs"/>
              </a:rPr>
              <a:t>عـلـى </a:t>
            </a:r>
            <a:r>
              <a:rPr lang="ar-DZ" sz="3400" b="1" dirty="0" smtClean="0">
                <a:solidFill>
                  <a:srgbClr val="FF0000"/>
                </a:solidFill>
                <a:cs typeface="+mj-cs"/>
              </a:rPr>
              <a:t>الـبــرامـج الَّـتِي تـحـتـاجـهـا ؟</a:t>
            </a:r>
            <a:endParaRPr lang="fr-FR" sz="3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3544440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نــظــام الـتــشـغـــيــل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>
                <a:solidFill>
                  <a:srgbClr val="FF0000"/>
                </a:solidFill>
              </a:rPr>
              <a:t>تَــلَــفُ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مِــلَــفَــاتُ الـحَـــاسُــوبِ يُــؤَدِي إِلـى :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544440"/>
            <a:ext cx="412858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الـبــرامـج الـتـطـبـيــقـيـة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43" y="4158435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742004" y="2492896"/>
            <a:ext cx="1055994" cy="14484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6168008" y="2477137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3352800" y="4844609"/>
            <a:ext cx="5328592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......................</a:t>
            </a:r>
            <a:endParaRPr lang="fr-FR" sz="4000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8664162" y="2683685"/>
            <a:ext cx="2109284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........</a:t>
            </a:r>
            <a:endParaRPr lang="fr-FR" sz="4000" dirty="0">
              <a:cs typeface="+mj-cs"/>
            </a:endParaRPr>
          </a:p>
        </p:txBody>
      </p:sp>
      <p:sp>
        <p:nvSpPr>
          <p:cNvPr id="32" name="Espace réservé du contenu 21"/>
          <p:cNvSpPr txBox="1">
            <a:spLocks/>
          </p:cNvSpPr>
          <p:nvPr/>
        </p:nvSpPr>
        <p:spPr>
          <a:xfrm>
            <a:off x="1296942" y="2683685"/>
            <a:ext cx="2109284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........</a:t>
            </a:r>
            <a:endParaRPr lang="fr-FR" sz="40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46065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3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17" grpId="0" animBg="1"/>
      <p:bldP spid="31" grpId="0" animBg="1"/>
      <p:bldP spid="32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4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4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400" b="1" dirty="0" smtClean="0">
                <a:solidFill>
                  <a:srgbClr val="FF0000"/>
                </a:solidFill>
                <a:cs typeface="+mj-cs"/>
              </a:rPr>
              <a:t>كـيـف يُــؤَثِّــرُ تَــلَــفُ الـمـلـفـات </a:t>
            </a:r>
            <a:r>
              <a:rPr lang="ar-DZ" sz="3400" b="1" dirty="0">
                <a:solidFill>
                  <a:srgbClr val="FF0000"/>
                </a:solidFill>
                <a:cs typeface="+mj-cs"/>
              </a:rPr>
              <a:t>عـلـى </a:t>
            </a:r>
            <a:r>
              <a:rPr lang="ar-DZ" sz="3400" b="1" dirty="0" smtClean="0">
                <a:solidFill>
                  <a:srgbClr val="FF0000"/>
                </a:solidFill>
                <a:cs typeface="+mj-cs"/>
              </a:rPr>
              <a:t>الـبــرامـج الَّـتِي تـحـتـاجـهـا ؟</a:t>
            </a:r>
            <a:endParaRPr lang="fr-FR" sz="3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3544440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نــظــام الـتــشـغـــيــل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>
                <a:solidFill>
                  <a:srgbClr val="FF0000"/>
                </a:solidFill>
              </a:rPr>
              <a:t>تَــلَــفُ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مِــلَــفَــاتُ الـحَـــاسُــوبِ يُــؤَدِي إِلـى :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544440"/>
            <a:ext cx="412858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الـبــرامـج الـتـطـبـيــقـيـة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43" y="4158435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742004" y="2492896"/>
            <a:ext cx="1055994" cy="14484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6168008" y="2477137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3352800" y="4844609"/>
            <a:ext cx="5328592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رســائــل .............</a:t>
            </a:r>
            <a:endParaRPr lang="fr-FR" sz="4000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8664162" y="2683685"/>
            <a:ext cx="2109284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خَــلَــل</a:t>
            </a:r>
            <a:endParaRPr lang="fr-FR" sz="4000" dirty="0">
              <a:cs typeface="+mj-cs"/>
            </a:endParaRPr>
          </a:p>
        </p:txBody>
      </p:sp>
      <p:sp>
        <p:nvSpPr>
          <p:cNvPr id="32" name="Espace réservé du contenu 21"/>
          <p:cNvSpPr txBox="1">
            <a:spLocks/>
          </p:cNvSpPr>
          <p:nvPr/>
        </p:nvSpPr>
        <p:spPr>
          <a:xfrm>
            <a:off x="1296942" y="2683685"/>
            <a:ext cx="2109284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خَــلَــل</a:t>
            </a:r>
            <a:endParaRPr lang="fr-FR" sz="40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74254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3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17" grpId="0" animBg="1"/>
      <p:bldP spid="31" grpId="0" animBg="1"/>
      <p:bldP spid="32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4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4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400" b="1" dirty="0" smtClean="0">
                <a:solidFill>
                  <a:srgbClr val="FF0000"/>
                </a:solidFill>
                <a:cs typeface="+mj-cs"/>
              </a:rPr>
              <a:t>كـيـف يُــؤَثِّــرُ تَــلَــفُ الـمـلـفـات </a:t>
            </a:r>
            <a:r>
              <a:rPr lang="ar-DZ" sz="3400" b="1" dirty="0">
                <a:solidFill>
                  <a:srgbClr val="FF0000"/>
                </a:solidFill>
                <a:cs typeface="+mj-cs"/>
              </a:rPr>
              <a:t>عـلـى </a:t>
            </a:r>
            <a:r>
              <a:rPr lang="ar-DZ" sz="3400" b="1" dirty="0" smtClean="0">
                <a:solidFill>
                  <a:srgbClr val="FF0000"/>
                </a:solidFill>
                <a:cs typeface="+mj-cs"/>
              </a:rPr>
              <a:t>الـبــرامـج الَّـتِي تـحـتـاجـهـا ؟</a:t>
            </a:r>
            <a:endParaRPr lang="fr-FR" sz="3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3544440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نــظــام الـتــشـغـــيــل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>
                <a:solidFill>
                  <a:srgbClr val="FF0000"/>
                </a:solidFill>
              </a:rPr>
              <a:t>تَــلَــفُ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مِــلَــفَــاتُ الـحَـــاسُــوبِ يُــؤَدِي إِلـى :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544440"/>
            <a:ext cx="412858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الـبــرامـج الـتـطـبـيــقـيـة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43" y="4158435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742004" y="2492896"/>
            <a:ext cx="1055994" cy="14484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6168008" y="2477137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3352800" y="4844609"/>
            <a:ext cx="5328592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رســائــل الـخــطــأ</a:t>
            </a:r>
            <a:endParaRPr lang="fr-FR" sz="4000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8664162" y="2683685"/>
            <a:ext cx="2109284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خَــلَــل</a:t>
            </a:r>
            <a:endParaRPr lang="fr-FR" sz="4000" dirty="0">
              <a:cs typeface="+mj-cs"/>
            </a:endParaRPr>
          </a:p>
        </p:txBody>
      </p:sp>
      <p:sp>
        <p:nvSpPr>
          <p:cNvPr id="32" name="Espace réservé du contenu 21"/>
          <p:cNvSpPr txBox="1">
            <a:spLocks/>
          </p:cNvSpPr>
          <p:nvPr/>
        </p:nvSpPr>
        <p:spPr>
          <a:xfrm>
            <a:off x="1296942" y="2683685"/>
            <a:ext cx="2109284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خَــلَــل</a:t>
            </a:r>
            <a:endParaRPr lang="fr-FR" sz="40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31941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3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17" grpId="0" animBg="1"/>
      <p:bldP spid="31" grpId="0" animBg="1"/>
      <p:bldP spid="32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 :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( 2. أعـــراض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الإصــابــة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بـالــفــيــروســـات  -  تــابـع 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	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بـعـض الــمـلــفــات ، تَـعَــذُّر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أو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إلــى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لا تُــفْــتَــحُ ولَا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تُــنَــفَّــذُ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	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رســـائــل الـخـــطــأ </a:t>
            </a:r>
            <a:endParaRPr lang="ar-DZ" sz="4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28248" y="1691414"/>
            <a:ext cx="244798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اِخْــتِــفَــاء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93743" y="1677967"/>
            <a:ext cx="244427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فــتــحــهـا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824192" y="2710042"/>
            <a:ext cx="283211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تـحــويــلـهـا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56538" y="2696594"/>
            <a:ext cx="52565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اِخْــتِــصَــارَات  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Raccourcis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5229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8" grpId="0" animBg="1"/>
      <p:bldP spid="13" grpId="0" animBg="1"/>
      <p:bldP spid="9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 :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( 2. أعـــراض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الإصــابــة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بـالــفــيــروســـات  -  تــابـع 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	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بـعـض الــمـلــفــات ، تَـعَــذُّر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أو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إلــى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لا تُــفْــتَــحُ ولَا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تُــنَــفَّــذُ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	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رســـائــل الـخـــطــأ </a:t>
            </a:r>
            <a:endParaRPr lang="ar-DZ" sz="4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28248" y="1691414"/>
            <a:ext cx="244798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اِخْــتِــفَــاء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93743" y="1677967"/>
            <a:ext cx="244427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فــتــحــهـا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824192" y="2710042"/>
            <a:ext cx="283211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تـحــويــلـهـا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56538" y="2696594"/>
            <a:ext cx="52565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اِخْــتِــصَــارَات  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Raccourcis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23992" y="4692426"/>
            <a:ext cx="410416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تِــكْــرَار عَــــرْضِ 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27503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8" grpId="0" animBg="1"/>
      <p:bldP spid="13" grpId="0" animBg="1"/>
      <p:bldP spid="9" grpId="0" animBg="1"/>
      <p:bldP spid="10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>
                <a:solidFill>
                  <a:srgbClr val="FF0000"/>
                </a:solidFill>
                <a:cs typeface="+mj-cs"/>
              </a:rPr>
              <a:t>3.	الــوقـــايـــة مـن 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الــفــيـــروســــات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cs typeface="+mj-cs"/>
              </a:rPr>
              <a:t>بـعــد </a:t>
            </a:r>
            <a:r>
              <a:rPr lang="ar-DZ" sz="4400" b="1" dirty="0" smtClean="0"/>
              <a:t>مـعــرفــة </a:t>
            </a:r>
            <a:r>
              <a:rPr lang="ar-DZ" sz="4400" b="1" dirty="0"/>
              <a:t>أعــراض الإصــابــة، فــمــا هــي </a:t>
            </a:r>
            <a:r>
              <a:rPr lang="ar-DZ" sz="4400" b="1" dirty="0" smtClean="0"/>
              <a:t>الـطُــرُق </a:t>
            </a:r>
            <a:r>
              <a:rPr lang="ar-DZ" sz="4400" b="1" dirty="0"/>
              <a:t>الَّـتِي تــســمــح لــنــا  بِـوِقَـــايَـــة الـحـــاســوب مـن الــفـــيـــروســـات ؟ </a:t>
            </a: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5400" b="1" u="sng" dirty="0">
                <a:solidFill>
                  <a:srgbClr val="0070C0"/>
                </a:solidFill>
                <a:cs typeface="+mj-cs"/>
              </a:rPr>
              <a:t>نـشـاط </a:t>
            </a:r>
            <a:r>
              <a:rPr lang="ar-DZ" sz="5400" b="1" u="sng" dirty="0" smtClean="0">
                <a:solidFill>
                  <a:srgbClr val="0070C0"/>
                </a:solidFill>
                <a:cs typeface="+mj-cs"/>
              </a:rPr>
              <a:t>4</a:t>
            </a:r>
            <a:r>
              <a:rPr lang="ar-DZ" sz="5400" b="1" dirty="0" smtClean="0">
                <a:solidFill>
                  <a:srgbClr val="0070C0"/>
                </a:solidFill>
                <a:cs typeface="+mj-cs"/>
              </a:rPr>
              <a:t> :</a:t>
            </a:r>
            <a:endParaRPr lang="fr-FR" sz="5400" i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73648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5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هـل تَــلَــفُ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الـمـلـفـات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رَاجِـعٌ دَائِـمًـا إلـى الـبـرامـج الـخــبــيــثـة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3544440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الـبـرامـج الـخـبـيـثـة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</a:rPr>
              <a:t>ضَــيَــاعُ الـمــلــفــات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قَــدْ يَــكُــون بِــسَــبَــبِ :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544440"/>
            <a:ext cx="412858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أخـطـار</a:t>
            </a:r>
            <a:r>
              <a:rPr lang="fr-FR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تُـهَـدِّدُ الـحـاسـوب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43" y="4158435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742004" y="2492896"/>
            <a:ext cx="1055994" cy="14484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6168008" y="2477137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4228556" y="4826004"/>
            <a:ext cx="3577079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900" b="1" dirty="0">
                <a:solidFill>
                  <a:srgbClr val="FF0000"/>
                </a:solidFill>
                <a:cs typeface="Times New Roman" panose="02020603050405020304" pitchFamily="18" charset="0"/>
              </a:rPr>
              <a:t>...............</a:t>
            </a:r>
            <a:endParaRPr lang="fr-FR" sz="3900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7914995" y="4211157"/>
            <a:ext cx="3528392" cy="123132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بـمـخـتـلـف أنــواعــهـا</a:t>
            </a:r>
            <a:endParaRPr lang="fr-FR" sz="3400" dirty="0">
              <a:cs typeface="+mj-cs"/>
            </a:endParaRPr>
          </a:p>
        </p:txBody>
      </p:sp>
      <p:sp>
        <p:nvSpPr>
          <p:cNvPr id="32" name="Espace réservé du contenu 21"/>
          <p:cNvSpPr txBox="1">
            <a:spLocks/>
          </p:cNvSpPr>
          <p:nvPr/>
        </p:nvSpPr>
        <p:spPr>
          <a:xfrm>
            <a:off x="291585" y="4211157"/>
            <a:ext cx="3835981" cy="2145195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1">
              <a:lnSpc>
                <a:spcPct val="75000"/>
              </a:lnSpc>
              <a:spcBef>
                <a:spcPts val="0"/>
              </a:spcBef>
              <a:buNone/>
            </a:pPr>
            <a:r>
              <a:rPr lang="ar-DZ" sz="36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....................</a:t>
            </a:r>
            <a:endParaRPr lang="fr-FR" sz="1800" dirty="0">
              <a:solidFill>
                <a:prstClr val="black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51857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0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17" grpId="0" animBg="1"/>
      <p:bldP spid="31" grpId="0" animBg="1"/>
      <p:bldP spid="32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هـل تَــلَــفُ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الـمـلـفـات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رَاجِـعٌ دَائِـمًـا إلـى الـبـرامـج الـخــبــيــثـة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3544440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الـبـرامـج الـخـبـيـثـة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</a:rPr>
              <a:t>ضَــيَــاعُ الـمــلــفــات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قَــدْ يَــكُــون بِــسَــبَــبِ :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544440"/>
            <a:ext cx="412858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أخـطـار</a:t>
            </a:r>
            <a:r>
              <a:rPr lang="fr-FR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تُـهَـدِّدُ الـحـاسـوب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43" y="4158435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742004" y="2492896"/>
            <a:ext cx="1055994" cy="14484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6168008" y="2477137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4228556" y="4826004"/>
            <a:ext cx="3577079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900" b="1" dirty="0">
                <a:solidFill>
                  <a:srgbClr val="FF0000"/>
                </a:solidFill>
                <a:cs typeface="Times New Roman" panose="02020603050405020304" pitchFamily="18" charset="0"/>
              </a:rPr>
              <a:t>...............</a:t>
            </a:r>
            <a:endParaRPr lang="fr-FR" sz="3900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7914995" y="4211157"/>
            <a:ext cx="3528392" cy="123132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بـمـخـتـلـف أنــواعــهـا</a:t>
            </a:r>
            <a:endParaRPr lang="fr-FR" sz="3400" dirty="0">
              <a:cs typeface="+mj-cs"/>
            </a:endParaRPr>
          </a:p>
        </p:txBody>
      </p:sp>
      <p:sp>
        <p:nvSpPr>
          <p:cNvPr id="32" name="Espace réservé du contenu 21"/>
          <p:cNvSpPr txBox="1">
            <a:spLocks/>
          </p:cNvSpPr>
          <p:nvPr/>
        </p:nvSpPr>
        <p:spPr>
          <a:xfrm>
            <a:off x="291585" y="4211157"/>
            <a:ext cx="3835981" cy="2145195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lnSpc>
                <a:spcPct val="75000"/>
              </a:lnSpc>
              <a:buFont typeface="Arial" pitchFamily="34" charset="0"/>
              <a:buNone/>
            </a:pPr>
            <a:r>
              <a:rPr lang="ar-DZ" b="1" dirty="0" smtClean="0">
                <a:solidFill>
                  <a:srgbClr val="0070C0"/>
                </a:solidFill>
                <a:cs typeface="+mj-cs"/>
              </a:rPr>
              <a:t>اضطرابات التيار، الحـرارة المرتفعة الـســوائــل ، الـصـدمـات ...</a:t>
            </a:r>
            <a:endParaRPr lang="fr-FR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31849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0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17" grpId="0" animBg="1"/>
      <p:bldP spid="31" grpId="0" animBg="1"/>
      <p:bldP spid="32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400" b="1" dirty="0" smtClean="0">
                <a:solidFill>
                  <a:srgbClr val="00B050"/>
                </a:solidFill>
                <a:cs typeface="+mj-cs"/>
              </a:rPr>
              <a:t>سـؤال </a:t>
            </a:r>
            <a:r>
              <a:rPr lang="ar-DZ" sz="3400" b="1" dirty="0">
                <a:solidFill>
                  <a:srgbClr val="00B050"/>
                </a:solidFill>
                <a:cs typeface="+mj-cs"/>
              </a:rPr>
              <a:t>: </a:t>
            </a:r>
            <a:r>
              <a:rPr lang="ar-DZ" sz="3400" b="1" dirty="0" smtClean="0">
                <a:solidFill>
                  <a:srgbClr val="00B050"/>
                </a:solidFill>
                <a:cs typeface="+mj-cs"/>
              </a:rPr>
              <a:t>كـيـف نـحـمـي الـمـلـفـات مـن الـضـياع بـغـض الـنـظـر عـن الـسـبـب؟</a:t>
            </a:r>
            <a:endParaRPr lang="fr-FR" sz="3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3544440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الـبـرامـج الـخـبـيـثـة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/>
            <a:r>
              <a:rPr lang="ar-DZ" sz="4200" b="1" dirty="0">
                <a:solidFill>
                  <a:srgbClr val="00B050"/>
                </a:solidFill>
                <a:cs typeface="Times New Roman" panose="02020603050405020304" pitchFamily="18" charset="0"/>
              </a:rPr>
              <a:t>حــمــايــة الـمــلــفــات مــن الـضَــيَــاعُ يَــكُــون مـن خــلال :</a:t>
            </a:r>
            <a:endParaRPr lang="fr-FR" sz="4200" b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544440"/>
            <a:ext cx="412858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أخـطـار</a:t>
            </a:r>
            <a:r>
              <a:rPr lang="fr-FR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تُـهَـدِّدُ الـحـاسـوب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43" y="4158435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/>
          <p:nvPr/>
        </p:nvCxnSpPr>
        <p:spPr>
          <a:xfrm flipH="1">
            <a:off x="5015880" y="2492896"/>
            <a:ext cx="782118" cy="244827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>
            <a:off x="6168008" y="2477137"/>
            <a:ext cx="864096" cy="234886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4228556" y="4826004"/>
            <a:ext cx="3577079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900" b="1" dirty="0">
                <a:solidFill>
                  <a:srgbClr val="FF0000"/>
                </a:solidFill>
                <a:cs typeface="Times New Roman" panose="02020603050405020304" pitchFamily="18" charset="0"/>
              </a:rPr>
              <a:t>...............</a:t>
            </a:r>
            <a:endParaRPr lang="fr-FR" sz="3900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7914995" y="4211157"/>
            <a:ext cx="3528392" cy="123132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بـمـخـتـلـف أنــواعــهـا</a:t>
            </a:r>
            <a:endParaRPr lang="fr-FR" sz="3400" dirty="0">
              <a:cs typeface="+mj-cs"/>
            </a:endParaRPr>
          </a:p>
        </p:txBody>
      </p:sp>
      <p:sp>
        <p:nvSpPr>
          <p:cNvPr id="32" name="Espace réservé du contenu 21"/>
          <p:cNvSpPr txBox="1">
            <a:spLocks/>
          </p:cNvSpPr>
          <p:nvPr/>
        </p:nvSpPr>
        <p:spPr>
          <a:xfrm>
            <a:off x="291585" y="4211157"/>
            <a:ext cx="3835981" cy="2145195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lnSpc>
                <a:spcPct val="75000"/>
              </a:lnSpc>
              <a:buFont typeface="Arial" pitchFamily="34" charset="0"/>
              <a:buNone/>
            </a:pPr>
            <a:r>
              <a:rPr lang="ar-DZ" b="1" dirty="0" smtClean="0">
                <a:solidFill>
                  <a:srgbClr val="0070C0"/>
                </a:solidFill>
                <a:cs typeface="+mj-cs"/>
              </a:rPr>
              <a:t>اضطرابات التيار، الحـرارة المرتفعة الـســوائــل ، الـصـدمـات ...</a:t>
            </a:r>
            <a:endParaRPr lang="fr-FR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4494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0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17" grpId="0" animBg="1"/>
      <p:bldP spid="31" grpId="0" animBg="1"/>
      <p:bldP spid="32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400" b="1" dirty="0" smtClean="0">
                <a:solidFill>
                  <a:srgbClr val="00B050"/>
                </a:solidFill>
                <a:cs typeface="+mj-cs"/>
              </a:rPr>
              <a:t>سـؤال </a:t>
            </a:r>
            <a:r>
              <a:rPr lang="ar-DZ" sz="3400" b="1" dirty="0">
                <a:solidFill>
                  <a:srgbClr val="00B050"/>
                </a:solidFill>
                <a:cs typeface="+mj-cs"/>
              </a:rPr>
              <a:t>: </a:t>
            </a:r>
            <a:r>
              <a:rPr lang="ar-DZ" sz="3400" b="1" dirty="0" smtClean="0">
                <a:solidFill>
                  <a:srgbClr val="00B050"/>
                </a:solidFill>
                <a:cs typeface="+mj-cs"/>
              </a:rPr>
              <a:t>كـيـف نـحـمـي الـمـلـفـات مـن الـضـياع بـغـض الـنـظـر عـن الـسـبـب؟</a:t>
            </a:r>
            <a:endParaRPr lang="fr-FR" sz="3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3544440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الـبـرامـج الـخـبـيـثـة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/>
            <a:r>
              <a:rPr lang="ar-DZ" sz="4200" b="1" dirty="0">
                <a:solidFill>
                  <a:srgbClr val="00B050"/>
                </a:solidFill>
                <a:cs typeface="Times New Roman" panose="02020603050405020304" pitchFamily="18" charset="0"/>
              </a:rPr>
              <a:t>حــمــايــة </a:t>
            </a:r>
            <a:r>
              <a:rPr lang="ar-DZ" sz="42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الـمــلــفــات مــن الـضَــيَــاعُ يَــكُــون مـن خــلال </a:t>
            </a:r>
            <a:r>
              <a:rPr lang="ar-DZ" sz="4200" b="1" dirty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4200" b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544440"/>
            <a:ext cx="412858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أخـطـار</a:t>
            </a:r>
            <a:r>
              <a:rPr lang="fr-FR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تُـهَـدِّدُ الـحـاسـوب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43" y="4158435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/>
          <p:nvPr/>
        </p:nvCxnSpPr>
        <p:spPr>
          <a:xfrm flipH="1">
            <a:off x="5015880" y="2492896"/>
            <a:ext cx="782118" cy="244827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>
            <a:off x="6168008" y="2477137"/>
            <a:ext cx="864096" cy="234886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4228556" y="4826004"/>
            <a:ext cx="3577079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900" b="1" dirty="0" smtClean="0">
                <a:solidFill>
                  <a:srgbClr val="FF0000"/>
                </a:solidFill>
                <a:cs typeface="+mj-cs"/>
              </a:rPr>
              <a:t>نُـــسَــخ اِحْــتِــيـَـاطِـيَـة</a:t>
            </a:r>
            <a:endParaRPr lang="fr-FR" sz="3900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7914995" y="4211157"/>
            <a:ext cx="3528392" cy="123132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بـمـخـتـلـف أنــواعــهـا</a:t>
            </a:r>
            <a:endParaRPr lang="fr-FR" sz="3400" dirty="0">
              <a:cs typeface="+mj-cs"/>
            </a:endParaRPr>
          </a:p>
        </p:txBody>
      </p:sp>
      <p:sp>
        <p:nvSpPr>
          <p:cNvPr id="32" name="Espace réservé du contenu 21"/>
          <p:cNvSpPr txBox="1">
            <a:spLocks/>
          </p:cNvSpPr>
          <p:nvPr/>
        </p:nvSpPr>
        <p:spPr>
          <a:xfrm>
            <a:off x="291585" y="4211157"/>
            <a:ext cx="3835981" cy="2145195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lnSpc>
                <a:spcPct val="75000"/>
              </a:lnSpc>
              <a:buFont typeface="Arial" pitchFamily="34" charset="0"/>
              <a:buNone/>
            </a:pPr>
            <a:r>
              <a:rPr lang="ar-DZ" b="1" dirty="0" smtClean="0">
                <a:solidFill>
                  <a:srgbClr val="0070C0"/>
                </a:solidFill>
                <a:cs typeface="+mj-cs"/>
              </a:rPr>
              <a:t>اضطرابات التيار، الحـرارة المرتفعة الـســوائــل ، الـصـدمـات ...</a:t>
            </a:r>
            <a:endParaRPr lang="fr-FR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29599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0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17" grpId="0" animBg="1"/>
      <p:bldP spid="31" grpId="0" animBg="1"/>
      <p:bldP spid="32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نَــشَـاط 4  –  </a:t>
            </a:r>
            <a:r>
              <a:rPr lang="ar-DZ" sz="4000" b="1" dirty="0">
                <a:solidFill>
                  <a:srgbClr val="FF0000"/>
                </a:solidFill>
              </a:rPr>
              <a:t>الــوقـــايـــة مـن  </a:t>
            </a:r>
            <a:r>
              <a:rPr lang="ar-DZ" sz="4000" b="1" dirty="0" smtClean="0">
                <a:solidFill>
                  <a:srgbClr val="FF0000"/>
                </a:solidFill>
              </a:rPr>
              <a:t>الــفــيـــروســــات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buFont typeface="Arial" pitchFamily="34" charset="0"/>
              <a:buNone/>
            </a:pPr>
            <a:endParaRPr lang="ar-DZ" sz="800" b="1" dirty="0">
              <a:cs typeface="+mj-cs"/>
            </a:endParaRPr>
          </a:p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	</a:t>
            </a:r>
            <a:r>
              <a:rPr lang="ar-DZ" sz="4400" b="1" u="dbl" dirty="0">
                <a:cs typeface="+mj-cs"/>
              </a:rPr>
              <a:t> </a:t>
            </a:r>
            <a:r>
              <a:rPr lang="ar-DZ" sz="4400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إنــشــاء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احــتــيــاطــيـة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الــمُــهِـــمَّــة عــلـى 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</a:t>
            </a:r>
            <a:r>
              <a:rPr lang="en-US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DVD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...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)</a:t>
            </a:r>
          </a:p>
          <a:p>
            <a:pPr marL="0" indent="0" algn="just" rtl="1">
              <a:lnSpc>
                <a:spcPct val="165000"/>
              </a:lnSpc>
              <a:buNone/>
            </a:pPr>
            <a:endParaRPr lang="ar-DZ" sz="44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88302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نَــشَـاط 4  –  </a:t>
            </a:r>
            <a:r>
              <a:rPr lang="ar-DZ" sz="4000" b="1" dirty="0">
                <a:solidFill>
                  <a:srgbClr val="FF0000"/>
                </a:solidFill>
              </a:rPr>
              <a:t>الــوقـــايـــة مـن  </a:t>
            </a:r>
            <a:r>
              <a:rPr lang="ar-DZ" sz="4000" b="1" dirty="0" smtClean="0">
                <a:solidFill>
                  <a:srgbClr val="FF0000"/>
                </a:solidFill>
              </a:rPr>
              <a:t>الــفــيـــروســــات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buFont typeface="Arial" pitchFamily="34" charset="0"/>
              <a:buNone/>
            </a:pPr>
            <a:endParaRPr lang="ar-DZ" sz="800" b="1" dirty="0">
              <a:cs typeface="+mj-cs"/>
            </a:endParaRPr>
          </a:p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	</a:t>
            </a:r>
            <a:r>
              <a:rPr lang="ar-DZ" sz="4400" b="1" u="dbl" dirty="0">
                <a:cs typeface="+mj-cs"/>
              </a:rPr>
              <a:t> </a:t>
            </a:r>
            <a:r>
              <a:rPr lang="ar-DZ" sz="4400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إنــشــاء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احــتــيــاطــيـة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الــمُــهِـــمَّــة عــلـى 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</a:t>
            </a:r>
            <a:r>
              <a:rPr lang="en-US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DVD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...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)</a:t>
            </a:r>
          </a:p>
          <a:p>
            <a:pPr marL="0" indent="0" algn="just" rtl="1">
              <a:lnSpc>
                <a:spcPct val="165000"/>
              </a:lnSpc>
              <a:buNone/>
            </a:pPr>
            <a:endParaRPr lang="ar-DZ" sz="44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384032" y="2121098"/>
            <a:ext cx="20882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نُــسَــخًــا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17384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نَــشَـاط 4  –  </a:t>
            </a:r>
            <a:r>
              <a:rPr lang="ar-DZ" sz="4000" b="1" dirty="0">
                <a:solidFill>
                  <a:srgbClr val="FF0000"/>
                </a:solidFill>
              </a:rPr>
              <a:t>الــوقـــايـــة مـن  </a:t>
            </a:r>
            <a:r>
              <a:rPr lang="ar-DZ" sz="4000" b="1" dirty="0" smtClean="0">
                <a:solidFill>
                  <a:srgbClr val="FF0000"/>
                </a:solidFill>
              </a:rPr>
              <a:t>الــفــيـــروســــات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buFont typeface="Arial" pitchFamily="34" charset="0"/>
              <a:buNone/>
            </a:pPr>
            <a:endParaRPr lang="ar-DZ" sz="800" b="1" dirty="0">
              <a:cs typeface="+mj-cs"/>
            </a:endParaRPr>
          </a:p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	</a:t>
            </a:r>
            <a:r>
              <a:rPr lang="ar-DZ" sz="4400" b="1" u="dbl" dirty="0">
                <a:cs typeface="+mj-cs"/>
              </a:rPr>
              <a:t> </a:t>
            </a:r>
            <a:r>
              <a:rPr lang="ar-DZ" sz="4400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إنــشــاء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احــتــيــاطــيـة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الــمُــهِـــمَّــة عــلـى 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</a:t>
            </a:r>
            <a:r>
              <a:rPr lang="en-US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DVD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...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)</a:t>
            </a:r>
          </a:p>
          <a:p>
            <a:pPr marL="0" indent="0" algn="just" rtl="1">
              <a:lnSpc>
                <a:spcPct val="165000"/>
              </a:lnSpc>
              <a:buNone/>
            </a:pPr>
            <a:endParaRPr lang="ar-DZ" sz="44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384032" y="2121098"/>
            <a:ext cx="20882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نُــسَــخًــا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22513" y="2121097"/>
            <a:ext cx="244427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للـمــلــفــات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27278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8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نَــشَـاط 4  –  </a:t>
            </a:r>
            <a:r>
              <a:rPr lang="ar-DZ" sz="4000" b="1" dirty="0">
                <a:solidFill>
                  <a:srgbClr val="FF0000"/>
                </a:solidFill>
              </a:rPr>
              <a:t>الــوقـــايـــة مـن  </a:t>
            </a:r>
            <a:r>
              <a:rPr lang="ar-DZ" sz="4000" b="1" dirty="0" smtClean="0">
                <a:solidFill>
                  <a:srgbClr val="FF0000"/>
                </a:solidFill>
              </a:rPr>
              <a:t>الــفــيـــروســــات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buFont typeface="Arial" pitchFamily="34" charset="0"/>
              <a:buNone/>
            </a:pPr>
            <a:endParaRPr lang="ar-DZ" sz="800" b="1" dirty="0">
              <a:cs typeface="+mj-cs"/>
            </a:endParaRPr>
          </a:p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	</a:t>
            </a:r>
            <a:r>
              <a:rPr lang="ar-DZ" sz="4400" b="1" u="dbl" dirty="0">
                <a:cs typeface="+mj-cs"/>
              </a:rPr>
              <a:t> </a:t>
            </a:r>
            <a:r>
              <a:rPr lang="ar-DZ" sz="4400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إنــشــاء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احــتــيــاطــيـة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الــمُــهِـــمَّــة عــلـى 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</a:t>
            </a:r>
            <a:r>
              <a:rPr lang="en-US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DVD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...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)</a:t>
            </a:r>
          </a:p>
          <a:p>
            <a:pPr marL="0" indent="0" algn="just" rtl="1">
              <a:lnSpc>
                <a:spcPct val="165000"/>
              </a:lnSpc>
              <a:buNone/>
            </a:pPr>
            <a:endParaRPr lang="ar-DZ" sz="44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384032" y="2121098"/>
            <a:ext cx="20882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نُــسَــخًــا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22513" y="2121097"/>
            <a:ext cx="244427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للـمــلــفــات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181010" y="3224734"/>
            <a:ext cx="450918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أقـــراص خـــارجــيــة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67075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8" grpId="0" animBg="1"/>
      <p:bldP spid="13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مــا هـي الـبــرامـج الَّـتِي تـلْـزَمُـنَـا لـحــمــايــة </a:t>
            </a:r>
            <a:r>
              <a:rPr lang="ar-DZ" sz="3600" b="1" dirty="0">
                <a:solidFill>
                  <a:srgbClr val="FF0000"/>
                </a:solidFill>
              </a:rPr>
              <a:t>الـحــاســوب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200" b="1" dirty="0">
                <a:solidFill>
                  <a:srgbClr val="FF0000"/>
                </a:solidFill>
                <a:cs typeface="+mj-cs"/>
              </a:rPr>
              <a:t>حــمــايــة الـحــاســوب يــتــطــلــب </a:t>
            </a:r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بــرامـج الـحــمــايــة :</a:t>
            </a:r>
            <a:endParaRPr lang="fr-FR" sz="4200" b="1" dirty="0">
              <a:solidFill>
                <a:srgbClr val="0070C0"/>
              </a:solidFill>
              <a:cs typeface="+mj-cs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43" y="4158435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stCxn id="13" idx="2"/>
          </p:cNvCxnSpPr>
          <p:nvPr/>
        </p:nvCxnSpPr>
        <p:spPr>
          <a:xfrm flipH="1">
            <a:off x="2104566" y="2492896"/>
            <a:ext cx="3912530" cy="113183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>
            <a:off x="5986010" y="2477137"/>
            <a:ext cx="3771544" cy="112350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3352800" y="4844609"/>
            <a:ext cx="5328592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900" b="1" dirty="0" smtClean="0">
                <a:solidFill>
                  <a:srgbClr val="0070C0"/>
                </a:solidFill>
                <a:cs typeface="+mj-cs"/>
              </a:rPr>
              <a:t>..................</a:t>
            </a:r>
            <a:endParaRPr lang="fr-FR" sz="3900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7974168" y="3639564"/>
            <a:ext cx="3528392" cy="124396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.................</a:t>
            </a:r>
            <a:endParaRPr lang="en-US" sz="3400" dirty="0">
              <a:cs typeface="+mj-cs"/>
            </a:endParaRPr>
          </a:p>
        </p:txBody>
      </p:sp>
      <p:sp>
        <p:nvSpPr>
          <p:cNvPr id="32" name="Espace réservé du contenu 21"/>
          <p:cNvSpPr txBox="1">
            <a:spLocks/>
          </p:cNvSpPr>
          <p:nvPr/>
        </p:nvSpPr>
        <p:spPr>
          <a:xfrm>
            <a:off x="523157" y="3638303"/>
            <a:ext cx="3455505" cy="1349898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b="1" dirty="0" smtClean="0">
                <a:solidFill>
                  <a:srgbClr val="0070C0"/>
                </a:solidFill>
                <a:cs typeface="+mj-cs"/>
              </a:rPr>
              <a:t>................</a:t>
            </a:r>
            <a:endParaRPr lang="en-US" dirty="0">
              <a:cs typeface="+mj-cs"/>
            </a:endParaRPr>
          </a:p>
        </p:txBody>
      </p:sp>
      <p:cxnSp>
        <p:nvCxnSpPr>
          <p:cNvPr id="14" name="Connecteur droit avec flèche 13"/>
          <p:cNvCxnSpPr/>
          <p:nvPr/>
        </p:nvCxnSpPr>
        <p:spPr>
          <a:xfrm>
            <a:off x="5986010" y="2492896"/>
            <a:ext cx="0" cy="250478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101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  <p:bldP spid="17" grpId="0" animBg="1"/>
      <p:bldP spid="31" grpId="0" animBg="1"/>
      <p:bldP spid="32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مــا هـي الـبــرامـج الَّـتِي تـلْـزَمُـنَـا لـحــمــايــة </a:t>
            </a:r>
            <a:r>
              <a:rPr lang="ar-DZ" sz="3600" b="1" dirty="0">
                <a:solidFill>
                  <a:srgbClr val="FF0000"/>
                </a:solidFill>
              </a:rPr>
              <a:t>الـحــاســوب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200" b="1" dirty="0">
                <a:solidFill>
                  <a:srgbClr val="FF0000"/>
                </a:solidFill>
                <a:cs typeface="+mj-cs"/>
              </a:rPr>
              <a:t>حــمــايــة الـحــاســوب يــتــطــلــب </a:t>
            </a:r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بــرامـج الـحــمــايــة :</a:t>
            </a:r>
            <a:endParaRPr lang="fr-FR" sz="4200" b="1" dirty="0">
              <a:solidFill>
                <a:srgbClr val="0070C0"/>
              </a:solidFill>
              <a:cs typeface="+mj-cs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43" y="4158435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stCxn id="13" idx="2"/>
          </p:cNvCxnSpPr>
          <p:nvPr/>
        </p:nvCxnSpPr>
        <p:spPr>
          <a:xfrm flipH="1">
            <a:off x="2104566" y="2492896"/>
            <a:ext cx="3912530" cy="113183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>
            <a:off x="5986010" y="2477137"/>
            <a:ext cx="3771544" cy="112350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3352800" y="4844609"/>
            <a:ext cx="5328592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sz="3900" b="1" dirty="0" smtClean="0">
                <a:solidFill>
                  <a:srgbClr val="0070C0"/>
                </a:solidFill>
                <a:cs typeface="+mj-cs"/>
              </a:rPr>
              <a:t>Antivirus</a:t>
            </a:r>
            <a:endParaRPr lang="fr-FR" sz="3900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7974168" y="3639564"/>
            <a:ext cx="3528392" cy="124396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en-US" sz="3400" b="1" dirty="0" smtClean="0">
                <a:solidFill>
                  <a:srgbClr val="0070C0"/>
                </a:solidFill>
                <a:cs typeface="+mj-cs"/>
              </a:rPr>
              <a:t>Firewall</a:t>
            </a:r>
            <a:endParaRPr lang="en-US" sz="3400" dirty="0">
              <a:cs typeface="+mj-cs"/>
            </a:endParaRPr>
          </a:p>
        </p:txBody>
      </p:sp>
      <p:sp>
        <p:nvSpPr>
          <p:cNvPr id="32" name="Espace réservé du contenu 21"/>
          <p:cNvSpPr txBox="1">
            <a:spLocks/>
          </p:cNvSpPr>
          <p:nvPr/>
        </p:nvSpPr>
        <p:spPr>
          <a:xfrm>
            <a:off x="523157" y="3638303"/>
            <a:ext cx="3455505" cy="1349898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b="1" dirty="0" smtClean="0">
                <a:solidFill>
                  <a:srgbClr val="0070C0"/>
                </a:solidFill>
                <a:cs typeface="+mj-cs"/>
              </a:rPr>
              <a:t>USB </a:t>
            </a:r>
            <a:r>
              <a:rPr lang="en-US" b="1" dirty="0" smtClean="0">
                <a:solidFill>
                  <a:srgbClr val="0070C0"/>
                </a:solidFill>
                <a:cs typeface="+mj-cs"/>
              </a:rPr>
              <a:t>Guard</a:t>
            </a:r>
            <a:endParaRPr lang="en-US" dirty="0">
              <a:cs typeface="+mj-cs"/>
            </a:endParaRPr>
          </a:p>
        </p:txBody>
      </p:sp>
      <p:cxnSp>
        <p:nvCxnSpPr>
          <p:cNvPr id="14" name="Connecteur droit avec flèche 13"/>
          <p:cNvCxnSpPr/>
          <p:nvPr/>
        </p:nvCxnSpPr>
        <p:spPr>
          <a:xfrm>
            <a:off x="5986010" y="2492896"/>
            <a:ext cx="0" cy="250478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4979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  <p:bldP spid="17" grpId="0" animBg="1"/>
      <p:bldP spid="31" grpId="0" animBg="1"/>
      <p:bldP spid="32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نَــشَـاط 4  –  </a:t>
            </a:r>
            <a:r>
              <a:rPr lang="ar-DZ" sz="4000" b="1" dirty="0">
                <a:solidFill>
                  <a:srgbClr val="FF0000"/>
                </a:solidFill>
              </a:rPr>
              <a:t>الــوقـــايـــة مـن  </a:t>
            </a:r>
            <a:r>
              <a:rPr lang="ar-DZ" sz="4000" b="1" dirty="0" smtClean="0">
                <a:solidFill>
                  <a:srgbClr val="FF0000"/>
                </a:solidFill>
              </a:rPr>
              <a:t>الــفــيـــروســــات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buFont typeface="Arial" pitchFamily="34" charset="0"/>
              <a:buNone/>
            </a:pPr>
            <a:endParaRPr lang="ar-DZ" sz="800" b="1" dirty="0">
              <a:cs typeface="+mj-cs"/>
            </a:endParaRPr>
          </a:p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	</a:t>
            </a:r>
            <a:r>
              <a:rPr lang="ar-DZ" sz="4400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تــنــصــيــب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الــضَــرُورِيَــة :</a:t>
            </a:r>
          </a:p>
          <a:p>
            <a:pPr marL="0" indent="0" algn="just" rtl="1">
              <a:lnSpc>
                <a:spcPct val="165000"/>
              </a:lnSpc>
              <a:buNone/>
            </a:pPr>
            <a:endParaRPr lang="ar-DZ" sz="44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44170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نَــشَـاط 4  –  </a:t>
            </a:r>
            <a:r>
              <a:rPr lang="ar-DZ" sz="4000" b="1" dirty="0">
                <a:solidFill>
                  <a:srgbClr val="FF0000"/>
                </a:solidFill>
              </a:rPr>
              <a:t>الــوقـــايـــة مـن  </a:t>
            </a:r>
            <a:r>
              <a:rPr lang="ar-DZ" sz="4000" b="1" dirty="0" smtClean="0">
                <a:solidFill>
                  <a:srgbClr val="FF0000"/>
                </a:solidFill>
              </a:rPr>
              <a:t>الــفــيـــروســــات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buFont typeface="Arial" pitchFamily="34" charset="0"/>
              <a:buNone/>
            </a:pPr>
            <a:endParaRPr lang="ar-DZ" sz="800" b="1" dirty="0">
              <a:cs typeface="+mj-cs"/>
            </a:endParaRPr>
          </a:p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	</a:t>
            </a:r>
            <a:r>
              <a:rPr lang="ar-DZ" sz="4400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تــنــصــيــب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الــضَــرُورِيَــة :</a:t>
            </a:r>
          </a:p>
          <a:p>
            <a:pPr marL="0" indent="0" algn="just" rtl="1">
              <a:lnSpc>
                <a:spcPct val="165000"/>
              </a:lnSpc>
              <a:buNone/>
            </a:pPr>
            <a:endParaRPr lang="ar-DZ" sz="44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838706" y="2087742"/>
            <a:ext cx="416852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بــرامـج الـحـــمــايـــة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56860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10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تــنــصــيــب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</a:t>
            </a:r>
            <a:r>
              <a:rPr lang="ar-DZ" b="1" dirty="0" smtClean="0">
                <a:solidFill>
                  <a:srgbClr val="0070C0"/>
                </a:solidFill>
                <a:cs typeface="+mj-cs"/>
              </a:rPr>
              <a:t>بــرامــج الـحـــمـــايــــة 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الــضَــرُورِيَــة </a:t>
            </a:r>
            <a:r>
              <a:rPr lang="ar-DZ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</a:t>
            </a:r>
            <a:r>
              <a:rPr lang="ar-DZ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412776"/>
            <a:ext cx="10814992" cy="495706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 rtl="1">
              <a:buNone/>
            </a:pPr>
            <a:endParaRPr lang="ar-DZ" sz="500" baseline="-25000" dirty="0" smtClean="0"/>
          </a:p>
          <a:p>
            <a:pPr marL="0" indent="0" algn="ctr" rtl="1">
              <a:lnSpc>
                <a:spcPct val="200000"/>
              </a:lnSpc>
              <a:buNone/>
            </a:pPr>
            <a:r>
              <a:rPr lang="ar-DZ" sz="4000" baseline="-25000" dirty="0" smtClean="0"/>
              <a:t>.......................................................................................................... </a:t>
            </a:r>
            <a:r>
              <a:rPr lang="ar-DZ" sz="4000" baseline="-25000" dirty="0"/>
              <a:t>..........................................................................................................</a:t>
            </a:r>
            <a:r>
              <a:rPr lang="ar-DZ" sz="4000" b="1" dirty="0"/>
              <a:t> </a:t>
            </a:r>
            <a:r>
              <a:rPr lang="ar-DZ" sz="4000" baseline="-25000" dirty="0"/>
              <a:t>..........................................................................................................</a:t>
            </a:r>
            <a:r>
              <a:rPr lang="ar-DZ" sz="4000" b="1" dirty="0"/>
              <a:t> </a:t>
            </a:r>
            <a:endParaRPr lang="ar-DZ" sz="4000" b="1" dirty="0" smtClean="0"/>
          </a:p>
          <a:p>
            <a:pPr marL="0" indent="0" algn="r" rtl="1">
              <a:lnSpc>
                <a:spcPct val="20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مَــعَ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aseline="-25000" dirty="0" smtClean="0"/>
              <a:t>.......................................</a:t>
            </a:r>
            <a:r>
              <a:rPr lang="ar-DZ" sz="4000" b="1" dirty="0" smtClean="0"/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تـلـك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الــبـــرامـــج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بـانــتــظــام</a:t>
            </a:r>
            <a:endParaRPr lang="fr-FR" sz="40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1343472" y="1876491"/>
            <a:ext cx="92890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...................................                </a:t>
            </a:r>
            <a:r>
              <a:rPr lang="fr-FR" sz="4000" b="1" dirty="0" smtClean="0">
                <a:solidFill>
                  <a:srgbClr val="0070C0"/>
                </a:solidFill>
                <a:cs typeface="+mj-cs"/>
              </a:rPr>
              <a:t>Antivirus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343472" y="2996952"/>
            <a:ext cx="92890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.............................                        </a:t>
            </a:r>
            <a:r>
              <a:rPr lang="fr-FR" sz="4000" b="1" dirty="0" smtClean="0">
                <a:solidFill>
                  <a:srgbClr val="0070C0"/>
                </a:solidFill>
                <a:cs typeface="+mj-cs"/>
              </a:rPr>
              <a:t>Firewall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343472" y="4077072"/>
            <a:ext cx="92890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............................................    </a:t>
            </a:r>
            <a:r>
              <a:rPr lang="fr-FR" sz="4000" b="1" dirty="0" smtClean="0">
                <a:solidFill>
                  <a:srgbClr val="0070C0"/>
                </a:solidFill>
                <a:cs typeface="+mj-cs"/>
              </a:rPr>
              <a:t>USB </a:t>
            </a:r>
            <a:r>
              <a:rPr lang="fr-FR" sz="4000" b="1" dirty="0" err="1" smtClean="0">
                <a:solidFill>
                  <a:srgbClr val="0070C0"/>
                </a:solidFill>
                <a:cs typeface="+mj-cs"/>
              </a:rPr>
              <a:t>Guard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16080" y="5157192"/>
            <a:ext cx="294438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.................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98802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10" grpId="0" animBg="1"/>
      <p:bldP spid="11" grpId="0" animBg="1"/>
      <p:bldP spid="9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تــنــصــيــب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</a:t>
            </a:r>
            <a:r>
              <a:rPr lang="ar-DZ" b="1" dirty="0" smtClean="0">
                <a:solidFill>
                  <a:srgbClr val="0070C0"/>
                </a:solidFill>
                <a:cs typeface="+mj-cs"/>
              </a:rPr>
              <a:t>بــرامــج الـحـــمـــايــــة 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الــضَــرُورِيَــة </a:t>
            </a:r>
            <a:r>
              <a:rPr lang="ar-DZ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</a:t>
            </a:r>
            <a:r>
              <a:rPr lang="ar-DZ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412776"/>
            <a:ext cx="10814992" cy="495706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 rtl="1">
              <a:buNone/>
            </a:pPr>
            <a:endParaRPr lang="ar-DZ" sz="500" baseline="-25000" dirty="0" smtClean="0"/>
          </a:p>
          <a:p>
            <a:pPr marL="0" indent="0" algn="ctr" rtl="1">
              <a:lnSpc>
                <a:spcPct val="200000"/>
              </a:lnSpc>
              <a:buNone/>
            </a:pPr>
            <a:r>
              <a:rPr lang="ar-DZ" sz="4000" baseline="-25000" dirty="0" smtClean="0"/>
              <a:t>.......................................................................................................... </a:t>
            </a:r>
            <a:r>
              <a:rPr lang="ar-DZ" sz="4000" baseline="-25000" dirty="0"/>
              <a:t>..........................................................................................................</a:t>
            </a:r>
            <a:r>
              <a:rPr lang="ar-DZ" sz="4000" b="1" dirty="0"/>
              <a:t> </a:t>
            </a:r>
            <a:r>
              <a:rPr lang="ar-DZ" sz="4000" baseline="-25000" dirty="0"/>
              <a:t>..........................................................................................................</a:t>
            </a:r>
            <a:r>
              <a:rPr lang="ar-DZ" sz="4000" b="1" dirty="0"/>
              <a:t> </a:t>
            </a:r>
            <a:endParaRPr lang="ar-DZ" sz="4000" b="1" dirty="0" smtClean="0"/>
          </a:p>
          <a:p>
            <a:pPr marL="0" indent="0" algn="r" rtl="1">
              <a:lnSpc>
                <a:spcPct val="20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مَــعَ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aseline="-25000" dirty="0" smtClean="0"/>
              <a:t>.......................................</a:t>
            </a:r>
            <a:r>
              <a:rPr lang="ar-DZ" sz="4000" b="1" dirty="0" smtClean="0"/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تـلـك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الــبـــرامـــج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بـانــتــظــام</a:t>
            </a:r>
            <a:endParaRPr lang="fr-FR" sz="40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1343472" y="1876491"/>
            <a:ext cx="92890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مُــضَــاد الـفــيـــروســــات                </a:t>
            </a:r>
            <a:r>
              <a:rPr lang="fr-FR" sz="4000" b="1" dirty="0" smtClean="0">
                <a:solidFill>
                  <a:srgbClr val="0070C0"/>
                </a:solidFill>
              </a:rPr>
              <a:t>Antivirus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endParaRPr lang="fr-FR" sz="4000" b="1" dirty="0">
              <a:solidFill>
                <a:srgbClr val="0070C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343472" y="2996952"/>
            <a:ext cx="92890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/>
            <a:r>
              <a:rPr lang="ar-DZ" sz="4000" b="1" dirty="0">
                <a:solidFill>
                  <a:srgbClr val="0070C0"/>
                </a:solidFill>
                <a:cs typeface="Times New Roman" panose="02020603050405020304" pitchFamily="18" charset="0"/>
              </a:rPr>
              <a:t>.............................                        </a:t>
            </a:r>
            <a:r>
              <a:rPr lang="fr-FR" sz="4000" b="1" dirty="0">
                <a:solidFill>
                  <a:srgbClr val="0070C0"/>
                </a:solidFill>
                <a:cs typeface="+mj-cs"/>
              </a:rPr>
              <a:t>Firewall</a:t>
            </a:r>
            <a:r>
              <a:rPr lang="ar-DZ" sz="4000" b="1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343472" y="4077072"/>
            <a:ext cx="92890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/>
            <a:r>
              <a:rPr lang="ar-DZ" sz="4000" b="1" dirty="0">
                <a:solidFill>
                  <a:srgbClr val="0070C0"/>
                </a:solidFill>
                <a:cs typeface="Times New Roman" panose="02020603050405020304" pitchFamily="18" charset="0"/>
              </a:rPr>
              <a:t>............................................    </a:t>
            </a:r>
            <a:r>
              <a:rPr lang="fr-FR" sz="4000" b="1" dirty="0">
                <a:solidFill>
                  <a:srgbClr val="0070C0"/>
                </a:solidFill>
                <a:cs typeface="+mj-cs"/>
              </a:rPr>
              <a:t>USB </a:t>
            </a:r>
            <a:r>
              <a:rPr lang="fr-FR" sz="4000" b="1" dirty="0" err="1">
                <a:solidFill>
                  <a:srgbClr val="0070C0"/>
                </a:solidFill>
                <a:cs typeface="+mj-cs"/>
              </a:rPr>
              <a:t>Guard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816080" y="5148518"/>
            <a:ext cx="294438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.................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83995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10" grpId="0" animBg="1"/>
      <p:bldP spid="11" grpId="0" animBg="1"/>
      <p:bldP spid="12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3600" b="1" dirty="0">
                <a:solidFill>
                  <a:srgbClr val="FF0000"/>
                </a:solidFill>
              </a:rPr>
              <a:t>حــمــايــة الـحــاســوب يــتــطــلــب بــرامـج الـحــمــايــة :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43" y="4158435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stCxn id="2" idx="2"/>
          </p:cNvCxnSpPr>
          <p:nvPr/>
        </p:nvCxnSpPr>
        <p:spPr>
          <a:xfrm flipH="1">
            <a:off x="2135560" y="1124744"/>
            <a:ext cx="3881536" cy="24758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stCxn id="2" idx="2"/>
          </p:cNvCxnSpPr>
          <p:nvPr/>
        </p:nvCxnSpPr>
        <p:spPr>
          <a:xfrm>
            <a:off x="6017096" y="1124744"/>
            <a:ext cx="3823320" cy="24758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3352800" y="4758116"/>
            <a:ext cx="5328592" cy="1524517"/>
          </a:xfrm>
          <a:prstGeom prst="cloud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sz="3900" b="1" dirty="0" smtClean="0">
                <a:solidFill>
                  <a:srgbClr val="FF0000"/>
                </a:solidFill>
                <a:cs typeface="+mj-cs"/>
              </a:rPr>
              <a:t>Antivirus</a:t>
            </a:r>
            <a:endParaRPr lang="fr-FR" sz="3900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7993358" y="3600643"/>
            <a:ext cx="3528392" cy="124396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en-US" sz="3400" b="1" dirty="0" smtClean="0">
                <a:solidFill>
                  <a:srgbClr val="0070C0"/>
                </a:solidFill>
                <a:cs typeface="+mj-cs"/>
              </a:rPr>
              <a:t>Firewall</a:t>
            </a:r>
            <a:endParaRPr lang="en-US" sz="3400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32" name="Espace réservé du contenu 21"/>
          <p:cNvSpPr txBox="1">
            <a:spLocks/>
          </p:cNvSpPr>
          <p:nvPr/>
        </p:nvSpPr>
        <p:spPr>
          <a:xfrm>
            <a:off x="523158" y="3638303"/>
            <a:ext cx="3162814" cy="151094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b="1" dirty="0" smtClean="0">
                <a:solidFill>
                  <a:srgbClr val="0070C0"/>
                </a:solidFill>
                <a:cs typeface="+mj-cs"/>
              </a:rPr>
              <a:t>USB </a:t>
            </a:r>
            <a:r>
              <a:rPr lang="en-US" b="1" dirty="0" smtClean="0">
                <a:solidFill>
                  <a:srgbClr val="0070C0"/>
                </a:solidFill>
                <a:cs typeface="+mj-cs"/>
              </a:rPr>
              <a:t>Guard</a:t>
            </a:r>
            <a:endParaRPr lang="en-US" dirty="0">
              <a:cs typeface="+mj-cs"/>
            </a:endParaRPr>
          </a:p>
        </p:txBody>
      </p:sp>
      <p:cxnSp>
        <p:nvCxnSpPr>
          <p:cNvPr id="18" name="Connecteur droit avec flèche 17"/>
          <p:cNvCxnSpPr>
            <a:stCxn id="2" idx="2"/>
            <a:endCxn id="17" idx="3"/>
          </p:cNvCxnSpPr>
          <p:nvPr/>
        </p:nvCxnSpPr>
        <p:spPr>
          <a:xfrm>
            <a:off x="6017096" y="1124744"/>
            <a:ext cx="0" cy="37205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Imag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60" y="248340"/>
            <a:ext cx="11665296" cy="6468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1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7" grpId="0" animBg="1"/>
      <p:bldP spid="31" grpId="0" animBg="1"/>
      <p:bldP spid="32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تــنــصــيــب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</a:t>
            </a:r>
            <a:r>
              <a:rPr lang="ar-DZ" b="1" dirty="0" smtClean="0">
                <a:solidFill>
                  <a:srgbClr val="0070C0"/>
                </a:solidFill>
                <a:cs typeface="+mj-cs"/>
              </a:rPr>
              <a:t>بــرامــج الـحـــمـــايــــة 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الــضَــرُورِيَــة </a:t>
            </a:r>
            <a:r>
              <a:rPr lang="ar-DZ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</a:t>
            </a:r>
            <a:r>
              <a:rPr lang="ar-DZ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412776"/>
            <a:ext cx="10814992" cy="495706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 rtl="1">
              <a:buNone/>
            </a:pPr>
            <a:endParaRPr lang="ar-DZ" sz="500" baseline="-25000" dirty="0" smtClean="0"/>
          </a:p>
          <a:p>
            <a:pPr marL="0" indent="0" algn="ctr" rtl="1">
              <a:lnSpc>
                <a:spcPct val="200000"/>
              </a:lnSpc>
              <a:buNone/>
            </a:pPr>
            <a:r>
              <a:rPr lang="ar-DZ" sz="4000" baseline="-25000" dirty="0" smtClean="0"/>
              <a:t>.......................................................................................................... </a:t>
            </a:r>
            <a:r>
              <a:rPr lang="ar-DZ" sz="4000" baseline="-25000" dirty="0"/>
              <a:t>..........................................................................................................</a:t>
            </a:r>
            <a:r>
              <a:rPr lang="ar-DZ" sz="4000" b="1" dirty="0"/>
              <a:t> </a:t>
            </a:r>
            <a:r>
              <a:rPr lang="ar-DZ" sz="4000" baseline="-25000" dirty="0"/>
              <a:t>..........................................................................................................</a:t>
            </a:r>
            <a:r>
              <a:rPr lang="ar-DZ" sz="4000" b="1" dirty="0"/>
              <a:t> </a:t>
            </a:r>
            <a:endParaRPr lang="ar-DZ" sz="4000" b="1" dirty="0" smtClean="0"/>
          </a:p>
          <a:p>
            <a:pPr marL="0" indent="0" algn="r" rtl="1">
              <a:lnSpc>
                <a:spcPct val="20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مَــعَ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aseline="-25000" dirty="0" smtClean="0"/>
              <a:t>.......................................</a:t>
            </a:r>
            <a:r>
              <a:rPr lang="ar-DZ" sz="4000" b="1" dirty="0" smtClean="0"/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تـلـك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الــبـــرامـــج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بـانــتــظــام</a:t>
            </a:r>
            <a:endParaRPr lang="fr-FR" sz="40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1343472" y="1876491"/>
            <a:ext cx="92890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مُــضَــاد الـفــيـــروســــات                </a:t>
            </a:r>
            <a:r>
              <a:rPr lang="fr-FR" sz="4000" b="1" dirty="0" smtClean="0">
                <a:solidFill>
                  <a:srgbClr val="0070C0"/>
                </a:solidFill>
              </a:rPr>
              <a:t>Antivirus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endParaRPr lang="fr-FR" sz="4000" b="1" dirty="0">
              <a:solidFill>
                <a:srgbClr val="0070C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343472" y="2996952"/>
            <a:ext cx="92890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/>
            <a:r>
              <a:rPr lang="ar-DZ" sz="4000" b="1" dirty="0">
                <a:solidFill>
                  <a:srgbClr val="0070C0"/>
                </a:solidFill>
                <a:cs typeface="Times New Roman" panose="02020603050405020304" pitchFamily="18" charset="0"/>
              </a:rPr>
              <a:t>.............................                        </a:t>
            </a:r>
            <a:r>
              <a:rPr lang="fr-FR" sz="4000" b="1" dirty="0">
                <a:solidFill>
                  <a:srgbClr val="0070C0"/>
                </a:solidFill>
                <a:cs typeface="+mj-cs"/>
              </a:rPr>
              <a:t>Firewall</a:t>
            </a:r>
            <a:r>
              <a:rPr lang="ar-DZ" sz="4000" b="1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343472" y="4077072"/>
            <a:ext cx="92890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/>
            <a:r>
              <a:rPr lang="ar-DZ" sz="4000" b="1" dirty="0">
                <a:solidFill>
                  <a:srgbClr val="0070C0"/>
                </a:solidFill>
                <a:cs typeface="Times New Roman" panose="02020603050405020304" pitchFamily="18" charset="0"/>
              </a:rPr>
              <a:t>............................................    </a:t>
            </a:r>
            <a:r>
              <a:rPr lang="fr-FR" sz="4000" b="1" dirty="0">
                <a:solidFill>
                  <a:srgbClr val="0070C0"/>
                </a:solidFill>
                <a:cs typeface="+mj-cs"/>
              </a:rPr>
              <a:t>USB </a:t>
            </a:r>
            <a:r>
              <a:rPr lang="fr-FR" sz="4000" b="1" dirty="0" err="1">
                <a:solidFill>
                  <a:srgbClr val="0070C0"/>
                </a:solidFill>
                <a:cs typeface="+mj-cs"/>
              </a:rPr>
              <a:t>Guard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816080" y="5148518"/>
            <a:ext cx="294438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.................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84450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10" grpId="0" animBg="1"/>
      <p:bldP spid="11" grpId="0" animBg="1"/>
      <p:bldP spid="12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تــنــصــيــب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</a:t>
            </a:r>
            <a:r>
              <a:rPr lang="ar-DZ" b="1" dirty="0" smtClean="0">
                <a:solidFill>
                  <a:srgbClr val="0070C0"/>
                </a:solidFill>
                <a:cs typeface="+mj-cs"/>
              </a:rPr>
              <a:t>بــرامــج الـحـــمـــايــــة 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الــضَــرُورِيَــة </a:t>
            </a:r>
            <a:r>
              <a:rPr lang="ar-DZ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</a:t>
            </a:r>
            <a:r>
              <a:rPr lang="ar-DZ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412776"/>
            <a:ext cx="10814992" cy="495706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 rtl="1">
              <a:buNone/>
            </a:pPr>
            <a:endParaRPr lang="ar-DZ" sz="500" baseline="-25000" dirty="0" smtClean="0"/>
          </a:p>
          <a:p>
            <a:pPr marL="0" indent="0" algn="ctr" rtl="1">
              <a:lnSpc>
                <a:spcPct val="200000"/>
              </a:lnSpc>
              <a:buNone/>
            </a:pPr>
            <a:r>
              <a:rPr lang="ar-DZ" sz="4000" baseline="-25000" dirty="0" smtClean="0"/>
              <a:t>.......................................................................................................... </a:t>
            </a:r>
            <a:r>
              <a:rPr lang="ar-DZ" sz="4000" baseline="-25000" dirty="0"/>
              <a:t>..........................................................................................................</a:t>
            </a:r>
            <a:r>
              <a:rPr lang="ar-DZ" sz="4000" b="1" dirty="0"/>
              <a:t> </a:t>
            </a:r>
            <a:r>
              <a:rPr lang="ar-DZ" sz="4000" baseline="-25000" dirty="0"/>
              <a:t>..........................................................................................................</a:t>
            </a:r>
            <a:r>
              <a:rPr lang="ar-DZ" sz="4000" b="1" dirty="0"/>
              <a:t> </a:t>
            </a:r>
            <a:endParaRPr lang="ar-DZ" sz="4000" b="1" dirty="0" smtClean="0"/>
          </a:p>
          <a:p>
            <a:pPr marL="0" indent="0" algn="r" rtl="1">
              <a:lnSpc>
                <a:spcPct val="20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مَــعَ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aseline="-25000" dirty="0" smtClean="0"/>
              <a:t>.......................................</a:t>
            </a:r>
            <a:r>
              <a:rPr lang="ar-DZ" sz="4000" b="1" dirty="0" smtClean="0"/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تـلـك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الــبـــرامـــج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بـانــتــظــام</a:t>
            </a:r>
            <a:endParaRPr lang="fr-FR" sz="40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1343472" y="1876491"/>
            <a:ext cx="92890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مُــضَــاد الـفــيـــروســــات                </a:t>
            </a:r>
            <a:r>
              <a:rPr lang="fr-FR" sz="4000" b="1" dirty="0" smtClean="0">
                <a:solidFill>
                  <a:srgbClr val="0070C0"/>
                </a:solidFill>
              </a:rPr>
              <a:t>Antivirus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endParaRPr lang="fr-FR" sz="4000" b="1" dirty="0">
              <a:solidFill>
                <a:srgbClr val="0070C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343472" y="2996952"/>
            <a:ext cx="92890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الـجِـــــدَار الــنَــــارِي                        </a:t>
            </a:r>
            <a:r>
              <a:rPr lang="fr-FR" sz="4000" b="1" dirty="0" smtClean="0">
                <a:solidFill>
                  <a:srgbClr val="0070C0"/>
                </a:solidFill>
              </a:rPr>
              <a:t>Firewall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endParaRPr lang="fr-FR" sz="4000" b="1" dirty="0">
              <a:solidFill>
                <a:srgbClr val="0070C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343472" y="4077072"/>
            <a:ext cx="92890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/>
            <a:r>
              <a:rPr lang="ar-DZ" sz="4000" b="1" dirty="0">
                <a:solidFill>
                  <a:srgbClr val="0070C0"/>
                </a:solidFill>
                <a:cs typeface="Times New Roman" panose="02020603050405020304" pitchFamily="18" charset="0"/>
              </a:rPr>
              <a:t>............................................    </a:t>
            </a:r>
            <a:r>
              <a:rPr lang="fr-FR" sz="4000" b="1" dirty="0">
                <a:solidFill>
                  <a:srgbClr val="0070C0"/>
                </a:solidFill>
                <a:cs typeface="+mj-cs"/>
              </a:rPr>
              <a:t>USB </a:t>
            </a:r>
            <a:r>
              <a:rPr lang="fr-FR" sz="4000" b="1" dirty="0" err="1">
                <a:solidFill>
                  <a:srgbClr val="0070C0"/>
                </a:solidFill>
                <a:cs typeface="+mj-cs"/>
              </a:rPr>
              <a:t>Guard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816080" y="5148518"/>
            <a:ext cx="294438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.................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22522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10" grpId="0" animBg="1"/>
      <p:bldP spid="11" grpId="0" animBg="1"/>
      <p:bldP spid="12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3600" b="1" dirty="0">
                <a:solidFill>
                  <a:srgbClr val="FF0000"/>
                </a:solidFill>
              </a:rPr>
              <a:t>حــمــايــة الـحــاســوب يــتــطــلــب بــرامـج الـحــمــايــة :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43" y="4158435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stCxn id="2" idx="2"/>
          </p:cNvCxnSpPr>
          <p:nvPr/>
        </p:nvCxnSpPr>
        <p:spPr>
          <a:xfrm flipH="1">
            <a:off x="2135560" y="1124744"/>
            <a:ext cx="3881536" cy="24758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stCxn id="2" idx="2"/>
          </p:cNvCxnSpPr>
          <p:nvPr/>
        </p:nvCxnSpPr>
        <p:spPr>
          <a:xfrm>
            <a:off x="6017096" y="1124744"/>
            <a:ext cx="3823320" cy="24758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3352800" y="4758116"/>
            <a:ext cx="5328592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sz="3900" b="1" dirty="0" smtClean="0">
                <a:solidFill>
                  <a:srgbClr val="0070C0"/>
                </a:solidFill>
                <a:cs typeface="+mj-cs"/>
              </a:rPr>
              <a:t>Antivirus</a:t>
            </a:r>
            <a:endParaRPr lang="fr-FR" sz="3900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7993358" y="3600643"/>
            <a:ext cx="3528392" cy="1243966"/>
          </a:xfrm>
          <a:prstGeom prst="cloud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en-US" sz="3400" b="1" dirty="0" smtClean="0">
                <a:solidFill>
                  <a:srgbClr val="FF0000"/>
                </a:solidFill>
                <a:cs typeface="+mj-cs"/>
              </a:rPr>
              <a:t>Firewall</a:t>
            </a:r>
            <a:endParaRPr lang="en-US" sz="3400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2" name="Espace réservé du contenu 21"/>
          <p:cNvSpPr txBox="1">
            <a:spLocks/>
          </p:cNvSpPr>
          <p:nvPr/>
        </p:nvSpPr>
        <p:spPr>
          <a:xfrm>
            <a:off x="523158" y="3638303"/>
            <a:ext cx="3162814" cy="151094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b="1" dirty="0" smtClean="0">
                <a:solidFill>
                  <a:srgbClr val="0070C0"/>
                </a:solidFill>
                <a:cs typeface="+mj-cs"/>
              </a:rPr>
              <a:t>USB </a:t>
            </a:r>
            <a:r>
              <a:rPr lang="en-US" b="1" dirty="0" smtClean="0">
                <a:solidFill>
                  <a:srgbClr val="0070C0"/>
                </a:solidFill>
                <a:cs typeface="+mj-cs"/>
              </a:rPr>
              <a:t>Guard</a:t>
            </a:r>
            <a:endParaRPr lang="en-US" dirty="0">
              <a:cs typeface="+mj-cs"/>
            </a:endParaRPr>
          </a:p>
        </p:txBody>
      </p:sp>
      <p:cxnSp>
        <p:nvCxnSpPr>
          <p:cNvPr id="18" name="Connecteur droit avec flèche 17"/>
          <p:cNvCxnSpPr>
            <a:stCxn id="2" idx="2"/>
            <a:endCxn id="17" idx="3"/>
          </p:cNvCxnSpPr>
          <p:nvPr/>
        </p:nvCxnSpPr>
        <p:spPr>
          <a:xfrm>
            <a:off x="6017096" y="1124744"/>
            <a:ext cx="0" cy="37205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Imag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158" y="332146"/>
            <a:ext cx="10901434" cy="6265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604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7" grpId="0" animBg="1"/>
      <p:bldP spid="31" grpId="0" animBg="1"/>
      <p:bldP spid="32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تــنــصــيــب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</a:t>
            </a:r>
            <a:r>
              <a:rPr lang="ar-DZ" b="1" dirty="0" smtClean="0">
                <a:solidFill>
                  <a:srgbClr val="0070C0"/>
                </a:solidFill>
                <a:cs typeface="+mj-cs"/>
              </a:rPr>
              <a:t>بــرامــج الـحـــمـــايــــة 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الــضَــرُورِيَــة </a:t>
            </a:r>
            <a:r>
              <a:rPr lang="ar-DZ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</a:t>
            </a:r>
            <a:r>
              <a:rPr lang="ar-DZ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412776"/>
            <a:ext cx="10814992" cy="495706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 rtl="1">
              <a:buNone/>
            </a:pPr>
            <a:endParaRPr lang="ar-DZ" sz="500" baseline="-25000" dirty="0" smtClean="0"/>
          </a:p>
          <a:p>
            <a:pPr marL="0" indent="0" algn="ctr" rtl="1">
              <a:lnSpc>
                <a:spcPct val="200000"/>
              </a:lnSpc>
              <a:buNone/>
            </a:pPr>
            <a:r>
              <a:rPr lang="ar-DZ" sz="4000" baseline="-25000" dirty="0" smtClean="0"/>
              <a:t>.......................................................................................................... </a:t>
            </a:r>
            <a:r>
              <a:rPr lang="ar-DZ" sz="4000" baseline="-25000" dirty="0"/>
              <a:t>..........................................................................................................</a:t>
            </a:r>
            <a:r>
              <a:rPr lang="ar-DZ" sz="4000" b="1" dirty="0"/>
              <a:t> </a:t>
            </a:r>
            <a:r>
              <a:rPr lang="ar-DZ" sz="4000" baseline="-25000" dirty="0"/>
              <a:t>..........................................................................................................</a:t>
            </a:r>
            <a:r>
              <a:rPr lang="ar-DZ" sz="4000" b="1" dirty="0"/>
              <a:t> </a:t>
            </a:r>
            <a:endParaRPr lang="ar-DZ" sz="4000" b="1" dirty="0" smtClean="0"/>
          </a:p>
          <a:p>
            <a:pPr marL="0" indent="0" algn="r" rtl="1">
              <a:lnSpc>
                <a:spcPct val="20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مَــعَ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aseline="-25000" dirty="0" smtClean="0"/>
              <a:t>.......................................</a:t>
            </a:r>
            <a:r>
              <a:rPr lang="ar-DZ" sz="4000" b="1" dirty="0" smtClean="0"/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تـلـك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الــبـــرامـــج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بـانــتــظــام</a:t>
            </a:r>
            <a:endParaRPr lang="fr-FR" sz="40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1343472" y="1876491"/>
            <a:ext cx="92890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مُــضَــاد الـفــيـــروســــات                </a:t>
            </a:r>
            <a:r>
              <a:rPr lang="fr-FR" sz="4000" b="1" dirty="0" smtClean="0">
                <a:solidFill>
                  <a:srgbClr val="0070C0"/>
                </a:solidFill>
              </a:rPr>
              <a:t>Antivirus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endParaRPr lang="fr-FR" sz="4000" b="1" dirty="0">
              <a:solidFill>
                <a:srgbClr val="0070C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343472" y="2996952"/>
            <a:ext cx="92890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الـجِـــــدَار الــنَــــارِي                        </a:t>
            </a:r>
            <a:r>
              <a:rPr lang="fr-FR" sz="4000" b="1" dirty="0" smtClean="0">
                <a:solidFill>
                  <a:srgbClr val="0070C0"/>
                </a:solidFill>
              </a:rPr>
              <a:t>Firewall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endParaRPr lang="fr-FR" sz="4000" b="1" dirty="0">
              <a:solidFill>
                <a:srgbClr val="0070C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343472" y="4077072"/>
            <a:ext cx="92890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/>
            <a:r>
              <a:rPr lang="ar-DZ" sz="4000" b="1" dirty="0">
                <a:solidFill>
                  <a:srgbClr val="0070C0"/>
                </a:solidFill>
                <a:cs typeface="Times New Roman" panose="02020603050405020304" pitchFamily="18" charset="0"/>
              </a:rPr>
              <a:t>............................................    </a:t>
            </a:r>
            <a:r>
              <a:rPr lang="fr-FR" sz="4000" b="1" dirty="0">
                <a:solidFill>
                  <a:srgbClr val="0070C0"/>
                </a:solidFill>
                <a:cs typeface="+mj-cs"/>
              </a:rPr>
              <a:t>USB </a:t>
            </a:r>
            <a:r>
              <a:rPr lang="fr-FR" sz="4000" b="1" dirty="0" err="1">
                <a:solidFill>
                  <a:srgbClr val="0070C0"/>
                </a:solidFill>
                <a:cs typeface="+mj-cs"/>
              </a:rPr>
              <a:t>Guard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816080" y="5148518"/>
            <a:ext cx="294438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.................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53296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10" grpId="0" animBg="1"/>
      <p:bldP spid="11" grpId="0" animBg="1"/>
      <p:bldP spid="12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تــنــصــيــب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</a:t>
            </a:r>
            <a:r>
              <a:rPr lang="ar-DZ" b="1" dirty="0" smtClean="0">
                <a:solidFill>
                  <a:srgbClr val="0070C0"/>
                </a:solidFill>
                <a:cs typeface="+mj-cs"/>
              </a:rPr>
              <a:t>بــرامــج الـحـــمـــايــــة 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الــضَــرُورِيَــة </a:t>
            </a:r>
            <a:r>
              <a:rPr lang="ar-DZ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</a:t>
            </a:r>
            <a:r>
              <a:rPr lang="ar-DZ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412776"/>
            <a:ext cx="10814992" cy="495706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 rtl="1">
              <a:buNone/>
            </a:pPr>
            <a:endParaRPr lang="ar-DZ" sz="500" baseline="-25000" dirty="0" smtClean="0"/>
          </a:p>
          <a:p>
            <a:pPr marL="0" indent="0" algn="ctr" rtl="1">
              <a:lnSpc>
                <a:spcPct val="200000"/>
              </a:lnSpc>
              <a:buNone/>
            </a:pPr>
            <a:r>
              <a:rPr lang="ar-DZ" sz="4000" baseline="-25000" dirty="0" smtClean="0"/>
              <a:t>.......................................................................................................... </a:t>
            </a:r>
            <a:r>
              <a:rPr lang="ar-DZ" sz="4000" baseline="-25000" dirty="0"/>
              <a:t>..........................................................................................................</a:t>
            </a:r>
            <a:r>
              <a:rPr lang="ar-DZ" sz="4000" b="1" dirty="0"/>
              <a:t> </a:t>
            </a:r>
            <a:r>
              <a:rPr lang="ar-DZ" sz="4000" baseline="-25000" dirty="0"/>
              <a:t>..........................................................................................................</a:t>
            </a:r>
            <a:r>
              <a:rPr lang="ar-DZ" sz="4000" b="1" dirty="0"/>
              <a:t> </a:t>
            </a:r>
            <a:endParaRPr lang="ar-DZ" sz="4000" b="1" dirty="0" smtClean="0"/>
          </a:p>
          <a:p>
            <a:pPr marL="0" indent="0" algn="r" rtl="1">
              <a:lnSpc>
                <a:spcPct val="20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مَــعَ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aseline="-25000" dirty="0" smtClean="0"/>
              <a:t>.......................................</a:t>
            </a:r>
            <a:r>
              <a:rPr lang="ar-DZ" sz="4000" b="1" dirty="0" smtClean="0"/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تـلـك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الــبـــرامـــج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بـانــتــظــام</a:t>
            </a:r>
            <a:endParaRPr lang="fr-FR" sz="40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1343472" y="1876491"/>
            <a:ext cx="92890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مُــضَــاد الـفــيـــروســــات                </a:t>
            </a:r>
            <a:r>
              <a:rPr lang="fr-FR" sz="4000" b="1" dirty="0" smtClean="0">
                <a:solidFill>
                  <a:srgbClr val="0070C0"/>
                </a:solidFill>
              </a:rPr>
              <a:t>Antivirus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endParaRPr lang="fr-FR" sz="4000" b="1" dirty="0">
              <a:solidFill>
                <a:srgbClr val="0070C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343472" y="2996952"/>
            <a:ext cx="92890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الـجِـــــدَار الــنَــــارِي                        </a:t>
            </a:r>
            <a:r>
              <a:rPr lang="fr-FR" sz="4000" b="1" dirty="0" smtClean="0">
                <a:solidFill>
                  <a:srgbClr val="0070C0"/>
                </a:solidFill>
              </a:rPr>
              <a:t>Firewall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endParaRPr lang="fr-FR" sz="4000" b="1" dirty="0">
              <a:solidFill>
                <a:srgbClr val="0070C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343472" y="4077072"/>
            <a:ext cx="92890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بـرنـامـج مـراقـبـة ذاكــرة الـفــلاش    </a:t>
            </a:r>
            <a:r>
              <a:rPr lang="fr-FR" sz="4000" b="1" dirty="0" smtClean="0">
                <a:solidFill>
                  <a:srgbClr val="0070C0"/>
                </a:solidFill>
              </a:rPr>
              <a:t>USB </a:t>
            </a:r>
            <a:r>
              <a:rPr lang="fr-FR" sz="4000" b="1" dirty="0" err="1" smtClean="0">
                <a:solidFill>
                  <a:srgbClr val="0070C0"/>
                </a:solidFill>
              </a:rPr>
              <a:t>Guard</a:t>
            </a:r>
            <a:endParaRPr lang="fr-FR" sz="4000" b="1" dirty="0">
              <a:solidFill>
                <a:srgbClr val="0070C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816080" y="5148518"/>
            <a:ext cx="294438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.................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60211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10" grpId="0" animBg="1"/>
      <p:bldP spid="11" grpId="0" animBg="1"/>
      <p:bldP spid="12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3600" b="1" dirty="0">
                <a:solidFill>
                  <a:srgbClr val="FF0000"/>
                </a:solidFill>
              </a:rPr>
              <a:t>حــمــايــة الـحــاســوب يــتــطــلــب بــرامـج الـحــمــايــة :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43" y="4158435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stCxn id="2" idx="2"/>
          </p:cNvCxnSpPr>
          <p:nvPr/>
        </p:nvCxnSpPr>
        <p:spPr>
          <a:xfrm flipH="1">
            <a:off x="2135560" y="1124744"/>
            <a:ext cx="3881536" cy="24758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stCxn id="2" idx="2"/>
          </p:cNvCxnSpPr>
          <p:nvPr/>
        </p:nvCxnSpPr>
        <p:spPr>
          <a:xfrm>
            <a:off x="6017096" y="1124744"/>
            <a:ext cx="3823320" cy="24758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3352800" y="4758116"/>
            <a:ext cx="5328592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sz="3900" b="1" dirty="0" smtClean="0">
                <a:solidFill>
                  <a:srgbClr val="0070C0"/>
                </a:solidFill>
                <a:cs typeface="+mj-cs"/>
              </a:rPr>
              <a:t>Antivirus</a:t>
            </a:r>
            <a:endParaRPr lang="fr-FR" sz="3900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7993358" y="3600643"/>
            <a:ext cx="3528392" cy="124396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en-US" sz="3400" b="1" dirty="0" smtClean="0">
                <a:solidFill>
                  <a:srgbClr val="0070C0"/>
                </a:solidFill>
                <a:cs typeface="+mj-cs"/>
              </a:rPr>
              <a:t>Firewall</a:t>
            </a:r>
            <a:endParaRPr lang="en-US" sz="3400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32" name="Espace réservé du contenu 21"/>
          <p:cNvSpPr txBox="1">
            <a:spLocks/>
          </p:cNvSpPr>
          <p:nvPr/>
        </p:nvSpPr>
        <p:spPr>
          <a:xfrm>
            <a:off x="523158" y="3638303"/>
            <a:ext cx="3162814" cy="1510940"/>
          </a:xfrm>
          <a:prstGeom prst="cloud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b="1" dirty="0" smtClean="0">
                <a:solidFill>
                  <a:srgbClr val="FF0000"/>
                </a:solidFill>
                <a:cs typeface="+mj-cs"/>
              </a:rPr>
              <a:t>USB </a:t>
            </a:r>
            <a:r>
              <a:rPr lang="en-US" b="1" dirty="0" smtClean="0">
                <a:solidFill>
                  <a:srgbClr val="FF0000"/>
                </a:solidFill>
                <a:cs typeface="+mj-cs"/>
              </a:rPr>
              <a:t>Guard</a:t>
            </a:r>
            <a:endParaRPr lang="en-US" dirty="0">
              <a:solidFill>
                <a:srgbClr val="FF0000"/>
              </a:solidFill>
              <a:cs typeface="+mj-cs"/>
            </a:endParaRPr>
          </a:p>
        </p:txBody>
      </p:sp>
      <p:cxnSp>
        <p:nvCxnSpPr>
          <p:cNvPr id="18" name="Connecteur droit avec flèche 17"/>
          <p:cNvCxnSpPr>
            <a:stCxn id="2" idx="2"/>
            <a:endCxn id="17" idx="3"/>
          </p:cNvCxnSpPr>
          <p:nvPr/>
        </p:nvCxnSpPr>
        <p:spPr>
          <a:xfrm>
            <a:off x="6017096" y="1124744"/>
            <a:ext cx="0" cy="37205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Imag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60" y="193016"/>
            <a:ext cx="11377264" cy="6528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905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7" grpId="0" animBg="1"/>
      <p:bldP spid="31" grpId="0" animBg="1"/>
      <p:bldP spid="32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تــنــصــيــب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</a:t>
            </a:r>
            <a:r>
              <a:rPr lang="ar-DZ" b="1" dirty="0" smtClean="0">
                <a:solidFill>
                  <a:srgbClr val="0070C0"/>
                </a:solidFill>
                <a:cs typeface="+mj-cs"/>
              </a:rPr>
              <a:t>بــرامــج الـحـــمـــايــــة 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الــضَــرُورِيَــة </a:t>
            </a:r>
            <a:r>
              <a:rPr lang="ar-DZ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</a:t>
            </a:r>
            <a:r>
              <a:rPr lang="ar-DZ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412776"/>
            <a:ext cx="10814992" cy="495706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 rtl="1">
              <a:buNone/>
            </a:pPr>
            <a:endParaRPr lang="ar-DZ" sz="500" baseline="-25000" dirty="0" smtClean="0"/>
          </a:p>
          <a:p>
            <a:pPr marL="0" indent="0" algn="ctr" rtl="1">
              <a:lnSpc>
                <a:spcPct val="200000"/>
              </a:lnSpc>
              <a:buNone/>
            </a:pPr>
            <a:r>
              <a:rPr lang="ar-DZ" sz="4000" baseline="-25000" dirty="0" smtClean="0"/>
              <a:t>.......................................................................................................... </a:t>
            </a:r>
            <a:r>
              <a:rPr lang="ar-DZ" sz="4000" baseline="-25000" dirty="0"/>
              <a:t>..........................................................................................................</a:t>
            </a:r>
            <a:r>
              <a:rPr lang="ar-DZ" sz="4000" b="1" dirty="0"/>
              <a:t> </a:t>
            </a:r>
            <a:r>
              <a:rPr lang="ar-DZ" sz="4000" baseline="-25000" dirty="0"/>
              <a:t>..........................................................................................................</a:t>
            </a:r>
            <a:r>
              <a:rPr lang="ar-DZ" sz="4000" b="1" dirty="0"/>
              <a:t> </a:t>
            </a:r>
            <a:endParaRPr lang="ar-DZ" sz="4000" b="1" dirty="0" smtClean="0"/>
          </a:p>
          <a:p>
            <a:pPr marL="0" indent="0" algn="r" rtl="1">
              <a:lnSpc>
                <a:spcPct val="20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مَــعَ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aseline="-25000" dirty="0" smtClean="0"/>
              <a:t>.......................................</a:t>
            </a:r>
            <a:r>
              <a:rPr lang="ar-DZ" sz="4000" b="1" dirty="0" smtClean="0"/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تـلـك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الــبـــرامـــج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بـانــتــظــام</a:t>
            </a:r>
            <a:endParaRPr lang="fr-FR" sz="40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1343472" y="1876491"/>
            <a:ext cx="92890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مُــضَــاد الـفــيـــروســــات                </a:t>
            </a:r>
            <a:r>
              <a:rPr lang="fr-FR" sz="4000" b="1" dirty="0" smtClean="0">
                <a:solidFill>
                  <a:srgbClr val="0070C0"/>
                </a:solidFill>
              </a:rPr>
              <a:t>Antivirus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endParaRPr lang="fr-FR" sz="4000" b="1" dirty="0">
              <a:solidFill>
                <a:srgbClr val="0070C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343472" y="2996952"/>
            <a:ext cx="92890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الـجِـــــدَار الــنَــــارِي                        </a:t>
            </a:r>
            <a:r>
              <a:rPr lang="fr-FR" sz="4000" b="1" dirty="0" smtClean="0">
                <a:solidFill>
                  <a:srgbClr val="0070C0"/>
                </a:solidFill>
              </a:rPr>
              <a:t>Firewall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endParaRPr lang="fr-FR" sz="4000" b="1" dirty="0">
              <a:solidFill>
                <a:srgbClr val="0070C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343472" y="4077072"/>
            <a:ext cx="92890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بـرنـامـج مـراقـبـة ذاكــرة الـفــلاش    </a:t>
            </a:r>
            <a:r>
              <a:rPr lang="fr-FR" sz="4000" b="1" dirty="0" smtClean="0">
                <a:solidFill>
                  <a:srgbClr val="0070C0"/>
                </a:solidFill>
              </a:rPr>
              <a:t>USB </a:t>
            </a:r>
            <a:r>
              <a:rPr lang="fr-FR" sz="4000" b="1" dirty="0" err="1" smtClean="0">
                <a:solidFill>
                  <a:srgbClr val="0070C0"/>
                </a:solidFill>
              </a:rPr>
              <a:t>Guard</a:t>
            </a:r>
            <a:endParaRPr lang="fr-FR" sz="4000" b="1" dirty="0">
              <a:solidFill>
                <a:srgbClr val="0070C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816080" y="5148518"/>
            <a:ext cx="294438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.................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8334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10" grpId="0" animBg="1"/>
      <p:bldP spid="11" grpId="0" animBg="1"/>
      <p:bldP spid="12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تــنــصــيــب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</a:t>
            </a:r>
            <a:r>
              <a:rPr lang="ar-DZ" b="1" dirty="0" smtClean="0">
                <a:solidFill>
                  <a:srgbClr val="0070C0"/>
                </a:solidFill>
                <a:cs typeface="+mj-cs"/>
              </a:rPr>
              <a:t>بــرامــج الـحـــمـــايــــة 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الــضَــرُورِيَــة </a:t>
            </a:r>
            <a:r>
              <a:rPr lang="ar-DZ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</a:t>
            </a:r>
            <a:r>
              <a:rPr lang="ar-DZ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412776"/>
            <a:ext cx="10814992" cy="495706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 rtl="1">
              <a:buNone/>
            </a:pPr>
            <a:endParaRPr lang="ar-DZ" sz="500" baseline="-25000" dirty="0" smtClean="0"/>
          </a:p>
          <a:p>
            <a:pPr marL="0" indent="0" algn="ctr" rtl="1">
              <a:lnSpc>
                <a:spcPct val="200000"/>
              </a:lnSpc>
              <a:buNone/>
            </a:pPr>
            <a:r>
              <a:rPr lang="ar-DZ" sz="4000" baseline="-25000" dirty="0" smtClean="0"/>
              <a:t>.......................................................................................................... </a:t>
            </a:r>
            <a:r>
              <a:rPr lang="ar-DZ" sz="4000" baseline="-25000" dirty="0"/>
              <a:t>..........................................................................................................</a:t>
            </a:r>
            <a:r>
              <a:rPr lang="ar-DZ" sz="4000" b="1" dirty="0"/>
              <a:t> </a:t>
            </a:r>
            <a:r>
              <a:rPr lang="ar-DZ" sz="4000" baseline="-25000" dirty="0"/>
              <a:t>..........................................................................................................</a:t>
            </a:r>
            <a:r>
              <a:rPr lang="ar-DZ" sz="4000" b="1" dirty="0"/>
              <a:t> </a:t>
            </a:r>
            <a:endParaRPr lang="ar-DZ" sz="4000" b="1" dirty="0" smtClean="0"/>
          </a:p>
          <a:p>
            <a:pPr marL="0" indent="0" algn="r" rtl="1">
              <a:lnSpc>
                <a:spcPct val="20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مَــعَ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aseline="-25000" dirty="0" smtClean="0"/>
              <a:t>.......................................</a:t>
            </a:r>
            <a:r>
              <a:rPr lang="ar-DZ" sz="4000" b="1" dirty="0" smtClean="0"/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تـلـك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الــبـــرامـــج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بـانــتــظــام</a:t>
            </a:r>
            <a:endParaRPr lang="fr-FR" sz="40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1343472" y="1876491"/>
            <a:ext cx="92890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مُــضَــاد الـفــيـــروســــات                </a:t>
            </a:r>
            <a:r>
              <a:rPr lang="fr-FR" sz="4000" b="1" dirty="0" smtClean="0">
                <a:solidFill>
                  <a:srgbClr val="0070C0"/>
                </a:solidFill>
              </a:rPr>
              <a:t>Antivirus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endParaRPr lang="fr-FR" sz="4000" b="1" dirty="0">
              <a:solidFill>
                <a:srgbClr val="0070C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343472" y="2996952"/>
            <a:ext cx="92890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الـجِـــــدَار الــنَــــارِي                        </a:t>
            </a:r>
            <a:r>
              <a:rPr lang="fr-FR" sz="4000" b="1" dirty="0" smtClean="0">
                <a:solidFill>
                  <a:srgbClr val="0070C0"/>
                </a:solidFill>
              </a:rPr>
              <a:t>Firewall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endParaRPr lang="fr-FR" sz="4000" b="1" dirty="0">
              <a:solidFill>
                <a:srgbClr val="0070C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343472" y="4077072"/>
            <a:ext cx="92890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بـرنـامـج مـراقـبـة ذاكــرة الـفــلاش    </a:t>
            </a:r>
            <a:r>
              <a:rPr lang="fr-FR" sz="4000" b="1" dirty="0" smtClean="0">
                <a:solidFill>
                  <a:srgbClr val="0070C0"/>
                </a:solidFill>
              </a:rPr>
              <a:t>USB </a:t>
            </a:r>
            <a:r>
              <a:rPr lang="fr-FR" sz="4000" b="1" dirty="0" err="1" smtClean="0">
                <a:solidFill>
                  <a:srgbClr val="0070C0"/>
                </a:solidFill>
              </a:rPr>
              <a:t>Guard</a:t>
            </a:r>
            <a:endParaRPr lang="fr-FR" sz="4000" b="1" dirty="0">
              <a:solidFill>
                <a:srgbClr val="0070C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16080" y="5157192"/>
            <a:ext cx="294438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تَــحْــدِيــثِ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94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10" grpId="0" animBg="1"/>
      <p:bldP spid="11" grpId="0" animBg="1"/>
      <p:bldP spid="9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هـل تَــزْوِيــدُ الـحـاســوب بـبـرامـج الـحــمــايــة كـافــيـا ؟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3544440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</a:t>
            </a:r>
            <a:endParaRPr lang="fr-FR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بــرامـج الـحــمــايــة تــتــطــلــب : 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544440"/>
            <a:ext cx="412858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</a:t>
            </a:r>
            <a:endParaRPr lang="fr-FR" sz="36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742004" y="2492896"/>
            <a:ext cx="1055994" cy="14484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6168008" y="2477137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7752184" y="4771116"/>
            <a:ext cx="3528392" cy="1250855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</a:t>
            </a:r>
            <a:endParaRPr lang="fr-FR" sz="3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1" name="Espace réservé du contenu 21"/>
          <p:cNvSpPr txBox="1">
            <a:spLocks/>
          </p:cNvSpPr>
          <p:nvPr/>
        </p:nvSpPr>
        <p:spPr>
          <a:xfrm>
            <a:off x="506607" y="4511031"/>
            <a:ext cx="4797305" cy="208632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.........................</a:t>
            </a:r>
            <a:endParaRPr lang="fr-FR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95735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31" grpId="0" animBg="1"/>
      <p:bldP spid="11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هـل تَــزْوِيــدُ الـحـاســوب بـبـرامـج الـحــمــايــة كـافــيـا ؟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3544440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الـتـحـديـ</a:t>
            </a:r>
            <a:r>
              <a:rPr lang="ar-DZ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ث </a:t>
            </a:r>
            <a:r>
              <a:rPr lang="fr-FR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Mise </a:t>
            </a:r>
            <a:r>
              <a:rPr lang="ar-DZ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à</a:t>
            </a:r>
            <a:r>
              <a:rPr lang="fr-FR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Jour</a:t>
            </a:r>
            <a:endParaRPr lang="fr-FR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بــرامـج الـحــمــايــة تــتــطــلــب : 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544440"/>
            <a:ext cx="412858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الاســتــغــلال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Analyser </a:t>
            </a:r>
            <a:endParaRPr lang="fr-FR" sz="36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742004" y="2492896"/>
            <a:ext cx="1055994" cy="14484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6168008" y="2477137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7752184" y="4771116"/>
            <a:ext cx="3528392" cy="1250855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</a:t>
            </a:r>
            <a:endParaRPr lang="fr-FR" sz="3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1" name="Espace réservé du contenu 21"/>
          <p:cNvSpPr txBox="1">
            <a:spLocks/>
          </p:cNvSpPr>
          <p:nvPr/>
        </p:nvSpPr>
        <p:spPr>
          <a:xfrm>
            <a:off x="506607" y="4511031"/>
            <a:ext cx="4797305" cy="208632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.........................</a:t>
            </a:r>
            <a:endParaRPr lang="fr-FR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88315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31" grpId="0" animBg="1"/>
      <p:bldP spid="11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هـل تَــزْوِيــدُ الـحـاســوب بـبـرامـج الـحــمــايــة كـافــيـا ؟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3544440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الـتـحـديـ</a:t>
            </a:r>
            <a:r>
              <a:rPr lang="ar-DZ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ث </a:t>
            </a:r>
            <a:r>
              <a:rPr lang="fr-FR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Mise </a:t>
            </a:r>
            <a:r>
              <a:rPr lang="ar-DZ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à</a:t>
            </a:r>
            <a:r>
              <a:rPr lang="fr-FR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Jour</a:t>
            </a:r>
            <a:endParaRPr lang="fr-FR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بــرامـج الـحــمــايــة تــتــطــلــب : 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544440"/>
            <a:ext cx="412858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الاســتــغــلال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Analyser </a:t>
            </a:r>
            <a:endParaRPr lang="fr-FR" sz="36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742004" y="2492896"/>
            <a:ext cx="1055994" cy="14484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6168008" y="2477137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7752184" y="4771116"/>
            <a:ext cx="3528392" cy="1250855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لـتـحـســيــنـهـا</a:t>
            </a:r>
            <a:endParaRPr lang="fr-FR" sz="3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2" name="Espace réservé du contenu 21"/>
          <p:cNvSpPr txBox="1">
            <a:spLocks/>
          </p:cNvSpPr>
          <p:nvPr/>
        </p:nvSpPr>
        <p:spPr>
          <a:xfrm>
            <a:off x="506607" y="4511031"/>
            <a:ext cx="4797305" cy="208632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.........................</a:t>
            </a:r>
            <a:endParaRPr lang="fr-FR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73439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6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31" grpId="0" animBg="1"/>
      <p:bldP spid="32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هـل تَــزْوِيــدُ الـحـاســوب بـبـرامـج الـحــمــايــة كـافــيـا ؟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3544440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الـتـحـديـ</a:t>
            </a:r>
            <a:r>
              <a:rPr lang="ar-DZ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ث </a:t>
            </a:r>
            <a:r>
              <a:rPr lang="fr-FR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Mise </a:t>
            </a:r>
            <a:r>
              <a:rPr lang="ar-DZ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à</a:t>
            </a:r>
            <a:r>
              <a:rPr lang="fr-FR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Jour</a:t>
            </a:r>
            <a:endParaRPr lang="fr-FR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بــرامـج الـحــمــايــة تــتــطــلــب : 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544440"/>
            <a:ext cx="412858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الاســتــغــلال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Analyser </a:t>
            </a:r>
            <a:endParaRPr lang="fr-FR" sz="36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742004" y="2492896"/>
            <a:ext cx="1055994" cy="14484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6168008" y="2477137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7752184" y="4771116"/>
            <a:ext cx="3528392" cy="1250855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لـتـحـســيــنـهـا</a:t>
            </a:r>
            <a:endParaRPr lang="fr-FR" sz="3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2" name="Espace réservé du contenu 21"/>
          <p:cNvSpPr txBox="1">
            <a:spLocks/>
          </p:cNvSpPr>
          <p:nvPr/>
        </p:nvSpPr>
        <p:spPr>
          <a:xfrm>
            <a:off x="506607" y="4511031"/>
            <a:ext cx="4797305" cy="208632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خـــصــوصــا مـع الأقــراص الـمـنــقــولـة الـمـلـفــات الـمُـحَــمَّــلَــة</a:t>
            </a:r>
            <a:endParaRPr lang="fr-FR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62089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6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31" grpId="0" animBg="1"/>
      <p:bldP spid="32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</a:t>
            </a:r>
            <a:r>
              <a:rPr lang="ar-DZ" sz="4000" b="1" dirty="0" smtClean="0">
                <a:solidFill>
                  <a:srgbClr val="FF0000"/>
                </a:solidFill>
              </a:rPr>
              <a:t>الــوقـــايـــة </a:t>
            </a:r>
            <a:r>
              <a:rPr lang="ar-DZ" sz="4000" b="1" dirty="0">
                <a:solidFill>
                  <a:srgbClr val="FF0000"/>
                </a:solidFill>
              </a:rPr>
              <a:t>مـن  </a:t>
            </a:r>
            <a:r>
              <a:rPr lang="ar-DZ" sz="4000" b="1" dirty="0" smtClean="0">
                <a:solidFill>
                  <a:srgbClr val="FF0000"/>
                </a:solidFill>
              </a:rPr>
              <a:t>الــفــيـــروســــات –  تـــابــع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75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	</a:t>
            </a:r>
            <a:r>
              <a:rPr lang="ar-DZ" sz="4400" b="1" u="db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اســتـعــمــال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لا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سِــيَّــمَـا عــنــد الـوُلُـــوجِ إلـى الأقـــراص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والـمــلـفــات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مـن الأنـتـرنــت </a:t>
            </a:r>
            <a:endParaRPr lang="ar-DZ" sz="44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77399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</a:t>
            </a:r>
            <a:r>
              <a:rPr lang="ar-DZ" sz="4000" b="1" dirty="0" smtClean="0">
                <a:solidFill>
                  <a:srgbClr val="FF0000"/>
                </a:solidFill>
              </a:rPr>
              <a:t>الــوقـــايـــة </a:t>
            </a:r>
            <a:r>
              <a:rPr lang="ar-DZ" sz="4000" b="1" dirty="0">
                <a:solidFill>
                  <a:srgbClr val="FF0000"/>
                </a:solidFill>
              </a:rPr>
              <a:t>مـن  </a:t>
            </a:r>
            <a:r>
              <a:rPr lang="ar-DZ" sz="4000" b="1" dirty="0" smtClean="0">
                <a:solidFill>
                  <a:srgbClr val="FF0000"/>
                </a:solidFill>
              </a:rPr>
              <a:t>الــفــيـــروســــات –  تـــابــع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75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	</a:t>
            </a:r>
            <a:r>
              <a:rPr lang="ar-DZ" sz="4400" b="1" u="db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اســتـعــمــال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لا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سِــيَّــمَـا عــنــد الـوُلُـــوجِ إلـى الأقـــراص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والـمــلـفــات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مـن الأنـتـرنــت </a:t>
            </a:r>
            <a:endParaRPr lang="ar-DZ" sz="44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27648" y="1867486"/>
            <a:ext cx="480547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مـضــاد الـفــيــروســات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89403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</a:t>
            </a:r>
            <a:r>
              <a:rPr lang="ar-DZ" sz="4000" b="1" dirty="0" smtClean="0">
                <a:solidFill>
                  <a:srgbClr val="FF0000"/>
                </a:solidFill>
              </a:rPr>
              <a:t>الــوقـــايـــة </a:t>
            </a:r>
            <a:r>
              <a:rPr lang="ar-DZ" sz="4000" b="1" dirty="0">
                <a:solidFill>
                  <a:srgbClr val="FF0000"/>
                </a:solidFill>
              </a:rPr>
              <a:t>مـن  </a:t>
            </a:r>
            <a:r>
              <a:rPr lang="ar-DZ" sz="4000" b="1" dirty="0" smtClean="0">
                <a:solidFill>
                  <a:srgbClr val="FF0000"/>
                </a:solidFill>
              </a:rPr>
              <a:t>الــفــيـــروســــات –  تـــابــع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75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	</a:t>
            </a:r>
            <a:r>
              <a:rPr lang="ar-DZ" sz="4400" b="1" u="db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اســتـعــمــال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لا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سِــيَّــمَـا عــنــد الـوُلُـــوجِ إلـى الأقـــراص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والـمــلـفــات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مـن الأنـتـرنــت </a:t>
            </a:r>
            <a:endParaRPr lang="ar-DZ" sz="44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27648" y="1867486"/>
            <a:ext cx="480547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مـضــاد الـفــيــروســات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39416" y="3027453"/>
            <a:ext cx="288032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الـمــنــقــولــة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86048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13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</a:t>
            </a:r>
            <a:r>
              <a:rPr lang="ar-DZ" sz="4000" b="1" dirty="0" smtClean="0">
                <a:solidFill>
                  <a:srgbClr val="FF0000"/>
                </a:solidFill>
              </a:rPr>
              <a:t>الــوقـــايـــة </a:t>
            </a:r>
            <a:r>
              <a:rPr lang="ar-DZ" sz="4000" b="1" dirty="0">
                <a:solidFill>
                  <a:srgbClr val="FF0000"/>
                </a:solidFill>
              </a:rPr>
              <a:t>مـن  </a:t>
            </a:r>
            <a:r>
              <a:rPr lang="ar-DZ" sz="4000" b="1" dirty="0" smtClean="0">
                <a:solidFill>
                  <a:srgbClr val="FF0000"/>
                </a:solidFill>
              </a:rPr>
              <a:t>الــفــيـــروســــات –  تـــابــع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75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	</a:t>
            </a:r>
            <a:r>
              <a:rPr lang="ar-DZ" sz="4400" b="1" u="db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اســتـعــمــال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لا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سِــيَّــمَـا عــنــد الـوُلُـــوجِ إلـى الأقـــراص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والـمــلـفــات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مـن الأنـتـرنــت </a:t>
            </a:r>
            <a:endParaRPr lang="ar-DZ" sz="44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27648" y="1867486"/>
            <a:ext cx="480547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مـضــاد الـفــيــروســات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39416" y="3027453"/>
            <a:ext cx="288032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الـمــنــقــولــة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168008" y="4203225"/>
            <a:ext cx="258434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الـمُـحَــمَّــلَــةِ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57877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13" grpId="0" animBg="1"/>
      <p:bldP spid="10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هـل كــل الـمــواقــع آمــنــة أو مــضــمـــونــة ؟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3544440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غــيــر 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آمِـــنَــة 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مــواقــع الويــب  </a:t>
            </a:r>
            <a:r>
              <a:rPr lang="fr-FR" sz="4400" b="1" dirty="0">
                <a:solidFill>
                  <a:srgbClr val="FF0000"/>
                </a:solidFill>
                <a:cs typeface="+mj-cs"/>
              </a:rPr>
              <a:t>Sites </a:t>
            </a:r>
            <a:r>
              <a:rPr lang="fr-FR" sz="4400" b="1" dirty="0" smtClean="0">
                <a:solidFill>
                  <a:srgbClr val="FF0000"/>
                </a:solidFill>
                <a:cs typeface="+mj-cs"/>
              </a:rPr>
              <a:t>Web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  :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544440"/>
            <a:ext cx="38880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آمِـــنَــة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501422" y="2492896"/>
            <a:ext cx="1296576" cy="14484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6168008" y="2477137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7608168" y="4759761"/>
            <a:ext cx="3816424" cy="1260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</a:t>
            </a:r>
            <a:endParaRPr lang="fr-FR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2" name="Espace réservé du contenu 21"/>
          <p:cNvSpPr txBox="1">
            <a:spLocks/>
          </p:cNvSpPr>
          <p:nvPr/>
        </p:nvSpPr>
        <p:spPr>
          <a:xfrm>
            <a:off x="609600" y="4759761"/>
            <a:ext cx="4140000" cy="1260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</a:t>
            </a:r>
            <a:endParaRPr lang="fr-FR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89904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31" grpId="0" animBg="1"/>
      <p:bldP spid="32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هـل كــل الـمــواقــع آمــنــة أو مــضــمـــونــة ؟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3544440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غــيــر 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آمِـــنَــة 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مــواقــع الويــب  </a:t>
            </a:r>
            <a:r>
              <a:rPr lang="fr-FR" sz="4400" b="1" dirty="0">
                <a:solidFill>
                  <a:srgbClr val="FF0000"/>
                </a:solidFill>
                <a:cs typeface="+mj-cs"/>
              </a:rPr>
              <a:t>Sites </a:t>
            </a:r>
            <a:r>
              <a:rPr lang="fr-FR" sz="4400" b="1" dirty="0" smtClean="0">
                <a:solidFill>
                  <a:srgbClr val="FF0000"/>
                </a:solidFill>
                <a:cs typeface="+mj-cs"/>
              </a:rPr>
              <a:t>Web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  :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544440"/>
            <a:ext cx="38880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آمِـــنَــة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501422" y="2492896"/>
            <a:ext cx="1296576" cy="14484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6168008" y="2477137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7608168" y="4759761"/>
            <a:ext cx="3816424" cy="1260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fr-FR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http</a:t>
            </a:r>
            <a:r>
              <a:rPr lang="fr-FR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://</a:t>
            </a:r>
            <a:endParaRPr lang="fr-FR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" name="Espace réservé du contenu 21"/>
          <p:cNvSpPr txBox="1">
            <a:spLocks/>
          </p:cNvSpPr>
          <p:nvPr/>
        </p:nvSpPr>
        <p:spPr>
          <a:xfrm>
            <a:off x="609600" y="4759761"/>
            <a:ext cx="4140000" cy="1260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fr-FR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https</a:t>
            </a:r>
            <a:r>
              <a:rPr lang="fr-FR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://</a:t>
            </a:r>
            <a:endParaRPr lang="fr-FR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5322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31" grpId="0" animBg="1"/>
      <p:bldP spid="32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</a:t>
            </a:r>
            <a:r>
              <a:rPr lang="ar-DZ" sz="4000" b="1" dirty="0" smtClean="0">
                <a:solidFill>
                  <a:srgbClr val="FF0000"/>
                </a:solidFill>
              </a:rPr>
              <a:t>الــوقـــايـــة </a:t>
            </a:r>
            <a:r>
              <a:rPr lang="ar-DZ" sz="4000" b="1" dirty="0">
                <a:solidFill>
                  <a:srgbClr val="FF0000"/>
                </a:solidFill>
              </a:rPr>
              <a:t>مـن  </a:t>
            </a:r>
            <a:r>
              <a:rPr lang="ar-DZ" sz="4000" b="1" dirty="0" smtClean="0">
                <a:solidFill>
                  <a:srgbClr val="FF0000"/>
                </a:solidFill>
              </a:rPr>
              <a:t>الــفــيـــروســــات –  تـــابــع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	</a:t>
            </a:r>
            <a:r>
              <a:rPr lang="ar-DZ" sz="4000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تـحــمـــيـــل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</a:t>
            </a:r>
            <a:r>
              <a:rPr lang="ar-DZ" sz="1400" b="1" spc="-15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مـن مـواقـع</a:t>
            </a:r>
            <a:r>
              <a:rPr lang="ar-DZ" sz="1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وتــبــادل الـمــلــفــات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مـع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أشــخــاص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بِـهِـمْ</a:t>
            </a:r>
          </a:p>
          <a:p>
            <a:pPr marL="0" indent="0" algn="just" rtl="1">
              <a:lnSpc>
                <a:spcPct val="165000"/>
              </a:lnSpc>
              <a:buNone/>
            </a:pP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-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الـتـعــامـل بِـحَـذَرٍ مع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الـمـجـهـولـة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 </a:t>
            </a:r>
            <a:r>
              <a:rPr lang="ar-DZ" sz="4000" b="1" u="db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والـمُــرْفَــقَــة بــمــلـفــات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أو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مُــرِيــبَــةٍ </a:t>
            </a:r>
            <a:endParaRPr lang="fr-FR" sz="4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73609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</a:t>
            </a:r>
            <a:r>
              <a:rPr lang="ar-DZ" sz="4000" b="1" dirty="0" smtClean="0">
                <a:solidFill>
                  <a:srgbClr val="FF0000"/>
                </a:solidFill>
              </a:rPr>
              <a:t>الــوقـــايـــة </a:t>
            </a:r>
            <a:r>
              <a:rPr lang="ar-DZ" sz="4000" b="1" dirty="0">
                <a:solidFill>
                  <a:srgbClr val="FF0000"/>
                </a:solidFill>
              </a:rPr>
              <a:t>مـن  </a:t>
            </a:r>
            <a:r>
              <a:rPr lang="ar-DZ" sz="4000" b="1" dirty="0" smtClean="0">
                <a:solidFill>
                  <a:srgbClr val="FF0000"/>
                </a:solidFill>
              </a:rPr>
              <a:t>الــفــيـــروســــات –  تـــابــع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	</a:t>
            </a:r>
            <a:r>
              <a:rPr lang="ar-DZ" sz="4000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تـحــمـــيـــل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</a:t>
            </a:r>
            <a:r>
              <a:rPr lang="ar-DZ" sz="1400" b="1" spc="-15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مـن مـواقـع</a:t>
            </a:r>
            <a:r>
              <a:rPr lang="ar-DZ" sz="1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وتــبــادل الـمــلــفــات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مـع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أشــخــاص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بِـهِـمْ</a:t>
            </a:r>
          </a:p>
          <a:p>
            <a:pPr marL="0" indent="0" algn="just" rtl="1">
              <a:lnSpc>
                <a:spcPct val="165000"/>
              </a:lnSpc>
              <a:buNone/>
            </a:pP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-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الـتـعــامـل بِـحَـذَرٍ مع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الـمـجـهـولـة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 </a:t>
            </a:r>
            <a:r>
              <a:rPr lang="ar-DZ" sz="4000" b="1" u="db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والـمُــرْفَــقَــة بــمــلـفــات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أو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مُــرِيــبَــةٍ </a:t>
            </a:r>
            <a:endParaRPr lang="fr-FR" sz="4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735960" y="1733416"/>
            <a:ext cx="259228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الـبــرامــج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40388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</a:t>
            </a:r>
            <a:r>
              <a:rPr lang="ar-DZ" sz="4000" b="1" dirty="0" smtClean="0">
                <a:solidFill>
                  <a:srgbClr val="FF0000"/>
                </a:solidFill>
              </a:rPr>
              <a:t>الــوقـــايـــة </a:t>
            </a:r>
            <a:r>
              <a:rPr lang="ar-DZ" sz="4000" b="1" dirty="0">
                <a:solidFill>
                  <a:srgbClr val="FF0000"/>
                </a:solidFill>
              </a:rPr>
              <a:t>مـن  </a:t>
            </a:r>
            <a:r>
              <a:rPr lang="ar-DZ" sz="4000" b="1" dirty="0" smtClean="0">
                <a:solidFill>
                  <a:srgbClr val="FF0000"/>
                </a:solidFill>
              </a:rPr>
              <a:t>الــفــيـــروســــات –  تـــابــع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	</a:t>
            </a:r>
            <a:r>
              <a:rPr lang="ar-DZ" sz="4000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تـحــمـــيـــل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</a:t>
            </a:r>
            <a:r>
              <a:rPr lang="ar-DZ" sz="1400" b="1" spc="-15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مـن مـواقـع</a:t>
            </a:r>
            <a:r>
              <a:rPr lang="ar-DZ" sz="1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وتــبــادل الـمــلــفــات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مـع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أشــخــاص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بِـهِـمْ</a:t>
            </a:r>
          </a:p>
          <a:p>
            <a:pPr marL="0" indent="0" algn="just" rtl="1">
              <a:lnSpc>
                <a:spcPct val="165000"/>
              </a:lnSpc>
              <a:buNone/>
            </a:pP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-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الـتـعــامـل بِـحَـذَرٍ مع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الـمـجـهـولـة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 </a:t>
            </a:r>
            <a:r>
              <a:rPr lang="ar-DZ" sz="4000" b="1" u="db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والـمُــرْفَــقَــة بــمــلـفــات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أو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مُــرِيــبَــةٍ </a:t>
            </a:r>
            <a:endParaRPr lang="fr-FR" sz="4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735960" y="1733416"/>
            <a:ext cx="259228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الـبــرامــج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58734" y="1742544"/>
            <a:ext cx="245694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مَـضْـمُـونَـة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10590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8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</a:t>
            </a:r>
            <a:r>
              <a:rPr lang="ar-DZ" sz="4000" b="1" dirty="0" smtClean="0">
                <a:solidFill>
                  <a:srgbClr val="FF0000"/>
                </a:solidFill>
              </a:rPr>
              <a:t>الــوقـــايـــة </a:t>
            </a:r>
            <a:r>
              <a:rPr lang="ar-DZ" sz="4000" b="1" dirty="0">
                <a:solidFill>
                  <a:srgbClr val="FF0000"/>
                </a:solidFill>
              </a:rPr>
              <a:t>مـن  </a:t>
            </a:r>
            <a:r>
              <a:rPr lang="ar-DZ" sz="4000" b="1" dirty="0" smtClean="0">
                <a:solidFill>
                  <a:srgbClr val="FF0000"/>
                </a:solidFill>
              </a:rPr>
              <a:t>الــفــيـــروســــات –  تـــابــع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	</a:t>
            </a:r>
            <a:r>
              <a:rPr lang="ar-DZ" sz="4000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تـحــمـــيـــل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</a:t>
            </a:r>
            <a:r>
              <a:rPr lang="ar-DZ" sz="1400" b="1" spc="-15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مـن مـواقـع</a:t>
            </a:r>
            <a:r>
              <a:rPr lang="ar-DZ" sz="1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وتــبــادل الـمــلــفــات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مـع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أشــخــاص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بِـهِـمْ</a:t>
            </a:r>
          </a:p>
          <a:p>
            <a:pPr marL="0" indent="0" algn="just" rtl="1">
              <a:lnSpc>
                <a:spcPct val="165000"/>
              </a:lnSpc>
              <a:buNone/>
            </a:pP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-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الـتـعــامـل بِـحَـذَرٍ مع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الـمـجـهـولـة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 </a:t>
            </a:r>
            <a:r>
              <a:rPr lang="ar-DZ" sz="4000" b="1" u="db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والـمُــرْفَــقَــة بــمــلـفــات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أو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مُــرِيــبَــةٍ </a:t>
            </a:r>
            <a:endParaRPr lang="fr-FR" sz="4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735960" y="1733416"/>
            <a:ext cx="259228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الـبــرامــج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11624" y="2732380"/>
            <a:ext cx="23762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مَــوْثُــوقٌ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58734" y="1742544"/>
            <a:ext cx="245694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مَـضْـمُـونَـة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52340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13" grpId="0" animBg="1"/>
      <p:bldP spid="8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هـل كـل الـرســائــل الإلـكـتــرونـيـة آمــنـة ومـضـمـونـة ؟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6096000" y="3947850"/>
            <a:ext cx="53285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>
                <a:solidFill>
                  <a:srgbClr val="FF0000"/>
                </a:solidFill>
                <a:cs typeface="+mj-cs"/>
              </a:rPr>
              <a:t>الـرســائــل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الـمــجــهــولــة</a:t>
            </a:r>
            <a:r>
              <a:rPr lang="fr-FR" sz="4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قَــدْ تَــضُـمُ : 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947850"/>
            <a:ext cx="38880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Connecteur droit avec flèche 14"/>
          <p:cNvCxnSpPr>
            <a:endCxn id="18" idx="0"/>
          </p:cNvCxnSpPr>
          <p:nvPr/>
        </p:nvCxnSpPr>
        <p:spPr>
          <a:xfrm flipH="1">
            <a:off x="2557422" y="2492896"/>
            <a:ext cx="2530466" cy="145495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0"/>
          </p:cNvCxnSpPr>
          <p:nvPr/>
        </p:nvCxnSpPr>
        <p:spPr>
          <a:xfrm>
            <a:off x="6445422" y="2492896"/>
            <a:ext cx="2314874" cy="145495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6598771" y="4977312"/>
            <a:ext cx="4032448" cy="1260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..................</a:t>
            </a:r>
            <a:endParaRPr lang="fr-FR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" name="Espace réservé du contenu 21"/>
          <p:cNvSpPr txBox="1">
            <a:spLocks/>
          </p:cNvSpPr>
          <p:nvPr/>
        </p:nvSpPr>
        <p:spPr>
          <a:xfrm>
            <a:off x="487422" y="5049320"/>
            <a:ext cx="4140000" cy="1260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..................</a:t>
            </a:r>
            <a:endParaRPr lang="fr-FR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77724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31" grpId="0" animBg="1"/>
      <p:bldP spid="32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هـل كـل الـرســائــل الإلـكـتــرونـيـة آمــنـة ومـضـمـونـة ؟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6096000" y="3947850"/>
            <a:ext cx="53285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مــلــفــات مُــرْفَــقَــة خـبــيــثـة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>
                <a:solidFill>
                  <a:srgbClr val="FF0000"/>
                </a:solidFill>
                <a:cs typeface="+mj-cs"/>
              </a:rPr>
              <a:t>الـرســائــل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الـمــجــهــولــة</a:t>
            </a:r>
            <a:r>
              <a:rPr lang="fr-FR" sz="4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قَــدْ تَــضُـمُ : 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947850"/>
            <a:ext cx="38880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Connecteur droit avec flèche 14"/>
          <p:cNvCxnSpPr>
            <a:endCxn id="18" idx="0"/>
          </p:cNvCxnSpPr>
          <p:nvPr/>
        </p:nvCxnSpPr>
        <p:spPr>
          <a:xfrm flipH="1">
            <a:off x="2557422" y="2492896"/>
            <a:ext cx="2530466" cy="145495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0"/>
          </p:cNvCxnSpPr>
          <p:nvPr/>
        </p:nvCxnSpPr>
        <p:spPr>
          <a:xfrm>
            <a:off x="6445422" y="2492896"/>
            <a:ext cx="2314874" cy="145495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6598771" y="4977312"/>
            <a:ext cx="4032448" cy="1260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fr-FR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Pièces Jointes</a:t>
            </a:r>
            <a:endParaRPr lang="fr-FR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" name="Espace réservé du contenu 21"/>
          <p:cNvSpPr txBox="1">
            <a:spLocks/>
          </p:cNvSpPr>
          <p:nvPr/>
        </p:nvSpPr>
        <p:spPr>
          <a:xfrm>
            <a:off x="487422" y="5049320"/>
            <a:ext cx="4140000" cy="1260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..................</a:t>
            </a:r>
            <a:endParaRPr lang="fr-FR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09139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31" grpId="0" animBg="1"/>
      <p:bldP spid="32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هـل كـل الـرســائــل الإلـكـتــرونـيـة آمــنـة ومـضـمـونـة ؟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6096000" y="3947850"/>
            <a:ext cx="53285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مــلــفــات مُــرْفَــقَــة خـبــيــثـة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>
                <a:solidFill>
                  <a:srgbClr val="FF0000"/>
                </a:solidFill>
                <a:cs typeface="+mj-cs"/>
              </a:rPr>
              <a:t>الـرســائــل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الـمــجــهــولــة</a:t>
            </a:r>
            <a:r>
              <a:rPr lang="fr-FR" sz="4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قَــدْ تَــضُـمُ : 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947850"/>
            <a:ext cx="38880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روابــط مُـرِيـــبَــة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Connecteur droit avec flèche 14"/>
          <p:cNvCxnSpPr>
            <a:endCxn id="18" idx="0"/>
          </p:cNvCxnSpPr>
          <p:nvPr/>
        </p:nvCxnSpPr>
        <p:spPr>
          <a:xfrm flipH="1">
            <a:off x="2557422" y="2492896"/>
            <a:ext cx="2530466" cy="145495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0"/>
          </p:cNvCxnSpPr>
          <p:nvPr/>
        </p:nvCxnSpPr>
        <p:spPr>
          <a:xfrm>
            <a:off x="6445422" y="2492896"/>
            <a:ext cx="2314874" cy="145495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6598771" y="4977312"/>
            <a:ext cx="4032448" cy="1260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fr-FR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Pièces Jointes</a:t>
            </a:r>
            <a:endParaRPr lang="fr-FR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" name="Espace réservé du contenu 21"/>
          <p:cNvSpPr txBox="1">
            <a:spLocks/>
          </p:cNvSpPr>
          <p:nvPr/>
        </p:nvSpPr>
        <p:spPr>
          <a:xfrm>
            <a:off x="487422" y="5049320"/>
            <a:ext cx="4140000" cy="1260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fr-FR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Liens suspects</a:t>
            </a:r>
            <a:endParaRPr lang="fr-FR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41659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31" grpId="0" animBg="1"/>
      <p:bldP spid="32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</a:t>
            </a:r>
            <a:r>
              <a:rPr lang="ar-DZ" sz="4000" b="1" dirty="0" smtClean="0">
                <a:solidFill>
                  <a:srgbClr val="FF0000"/>
                </a:solidFill>
              </a:rPr>
              <a:t>الــوقـــايـــة </a:t>
            </a:r>
            <a:r>
              <a:rPr lang="ar-DZ" sz="4000" b="1" dirty="0">
                <a:solidFill>
                  <a:srgbClr val="FF0000"/>
                </a:solidFill>
              </a:rPr>
              <a:t>مـن  </a:t>
            </a:r>
            <a:r>
              <a:rPr lang="ar-DZ" sz="4000" b="1" dirty="0" smtClean="0">
                <a:solidFill>
                  <a:srgbClr val="FF0000"/>
                </a:solidFill>
              </a:rPr>
              <a:t>الــفــيـــروســــات –  تـــابــع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	</a:t>
            </a:r>
            <a:r>
              <a:rPr lang="ar-DZ" sz="4000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تـحــمـــيـــل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</a:t>
            </a:r>
            <a:r>
              <a:rPr lang="ar-DZ" sz="1400" b="1" spc="-15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مـن مـواقـع</a:t>
            </a:r>
            <a:r>
              <a:rPr lang="ar-DZ" sz="1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وتــبــادل الـمــلــفــات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مـع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أشــخــاص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بِـهِـمْ</a:t>
            </a:r>
          </a:p>
          <a:p>
            <a:pPr marL="0" indent="0" algn="just" rtl="1">
              <a:lnSpc>
                <a:spcPct val="165000"/>
              </a:lnSpc>
              <a:buNone/>
            </a:pP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-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الـتـعــامـل بِـحَـذَرٍ مع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الـمـجـهـولـة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 </a:t>
            </a:r>
            <a:r>
              <a:rPr lang="ar-DZ" sz="4000" b="1" u="db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والـمُــرْفَــقَــة بــمــلـفــات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أو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مُــرِيــبَــةٍ </a:t>
            </a:r>
            <a:endParaRPr lang="fr-FR" sz="4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735960" y="1733416"/>
            <a:ext cx="259228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الـبــرامــج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11624" y="2732380"/>
            <a:ext cx="23762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مَــوْثُــوقٌ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58734" y="1742544"/>
            <a:ext cx="245694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مَـضْـمُـونَـة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06645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13" grpId="0" animBg="1"/>
      <p:bldP spid="8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</a:t>
            </a:r>
            <a:r>
              <a:rPr lang="ar-DZ" sz="4000" b="1" dirty="0" smtClean="0">
                <a:solidFill>
                  <a:srgbClr val="FF0000"/>
                </a:solidFill>
              </a:rPr>
              <a:t>الــوقـــايـــة </a:t>
            </a:r>
            <a:r>
              <a:rPr lang="ar-DZ" sz="4000" b="1" dirty="0">
                <a:solidFill>
                  <a:srgbClr val="FF0000"/>
                </a:solidFill>
              </a:rPr>
              <a:t>مـن  </a:t>
            </a:r>
            <a:r>
              <a:rPr lang="ar-DZ" sz="4000" b="1" dirty="0" smtClean="0">
                <a:solidFill>
                  <a:srgbClr val="FF0000"/>
                </a:solidFill>
              </a:rPr>
              <a:t>الــفــيـــروســــات –  تـــابــع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	</a:t>
            </a:r>
            <a:r>
              <a:rPr lang="ar-DZ" sz="4000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تـحــمـــيـــل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</a:t>
            </a:r>
            <a:r>
              <a:rPr lang="ar-DZ" sz="1400" b="1" spc="-15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مـن مـواقـع</a:t>
            </a:r>
            <a:r>
              <a:rPr lang="ar-DZ" sz="1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وتــبــادل الـمــلــفــات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مـع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أشــخــاص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بِـهِـمْ</a:t>
            </a:r>
          </a:p>
          <a:p>
            <a:pPr marL="0" indent="0" algn="just" rtl="1">
              <a:lnSpc>
                <a:spcPct val="165000"/>
              </a:lnSpc>
              <a:buNone/>
            </a:pP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-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الـتـعــامـل بِـحَـذَرٍ مع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الـمـجـهـولـة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 </a:t>
            </a:r>
            <a:r>
              <a:rPr lang="ar-DZ" sz="4000" b="1" u="db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والـمُــرْفَــقَــة بــمــلـفــات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أو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مُــرِيــبَــةٍ </a:t>
            </a:r>
            <a:endParaRPr lang="fr-FR" sz="4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735960" y="1733416"/>
            <a:ext cx="259228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الـبــرامــج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11624" y="2732380"/>
            <a:ext cx="23762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مَــوْثُــوقٌ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58734" y="1742544"/>
            <a:ext cx="245694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مَـضْـمُـونَـة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899072" y="3859359"/>
            <a:ext cx="453650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الـرسـائـل الإلـكـتـرونـيـة 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82858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13" grpId="0" animBg="1"/>
      <p:bldP spid="8" grpId="0" animBg="1"/>
      <p:bldP spid="9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</a:t>
            </a:r>
            <a:r>
              <a:rPr lang="ar-DZ" sz="4000" b="1" dirty="0" smtClean="0">
                <a:solidFill>
                  <a:srgbClr val="FF0000"/>
                </a:solidFill>
              </a:rPr>
              <a:t>الــوقـــايـــة </a:t>
            </a:r>
            <a:r>
              <a:rPr lang="ar-DZ" sz="4000" b="1" dirty="0">
                <a:solidFill>
                  <a:srgbClr val="FF0000"/>
                </a:solidFill>
              </a:rPr>
              <a:t>مـن  </a:t>
            </a:r>
            <a:r>
              <a:rPr lang="ar-DZ" sz="4000" b="1" dirty="0" smtClean="0">
                <a:solidFill>
                  <a:srgbClr val="FF0000"/>
                </a:solidFill>
              </a:rPr>
              <a:t>الــفــيـــروســــات –  تـــابــع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	</a:t>
            </a:r>
            <a:r>
              <a:rPr lang="ar-DZ" sz="4000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تـحــمـــيـــل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</a:t>
            </a:r>
            <a:r>
              <a:rPr lang="ar-DZ" sz="1400" b="1" spc="-15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مـن مـواقـع</a:t>
            </a:r>
            <a:r>
              <a:rPr lang="ar-DZ" sz="1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وتــبــادل الـمــلــفــات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مـع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أشــخــاص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بِـهِـمْ</a:t>
            </a:r>
          </a:p>
          <a:p>
            <a:pPr marL="0" indent="0" algn="just" rtl="1">
              <a:lnSpc>
                <a:spcPct val="165000"/>
              </a:lnSpc>
              <a:buNone/>
            </a:pP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-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الـتـعــامـل بِـحَـذَرٍ مع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الـمـجـهـولـة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 </a:t>
            </a:r>
            <a:r>
              <a:rPr lang="ar-DZ" sz="4000" b="1" u="db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والـمُــرْفَــقَــة بــمــلـفــات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أو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مُــرِيــبَــةٍ </a:t>
            </a:r>
            <a:endParaRPr lang="fr-FR" sz="4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735960" y="1733416"/>
            <a:ext cx="259228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الـبــرامــج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11624" y="2732380"/>
            <a:ext cx="23762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مَــوْثُــوقٌ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58734" y="1742544"/>
            <a:ext cx="245694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مَـضْـمُـونَـة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899072" y="3859359"/>
            <a:ext cx="453650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الـرسـائـل الإلـكـتـرونـيـة 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192344" y="4868146"/>
            <a:ext cx="21197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الـمَـصْـدَرِ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71837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13" grpId="0" animBg="1"/>
      <p:bldP spid="8" grpId="0" animBg="1"/>
      <p:bldP spid="9" grpId="0" animBg="1"/>
      <p:bldP spid="11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</a:t>
            </a:r>
            <a:r>
              <a:rPr lang="ar-DZ" sz="4000" b="1" dirty="0" smtClean="0">
                <a:solidFill>
                  <a:srgbClr val="FF0000"/>
                </a:solidFill>
              </a:rPr>
              <a:t>الــوقـــايـــة </a:t>
            </a:r>
            <a:r>
              <a:rPr lang="ar-DZ" sz="4000" b="1" dirty="0">
                <a:solidFill>
                  <a:srgbClr val="FF0000"/>
                </a:solidFill>
              </a:rPr>
              <a:t>مـن  </a:t>
            </a:r>
            <a:r>
              <a:rPr lang="ar-DZ" sz="4000" b="1" dirty="0" smtClean="0">
                <a:solidFill>
                  <a:srgbClr val="FF0000"/>
                </a:solidFill>
              </a:rPr>
              <a:t>الــفــيـــروســــات –  تـــابــع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─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	</a:t>
            </a:r>
            <a:r>
              <a:rPr lang="ar-DZ" sz="4000" b="1" u="dbl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تـحــمـــيـــل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</a:t>
            </a:r>
            <a:r>
              <a:rPr lang="ar-DZ" sz="1400" b="1" spc="-15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مـن مـواقـع</a:t>
            </a:r>
            <a:r>
              <a:rPr lang="ar-DZ" sz="1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وتــبــادل الـمــلــفــات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مـع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أشــخــاص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بِـهِـمْ</a:t>
            </a:r>
          </a:p>
          <a:p>
            <a:pPr marL="0" indent="0" algn="just" rtl="1">
              <a:lnSpc>
                <a:spcPct val="165000"/>
              </a:lnSpc>
              <a:buNone/>
            </a:pP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-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الـتـعــامـل بِـحَـذَرٍ مع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الـمـجـهـولـة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 </a:t>
            </a:r>
            <a:r>
              <a:rPr lang="ar-DZ" sz="4000" b="1" u="db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والـمُــرْفَــقَــة بــمــلـفــات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أو </a:t>
            </a:r>
            <a:r>
              <a:rPr lang="ar-DZ" sz="40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مُــرِيــبَــةٍ </a:t>
            </a:r>
            <a:endParaRPr lang="fr-FR" sz="4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735960" y="1733416"/>
            <a:ext cx="259228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الـبــرامــج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11624" y="2732380"/>
            <a:ext cx="23762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مَــوْثُــوقٌ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58734" y="1742544"/>
            <a:ext cx="245694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مَـضْـمُـونَـة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899072" y="3859359"/>
            <a:ext cx="453650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الـرسـائـل الإلـكـتـرونـيـة 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192344" y="4868146"/>
            <a:ext cx="21197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الـمَـصْـدَرِ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394508" y="4864387"/>
            <a:ext cx="21197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رَوَابِــطٍ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16702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13" grpId="0" animBg="1"/>
      <p:bldP spid="8" grpId="0" animBg="1"/>
      <p:bldP spid="9" grpId="0" animBg="1"/>
      <p:bldP spid="11" grpId="0" animBg="1"/>
      <p:bldP spid="12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4.</a:t>
            </a:r>
            <a:r>
              <a:rPr lang="fr-FR" sz="48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مــضــاد الــفــيـــروســــات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cs typeface="+mj-cs"/>
              </a:rPr>
              <a:t>عَــيِّــنْ مــضــاد فــيــروســات واذْكُـــرْ </a:t>
            </a:r>
            <a:r>
              <a:rPr lang="ar-DZ" sz="4400" b="1" dirty="0" smtClean="0">
                <a:cs typeface="+mj-cs"/>
              </a:rPr>
              <a:t>بَــعْــضَ وَظَــائِــفِــه </a:t>
            </a:r>
            <a:r>
              <a:rPr lang="ar-DZ" sz="4400" b="1" dirty="0">
                <a:cs typeface="+mj-cs"/>
              </a:rPr>
              <a:t>/ خَــدَمَــاتِـهِ </a:t>
            </a: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5400" b="1" u="sng" dirty="0">
                <a:solidFill>
                  <a:srgbClr val="0070C0"/>
                </a:solidFill>
                <a:cs typeface="+mj-cs"/>
              </a:rPr>
              <a:t>نـشـاط </a:t>
            </a:r>
            <a:r>
              <a:rPr lang="fr-FR" sz="5400" b="1" u="sng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5</a:t>
            </a:r>
            <a:r>
              <a:rPr lang="ar-DZ" sz="5400" b="1" dirty="0" smtClean="0">
                <a:solidFill>
                  <a:srgbClr val="0070C0"/>
                </a:solidFill>
                <a:cs typeface="+mj-cs"/>
              </a:rPr>
              <a:t> :</a:t>
            </a:r>
            <a:endParaRPr lang="fr-FR" sz="5400" i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98842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5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b="1" dirty="0" smtClean="0">
                <a:solidFill>
                  <a:srgbClr val="FF0000"/>
                </a:solidFill>
                <a:cs typeface="+mj-cs"/>
              </a:rPr>
              <a:t>بــرامـج الـحــمــايــة  هـي عــدة </a:t>
            </a:r>
            <a:r>
              <a:rPr lang="ar-DZ" b="1" dirty="0">
                <a:solidFill>
                  <a:srgbClr val="FF0000"/>
                </a:solidFill>
              </a:rPr>
              <a:t>أنــواع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أهــمـهـا :</a:t>
            </a:r>
            <a:endParaRPr lang="fr-FR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43" y="4158435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stCxn id="2" idx="2"/>
          </p:cNvCxnSpPr>
          <p:nvPr/>
        </p:nvCxnSpPr>
        <p:spPr>
          <a:xfrm flipH="1">
            <a:off x="2135560" y="1124744"/>
            <a:ext cx="3881536" cy="24758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stCxn id="2" idx="2"/>
          </p:cNvCxnSpPr>
          <p:nvPr/>
        </p:nvCxnSpPr>
        <p:spPr>
          <a:xfrm>
            <a:off x="6017096" y="1124744"/>
            <a:ext cx="3823320" cy="24758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3352800" y="4758116"/>
            <a:ext cx="5328592" cy="1524517"/>
          </a:xfrm>
          <a:prstGeom prst="cloud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sz="3900" b="1" dirty="0" smtClean="0">
                <a:solidFill>
                  <a:srgbClr val="FF0000"/>
                </a:solidFill>
                <a:cs typeface="+mj-cs"/>
              </a:rPr>
              <a:t>Antivirus</a:t>
            </a:r>
            <a:endParaRPr lang="fr-FR" sz="3900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7993358" y="3600643"/>
            <a:ext cx="3528392" cy="124396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en-US" sz="3400" b="1" dirty="0" smtClean="0">
                <a:solidFill>
                  <a:srgbClr val="0070C0"/>
                </a:solidFill>
                <a:cs typeface="+mj-cs"/>
              </a:rPr>
              <a:t>Firewall</a:t>
            </a:r>
            <a:endParaRPr lang="en-US" sz="3400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32" name="Espace réservé du contenu 21"/>
          <p:cNvSpPr txBox="1">
            <a:spLocks/>
          </p:cNvSpPr>
          <p:nvPr/>
        </p:nvSpPr>
        <p:spPr>
          <a:xfrm>
            <a:off x="523158" y="3638303"/>
            <a:ext cx="3162814" cy="151094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b="1" dirty="0" smtClean="0">
                <a:solidFill>
                  <a:srgbClr val="0070C0"/>
                </a:solidFill>
                <a:cs typeface="+mj-cs"/>
              </a:rPr>
              <a:t>USB </a:t>
            </a:r>
            <a:r>
              <a:rPr lang="en-US" b="1" dirty="0" smtClean="0">
                <a:solidFill>
                  <a:srgbClr val="0070C0"/>
                </a:solidFill>
                <a:cs typeface="+mj-cs"/>
              </a:rPr>
              <a:t>Guard</a:t>
            </a:r>
            <a:endParaRPr lang="en-US" dirty="0">
              <a:cs typeface="+mj-cs"/>
            </a:endParaRPr>
          </a:p>
        </p:txBody>
      </p:sp>
      <p:cxnSp>
        <p:nvCxnSpPr>
          <p:cNvPr id="18" name="Connecteur droit avec flèche 17"/>
          <p:cNvCxnSpPr>
            <a:stCxn id="2" idx="2"/>
            <a:endCxn id="17" idx="3"/>
          </p:cNvCxnSpPr>
          <p:nvPr/>
        </p:nvCxnSpPr>
        <p:spPr>
          <a:xfrm>
            <a:off x="6017096" y="1124744"/>
            <a:ext cx="0" cy="37205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Imag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208" y="215450"/>
            <a:ext cx="11665296" cy="6468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537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7" grpId="0" animBg="1"/>
      <p:bldP spid="31" grpId="0" animBg="1"/>
      <p:bldP spid="32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4000" b="1" dirty="0">
                <a:solidFill>
                  <a:srgbClr val="FF0000"/>
                </a:solidFill>
                <a:cs typeface="+mj-cs"/>
              </a:rPr>
              <a:t>حــمــايــة الـحــاســوب يــتــطــلــب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مــضــاد الـفــيــروســات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: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4558" y="2326163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Espace réservé du contenu 21"/>
          <p:cNvSpPr txBox="1">
            <a:spLocks/>
          </p:cNvSpPr>
          <p:nvPr/>
        </p:nvSpPr>
        <p:spPr>
          <a:xfrm>
            <a:off x="3456457" y="3657306"/>
            <a:ext cx="5328592" cy="1524517"/>
          </a:xfrm>
          <a:prstGeom prst="cloud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sz="3900" b="1" dirty="0" smtClean="0">
                <a:solidFill>
                  <a:srgbClr val="FF0000"/>
                </a:solidFill>
                <a:cs typeface="+mj-cs"/>
              </a:rPr>
              <a:t>Antivirus</a:t>
            </a:r>
            <a:endParaRPr lang="fr-FR" sz="3900" dirty="0">
              <a:solidFill>
                <a:srgbClr val="FF0000"/>
              </a:solidFill>
              <a:cs typeface="+mj-cs"/>
            </a:endParaRPr>
          </a:p>
        </p:txBody>
      </p:sp>
      <p:cxnSp>
        <p:nvCxnSpPr>
          <p:cNvPr id="18" name="Connecteur droit avec flèche 17"/>
          <p:cNvCxnSpPr>
            <a:stCxn id="2" idx="2"/>
            <a:endCxn id="12" idx="0"/>
          </p:cNvCxnSpPr>
          <p:nvPr/>
        </p:nvCxnSpPr>
        <p:spPr>
          <a:xfrm>
            <a:off x="6017096" y="1124744"/>
            <a:ext cx="0" cy="120141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113" y="401262"/>
            <a:ext cx="11521280" cy="642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317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7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  <a:cs typeface="+mj-cs"/>
              </a:rPr>
              <a:t>أتـذكـر </a:t>
            </a:r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( 4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. مــضــاد </a:t>
            </a:r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الــفـــيــــروســـــات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lnSpc>
                <a:spcPct val="114000"/>
              </a:lnSpc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هــو </a:t>
            </a:r>
            <a:r>
              <a:rPr lang="ar-DZ" sz="4400" baseline="-25000" dirty="0" smtClean="0">
                <a:solidFill>
                  <a:srgbClr val="002060"/>
                </a:solidFill>
                <a:cs typeface="+mj-cs"/>
              </a:rPr>
              <a:t>........................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يـســمـح 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........................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الـحـاســوب بـحـيـث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يــعــمــل عــلـى  : 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14000"/>
              </a:lnSpc>
              <a:buNone/>
            </a:pP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</a:t>
            </a:r>
            <a:r>
              <a:rPr lang="ar-DZ" sz="44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اِكْــتِــشَــاف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..........................................................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وَ 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</a:t>
            </a:r>
            <a:endParaRPr lang="ar-DZ" sz="4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14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دُخُــولِـهـا</a:t>
            </a:r>
          </a:p>
          <a:p>
            <a:pPr marL="0" indent="0" algn="just" rtl="1">
              <a:lnSpc>
                <a:spcPct val="114000"/>
              </a:lnSpc>
              <a:buNone/>
            </a:pPr>
            <a:r>
              <a:rPr lang="ar-DZ" sz="44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إِزَالَــتِـهَــا أَوْ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مَـفْـعُــولِـهَـا </a:t>
            </a:r>
            <a:r>
              <a:rPr lang="ar-DZ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</a:t>
            </a:r>
            <a:r>
              <a:rPr lang="fr-FR" sz="3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Mise</a:t>
            </a:r>
            <a:r>
              <a:rPr lang="en-US" sz="3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en </a:t>
            </a:r>
            <a:r>
              <a:rPr lang="fr-FR" sz="3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Quarantaine</a:t>
            </a:r>
            <a:r>
              <a:rPr lang="ar-DZ" sz="3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)</a:t>
            </a:r>
            <a:endParaRPr lang="fr-FR" sz="4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14000"/>
              </a:lnSpc>
              <a:buNone/>
            </a:pPr>
            <a:endParaRPr lang="fr-FR" sz="4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044493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  <a:cs typeface="+mj-cs"/>
              </a:rPr>
              <a:t>أتـذكـر </a:t>
            </a:r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( 4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. مــضــاد </a:t>
            </a:r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الــفـــيــــروســـــات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lnSpc>
                <a:spcPct val="114000"/>
              </a:lnSpc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هــو </a:t>
            </a:r>
            <a:r>
              <a:rPr lang="ar-DZ" sz="4400" baseline="-25000" dirty="0" smtClean="0">
                <a:solidFill>
                  <a:srgbClr val="002060"/>
                </a:solidFill>
                <a:cs typeface="+mj-cs"/>
              </a:rPr>
              <a:t>........................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يـســمـح 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........................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الـحـاســوب بـحـيـث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يــعــمــل عــلـى  : 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14000"/>
              </a:lnSpc>
              <a:buNone/>
            </a:pP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</a:t>
            </a:r>
            <a:r>
              <a:rPr lang="ar-DZ" sz="44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اِكْــتِــشَــاف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..........................................................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وَ 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</a:t>
            </a:r>
            <a:endParaRPr lang="ar-DZ" sz="4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14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دُخُــولِـهـا</a:t>
            </a:r>
          </a:p>
          <a:p>
            <a:pPr marL="0" indent="0" algn="just" rtl="1">
              <a:lnSpc>
                <a:spcPct val="114000"/>
              </a:lnSpc>
              <a:buNone/>
            </a:pPr>
            <a:r>
              <a:rPr lang="ar-DZ" sz="44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إِزَالَــتِـهَــا أَوْ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مَـفْـعُــولِـهَـا </a:t>
            </a:r>
            <a:r>
              <a:rPr lang="ar-DZ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</a:t>
            </a:r>
            <a:r>
              <a:rPr lang="fr-FR" sz="3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Mise</a:t>
            </a:r>
            <a:r>
              <a:rPr lang="en-US" sz="3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en </a:t>
            </a:r>
            <a:r>
              <a:rPr lang="fr-FR" sz="3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Quarantaine</a:t>
            </a:r>
            <a:r>
              <a:rPr lang="ar-DZ" sz="3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)</a:t>
            </a:r>
            <a:endParaRPr lang="fr-FR" sz="4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14000"/>
              </a:lnSpc>
              <a:buNone/>
            </a:pPr>
            <a:endParaRPr lang="fr-FR" sz="4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1467198"/>
            <a:ext cx="22322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بــرنــامــج</a:t>
            </a:r>
            <a:endParaRPr lang="fr-FR" sz="40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3420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  <a:cs typeface="+mj-cs"/>
              </a:rPr>
              <a:t>أتـذكـر </a:t>
            </a:r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( 4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. مــضــاد </a:t>
            </a:r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الــفـــيــــروســـــات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lnSpc>
                <a:spcPct val="114000"/>
              </a:lnSpc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هــو </a:t>
            </a:r>
            <a:r>
              <a:rPr lang="ar-DZ" sz="4400" baseline="-25000" dirty="0" smtClean="0">
                <a:solidFill>
                  <a:srgbClr val="002060"/>
                </a:solidFill>
                <a:cs typeface="+mj-cs"/>
              </a:rPr>
              <a:t>........................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يـســمـح 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........................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الـحـاســوب بـحـيـث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يــعــمــل عــلـى  : 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14000"/>
              </a:lnSpc>
              <a:buNone/>
            </a:pP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</a:t>
            </a:r>
            <a:r>
              <a:rPr lang="ar-DZ" sz="44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اِكْــتِــشَــاف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..........................................................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وَ 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</a:t>
            </a:r>
            <a:endParaRPr lang="ar-DZ" sz="4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14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دُخُــولِـهـا</a:t>
            </a:r>
          </a:p>
          <a:p>
            <a:pPr marL="0" indent="0" algn="just" rtl="1">
              <a:lnSpc>
                <a:spcPct val="114000"/>
              </a:lnSpc>
              <a:buNone/>
            </a:pPr>
            <a:r>
              <a:rPr lang="ar-DZ" sz="44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إِزَالَــتِـهَــا أَوْ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مَـفْـعُــولِـهَـا </a:t>
            </a:r>
            <a:r>
              <a:rPr lang="ar-DZ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</a:t>
            </a:r>
            <a:r>
              <a:rPr lang="fr-FR" sz="3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Mise</a:t>
            </a:r>
            <a:r>
              <a:rPr lang="en-US" sz="3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en </a:t>
            </a:r>
            <a:r>
              <a:rPr lang="fr-FR" sz="3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Quarantaine</a:t>
            </a:r>
            <a:r>
              <a:rPr lang="ar-DZ" sz="3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)</a:t>
            </a:r>
            <a:endParaRPr lang="fr-FR" sz="4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14000"/>
              </a:lnSpc>
              <a:buNone/>
            </a:pPr>
            <a:endParaRPr lang="fr-FR" sz="4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1467198"/>
            <a:ext cx="22322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بــرنــامــج</a:t>
            </a:r>
            <a:endParaRPr lang="fr-FR" sz="4000" b="1" dirty="0">
              <a:solidFill>
                <a:srgbClr val="0070C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28996" y="1467198"/>
            <a:ext cx="221988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بـحــمــايــة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4843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4000" b="1" dirty="0">
                <a:solidFill>
                  <a:srgbClr val="FF0000"/>
                </a:solidFill>
                <a:cs typeface="+mj-cs"/>
              </a:rPr>
              <a:t>حــمــايــة الـحــاســوب يــتــطــلــب مــضــاد الـفــيــروســات :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3575720" y="1212591"/>
            <a:ext cx="5328592" cy="1524517"/>
          </a:xfrm>
          <a:prstGeom prst="cloud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sz="3900" b="1" dirty="0" smtClean="0">
                <a:solidFill>
                  <a:srgbClr val="FF0000"/>
                </a:solidFill>
                <a:cs typeface="+mj-cs"/>
              </a:rPr>
              <a:t>Antivirus</a:t>
            </a:r>
            <a:endParaRPr lang="fr-FR" sz="3900" dirty="0">
              <a:solidFill>
                <a:srgbClr val="FF0000"/>
              </a:solidFill>
              <a:cs typeface="+mj-cs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00" y="272153"/>
            <a:ext cx="11665296" cy="644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705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7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4000" b="1" dirty="0">
                <a:solidFill>
                  <a:srgbClr val="FF0000"/>
                </a:solidFill>
                <a:cs typeface="+mj-cs"/>
              </a:rPr>
              <a:t>حــمــايــة الـحــاســوب يــتــطــلــب مــضــاد الـفــيــروســات :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3575720" y="1212591"/>
            <a:ext cx="5328592" cy="1524517"/>
          </a:xfrm>
          <a:prstGeom prst="cloud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sz="3900" b="1" dirty="0" smtClean="0">
                <a:solidFill>
                  <a:srgbClr val="FF0000"/>
                </a:solidFill>
                <a:cs typeface="+mj-cs"/>
              </a:rPr>
              <a:t>Antivirus</a:t>
            </a:r>
            <a:endParaRPr lang="fr-FR" sz="3900" dirty="0">
              <a:solidFill>
                <a:srgbClr val="FF0000"/>
              </a:solidFill>
              <a:cs typeface="+mj-cs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8" y="336256"/>
            <a:ext cx="11305256" cy="627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148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7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  <a:cs typeface="+mj-cs"/>
              </a:rPr>
              <a:t>أتـذكـر </a:t>
            </a:r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( 4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. مــضــاد </a:t>
            </a:r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الــفـــيــــروســـــات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lnSpc>
                <a:spcPct val="114000"/>
              </a:lnSpc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هــو </a:t>
            </a:r>
            <a:r>
              <a:rPr lang="ar-DZ" sz="4400" baseline="-25000" dirty="0" smtClean="0">
                <a:solidFill>
                  <a:srgbClr val="002060"/>
                </a:solidFill>
                <a:cs typeface="+mj-cs"/>
              </a:rPr>
              <a:t>........................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يـســمـح 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........................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الـحـاســوب بـحـيـث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يــعــمــل عــلـى  : 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14000"/>
              </a:lnSpc>
              <a:buNone/>
            </a:pP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</a:t>
            </a:r>
            <a:r>
              <a:rPr lang="ar-DZ" sz="44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اِكْــتِــشَــاف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..........................................................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وَ 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</a:t>
            </a:r>
            <a:endParaRPr lang="ar-DZ" sz="4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14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دُخُــولِـهـا</a:t>
            </a:r>
          </a:p>
          <a:p>
            <a:pPr marL="0" indent="0" algn="just" rtl="1">
              <a:lnSpc>
                <a:spcPct val="114000"/>
              </a:lnSpc>
              <a:buNone/>
            </a:pPr>
            <a:r>
              <a:rPr lang="ar-DZ" sz="44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إِزَالَــتِـهَــا أَوْ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مَـفْـعُــولِـهَـا </a:t>
            </a:r>
            <a:r>
              <a:rPr lang="ar-DZ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</a:t>
            </a:r>
            <a:r>
              <a:rPr lang="fr-FR" sz="3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Mise</a:t>
            </a:r>
            <a:r>
              <a:rPr lang="en-US" sz="3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en </a:t>
            </a:r>
            <a:r>
              <a:rPr lang="fr-FR" sz="3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Quarantaine</a:t>
            </a:r>
            <a:r>
              <a:rPr lang="ar-DZ" sz="3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)</a:t>
            </a:r>
            <a:endParaRPr lang="fr-FR" sz="4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14000"/>
              </a:lnSpc>
              <a:buNone/>
            </a:pPr>
            <a:endParaRPr lang="fr-FR" sz="4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1467198"/>
            <a:ext cx="22322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بــرنــامــج</a:t>
            </a:r>
            <a:endParaRPr lang="fr-FR" sz="4000" b="1" dirty="0">
              <a:solidFill>
                <a:srgbClr val="0070C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28996" y="1467198"/>
            <a:ext cx="221988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بـحــمــايــة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316796" y="3131294"/>
            <a:ext cx="54006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الـبــرمــجــيــات الـخــبــيـــثــة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27448" y="3138765"/>
            <a:ext cx="134651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مَــنْــعِ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03964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9" grpId="0" animBg="1"/>
      <p:bldP spid="10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4000" b="1" dirty="0">
                <a:solidFill>
                  <a:srgbClr val="FF0000"/>
                </a:solidFill>
                <a:cs typeface="+mj-cs"/>
              </a:rPr>
              <a:t>حــمــايــة الـحــاســوب يــتــطــلــب مــضــاد الـفــيــروســات :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3575720" y="1212591"/>
            <a:ext cx="5328592" cy="1524517"/>
          </a:xfrm>
          <a:prstGeom prst="cloud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sz="3900" b="1" dirty="0" smtClean="0">
                <a:solidFill>
                  <a:srgbClr val="FF0000"/>
                </a:solidFill>
                <a:cs typeface="+mj-cs"/>
              </a:rPr>
              <a:t>Antivirus</a:t>
            </a:r>
            <a:endParaRPr lang="fr-FR" sz="3900" dirty="0">
              <a:solidFill>
                <a:srgbClr val="FF0000"/>
              </a:solidFill>
              <a:cs typeface="+mj-cs"/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776" y="232916"/>
            <a:ext cx="11593288" cy="6392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873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7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  <a:cs typeface="+mj-cs"/>
              </a:rPr>
              <a:t>أتـذكـر </a:t>
            </a:r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( 4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. مــضــاد </a:t>
            </a:r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الــفـــيــــروســـــات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lnSpc>
                <a:spcPct val="114000"/>
              </a:lnSpc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هــو </a:t>
            </a:r>
            <a:r>
              <a:rPr lang="ar-DZ" sz="4400" baseline="-25000" dirty="0" smtClean="0">
                <a:solidFill>
                  <a:srgbClr val="002060"/>
                </a:solidFill>
                <a:cs typeface="+mj-cs"/>
              </a:rPr>
              <a:t>........................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يـســمـح 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........................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الـحـاســوب بـحـيـث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يــعــمــل عــلـى  : 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14000"/>
              </a:lnSpc>
              <a:buNone/>
            </a:pP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</a:t>
            </a:r>
            <a:r>
              <a:rPr lang="ar-DZ" sz="44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اِكْــتِــشَــاف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..........................................................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وَ 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</a:t>
            </a:r>
            <a:endParaRPr lang="ar-DZ" sz="4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14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دُخُــولِـهـا</a:t>
            </a:r>
          </a:p>
          <a:p>
            <a:pPr marL="0" indent="0" algn="just" rtl="1">
              <a:lnSpc>
                <a:spcPct val="114000"/>
              </a:lnSpc>
              <a:buNone/>
            </a:pPr>
            <a:r>
              <a:rPr lang="ar-DZ" sz="44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إِزَالَــتِـهَــا أَوْ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مَـفْـعُــولِـهَـا </a:t>
            </a:r>
            <a:r>
              <a:rPr lang="ar-DZ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</a:t>
            </a:r>
            <a:r>
              <a:rPr lang="fr-FR" sz="3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Mise</a:t>
            </a:r>
            <a:r>
              <a:rPr lang="en-US" sz="3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en </a:t>
            </a:r>
            <a:r>
              <a:rPr lang="fr-FR" sz="3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Quarantaine</a:t>
            </a:r>
            <a:r>
              <a:rPr lang="ar-DZ" sz="3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)</a:t>
            </a:r>
            <a:endParaRPr lang="fr-FR" sz="4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14000"/>
              </a:lnSpc>
              <a:buNone/>
            </a:pPr>
            <a:endParaRPr lang="fr-FR" sz="4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1467198"/>
            <a:ext cx="22322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بــرنــامــج</a:t>
            </a:r>
            <a:endParaRPr lang="fr-FR" sz="4000" b="1" dirty="0">
              <a:solidFill>
                <a:srgbClr val="0070C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28996" y="1467198"/>
            <a:ext cx="221988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بـحــمــايــة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316796" y="3131294"/>
            <a:ext cx="54006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الـبــرمــجــيــات الـخــبــيـــثــة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27448" y="3138765"/>
            <a:ext cx="134651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مَــنْــعِ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888088" y="4931197"/>
            <a:ext cx="16840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إِبْــطَـــالِ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65307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9" grpId="0" animBg="1"/>
      <p:bldP spid="10" grpId="0" animBg="1"/>
      <p:bldP spid="12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  <a:cs typeface="+mj-cs"/>
              </a:rPr>
              <a:t>أتـذكـر </a:t>
            </a:r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( 4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. مــضــاد </a:t>
            </a:r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الــفـــيــــروســـــات  –  تــابــع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35000"/>
              </a:lnSpc>
              <a:buNone/>
            </a:pP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وكــذلــك إصــلاح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الَّـتي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اِرْتَــبَــطَــتْ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بـهـا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الــفــيــروســات أو </a:t>
            </a:r>
            <a:r>
              <a:rPr lang="ar-DZ" sz="4400" baseline="-25000" dirty="0">
                <a:solidFill>
                  <a:srgbClr val="002060"/>
                </a:solidFill>
                <a:cs typeface="+mj-cs"/>
              </a:rPr>
              <a:t>........................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</a:t>
            </a:r>
          </a:p>
          <a:p>
            <a:pPr marL="0" indent="0" algn="just" rtl="1">
              <a:lnSpc>
                <a:spcPct val="114000"/>
              </a:lnSpc>
              <a:buNone/>
            </a:pP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مِــنْ أَشْــهَـــرِ مُــضَـــادَاتِ الــفَــيْـــرُوسَـــــات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: </a:t>
            </a:r>
            <a:r>
              <a:rPr lang="ar-DZ" sz="44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</a:t>
            </a:r>
          </a:p>
          <a:p>
            <a:pPr marL="0" indent="0" algn="just" rtl="1">
              <a:lnSpc>
                <a:spcPct val="114000"/>
              </a:lnSpc>
              <a:buNone/>
            </a:pPr>
            <a:endParaRPr lang="fr-FR" sz="4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185750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  <a:cs typeface="+mj-cs"/>
              </a:rPr>
              <a:t>أتـذكـر </a:t>
            </a:r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( 4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. مــضــاد </a:t>
            </a:r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الــفـــيــــروســـــات  –  تــابــع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35000"/>
              </a:lnSpc>
              <a:buNone/>
            </a:pP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وكــذلــك إصــلاح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الَّـتي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اِرْتَــبَــطَــتْ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بـهـا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الــفــيــروســات أو </a:t>
            </a:r>
            <a:r>
              <a:rPr lang="ar-DZ" sz="4400" baseline="-25000" dirty="0">
                <a:solidFill>
                  <a:srgbClr val="002060"/>
                </a:solidFill>
                <a:cs typeface="+mj-cs"/>
              </a:rPr>
              <a:t>........................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</a:t>
            </a:r>
          </a:p>
          <a:p>
            <a:pPr marL="0" indent="0" algn="just" rtl="1">
              <a:lnSpc>
                <a:spcPct val="114000"/>
              </a:lnSpc>
              <a:buNone/>
            </a:pP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مِــنْ أَشْــهَـــرِ مُــضَـــادَاتِ الــفَــيْـــرُوسَـــــات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: </a:t>
            </a:r>
            <a:r>
              <a:rPr lang="ar-DZ" sz="44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</a:t>
            </a:r>
          </a:p>
          <a:p>
            <a:pPr marL="0" indent="0" algn="just" rtl="1">
              <a:lnSpc>
                <a:spcPct val="114000"/>
              </a:lnSpc>
              <a:buNone/>
            </a:pPr>
            <a:endParaRPr lang="fr-FR" sz="4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4772962" y="1590034"/>
            <a:ext cx="280831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الـمــلــفــات</a:t>
            </a:r>
            <a:endParaRPr lang="fr-FR" sz="40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7969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  <a:cs typeface="+mj-cs"/>
              </a:rPr>
              <a:t>أتـذكـر </a:t>
            </a:r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( 4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. مــضــاد </a:t>
            </a:r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الــفـــيــــروســـــات  –  تــابــع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35000"/>
              </a:lnSpc>
              <a:buNone/>
            </a:pP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وكــذلــك إصــلاح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الَّـتي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اِرْتَــبَــطَــتْ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بـهـا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الــفــيــروســات أو </a:t>
            </a:r>
            <a:r>
              <a:rPr lang="ar-DZ" sz="4400" baseline="-25000" dirty="0">
                <a:solidFill>
                  <a:srgbClr val="002060"/>
                </a:solidFill>
                <a:cs typeface="+mj-cs"/>
              </a:rPr>
              <a:t>........................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</a:t>
            </a:r>
          </a:p>
          <a:p>
            <a:pPr marL="0" indent="0" algn="just" rtl="1">
              <a:lnSpc>
                <a:spcPct val="114000"/>
              </a:lnSpc>
              <a:buNone/>
            </a:pP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مِــنْ أَشْــهَـــرِ مُــضَـــادَاتِ الــفَــيْـــرُوسَـــــات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: </a:t>
            </a:r>
            <a:r>
              <a:rPr lang="ar-DZ" sz="44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</a:t>
            </a:r>
          </a:p>
          <a:p>
            <a:pPr marL="0" indent="0" algn="just" rtl="1">
              <a:lnSpc>
                <a:spcPct val="114000"/>
              </a:lnSpc>
              <a:buNone/>
            </a:pPr>
            <a:endParaRPr lang="fr-FR" sz="4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4772962" y="1590034"/>
            <a:ext cx="280831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الـمــلــفــات</a:t>
            </a:r>
            <a:endParaRPr lang="fr-FR" sz="4000" b="1" dirty="0">
              <a:solidFill>
                <a:srgbClr val="0070C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63952" y="2489933"/>
            <a:ext cx="221988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حَــذْفِــهَـا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85678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  <a:cs typeface="+mj-cs"/>
              </a:rPr>
              <a:t>أتـذكـر </a:t>
            </a:r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( 4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. مــضــاد </a:t>
            </a:r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الــفـــيــــروســـــات  –  تــابــع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35000"/>
              </a:lnSpc>
              <a:buNone/>
            </a:pP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وكــذلــك إصــلاح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الَّـتي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اِرْتَــبَــطَــتْ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بـهـا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الــفــيــروســات أو </a:t>
            </a:r>
            <a:r>
              <a:rPr lang="ar-DZ" sz="4400" baseline="-25000" dirty="0">
                <a:solidFill>
                  <a:srgbClr val="002060"/>
                </a:solidFill>
                <a:cs typeface="+mj-cs"/>
              </a:rPr>
              <a:t>........................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</a:t>
            </a: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مِــنْ أَشْــهَـــرِ مُــضَـــادَاتِ الــفَــيْـــرُوسَـــــات : </a:t>
            </a:r>
            <a:r>
              <a:rPr lang="ar-DZ" sz="44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</a:t>
            </a:r>
          </a:p>
          <a:p>
            <a:pPr marL="0" indent="0" algn="just" rtl="1">
              <a:lnSpc>
                <a:spcPct val="114000"/>
              </a:lnSpc>
              <a:buNone/>
            </a:pPr>
            <a:endParaRPr lang="fr-FR" sz="4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4772962" y="1590034"/>
            <a:ext cx="280831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الـمــلــفــات</a:t>
            </a:r>
            <a:endParaRPr lang="fr-FR" sz="4000" b="1" dirty="0">
              <a:solidFill>
                <a:srgbClr val="0070C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63952" y="2489933"/>
            <a:ext cx="221988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حَــذْفِــهَـا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68524" y="4437112"/>
            <a:ext cx="102971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cs typeface="+mj-cs"/>
              </a:rPr>
              <a:t>Kaspersky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 ،   </a:t>
            </a:r>
            <a:r>
              <a:rPr lang="fr-FR" sz="4000" b="1" dirty="0" smtClean="0">
                <a:solidFill>
                  <a:srgbClr val="0070C0"/>
                </a:solidFill>
                <a:cs typeface="+mj-cs"/>
              </a:rPr>
              <a:t>Avira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 ،  </a:t>
            </a:r>
            <a:r>
              <a:rPr lang="fr-FR" sz="4000" b="1" dirty="0" smtClean="0">
                <a:solidFill>
                  <a:srgbClr val="0070C0"/>
                </a:solidFill>
                <a:cs typeface="+mj-cs"/>
              </a:rPr>
              <a:t>Avast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 ،  </a:t>
            </a:r>
            <a:r>
              <a:rPr lang="fr-FR" sz="4000" b="1" dirty="0" smtClean="0">
                <a:solidFill>
                  <a:srgbClr val="0070C0"/>
                </a:solidFill>
                <a:cs typeface="+mj-cs"/>
              </a:rPr>
              <a:t>AVG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 ،  </a:t>
            </a:r>
            <a:r>
              <a:rPr lang="fr-FR" sz="4000" b="1" dirty="0" smtClean="0">
                <a:solidFill>
                  <a:srgbClr val="0070C0"/>
                </a:solidFill>
                <a:cs typeface="+mj-cs"/>
              </a:rPr>
              <a:t>Norton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92515" y="5481145"/>
            <a:ext cx="102971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اسـتـغــلال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الـمــوقــع الـمــمــتــاز :</a:t>
            </a:r>
            <a:r>
              <a:rPr lang="ar-DZ" sz="4000" b="1" dirty="0" smtClean="0">
                <a:solidFill>
                  <a:schemeClr val="tx1"/>
                </a:solidFill>
                <a:cs typeface="+mj-cs"/>
              </a:rPr>
              <a:t> 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VirusTotal.com</a:t>
            </a:r>
          </a:p>
        </p:txBody>
      </p:sp>
    </p:spTree>
    <p:extLst>
      <p:ext uri="{BB962C8B-B14F-4D97-AF65-F5344CB8AC3E}">
        <p14:creationId xmlns:p14="http://schemas.microsoft.com/office/powerpoint/2010/main" val="1610964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9" grpId="0" animBg="1"/>
      <p:bldP spid="8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  <a:cs typeface="+mj-cs"/>
              </a:rPr>
              <a:t>أتـذكـر </a:t>
            </a:r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( 4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. مــضــاد </a:t>
            </a:r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الــفـــيــــروســـــات  –  تــابــع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35000"/>
              </a:lnSpc>
              <a:buNone/>
            </a:pP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وكــذلــك إصــلاح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الَّـتي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اِرْتَــبَــطَــتْ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بـهـا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الــفــيــروســات أو </a:t>
            </a:r>
            <a:r>
              <a:rPr lang="ar-DZ" sz="4400" baseline="-25000" dirty="0">
                <a:solidFill>
                  <a:srgbClr val="002060"/>
                </a:solidFill>
                <a:cs typeface="+mj-cs"/>
              </a:rPr>
              <a:t>........................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</a:t>
            </a: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مِــنْ أَشْــهَـــرِ مُــضَـــادَاتِ الــفَــيْـــرُوسَـــــات : </a:t>
            </a:r>
            <a:r>
              <a:rPr lang="ar-DZ" sz="44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</a:t>
            </a:r>
          </a:p>
          <a:p>
            <a:pPr marL="0" indent="0" algn="just" rtl="1">
              <a:lnSpc>
                <a:spcPct val="114000"/>
              </a:lnSpc>
              <a:buNone/>
            </a:pPr>
            <a:endParaRPr lang="fr-FR" sz="4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4772962" y="1590034"/>
            <a:ext cx="280831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الـمــلــفــات</a:t>
            </a:r>
            <a:endParaRPr lang="fr-FR" sz="4000" b="1" dirty="0">
              <a:solidFill>
                <a:srgbClr val="0070C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63952" y="2489933"/>
            <a:ext cx="221988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حَــذْفِــهَـا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68524" y="4437112"/>
            <a:ext cx="102971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cs typeface="+mj-cs"/>
              </a:rPr>
              <a:t>Kaspersky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 ،   </a:t>
            </a:r>
            <a:r>
              <a:rPr lang="fr-FR" sz="4000" b="1" dirty="0" smtClean="0">
                <a:solidFill>
                  <a:srgbClr val="0070C0"/>
                </a:solidFill>
                <a:cs typeface="+mj-cs"/>
              </a:rPr>
              <a:t>Avira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 ،  </a:t>
            </a:r>
            <a:r>
              <a:rPr lang="fr-FR" sz="4000" b="1" dirty="0" smtClean="0">
                <a:solidFill>
                  <a:srgbClr val="0070C0"/>
                </a:solidFill>
                <a:cs typeface="+mj-cs"/>
              </a:rPr>
              <a:t>Avast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 ،  </a:t>
            </a:r>
            <a:r>
              <a:rPr lang="fr-FR" sz="4000" b="1" dirty="0" smtClean="0">
                <a:solidFill>
                  <a:srgbClr val="0070C0"/>
                </a:solidFill>
                <a:cs typeface="+mj-cs"/>
              </a:rPr>
              <a:t>AVG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 ،  </a:t>
            </a:r>
            <a:r>
              <a:rPr lang="fr-FR" sz="4000" b="1" dirty="0" smtClean="0">
                <a:solidFill>
                  <a:srgbClr val="0070C0"/>
                </a:solidFill>
                <a:cs typeface="+mj-cs"/>
              </a:rPr>
              <a:t>Norton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92515" y="5481145"/>
            <a:ext cx="102971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اسـتـغــلال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الـمــوقــع الـمــمــتــاز :</a:t>
            </a:r>
            <a:r>
              <a:rPr lang="ar-DZ" sz="4000" b="1" dirty="0" smtClean="0">
                <a:solidFill>
                  <a:schemeClr val="tx1"/>
                </a:solidFill>
                <a:cs typeface="+mj-cs"/>
              </a:rPr>
              <a:t> 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VirusTotal.com</a:t>
            </a: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68000" cy="684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9638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9" grpId="0" animBg="1"/>
      <p:bldP spid="8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  <a:cs typeface="+mj-cs"/>
              </a:rPr>
              <a:t>أتـذكـر </a:t>
            </a:r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( 4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. مــضــاد </a:t>
            </a:r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الــفـــيــــروســـــات  –  تــابــع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35000"/>
              </a:lnSpc>
              <a:buNone/>
            </a:pP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وكــذلــك إصــلاح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الَّـتي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اِرْتَــبَــطَــتْ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بـهـا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الــفــيــروســات أو </a:t>
            </a:r>
            <a:r>
              <a:rPr lang="ar-DZ" sz="4400" baseline="-25000" dirty="0">
                <a:solidFill>
                  <a:srgbClr val="002060"/>
                </a:solidFill>
                <a:cs typeface="+mj-cs"/>
              </a:rPr>
              <a:t>........................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</a:t>
            </a: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مِــنْ أَشْــهَـــرِ مُــضَـــادَاتِ الــفَــيْـــرُوسَـــــات : </a:t>
            </a:r>
            <a:r>
              <a:rPr lang="ar-DZ" sz="44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</a:t>
            </a:r>
          </a:p>
          <a:p>
            <a:pPr marL="0" indent="0" algn="just" rtl="1">
              <a:lnSpc>
                <a:spcPct val="114000"/>
              </a:lnSpc>
              <a:buNone/>
            </a:pPr>
            <a:endParaRPr lang="fr-FR" sz="4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4772962" y="1590034"/>
            <a:ext cx="280831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الـمــلــفــات</a:t>
            </a:r>
            <a:endParaRPr lang="fr-FR" sz="4000" b="1" dirty="0">
              <a:solidFill>
                <a:srgbClr val="0070C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63952" y="2489933"/>
            <a:ext cx="221988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حَــذْفِــهَـا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68524" y="4437112"/>
            <a:ext cx="102971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cs typeface="+mj-cs"/>
              </a:rPr>
              <a:t>Kaspersky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 ،   </a:t>
            </a:r>
            <a:r>
              <a:rPr lang="fr-FR" sz="4000" b="1" dirty="0" smtClean="0">
                <a:solidFill>
                  <a:srgbClr val="0070C0"/>
                </a:solidFill>
                <a:cs typeface="+mj-cs"/>
              </a:rPr>
              <a:t>Avira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 ،  </a:t>
            </a:r>
            <a:r>
              <a:rPr lang="fr-FR" sz="4000" b="1" dirty="0" smtClean="0">
                <a:solidFill>
                  <a:srgbClr val="0070C0"/>
                </a:solidFill>
                <a:cs typeface="+mj-cs"/>
              </a:rPr>
              <a:t>Avast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 ،  </a:t>
            </a:r>
            <a:r>
              <a:rPr lang="fr-FR" sz="4000" b="1" dirty="0" smtClean="0">
                <a:solidFill>
                  <a:srgbClr val="0070C0"/>
                </a:solidFill>
                <a:cs typeface="+mj-cs"/>
              </a:rPr>
              <a:t>AVG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 ،  </a:t>
            </a:r>
            <a:r>
              <a:rPr lang="fr-FR" sz="4000" b="1" dirty="0" smtClean="0">
                <a:solidFill>
                  <a:srgbClr val="0070C0"/>
                </a:solidFill>
                <a:cs typeface="+mj-cs"/>
              </a:rPr>
              <a:t>Norton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92515" y="5481145"/>
            <a:ext cx="102971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اسـتـغــلال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الـمــوقــع الـمــمــتــاز :</a:t>
            </a:r>
            <a:r>
              <a:rPr lang="ar-DZ" sz="4000" b="1" dirty="0" smtClean="0">
                <a:solidFill>
                  <a:schemeClr val="tx1"/>
                </a:solidFill>
                <a:cs typeface="+mj-cs"/>
              </a:rPr>
              <a:t> 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VirusTotal.com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15" y="0"/>
            <a:ext cx="12168000" cy="684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9467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9" grpId="0" animBg="1"/>
      <p:bldP spid="8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>
                <a:solidFill>
                  <a:srgbClr val="FF0000"/>
                </a:solidFill>
                <a:cs typeface="+mj-cs"/>
              </a:rPr>
              <a:t> نَــشَــاط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6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اســتــغــلال مــضــاد الــفــيـــروســات </a:t>
            </a:r>
            <a:r>
              <a:rPr lang="fr-FR" sz="3600" b="1" dirty="0">
                <a:solidFill>
                  <a:srgbClr val="0070C0"/>
                </a:solidFill>
              </a:rPr>
              <a:t>VirusTotal.com</a:t>
            </a:r>
            <a:endParaRPr lang="fr-FR" sz="3600" i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 rtl="1">
              <a:lnSpc>
                <a:spcPct val="125000"/>
              </a:lnSpc>
              <a:buNone/>
            </a:pPr>
            <a:endParaRPr lang="fr-FR" sz="2000" b="1" dirty="0" smtClean="0">
              <a:cs typeface="+mj-cs"/>
            </a:endParaRPr>
          </a:p>
          <a:p>
            <a:pPr marL="0" indent="0" algn="ctr" rtl="1">
              <a:buNone/>
            </a:pPr>
            <a:r>
              <a:rPr lang="ar-DZ" sz="4800" b="1" dirty="0" smtClean="0">
                <a:solidFill>
                  <a:schemeClr val="tx1"/>
                </a:solidFill>
                <a:cs typeface="+mj-cs"/>
              </a:rPr>
              <a:t>فَــحْـــص الــمـــلــــفـــــات والــرَوَابِــــط</a:t>
            </a:r>
          </a:p>
          <a:p>
            <a:pPr marL="0" indent="0" algn="ctr" rtl="1">
              <a:buNone/>
            </a:pPr>
            <a:r>
              <a:rPr lang="ar-DZ" sz="4800" b="1" dirty="0" smtClean="0">
                <a:solidFill>
                  <a:schemeClr val="tx1"/>
                </a:solidFill>
                <a:cs typeface="+mj-cs"/>
              </a:rPr>
              <a:t> بـاســتــغــلال مــضــادات الـفــيــروســـات </a:t>
            </a:r>
          </a:p>
          <a:p>
            <a:pPr marL="0" indent="0" algn="ctr" rtl="1">
              <a:buNone/>
            </a:pPr>
            <a:r>
              <a:rPr lang="ar-DZ" sz="4800" b="1" dirty="0" smtClean="0">
                <a:solidFill>
                  <a:schemeClr val="tx1"/>
                </a:solidFill>
                <a:cs typeface="+mj-cs"/>
              </a:rPr>
              <a:t>الــمــتــوفـــرة فـي الـمــوقــع الـمــمــتــاز : </a:t>
            </a:r>
            <a:endParaRPr lang="fr-FR" sz="4800" b="1" dirty="0" smtClean="0">
              <a:solidFill>
                <a:schemeClr val="tx1"/>
              </a:solidFill>
              <a:cs typeface="+mj-cs"/>
            </a:endParaRPr>
          </a:p>
          <a:p>
            <a:pPr marL="0" indent="0" algn="ctr" rtl="1">
              <a:buNone/>
            </a:pP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«</a:t>
            </a:r>
            <a:r>
              <a:rPr lang="fr-FR" sz="4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400" b="1" dirty="0" smtClean="0">
                <a:solidFill>
                  <a:srgbClr val="0070C0"/>
                </a:solidFill>
              </a:rPr>
              <a:t>VirusTotal.com</a:t>
            </a:r>
            <a:r>
              <a:rPr lang="fr-FR" sz="4400" b="1" dirty="0" smtClean="0">
                <a:solidFill>
                  <a:srgbClr val="002060"/>
                </a:solidFill>
              </a:rPr>
              <a:t>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»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956309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u="sng" dirty="0">
                <a:solidFill>
                  <a:srgbClr val="FF0000"/>
                </a:solidFill>
              </a:rPr>
              <a:t>واجــب مـنـزلـي</a:t>
            </a:r>
            <a:r>
              <a:rPr lang="ar-DZ" sz="4800" b="1" dirty="0">
                <a:solidFill>
                  <a:srgbClr val="FF0000"/>
                </a:solidFill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12568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4400" b="1" dirty="0">
                <a:cs typeface="+mj-cs"/>
              </a:rPr>
              <a:t>أ - </a:t>
            </a:r>
            <a:r>
              <a:rPr lang="ar-SA" sz="4000" b="1" dirty="0">
                <a:cs typeface="+mj-cs"/>
              </a:rPr>
              <a:t>مــا هــي أَبْـــرَزِ أســبـــاب الــعــــدوى بـالـفــيـــروســـات  ؟ عَــلِّــلْ إِجَـــابَــتَــك .</a:t>
            </a:r>
            <a:endParaRPr lang="fr-FR" sz="4000" dirty="0">
              <a:cs typeface="+mj-cs"/>
            </a:endParaRPr>
          </a:p>
          <a:p>
            <a:pPr marL="0" indent="0" algn="just" rtl="1">
              <a:buNone/>
            </a:pPr>
            <a:endParaRPr lang="fr-FR" sz="500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4400" b="1" dirty="0">
                <a:cs typeface="+mj-cs"/>
              </a:rPr>
              <a:t>ب – </a:t>
            </a:r>
            <a:r>
              <a:rPr lang="ar-DZ" sz="4000" b="1" dirty="0">
                <a:cs typeface="+mj-cs"/>
              </a:rPr>
              <a:t>ومــا هــو الـحــل الأمــثــل لـحــمــايــة الــبــيـــانــات مـن الــضَّـيــاع ( مَـهْــمَـا كـان الـســبــب </a:t>
            </a:r>
            <a:r>
              <a:rPr lang="ar-DZ" sz="4000" b="1" dirty="0" smtClean="0">
                <a:cs typeface="+mj-cs"/>
              </a:rPr>
              <a:t>) ؟ </a:t>
            </a:r>
            <a:r>
              <a:rPr lang="ar-DZ" sz="4000" b="1" dirty="0">
                <a:cs typeface="+mj-cs"/>
              </a:rPr>
              <a:t>عَــلِّــلْ إِجَـــابَـــتَــكَ </a:t>
            </a:r>
            <a:r>
              <a:rPr lang="ar-DZ" sz="4000" b="1" dirty="0" smtClean="0">
                <a:cs typeface="+mj-cs"/>
              </a:rPr>
              <a:t>.</a:t>
            </a:r>
            <a:endParaRPr lang="fr-FR" sz="4000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780418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à coins arrondis 8"/>
          <p:cNvSpPr/>
          <p:nvPr/>
        </p:nvSpPr>
        <p:spPr bwMode="auto">
          <a:xfrm>
            <a:off x="10668000" y="2786058"/>
            <a:ext cx="7143800" cy="785818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fr-FR" sz="2400">
              <a:solidFill>
                <a:prstClr val="white"/>
              </a:solidFill>
            </a:endParaRPr>
          </a:p>
        </p:txBody>
      </p:sp>
      <p:pic>
        <p:nvPicPr>
          <p:cNvPr id="2054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39214" y="-71462"/>
            <a:ext cx="1728787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728788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e la date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B4B70AF9-3FB6-400F-9757-12747EE37EB3}" type="datetime1">
              <a:rPr lang="fr-FR" smtClean="0"/>
              <a:t>31/10/2025</a:t>
            </a:fld>
            <a:endParaRPr lang="fr-FR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938770" y="2012966"/>
            <a:ext cx="9793088" cy="3456385"/>
          </a:xfrm>
          <a:prstGeom prst="roundRect">
            <a:avLst>
              <a:gd name="adj" fmla="val 26762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شـــكـــــــــــرا لـــكــم</a:t>
            </a:r>
          </a:p>
          <a:p>
            <a:pPr lvl="0" algn="ctr" defTabSz="100965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بالـتـوفـيـق للـجــمـيـع</a:t>
            </a:r>
            <a:endParaRPr lang="ar-SA" altLang="zh-CN" sz="6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itchFamily="34" charset="0"/>
              <a:cs typeface="+mj-cs"/>
            </a:endParaRPr>
          </a:p>
          <a:p>
            <a:pPr algn="ctr" rtl="1"/>
            <a:endParaRPr lang="fr-FR" sz="5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63605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>
                <a:solidFill>
                  <a:srgbClr val="FF0000"/>
                </a:solidFill>
                <a:cs typeface="+mj-cs"/>
              </a:rPr>
              <a:t> نَــشَــاط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7 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تــثـبــيــت مــضـــاد الــفـــيـــروســــات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 rtl="1">
              <a:lnSpc>
                <a:spcPct val="125000"/>
              </a:lnSpc>
              <a:buNone/>
            </a:pPr>
            <a:endParaRPr lang="fr-FR" sz="2000" b="1" dirty="0" smtClean="0">
              <a:cs typeface="+mj-cs"/>
            </a:endParaRPr>
          </a:p>
          <a:p>
            <a:pPr marL="0" indent="0" algn="ctr" rtl="1">
              <a:buNone/>
            </a:pPr>
            <a:r>
              <a:rPr lang="ar-DZ" sz="4400" b="1" dirty="0" smtClean="0">
                <a:solidFill>
                  <a:schemeClr val="tx1"/>
                </a:solidFill>
                <a:cs typeface="+mj-cs"/>
              </a:rPr>
              <a:t>تــثـبــيــت مــضــاد الـفــيــروســـات </a:t>
            </a:r>
            <a:r>
              <a:rPr lang="fr-FR" sz="4000" b="1" dirty="0" smtClean="0">
                <a:solidFill>
                  <a:srgbClr val="002060"/>
                </a:solidFill>
                <a:cs typeface="+mj-cs"/>
              </a:rPr>
              <a:t>Avast  Antivirus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marL="0" indent="0" algn="ctr" rtl="1">
              <a:buNone/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في </a:t>
            </a:r>
            <a:r>
              <a:rPr lang="ar-DZ" sz="4400" b="1" dirty="0" smtClean="0">
                <a:solidFill>
                  <a:srgbClr val="0070C0"/>
                </a:solidFill>
              </a:rPr>
              <a:t>حَـــاسُــوب اِفْـــتِـــرَاضِـي</a:t>
            </a:r>
          </a:p>
          <a:p>
            <a:pPr marL="0" indent="0" algn="ctr" rtl="1">
              <a:buNone/>
            </a:pPr>
            <a:r>
              <a:rPr lang="ar-DZ" sz="4400" b="1" dirty="0" smtClean="0">
                <a:solidFill>
                  <a:schemeClr val="tx1"/>
                </a:solidFill>
                <a:cs typeface="+mj-cs"/>
              </a:rPr>
              <a:t>بـاســتــغـــلال بــرمــجــيــة الـمُــحَـــاكَـــاة</a:t>
            </a:r>
          </a:p>
          <a:p>
            <a:pPr marL="0" indent="0" algn="ctr" rtl="1">
              <a:buNone/>
            </a:pP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«</a:t>
            </a:r>
            <a:r>
              <a:rPr lang="fr-FR" sz="4400" b="1" dirty="0" smtClean="0">
                <a:solidFill>
                  <a:srgbClr val="FF0000"/>
                </a:solidFill>
                <a:cs typeface="+mj-cs"/>
              </a:rPr>
              <a:t> Oracle VM </a:t>
            </a:r>
            <a:r>
              <a:rPr lang="fr-FR" sz="4400" b="1" dirty="0" err="1" smtClean="0">
                <a:solidFill>
                  <a:srgbClr val="FF0000"/>
                </a:solidFill>
                <a:cs typeface="+mj-cs"/>
              </a:rPr>
              <a:t>VirtualBox</a:t>
            </a:r>
            <a:r>
              <a:rPr lang="fr-FR" sz="4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»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31/10/2025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63296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</p:bld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dèle par défaut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èle par défaut">
      <a:majorFont>
        <a:latin typeface="Times New Roman"/>
        <a:ea typeface="SimSun"/>
        <a:cs typeface=""/>
      </a:majorFont>
      <a:minorFont>
        <a:latin typeface="Times New Roman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SimSun" pitchFamily="2" charset="-122"/>
          </a:defRPr>
        </a:defPPr>
      </a:lst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25412</TotalTime>
  <Words>3144</Words>
  <Application>Microsoft Office PowerPoint</Application>
  <PresentationFormat>Grand écran</PresentationFormat>
  <Paragraphs>923</Paragraphs>
  <Slides>128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128</vt:i4>
      </vt:variant>
    </vt:vector>
  </HeadingPairs>
  <TitlesOfParts>
    <vt:vector size="138" baseType="lpstr">
      <vt:lpstr>Arial Unicode MS</vt:lpstr>
      <vt:lpstr>SimSun</vt:lpstr>
      <vt:lpstr>SimSun</vt:lpstr>
      <vt:lpstr>Arial</vt:lpstr>
      <vt:lpstr>Calibri</vt:lpstr>
      <vt:lpstr>Droid Sans Fallback</vt:lpstr>
      <vt:lpstr>Times New Roman</vt:lpstr>
      <vt:lpstr>Wingdings</vt:lpstr>
      <vt:lpstr>Thème Office</vt:lpstr>
      <vt:lpstr>Modèle par défaut</vt:lpstr>
      <vt:lpstr>Présentation PowerPoint</vt:lpstr>
      <vt:lpstr>Présentation PowerPoint</vt:lpstr>
      <vt:lpstr>الإشــكــالــيــة :</vt:lpstr>
      <vt:lpstr>الإجــابــة :</vt:lpstr>
      <vt:lpstr>الإجــابــة :</vt:lpstr>
      <vt:lpstr>الإجــابــة :</vt:lpstr>
      <vt:lpstr>Présentation PowerPoint</vt:lpstr>
      <vt:lpstr>Présentation PowerPoint</vt:lpstr>
      <vt:lpstr>Présentation PowerPoint</vt:lpstr>
      <vt:lpstr>1. الـبـرمـجـيــات الـخــبــيــثـة  Malwares</vt:lpstr>
      <vt:lpstr> ســؤال : يـتـألـف الـمـصـطـلح  Malware  مـن مــقـطـعــيـن مـا هــمـا ؟</vt:lpstr>
      <vt:lpstr> ســؤال : يـتـألـف الـمـصـطـلح  Malware  مـن مــقـطـعــيـن مـا هــمـا ؟</vt:lpstr>
      <vt:lpstr> ســؤال : يـتـألـف الـمـصـطـلح  Malware  مـن مــقـطـعــيـن مـا هــمـا ؟</vt:lpstr>
      <vt:lpstr> ســؤال : يـتـألـف الـمـصـطـلح  Malware  مـن مــقـطـعــيـن مـا هــمـا ؟</vt:lpstr>
      <vt:lpstr>سـؤال : مـا هـي الـجَــوَانِــب الّـتِي تَـمُــسُهـا الـبَــرَامِـجُ الـخَــبِــيــثَــة ؟</vt:lpstr>
      <vt:lpstr>سـؤال : مـا هـي الـجَــوَانِــب الّـتِي تَـمُــسُهـا الـبَــرَامِـجُ الـخَــبِــيــثَــة ؟</vt:lpstr>
      <vt:lpstr>سـؤال : مـا هـي الـجَــوَانِــب الّـتِي تَـمُــسُهـا الـبَــرَامِـجُ الـخَــبِــيــثَــة ؟</vt:lpstr>
      <vt:lpstr> ســؤال : مـا هـي أضــرار الـبَــرَامِـجُ الـخَــبِــيــثَــة بـالـحــاســوب ؟</vt:lpstr>
      <vt:lpstr> ســؤال : مـا هـي أضــرار الـبَــرَامِـجُ الـخَــبِــيــثَــة بـالـحــاســوب ؟</vt:lpstr>
      <vt:lpstr> ســؤال : مـا هـي أضــرار الـبَــرَامِـجُ الـخَــبِــيــثَــة بـالـمــســتــخــدم ؟</vt:lpstr>
      <vt:lpstr>أتـذكـر </vt:lpstr>
      <vt:lpstr>أتـذكـر </vt:lpstr>
      <vt:lpstr>أتـذكـر </vt:lpstr>
      <vt:lpstr>أتـذكـر </vt:lpstr>
      <vt:lpstr>أتـذكـر </vt:lpstr>
      <vt:lpstr>أتـذكـر </vt:lpstr>
      <vt:lpstr>2.1 أنــواع الـبــرمــجــيــات الـخــبـــيـــثــة</vt:lpstr>
      <vt:lpstr>أتـذكـر  ( 2.1 أنــواع الـبــرمــجــيــات الـخــبـــيـــثــة )</vt:lpstr>
      <vt:lpstr>أتـذكـر  ( 2.1 أنــواع الـبــرمــجــيــات الـخــبـــيـــثــة )</vt:lpstr>
      <vt:lpstr>أتـذكـر  ( 2.1 أنــواع الـبــرمــجــيــات الـخــبـــيـــثــة )</vt:lpstr>
      <vt:lpstr> تــذكــيــر مـن  الــوحـــدة 1 :  3.3 تـطــوُّر الـبــرامــج</vt:lpstr>
      <vt:lpstr>أتـذكـر  ( 2.1 أنــواع الـبــرمــجــيــات الـخــبـــيـــثــة )</vt:lpstr>
      <vt:lpstr>أتـذكـر  ( 2.1 أنــواع الـبــرمــجــيــات الـخــبـــيـــثــة )</vt:lpstr>
      <vt:lpstr>أتـذكـر  ( 2.1 أنــواع الـبــرمــجــيــات الـخــبـــيـــثــة  –  تـــابــع )</vt:lpstr>
      <vt:lpstr>أتـذكـر  ( 2.1 أنــواع الـبــرمــجــيــات الـخــبـــيـــثــة  –  تـــابــع )</vt:lpstr>
      <vt:lpstr>أتـذكـر  ( 2.1 أنــواع الـبــرمــجــيــات الـخــبـــيـــثــة  –  تـــابــع )</vt:lpstr>
      <vt:lpstr>أتـذكـر  ( 2.1 أنــواع الـبــرمــجــيــات الـخــبـــيـــثــة  –  تـــابــع )</vt:lpstr>
      <vt:lpstr>2. أعـــراض الإصــابــة بـالــفــيـــروســــات </vt:lpstr>
      <vt:lpstr>سـؤال : كـيـف يـكـون بِــدْءُ الـتـشــغــيـل وتـنـفــيــذ الـبــرامـج في الـحـــالــتــيــن :</vt:lpstr>
      <vt:lpstr>سـؤال : كـيـف يـكـون بِــدْءُ الـتـشــغــيـل وتـنـفــيــذ الـبــرامـج في الـحـــالــتــيــن :</vt:lpstr>
      <vt:lpstr>سـؤال : كـيـف يـكـون بِــدْءُ الـتـشــغــيـل وتـنـفــيــذ الـبــرامـج في الـحـــالــتــيــن :</vt:lpstr>
      <vt:lpstr> أتـذكـر: ( نَــشَـاط 3 – أعـــراض الإصــابــة بـالــفـــيـــروســـات ) </vt:lpstr>
      <vt:lpstr> أتـذكـر: ( نَــشَـاط 3 – أعـــراض الإصــابــة بـالــفـــيـــروســـات ) </vt:lpstr>
      <vt:lpstr>سـؤال : كـيـف تـؤثــر الـفــيـروســات عـلـى الـمــوارد : RAM / HDD ؟</vt:lpstr>
      <vt:lpstr>سـؤال : كـيـف تـؤثــر الـفــيـروســات عـلـى الـمــوارد : RAM / HDD ؟</vt:lpstr>
      <vt:lpstr>سـؤال : كـيـف تـؤثــر الـفــيـروســات عـلـى الـمــوارد : RAM / HDD ؟</vt:lpstr>
      <vt:lpstr> أتـذكـر: ( نَــشَـاط 3 – أعـــراض الإصــابــة بـالــفـــيـــروســـات ) </vt:lpstr>
      <vt:lpstr> أتـذكـر: ( نَــشَـاط 3 – أعـــراض الإصــابــة بـالــفـــيـــروســـات ) </vt:lpstr>
      <vt:lpstr> أتـذكـر: ( نَــشَـاط 3 – أعـــراض الإصــابــة بـالــفـــيـــروســـات ) </vt:lpstr>
      <vt:lpstr>ســؤال : كـيـف تُــؤَثِّــرُ الـفــيــروســات عـلـى مـلـفـات الـحــاســوب ؟</vt:lpstr>
      <vt:lpstr>ســؤال : كـيـف تُــؤَثِّــرُ الـفــيــروســات عـلـى مـلـفـات الـحــاســوب ؟</vt:lpstr>
      <vt:lpstr>ســؤال : كـيـف تُــؤَثِّــرُ الـفــيــروســات عـلـى مـلـفـات الـحــاســوب ؟</vt:lpstr>
      <vt:lpstr> أتـذكـر : ( 2. أعـــراض الإصــابــة بـالــفــيــروســـات  -  تــابـع ) </vt:lpstr>
      <vt:lpstr> أتـذكـر : ( 2. أعـــراض الإصــابــة بـالــفــيــروســـات  -  تــابـع ) </vt:lpstr>
      <vt:lpstr> أتـذكـر : ( 2. أعـــراض الإصــابــة بـالــفــيــروســـات  -  تــابـع ) </vt:lpstr>
      <vt:lpstr> أتـذكـر : ( 2. أعـــراض الإصــابــة بـالــفــيــروســـات  -  تــابـع ) </vt:lpstr>
      <vt:lpstr> أتـذكـر : ( 2. أعـــراض الإصــابــة بـالــفــيــروســـات  -  تــابـع ) </vt:lpstr>
      <vt:lpstr>ســؤال : كـيـف يُــؤَثِّــرُ تَــلَــفُ الـمـلـفـات عـلـى الـبــرامـج الَّـتِي تـحـتـاجـهـا ؟</vt:lpstr>
      <vt:lpstr>ســؤال : كـيـف يُــؤَثِّــرُ تَــلَــفُ الـمـلـفـات عـلـى الـبــرامـج الَّـتِي تـحـتـاجـهـا ؟</vt:lpstr>
      <vt:lpstr>ســؤال : كـيـف يُــؤَثِّــرُ تَــلَــفُ الـمـلـفـات عـلـى الـبــرامـج الَّـتِي تـحـتـاجـهـا ؟</vt:lpstr>
      <vt:lpstr> أتـذكـر : ( 2. أعـــراض الإصــابــة بـالــفــيــروســـات  -  تــابـع ) </vt:lpstr>
      <vt:lpstr> أتـذكـر : ( 2. أعـــراض الإصــابــة بـالــفــيــروســـات  -  تــابـع ) </vt:lpstr>
      <vt:lpstr> 3. الــوقـــايـــة مـن  الــفــيـــروســــات </vt:lpstr>
      <vt:lpstr>ســؤال : هـل تَــلَــفُ الـمـلـفـات رَاجِـعٌ دَائِـمًـا إلـى الـبـرامـج الـخــبــيــثـة ؟</vt:lpstr>
      <vt:lpstr>ســؤال : هـل تَــلَــفُ الـمـلـفـات رَاجِـعٌ دَائِـمًـا إلـى الـبـرامـج الـخــبــيــثـة ؟</vt:lpstr>
      <vt:lpstr>سـؤال : كـيـف نـحـمـي الـمـلـفـات مـن الـضـياع بـغـض الـنـظـر عـن الـسـبـب؟</vt:lpstr>
      <vt:lpstr>سـؤال : كـيـف نـحـمـي الـمـلـفـات مـن الـضـياع بـغـض الـنـظـر عـن الـسـبـب؟</vt:lpstr>
      <vt:lpstr> أتـذكـر: ( نَــشَـاط 4  –  الــوقـــايـــة مـن  الــفــيـــروســــات ) </vt:lpstr>
      <vt:lpstr> أتـذكـر: ( نَــشَـاط 4  –  الــوقـــايـــة مـن  الــفــيـــروســــات ) </vt:lpstr>
      <vt:lpstr> أتـذكـر: ( نَــشَـاط 4  –  الــوقـــايـــة مـن  الــفــيـــروســــات ) </vt:lpstr>
      <vt:lpstr> أتـذكـر: ( نَــشَـاط 4  –  الــوقـــايـــة مـن  الــفــيـــروســــات ) </vt:lpstr>
      <vt:lpstr>ســؤال : مــا هـي الـبــرامـج الَّـتِي تـلْـزَمُـنَـا لـحــمــايــة الـحــاســوب ؟</vt:lpstr>
      <vt:lpstr>ســؤال : مــا هـي الـبــرامـج الَّـتِي تـلْـزَمُـنَـا لـحــمــايــة الـحــاســوب ؟</vt:lpstr>
      <vt:lpstr> أتـذكـر: ( نَــشَـاط 4  –  الــوقـــايـــة مـن  الــفــيـــروســــات ) </vt:lpstr>
      <vt:lpstr> أتـذكـر: ( نَــشَـاط 4  –  الــوقـــايـــة مـن  الــفــيـــروســــات ) </vt:lpstr>
      <vt:lpstr>تــنــصــيــب   بــرامــج الـحـــمـــايــــة  الــضَــرُورِيَــة : </vt:lpstr>
      <vt:lpstr>تــنــصــيــب   بــرامــج الـحـــمـــايــــة  الــضَــرُورِيَــة : </vt:lpstr>
      <vt:lpstr>حــمــايــة الـحــاســوب يــتــطــلــب بــرامـج الـحــمــايــة :</vt:lpstr>
      <vt:lpstr>تــنــصــيــب   بــرامــج الـحـــمـــايــــة  الــضَــرُورِيَــة : </vt:lpstr>
      <vt:lpstr>تــنــصــيــب   بــرامــج الـحـــمـــايــــة  الــضَــرُورِيَــة : </vt:lpstr>
      <vt:lpstr>حــمــايــة الـحــاســوب يــتــطــلــب بــرامـج الـحــمــايــة :</vt:lpstr>
      <vt:lpstr>تــنــصــيــب   بــرامــج الـحـــمـــايــــة  الــضَــرُورِيَــة : </vt:lpstr>
      <vt:lpstr>تــنــصــيــب   بــرامــج الـحـــمـــايــــة  الــضَــرُورِيَــة : </vt:lpstr>
      <vt:lpstr>حــمــايــة الـحــاســوب يــتــطــلــب بــرامـج الـحــمــايــة :</vt:lpstr>
      <vt:lpstr>تــنــصــيــب   بــرامــج الـحـــمـــايــــة  الــضَــرُورِيَــة : </vt:lpstr>
      <vt:lpstr>تــنــصــيــب   بــرامــج الـحـــمـــايــــة  الــضَــرُورِيَــة : </vt:lpstr>
      <vt:lpstr>ســؤال : هـل تَــزْوِيــدُ الـحـاســوب بـبـرامـج الـحــمــايــة كـافــيـا ؟</vt:lpstr>
      <vt:lpstr>ســؤال : هـل تَــزْوِيــدُ الـحـاســوب بـبـرامـج الـحــمــايــة كـافــيـا ؟</vt:lpstr>
      <vt:lpstr>ســؤال : هـل تَــزْوِيــدُ الـحـاســوب بـبـرامـج الـحــمــايــة كـافــيـا ؟</vt:lpstr>
      <vt:lpstr>ســؤال : هـل تَــزْوِيــدُ الـحـاســوب بـبـرامـج الـحــمــايــة كـافــيـا ؟</vt:lpstr>
      <vt:lpstr> أتـذكـر: ( الــوقـــايـــة مـن  الــفــيـــروســــات –  تـــابــع ) </vt:lpstr>
      <vt:lpstr> أتـذكـر: ( الــوقـــايـــة مـن  الــفــيـــروســــات –  تـــابــع ) </vt:lpstr>
      <vt:lpstr> أتـذكـر: ( الــوقـــايـــة مـن  الــفــيـــروســــات –  تـــابــع ) </vt:lpstr>
      <vt:lpstr> أتـذكـر: ( الــوقـــايـــة مـن  الــفــيـــروســــات –  تـــابــع ) </vt:lpstr>
      <vt:lpstr>ســؤال : هـل كــل الـمــواقــع آمــنــة أو مــضــمـــونــة ؟</vt:lpstr>
      <vt:lpstr>ســؤال : هـل كــل الـمــواقــع آمــنــة أو مــضــمـــونــة ؟</vt:lpstr>
      <vt:lpstr> أتـذكـر: ( الــوقـــايـــة مـن  الــفــيـــروســــات –  تـــابــع ) </vt:lpstr>
      <vt:lpstr> أتـذكـر: ( الــوقـــايـــة مـن  الــفــيـــروســــات –  تـــابــع ) </vt:lpstr>
      <vt:lpstr> أتـذكـر: ( الــوقـــايـــة مـن  الــفــيـــروســــات –  تـــابــع ) </vt:lpstr>
      <vt:lpstr> أتـذكـر: ( الــوقـــايـــة مـن  الــفــيـــروســــات –  تـــابــع ) </vt:lpstr>
      <vt:lpstr>ســؤال : هـل كـل الـرســائــل الإلـكـتــرونـيـة آمــنـة ومـضـمـونـة ؟</vt:lpstr>
      <vt:lpstr>ســؤال : هـل كـل الـرســائــل الإلـكـتــرونـيـة آمــنـة ومـضـمـونـة ؟</vt:lpstr>
      <vt:lpstr>ســؤال : هـل كـل الـرســائــل الإلـكـتــرونـيـة آمــنـة ومـضـمـونـة ؟</vt:lpstr>
      <vt:lpstr> أتـذكـر: ( الــوقـــايـــة مـن  الــفــيـــروســــات –  تـــابــع ) </vt:lpstr>
      <vt:lpstr> أتـذكـر: ( الــوقـــايـــة مـن  الــفــيـــروســــات –  تـــابــع ) </vt:lpstr>
      <vt:lpstr> أتـذكـر: ( الــوقـــايـــة مـن  الــفــيـــروســــات –  تـــابــع ) </vt:lpstr>
      <vt:lpstr> أتـذكـر: ( الــوقـــايـــة مـن  الــفــيـــروســــات –  تـــابــع ) </vt:lpstr>
      <vt:lpstr> 4. مــضــاد الــفــيـــروســــات </vt:lpstr>
      <vt:lpstr>بــرامـج الـحــمــايــة  هـي عــدة أنــواع أهــمـهـا :</vt:lpstr>
      <vt:lpstr>حــمــايــة الـحــاســوب يــتــطــلــب مــضــاد الـفــيــروســات :</vt:lpstr>
      <vt:lpstr>أتـذكـر ( 4. مــضــاد الــفـــيــــروســـــات )</vt:lpstr>
      <vt:lpstr>أتـذكـر ( 4. مــضــاد الــفـــيــــروســـــات )</vt:lpstr>
      <vt:lpstr>أتـذكـر ( 4. مــضــاد الــفـــيــــروســـــات )</vt:lpstr>
      <vt:lpstr>حــمــايــة الـحــاســوب يــتــطــلــب مــضــاد الـفــيــروســات :</vt:lpstr>
      <vt:lpstr>حــمــايــة الـحــاســوب يــتــطــلــب مــضــاد الـفــيــروســات :</vt:lpstr>
      <vt:lpstr>أتـذكـر ( 4. مــضــاد الــفـــيــــروســـــات )</vt:lpstr>
      <vt:lpstr>حــمــايــة الـحــاســوب يــتــطــلــب مــضــاد الـفــيــروســات :</vt:lpstr>
      <vt:lpstr>أتـذكـر ( 4. مــضــاد الــفـــيــــروســـــات )</vt:lpstr>
      <vt:lpstr>أتـذكـر ( 4. مــضــاد الــفـــيــــروســـــات  –  تــابــع )</vt:lpstr>
      <vt:lpstr>أتـذكـر ( 4. مــضــاد الــفـــيــــروســـــات  –  تــابــع )</vt:lpstr>
      <vt:lpstr>أتـذكـر ( 4. مــضــاد الــفـــيــــروســـــات  –  تــابــع )</vt:lpstr>
      <vt:lpstr>أتـذكـر ( 4. مــضــاد الــفـــيــــروســـــات  –  تــابــع )</vt:lpstr>
      <vt:lpstr>أتـذكـر ( 4. مــضــاد الــفـــيــــروســـــات  –  تــابــع )</vt:lpstr>
      <vt:lpstr>أتـذكـر ( 4. مــضــاد الــفـــيــــروســـــات  –  تــابــع )</vt:lpstr>
      <vt:lpstr> نَــشَــاط 6 : اســتــغــلال مــضــاد الــفــيـــروســات VirusTotal.com</vt:lpstr>
      <vt:lpstr>واجــب مـنـزلـي :</vt:lpstr>
      <vt:lpstr>Présentation PowerPoint</vt:lpstr>
      <vt:lpstr> نَــشَــاط 7 : تــثـبــيــت مــضـــاد الــفـــيـــروســــات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Shm</dc:creator>
  <cp:lastModifiedBy>Dual</cp:lastModifiedBy>
  <cp:revision>1320</cp:revision>
  <dcterms:created xsi:type="dcterms:W3CDTF">2015-11-30T21:00:22Z</dcterms:created>
  <dcterms:modified xsi:type="dcterms:W3CDTF">2025-10-31T16:41:54Z</dcterms:modified>
</cp:coreProperties>
</file>