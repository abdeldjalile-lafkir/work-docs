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67"/>
  </p:notesMasterIdLst>
  <p:sldIdLst>
    <p:sldId id="273" r:id="rId3"/>
    <p:sldId id="541" r:id="rId4"/>
    <p:sldId id="258" r:id="rId5"/>
    <p:sldId id="362" r:id="rId6"/>
    <p:sldId id="419" r:id="rId7"/>
    <p:sldId id="581" r:id="rId8"/>
    <p:sldId id="540" r:id="rId9"/>
    <p:sldId id="293" r:id="rId10"/>
    <p:sldId id="444" r:id="rId11"/>
    <p:sldId id="446" r:id="rId12"/>
    <p:sldId id="445" r:id="rId13"/>
    <p:sldId id="447" r:id="rId14"/>
    <p:sldId id="448" r:id="rId15"/>
    <p:sldId id="449" r:id="rId16"/>
    <p:sldId id="450" r:id="rId17"/>
    <p:sldId id="451" r:id="rId18"/>
    <p:sldId id="439" r:id="rId19"/>
    <p:sldId id="394" r:id="rId20"/>
    <p:sldId id="420" r:id="rId21"/>
    <p:sldId id="544" r:id="rId22"/>
    <p:sldId id="543" r:id="rId23"/>
    <p:sldId id="542" r:id="rId24"/>
    <p:sldId id="395" r:id="rId25"/>
    <p:sldId id="440" r:id="rId26"/>
    <p:sldId id="396" r:id="rId27"/>
    <p:sldId id="421" r:id="rId28"/>
    <p:sldId id="547" r:id="rId29"/>
    <p:sldId id="546" r:id="rId30"/>
    <p:sldId id="545" r:id="rId31"/>
    <p:sldId id="366" r:id="rId32"/>
    <p:sldId id="452" r:id="rId33"/>
    <p:sldId id="400" r:id="rId34"/>
    <p:sldId id="397" r:id="rId35"/>
    <p:sldId id="403" r:id="rId36"/>
    <p:sldId id="422" r:id="rId37"/>
    <p:sldId id="578" r:id="rId38"/>
    <p:sldId id="455" r:id="rId39"/>
    <p:sldId id="454" r:id="rId40"/>
    <p:sldId id="579" r:id="rId41"/>
    <p:sldId id="453" r:id="rId42"/>
    <p:sldId id="580" r:id="rId43"/>
    <p:sldId id="404" r:id="rId44"/>
    <p:sldId id="423" r:id="rId45"/>
    <p:sldId id="549" r:id="rId46"/>
    <p:sldId id="548" r:id="rId47"/>
    <p:sldId id="401" r:id="rId48"/>
    <p:sldId id="406" r:id="rId49"/>
    <p:sldId id="424" r:id="rId50"/>
    <p:sldId id="457" r:id="rId51"/>
    <p:sldId id="456" r:id="rId52"/>
    <p:sldId id="405" r:id="rId53"/>
    <p:sldId id="425" r:id="rId54"/>
    <p:sldId id="550" r:id="rId55"/>
    <p:sldId id="408" r:id="rId56"/>
    <p:sldId id="409" r:id="rId57"/>
    <p:sldId id="410" r:id="rId58"/>
    <p:sldId id="428" r:id="rId59"/>
    <p:sldId id="430" r:id="rId60"/>
    <p:sldId id="426" r:id="rId61"/>
    <p:sldId id="459" r:id="rId62"/>
    <p:sldId id="458" r:id="rId63"/>
    <p:sldId id="431" r:id="rId64"/>
    <p:sldId id="427" r:id="rId65"/>
    <p:sldId id="461" r:id="rId66"/>
    <p:sldId id="460" r:id="rId67"/>
    <p:sldId id="432" r:id="rId68"/>
    <p:sldId id="429" r:id="rId69"/>
    <p:sldId id="463" r:id="rId70"/>
    <p:sldId id="462" r:id="rId71"/>
    <p:sldId id="411" r:id="rId72"/>
    <p:sldId id="412" r:id="rId73"/>
    <p:sldId id="433" r:id="rId74"/>
    <p:sldId id="413" r:id="rId75"/>
    <p:sldId id="464" r:id="rId76"/>
    <p:sldId id="466" r:id="rId77"/>
    <p:sldId id="551" r:id="rId78"/>
    <p:sldId id="554" r:id="rId79"/>
    <p:sldId id="553" r:id="rId80"/>
    <p:sldId id="552" r:id="rId81"/>
    <p:sldId id="498" r:id="rId82"/>
    <p:sldId id="559" r:id="rId83"/>
    <p:sldId id="597" r:id="rId84"/>
    <p:sldId id="558" r:id="rId85"/>
    <p:sldId id="557" r:id="rId86"/>
    <p:sldId id="556" r:id="rId87"/>
    <p:sldId id="555" r:id="rId88"/>
    <p:sldId id="560" r:id="rId89"/>
    <p:sldId id="565" r:id="rId90"/>
    <p:sldId id="564" r:id="rId91"/>
    <p:sldId id="563" r:id="rId92"/>
    <p:sldId id="562" r:id="rId93"/>
    <p:sldId id="561" r:id="rId94"/>
    <p:sldId id="566" r:id="rId95"/>
    <p:sldId id="598" r:id="rId96"/>
    <p:sldId id="570" r:id="rId97"/>
    <p:sldId id="569" r:id="rId98"/>
    <p:sldId id="568" r:id="rId99"/>
    <p:sldId id="567" r:id="rId100"/>
    <p:sldId id="599" r:id="rId101"/>
    <p:sldId id="600" r:id="rId102"/>
    <p:sldId id="574" r:id="rId103"/>
    <p:sldId id="575" r:id="rId104"/>
    <p:sldId id="576" r:id="rId105"/>
    <p:sldId id="603" r:id="rId106"/>
    <p:sldId id="577" r:id="rId107"/>
    <p:sldId id="604" r:id="rId108"/>
    <p:sldId id="605" r:id="rId109"/>
    <p:sldId id="602" r:id="rId110"/>
    <p:sldId id="414" r:id="rId111"/>
    <p:sldId id="471" r:id="rId112"/>
    <p:sldId id="587" r:id="rId113"/>
    <p:sldId id="588" r:id="rId114"/>
    <p:sldId id="589" r:id="rId115"/>
    <p:sldId id="593" r:id="rId116"/>
    <p:sldId id="591" r:id="rId117"/>
    <p:sldId id="590" r:id="rId118"/>
    <p:sldId id="592" r:id="rId119"/>
    <p:sldId id="594" r:id="rId120"/>
    <p:sldId id="582" r:id="rId121"/>
    <p:sldId id="472" r:id="rId122"/>
    <p:sldId id="473" r:id="rId123"/>
    <p:sldId id="415" r:id="rId124"/>
    <p:sldId id="477" r:id="rId125"/>
    <p:sldId id="474" r:id="rId126"/>
    <p:sldId id="606" r:id="rId127"/>
    <p:sldId id="608" r:id="rId128"/>
    <p:sldId id="607" r:id="rId129"/>
    <p:sldId id="417" r:id="rId130"/>
    <p:sldId id="601" r:id="rId131"/>
    <p:sldId id="418" r:id="rId132"/>
    <p:sldId id="479" r:id="rId133"/>
    <p:sldId id="610" r:id="rId134"/>
    <p:sldId id="596" r:id="rId135"/>
    <p:sldId id="595" r:id="rId136"/>
    <p:sldId id="611" r:id="rId137"/>
    <p:sldId id="609" r:id="rId138"/>
    <p:sldId id="618" r:id="rId139"/>
    <p:sldId id="482" r:id="rId140"/>
    <p:sldId id="483" r:id="rId141"/>
    <p:sldId id="616" r:id="rId142"/>
    <p:sldId id="617" r:id="rId143"/>
    <p:sldId id="614" r:id="rId144"/>
    <p:sldId id="531" r:id="rId145"/>
    <p:sldId id="612" r:id="rId146"/>
    <p:sldId id="530" r:id="rId147"/>
    <p:sldId id="529" r:id="rId148"/>
    <p:sldId id="528" r:id="rId149"/>
    <p:sldId id="615" r:id="rId150"/>
    <p:sldId id="489" r:id="rId151"/>
    <p:sldId id="527" r:id="rId152"/>
    <p:sldId id="526" r:id="rId153"/>
    <p:sldId id="613" r:id="rId154"/>
    <p:sldId id="525" r:id="rId155"/>
    <p:sldId id="524" r:id="rId156"/>
    <p:sldId id="532" r:id="rId157"/>
    <p:sldId id="392" r:id="rId158"/>
    <p:sldId id="492" r:id="rId159"/>
    <p:sldId id="491" r:id="rId160"/>
    <p:sldId id="338" r:id="rId161"/>
    <p:sldId id="494" r:id="rId162"/>
    <p:sldId id="586" r:id="rId163"/>
    <p:sldId id="585" r:id="rId164"/>
    <p:sldId id="584" r:id="rId165"/>
    <p:sldId id="583" r:id="rId16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132" autoAdjust="0"/>
    <p:restoredTop sz="94434" autoAdjust="0"/>
  </p:normalViewPr>
  <p:slideViewPr>
    <p:cSldViewPr>
      <p:cViewPr varScale="1">
        <p:scale>
          <a:sx n="71" d="100"/>
          <a:sy n="71" d="100"/>
        </p:scale>
        <p:origin x="32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theme" Target="theme/theme1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tableStyles" Target="tableStyles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slide" Target="slides/slide143.xml"/><Relationship Id="rId161" Type="http://schemas.openxmlformats.org/officeDocument/2006/relationships/slide" Target="slides/slide159.xml"/><Relationship Id="rId166" Type="http://schemas.openxmlformats.org/officeDocument/2006/relationships/slide" Target="slides/slide16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51" Type="http://schemas.openxmlformats.org/officeDocument/2006/relationships/slide" Target="slides/slide149.xml"/><Relationship Id="rId156" Type="http://schemas.openxmlformats.org/officeDocument/2006/relationships/slide" Target="slides/slide154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slide" Target="slides/slide144.xml"/><Relationship Id="rId167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162" Type="http://schemas.openxmlformats.org/officeDocument/2006/relationships/slide" Target="slides/slide16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52" Type="http://schemas.openxmlformats.org/officeDocument/2006/relationships/slide" Target="slides/slide15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19/10/2025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70662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93163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1942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19/10/2025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19/10/2025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19/10/2025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19/10/2025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19/10/2025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19/10/2025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19/10/2025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19/10/2025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19/10/2025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19/10/2025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19/10/2025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19/10/2025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19/10/2025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19/10/2025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19/10/2025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19/10/2025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19/10/2025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19/10/2025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19/10/2025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19/10/2025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19/10/2025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19/10/2025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fr-FR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………………..………….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19/10/2025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3567356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r>
              <a:rPr lang="ar-DZ" sz="4800" b="1" dirty="0"/>
              <a:t>يـتـألـف الـحـاسـوب مـن عِــدَّة وحــدات ( مــكــونــات ) بـحـيـث يــتِــمُّ صـنـاعـتـهـا عَــادَةً مــن طـــرف شــركــات مـخـتـلـفـة، فـالـحـاســوب يـكـون فـي الـبـدايــة </a:t>
            </a:r>
            <a:r>
              <a:rPr lang="ar-DZ" sz="4800" b="1" dirty="0" smtClean="0"/>
              <a:t>مُـجَــزَّأً ، </a:t>
            </a:r>
            <a:r>
              <a:rPr lang="ar-DZ" sz="4800" b="1" dirty="0"/>
              <a:t>فـمـاذا يـنـبـغـي الـقــيــام بــه للـحـصـول عـلـى جـهــاز </a:t>
            </a:r>
            <a:r>
              <a:rPr lang="ar-DZ" sz="4800" b="1" dirty="0" smtClean="0"/>
              <a:t>كـامـل</a:t>
            </a:r>
            <a:r>
              <a:rPr lang="fr-FR" sz="4800" b="1" dirty="0" smtClean="0"/>
              <a:t> </a:t>
            </a:r>
            <a:r>
              <a:rPr lang="ar-DZ" sz="4800" b="1" dirty="0" smtClean="0">
                <a:cs typeface="+mj-cs"/>
              </a:rPr>
              <a:t>؟</a:t>
            </a: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45035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ar-DZ" sz="600" b="1" dirty="0" smtClean="0">
              <a:cs typeface="+mj-cs"/>
            </a:endParaRPr>
          </a:p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4000" baseline="-25000" dirty="0" smtClean="0">
                <a:cs typeface="+mj-cs"/>
              </a:rPr>
              <a:t>..............................................................................................................................</a:t>
            </a:r>
            <a:r>
              <a:rPr lang="ar-DZ" sz="4000" b="1" dirty="0" smtClean="0">
                <a:cs typeface="+mj-cs"/>
              </a:rPr>
              <a:t>  </a:t>
            </a:r>
            <a:endParaRPr lang="ar-DZ" sz="4800" dirty="0">
              <a:cs typeface="+mj-cs"/>
            </a:endParaRPr>
          </a:p>
          <a:p>
            <a:pPr lvl="0" algn="r" rtl="1"/>
            <a:endParaRPr lang="fr-FR" sz="4800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32520" y="2118568"/>
            <a:ext cx="10369152" cy="122413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تــجـــمـــيـــع الـحــــاســـوب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Assemblage de l’Ordinateur</a:t>
            </a:r>
            <a:endParaRPr lang="fr-FR" sz="36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7979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fr-FR" altLang="zh-CN" sz="4000" b="1" dirty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fr-FR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………………..………….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FF000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u="sng" dirty="0" err="1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u="sng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: </a:t>
            </a:r>
            <a:r>
              <a:rPr lang="ar-DZ" altLang="zh-CN" sz="4000" b="1" u="sng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u="sng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19/10/2025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9508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20710"/>
            <a:ext cx="10693188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>
                <a:solidFill>
                  <a:srgbClr val="00B050"/>
                </a:solidFill>
              </a:rPr>
              <a:t>تــجـــمـــيـــع الـحــــاســـوب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الـمـجــال </a:t>
            </a:r>
            <a:r>
              <a:rPr lang="ar-DZ" altLang="zh-CN" sz="4000" b="1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الـتَــعَـــلُــمِــي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: 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itchFamily="18" charset="0"/>
              </a:rPr>
              <a:t>بــيــئـة الـتــعــامـل مـع الــحـاســـوب</a:t>
            </a:r>
            <a:endParaRPr lang="fr-FR" sz="4000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19/10/2025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330199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تــعــريــف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الـحــاســـوب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/>
              <a:t>قـــارِنْ </a:t>
            </a:r>
            <a:r>
              <a:rPr lang="ar-DZ" sz="4800" b="1" dirty="0"/>
              <a:t>بـيـن الآلــة الـحــاســبــة والـحــاســوب ثــمَ عَـــرِّفْ </a:t>
            </a:r>
            <a:r>
              <a:rPr lang="ar-DZ" sz="4800" b="1" dirty="0" smtClean="0"/>
              <a:t>الـحــاســوب </a:t>
            </a:r>
            <a:r>
              <a:rPr lang="ar-DZ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الـمـعــلــومـات الَّـتِي تَــتَـعَــامَـلُ مـعـهـا </a:t>
            </a:r>
            <a:r>
              <a:rPr lang="ar-DZ" sz="3500" b="1" dirty="0">
                <a:solidFill>
                  <a:srgbClr val="FF0000"/>
                </a:solidFill>
              </a:rPr>
              <a:t>الآلــة الـحـاسـبـة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5773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الـمـعــلــومـات الَّـتِي تَــتَـعَــامَـلُ مـعـهـا </a:t>
            </a:r>
            <a:r>
              <a:rPr lang="ar-DZ" sz="3500" b="1" dirty="0">
                <a:solidFill>
                  <a:srgbClr val="FF0000"/>
                </a:solidFill>
              </a:rPr>
              <a:t>الآلــة الـحـاسـبـة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235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كـيـف تَــتَـعَــامَـلُ </a:t>
            </a:r>
            <a:r>
              <a:rPr lang="ar-DZ" sz="4000" b="1" dirty="0">
                <a:solidFill>
                  <a:srgbClr val="FF0000"/>
                </a:solidFill>
              </a:rPr>
              <a:t>الآلــة الـحـاسـبـة مـع الأعــــداد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3762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كـيـف تَــتَـعَــامَـلُ </a:t>
            </a:r>
            <a:r>
              <a:rPr lang="ar-DZ" sz="4000" b="1" dirty="0">
                <a:solidFill>
                  <a:srgbClr val="FF0000"/>
                </a:solidFill>
              </a:rPr>
              <a:t>الآلــة الـحـاسـبـة مـع الأعــــداد ؟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2276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</a:t>
            </a:r>
            <a:r>
              <a:rPr lang="ar-DZ" sz="3800" b="1" dirty="0">
                <a:solidFill>
                  <a:srgbClr val="FF0000"/>
                </a:solidFill>
              </a:rPr>
              <a:t>مـاذا يـحــدث بـعْـدَ إِجْـــرَاءِ الـعَـمَـلِــيَــاتِ عَـلَى الأعــــداد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9584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</a:t>
            </a:r>
            <a:r>
              <a:rPr lang="ar-DZ" sz="3800" b="1" dirty="0">
                <a:solidFill>
                  <a:srgbClr val="FF0000"/>
                </a:solidFill>
              </a:rPr>
              <a:t>مـاذا يـحــدث بـعْـدَ إِجْـــرَاءِ الـعَـمَـلِــيَــاتِ عَـلَى الأعــــداد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>
                <a:solidFill>
                  <a:srgbClr val="FF0000"/>
                </a:solidFill>
              </a:rPr>
              <a:t>الآلــة الـحــاســبــة</a:t>
            </a:r>
            <a:r>
              <a:rPr lang="fr-FR" sz="3600" b="1" dirty="0" smtClean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Calculatrice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Espace réservé du contenu 18"/>
          <p:cNvSpPr txBox="1">
            <a:spLocks/>
          </p:cNvSpPr>
          <p:nvPr/>
        </p:nvSpPr>
        <p:spPr>
          <a:xfrm>
            <a:off x="8856428" y="3044941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smtClean="0">
                <a:solidFill>
                  <a:srgbClr val="0070C0"/>
                </a:solidFill>
                <a:cs typeface="+mj-cs"/>
              </a:rPr>
              <a:t>الأعــداد</a:t>
            </a:r>
            <a:endParaRPr lang="fr-FR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1315" y="4608760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3" name="Connecteur droit avec flèche 12"/>
          <p:cNvCxnSpPr>
            <a:endCxn id="12" idx="3"/>
          </p:cNvCxnSpPr>
          <p:nvPr/>
        </p:nvCxnSpPr>
        <p:spPr>
          <a:xfrm flipH="1">
            <a:off x="3321923" y="5005649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Nuage 13"/>
          <p:cNvSpPr/>
          <p:nvPr/>
        </p:nvSpPr>
        <p:spPr>
          <a:xfrm>
            <a:off x="939486" y="3536967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إظــهــار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2072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22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الـمــعــلــومـات الَّـتِي يَــتَـعَـــامَــلُ مـعـهـا </a:t>
            </a:r>
            <a:r>
              <a:rPr lang="ar-DZ" sz="3500" b="1" dirty="0">
                <a:solidFill>
                  <a:srgbClr val="FF0000"/>
                </a:solidFill>
              </a:rPr>
              <a:t>الـحــاســوب</a:t>
            </a:r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3600" b="1" dirty="0">
                <a:solidFill>
                  <a:srgbClr val="FF0000"/>
                </a:solidFill>
              </a:rPr>
              <a:t>الـحــاســوب   </a:t>
            </a:r>
            <a:r>
              <a:rPr lang="fr-FR" sz="3200" b="1" dirty="0">
                <a:solidFill>
                  <a:srgbClr val="FF0000"/>
                </a:solidFill>
              </a:rPr>
              <a:t>Ordinateur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1315" y="4608760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3" name="Connecteur droit avec flèche 12"/>
          <p:cNvCxnSpPr>
            <a:endCxn id="12" idx="3"/>
          </p:cNvCxnSpPr>
          <p:nvPr/>
        </p:nvCxnSpPr>
        <p:spPr>
          <a:xfrm flipH="1">
            <a:off x="3321923" y="5005649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Nuage 13"/>
          <p:cNvSpPr/>
          <p:nvPr/>
        </p:nvSpPr>
        <p:spPr>
          <a:xfrm>
            <a:off x="939486" y="3536967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إظــهــار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5533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9" grpId="0" animBg="1"/>
      <p:bldP spid="11" grpId="0" animBg="1"/>
      <p:bldP spid="12" grpId="0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ســؤال : مـاهـي الـمــعــلــومـات الَّـتِي يَــتَـعَـــامَــلُ مـعـهـا </a:t>
            </a:r>
            <a:r>
              <a:rPr lang="ar-DZ" sz="3500" b="1" dirty="0">
                <a:solidFill>
                  <a:srgbClr val="FF0000"/>
                </a:solidFill>
              </a:rPr>
              <a:t>الـحــاســوب</a:t>
            </a:r>
            <a:r>
              <a:rPr lang="ar-DZ" sz="3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1055440" y="16371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DZ" sz="3600" b="1" dirty="0">
                <a:solidFill>
                  <a:srgbClr val="FF0000"/>
                </a:solidFill>
              </a:rPr>
              <a:t>الـحــاســوب   </a:t>
            </a:r>
            <a:r>
              <a:rPr lang="fr-FR" sz="3200" b="1" dirty="0">
                <a:solidFill>
                  <a:srgbClr val="FF0000"/>
                </a:solidFill>
              </a:rPr>
              <a:t>Ordinateur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2667" y="31985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9" name="Connecteur droit avec flèche 18"/>
          <p:cNvCxnSpPr>
            <a:stCxn id="15" idx="2"/>
            <a:endCxn id="18" idx="0"/>
          </p:cNvCxnSpPr>
          <p:nvPr/>
        </p:nvCxnSpPr>
        <p:spPr>
          <a:xfrm>
            <a:off x="6055662" y="24309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8832304" y="4608760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0" name="Connecteur droit avec flèche 9"/>
          <p:cNvCxnSpPr>
            <a:endCxn id="9" idx="0"/>
          </p:cNvCxnSpPr>
          <p:nvPr/>
        </p:nvCxnSpPr>
        <p:spPr>
          <a:xfrm>
            <a:off x="7745684" y="3443061"/>
            <a:ext cx="2186023" cy="116569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Nuage 10"/>
          <p:cNvSpPr/>
          <p:nvPr/>
        </p:nvSpPr>
        <p:spPr>
          <a:xfrm>
            <a:off x="8832304" y="5526626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1315" y="4608760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cxnSp>
        <p:nvCxnSpPr>
          <p:cNvPr id="13" name="Connecteur droit avec flèche 12"/>
          <p:cNvCxnSpPr>
            <a:endCxn id="12" idx="3"/>
          </p:cNvCxnSpPr>
          <p:nvPr/>
        </p:nvCxnSpPr>
        <p:spPr>
          <a:xfrm flipH="1">
            <a:off x="3321923" y="5005649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Nuage 13"/>
          <p:cNvSpPr/>
          <p:nvPr/>
        </p:nvSpPr>
        <p:spPr>
          <a:xfrm>
            <a:off x="939486" y="3536967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إظــهــار</a:t>
            </a:r>
            <a:endParaRPr lang="fr-FR" sz="3200" dirty="0">
              <a:cs typeface="+mj-cs"/>
            </a:endParaRPr>
          </a:p>
        </p:txBody>
      </p:sp>
      <p:sp>
        <p:nvSpPr>
          <p:cNvPr id="16" name="Espace réservé du contenu 18"/>
          <p:cNvSpPr txBox="1">
            <a:spLocks/>
          </p:cNvSpPr>
          <p:nvPr/>
        </p:nvSpPr>
        <p:spPr>
          <a:xfrm>
            <a:off x="9281833" y="29161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2800" b="1" smtClean="0">
                <a:solidFill>
                  <a:srgbClr val="0070C0"/>
                </a:solidFill>
                <a:cs typeface="+mj-cs"/>
              </a:rPr>
              <a:t>كـل الأنـواع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8707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8" grpId="0" animBg="1"/>
      <p:bldP spid="9" grpId="0" animBg="1"/>
      <p:bldP spid="11" grpId="0" animBg="1"/>
      <p:bldP spid="12" grpId="0" animBg="1"/>
      <p:bldP spid="14" grpId="0" animBg="1"/>
      <p:bldP spid="1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500" b="1" dirty="0" smtClean="0">
                <a:solidFill>
                  <a:srgbClr val="FF0000"/>
                </a:solidFill>
                <a:cs typeface="+mj-cs"/>
              </a:rPr>
              <a:t>ســؤال : مـاهـي الـمــعــلــومـات الَّـتِي يَــتَـعَـــامَــلُ مـعـهـا </a:t>
            </a:r>
            <a:r>
              <a:rPr lang="ar-DZ" sz="3500" b="1" dirty="0" smtClean="0">
                <a:solidFill>
                  <a:srgbClr val="FF0000"/>
                </a:solidFill>
              </a:rPr>
              <a:t>الـحــاســوب</a:t>
            </a:r>
            <a:r>
              <a:rPr lang="ar-DZ" sz="35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5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832304" y="4291407"/>
            <a:ext cx="21988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عــمــلـيـات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86470" y="5585263"/>
            <a:ext cx="50886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الـتــخــزيـــن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1315" y="4291407"/>
            <a:ext cx="22906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</a:rPr>
              <a:t>نــتــائـج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</a:rPr>
              <a:t>الـحــاســوب</a:t>
            </a:r>
            <a:r>
              <a:rPr lang="ar-DZ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</a:rPr>
              <a:t>  </a:t>
            </a:r>
            <a:r>
              <a:rPr lang="fr-FR" sz="3200" b="1" dirty="0" smtClean="0">
                <a:solidFill>
                  <a:srgbClr val="FF0000"/>
                </a:solidFill>
              </a:rPr>
              <a:t>Ordinateur</a:t>
            </a:r>
            <a:endParaRPr lang="fr-FR" sz="3600" b="1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08542" y="3046172"/>
            <a:ext cx="33371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</a:rPr>
              <a:t>مـعـلـومـات</a:t>
            </a:r>
            <a:endParaRPr lang="fr-FR" sz="32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6" idx="1"/>
            <a:endCxn id="8" idx="3"/>
          </p:cNvCxnSpPr>
          <p:nvPr/>
        </p:nvCxnSpPr>
        <p:spPr>
          <a:xfrm flipH="1">
            <a:off x="3321923" y="4688296"/>
            <a:ext cx="551038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14" idx="0"/>
          </p:cNvCxnSpPr>
          <p:nvPr/>
        </p:nvCxnSpPr>
        <p:spPr>
          <a:xfrm>
            <a:off x="6031537" y="2278561"/>
            <a:ext cx="0" cy="7676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>
            <a:stCxn id="14" idx="3"/>
          </p:cNvCxnSpPr>
          <p:nvPr/>
        </p:nvCxnSpPr>
        <p:spPr>
          <a:xfrm>
            <a:off x="7745684" y="3443061"/>
            <a:ext cx="2310756" cy="8483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Espace réservé du contenu 18"/>
          <p:cNvSpPr>
            <a:spLocks noGrp="1"/>
          </p:cNvSpPr>
          <p:nvPr>
            <p:ph idx="1"/>
          </p:nvPr>
        </p:nvSpPr>
        <p:spPr>
          <a:xfrm>
            <a:off x="9129433" y="2763709"/>
            <a:ext cx="1813992" cy="1042549"/>
          </a:xfrm>
          <a:prstGeom prst="flowChartMultidocumen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 rtl="1">
              <a:buNone/>
            </a:pPr>
            <a:r>
              <a:rPr lang="ar-DZ" sz="2800" b="1" dirty="0" smtClean="0">
                <a:solidFill>
                  <a:srgbClr val="0070C0"/>
                </a:solidFill>
                <a:cs typeface="+mj-cs"/>
              </a:rPr>
              <a:t>كـل الأنـواع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5" name="Connecteur droit avec flèche 14"/>
          <p:cNvCxnSpPr>
            <a:stCxn id="8" idx="2"/>
          </p:cNvCxnSpPr>
          <p:nvPr/>
        </p:nvCxnSpPr>
        <p:spPr>
          <a:xfrm>
            <a:off x="2176619" y="5085184"/>
            <a:ext cx="1409851" cy="8969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Nuage 17"/>
          <p:cNvSpPr/>
          <p:nvPr/>
        </p:nvSpPr>
        <p:spPr>
          <a:xfrm>
            <a:off x="9023055" y="5157912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إجــراء </a:t>
            </a:r>
            <a:endParaRPr lang="fr-FR" sz="3200" dirty="0">
              <a:cs typeface="+mj-cs"/>
            </a:endParaRPr>
          </a:p>
        </p:txBody>
      </p:sp>
      <p:sp>
        <p:nvSpPr>
          <p:cNvPr id="20" name="Nuage 19"/>
          <p:cNvSpPr/>
          <p:nvPr/>
        </p:nvSpPr>
        <p:spPr>
          <a:xfrm>
            <a:off x="963248" y="3284983"/>
            <a:ext cx="2382437" cy="85470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>
                <a:solidFill>
                  <a:srgbClr val="0070C0"/>
                </a:solidFill>
              </a:rPr>
              <a:t>إظــهــار</a:t>
            </a:r>
            <a:endParaRPr lang="fr-FR" sz="32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2410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2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3" grpId="0" animBg="1"/>
      <p:bldP spid="14" grpId="0" animBg="1"/>
      <p:bldP spid="19" grpId="0" animBg="1"/>
      <p:bldP spid="18" grpId="0" animBg="1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1305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اِسْــتِــقْــبَــال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974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اِسْــتِــقْــبَــال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7648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1325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اِسْــتِــقْــبَــال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7648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48128" y="4577242"/>
            <a:ext cx="26929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تـخــزيــنـهـا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4709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تـصـنــيــف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مـكـونــات الـحــاســـوب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cs typeface="+mj-cs"/>
              </a:rPr>
              <a:t>بـالاعـتـمــاد عــلـى تـعــريــف </a:t>
            </a:r>
            <a:r>
              <a:rPr lang="ar-DZ" sz="4800" b="1" dirty="0" smtClean="0">
                <a:cs typeface="+mj-cs"/>
              </a:rPr>
              <a:t>الـحــاســوب، </a:t>
            </a:r>
            <a:r>
              <a:rPr lang="ar-DZ" sz="4800" b="1" dirty="0">
                <a:cs typeface="+mj-cs"/>
              </a:rPr>
              <a:t>صَـنِّـفْ مــكــونـــات الـحــاســوب حــســب </a:t>
            </a:r>
            <a:r>
              <a:rPr lang="ar-DZ" sz="4800" b="1" dirty="0" smtClean="0">
                <a:cs typeface="+mj-cs"/>
              </a:rPr>
              <a:t>وظـيــفــتـهـا بِـدُونِ  ( تـعــيــيــنـهـا ) </a:t>
            </a:r>
            <a:r>
              <a:rPr lang="ar-DZ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>
                <a:solidFill>
                  <a:srgbClr val="00B050"/>
                </a:solidFill>
                <a:cs typeface="+mj-cs"/>
              </a:rPr>
              <a:t>نـشـاط </a:t>
            </a:r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5695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الـحـاسـوب </a:t>
            </a:r>
            <a:r>
              <a:rPr lang="ar-DZ" sz="4400" b="1" dirty="0"/>
              <a:t>هــو جـهــاز </a:t>
            </a:r>
            <a:r>
              <a:rPr lang="ar-DZ" sz="4400" baseline="-25000" dirty="0" smtClean="0"/>
              <a:t>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يـسـمـح بـ </a:t>
            </a:r>
            <a:r>
              <a:rPr lang="ar-DZ" sz="4400" baseline="-25000" dirty="0" smtClean="0"/>
              <a:t>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الـمـعـلـومـات،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وإظـهـارهـا</a:t>
            </a:r>
            <a:r>
              <a:rPr lang="ar-DZ" sz="4400" b="1" dirty="0" smtClean="0"/>
              <a:t> وكـذلك </a:t>
            </a:r>
            <a:r>
              <a:rPr lang="ar-DZ" sz="4400" baseline="-25000" dirty="0" smtClean="0"/>
              <a:t>..........................</a:t>
            </a:r>
            <a:r>
              <a:rPr lang="ar-DZ" sz="4400" b="1" dirty="0" smtClean="0"/>
              <a:t> لاسـترجـاعـهــا </a:t>
            </a:r>
            <a:r>
              <a:rPr lang="ar-DZ" sz="4400" b="1" dirty="0"/>
              <a:t>عـنـد </a:t>
            </a:r>
            <a:r>
              <a:rPr lang="ar-DZ" sz="4400" b="1" dirty="0" smtClean="0"/>
              <a:t>الحـاجـة إلـيهـا</a:t>
            </a: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1. تــعــريــف الـحــاســـوب</a:t>
            </a:r>
            <a:r>
              <a:rPr lang="ar-DZ" sz="4800" b="1" dirty="0">
                <a:solidFill>
                  <a:srgbClr val="FF0000"/>
                </a:solidFill>
              </a:rPr>
              <a:t> :</a:t>
            </a:r>
            <a:endParaRPr lang="fr-FR" sz="4800" i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36911" y="2580547"/>
            <a:ext cx="32403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إلـكــتــرونـي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اِسْــتِــقْــبَــال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27648" y="3578423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مـعــالــجــتـهـا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48128" y="4577242"/>
            <a:ext cx="26929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تـخــزيــنـهـا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518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955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854472" y="2951836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الإِدْخَــال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05445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854472" y="2951836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الإِدْخَــال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6625" y="2951837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الإِخْــرَاج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6373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9" grpId="0" animBg="1"/>
      <p:bldP spid="2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854472" y="2951836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الإِدْخَــال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6625" y="2951837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الإِخْــرَاج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78471" y="4696528"/>
            <a:ext cx="25992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الـمُـعَــالَــجَـة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124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9" grpId="0" animBg="1"/>
      <p:bldP spid="20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578893"/>
            <a:ext cx="10814992" cy="379094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fr-FR" sz="44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128215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600" b="1" dirty="0">
                <a:solidFill>
                  <a:srgbClr val="0070C0"/>
                </a:solidFill>
                <a:cs typeface="+mj-cs"/>
              </a:rPr>
              <a:t>عــنــد تـصـنــيــف الـمـكـونــات حـسـب وظـيــفــتـهـا فـإِنَّ أغـلـبَـهـا تَـنْـدَرِجُ ضِـمْـنَ الأنــواع الـتـالـيـة :</a:t>
            </a:r>
            <a:endParaRPr lang="fr-FR" sz="4000" i="1" dirty="0">
              <a:solidFill>
                <a:srgbClr val="0070C0"/>
              </a:solidFill>
              <a:cs typeface="+mj-cs"/>
            </a:endParaRPr>
          </a:p>
        </p:txBody>
      </p:sp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83109"/>
              </p:ext>
            </p:extLst>
          </p:nvPr>
        </p:nvGraphicFramePr>
        <p:xfrm>
          <a:off x="756536" y="2679892"/>
          <a:ext cx="10524040" cy="348541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74270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وَحَــدَات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وَحَـدَات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Outputs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742706">
                <a:tc>
                  <a:txBody>
                    <a:bodyPr/>
                    <a:lstStyle/>
                    <a:p>
                      <a:pPr algn="ctr" rtl="1"/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وِحْــدَة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( </a:t>
                      </a:r>
                      <a:r>
                        <a:rPr lang="en-US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CPU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200" b="1" dirty="0">
                        <a:solidFill>
                          <a:srgbClr val="0070C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وَحَـــدَات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............................................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( الـمـركــزيــة</a:t>
                      </a:r>
                      <a:r>
                        <a:rPr lang="ar-DZ" sz="3600" b="1" kern="1200" baseline="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/ الـثــانــويـة</a:t>
                      </a: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)</a:t>
                      </a:r>
                      <a:endParaRPr lang="fr-FR" sz="36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7854472" y="2951836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الإِدْخَــال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806625" y="2951837"/>
            <a:ext cx="18862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الإِخْــرَاج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478471" y="4696528"/>
            <a:ext cx="25992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الـمُـعَــالَــجَـة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36197" y="4419433"/>
            <a:ext cx="274817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الـتـخـــزيـــن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9781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: تَـنْـقَـسِـمُ مـكـونـات الـحـاسـوب إلـى قِـسْـمَـيْـنِ مَـا هُـمَـا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Composants Matériels de l’Ordinateur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الـمُــكَــوِنَــات الـمَــادِيَـــة لِلْـحَــاسُـــوب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</p:cNvCxnSpPr>
          <p:nvPr/>
        </p:nvCxnSpPr>
        <p:spPr>
          <a:xfrm flipH="1">
            <a:off x="4669632" y="2278561"/>
            <a:ext cx="1361905" cy="8843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</p:cNvCxnSpPr>
          <p:nvPr/>
        </p:nvCxnSpPr>
        <p:spPr>
          <a:xfrm>
            <a:off x="6031537" y="2278561"/>
            <a:ext cx="1360607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/>
          <p:nvPr/>
        </p:nvCxnSpPr>
        <p:spPr>
          <a:xfrm flipH="1" flipV="1">
            <a:off x="4669632" y="4475212"/>
            <a:ext cx="1210994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606164"/>
            <a:ext cx="1309792" cy="7268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746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ســؤال : تَـنْـقَـسِـمُ مـكـونـات الـحـاسـوب إلـى قِـسْـمَـيْـنِ مَـا هُـمَـا ؟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392144" y="277231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مُـكَـوِنَـات  خَــارِجِــيَــة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30666" y="4078323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Composants Internes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30666" y="5359580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Composants Matériels de l’Ordinateur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1484784"/>
            <a:ext cx="100004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الـمُــكَــوِنَــات الـمَــادِيَـــة لِلْـحَــاسُـــوب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92144" y="4139777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2900" b="1" dirty="0">
                <a:solidFill>
                  <a:srgbClr val="0070C0"/>
                </a:solidFill>
              </a:rPr>
              <a:t> </a:t>
            </a:r>
            <a:r>
              <a:rPr lang="fr-FR" sz="2900" b="1" dirty="0">
                <a:solidFill>
                  <a:srgbClr val="0070C0"/>
                </a:solidFill>
              </a:rPr>
              <a:t>Composants </a:t>
            </a:r>
            <a:r>
              <a:rPr lang="fr-FR" sz="2900" b="1" dirty="0" smtClean="0">
                <a:solidFill>
                  <a:srgbClr val="0070C0"/>
                </a:solidFill>
              </a:rPr>
              <a:t>Externes</a:t>
            </a:r>
            <a:endParaRPr lang="fr-FR" sz="2900" b="1" dirty="0">
              <a:solidFill>
                <a:srgbClr val="0070C0"/>
              </a:solidFill>
            </a:endParaRPr>
          </a:p>
        </p:txBody>
      </p:sp>
      <p:cxnSp>
        <p:nvCxnSpPr>
          <p:cNvPr id="16" name="Connecteur droit avec flèche 15"/>
          <p:cNvCxnSpPr>
            <a:stCxn id="13" idx="2"/>
            <a:endCxn id="18" idx="3"/>
          </p:cNvCxnSpPr>
          <p:nvPr/>
        </p:nvCxnSpPr>
        <p:spPr>
          <a:xfrm flipH="1">
            <a:off x="4669632" y="2278561"/>
            <a:ext cx="1361905" cy="88436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2278561"/>
            <a:ext cx="1360607" cy="89064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necteur droit avec flèche 19"/>
          <p:cNvCxnSpPr>
            <a:endCxn id="7" idx="3"/>
          </p:cNvCxnSpPr>
          <p:nvPr/>
        </p:nvCxnSpPr>
        <p:spPr>
          <a:xfrm flipH="1" flipV="1">
            <a:off x="4669632" y="4475212"/>
            <a:ext cx="1210994" cy="85604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flipV="1">
            <a:off x="5866328" y="4606164"/>
            <a:ext cx="1309792" cy="72682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030666" y="2766041"/>
            <a:ext cx="363896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مُــكَــوِنَــات  دَاخِــلِــيَــة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0522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2" grpId="0" animBg="1"/>
      <p:bldP spid="13" grpId="0" animBg="1"/>
      <p:bldP spid="14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3.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تَـعْــيِــيــن مُــكَــوِنَـــات الـحَـــاسُــوب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27740"/>
            <a:ext cx="10814992" cy="504209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693968" y="4147391"/>
            <a:ext cx="3337142" cy="17298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وَحَـــدَات الإدْخَـــال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Périphériques d’Entrée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30666" y="4147391"/>
            <a:ext cx="3409150" cy="17298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وَحَـــدَات الإخْـــرَاج  </a:t>
            </a:r>
            <a:r>
              <a:rPr lang="fr-FR" sz="3000" b="1" dirty="0" smtClean="0">
                <a:solidFill>
                  <a:srgbClr val="0070C0"/>
                </a:solidFill>
                <a:cs typeface="+mj-cs"/>
              </a:rPr>
              <a:t>Périphériques</a:t>
            </a:r>
            <a:r>
              <a:rPr lang="en-US" sz="3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000" b="1" dirty="0">
                <a:solidFill>
                  <a:srgbClr val="0070C0"/>
                </a:solidFill>
                <a:cs typeface="+mj-cs"/>
              </a:rPr>
              <a:t>de </a:t>
            </a:r>
            <a:r>
              <a:rPr lang="en-US" sz="3000" b="1" dirty="0" smtClean="0">
                <a:solidFill>
                  <a:srgbClr val="0070C0"/>
                </a:solidFill>
                <a:cs typeface="+mj-cs"/>
              </a:rPr>
              <a:t>Sortie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31315" y="2051865"/>
            <a:ext cx="10000444" cy="131420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الـمُــكَــوِنَـــات  الـخَـــارِجِـــيَـــة</a:t>
            </a:r>
            <a:endParaRPr lang="ar-DZ" sz="4400" b="1" dirty="0">
              <a:solidFill>
                <a:srgbClr val="FF0000"/>
              </a:solidFill>
              <a:cs typeface="+mj-cs"/>
            </a:endParaRPr>
          </a:p>
        </p:txBody>
      </p:sp>
      <p:cxnSp>
        <p:nvCxnSpPr>
          <p:cNvPr id="16" name="Connecteur droit avec flèche 15"/>
          <p:cNvCxnSpPr>
            <a:stCxn id="13" idx="2"/>
            <a:endCxn id="8" idx="3"/>
          </p:cNvCxnSpPr>
          <p:nvPr/>
        </p:nvCxnSpPr>
        <p:spPr>
          <a:xfrm flipH="1">
            <a:off x="4439816" y="3366072"/>
            <a:ext cx="1591721" cy="1646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>
            <a:stCxn id="13" idx="2"/>
            <a:endCxn id="6" idx="1"/>
          </p:cNvCxnSpPr>
          <p:nvPr/>
        </p:nvCxnSpPr>
        <p:spPr>
          <a:xfrm>
            <a:off x="6031537" y="3366072"/>
            <a:ext cx="1662431" cy="1646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25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1.3 – الـمـكــونــات الـخـارجــيـة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( </a:t>
            </a:r>
            <a:r>
              <a:rPr lang="fr-FR" sz="3000" b="1" dirty="0" smtClean="0">
                <a:solidFill>
                  <a:srgbClr val="FF0000"/>
                </a:solidFill>
                <a:cs typeface="+mj-cs"/>
              </a:rPr>
              <a:t>Périphériques d’Entrée/Sortie 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fr-FR" sz="48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4400" b="1" dirty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4400" b="1" dirty="0" smtClean="0">
                <a:cs typeface="+mj-cs"/>
              </a:rPr>
              <a:t>تــعــتــبــر </a:t>
            </a:r>
            <a:r>
              <a:rPr lang="ar-DZ" sz="4400" b="1" dirty="0">
                <a:cs typeface="+mj-cs"/>
              </a:rPr>
              <a:t>وحــدات الإدخــال مــكــونــات خــارجــيــة بـحــيـث 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تـتـواجــد حــول الـوحــدة الـمـركــزيـة</a:t>
            </a:r>
            <a:r>
              <a:rPr lang="ar-DZ" sz="4400" b="1" dirty="0">
                <a:cs typeface="+mj-cs"/>
              </a:rPr>
              <a:t>،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حَــدِّدْ </a:t>
            </a:r>
            <a:r>
              <a:rPr lang="ar-DZ" sz="4400" b="1" dirty="0">
                <a:solidFill>
                  <a:schemeClr val="tx1"/>
                </a:solidFill>
                <a:cs typeface="+mj-cs"/>
              </a:rPr>
              <a:t>بـعـض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>
                <a:solidFill>
                  <a:srgbClr val="0070C0"/>
                </a:solidFill>
                <a:cs typeface="+mj-cs"/>
              </a:rPr>
              <a:t>وحــدات </a:t>
            </a: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الإدخـــال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>
                <a:cs typeface="+mj-cs"/>
              </a:rPr>
              <a:t>ومــاذا تــســتــنــتــج ؟  </a:t>
            </a:r>
            <a:endParaRPr lang="ar-DZ" sz="46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أ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7493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1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17376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54201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213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24376" y="381468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الـمـيـكـرفــون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7090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24376" y="381468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الـمـيـكـرفــون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3632" y="3917920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الـمـاسـح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811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24376" y="381468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الـمـيـكـرفــون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3632" y="3917920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الـمـاسـح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36083" y="506807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شـاشـة لـمـسـيـة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12840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3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أ – وَحَـــدَات الإِدْخَـــال (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3800" b="1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879221"/>
              </p:ext>
            </p:extLst>
          </p:nvPr>
        </p:nvGraphicFramePr>
        <p:xfrm>
          <a:off x="767408" y="1484784"/>
          <a:ext cx="10524040" cy="4859999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262020"/>
                <a:gridCol w="5262020"/>
              </a:tblGrid>
              <a:tr h="109330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Claviers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Souris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Camera Numérique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Webcam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604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Microphone</a:t>
                      </a:r>
                      <a:r>
                        <a:rPr lang="fr-FR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Scanner</a:t>
                      </a:r>
                      <a:r>
                        <a:rPr lang="fr-FR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09489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Ecran Tactile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fr-FR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Crayon Optique </a:t>
                      </a:r>
                      <a:r>
                        <a:rPr lang="ar-DZ" sz="28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28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040216" y="1471064"/>
            <a:ext cx="2992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لـوحـة الـمـفـاتـيـح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39616" y="1484216"/>
            <a:ext cx="305050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الـفــأرة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4375" y="2590597"/>
            <a:ext cx="33528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الـكـامـيـرا الـرقـمـيـة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27648" y="2621891"/>
            <a:ext cx="27624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كـامـيـرا ويـب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24376" y="381468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الـمـيـكـرفــون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2783632" y="3917920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الـمـاسـح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777988" y="5068070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الـقـلـم الـضـوئـي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36083" y="5068071"/>
            <a:ext cx="33528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شـاشـة لـمـسـيـة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128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الإدخـــال </a:t>
            </a:r>
            <a:r>
              <a:rPr lang="ar-DZ" sz="4400" b="1" dirty="0" smtClean="0">
                <a:solidFill>
                  <a:schemeClr val="tx2"/>
                </a:solidFill>
              </a:rPr>
              <a:t>تَــشْــمُــلُ جــمــيــع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الّـتي يَـتِـمُّ مـن خــلالـهـا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الـمـعـلـومـات </a:t>
            </a:r>
            <a:r>
              <a:rPr lang="ar-DZ" sz="4400" b="1" dirty="0">
                <a:solidFill>
                  <a:srgbClr val="FF0000"/>
                </a:solidFill>
              </a:rPr>
              <a:t>وإدخــالـهـا </a:t>
            </a:r>
            <a:r>
              <a:rPr lang="ar-DZ" sz="4400" b="1" dirty="0">
                <a:solidFill>
                  <a:schemeClr val="tx2"/>
                </a:solidFill>
              </a:rPr>
              <a:t>إلـى وحــدة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أ – وَحَـــدَات الإِدْخَـــال ( 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Périphériques d’Entrée</a:t>
            </a:r>
            <a:r>
              <a:rPr lang="ar-DZ" sz="4000" i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4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0726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الإدخـــال </a:t>
            </a:r>
            <a:r>
              <a:rPr lang="ar-DZ" sz="4400" b="1" dirty="0" smtClean="0">
                <a:solidFill>
                  <a:schemeClr val="tx2"/>
                </a:solidFill>
              </a:rPr>
              <a:t>تَــشْــمُــلُ جــمــيــع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الّـتي يَـتِـمُّ مـن خــلالـهـا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الـمـعـلـومـات </a:t>
            </a:r>
            <a:r>
              <a:rPr lang="ar-DZ" sz="4400" b="1" dirty="0">
                <a:solidFill>
                  <a:srgbClr val="FF0000"/>
                </a:solidFill>
              </a:rPr>
              <a:t>وإدخــالـهـا </a:t>
            </a:r>
            <a:r>
              <a:rPr lang="ar-DZ" sz="4400" b="1" dirty="0">
                <a:solidFill>
                  <a:schemeClr val="tx2"/>
                </a:solidFill>
              </a:rPr>
              <a:t>إلـى وحــدة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1772816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الـمُـكَــوِنَـــات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122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الإدخـــال </a:t>
            </a:r>
            <a:r>
              <a:rPr lang="ar-DZ" sz="4400" b="1" dirty="0" smtClean="0">
                <a:solidFill>
                  <a:schemeClr val="tx2"/>
                </a:solidFill>
              </a:rPr>
              <a:t>تَــشْــمُــلُ جــمــيــع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الّـتي يَـتِـمُّ مـن خــلالـهـا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الـمـعـلـومـات </a:t>
            </a:r>
            <a:r>
              <a:rPr lang="ar-DZ" sz="4400" b="1" dirty="0">
                <a:solidFill>
                  <a:srgbClr val="FF0000"/>
                </a:solidFill>
              </a:rPr>
              <a:t>وإدخــالـهـا </a:t>
            </a:r>
            <a:r>
              <a:rPr lang="ar-DZ" sz="4400" b="1" dirty="0">
                <a:solidFill>
                  <a:schemeClr val="tx2"/>
                </a:solidFill>
              </a:rPr>
              <a:t>إلـى وحــدة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1772816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الـمُـكَــوِنَـــات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54400" y="2770740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إِنْــتَــاج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264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الإدخـــال </a:t>
            </a:r>
            <a:r>
              <a:rPr lang="ar-DZ" sz="4400" b="1" dirty="0" smtClean="0">
                <a:solidFill>
                  <a:schemeClr val="tx2"/>
                </a:solidFill>
              </a:rPr>
              <a:t>تَــشْــمُــلُ جــمــيــع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الّـتي يَـتِـمُّ مـن خــلالـهـا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الـمـعـلـومـات </a:t>
            </a:r>
            <a:r>
              <a:rPr lang="ar-DZ" sz="4400" b="1" dirty="0">
                <a:solidFill>
                  <a:srgbClr val="FF0000"/>
                </a:solidFill>
              </a:rPr>
              <a:t>وإدخــالـهـا </a:t>
            </a:r>
            <a:r>
              <a:rPr lang="ar-DZ" sz="4400" b="1" dirty="0">
                <a:solidFill>
                  <a:schemeClr val="tx2"/>
                </a:solidFill>
              </a:rPr>
              <a:t>إلـى وحــدة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1772816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الـمُـكَــوِنَـــات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54400" y="2770740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إِنْــتَــاج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51784" y="3798878"/>
            <a:ext cx="277676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الــمُـعَــالَــجَــة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405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1.3 – الـمـكــونــات الـخـارجــيـة ( </a:t>
            </a:r>
            <a:r>
              <a:rPr lang="fr-FR" sz="3000" b="1" dirty="0">
                <a:solidFill>
                  <a:srgbClr val="FF0000"/>
                </a:solidFill>
              </a:rPr>
              <a:t>Périphériques d’Entrée/Sortie </a:t>
            </a:r>
            <a:r>
              <a:rPr lang="ar-DZ" sz="3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نَـشَـاط </a:t>
            </a:r>
            <a:r>
              <a:rPr lang="ar-DZ" sz="4800" b="1" u="sng" dirty="0">
                <a:solidFill>
                  <a:srgbClr val="00B050"/>
                </a:solidFill>
                <a:cs typeface="+mj-cs"/>
              </a:rPr>
              <a:t>4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4800" b="1" dirty="0" smtClean="0">
                <a:cs typeface="+mj-cs"/>
              </a:rPr>
              <a:t>تـتـواجـد وح</a:t>
            </a:r>
            <a:r>
              <a:rPr lang="ar-DZ" sz="4800" b="1" dirty="0">
                <a:cs typeface="+mj-cs"/>
              </a:rPr>
              <a:t>ـ</a:t>
            </a:r>
            <a:r>
              <a:rPr lang="ar-DZ" sz="4800" b="1" dirty="0" smtClean="0">
                <a:cs typeface="+mj-cs"/>
              </a:rPr>
              <a:t>ـدات الإخــراج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حــول الـوِحْــدَة الـمـركــزيـة</a:t>
            </a:r>
            <a:r>
              <a:rPr lang="ar-DZ" sz="4800" b="1" dirty="0" smtClean="0">
                <a:cs typeface="+mj-cs"/>
              </a:rPr>
              <a:t>، 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حَــدِّدْ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بـعـض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800" b="1" u="sng" dirty="0">
                <a:solidFill>
                  <a:srgbClr val="0070C0"/>
                </a:solidFill>
                <a:cs typeface="+mj-cs"/>
              </a:rPr>
              <a:t>وحــدات الإخــراج</a:t>
            </a:r>
            <a:r>
              <a:rPr lang="ar-DZ" sz="4800" b="1" dirty="0" smtClean="0">
                <a:cs typeface="+mj-cs"/>
              </a:rPr>
              <a:t>، </a:t>
            </a:r>
            <a:r>
              <a:rPr lang="ar-DZ" sz="4800" b="1" dirty="0">
                <a:cs typeface="+mj-cs"/>
              </a:rPr>
              <a:t>ومــاذا تــســتــنــتــج ؟  </a:t>
            </a: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ب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وَحَــدَات الإِخْــراج (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Périphériques de Sort</a:t>
            </a:r>
            <a:r>
              <a:rPr lang="fr-FR" sz="3600" b="1" dirty="0">
                <a:solidFill>
                  <a:srgbClr val="00B050"/>
                </a:solidFill>
                <a:cs typeface="+mj-cs"/>
              </a:rPr>
              <a:t>i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e</a:t>
            </a:r>
            <a:r>
              <a:rPr lang="ar-DZ" sz="3800" i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9103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6981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64568" y="206084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الـشـــاشـــة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Ecran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18600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64568" y="206084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الـشـــاشـــة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Ecran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55837" y="332108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الــطـــابــعـــة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Imprimante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62204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</a:rPr>
              <a:t>نَـشَــاط 4</a:t>
            </a:r>
            <a:r>
              <a:rPr lang="ar-DZ" sz="3800" b="1" dirty="0">
                <a:solidFill>
                  <a:srgbClr val="00B050"/>
                </a:solidFill>
              </a:rPr>
              <a:t> : ب – وَحَــدَات الإِخْــراج ( </a:t>
            </a:r>
            <a:r>
              <a:rPr lang="fr-FR" sz="3600" b="1" dirty="0">
                <a:solidFill>
                  <a:srgbClr val="00B050"/>
                </a:solidFill>
              </a:rPr>
              <a:t>Périphériques de Sortie</a:t>
            </a:r>
            <a:r>
              <a:rPr lang="ar-DZ" sz="3800" i="1" dirty="0">
                <a:solidFill>
                  <a:srgbClr val="00B050"/>
                </a:solidFill>
              </a:rPr>
              <a:t> </a:t>
            </a:r>
            <a:r>
              <a:rPr lang="ar-DZ" sz="3800" b="1" dirty="0">
                <a:solidFill>
                  <a:srgbClr val="00B050"/>
                </a:solidFill>
              </a:rPr>
              <a:t>)</a:t>
            </a:r>
            <a:endParaRPr lang="fr-FR" sz="38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201689"/>
              </p:ext>
            </p:extLst>
          </p:nvPr>
        </p:nvGraphicFramePr>
        <p:xfrm>
          <a:off x="949888" y="1802866"/>
          <a:ext cx="10091992" cy="3960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91992"/>
              </a:tblGrid>
              <a:tr h="120888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1376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33735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</a:t>
                      </a:r>
                      <a:r>
                        <a:rPr lang="fr-FR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......................................</a:t>
                      </a:r>
                      <a:r>
                        <a:rPr lang="ar-DZ" sz="3200" b="1" kern="1200" baseline="-250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...............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fr-FR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…………………………….. 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ar-DZ" sz="3200" b="1" kern="1200" dirty="0" smtClean="0">
                          <a:solidFill>
                            <a:srgbClr val="0070C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264568" y="206084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الـشـــاشـــة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Ecran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255837" y="3321088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الــطـــابــعـــة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Imprimante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264568" y="4545224"/>
            <a:ext cx="9505056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الـســمــاعـــات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Ecouteurs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3369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الإخــراج تَـضُـمُّ الـمـكــونــات الّـتي تـسـمـح لـنـا 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نـتـائـج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نَــشَــاط 4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ب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وَحَــدَات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الإِخْــراج ( </a:t>
            </a:r>
            <a:r>
              <a:rPr lang="fr-FR" sz="3600" b="1" dirty="0">
                <a:solidFill>
                  <a:srgbClr val="00B050"/>
                </a:solidFill>
                <a:cs typeface="+mj-cs"/>
              </a:rPr>
              <a:t>Périphériques de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Sortie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3983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الإخــراج تَـضُـمُّ الـمـكــونــات الّـتي تـسـمـح لـنـا 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نـتـائـج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878441" y="3234215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إِظْــهَــار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72519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>
                <a:solidFill>
                  <a:srgbClr val="FF0000"/>
                </a:solidFill>
              </a:rPr>
              <a:t>أتـذكـر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400" b="1" dirty="0">
                <a:solidFill>
                  <a:schemeClr val="tx2"/>
                </a:solidFill>
              </a:rPr>
              <a:t>وحـــدات الإخــراج تَـضُـمُّ الـمـكــونــات الّـتي تـسـمـح لـنـا 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r>
              <a:rPr lang="ar-DZ" sz="4400" b="1" dirty="0">
                <a:solidFill>
                  <a:schemeClr val="tx2"/>
                </a:solidFill>
              </a:rPr>
              <a:t>نـتـائـج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</a:t>
            </a:r>
            <a:endParaRPr lang="fr-FR" sz="4400" b="1" dirty="0">
              <a:solidFill>
                <a:schemeClr val="tx2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878441" y="3234215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إِظْــهَــار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07568" y="3212976"/>
            <a:ext cx="349684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الــمُــعَـــالَـــجَــة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6788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 2.3 –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الـمـكــونــات الـداخــلــيــة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(</a:t>
            </a:r>
            <a:r>
              <a:rPr lang="fr-FR" sz="4000" b="1" dirty="0">
                <a:solidFill>
                  <a:srgbClr val="FF0000"/>
                </a:solidFill>
                <a:cs typeface="+mj-cs"/>
              </a:rPr>
              <a:t>Unité Centrale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412776"/>
            <a:ext cx="10814992" cy="495706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cs typeface="+mj-cs"/>
              </a:rPr>
              <a:t>تـضُـمُّ </a:t>
            </a:r>
            <a:r>
              <a:rPr lang="ar-DZ" sz="4000" b="1" dirty="0">
                <a:cs typeface="+mj-cs"/>
              </a:rPr>
              <a:t>الـوحــدة الـمــركــزيــة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جـمـيــع الـمـكـونــات الـداخــلــيـة</a:t>
            </a:r>
            <a:r>
              <a:rPr lang="ar-DZ" sz="4000" b="1" dirty="0">
                <a:cs typeface="+mj-cs"/>
              </a:rPr>
              <a:t>، والَّـتِي تـقــوم بـعــمــلـيــات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الـمـعــالـجـة والـتـخــزيــن</a:t>
            </a:r>
            <a:r>
              <a:rPr lang="ar-DZ" sz="4000" b="1" dirty="0">
                <a:cs typeface="+mj-cs"/>
              </a:rPr>
              <a:t>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وغــيــرهـا</a:t>
            </a:r>
            <a:r>
              <a:rPr lang="ar-DZ" b="1" dirty="0" smtClean="0">
                <a:cs typeface="+mj-cs"/>
              </a:rPr>
              <a:t>.</a:t>
            </a:r>
            <a:r>
              <a:rPr lang="ar-DZ" sz="4000" b="1" dirty="0" smtClean="0">
                <a:cs typeface="+mj-cs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B050"/>
                </a:solidFill>
                <a:cs typeface="+mj-cs"/>
              </a:rPr>
              <a:t>نــشــاط 5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4000" b="1" dirty="0" smtClean="0">
                <a:cs typeface="+mj-cs"/>
              </a:rPr>
              <a:t>عَــيِّــنْ </a:t>
            </a:r>
            <a:r>
              <a:rPr lang="ar-DZ" sz="4000" b="1" dirty="0">
                <a:cs typeface="+mj-cs"/>
              </a:rPr>
              <a:t>بـعـض الـمــكــونــات الـداخــلــيــة مـع إبـــراز دَوْر كــل مــكــون </a:t>
            </a:r>
            <a:r>
              <a:rPr lang="ar-DZ" sz="4000" b="1" dirty="0" smtClean="0">
                <a:cs typeface="+mj-cs"/>
              </a:rPr>
              <a:t>، ومــاذا </a:t>
            </a:r>
            <a:r>
              <a:rPr lang="ar-DZ" sz="4000" b="1" dirty="0">
                <a:cs typeface="+mj-cs"/>
              </a:rPr>
              <a:t>تــســتــنــتــج ؟</a:t>
            </a:r>
            <a:endParaRPr lang="ar-DZ" sz="4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654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050443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545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8716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2680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95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1283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7461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2579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916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2579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7457" y="3565440"/>
            <a:ext cx="338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الـمـعـالـج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الـمـركـزي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2400" b="1" dirty="0" smtClean="0">
                <a:solidFill>
                  <a:srgbClr val="0070C0"/>
                </a:solidFill>
                <a:cs typeface="+mj-cs"/>
              </a:rPr>
              <a:t>CPU</a:t>
            </a:r>
            <a:endParaRPr lang="fr-FR" sz="2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6393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3525790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 تـــعـــلـــيـــمـــات الــبـــرمـــجـــيــــات ، مـعــالـجـة الـبــيــانــات والـتــنـســيـق بــيـن الـمـهــامِّ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7457" y="3565440"/>
            <a:ext cx="338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الـمـعـالـج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الـمـركـزي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2400" b="1" dirty="0" smtClean="0">
                <a:solidFill>
                  <a:srgbClr val="0070C0"/>
                </a:solidFill>
                <a:cs typeface="+mj-cs"/>
              </a:rPr>
              <a:t>CPU</a:t>
            </a:r>
            <a:endParaRPr lang="fr-FR" sz="2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6294" y="491088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الـذاكــرة الـحــيـة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RAM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2005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174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95616" y="220486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</a:rPr>
              <a:t>الـذَاكِـرَة الـمَـيِّـتَـة </a:t>
            </a:r>
            <a:r>
              <a:rPr lang="fr-FR" sz="3000" b="1" dirty="0" smtClean="0">
                <a:solidFill>
                  <a:srgbClr val="0070C0"/>
                </a:solidFill>
              </a:rPr>
              <a:t> </a:t>
            </a:r>
            <a:r>
              <a:rPr lang="fr-FR" sz="2600" b="1" dirty="0" smtClean="0">
                <a:solidFill>
                  <a:srgbClr val="0070C0"/>
                </a:solidFill>
              </a:rPr>
              <a:t>ROM</a:t>
            </a:r>
            <a:endParaRPr lang="fr-FR" sz="26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679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95616" y="220486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</a:rPr>
              <a:t>الـذَاكِـرَة الـمَـيِّـتَـة </a:t>
            </a:r>
            <a:r>
              <a:rPr lang="fr-FR" sz="3000" b="1" dirty="0" smtClean="0">
                <a:solidFill>
                  <a:srgbClr val="0070C0"/>
                </a:solidFill>
              </a:rPr>
              <a:t> </a:t>
            </a:r>
            <a:r>
              <a:rPr lang="fr-FR" sz="2600" b="1" dirty="0" smtClean="0">
                <a:solidFill>
                  <a:srgbClr val="0070C0"/>
                </a:solidFill>
              </a:rPr>
              <a:t>ROM</a:t>
            </a:r>
            <a:endParaRPr lang="fr-FR" sz="26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9628" y="3657060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الـقُــرْص الـصَّـلْـب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HDD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040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 ( تــابـع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)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الـداخــلــيــة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454963"/>
              </p:ext>
            </p:extLst>
          </p:nvPr>
        </p:nvGraphicFramePr>
        <p:xfrm>
          <a:off x="818069" y="1093913"/>
          <a:ext cx="10429169" cy="502633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602297"/>
                <a:gridCol w="6826872"/>
              </a:tblGrid>
              <a:tr h="771228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تــخــزيــن نــظــام الإِدْخَـال والإِخْــرَاج الأسـاسي 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BIOS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 </a:t>
                      </a: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بـصـفـة دائـمـة مِـن طَــرَفِ الــشَـرِكَـة الــمُـــصَـــنِّــعَـــة لِـــ : لـــوحــة الأم 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51873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تــخـــزيـــن الــمـــلــفـــات وذلـك بــصــفــة دائــمــة</a:t>
                      </a: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ea typeface="Droid Sans Fallback"/>
                          <a:cs typeface="+mj-cs"/>
                        </a:rPr>
                        <a:t> ( مـــلــفــات : نــظـــام الــتــشــغـــيــل، الـبـــرامــج الــمُـــثَـــبَّــــتَـــة، صُـــوَر، مُــــسْــــتَـــــنَــــدَات ...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3290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3200" b="1" dirty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</a:t>
                      </a: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تَـــزْوِيــــدِ مُــــكَــــوِنَــــاتِ الــحــــــاســـــوب</a:t>
                      </a:r>
                    </a:p>
                    <a:p>
                      <a:pPr algn="ctr" rtl="1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ar-DZ" sz="3000" b="1" dirty="0" smtClean="0">
                          <a:solidFill>
                            <a:srgbClr val="002060"/>
                          </a:solidFill>
                          <a:effectLst/>
                          <a:latin typeface="Traditional Arabic" panose="02020603050405020304" pitchFamily="18" charset="-78"/>
                          <a:ea typeface="Droid Sans Fallback"/>
                          <a:cs typeface="+mj-cs"/>
                        </a:rPr>
                        <a:t> بـالــطـــــاقــــــة الــكـــهــــربـــــــــائــــــيــــة</a:t>
                      </a:r>
                      <a:endParaRPr lang="fr-FR" sz="3000" dirty="0">
                        <a:solidFill>
                          <a:srgbClr val="00000A"/>
                        </a:solidFill>
                        <a:effectLst/>
                        <a:latin typeface="Liberation Serif"/>
                        <a:ea typeface="Droid Sans Fallback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795616" y="220486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</a:rPr>
              <a:t>الـذَاكِـرَة الـمَـيِّـتَـة </a:t>
            </a:r>
            <a:r>
              <a:rPr lang="fr-FR" sz="3000" b="1" dirty="0" smtClean="0">
                <a:solidFill>
                  <a:srgbClr val="0070C0"/>
                </a:solidFill>
              </a:rPr>
              <a:t> </a:t>
            </a:r>
            <a:r>
              <a:rPr lang="fr-FR" sz="2600" b="1" dirty="0" smtClean="0">
                <a:solidFill>
                  <a:srgbClr val="0070C0"/>
                </a:solidFill>
              </a:rPr>
              <a:t>ROM</a:t>
            </a:r>
            <a:endParaRPr lang="fr-FR" sz="2600" b="1" dirty="0">
              <a:solidFill>
                <a:srgbClr val="0070C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29628" y="3657060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الـقُــرْص الـصَّـلْـب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HDD</a:t>
            </a:r>
            <a:endParaRPr lang="fr-FR" sz="28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38464" y="506639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0070C0"/>
                </a:solidFill>
                <a:cs typeface="+mj-cs"/>
              </a:rPr>
              <a:t>عُـلْـبَـة الإِمْـدَاد بالـكـهـربـاء</a:t>
            </a:r>
            <a:endParaRPr lang="fr-FR" sz="3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4299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1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32680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6863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4248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232029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الـشـبـكـة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72782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4248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232029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الـشـبـكـة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46754" y="3493574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بـيـانـيـة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69616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42486"/>
              </p:ext>
            </p:extLst>
          </p:nvPr>
        </p:nvGraphicFramePr>
        <p:xfrm>
          <a:off x="995423" y="1181327"/>
          <a:ext cx="10080001" cy="4677442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تُـــــمَــــثِّــــلُ وَاجِـــــهَـــــةَ الــــتَّــــــواصـــل مــــع أجـــــهــــــزة الــــشـــــبـــــكـــــــات الأخـــــــــرى 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لـتـحــويــل الـبـيـانــات الـرقــمــيــة إلـى إشـــارات قــابـلـة للـعَــرْضِ عـلـى الـشــاشــة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60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لــتــســـيـــيـــر كُــلِّ مــــا يــتــعــلَّــق بـالـصــوت سَــــوَاءً عــنــد تــســجــيـــلــه أو إخــــراجـــه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680176" y="2320297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الـشـبـكـة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46754" y="3493574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بـيـانـيـة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06816" y="4793673"/>
            <a:ext cx="3426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بـطـاقـة الـصـوت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671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9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0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000" b="1" u="sng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30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000" b="1" dirty="0">
                <a:cs typeface="+mj-cs"/>
              </a:rPr>
              <a:t>ضـع أرقــام </a:t>
            </a:r>
            <a:r>
              <a:rPr lang="ar-DZ" sz="3000" b="1" dirty="0" smtClean="0">
                <a:cs typeface="+mj-cs"/>
              </a:rPr>
              <a:t>الـعــبـارات الــتـالـيـة </a:t>
            </a:r>
            <a:r>
              <a:rPr lang="ar-DZ" sz="3000" b="1" dirty="0">
                <a:cs typeface="+mj-cs"/>
              </a:rPr>
              <a:t>فـي أَمَـاكِــنِـهَـا </a:t>
            </a:r>
            <a:r>
              <a:rPr lang="ar-DZ" sz="3000" b="1" dirty="0" smtClean="0">
                <a:cs typeface="+mj-cs"/>
              </a:rPr>
              <a:t>الـمـنـاســبـة </a:t>
            </a:r>
            <a:r>
              <a:rPr lang="ar-DZ" sz="3000" b="1" dirty="0">
                <a:cs typeface="+mj-cs"/>
              </a:rPr>
              <a:t>فـي </a:t>
            </a:r>
            <a:r>
              <a:rPr lang="ar-DZ" sz="3000" b="1" dirty="0" smtClean="0">
                <a:cs typeface="+mj-cs"/>
              </a:rPr>
              <a:t>الـجـدول </a:t>
            </a:r>
            <a:endParaRPr lang="fr-FR" sz="3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872288"/>
              </p:ext>
            </p:extLst>
          </p:nvPr>
        </p:nvGraphicFramePr>
        <p:xfrm>
          <a:off x="818069" y="1093913"/>
          <a:ext cx="10429169" cy="507139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070846"/>
                <a:gridCol w="5358323"/>
              </a:tblGrid>
              <a:tr h="1234864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u="none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j-cs"/>
                        </a:rPr>
                        <a:t>1</a:t>
                      </a:r>
                      <a:r>
                        <a:rPr lang="ar-DZ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. تَــشْــمُــلُ الــذاكـــرة الــحــــيـــة </a:t>
                      </a:r>
                      <a:r>
                        <a:rPr lang="fr-FR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RAM </a:t>
                      </a:r>
                      <a:r>
                        <a:rPr lang="ar-DZ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والـذاكــرة الــمـــيـــتــة </a:t>
                      </a:r>
                      <a:r>
                        <a:rPr lang="fr-FR" sz="2800" b="1" u="none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j-cs"/>
                        </a:rPr>
                        <a:t>ROM</a:t>
                      </a: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2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 تُــخَـــزِّنُ الـمـعــلــومــات بــصفـة دائـمـة لا تــتــأثــر بـانــقـطـــاع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n-cs"/>
                        </a:rPr>
                        <a:t>الــتــيــار الـكـهــربــائـي</a:t>
                      </a:r>
                      <a:endParaRPr lang="fr-FR" sz="2800" b="1" u="none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78842">
                <a:tc>
                  <a:txBody>
                    <a:bodyPr/>
                    <a:lstStyle/>
                    <a:p>
                      <a:pPr marL="0" marR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3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. تَــشْــمُــلُ الأقــــــراص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CD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DVD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en-US" sz="2800" b="1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FlashDisk</a:t>
                      </a:r>
                      <a:r>
                        <a:rPr lang="en-US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28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،</a:t>
                      </a:r>
                      <a:r>
                        <a:rPr lang="ar-DZ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fr-FR" sz="2800" b="1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SD </a:t>
                      </a:r>
                      <a:r>
                        <a:rPr lang="fr-FR" sz="2800" b="1" kern="1200" baseline="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Card</a:t>
                      </a:r>
                      <a:endParaRPr lang="fr-FR" sz="2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4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تـخــزن الـمــعــلــومــات بـصـفـة مـؤقــتـة تــتـأثــر بـانـقـطــاع  الــتــيــار الـكـهــربــائـي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278842"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5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تـحــتــوي عــلـى ذاكــرة عـــشــوائــيــة فـــائــــقــة الــســـرعــــة 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6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تــحـــتــــوي عـلـى وحــــدة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ضـــروريـــــة 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هـي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أكــبــر وحـــدات الــتــخــــزيـــن سِــعَـــةً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278842"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7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تــضــم وحـــــــدات خــــــارجـــــيـــة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مــنــــقــــولــــة للــتــخـــزيـــن الــدائـــم 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43510" algn="r" rtl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ar-DZ" sz="28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8</a:t>
                      </a:r>
                      <a:r>
                        <a:rPr lang="ar-DZ" sz="28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. تـــحـــــوي </a:t>
                      </a:r>
                      <a:r>
                        <a:rPr lang="ar-DZ" sz="2800" b="1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+mj-cs"/>
                        </a:rPr>
                        <a:t>ذاكــــــرة مــــــدمــــجـــــة بــ « لــــوحــــة الأم » ضـــروريـــة لـلإقــــــلاع</a:t>
                      </a:r>
                      <a:endParaRPr lang="fr-FR" sz="28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+mj-cs"/>
                      </a:endParaRPr>
                    </a:p>
                  </a:txBody>
                  <a:tcPr marL="68580" marR="68580" marT="0" marB="0"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676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0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000" b="1" u="sng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30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000" b="1" dirty="0">
                <a:cs typeface="+mj-cs"/>
              </a:rPr>
              <a:t>ضـع أرقــام </a:t>
            </a:r>
            <a:r>
              <a:rPr lang="ar-DZ" sz="3000" b="1" dirty="0" smtClean="0">
                <a:cs typeface="+mj-cs"/>
              </a:rPr>
              <a:t>الـعــبـارات الــتـالـيـة </a:t>
            </a:r>
            <a:r>
              <a:rPr lang="ar-DZ" sz="3000" b="1" dirty="0">
                <a:cs typeface="+mj-cs"/>
              </a:rPr>
              <a:t>فـي أَمَـاكِــنِـهَـا </a:t>
            </a:r>
            <a:r>
              <a:rPr lang="ar-DZ" sz="3000" b="1" dirty="0" smtClean="0">
                <a:cs typeface="+mj-cs"/>
              </a:rPr>
              <a:t>الـمـنـاســبـة </a:t>
            </a:r>
            <a:r>
              <a:rPr lang="ar-DZ" sz="3000" b="1" dirty="0">
                <a:cs typeface="+mj-cs"/>
              </a:rPr>
              <a:t>فـي </a:t>
            </a:r>
            <a:r>
              <a:rPr lang="ar-DZ" sz="3000" b="1" dirty="0" smtClean="0">
                <a:cs typeface="+mj-cs"/>
              </a:rPr>
              <a:t>الـجـدول </a:t>
            </a:r>
            <a:endParaRPr lang="fr-FR" sz="3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67836"/>
              </p:ext>
            </p:extLst>
          </p:nvPr>
        </p:nvGraphicFramePr>
        <p:xfrm>
          <a:off x="892352" y="1285580"/>
          <a:ext cx="10275061" cy="423709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95916"/>
                <a:gridCol w="3379504"/>
                <a:gridCol w="4399641"/>
              </a:tblGrid>
              <a:tr h="125496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نــوع</a:t>
                      </a:r>
                      <a:r>
                        <a:rPr lang="ar-DZ" sz="3000" b="1" u="none" kern="1200" baseline="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 الــذاكــرة</a:t>
                      </a:r>
                      <a:endParaRPr lang="fr-FR" sz="3000" b="1" u="none" kern="1200" dirty="0" smtClean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الـذاكــرة الـمــركــزيــة</a:t>
                      </a:r>
                      <a:endParaRPr lang="fr-FR" sz="30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وحــدات الـتـخــزيــن الـثـانــويــة</a:t>
                      </a:r>
                      <a:endParaRPr lang="fr-FR" sz="32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98213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الـخــصــائـص</a:t>
                      </a:r>
                      <a:endParaRPr lang="fr-FR" sz="40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129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0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000" b="1" u="sng" dirty="0" smtClean="0">
                <a:solidFill>
                  <a:srgbClr val="00B050"/>
                </a:solidFill>
                <a:cs typeface="+mj-cs"/>
              </a:rPr>
              <a:t>6</a:t>
            </a:r>
            <a:r>
              <a:rPr lang="ar-DZ" sz="30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000" b="1" dirty="0">
                <a:cs typeface="+mj-cs"/>
              </a:rPr>
              <a:t>ضـع أرقــام </a:t>
            </a:r>
            <a:r>
              <a:rPr lang="ar-DZ" sz="3000" b="1" dirty="0" smtClean="0">
                <a:cs typeface="+mj-cs"/>
              </a:rPr>
              <a:t>الـعــبـارات الــتـالـيـة </a:t>
            </a:r>
            <a:r>
              <a:rPr lang="ar-DZ" sz="3000" b="1" dirty="0">
                <a:cs typeface="+mj-cs"/>
              </a:rPr>
              <a:t>فـي أَمَـاكِــنِـهَـا </a:t>
            </a:r>
            <a:r>
              <a:rPr lang="ar-DZ" sz="3000" b="1" dirty="0" smtClean="0">
                <a:cs typeface="+mj-cs"/>
              </a:rPr>
              <a:t>الـمـنـاســبـة </a:t>
            </a:r>
            <a:r>
              <a:rPr lang="ar-DZ" sz="3000" b="1" dirty="0">
                <a:cs typeface="+mj-cs"/>
              </a:rPr>
              <a:t>فـي </a:t>
            </a:r>
            <a:r>
              <a:rPr lang="ar-DZ" sz="3000" b="1" dirty="0" smtClean="0">
                <a:cs typeface="+mj-cs"/>
              </a:rPr>
              <a:t>الـجـدول </a:t>
            </a:r>
            <a:endParaRPr lang="fr-FR" sz="3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67836"/>
              </p:ext>
            </p:extLst>
          </p:nvPr>
        </p:nvGraphicFramePr>
        <p:xfrm>
          <a:off x="892352" y="1285580"/>
          <a:ext cx="10275061" cy="423709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95916"/>
                <a:gridCol w="3379504"/>
                <a:gridCol w="4399641"/>
              </a:tblGrid>
              <a:tr h="1254967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نــوع</a:t>
                      </a:r>
                      <a:r>
                        <a:rPr lang="ar-DZ" sz="3000" b="1" u="none" kern="1200" baseline="0" dirty="0" smtClean="0">
                          <a:solidFill>
                            <a:srgbClr val="FFFF00"/>
                          </a:solidFill>
                          <a:latin typeface="+mn-lt"/>
                          <a:ea typeface="+mn-ea"/>
                          <a:cs typeface="+mj-cs"/>
                        </a:rPr>
                        <a:t> الــذاكــرة</a:t>
                      </a:r>
                      <a:endParaRPr lang="fr-FR" sz="3000" b="1" u="none" kern="1200" dirty="0" smtClean="0">
                        <a:solidFill>
                          <a:srgbClr val="FFFF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الـذاكــرة الـمــركــزيــة</a:t>
                      </a:r>
                      <a:endParaRPr lang="fr-FR" sz="30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200" b="1" u="none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وحــدات الـتـخــزيــن الـثـانــويــة</a:t>
                      </a:r>
                      <a:endParaRPr lang="fr-FR" sz="3200" b="1" u="none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298213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600" b="1" kern="1200" dirty="0" smtClean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j-cs"/>
                        </a:rPr>
                        <a:t>الـخــصــائـص</a:t>
                      </a:r>
                      <a:endParaRPr lang="fr-FR" sz="4000" b="1" kern="1200" dirty="0" smtClean="0">
                        <a:solidFill>
                          <a:schemeClr val="bg1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.....................................</a:t>
                      </a:r>
                      <a:endParaRPr lang="fr-FR" sz="30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868314" y="3417302"/>
            <a:ext cx="668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①</a:t>
            </a:r>
            <a:endParaRPr lang="fr-FR" sz="3200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94883" y="3402054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④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20013" y="3407503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③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06334" y="3418899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②</a:t>
            </a:r>
            <a:endParaRPr lang="fr-FR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33692" y="3418899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</a:rPr>
              <a:t>⑥</a:t>
            </a:r>
            <a:endParaRPr lang="fr-FR"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347371" y="3402055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>
                <a:solidFill>
                  <a:srgbClr val="0070C0"/>
                </a:solidFill>
              </a:rPr>
              <a:t>⑦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1767" y="3402055"/>
            <a:ext cx="7296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200" b="1" dirty="0" smtClean="0">
                <a:solidFill>
                  <a:srgbClr val="0070C0"/>
                </a:solidFill>
              </a:rPr>
              <a:t>⑤</a:t>
            </a:r>
            <a:endParaRPr lang="fr-FR" sz="3200" dirty="0">
              <a:solidFill>
                <a:srgbClr val="0070C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72413" y="3417302"/>
            <a:ext cx="6687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⑧</a:t>
            </a:r>
            <a:endParaRPr lang="fr-FR" sz="3200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5467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fr-FR" sz="4400" b="1" u="sng" dirty="0">
                <a:solidFill>
                  <a:srgbClr val="00B050"/>
                </a:solidFill>
                <a:cs typeface="+mj-cs"/>
              </a:rPr>
              <a:t>7</a:t>
            </a:r>
            <a:r>
              <a:rPr lang="ar-DZ" sz="44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حَــلِّــلْ  جــيـدا مــحــتــوى الــصــفــحــة 4 ، فـمـاذا تـسـتـنـتـج 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أ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– تــمـثــيــل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الـمـعــلــومــات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329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تــمـثــيــل </a:t>
            </a:r>
            <a:r>
              <a:rPr lang="ar-DZ" sz="3600" b="1" dirty="0" smtClean="0">
                <a:solidFill>
                  <a:srgbClr val="00B050"/>
                </a:solidFill>
              </a:rPr>
              <a:t>الـمـعــلــومــات  ــ  تـــابـع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cs typeface="+mj-cs"/>
              </a:rPr>
              <a:t>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58" y="945328"/>
            <a:ext cx="10803182" cy="54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2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تــمـثــيــل الـمـعــلــومــات ــ  تـــابـع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cs typeface="+mj-cs"/>
              </a:rPr>
              <a:t>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04" y="305360"/>
            <a:ext cx="8460000" cy="607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18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الـحـاسـوب </a:t>
            </a:r>
            <a:r>
              <a:rPr lang="ar-DZ" sz="4400" b="1" dirty="0">
                <a:cs typeface="+mj-cs"/>
              </a:rPr>
              <a:t>لا </a:t>
            </a:r>
            <a:r>
              <a:rPr lang="ar-DZ" sz="4400" b="1" dirty="0" smtClean="0">
                <a:cs typeface="+mj-cs"/>
              </a:rPr>
              <a:t>يَـفْهَـمُ إِلَّا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لُـغَـةَ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</a:t>
            </a:r>
            <a:r>
              <a:rPr lang="ar-DZ" sz="4400" b="1" dirty="0" smtClean="0">
                <a:cs typeface="+mj-cs"/>
              </a:rPr>
              <a:t>لابُــدَ </a:t>
            </a:r>
            <a:r>
              <a:rPr lang="ar-DZ" sz="4400" b="1" dirty="0">
                <a:cs typeface="+mj-cs"/>
              </a:rPr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cs typeface="+mj-cs"/>
              </a:rPr>
              <a:t> وذلـك بـاســتـعــمــال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06531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الـحـاسـوب </a:t>
            </a:r>
            <a:r>
              <a:rPr lang="ar-DZ" sz="4400" b="1" dirty="0">
                <a:cs typeface="+mj-cs"/>
              </a:rPr>
              <a:t>لا </a:t>
            </a:r>
            <a:r>
              <a:rPr lang="ar-DZ" sz="4400" b="1" dirty="0" smtClean="0">
                <a:cs typeface="+mj-cs"/>
              </a:rPr>
              <a:t>يَـفْهَـمُ إِلَّا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لُـغَـةَ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</a:t>
            </a:r>
            <a:r>
              <a:rPr lang="ar-DZ" sz="4400" b="1" dirty="0" smtClean="0">
                <a:cs typeface="+mj-cs"/>
              </a:rPr>
              <a:t>لابُــدَ </a:t>
            </a:r>
            <a:r>
              <a:rPr lang="ar-DZ" sz="4400" b="1" dirty="0">
                <a:cs typeface="+mj-cs"/>
              </a:rPr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cs typeface="+mj-cs"/>
              </a:rPr>
              <a:t> وذلـك بـاســتـعــمــال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0514" y="1624027"/>
            <a:ext cx="4896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الآلَــة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( الأصـفــار 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والآحـ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اد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76780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الـحـاسـوب </a:t>
            </a:r>
            <a:r>
              <a:rPr lang="ar-DZ" sz="4400" b="1" dirty="0">
                <a:cs typeface="+mj-cs"/>
              </a:rPr>
              <a:t>لا </a:t>
            </a:r>
            <a:r>
              <a:rPr lang="ar-DZ" sz="4400" b="1" dirty="0" smtClean="0">
                <a:cs typeface="+mj-cs"/>
              </a:rPr>
              <a:t>يَـفْهَـمُ إِلَّا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لُـغَـةَ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</a:t>
            </a:r>
            <a:r>
              <a:rPr lang="ar-DZ" sz="4400" b="1" dirty="0" smtClean="0">
                <a:cs typeface="+mj-cs"/>
              </a:rPr>
              <a:t>لابُــدَ </a:t>
            </a:r>
            <a:r>
              <a:rPr lang="ar-DZ" sz="4400" b="1" dirty="0">
                <a:cs typeface="+mj-cs"/>
              </a:rPr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cs typeface="+mj-cs"/>
              </a:rPr>
              <a:t> وذلـك بـاســتـعــمــال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0514" y="1624027"/>
            <a:ext cx="4896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الآلَــة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( الأصـفــار 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والآحـ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اد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154" y="3643335"/>
            <a:ext cx="270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تــمــثــيــلـهـا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352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─ الـحـاسـوب </a:t>
            </a:r>
            <a:r>
              <a:rPr lang="ar-DZ" sz="4400" b="1" dirty="0">
                <a:cs typeface="+mj-cs"/>
              </a:rPr>
              <a:t>لا </a:t>
            </a:r>
            <a:r>
              <a:rPr lang="ar-DZ" sz="4400" b="1" dirty="0" smtClean="0">
                <a:cs typeface="+mj-cs"/>
              </a:rPr>
              <a:t>يَـفْهَـمُ إِلَّا</a:t>
            </a:r>
            <a:r>
              <a:rPr lang="fr-FR" sz="4400" b="1" dirty="0" smtClean="0"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</a:rPr>
              <a:t>لُـغَـةَ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</a:t>
            </a:r>
            <a:r>
              <a:rPr lang="ar-DZ" sz="4400" b="1" dirty="0" smtClean="0">
                <a:cs typeface="+mj-cs"/>
              </a:rPr>
              <a:t> ولا </a:t>
            </a:r>
            <a:r>
              <a:rPr lang="ar-DZ" sz="4400" b="1" dirty="0">
                <a:cs typeface="+mj-cs"/>
              </a:rPr>
              <a:t>يـتـعــامــل إلا مـعـهـا، إذن لـمـعــالـجـة الـمـعـلـومـات </a:t>
            </a:r>
            <a:r>
              <a:rPr lang="ar-DZ" sz="4400" b="1" dirty="0" smtClean="0">
                <a:cs typeface="+mj-cs"/>
              </a:rPr>
              <a:t>لابُــدَ </a:t>
            </a:r>
            <a:r>
              <a:rPr lang="ar-DZ" sz="4400" b="1" dirty="0">
                <a:cs typeface="+mj-cs"/>
              </a:rPr>
              <a:t>مـن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</a:t>
            </a:r>
            <a:r>
              <a:rPr lang="ar-DZ" sz="4400" b="1" dirty="0" smtClean="0">
                <a:cs typeface="+mj-cs"/>
              </a:rPr>
              <a:t> وذلـك بـاســتـعــمــال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</a:t>
            </a:r>
            <a:r>
              <a:rPr lang="ar-DZ" sz="4400" b="1" dirty="0" smtClean="0">
                <a:solidFill>
                  <a:schemeClr val="tx2"/>
                </a:solidFill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40514" y="1624027"/>
            <a:ext cx="4896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الآلَــة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( الأصـفــار 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والآحـ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اد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3154" y="3643335"/>
            <a:ext cx="270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تــمــثــيــلـهـا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26569" y="4650039"/>
            <a:ext cx="4896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( </a:t>
            </a:r>
            <a:r>
              <a:rPr lang="ar-SA" sz="4000" b="1" dirty="0" err="1" smtClean="0">
                <a:solidFill>
                  <a:srgbClr val="0070C0"/>
                </a:solidFill>
                <a:cs typeface="+mj-cs"/>
              </a:rPr>
              <a:t>الأص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ـفـ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ـار والآح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َــ</a:t>
            </a:r>
            <a:r>
              <a:rPr lang="ar-SA" sz="4000" b="1" dirty="0" smtClean="0">
                <a:solidFill>
                  <a:srgbClr val="0070C0"/>
                </a:solidFill>
                <a:cs typeface="+mj-cs"/>
              </a:rPr>
              <a:t>ـاد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32665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تـمـثـيـل الـمـعـلـومـات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</a:t>
            </a:r>
            <a:r>
              <a:rPr lang="ar-DZ" sz="4400" b="1" dirty="0" smtClean="0"/>
              <a:t> أو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كُــلِ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حَـــْرفٍ </a:t>
            </a:r>
            <a:r>
              <a:rPr lang="ar-DZ" sz="4400" b="1" dirty="0" smtClean="0"/>
              <a:t>بِـ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.....................................................</a:t>
            </a:r>
            <a:r>
              <a:rPr lang="ar-DZ" sz="4400" b="1" dirty="0" smtClean="0"/>
              <a:t> تَــتَــأَلَــفُ مــن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 smtClean="0"/>
              <a:t>بـحــيــث عَـــدَد تـلـك </a:t>
            </a:r>
            <a:r>
              <a:rPr lang="ar-DZ" sz="4400" baseline="-25000" dirty="0">
                <a:solidFill>
                  <a:schemeClr val="tx2"/>
                </a:solidFill>
              </a:rPr>
              <a:t>............ 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15227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تـمـثـيـل الـمـعـلـومـات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</a:t>
            </a:r>
            <a:r>
              <a:rPr lang="ar-DZ" sz="4400" b="1" dirty="0" smtClean="0"/>
              <a:t> أو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كُــلِ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حَـــْرفٍ </a:t>
            </a:r>
            <a:r>
              <a:rPr lang="ar-DZ" sz="4400" b="1" dirty="0" smtClean="0"/>
              <a:t>بِـ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.....................................................</a:t>
            </a:r>
            <a:r>
              <a:rPr lang="ar-DZ" sz="4400" b="1" dirty="0" smtClean="0"/>
              <a:t> تَــتَــأَلَــفُ مــن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 smtClean="0"/>
              <a:t>بـحــيــث عَـــدَد تـلـك </a:t>
            </a:r>
            <a:r>
              <a:rPr lang="ar-DZ" sz="4400" baseline="-25000" dirty="0">
                <a:solidFill>
                  <a:schemeClr val="tx2"/>
                </a:solidFill>
              </a:rPr>
              <a:t>............ 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2885571" y="1610321"/>
            <a:ext cx="17405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اقــتــران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7594" y="1608891"/>
            <a:ext cx="12144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7985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11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تــمـثــيــل </a:t>
            </a:r>
            <a:r>
              <a:rPr lang="ar-DZ" sz="3600" b="1" dirty="0" smtClean="0">
                <a:solidFill>
                  <a:srgbClr val="00B050"/>
                </a:solidFill>
              </a:rPr>
              <a:t>الـمـعــلــومــات  ــ  تـــابـع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cs typeface="+mj-cs"/>
              </a:rPr>
              <a:t>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58" y="945328"/>
            <a:ext cx="10803182" cy="54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735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تـمـثـيـل الـمـعـلـومـات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</a:t>
            </a:r>
            <a:r>
              <a:rPr lang="ar-DZ" sz="4400" b="1" dirty="0" smtClean="0"/>
              <a:t> أو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كُــلِ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حَـــْرفٍ </a:t>
            </a:r>
            <a:r>
              <a:rPr lang="ar-DZ" sz="4400" b="1" dirty="0" smtClean="0"/>
              <a:t>بِـ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.....................................................</a:t>
            </a:r>
            <a:r>
              <a:rPr lang="ar-DZ" sz="4400" b="1" dirty="0" smtClean="0"/>
              <a:t> تَــتَــأَلَــفُ مــن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 smtClean="0"/>
              <a:t>بـحــيــث عَـــدَد تـلـك </a:t>
            </a:r>
            <a:r>
              <a:rPr lang="ar-DZ" sz="4400" baseline="-25000" dirty="0">
                <a:solidFill>
                  <a:schemeClr val="tx2"/>
                </a:solidFill>
              </a:rPr>
              <a:t>............ 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2885571" y="1610321"/>
            <a:ext cx="17405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اقــتــران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2615349"/>
            <a:ext cx="46267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 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7594" y="1608891"/>
            <a:ext cx="12144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85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1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تـمـثـيـل الـمـعـلـومـات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</a:t>
            </a:r>
            <a:r>
              <a:rPr lang="ar-DZ" sz="4400" b="1" dirty="0" smtClean="0"/>
              <a:t> أو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كُــلِ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حَـــْرفٍ </a:t>
            </a:r>
            <a:r>
              <a:rPr lang="ar-DZ" sz="4400" b="1" dirty="0" smtClean="0"/>
              <a:t>بِـ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.....................................................</a:t>
            </a:r>
            <a:r>
              <a:rPr lang="ar-DZ" sz="4400" b="1" dirty="0" smtClean="0"/>
              <a:t> تَــتَــأَلَــفُ مــن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 smtClean="0"/>
              <a:t>بـحــيــث عَـــدَد تـلـك </a:t>
            </a:r>
            <a:r>
              <a:rPr lang="ar-DZ" sz="4400" baseline="-25000" dirty="0">
                <a:solidFill>
                  <a:schemeClr val="tx2"/>
                </a:solidFill>
              </a:rPr>
              <a:t>............ 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2885571" y="1610321"/>
            <a:ext cx="17405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اقــتــران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51984" y="362848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أصْـفَــارِ وآحَــادِ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2615349"/>
            <a:ext cx="46267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 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7594" y="1608891"/>
            <a:ext cx="12144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4658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9" grpId="0" animBg="1"/>
      <p:bldP spid="1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تـمـثـيـل الـمـعـلـومـات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</a:t>
            </a:r>
            <a:r>
              <a:rPr lang="ar-DZ" sz="4400" b="1" dirty="0" smtClean="0"/>
              <a:t> أو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كُــلِ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حَـــْرفٍ </a:t>
            </a:r>
            <a:r>
              <a:rPr lang="ar-DZ" sz="4400" b="1" dirty="0" smtClean="0"/>
              <a:t>بِـ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.....................................................</a:t>
            </a:r>
            <a:r>
              <a:rPr lang="ar-DZ" sz="4400" b="1" dirty="0" smtClean="0"/>
              <a:t> تَــتَــأَلَــفُ مــن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 smtClean="0"/>
              <a:t>بـحــيــث عَـــدَد تـلـك </a:t>
            </a:r>
            <a:r>
              <a:rPr lang="ar-DZ" sz="4400" baseline="-25000" dirty="0">
                <a:solidFill>
                  <a:schemeClr val="tx2"/>
                </a:solidFill>
              </a:rPr>
              <a:t>............ 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2885571" y="1610321"/>
            <a:ext cx="17405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اقــتــران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51984" y="362848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أصْـفَــارِ وآحَــادِ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2615349"/>
            <a:ext cx="46267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 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74641" y="4641628"/>
            <a:ext cx="42164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الأَصْـفَــارِ والآحَــادِ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7594" y="1608891"/>
            <a:ext cx="12144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04610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تـمـثـيـل الـمـعـلـومـات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يـكـون </a:t>
            </a:r>
            <a:r>
              <a:rPr lang="ar-DZ" sz="4400" b="1" dirty="0" smtClean="0">
                <a:cs typeface="+mj-cs"/>
              </a:rPr>
              <a:t>بـ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</a:t>
            </a:r>
            <a:r>
              <a:rPr lang="ar-DZ" sz="4400" b="1" dirty="0" smtClean="0"/>
              <a:t> أو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كُــلِ </a:t>
            </a:r>
            <a:r>
              <a:rPr lang="ar-DZ" sz="4400" b="1" dirty="0" smtClean="0">
                <a:cs typeface="+mj-cs"/>
              </a:rPr>
              <a:t>حَـــْرفٍ </a:t>
            </a:r>
            <a:r>
              <a:rPr lang="ar-DZ" sz="4400" b="1" dirty="0" smtClean="0"/>
              <a:t>بِـ</a:t>
            </a:r>
            <a:r>
              <a:rPr lang="ar-DZ" sz="4400" baseline="-25000" dirty="0">
                <a:solidFill>
                  <a:schemeClr val="tx2"/>
                </a:solidFill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.....................................................</a:t>
            </a:r>
            <a:r>
              <a:rPr lang="ar-DZ" sz="4400" b="1" dirty="0" smtClean="0"/>
              <a:t> تَــتَــأَلَــفُ مــن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، </a:t>
            </a:r>
            <a:r>
              <a:rPr lang="ar-DZ" sz="4400" b="1" dirty="0" smtClean="0"/>
              <a:t>بـحــيــث عَـــدَد تـلـك </a:t>
            </a:r>
            <a:r>
              <a:rPr lang="ar-DZ" sz="4400" baseline="-25000" dirty="0">
                <a:solidFill>
                  <a:schemeClr val="tx2"/>
                </a:solidFill>
              </a:rPr>
              <a:t>............ 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مُــجْــتَــمِــعَــةً </a:t>
            </a:r>
            <a:r>
              <a:rPr lang="ar-DZ" sz="4400" b="1" dirty="0" smtClean="0"/>
              <a:t>هــو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2885571" y="1610321"/>
            <a:ext cx="17405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اقــتــران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30025" y="4639769"/>
            <a:ext cx="12241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51984" y="362848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أصْـفَــارِ وآحَــادِ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2615349"/>
            <a:ext cx="462673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  ( </a:t>
            </a:r>
            <a:r>
              <a:rPr lang="fr-FR" sz="4000" b="1" dirty="0" smtClean="0">
                <a:solidFill>
                  <a:srgbClr val="0070C0"/>
                </a:solidFill>
              </a:rPr>
              <a:t>Code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)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874641" y="4641628"/>
            <a:ext cx="421644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الأَصْـفَــارِ والآحَــادِ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7594" y="1608891"/>
            <a:ext cx="12144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رَبْــطِ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8312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/>
              <a:t>كُــلُّ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؛ بـحــيــث </a:t>
            </a:r>
            <a:r>
              <a:rPr lang="ar-DZ" sz="4400" b="1" dirty="0" smtClean="0"/>
              <a:t>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</a:t>
            </a:r>
            <a:r>
              <a:rPr lang="ar-DZ" sz="4400" b="1" dirty="0" smtClean="0"/>
              <a:t> مُــعَـــيَّــنٍ يَــتِــمُّ بــ </a:t>
            </a:r>
            <a:r>
              <a:rPr lang="ar-DZ" sz="4400" b="1" dirty="0" smtClean="0">
                <a:cs typeface="+mj-cs"/>
              </a:rPr>
              <a:t>:</a:t>
            </a:r>
            <a:r>
              <a:rPr lang="ar-DZ" sz="4400" b="1" dirty="0" smtClean="0"/>
              <a:t> تـخـــزيــــن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592171" y="163043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9331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/>
              <a:t>كُــلُّ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؛ بـحــيــث </a:t>
            </a:r>
            <a:r>
              <a:rPr lang="ar-DZ" sz="4400" b="1" dirty="0" smtClean="0"/>
              <a:t>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</a:t>
            </a:r>
            <a:r>
              <a:rPr lang="ar-DZ" sz="4400" b="1" dirty="0" smtClean="0"/>
              <a:t> مُــعَـــيَّــنٍ يَــتِــمُّ بــ </a:t>
            </a:r>
            <a:r>
              <a:rPr lang="ar-DZ" sz="4400" b="1" dirty="0" smtClean="0">
                <a:cs typeface="+mj-cs"/>
              </a:rPr>
              <a:t>:</a:t>
            </a:r>
            <a:r>
              <a:rPr lang="ar-DZ" sz="4400" b="1" dirty="0" smtClean="0"/>
              <a:t> تـخـــزيــــن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30438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92171" y="163043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2092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/>
              <a:t>كُــلُّ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؛ بـحــيــث </a:t>
            </a:r>
            <a:r>
              <a:rPr lang="ar-DZ" sz="4400" b="1" dirty="0" smtClean="0"/>
              <a:t>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</a:t>
            </a:r>
            <a:r>
              <a:rPr lang="ar-DZ" sz="4400" b="1" dirty="0" smtClean="0"/>
              <a:t> مُــعَـــيَّــنٍ يَــتِــمُّ بــ </a:t>
            </a:r>
            <a:r>
              <a:rPr lang="ar-DZ" sz="4400" b="1" dirty="0" smtClean="0">
                <a:cs typeface="+mj-cs"/>
              </a:rPr>
              <a:t>:</a:t>
            </a:r>
            <a:r>
              <a:rPr lang="ar-DZ" sz="4400" b="1" dirty="0" smtClean="0"/>
              <a:t> تـخـــزيــــن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30438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92171" y="163043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45233" y="2623138"/>
            <a:ext cx="48245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 وَاحِــدٍ  فَــقَــطْ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5172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/>
              <a:t>كُــلُّ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؛ بـحــيــث </a:t>
            </a:r>
            <a:r>
              <a:rPr lang="ar-DZ" sz="4400" b="1" dirty="0" smtClean="0"/>
              <a:t>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</a:t>
            </a:r>
            <a:r>
              <a:rPr lang="ar-DZ" sz="4400" b="1" dirty="0" smtClean="0"/>
              <a:t> مُــعَـــيَّــنٍ يَــتِــمُّ بــ </a:t>
            </a:r>
            <a:r>
              <a:rPr lang="ar-DZ" sz="4400" b="1" dirty="0" smtClean="0">
                <a:cs typeface="+mj-cs"/>
              </a:rPr>
              <a:t>:</a:t>
            </a:r>
            <a:r>
              <a:rPr lang="ar-DZ" sz="4400" b="1" dirty="0" smtClean="0"/>
              <a:t> تـخـــزيــــن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30438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92171" y="163043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45233" y="2623138"/>
            <a:ext cx="48245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 وَاحِــدٍ  فَــقَــطْ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04312" y="3633076"/>
            <a:ext cx="20870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حـــرف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6131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2" grpId="0" animBg="1"/>
      <p:bldP spid="1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/>
              <a:t>كُــلُّ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؛ بـحــيــث </a:t>
            </a:r>
            <a:r>
              <a:rPr lang="ar-DZ" sz="4400" b="1" dirty="0" smtClean="0"/>
              <a:t>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</a:t>
            </a:r>
            <a:r>
              <a:rPr lang="ar-DZ" sz="4400" b="1" dirty="0" smtClean="0"/>
              <a:t> مُــعَـــيَّــنٍ يَــتِــمُّ بــ </a:t>
            </a:r>
            <a:r>
              <a:rPr lang="ar-DZ" sz="4400" b="1" dirty="0" smtClean="0">
                <a:cs typeface="+mj-cs"/>
              </a:rPr>
              <a:t>:</a:t>
            </a:r>
            <a:r>
              <a:rPr lang="ar-DZ" sz="4400" b="1" dirty="0" smtClean="0"/>
              <a:t> تـخـــزيــــن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30438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92171" y="163043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72264" y="4643014"/>
            <a:ext cx="25871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الــشِـــفْـــرَة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45233" y="2623138"/>
            <a:ext cx="48245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 وَاحِــدٍ  فَــقَــطْ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04312" y="3633076"/>
            <a:ext cx="20870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حـــرف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18665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9" grpId="0" animBg="1"/>
      <p:bldP spid="10" grpId="0" animBg="1"/>
      <p:bldP spid="12" grpId="0" animBg="1"/>
      <p:bldP spid="1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</a:t>
            </a:r>
            <a:r>
              <a:rPr lang="ar-DZ" sz="3600" b="1" dirty="0" smtClean="0">
                <a:solidFill>
                  <a:srgbClr val="00B050"/>
                </a:solidFill>
              </a:rPr>
              <a:t>تــمــثــيــل الـمـعــلــومــات  ـــ  تـــابـــع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/>
              <a:t>كُــلُّ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</a:t>
            </a:r>
            <a:r>
              <a:rPr lang="ar-DZ" sz="4400" b="1" dirty="0" smtClean="0">
                <a:cs typeface="+mj-cs"/>
              </a:rPr>
              <a:t> تـكـون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/>
              <a:t>ومُـرِتَــبِـطَـةً بـ</a:t>
            </a:r>
            <a:r>
              <a:rPr lang="ar-DZ" sz="4400" baseline="-25000" dirty="0" smtClean="0">
                <a:solidFill>
                  <a:schemeClr val="tx2"/>
                </a:solidFill>
              </a:rPr>
              <a:t> .....................................................</a:t>
            </a:r>
            <a:r>
              <a:rPr lang="ar-DZ" sz="4400" b="1" dirty="0" smtClean="0"/>
              <a:t> </a:t>
            </a:r>
            <a:r>
              <a:rPr lang="ar-DZ" sz="4400" b="1" dirty="0"/>
              <a:t>؛ بـحــيــث </a:t>
            </a:r>
            <a:r>
              <a:rPr lang="ar-DZ" sz="4400" b="1" dirty="0" smtClean="0"/>
              <a:t>تـخــزيــن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</a:t>
            </a:r>
            <a:r>
              <a:rPr lang="ar-DZ" sz="4400" b="1" dirty="0" smtClean="0"/>
              <a:t> مُــعَـــيَّــنٍ يَــتِــمُّ بــ </a:t>
            </a:r>
            <a:r>
              <a:rPr lang="ar-DZ" sz="4400" b="1" dirty="0" smtClean="0">
                <a:cs typeface="+mj-cs"/>
              </a:rPr>
              <a:t>:</a:t>
            </a:r>
            <a:r>
              <a:rPr lang="ar-DZ" sz="4400" b="1" dirty="0" smtClean="0"/>
              <a:t> تـخـــزيــــن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.................................</a:t>
            </a:r>
            <a:r>
              <a:rPr lang="ar-DZ" sz="4400" b="1" dirty="0" smtClean="0"/>
              <a:t> 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/>
              <a:t>الـمُــرْتَــبِــطَــةِ </a:t>
            </a:r>
            <a:r>
              <a:rPr lang="ar-DZ" sz="4400" b="1" dirty="0"/>
              <a:t>بـذلـك</a:t>
            </a:r>
            <a:r>
              <a:rPr lang="ar-DZ" sz="4400" b="1" dirty="0" smtClean="0"/>
              <a:t>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............................</a:t>
            </a:r>
            <a:r>
              <a:rPr lang="ar-DZ" sz="4400" b="1" dirty="0" smtClean="0"/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3287688" y="1630438"/>
            <a:ext cx="23844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فَــرِيـــدَةً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72562" y="4633346"/>
            <a:ext cx="23531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الـحـــرف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92171" y="163043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شِـــفْـــرَةٍ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72264" y="4643014"/>
            <a:ext cx="25871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الــشِـــفْـــرَة </a:t>
            </a:r>
            <a:endParaRPr lang="fr-FR" sz="36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645233" y="2623138"/>
            <a:ext cx="48245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حَـــرْفٍ  وَاحِــدٍ  فَــقَــطْ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904312" y="3633076"/>
            <a:ext cx="208709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حـــرف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04785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9" grpId="0" animBg="1"/>
      <p:bldP spid="10" grpId="0" animBg="1"/>
      <p:bldP spid="12" grpId="0" animBg="1"/>
      <p:bldP spid="11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7328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أ – تــمـثــيــل </a:t>
            </a:r>
            <a:r>
              <a:rPr lang="ar-DZ" sz="3600" b="1" dirty="0" smtClean="0">
                <a:solidFill>
                  <a:srgbClr val="00B050"/>
                </a:solidFill>
              </a:rPr>
              <a:t>الـمـعــلــومــات  ــ  تـــابـع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ar-DZ" sz="4400" b="1" dirty="0" smtClean="0">
                <a:cs typeface="+mj-cs"/>
              </a:rPr>
              <a:t>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58" y="945328"/>
            <a:ext cx="10803182" cy="54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9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9169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5108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  <p:bldP spid="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29997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9198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ســؤال : مـا هـي الـعـلاقـة بـيـن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الـحــرف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و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الـبَـايْـتْ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Byte</a:t>
            </a:r>
            <a:r>
              <a:rPr lang="ar-DZ" sz="4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؟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endParaRPr lang="fr-FR" sz="4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  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131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ســؤال : مـا هـي الـعـلاقـة بـيـن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الـحــرف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و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الـبَـايْـتْ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Byte</a:t>
            </a:r>
            <a:r>
              <a:rPr lang="ar-DZ" sz="42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؟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endParaRPr lang="fr-FR" sz="42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الـلازمــة لـتـخــزيــن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هـي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FF0000"/>
                </a:solidFill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FF000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9084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589" y="245266"/>
            <a:ext cx="7380000" cy="611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79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546" y="270222"/>
            <a:ext cx="7380000" cy="611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7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0070C0"/>
                </a:solidFill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036" y="230662"/>
            <a:ext cx="7380000" cy="612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665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─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الـسِّـعَــة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الـلازمــة لـتـخــزيــن</a:t>
            </a:r>
            <a:r>
              <a:rPr lang="ar-DZ" sz="4400" b="1" dirty="0">
                <a:cs typeface="+mj-cs"/>
              </a:rPr>
              <a:t> </a:t>
            </a:r>
            <a:r>
              <a:rPr lang="ar-DZ" sz="4400" baseline="-25000" dirty="0">
                <a:solidFill>
                  <a:schemeClr val="tx2"/>
                </a:solidFill>
              </a:rPr>
              <a:t>....................</a:t>
            </a:r>
            <a:r>
              <a:rPr lang="ar-DZ" sz="4400" b="1" dirty="0"/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واحـــد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</a:t>
            </a:r>
            <a:r>
              <a:rPr lang="ar-DZ" sz="4400" b="1" dirty="0" smtClean="0">
                <a:cs typeface="+mj-cs"/>
              </a:rPr>
              <a:t> بـحـيـث </a:t>
            </a:r>
            <a:r>
              <a:rPr lang="ar-DZ" sz="4400" b="1" dirty="0">
                <a:cs typeface="+mj-cs"/>
              </a:rPr>
              <a:t>نُـخَــزِّنُ </a:t>
            </a:r>
            <a:r>
              <a:rPr lang="ar-DZ" sz="4400" b="1" dirty="0" smtClean="0">
                <a:cs typeface="+mj-cs"/>
              </a:rPr>
              <a:t>فـيهـا 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</a:t>
            </a:r>
            <a:r>
              <a:rPr lang="ar-DZ" sz="4400" b="1" dirty="0" smtClean="0">
                <a:cs typeface="+mj-cs"/>
              </a:rPr>
              <a:t> وتـلـك الـسِّــعَــة تُــسَــمَـى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</a:t>
            </a:r>
            <a:r>
              <a:rPr lang="ar-DZ" sz="4400" baseline="-25000" dirty="0" smtClean="0">
                <a:solidFill>
                  <a:schemeClr val="tx2"/>
                </a:solidFill>
              </a:rPr>
              <a:t>..............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</a:t>
            </a:r>
            <a:r>
              <a:rPr lang="ar-DZ" sz="4400" b="1" dirty="0" smtClean="0">
                <a:cs typeface="+mj-cs"/>
              </a:rPr>
              <a:t> وهـي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الـوحـــدة الأســـاســـيـــة لِـ </a:t>
            </a:r>
            <a:r>
              <a:rPr lang="ar-DZ" sz="44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</a:t>
            </a:r>
            <a:r>
              <a:rPr lang="ar-DZ" sz="4400" b="1" dirty="0" smtClean="0"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16771" y="3493555"/>
            <a:ext cx="5251237" cy="93779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بَــايْــتْ</a:t>
            </a:r>
            <a:r>
              <a:rPr lang="fr-FR" sz="4400" b="1" dirty="0" smtClean="0">
                <a:solidFill>
                  <a:srgbClr val="FF0000"/>
                </a:solidFill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Octet ) Byte  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7408" y="2621494"/>
            <a:ext cx="44097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>
                <a:solidFill>
                  <a:srgbClr val="0070C0"/>
                </a:solidFill>
              </a:rPr>
              <a:t>شِــفْــرَة ذلـك الـحــرف</a:t>
            </a:r>
            <a:endParaRPr lang="fr-FR" sz="4000" b="1" dirty="0">
              <a:solidFill>
                <a:srgbClr val="0070C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41133" y="2623465"/>
            <a:ext cx="19817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8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خَــلَايَــا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59115" y="4652438"/>
            <a:ext cx="413045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FF0000"/>
                </a:solidFill>
              </a:rPr>
              <a:t>قِـــيَـــاسِ الـذَاكِـــرَةِ </a:t>
            </a:r>
            <a:endParaRPr lang="fr-FR" sz="40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71664" y="1620419"/>
            <a:ext cx="19303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حَـــرْف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734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10" grpId="0" animBg="1"/>
      <p:bldP spid="12" grpId="0" animBg="1"/>
      <p:bldP spid="13" grpId="0" animBg="1"/>
      <p:bldP spid="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ســؤال :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مــا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هـي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أصـغــر وحــدة لـقــيــاس الــذاكـــرة ؟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4" name="Nuage 13"/>
          <p:cNvSpPr/>
          <p:nvPr/>
        </p:nvSpPr>
        <p:spPr>
          <a:xfrm>
            <a:off x="2032000" y="4579482"/>
            <a:ext cx="7560840" cy="17116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Byte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=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bit</a:t>
            </a:r>
            <a:endParaRPr lang="ar-DZ" sz="3600" b="1" dirty="0" smtClean="0"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0" y="1556792"/>
            <a:ext cx="10800000" cy="26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99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ســؤال : لـمـاذا لـم نـخـتـار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bit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كــوحــدة أسـاسـيـة لـقـيـاس الـذاكــرة ؟ </a:t>
            </a:r>
            <a:endParaRPr lang="fr-FR" sz="3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4" name="Nuage 13"/>
          <p:cNvSpPr/>
          <p:nvPr/>
        </p:nvSpPr>
        <p:spPr>
          <a:xfrm>
            <a:off x="911424" y="4383534"/>
            <a:ext cx="10225136" cy="142523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</a:t>
            </a:r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مــلــيــون </a:t>
            </a:r>
            <a:r>
              <a:rPr lang="en-US" sz="32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Byte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يَــسَــعُ لـ : مـلــيــون </a:t>
            </a:r>
            <a:r>
              <a:rPr lang="ar-DZ" sz="32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حــرف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0" y="1556792"/>
            <a:ext cx="10800000" cy="26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573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ســؤال : لـمـاذا لـم نـخـتـار </a:t>
            </a:r>
            <a:r>
              <a:rPr lang="fr-FR" sz="3600" b="1" dirty="0" smtClean="0">
                <a:solidFill>
                  <a:srgbClr val="00B050"/>
                </a:solidFill>
                <a:cs typeface="+mj-cs"/>
              </a:rPr>
              <a:t>bit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كــوحــدة أسـاسـيـة لـقـيـاس الـذاكــرة ؟ </a:t>
            </a:r>
            <a:endParaRPr lang="fr-FR" sz="3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4" name="Nuage 13"/>
          <p:cNvSpPr/>
          <p:nvPr/>
        </p:nvSpPr>
        <p:spPr>
          <a:xfrm>
            <a:off x="911424" y="4383534"/>
            <a:ext cx="10225136" cy="1425232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32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</a:t>
            </a:r>
            <a:r>
              <a:rPr lang="en-US" sz="32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مــلــيــون </a:t>
            </a:r>
            <a:r>
              <a:rPr lang="en-US" sz="32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bit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 يَــسَــعُ لـ : ............ حــرف ؟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0" y="1556792"/>
            <a:ext cx="10800000" cy="26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415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4" name="Nuage 13"/>
          <p:cNvSpPr/>
          <p:nvPr/>
        </p:nvSpPr>
        <p:spPr>
          <a:xfrm>
            <a:off x="2032000" y="4579482"/>
            <a:ext cx="7560840" cy="17116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Byte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=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bit</a:t>
            </a:r>
            <a:endParaRPr lang="ar-DZ" sz="3600" b="1" dirty="0" smtClean="0"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0" y="1556792"/>
            <a:ext cx="10800000" cy="26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17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الـمـعــلــومــات وقــيـــاس الـــذاكـــرة  ــ  تـــابــع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ج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– مـضـاعــفــات وحــدة قــيــاس الــذاكــرة </a:t>
            </a:r>
            <a:r>
              <a:rPr lang="fr-FR" sz="3800" b="1" dirty="0" smtClean="0">
                <a:solidFill>
                  <a:srgbClr val="00B050"/>
                </a:solidFill>
                <a:cs typeface="+mj-cs"/>
              </a:rPr>
              <a:t>Byte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763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25" y="164345"/>
            <a:ext cx="8892941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5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ج</a:t>
            </a:r>
            <a:r>
              <a:rPr lang="ar-DZ" sz="3600" b="1" dirty="0" smtClean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─ وحــدة قــيــاس الـمـســافــة هـي : </a:t>
            </a:r>
            <a:r>
              <a:rPr lang="ar-DZ" sz="3600" baseline="-25000" dirty="0" smtClean="0">
                <a:solidFill>
                  <a:schemeClr val="tx2"/>
                </a:solidFill>
                <a:cs typeface="+mj-cs"/>
              </a:rPr>
              <a:t>..................................................</a:t>
            </a:r>
            <a:r>
              <a:rPr lang="ar-DZ" sz="3600" b="1" dirty="0" smtClean="0">
                <a:cs typeface="+mj-cs"/>
              </a:rPr>
              <a:t>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1" name="Nuage 10"/>
          <p:cNvSpPr/>
          <p:nvPr/>
        </p:nvSpPr>
        <p:spPr>
          <a:xfrm>
            <a:off x="623392" y="1412776"/>
            <a:ext cx="5256584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مِــتْــرْ</a:t>
            </a:r>
            <a:r>
              <a:rPr lang="fr-FR" sz="3400" b="1" dirty="0" smtClean="0">
                <a:cs typeface="+mj-cs"/>
              </a:rPr>
              <a:t> </a:t>
            </a:r>
            <a:r>
              <a:rPr lang="fr-FR" sz="3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mètre (m</a:t>
            </a:r>
            <a:r>
              <a:rPr lang="fr-FR" sz="3400" b="1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) :</a:t>
            </a:r>
            <a:r>
              <a:rPr lang="fr-FR" sz="3400" b="1" dirty="0" smtClean="0">
                <a:cs typeface="+mj-cs"/>
              </a:rPr>
              <a:t> </a:t>
            </a:r>
            <a:endParaRPr lang="ar-DZ" sz="3400" b="1" dirty="0" smtClean="0"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3303486"/>
            <a:ext cx="9684000" cy="3037501"/>
          </a:xfrm>
          <a:prstGeom prst="rect">
            <a:avLst/>
          </a:prstGeom>
        </p:spPr>
      </p:pic>
      <p:sp>
        <p:nvSpPr>
          <p:cNvPr id="9" name="Nuage 8"/>
          <p:cNvSpPr/>
          <p:nvPr/>
        </p:nvSpPr>
        <p:spPr>
          <a:xfrm>
            <a:off x="1631832" y="2683451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200" b="1" dirty="0">
                <a:solidFill>
                  <a:srgbClr val="00B050"/>
                </a:solidFill>
              </a:rPr>
              <a:t>مـضـاعــفــات</a:t>
            </a:r>
            <a:endParaRPr lang="ar-DZ" sz="3400" b="1" dirty="0" smtClean="0">
              <a:cs typeface="+mj-cs"/>
            </a:endParaRPr>
          </a:p>
        </p:txBody>
      </p:sp>
      <p:sp>
        <p:nvSpPr>
          <p:cNvPr id="10" name="Nuage 9"/>
          <p:cNvSpPr/>
          <p:nvPr/>
        </p:nvSpPr>
        <p:spPr>
          <a:xfrm>
            <a:off x="6528212" y="2622114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200" b="1" dirty="0" smtClean="0">
                <a:solidFill>
                  <a:srgbClr val="00B050"/>
                </a:solidFill>
              </a:rPr>
              <a:t>أجـــزاء</a:t>
            </a:r>
            <a:endParaRPr lang="ar-DZ" sz="3400" b="1" dirty="0" smtClean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32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9" grpId="0" animBg="1"/>
      <p:bldP spid="1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ج</a:t>
            </a:r>
            <a:r>
              <a:rPr lang="ar-DZ" sz="3600" b="1" dirty="0" smtClean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3600" b="1" dirty="0">
                <a:solidFill>
                  <a:prstClr val="black"/>
                </a:solidFill>
                <a:cs typeface="Times New Roman" panose="02020603050405020304" pitchFamily="18" charset="0"/>
              </a:rPr>
              <a:t> ─ وحــدة قــيــاس الـوزن هـي : </a:t>
            </a:r>
            <a:r>
              <a:rPr lang="ar-DZ" sz="3600" baseline="-25000" dirty="0">
                <a:solidFill>
                  <a:srgbClr val="1F497D"/>
                </a:solidFill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DZ" sz="3600" b="1" dirty="0">
                <a:solidFill>
                  <a:prstClr val="black"/>
                </a:solidFill>
                <a:cs typeface="Times New Roman" panose="02020603050405020304" pitchFamily="18" charset="0"/>
              </a:rPr>
              <a:t>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1" name="Nuage 10"/>
          <p:cNvSpPr/>
          <p:nvPr/>
        </p:nvSpPr>
        <p:spPr>
          <a:xfrm>
            <a:off x="839416" y="1412776"/>
            <a:ext cx="568879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B050"/>
                </a:solidFill>
                <a:cs typeface="+mj-cs"/>
              </a:rPr>
              <a:t>غَــــرَام</a:t>
            </a:r>
            <a:r>
              <a:rPr lang="fr-FR" sz="3400" b="1" dirty="0" smtClean="0">
                <a:cs typeface="+mj-cs"/>
              </a:rPr>
              <a:t> </a:t>
            </a:r>
            <a:r>
              <a:rPr lang="fr-FR" sz="34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gramme (g</a:t>
            </a:r>
            <a:r>
              <a:rPr lang="fr-FR" sz="3400" b="1" dirty="0" smtClean="0">
                <a:solidFill>
                  <a:srgbClr val="00B050"/>
                </a:solidFill>
                <a:latin typeface="Times New Roman" panose="02020603050405020304" pitchFamily="18" charset="0"/>
              </a:rPr>
              <a:t>) :</a:t>
            </a:r>
            <a:endParaRPr lang="ar-DZ" sz="3400" b="1" dirty="0" smtClean="0"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3527902"/>
            <a:ext cx="10368000" cy="2764800"/>
          </a:xfrm>
          <a:prstGeom prst="rect">
            <a:avLst/>
          </a:prstGeom>
        </p:spPr>
      </p:pic>
      <p:sp>
        <p:nvSpPr>
          <p:cNvPr id="12" name="Nuage 11"/>
          <p:cNvSpPr/>
          <p:nvPr/>
        </p:nvSpPr>
        <p:spPr>
          <a:xfrm>
            <a:off x="1343472" y="2591636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200" b="1" dirty="0">
                <a:solidFill>
                  <a:srgbClr val="00B050"/>
                </a:solidFill>
              </a:rPr>
              <a:t>مـضـاعــفــات</a:t>
            </a:r>
            <a:endParaRPr lang="ar-DZ" sz="3400" b="1" dirty="0" smtClean="0">
              <a:cs typeface="+mj-cs"/>
            </a:endParaRPr>
          </a:p>
        </p:txBody>
      </p:sp>
      <p:sp>
        <p:nvSpPr>
          <p:cNvPr id="13" name="Nuage 12"/>
          <p:cNvSpPr/>
          <p:nvPr/>
        </p:nvSpPr>
        <p:spPr>
          <a:xfrm>
            <a:off x="6888088" y="2599271"/>
            <a:ext cx="3645136" cy="120933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cs typeface="+mj-cs"/>
              </a:rPr>
              <a:t> </a:t>
            </a:r>
            <a:r>
              <a:rPr lang="ar-DZ" sz="3400" b="1" dirty="0"/>
              <a:t> </a:t>
            </a:r>
            <a:r>
              <a:rPr lang="ar-DZ" sz="3200" b="1" dirty="0" smtClean="0">
                <a:solidFill>
                  <a:srgbClr val="00B050"/>
                </a:solidFill>
              </a:rPr>
              <a:t>أجـــزاء</a:t>
            </a:r>
            <a:endParaRPr lang="ar-DZ" sz="3400" b="1" dirty="0"/>
          </a:p>
        </p:txBody>
      </p:sp>
    </p:spTree>
    <p:extLst>
      <p:ext uri="{BB962C8B-B14F-4D97-AF65-F5344CB8AC3E}">
        <p14:creationId xmlns:p14="http://schemas.microsoft.com/office/powerpoint/2010/main" val="1746195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2" grpId="0" animBg="1"/>
      <p:bldP spid="13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25" y="164345"/>
            <a:ext cx="8892941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6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8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	  </a:t>
            </a:r>
            <a:r>
              <a:rPr lang="fr-FR" sz="3600" b="1" dirty="0" smtClean="0">
                <a:solidFill>
                  <a:srgbClr val="FF0000"/>
                </a:solidFill>
              </a:rPr>
              <a:t>=   </a:t>
            </a:r>
            <a:r>
              <a:rPr lang="en-US" sz="3600" b="1" dirty="0" smtClean="0">
                <a:solidFill>
                  <a:srgbClr val="FF0000"/>
                </a:solidFill>
              </a:rPr>
              <a:t>10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3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	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 1 000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Kilo </a:t>
            </a:r>
            <a:endParaRPr lang="ar-DZ" sz="3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Mega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=     1 000 000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6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  </a:t>
            </a:r>
          </a:p>
          <a:p>
            <a:pPr marL="0" indent="712788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000 000 000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9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712788">
              <a:buNone/>
            </a:pP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>
                <a:solidFill>
                  <a:schemeClr val="tx1"/>
                </a:solidFill>
                <a:cs typeface="+mj-cs"/>
              </a:rPr>
              <a:t>: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	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10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1 024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Kilo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Mega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1 048 576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20 </a:t>
            </a: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 </a:t>
            </a:r>
            <a:r>
              <a:rPr lang="fr-FR" sz="3600" b="1" dirty="0" smtClean="0">
                <a:solidFill>
                  <a:srgbClr val="FF0000"/>
                </a:solidFill>
              </a:rPr>
              <a:t>   =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073 741 824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2</a:t>
            </a:r>
            <a:r>
              <a:rPr lang="en-US" sz="3600" b="1" baseline="30000" dirty="0">
                <a:solidFill>
                  <a:srgbClr val="0070C0"/>
                </a:solidFill>
              </a:rPr>
              <a:t>30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3600" b="1" dirty="0">
              <a:solidFill>
                <a:srgbClr val="FF0000"/>
              </a:solidFill>
            </a:endParaRPr>
          </a:p>
          <a:p>
            <a:pPr marL="0" indent="0" algn="r" rtl="1">
              <a:buNone/>
            </a:pPr>
            <a:endParaRPr lang="ar-DZ" sz="36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36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61808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44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	</a:t>
            </a:r>
            <a:endParaRPr lang="ar-DZ" sz="44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Kilo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 =  1 000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=  </a:t>
            </a:r>
            <a:r>
              <a:rPr lang="en-US" sz="4400" b="1" dirty="0" smtClean="0">
                <a:solidFill>
                  <a:srgbClr val="FF0000"/>
                </a:solidFill>
              </a:rPr>
              <a:t>10</a:t>
            </a:r>
            <a:r>
              <a:rPr lang="en-US" sz="4400" b="1" baseline="30000" dirty="0" smtClean="0">
                <a:solidFill>
                  <a:srgbClr val="0070C0"/>
                </a:solidFill>
              </a:rPr>
              <a:t>3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 </a:t>
            </a:r>
          </a:p>
          <a:p>
            <a:pPr marL="0" indent="712788">
              <a:buNone/>
            </a:pP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 :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4400" b="1" dirty="0">
                <a:solidFill>
                  <a:srgbClr val="FF0000"/>
                </a:solidFill>
              </a:rPr>
              <a:t>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Kilo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fr-FR" sz="4400" b="1" dirty="0">
                <a:solidFill>
                  <a:srgbClr val="FF0000"/>
                </a:solidFill>
              </a:rPr>
              <a:t>  =  1 </a:t>
            </a:r>
            <a:r>
              <a:rPr lang="fr-FR" sz="4400" b="1" dirty="0" smtClean="0">
                <a:solidFill>
                  <a:srgbClr val="FF0000"/>
                </a:solidFill>
              </a:rPr>
              <a:t>024   =  </a:t>
            </a:r>
            <a:r>
              <a:rPr lang="en-US" sz="4400" b="1" dirty="0" smtClean="0">
                <a:solidFill>
                  <a:srgbClr val="FF0000"/>
                </a:solidFill>
              </a:rPr>
              <a:t>2</a:t>
            </a:r>
            <a:r>
              <a:rPr lang="en-US" sz="4400" b="1" baseline="30000" dirty="0" smtClean="0">
                <a:solidFill>
                  <a:srgbClr val="0070C0"/>
                </a:solidFill>
              </a:rPr>
              <a:t>10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fr-FR" sz="4400" b="1" dirty="0">
                <a:solidFill>
                  <a:srgbClr val="FF0000"/>
                </a:solidFill>
              </a:rPr>
              <a:t>  </a:t>
            </a:r>
          </a:p>
          <a:p>
            <a:pPr marL="0" indent="0" algn="r" rtl="1">
              <a:buNone/>
            </a:pPr>
            <a:endParaRPr lang="ar-DZ" sz="44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38605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44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	</a:t>
            </a:r>
            <a:endParaRPr lang="ar-DZ" sz="44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Mega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 =  1 000 000</a:t>
            </a:r>
            <a:r>
              <a:rPr lang="fr-FR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=   </a:t>
            </a:r>
            <a:r>
              <a:rPr lang="en-US" sz="4400" b="1" dirty="0" smtClean="0">
                <a:solidFill>
                  <a:srgbClr val="FF0000"/>
                </a:solidFill>
              </a:rPr>
              <a:t>10</a:t>
            </a:r>
            <a:r>
              <a:rPr lang="en-US" sz="4400" b="1" baseline="30000" dirty="0" smtClean="0">
                <a:solidFill>
                  <a:srgbClr val="0070C0"/>
                </a:solidFill>
              </a:rPr>
              <a:t>6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 </a:t>
            </a:r>
          </a:p>
          <a:p>
            <a:pPr marL="0" indent="712788">
              <a:buNone/>
            </a:pP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 :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4400" b="1" dirty="0">
                <a:solidFill>
                  <a:srgbClr val="FF0000"/>
                </a:solidFill>
              </a:rPr>
              <a:t>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Mega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fr-FR" sz="4400" b="1" dirty="0">
                <a:solidFill>
                  <a:srgbClr val="FF0000"/>
                </a:solidFill>
              </a:rPr>
              <a:t>  =  1 </a:t>
            </a:r>
            <a:r>
              <a:rPr lang="fr-FR" sz="4400" b="1" dirty="0" smtClean="0">
                <a:solidFill>
                  <a:srgbClr val="FF0000"/>
                </a:solidFill>
              </a:rPr>
              <a:t>048 576  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</a:rPr>
              <a:t>=</a:t>
            </a:r>
            <a:r>
              <a:rPr lang="ar-DZ" sz="4400" b="1" dirty="0" smtClean="0">
                <a:solidFill>
                  <a:srgbClr val="FF0000"/>
                </a:solidFill>
              </a:rPr>
              <a:t> </a:t>
            </a:r>
            <a:r>
              <a:rPr lang="fr-FR" sz="4400" b="1" dirty="0" smtClean="0">
                <a:solidFill>
                  <a:srgbClr val="FF0000"/>
                </a:solidFill>
              </a:rPr>
              <a:t> </a:t>
            </a:r>
            <a:r>
              <a:rPr lang="en-US" sz="4400" b="1" dirty="0" smtClean="0">
                <a:solidFill>
                  <a:srgbClr val="FF0000"/>
                </a:solidFill>
              </a:rPr>
              <a:t>2</a:t>
            </a:r>
            <a:r>
              <a:rPr lang="en-US" sz="4400" b="1" baseline="30000" dirty="0" smtClean="0">
                <a:solidFill>
                  <a:srgbClr val="0070C0"/>
                </a:solidFill>
              </a:rPr>
              <a:t>20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fr-FR" sz="4400" b="1" dirty="0">
                <a:solidFill>
                  <a:srgbClr val="FF0000"/>
                </a:solidFill>
              </a:rPr>
              <a:t>  </a:t>
            </a:r>
          </a:p>
          <a:p>
            <a:pPr marL="0" indent="0" algn="r" rtl="1">
              <a:buNone/>
            </a:pPr>
            <a:endParaRPr lang="ar-DZ" sz="44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5002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44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	</a:t>
            </a:r>
            <a:endParaRPr lang="ar-DZ" sz="44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Giga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 =  1 000 000 000   =  </a:t>
            </a:r>
            <a:r>
              <a:rPr lang="en-US" sz="4400" b="1" dirty="0" smtClean="0">
                <a:solidFill>
                  <a:srgbClr val="FF0000"/>
                </a:solidFill>
              </a:rPr>
              <a:t>10</a:t>
            </a:r>
            <a:r>
              <a:rPr lang="en-US" sz="4400" b="1" baseline="30000" dirty="0" smtClean="0">
                <a:solidFill>
                  <a:srgbClr val="0070C0"/>
                </a:solidFill>
              </a:rPr>
              <a:t>9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4400" b="1" dirty="0" smtClean="0">
                <a:solidFill>
                  <a:srgbClr val="FF0000"/>
                </a:solidFill>
                <a:cs typeface="+mj-cs"/>
              </a:rPr>
              <a:t>  </a:t>
            </a:r>
          </a:p>
          <a:p>
            <a:pPr marL="0" indent="712788">
              <a:buNone/>
            </a:pP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2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20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4400" b="1" dirty="0" smtClean="0">
                <a:solidFill>
                  <a:schemeClr val="tx1"/>
                </a:solidFill>
                <a:cs typeface="+mj-cs"/>
              </a:rPr>
              <a:t> :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4400" b="1" dirty="0">
                <a:solidFill>
                  <a:srgbClr val="FF0000"/>
                </a:solidFill>
              </a:rPr>
              <a:t>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44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Giga</a:t>
            </a:r>
            <a:r>
              <a:rPr lang="en-US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fr-FR" sz="4400" b="1" dirty="0">
                <a:solidFill>
                  <a:srgbClr val="FF0000"/>
                </a:solidFill>
              </a:rPr>
              <a:t>  =  1 </a:t>
            </a:r>
            <a:r>
              <a:rPr lang="fr-FR" sz="4400" b="1" dirty="0" smtClean="0">
                <a:solidFill>
                  <a:srgbClr val="FF0000"/>
                </a:solidFill>
              </a:rPr>
              <a:t>073 741 824   =  </a:t>
            </a:r>
            <a:r>
              <a:rPr lang="en-US" sz="4400" b="1" dirty="0" smtClean="0">
                <a:solidFill>
                  <a:srgbClr val="FF0000"/>
                </a:solidFill>
              </a:rPr>
              <a:t>2</a:t>
            </a:r>
            <a:r>
              <a:rPr lang="en-US" sz="4400" b="1" baseline="30000" dirty="0" smtClean="0">
                <a:solidFill>
                  <a:srgbClr val="0070C0"/>
                </a:solidFill>
              </a:rPr>
              <a:t>30 </a:t>
            </a:r>
            <a:r>
              <a:rPr lang="ar-DZ" sz="4400" b="1" dirty="0">
                <a:solidFill>
                  <a:srgbClr val="FF0000"/>
                </a:solidFill>
              </a:rPr>
              <a:t>	</a:t>
            </a:r>
            <a:r>
              <a:rPr lang="fr-FR" sz="4400" b="1" dirty="0">
                <a:solidFill>
                  <a:srgbClr val="FF0000"/>
                </a:solidFill>
              </a:rPr>
              <a:t>  </a:t>
            </a:r>
          </a:p>
          <a:p>
            <a:pPr marL="0" indent="0" algn="r" rtl="1">
              <a:buNone/>
            </a:pPr>
            <a:endParaRPr lang="ar-DZ" sz="44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15542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8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	  </a:t>
            </a:r>
            <a:r>
              <a:rPr lang="fr-FR" sz="3600" b="1" dirty="0" smtClean="0">
                <a:solidFill>
                  <a:srgbClr val="FF0000"/>
                </a:solidFill>
              </a:rPr>
              <a:t>=   </a:t>
            </a:r>
            <a:r>
              <a:rPr lang="en-US" sz="3600" b="1" dirty="0" smtClean="0">
                <a:solidFill>
                  <a:srgbClr val="FF0000"/>
                </a:solidFill>
              </a:rPr>
              <a:t>10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3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	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 1 000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Kilo </a:t>
            </a:r>
            <a:endParaRPr lang="ar-DZ" sz="3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Mega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=     1 000 000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6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  </a:t>
            </a:r>
          </a:p>
          <a:p>
            <a:pPr marL="0" indent="712788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000 000 000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9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712788">
              <a:buNone/>
            </a:pP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>
                <a:solidFill>
                  <a:schemeClr val="tx1"/>
                </a:solidFill>
                <a:cs typeface="+mj-cs"/>
              </a:rPr>
              <a:t>: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	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10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1 024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Kilo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Mega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1 048 576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20 </a:t>
            </a: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 </a:t>
            </a:r>
            <a:r>
              <a:rPr lang="fr-FR" sz="3600" b="1" dirty="0" smtClean="0">
                <a:solidFill>
                  <a:srgbClr val="FF0000"/>
                </a:solidFill>
              </a:rPr>
              <a:t>   =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073 741 824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2</a:t>
            </a:r>
            <a:r>
              <a:rPr lang="en-US" sz="3600" b="1" baseline="30000" dirty="0">
                <a:solidFill>
                  <a:srgbClr val="0070C0"/>
                </a:solidFill>
              </a:rPr>
              <a:t>30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3600" b="1" dirty="0">
              <a:solidFill>
                <a:srgbClr val="FF0000"/>
              </a:solidFill>
            </a:endParaRPr>
          </a:p>
          <a:p>
            <a:pPr marL="0" indent="0" algn="r" rtl="1">
              <a:buNone/>
            </a:pPr>
            <a:endParaRPr lang="ar-DZ" sz="36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36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3080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82" y="509170"/>
            <a:ext cx="10728000" cy="5763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87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096" y="283276"/>
            <a:ext cx="9756000" cy="609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641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حَــلِّــلْ  </a:t>
            </a:r>
            <a:r>
              <a:rPr lang="ar-DZ" sz="4400" b="1" dirty="0"/>
              <a:t>الـجــدول الــتــالـي ، فـمـاذا تـسـتـنـتـج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34" y="991657"/>
            <a:ext cx="10656000" cy="5407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577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01315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ج 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تـطــبــيــقــات :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333701"/>
            <a:ext cx="8892000" cy="600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63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  <p:sp>
        <p:nvSpPr>
          <p:cNvPr id="7" name="Pensées 6"/>
          <p:cNvSpPr/>
          <p:nvPr/>
        </p:nvSpPr>
        <p:spPr>
          <a:xfrm>
            <a:off x="7897072" y="581580"/>
            <a:ext cx="3132000" cy="1008000"/>
          </a:xfrm>
          <a:prstGeom prst="cloudCallout">
            <a:avLst>
              <a:gd name="adj1" fmla="val 40213"/>
              <a:gd name="adj2" fmla="val 1731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800"/>
              </a:spcAft>
            </a:pP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التحـويـل مـن الـوحـدة الكـبـيـرة </a:t>
            </a:r>
            <a:endParaRPr lang="fr-FR" sz="1100" dirty="0">
              <a:solidFill>
                <a:srgbClr val="FF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إلى الـوحـدة الصغـيـرة </a:t>
            </a:r>
            <a:r>
              <a:rPr lang="fr-FR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1024 </a:t>
            </a:r>
            <a:r>
              <a:rPr lang="fr-FR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1100" dirty="0">
              <a:solidFill>
                <a:srgbClr val="FF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Pensées 7"/>
          <p:cNvSpPr/>
          <p:nvPr/>
        </p:nvSpPr>
        <p:spPr>
          <a:xfrm>
            <a:off x="1100554" y="5632590"/>
            <a:ext cx="3204000" cy="1008000"/>
          </a:xfrm>
          <a:prstGeom prst="cloudCallout">
            <a:avLst>
              <a:gd name="adj1" fmla="val -39216"/>
              <a:gd name="adj2" fmla="val -17898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800"/>
              </a:spcAft>
            </a:pPr>
            <a:r>
              <a:rPr lang="ar-SA" sz="14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+mj-cs"/>
              </a:rPr>
              <a:t>التحـويـل مـن الـوحـدة 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+mj-cs"/>
              </a:rPr>
              <a:t>الصغـيـرة</a:t>
            </a:r>
            <a:endParaRPr lang="fr-FR" sz="1400" dirty="0">
              <a:solidFill>
                <a:srgbClr val="002060"/>
              </a:solidFill>
              <a:effectLst/>
              <a:ea typeface="Times New Roman" panose="02020603050405020304" pitchFamily="18" charset="0"/>
              <a:cs typeface="+mj-cs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A" sz="14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إلى </a:t>
            </a:r>
            <a:r>
              <a:rPr lang="ar-SA" sz="1400" b="1" dirty="0" smtClean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الـوحـدة</a:t>
            </a:r>
            <a:r>
              <a:rPr lang="ar-DZ" sz="1400" b="1" dirty="0" smtClean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كـبـيـرة </a:t>
            </a:r>
            <a:r>
              <a:rPr lang="ar-DZ" sz="1400" b="1" dirty="0" smtClean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ar-SA" sz="1400" b="1" dirty="0" smtClean="0">
                <a:solidFill>
                  <a:srgbClr val="0070C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 smtClean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1024</a:t>
            </a:r>
            <a:endParaRPr lang="fr-FR" sz="1100" dirty="0">
              <a:solidFill>
                <a:srgbClr val="0070C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7267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25" y="164345"/>
            <a:ext cx="8892941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981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  <p:sp>
        <p:nvSpPr>
          <p:cNvPr id="7" name="Pensées 6"/>
          <p:cNvSpPr/>
          <p:nvPr/>
        </p:nvSpPr>
        <p:spPr>
          <a:xfrm>
            <a:off x="7897072" y="581580"/>
            <a:ext cx="3132000" cy="1008000"/>
          </a:xfrm>
          <a:prstGeom prst="cloudCallout">
            <a:avLst>
              <a:gd name="adj1" fmla="val 40213"/>
              <a:gd name="adj2" fmla="val 1731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800"/>
              </a:spcAft>
            </a:pP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التحـويـل مـن الـوحـدة الكـبـيـرة </a:t>
            </a:r>
            <a:endParaRPr lang="fr-FR" sz="1100" dirty="0">
              <a:solidFill>
                <a:srgbClr val="FF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إلى الـوحـدة الصغـيـرة </a:t>
            </a:r>
            <a:r>
              <a:rPr lang="fr-FR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1024 </a:t>
            </a:r>
            <a:r>
              <a:rPr lang="fr-FR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1100" dirty="0">
              <a:solidFill>
                <a:srgbClr val="FF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Pensées 7"/>
          <p:cNvSpPr/>
          <p:nvPr/>
        </p:nvSpPr>
        <p:spPr>
          <a:xfrm>
            <a:off x="1100554" y="5632590"/>
            <a:ext cx="3204000" cy="1008000"/>
          </a:xfrm>
          <a:prstGeom prst="cloudCallout">
            <a:avLst>
              <a:gd name="adj1" fmla="val -39216"/>
              <a:gd name="adj2" fmla="val -17898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800"/>
              </a:spcAft>
            </a:pPr>
            <a:r>
              <a:rPr lang="ar-SA" sz="14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+mj-cs"/>
              </a:rPr>
              <a:t>التحـويـل مـن الـوحـدة 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+mj-cs"/>
              </a:rPr>
              <a:t>الصغـيـرة</a:t>
            </a:r>
            <a:endParaRPr lang="fr-FR" sz="1400" dirty="0">
              <a:solidFill>
                <a:srgbClr val="002060"/>
              </a:solidFill>
              <a:effectLst/>
              <a:ea typeface="Times New Roman" panose="02020603050405020304" pitchFamily="18" charset="0"/>
              <a:cs typeface="+mj-cs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A" sz="14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إلى </a:t>
            </a:r>
            <a:r>
              <a:rPr lang="ar-SA" sz="1400" b="1" dirty="0" smtClean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الـوحـدة</a:t>
            </a:r>
            <a:r>
              <a:rPr lang="ar-DZ" sz="1400" b="1" dirty="0" smtClean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كـبـيـرة </a:t>
            </a:r>
            <a:r>
              <a:rPr lang="ar-DZ" sz="1400" b="1" dirty="0" smtClean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ar-SA" sz="1400" b="1" dirty="0" smtClean="0">
                <a:solidFill>
                  <a:srgbClr val="0070C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 smtClean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1024</a:t>
            </a:r>
            <a:endParaRPr lang="fr-FR" sz="1100" dirty="0">
              <a:solidFill>
                <a:srgbClr val="0070C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544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ج –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تـطــبــيــقــات :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333701"/>
            <a:ext cx="8892000" cy="600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518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ج – تـطــبــيــقــات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10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 :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>
                <a:solidFill>
                  <a:srgbClr val="0070C0"/>
                </a:solidFill>
                <a:latin typeface="Liberation Serif"/>
                <a:ea typeface="Droid Sans Fallback"/>
                <a:cs typeface="+mj-cs"/>
              </a:rPr>
              <a:t>تــطــبــيـق 1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8170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4.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تــمـثــيــل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الـمـعــلــومــات وقــيـــاس الـــذاكـــرة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9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  </a:t>
            </a:r>
            <a:r>
              <a:rPr lang="ar-DZ" sz="4400" b="1" dirty="0" smtClean="0"/>
              <a:t>حَــلِّــلْ  </a:t>
            </a:r>
            <a:r>
              <a:rPr lang="ar-DZ" sz="4400" b="1" dirty="0"/>
              <a:t>الــمُــخَــطَّــط الــتــالـي ، فـمـاذا تــســتــنــتــج </a:t>
            </a:r>
            <a:r>
              <a:rPr lang="ar-DZ" sz="4400" b="1" dirty="0" smtClean="0">
                <a:cs typeface="+mj-cs"/>
              </a:rPr>
              <a:t>؟ 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مُــخَــطَّــط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الـتـحــويــلات بـيـن وحـــدات قــيــاس الـذاكــرة 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360" y="44624"/>
            <a:ext cx="11520000" cy="6786034"/>
          </a:xfrm>
          <a:prstGeom prst="rect">
            <a:avLst/>
          </a:prstGeom>
        </p:spPr>
      </p:pic>
      <p:sp>
        <p:nvSpPr>
          <p:cNvPr id="7" name="Pensées 6"/>
          <p:cNvSpPr/>
          <p:nvPr/>
        </p:nvSpPr>
        <p:spPr>
          <a:xfrm>
            <a:off x="7897072" y="581580"/>
            <a:ext cx="3132000" cy="1008000"/>
          </a:xfrm>
          <a:prstGeom prst="cloudCallout">
            <a:avLst>
              <a:gd name="adj1" fmla="val 40213"/>
              <a:gd name="adj2" fmla="val 173196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800"/>
              </a:spcAft>
            </a:pP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التحـويـل مـن الـوحـدة الكـبـيـرة </a:t>
            </a:r>
            <a:endParaRPr lang="fr-FR" sz="1100" dirty="0">
              <a:solidFill>
                <a:srgbClr val="FF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إلى الـوحـدة الصغـيـرة </a:t>
            </a:r>
            <a:r>
              <a:rPr lang="fr-FR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1024 </a:t>
            </a:r>
            <a:r>
              <a:rPr lang="fr-FR" sz="1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ar-SA" sz="1400" b="1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1100" dirty="0">
              <a:solidFill>
                <a:srgbClr val="FF000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Pensées 7"/>
          <p:cNvSpPr/>
          <p:nvPr/>
        </p:nvSpPr>
        <p:spPr>
          <a:xfrm>
            <a:off x="1100554" y="5632590"/>
            <a:ext cx="3204000" cy="1008000"/>
          </a:xfrm>
          <a:prstGeom prst="cloudCallout">
            <a:avLst>
              <a:gd name="adj1" fmla="val -39216"/>
              <a:gd name="adj2" fmla="val -178989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800"/>
              </a:spcAft>
            </a:pPr>
            <a:r>
              <a:rPr lang="ar-SA" sz="14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+mj-cs"/>
              </a:rPr>
              <a:t>التحـويـل مـن الـوحـدة 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+mj-cs"/>
              </a:rPr>
              <a:t>الصغـيـرة</a:t>
            </a:r>
            <a:endParaRPr lang="fr-FR" sz="1400" dirty="0">
              <a:solidFill>
                <a:srgbClr val="002060"/>
              </a:solidFill>
              <a:effectLst/>
              <a:ea typeface="Times New Roman" panose="02020603050405020304" pitchFamily="18" charset="0"/>
              <a:cs typeface="+mj-cs"/>
            </a:endParaRPr>
          </a:p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ar-SA" sz="1400" b="1" dirty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إلى </a:t>
            </a:r>
            <a:r>
              <a:rPr lang="ar-SA" sz="1400" b="1" dirty="0" smtClean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الـوحـدة</a:t>
            </a:r>
            <a:r>
              <a:rPr lang="ar-DZ" sz="1400" b="1" dirty="0" smtClean="0">
                <a:solidFill>
                  <a:srgbClr val="00206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1400" b="1" dirty="0" smtClean="0">
                <a:solidFill>
                  <a:srgbClr val="00206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كـبـيـرة </a:t>
            </a:r>
            <a:r>
              <a:rPr lang="ar-DZ" sz="1400" b="1" dirty="0" smtClean="0">
                <a:solidFill>
                  <a:srgbClr val="0070C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ar-SA" sz="1400" b="1" dirty="0" smtClean="0">
                <a:solidFill>
                  <a:srgbClr val="0070C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 smtClean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1024</a:t>
            </a:r>
            <a:endParaRPr lang="fr-FR" sz="1100" dirty="0">
              <a:solidFill>
                <a:srgbClr val="0070C0"/>
              </a:solidFill>
              <a:effectLst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302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 :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259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88" y="321767"/>
            <a:ext cx="10440000" cy="60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761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3600" b="1" dirty="0">
                <a:solidFill>
                  <a:srgbClr val="00B050"/>
                </a:solidFill>
              </a:rPr>
              <a:t> </a:t>
            </a:r>
            <a:r>
              <a:rPr lang="ar-DZ" sz="3600" b="1" dirty="0">
                <a:solidFill>
                  <a:srgbClr val="00B050"/>
                </a:solidFill>
              </a:rPr>
              <a:t>ب – مـضـاعــفــات وحــدة قــيــاس الــذاكــرة </a:t>
            </a:r>
            <a:r>
              <a:rPr lang="fr-FR" sz="3600" b="1" dirty="0">
                <a:solidFill>
                  <a:srgbClr val="00B050"/>
                </a:solidFill>
              </a:rPr>
              <a:t>Byte </a:t>
            </a:r>
            <a:r>
              <a:rPr lang="ar-DZ" sz="3600" b="1" dirty="0" smtClean="0">
                <a:solidFill>
                  <a:srgbClr val="00B050"/>
                </a:solidFill>
              </a:rPr>
              <a:t>  ـــ  تـــابــع 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ctr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8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625" y="164345"/>
            <a:ext cx="8892941" cy="61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90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8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	  </a:t>
            </a:r>
            <a:r>
              <a:rPr lang="fr-FR" sz="3600" b="1" dirty="0" smtClean="0">
                <a:solidFill>
                  <a:srgbClr val="FF0000"/>
                </a:solidFill>
              </a:rPr>
              <a:t>=   </a:t>
            </a:r>
            <a:r>
              <a:rPr lang="en-US" sz="3600" b="1" dirty="0" smtClean="0">
                <a:solidFill>
                  <a:srgbClr val="FF0000"/>
                </a:solidFill>
              </a:rPr>
              <a:t>10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3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	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 1 000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Kilo </a:t>
            </a:r>
            <a:endParaRPr lang="ar-DZ" sz="3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Mega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=     1 000 000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6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  </a:t>
            </a:r>
          </a:p>
          <a:p>
            <a:pPr marL="0" indent="712788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000 000 000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9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712788">
              <a:buNone/>
            </a:pP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>
                <a:solidFill>
                  <a:schemeClr val="tx1"/>
                </a:solidFill>
                <a:cs typeface="+mj-cs"/>
              </a:rPr>
              <a:t>: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	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10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1 024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Kilo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Mega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1 048 576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20 </a:t>
            </a: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 </a:t>
            </a:r>
            <a:r>
              <a:rPr lang="fr-FR" sz="3600" b="1" dirty="0" smtClean="0">
                <a:solidFill>
                  <a:srgbClr val="FF0000"/>
                </a:solidFill>
              </a:rPr>
              <a:t>   =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073 741 824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2</a:t>
            </a:r>
            <a:r>
              <a:rPr lang="en-US" sz="3600" b="1" baseline="30000" dirty="0">
                <a:solidFill>
                  <a:srgbClr val="0070C0"/>
                </a:solidFill>
              </a:rPr>
              <a:t>30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3600" b="1" dirty="0">
              <a:solidFill>
                <a:srgbClr val="FF0000"/>
              </a:solidFill>
            </a:endParaRPr>
          </a:p>
          <a:p>
            <a:pPr marL="0" indent="0" algn="r" rtl="1">
              <a:buNone/>
            </a:pPr>
            <a:endParaRPr lang="ar-DZ" sz="36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36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22618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ب – قــيــاس الــذاكــرة :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r" rtl="1">
              <a:buNone/>
            </a:pPr>
            <a:endParaRPr lang="ar-DZ" sz="1000" b="1" dirty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 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14" name="Nuage 13"/>
          <p:cNvSpPr/>
          <p:nvPr/>
        </p:nvSpPr>
        <p:spPr>
          <a:xfrm>
            <a:off x="2032000" y="4579482"/>
            <a:ext cx="7560840" cy="17116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1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Byte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 =  </a:t>
            </a: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</a:rPr>
              <a:t>8</a:t>
            </a:r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bit</a:t>
            </a:r>
            <a:endParaRPr lang="ar-DZ" sz="3600" b="1" dirty="0" smtClean="0">
              <a:cs typeface="+mj-cs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70" y="1556792"/>
            <a:ext cx="10800000" cy="264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9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 أَنْـجِــزْ </a:t>
            </a:r>
            <a:r>
              <a:rPr lang="ar-DZ" sz="4400" b="1" dirty="0"/>
              <a:t>الـتـحــويــلات بـيـن وحــدات قــيـاس الـذاكـرة مع بـيـان الـخـطــوات </a:t>
            </a:r>
            <a:r>
              <a:rPr lang="ar-DZ" sz="4400" b="1" dirty="0" smtClean="0"/>
              <a:t>الـمُــتَّـبَـعَــة</a:t>
            </a: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92" y="332655"/>
            <a:ext cx="10800000" cy="58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74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ج – تـطــبــيــقــات  ــ  تــطــبــيـق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fr-FR" sz="4400" b="1" dirty="0" smtClean="0">
                <a:cs typeface="+mj-cs"/>
              </a:rPr>
              <a:t> </a:t>
            </a:r>
            <a:r>
              <a:rPr lang="ar-DZ" sz="4400" b="1" u="sng" dirty="0">
                <a:solidFill>
                  <a:srgbClr val="00B050"/>
                </a:solidFill>
                <a:cs typeface="+mj-cs"/>
              </a:rPr>
              <a:t>نَــشَــاط </a:t>
            </a:r>
            <a:r>
              <a:rPr lang="ar-DZ" sz="4400" b="1" u="sng" dirty="0" smtClean="0">
                <a:solidFill>
                  <a:srgbClr val="00B050"/>
                </a:solidFill>
                <a:cs typeface="+mj-cs"/>
              </a:rPr>
              <a:t>11</a:t>
            </a:r>
            <a:r>
              <a:rPr lang="ar-DZ" sz="4400" b="1" dirty="0" smtClean="0">
                <a:solidFill>
                  <a:srgbClr val="00B050"/>
                </a:solidFill>
                <a:cs typeface="+mj-cs"/>
              </a:rPr>
              <a:t> :  </a:t>
            </a:r>
            <a:endParaRPr lang="fr-FR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888" y="321767"/>
            <a:ext cx="10440000" cy="600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706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00B050"/>
                </a:solidFill>
                <a:cs typeface="Times New Roman" panose="02020603050405020304" pitchFamily="18" charset="0"/>
              </a:rPr>
              <a:t> مــقــارنــة بــيـن الـمـضــاعــفــات في الـفــيــزيـــاء / الـمـعـلـومــاتــيــة</a:t>
            </a:r>
            <a:endParaRPr lang="fr-FR" sz="36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8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>
                <a:solidFill>
                  <a:schemeClr val="tx1"/>
                </a:solidFill>
                <a:cs typeface="+mj-cs"/>
              </a:rPr>
              <a:t>فـي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الــفـــيـــزيـــــاء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: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	  </a:t>
            </a:r>
            <a:r>
              <a:rPr lang="fr-FR" sz="3600" b="1" dirty="0" smtClean="0">
                <a:solidFill>
                  <a:srgbClr val="FF0000"/>
                </a:solidFill>
              </a:rPr>
              <a:t>=   </a:t>
            </a:r>
            <a:r>
              <a:rPr lang="en-US" sz="3600" b="1" dirty="0" smtClean="0">
                <a:solidFill>
                  <a:srgbClr val="FF0000"/>
                </a:solidFill>
              </a:rPr>
              <a:t>10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3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	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 1 000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Kilo </a:t>
            </a:r>
            <a:endParaRPr lang="ar-DZ" sz="3600" b="1" dirty="0" smtClean="0">
              <a:solidFill>
                <a:srgbClr val="0070C0"/>
              </a:solidFill>
              <a:latin typeface="Times New Roman" panose="02020603050405020304" pitchFamily="18" charset="0"/>
              <a:ea typeface="Droid Sans Fallback"/>
              <a:cs typeface="+mj-cs"/>
            </a:endParaRPr>
          </a:p>
          <a:p>
            <a:pPr marL="0" indent="712788">
              <a:buNone/>
            </a:pP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Mega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=     1 000 000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6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   </a:t>
            </a:r>
          </a:p>
          <a:p>
            <a:pPr marL="0" indent="712788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000 000 000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10</a:t>
            </a:r>
            <a:r>
              <a:rPr lang="en-US" sz="3600" b="1" baseline="30000" dirty="0">
                <a:solidFill>
                  <a:srgbClr val="0070C0"/>
                </a:solidFill>
              </a:rPr>
              <a:t>9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712788">
              <a:buNone/>
            </a:pP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  <a:r>
              <a:rPr lang="fr-FR" sz="1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1600" b="1" dirty="0" smtClean="0">
                <a:solidFill>
                  <a:srgbClr val="FF0000"/>
                </a:solidFill>
                <a:cs typeface="+mj-cs"/>
              </a:rPr>
              <a:t>	</a:t>
            </a:r>
          </a:p>
          <a:p>
            <a:pPr algn="r" rtl="1">
              <a:buFont typeface="Wingdings" panose="05000000000000000000" pitchFamily="2" charset="2"/>
              <a:buChar char="v"/>
            </a:pP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u="sng" dirty="0" smtClean="0">
                <a:solidFill>
                  <a:schemeClr val="tx1"/>
                </a:solidFill>
                <a:cs typeface="+mj-cs"/>
              </a:rPr>
              <a:t>فـي الـمـعــلــومــاتــيــة</a:t>
            </a:r>
            <a:r>
              <a:rPr lang="ar-DZ" sz="36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3600" b="1" dirty="0">
                <a:solidFill>
                  <a:schemeClr val="tx1"/>
                </a:solidFill>
                <a:cs typeface="+mj-cs"/>
              </a:rPr>
              <a:t>: </a:t>
            </a:r>
            <a:r>
              <a:rPr lang="fr-FR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	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10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=   1 024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fr-FR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1 </a:t>
            </a:r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Kilo </a:t>
            </a:r>
            <a:r>
              <a:rPr lang="en-US" sz="3600" b="1" dirty="0" smtClean="0">
                <a:solidFill>
                  <a:srgbClr val="0070C0"/>
                </a:solidFill>
                <a:latin typeface="Times New Roman" panose="02020603050405020304" pitchFamily="18" charset="0"/>
                <a:ea typeface="Droid Sans Fallback"/>
                <a:cs typeface="+mj-cs"/>
              </a:rPr>
              <a:t> </a:t>
            </a:r>
            <a:endParaRPr lang="ar-DZ" sz="3600" b="1" dirty="0">
              <a:solidFill>
                <a:srgbClr val="0070C0"/>
              </a:solidFill>
              <a:cs typeface="+mj-cs"/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Mega</a:t>
            </a: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</a:rPr>
              <a:t>  </a:t>
            </a:r>
            <a:r>
              <a:rPr lang="fr-FR" sz="3600" b="1" dirty="0">
                <a:solidFill>
                  <a:srgbClr val="FF0000"/>
                </a:solidFill>
              </a:rPr>
              <a:t>=  </a:t>
            </a:r>
            <a:r>
              <a:rPr lang="fr-FR" sz="3600" b="1" dirty="0" smtClean="0">
                <a:solidFill>
                  <a:srgbClr val="FF0000"/>
                </a:solidFill>
              </a:rPr>
              <a:t> 1 048 576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=  </a:t>
            </a:r>
            <a:r>
              <a:rPr lang="en-US" sz="3600" b="1" dirty="0" smtClean="0">
                <a:solidFill>
                  <a:srgbClr val="FF0000"/>
                </a:solidFill>
              </a:rPr>
              <a:t>2</a:t>
            </a:r>
            <a:r>
              <a:rPr lang="en-US" sz="3600" b="1" baseline="30000" dirty="0" smtClean="0">
                <a:solidFill>
                  <a:srgbClr val="0070C0"/>
                </a:solidFill>
              </a:rPr>
              <a:t>20 </a:t>
            </a: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sz="3600" b="1" dirty="0">
                <a:solidFill>
                  <a:srgbClr val="FF0000"/>
                </a:solidFill>
              </a:rPr>
              <a:t>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1 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Droid Sans Fallback"/>
              </a:rPr>
              <a:t>Giga </a:t>
            </a:r>
            <a:r>
              <a:rPr lang="fr-FR" sz="3600" b="1" dirty="0" smtClean="0">
                <a:solidFill>
                  <a:srgbClr val="FF0000"/>
                </a:solidFill>
              </a:rPr>
              <a:t>   =   </a:t>
            </a:r>
            <a:r>
              <a:rPr lang="fr-FR" sz="3600" b="1" dirty="0" smtClean="0">
                <a:solidFill>
                  <a:srgbClr val="00B050"/>
                </a:solidFill>
              </a:rPr>
              <a:t>1 </a:t>
            </a:r>
            <a:r>
              <a:rPr lang="fr-FR" sz="3600" b="1" dirty="0">
                <a:solidFill>
                  <a:srgbClr val="00B050"/>
                </a:solidFill>
              </a:rPr>
              <a:t>073 741 824</a:t>
            </a:r>
            <a:r>
              <a:rPr lang="fr-FR" sz="3600" b="1" dirty="0">
                <a:solidFill>
                  <a:srgbClr val="FF0000"/>
                </a:solidFill>
              </a:rPr>
              <a:t>   =  </a:t>
            </a:r>
            <a:r>
              <a:rPr lang="en-US" sz="3600" b="1" dirty="0">
                <a:solidFill>
                  <a:srgbClr val="FF0000"/>
                </a:solidFill>
              </a:rPr>
              <a:t>2</a:t>
            </a:r>
            <a:r>
              <a:rPr lang="en-US" sz="3600" b="1" baseline="30000" dirty="0">
                <a:solidFill>
                  <a:srgbClr val="0070C0"/>
                </a:solidFill>
              </a:rPr>
              <a:t>30 </a:t>
            </a:r>
            <a:r>
              <a:rPr lang="ar-DZ" sz="3600" b="1" dirty="0">
                <a:solidFill>
                  <a:srgbClr val="FF0000"/>
                </a:solidFill>
              </a:rPr>
              <a:t>	</a:t>
            </a:r>
            <a:r>
              <a:rPr lang="fr-FR" sz="3600" b="1" dirty="0">
                <a:solidFill>
                  <a:srgbClr val="FF0000"/>
                </a:solidFill>
              </a:rPr>
              <a:t>  </a:t>
            </a:r>
          </a:p>
          <a:p>
            <a:pPr marL="0" indent="0">
              <a:buNone/>
            </a:pPr>
            <a:endParaRPr lang="fr-FR" sz="36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fr-FR" sz="3600" b="1" dirty="0">
              <a:solidFill>
                <a:srgbClr val="FF0000"/>
              </a:solidFill>
            </a:endParaRPr>
          </a:p>
          <a:p>
            <a:pPr marL="0" indent="0" algn="r" rtl="1">
              <a:buNone/>
            </a:pPr>
            <a:endParaRPr lang="ar-DZ" sz="3600" b="1" dirty="0">
              <a:solidFill>
                <a:srgbClr val="00B050"/>
              </a:solidFill>
              <a:cs typeface="+mj-cs"/>
            </a:endParaRPr>
          </a:p>
          <a:p>
            <a:pPr marL="0" indent="0" algn="r" rtl="1">
              <a:buNone/>
            </a:pPr>
            <a:endParaRPr lang="fr-FR" sz="36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6815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الــــوضـــعـــــيــــة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الإدمـــــــاجــــــيـــــة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تَــــمَّ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تـــخــــزيـــــن مــــلـــفــــات حــجــمــهــا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5 GB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فـــي ذاكـــرة الـــفــــلاش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Flash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Disk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بــحـــيـــث الـــسِّـــعَــــــة الــمُــــتَــــوَفِّـــــرَةَ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( </a:t>
            </a:r>
            <a:r>
              <a:rPr lang="en-US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Espace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Libre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) 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فِـــــيــــهـــا قَــــبْـــلَ الـــتـــــخــــــزيـــــــن هــــي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7 168 MB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</a:p>
          <a:p>
            <a:pPr marL="0" indent="0" algn="just" rtl="1">
              <a:buNone/>
            </a:pPr>
            <a:endParaRPr lang="ar-DZ" sz="16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4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1. فَــــمَــــــا </a:t>
            </a:r>
            <a:r>
              <a:rPr lang="ar-DZ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هـــي الـــمــــســــــــاحــــــة الــــمُـــــتَــــــبَـــــقِــــــيَـــــة فـــي ذاكـــــرة الــــفــــــلاش بـــــعــــد الـــتــــخـــــزيـــــــن </a:t>
            </a:r>
            <a:r>
              <a:rPr lang="ar-DZ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؟   </a:t>
            </a:r>
            <a:endParaRPr lang="fr-FR" sz="4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7466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 ســـؤال : أيـــن هــو مــوضــع الــخــطــأ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4128" y="2420888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4273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0770" y="4554464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7163</a:t>
            </a:r>
            <a:r>
              <a:rPr lang="ar-DZ" sz="4000" b="1" smtClean="0">
                <a:solidFill>
                  <a:srgbClr val="0070C0"/>
                </a:solidFill>
                <a:cs typeface="+mj-cs"/>
              </a:rPr>
              <a:t>  = 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( 5 – 7168 )  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2125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 ســـؤال : أيـــن هــو مــوضــع الــخــطــأ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4128" y="2420888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4273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0770" y="4554464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7163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=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( 5 – 7168 )   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59116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 ســـؤال : أيـــن هــو مــوضــع الــخــطــأ ؟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4128" y="2420888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4273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90770" y="4554464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7163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=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5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– </a:t>
            </a:r>
            <a:r>
              <a:rPr lang="fr-FR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7168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4461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1605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...........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3873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6668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96147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876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7168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( 1024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7168 )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  =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776" y="52275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=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( 5 – 7 )   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1435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</a:t>
            </a:r>
            <a:r>
              <a:rPr lang="ar-DZ" b="1" dirty="0">
                <a:solidFill>
                  <a:srgbClr val="00B050"/>
                </a:solidFill>
              </a:rPr>
              <a:t>طـريـقـة </a:t>
            </a:r>
            <a:r>
              <a:rPr lang="ar-DZ" b="1" dirty="0" smtClean="0">
                <a:solidFill>
                  <a:srgbClr val="00B050"/>
                </a:solidFill>
              </a:rPr>
              <a:t>2 ــ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تـــابــع 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قـبـل الـتـخــزيــن هـي :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7168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234719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الـمــلـــفـــات الــمُـــرَادُ تـخـــزيـــنــهــا هــو :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5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الــمــســـاحــة  الــمــتــوفـــرة  بــعــد  الــتــخـــزيــن  هــي  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776" y="52275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2048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 = 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( 5120 – 7168 )   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7776" y="3355303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( 1024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*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5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)  =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5120  =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MB</a:t>
            </a:r>
            <a:endParaRPr lang="fr-FR" sz="40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240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الــوضــعــــيـــة </a:t>
            </a:r>
            <a:r>
              <a:rPr lang="ar-SA" b="1" dirty="0" err="1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SA" b="1" dirty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fr-FR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2. قـــــمـــــنـــــا بـــــعْـــــدَ ذلــك بِــــحَـــذْفِ مِــــلَــــف </a:t>
            </a:r>
            <a:r>
              <a:rPr lang="en-US" sz="36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400" b="1" dirty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حَـــجْـــمُــــهُ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3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GB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48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مــــن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تـــلـــك الــذاكـــرة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فــهــل بـــإمـــكـــانــــنــــا أن نُـــخَــــزِّنَ فــــيـــهـــا مــــلــــف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آخـــــر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4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حَـــجْـــمُــــهُ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5122 MB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؟</a:t>
            </a:r>
            <a:r>
              <a:rPr lang="ar-DZ" sz="48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عَــــلِّـــلْ إِجَــــــابَــــتَــــك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</a:p>
          <a:p>
            <a:pPr marL="0" indent="0" algn="just" rtl="1">
              <a:buNone/>
            </a:pPr>
            <a:endParaRPr lang="ar-DZ" sz="1600" b="1" dirty="0" smtClean="0">
              <a:solidFill>
                <a:srgbClr val="00000A"/>
              </a:solidFill>
              <a:ea typeface="Droid Sans Fallback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5191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9993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 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...........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0722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 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869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 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</a:t>
            </a:r>
            <a:r>
              <a:rPr lang="ar-DZ" sz="4000" b="1" dirty="0" smtClean="0">
                <a:solidFill>
                  <a:srgbClr val="0070C0"/>
                </a:solidFill>
              </a:rPr>
              <a:t>الـمــلــف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هـــو   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5122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06368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 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</a:t>
            </a:r>
            <a:r>
              <a:rPr lang="ar-DZ" sz="4000" b="1" dirty="0" smtClean="0">
                <a:solidFill>
                  <a:srgbClr val="0070C0"/>
                </a:solidFill>
              </a:rPr>
              <a:t>الـمــلــف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هـــو   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5122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</a:rPr>
              <a:t>   وَبِــمَــا  أَنَّ    :  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5120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5122</a:t>
            </a:r>
            <a:endParaRPr lang="fr-FR" sz="3200" b="1" dirty="0">
              <a:solidFill>
                <a:srgbClr val="FF000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910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SA" b="1" dirty="0" smtClean="0">
                <a:solidFill>
                  <a:srgbClr val="00B050"/>
                </a:solidFill>
                <a:cs typeface="+mj-cs"/>
              </a:rPr>
              <a:t>الــوضــعــــيـــة </a:t>
            </a:r>
            <a:r>
              <a:rPr lang="ar-SA" b="1" dirty="0" err="1" smtClean="0">
                <a:solidFill>
                  <a:srgbClr val="00B050"/>
                </a:solidFill>
                <a:cs typeface="+mj-cs"/>
              </a:rPr>
              <a:t>الإدمــــاجـــيــــة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 ــ  تـــابــع</a:t>
            </a:r>
            <a:endParaRPr lang="fr-FR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lvl="0" indent="0" algn="just" rtl="1">
              <a:lnSpc>
                <a:spcPct val="150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+mj-cs"/>
              </a:rPr>
              <a:t>.....................................................................</a:t>
            </a: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lvl="0" indent="0" algn="just" rtl="1">
              <a:lnSpc>
                <a:spcPct val="95000"/>
              </a:lnSpc>
              <a:buSzPts val="1600"/>
              <a:buNone/>
              <a:tabLst>
                <a:tab pos="232410" algn="r"/>
              </a:tabLst>
            </a:pPr>
            <a:r>
              <a:rPr lang="ar-DZ" sz="4800" dirty="0" smtClean="0">
                <a:solidFill>
                  <a:srgbClr val="00206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endParaRPr lang="fr-FR" sz="4800" dirty="0" smtClean="0">
              <a:solidFill>
                <a:srgbClr val="00206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+mj-cs"/>
            </a:endParaRPr>
          </a:p>
          <a:p>
            <a:pPr marL="0" indent="0" algn="just" rtl="1">
              <a:buNone/>
            </a:pPr>
            <a:endParaRPr lang="ar-DZ" sz="44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84128" y="1412776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الـمـسـاحـة الـمـتـوفــرة بـعــد حــذف الـمــلــف </a:t>
            </a:r>
            <a:r>
              <a:rPr lang="en-US" sz="4000" b="1" dirty="0" err="1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Fichier_A</a:t>
            </a:r>
            <a:r>
              <a:rPr lang="en-US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7776" y="2419199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B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+mj-cs"/>
              </a:rPr>
              <a:t> 5120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=  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( 1024 * 5 ) 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GB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 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= 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GB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( 3 + 2 )</a:t>
            </a:r>
            <a:endParaRPr lang="fr-FR" sz="32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84128" y="3356992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حــجــم </a:t>
            </a:r>
            <a:r>
              <a:rPr lang="ar-DZ" sz="4000" b="1" dirty="0" smtClean="0">
                <a:solidFill>
                  <a:srgbClr val="0070C0"/>
                </a:solidFill>
              </a:rPr>
              <a:t>الـمــلــف 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هـــو   :  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MB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5122</a:t>
            </a:r>
            <a:endParaRPr lang="fr-FR" sz="36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84128" y="4363415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</a:rPr>
              <a:t>   وَبِــمَــا  أَنَّ    :  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>
                <a:solidFill>
                  <a:srgbClr val="0070C0"/>
                </a:solidFill>
              </a:rPr>
              <a:t> </a:t>
            </a:r>
            <a:r>
              <a:rPr lang="ar-DZ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5120 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B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5122</a:t>
            </a:r>
            <a:endParaRPr lang="fr-FR" sz="32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7776" y="5227511"/>
            <a:ext cx="10369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sz="40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   فَـإِذَنْ لَا يُــمْــكِــنُــنَــا تَــخْـــزِيــنُ </a:t>
            </a:r>
            <a:r>
              <a:rPr lang="ar-DZ" sz="3600" b="1" dirty="0" smtClean="0">
                <a:solidFill>
                  <a:srgbClr val="0070C0"/>
                </a:solidFill>
              </a:rPr>
              <a:t>الــمِــلَــف  </a:t>
            </a:r>
            <a:r>
              <a:rPr lang="fr-FR" sz="3600" b="1" dirty="0" smtClean="0">
                <a:solidFill>
                  <a:srgbClr val="0070C0"/>
                </a:solidFill>
              </a:rPr>
              <a:t>:</a:t>
            </a:r>
            <a:r>
              <a:rPr lang="ar-DZ" sz="3600" b="1" dirty="0" smtClean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</a:rPr>
              <a:t>Fichier_B</a:t>
            </a:r>
            <a:r>
              <a:rPr lang="ar-DZ" sz="3600" b="1" dirty="0">
                <a:solidFill>
                  <a:srgbClr val="0070C0"/>
                </a:solidFill>
              </a:rPr>
              <a:t> 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7916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7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u="sng" dirty="0">
                <a:solidFill>
                  <a:srgbClr val="FF0000"/>
                </a:solidFill>
              </a:rPr>
              <a:t>واجــب مـنـزلـي</a:t>
            </a:r>
            <a:r>
              <a:rPr lang="ar-DZ" sz="4800" b="1" dirty="0">
                <a:solidFill>
                  <a:srgbClr val="FF0000"/>
                </a:solidFill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14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أ.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قـــارِنْ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بَــيْـنَ الـذاكــرة الـحَــيَّــة  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RAM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والـقـــرص الـصــلــب  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HDD</a:t>
            </a:r>
            <a:r>
              <a:rPr lang="en-US" sz="44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فـي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FreeSans"/>
              </a:rPr>
              <a:t>الـخـصـائـص الـتـالـيـة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:</a:t>
            </a:r>
            <a:endParaRPr lang="fr-FR" sz="4400" b="1" dirty="0">
              <a:solidFill>
                <a:schemeClr val="tx1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8041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مـنـزلـي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>
                <a:solidFill>
                  <a:srgbClr val="FF0000"/>
                </a:solidFill>
              </a:rPr>
              <a:t>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1642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واجــب مـنـزلـي </a:t>
            </a:r>
            <a:r>
              <a:rPr lang="ar-DZ" sz="4000" b="1" dirty="0">
                <a:solidFill>
                  <a:srgbClr val="FF0000"/>
                </a:solidFill>
              </a:rPr>
              <a:t> ــ  تـــابــع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14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206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ب.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تـعــتــبــر الـذاكــرة الـمَــيِــتَّـة  </a:t>
            </a:r>
            <a:r>
              <a:rPr lang="en-US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ROM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 أســاســيــة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فـي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الـحــاســوب بـحــيــث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يَــتِـمُ تــخــزيــن نــظــام </a:t>
            </a:r>
            <a:r>
              <a:rPr lang="en-US" sz="40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BIOS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فــيـهـا ، فــمــا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Liberation Serif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هـــو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دَوْرُ هــذا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الـنــظــام 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( </a:t>
            </a:r>
            <a:r>
              <a:rPr lang="en-US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BIOS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ar-DZ" sz="4400" b="1" dirty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) </a:t>
            </a:r>
            <a:r>
              <a:rPr lang="ar-DZ" sz="44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؟</a:t>
            </a:r>
            <a:endParaRPr lang="fr-FR" sz="4400" b="1" dirty="0">
              <a:solidFill>
                <a:schemeClr val="tx1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4336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19/10/2025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مـنـزلـي </a:t>
            </a:r>
            <a:r>
              <a:rPr lang="ar-DZ" sz="4000" b="1" dirty="0" smtClean="0">
                <a:solidFill>
                  <a:srgbClr val="FF0000"/>
                </a:solidFill>
              </a:rPr>
              <a:t> </a:t>
            </a:r>
            <a:r>
              <a:rPr lang="ar-DZ" sz="4000" b="1" dirty="0">
                <a:solidFill>
                  <a:srgbClr val="FF0000"/>
                </a:solidFill>
              </a:rPr>
              <a:t>ــ  تـــابــع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44177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تــصــحــيــح الـواجــب الـمــنــزلـي :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فَـــائِـــقَـــةَ جِـــدَا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بـطــيــئـة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419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تــصــحــيــح الـواجــب الـمــنــزلـي :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فَـــائِـــقَـــةَ جِـــدَا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</a:rPr>
              <a:t>صــغــيـــرة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بـطــيــئـة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كــبــيــرة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58948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10" grpId="0" animBg="1"/>
      <p:bldP spid="11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تــصــحــيــح الـواجــب الـمــنــزلـي :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فَـــائِـــقَـــةَ جِـــدَا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</a:rPr>
              <a:t>صــغــيـــرة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مُــؤَقَـــتٌ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بـطــيــئـة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كــبــيــرة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دَائِــــمٌ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1870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تــصــحــيــح الـواجــب الـمــنــزلـي : 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9342963"/>
              </p:ext>
            </p:extLst>
          </p:nvPr>
        </p:nvGraphicFramePr>
        <p:xfrm>
          <a:off x="609600" y="1341438"/>
          <a:ext cx="10872000" cy="5191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02224"/>
                <a:gridCol w="3528392"/>
                <a:gridCol w="3441384"/>
              </a:tblGrid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lang="ar-DZ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الـقـــرص الـصــلــب  </a:t>
                      </a:r>
                      <a:r>
                        <a:rPr lang="fr-FR" sz="3800" b="1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HDD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الـذاكـــرة الـحَــيَّــة  </a:t>
                      </a:r>
                      <a:r>
                        <a:rPr lang="fr-FR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RAM 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SA" sz="3800" b="1" dirty="0" smtClean="0">
                          <a:solidFill>
                            <a:schemeClr val="bg1"/>
                          </a:solidFill>
                          <a:cs typeface="+mj-cs"/>
                        </a:rPr>
                        <a:t>الـخـصــائـص</a:t>
                      </a:r>
                      <a:endParaRPr lang="fr-FR" sz="3800" b="1" dirty="0">
                        <a:solidFill>
                          <a:schemeClr val="bg1"/>
                        </a:solidFill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4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ســرعــة الـوصـول للــبــيــانــات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000" b="1" dirty="0" smtClean="0">
                          <a:cs typeface="+mj-cs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سِــعَــة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9820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نَــــوْعُ الــتــخـــزيـــن 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</a:tr>
              <a:tr h="938448"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30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ar-DZ" sz="30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cs typeface="Times New Roman" panose="02020603050405020304" pitchFamily="18" charset="0"/>
                        </a:rPr>
                        <a:t>..................................</a:t>
                      </a:r>
                      <a:endParaRPr lang="fr-FR" sz="1600" b="1" dirty="0">
                        <a:cs typeface="+mj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DZ" sz="3200" b="1" dirty="0" smtClean="0">
                          <a:solidFill>
                            <a:srgbClr val="002060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مَــاهِــيَـة الــمــحـــتـــوى</a:t>
                      </a:r>
                      <a:endParaRPr lang="fr-FR" sz="30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19/10/2025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583831" y="2636912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فَـــائِـــقَـــةَ جِـــدَا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605932" y="3573016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</a:rPr>
              <a:t>صــغــيـــرة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96605" y="4541118"/>
            <a:ext cx="34064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مُــؤَقَـــتٌ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83832" y="5477222"/>
            <a:ext cx="3441352" cy="968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بــيــانــات ومــلــفــات الـبــرامــج الـنــشــطــة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2636912"/>
            <a:ext cx="385611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بـطــيــئـة نِــسْــبِــيًــا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5493" y="3573016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كــبــيــرة جــدا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6166" y="4541118"/>
            <a:ext cx="38036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دَائِــــمٌ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58267" y="5477222"/>
            <a:ext cx="3803650" cy="9681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cs typeface="+mj-cs"/>
              </a:rPr>
              <a:t>الـبـــرامــج الـمُــثَــبَــتَــة والـمـلـفـات الـشـخـصـيـة</a:t>
            </a:r>
            <a:endParaRPr lang="fr-FR" sz="34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1223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24378</TotalTime>
  <Words>5639</Words>
  <Application>Microsoft Office PowerPoint</Application>
  <PresentationFormat>Grand écran</PresentationFormat>
  <Paragraphs>1398</Paragraphs>
  <Slides>164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164</vt:i4>
      </vt:variant>
    </vt:vector>
  </HeadingPairs>
  <TitlesOfParts>
    <vt:vector size="177" baseType="lpstr">
      <vt:lpstr>Arial Unicode MS</vt:lpstr>
      <vt:lpstr>SimSun</vt:lpstr>
      <vt:lpstr>Arial</vt:lpstr>
      <vt:lpstr>Calibri</vt:lpstr>
      <vt:lpstr>Droid Sans Fallback</vt:lpstr>
      <vt:lpstr>FreeSans</vt:lpstr>
      <vt:lpstr>Liberation Serif</vt:lpstr>
      <vt:lpstr>Symbol</vt:lpstr>
      <vt:lpstr>Times New Roman</vt:lpstr>
      <vt:lpstr>Traditional Arabic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تــعــريــف الـحــاســـوب </vt:lpstr>
      <vt:lpstr>ســؤال : مـاهـي الـمـعــلــومـات الَّـتِي تَــتَـعَــامَـلُ مـعـهـا الآلــة الـحـاسـبـة ؟</vt:lpstr>
      <vt:lpstr>ســؤال : مـاهـي الـمـعــلــومـات الَّـتِي تَــتَـعَــامَـلُ مـعـهـا الآلــة الـحـاسـبـة ؟</vt:lpstr>
      <vt:lpstr>ســؤال : كـيـف تَــتَـعَــامَـلُ الآلــة الـحـاسـبـة مـع الأعــــداد ؟</vt:lpstr>
      <vt:lpstr>ســؤال : كـيـف تَــتَـعَــامَـلُ الآلــة الـحـاسـبـة مـع الأعــــداد ؟</vt:lpstr>
      <vt:lpstr>ســؤال : مـاذا يـحــدث بـعْـدَ إِجْـــرَاءِ الـعَـمَـلِــيَــاتِ عَـلَى الأعــــداد ؟</vt:lpstr>
      <vt:lpstr>ســؤال : مـاذا يـحــدث بـعْـدَ إِجْـــرَاءِ الـعَـمَـلِــيَــاتِ عَـلَى الأعــــداد ؟</vt:lpstr>
      <vt:lpstr>ســؤال : مـاهـي الـمــعــلــومـات الَّـتِي يَــتَـعَـــامَــلُ مـعـهـا الـحــاســوب ؟</vt:lpstr>
      <vt:lpstr>ســؤال : مـاهـي الـمــعــلــومـات الَّـتِي يَــتَـعَـــامَــلُ مـعـهـا الـحــاســوب ؟</vt:lpstr>
      <vt:lpstr>ســؤال : مـاهـي الـمــعــلــومـات الَّـتِي يَــتَـعَـــامَــلُ مـعـهـا الـحــاســوب ؟</vt:lpstr>
      <vt:lpstr>أتـذكـر </vt:lpstr>
      <vt:lpstr>أتـذكـر </vt:lpstr>
      <vt:lpstr>أتـذكـر </vt:lpstr>
      <vt:lpstr>أتـذكـر </vt:lpstr>
      <vt:lpstr>أتـذكـر </vt:lpstr>
      <vt:lpstr>2. تـصـنــيــف مـكـونــات الـحــاســـوب </vt:lpstr>
      <vt:lpstr>أتـذكـر </vt:lpstr>
      <vt:lpstr>أتـذكـر </vt:lpstr>
      <vt:lpstr>أتـذكـر </vt:lpstr>
      <vt:lpstr>أتـذكـر </vt:lpstr>
      <vt:lpstr>أتـذكـر </vt:lpstr>
      <vt:lpstr>أتـذكـر </vt:lpstr>
      <vt:lpstr>ســؤال : تَـنْـقَـسِـمُ مـكـونـات الـحـاسـوب إلـى قِـسْـمَـيْـنِ مَـا هُـمَـا ؟</vt:lpstr>
      <vt:lpstr>ســؤال : تَـنْـقَـسِـمُ مـكـونـات الـحـاسـوب إلـى قِـسْـمَـيْـنِ مَـا هُـمَـا ؟</vt:lpstr>
      <vt:lpstr>3. تَـعْــيِــيــن مُــكَــوِنَـــات الـحَـــاسُــوب :</vt:lpstr>
      <vt:lpstr> 1.3 – الـمـكــونــات الـخـارجــيـة ( Périphériques d’Entrée/Sortie  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نَــشَــاط 3 : أ – وَحَـــدَات الإِدْخَـــال ( Périphériques d’Entrée )</vt:lpstr>
      <vt:lpstr>أتـذكـر </vt:lpstr>
      <vt:lpstr>أتـذكـر </vt:lpstr>
      <vt:lpstr>أتـذكـر </vt:lpstr>
      <vt:lpstr>أتـذكـر </vt:lpstr>
      <vt:lpstr> 1.3 – الـمـكــونــات الـخـارجــيـة ( Périphériques d’Entrée/Sortie   )</vt:lpstr>
      <vt:lpstr>نَـشَــاط 4 : ب – وَحَــدَات الإِخْــراج ( Périphériques de Sortie )</vt:lpstr>
      <vt:lpstr>نَـشَــاط 4 : ب – وَحَــدَات الإِخْــراج ( Périphériques de Sortie )</vt:lpstr>
      <vt:lpstr>نَـشَــاط 4 : ب – وَحَــدَات الإِخْــراج ( Périphériques de Sortie )</vt:lpstr>
      <vt:lpstr>نَـشَــاط 4 : ب – وَحَــدَات الإِخْــراج ( Périphériques de Sortie )</vt:lpstr>
      <vt:lpstr>أتـذكـر </vt:lpstr>
      <vt:lpstr>أتـذكـر </vt:lpstr>
      <vt:lpstr>أتـذكـر </vt:lpstr>
      <vt:lpstr> 2.3 – الـمـكــونــات الـداخــلــيــة (Unité Centrale  )</vt:lpstr>
      <vt:lpstr>نَـشَــاط 5 : الـمــكــونــات الـداخــلــيــة  (Unité Centrale  )</vt:lpstr>
      <vt:lpstr>نَـشَــاط 5 ( تــابـع ) : الـمــكــونــات الـداخــلــيــة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( تــابـع ) : الـمــكــونــات الـداخــلــيــة</vt:lpstr>
      <vt:lpstr>نَـشَــاط 5 ( تــابـع ) : الـمــكــونــات الـداخــلــيــة</vt:lpstr>
      <vt:lpstr>نَـشَــاط 5 ( تــابـع ) : الـمــكــونــات الـداخــلــيــة</vt:lpstr>
      <vt:lpstr>نَـشَــاط 5 ( تــابـع ) : الـمــكــونــات الـداخــلــيــة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5 : الـمــكــونــات الـداخــلــيــة  (Unité Centrale  )</vt:lpstr>
      <vt:lpstr>نَـشَــاط 6 : ضـع أرقــام الـعــبـارات الــتـالـيـة فـي أَمَـاكِــنِـهَـا الـمـنـاســبـة فـي الـجـدول </vt:lpstr>
      <vt:lpstr>نَـشَــاط 6 : ضـع أرقــام الـعــبـارات الــتـالـيـة فـي أَمَـاكِــنِـهَـا الـمـنـاســبـة فـي الـجـدول </vt:lpstr>
      <vt:lpstr>نَـشَــاط 6 : ضـع أرقــام الـعــبـارات الــتـالـيـة فـي أَمَـاكِــنِـهَـا الـمـنـاســبـة فـي الـجـدول </vt:lpstr>
      <vt:lpstr>4. تــمـثــيــل الـمـعــلــومــات وقــيـــاس الـــذاكـــرة </vt:lpstr>
      <vt:lpstr> أ – تــمـثــيــل الـمـعــلــومــات  ــ  تـــابـع</vt:lpstr>
      <vt:lpstr> أ – تــمـثــيــل الـمـعــلــومــات ــ  تـــابـع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تــمـثــيــل الـمـعــلــومــات  ــ  تـــابـع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أ – تــمــثــيــل الـمـعــلــومــات  ـــ  تـــابـــع </vt:lpstr>
      <vt:lpstr> ب – قــيــاس الــذاكــرة : </vt:lpstr>
      <vt:lpstr> أ – تــمـثــيــل الـمـعــلــومــات  ــ  تـــابـع</vt:lpstr>
      <vt:lpstr> ب – قــيــاس الــذاكــرة : </vt:lpstr>
      <vt:lpstr> ب – قــيــاس الــذاكــرة : </vt:lpstr>
      <vt:lpstr> ب – قــيــاس الــذاكــرة : </vt:lpstr>
      <vt:lpstr> ب – قــيــاس الــذاكــرة : </vt:lpstr>
      <vt:lpstr> ســؤال : مـا هـي الـعـلاقـة بـيـن الـحــرف و الـبَـايْـتْ Byte ؟ </vt:lpstr>
      <vt:lpstr> ســؤال : مـا هـي الـعـلاقـة بـيـن الـحــرف و الـبَـايْـتْ Byte ؟ </vt:lpstr>
      <vt:lpstr> ب – قــيــاس الــذاكــرة : </vt:lpstr>
      <vt:lpstr> ب – قــيــاس الــذاكــرة : </vt:lpstr>
      <vt:lpstr> ب – قــيــاس الــذاكــرة : </vt:lpstr>
      <vt:lpstr> ب – قــيــاس الــذاكــرة : </vt:lpstr>
      <vt:lpstr>  ســؤال : مــا هـي أصـغــر وحــدة لـقــيــاس الــذاكـــرة ؟ </vt:lpstr>
      <vt:lpstr>  ســؤال : لـمـاذا لـم نـخـتـار bit كــوحــدة أسـاسـيـة لـقـيـاس الـذاكــرة ؟ </vt:lpstr>
      <vt:lpstr>  ســؤال : لـمـاذا لـم نـخـتـار bit كــوحــدة أسـاسـيـة لـقـيـاس الـذاكــرة ؟ </vt:lpstr>
      <vt:lpstr> ب – قــيــاس الــذاكــرة : </vt:lpstr>
      <vt:lpstr>4. تــمـثــيــل الـمـعــلــومــات وقــيـــاس الـــذاكـــرة  ــ  تـــابــع</vt:lpstr>
      <vt:lpstr> ب – مـضـاعــفــات وحــدة قــيــاس الــذاكــرة Byte   ـــ  تـــابــع </vt:lpstr>
      <vt:lpstr> ج – مـضـاعــفــات وحــدة قــيــاس الــذاكــرة Byte </vt:lpstr>
      <vt:lpstr> ج – مـضـاعــفــات وحــدة قــيــاس الــذاكــرة Byte </vt:lpstr>
      <vt:lpstr> ب – مـضـاعــفــات وحــدة قــيــاس الــذاكــرة Byte   ـــ  تـــابــع </vt:lpstr>
      <vt:lpstr>  مــقــارنــة بــيـن الـمـضــاعــفــات في الـفــيــزيـــاء / الـمـعـلـومــاتــيــة</vt:lpstr>
      <vt:lpstr> مــقــارنــة بــيـن الـمـضــاعــفــات في الـفــيــزيـــاء / الـمـعـلـومــاتــيــة</vt:lpstr>
      <vt:lpstr> مــقــارنــة بــيـن الـمـضــاعــفــات في الـفــيــزيـــاء / الـمـعـلـومــاتــيــة</vt:lpstr>
      <vt:lpstr> مــقــارنــة بــيـن الـمـضــاعــفــات في الـفــيــزيـــاء / الـمـعـلـومــاتــيــة</vt:lpstr>
      <vt:lpstr> مــقــارنــة بــيـن الـمـضــاعــفــات في الـفــيــزيـــاء / الـمـعـلـومــاتــيــة</vt:lpstr>
      <vt:lpstr> ب – مـضـاعــفــات وحــدة قــيــاس الــذاكــرة Byte   ـــ  تـــابــع </vt:lpstr>
      <vt:lpstr> ب – مـضـاعــفــات وحــدة قــيــاس الــذاكــرة Byte   ـــ  تـــابــع </vt:lpstr>
      <vt:lpstr> ب – مـضـاعــفــات وحــدة قــيــاس الــذاكــرة Byte   ـــ  تـــابــع </vt:lpstr>
      <vt:lpstr>4. تــمـثــيــل الـمـعــلــومــات وقــيـــاس الـــذاكـــرة </vt:lpstr>
      <vt:lpstr> ج – تـطــبــيــقــات : تــطــبــيـق 1:</vt:lpstr>
      <vt:lpstr>4. تــمـثــيــل الـمـعــلــومــات وقــيـــاس الـــذاكـــرة </vt:lpstr>
      <vt:lpstr> ب – مـضـاعــفــات وحــدة قــيــاس الــذاكــرة Byte   ـــ  تـــابــع </vt:lpstr>
      <vt:lpstr>4. تــمـثــيــل الـمـعــلــومــات وقــيـــاس الـــذاكـــرة </vt:lpstr>
      <vt:lpstr> ج – تـطــبــيــقــات : تــطــبــيـق 1:</vt:lpstr>
      <vt:lpstr> ج – تـطــبــيــقــات :</vt:lpstr>
      <vt:lpstr>4. تــمـثــيــل الـمـعــلــومــات وقــيـــاس الـــذاكـــرة </vt:lpstr>
      <vt:lpstr> ج – تـطــبــيــقــات  ــ  تــطــبــيـق 2 :</vt:lpstr>
      <vt:lpstr> ج – تـطــبــيــقــات  ــ  تــطــبــيـق 2 :</vt:lpstr>
      <vt:lpstr> ب – مـضـاعــفــات وحــدة قــيــاس الــذاكــرة Byte   ـــ  تـــابــع </vt:lpstr>
      <vt:lpstr> مــقــارنــة بــيـن الـمـضــاعــفــات في الـفــيــزيـــاء / الـمـعـلـومــاتــيــة</vt:lpstr>
      <vt:lpstr> ب – قــيــاس الــذاكــرة : </vt:lpstr>
      <vt:lpstr> ج – تـطــبــيــقــات  ــ  تــطــبــيـق 2 :</vt:lpstr>
      <vt:lpstr> ج – تـطــبــيــقــات  ــ  تــطــبــيـق 2 :</vt:lpstr>
      <vt:lpstr> مــقــارنــة بــيـن الـمـضــاعــفــات في الـفــيــزيـــاء / الـمـعـلـومــاتــيــة</vt:lpstr>
      <vt:lpstr> الــــوضـــعـــــيــــة الإدمـــــــاجــــــيـــــة :</vt:lpstr>
      <vt:lpstr> ســـؤال : أيـــن هــو مــوضــع الــخــطــأ ؟</vt:lpstr>
      <vt:lpstr> ســـؤال : أيـــن هــو مــوضــع الــخــطــأ ؟</vt:lpstr>
      <vt:lpstr> ســـؤال : أيـــن هــو مــوضــع الــخــطــأ ؟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طـريـقـة 2 ــ  تـــابــع 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 الــوضــعــــيـــة الإدمــــاجـــيــــة  ــ  تـــابــع</vt:lpstr>
      <vt:lpstr>واجــب مـنـزلـي :</vt:lpstr>
      <vt:lpstr> واجــب مـنـزلـي  ــ  تـــابــع</vt:lpstr>
      <vt:lpstr> واجــب مـنـزلـي  ــ  تـــابــع</vt:lpstr>
      <vt:lpstr>Présentation PowerPoint</vt:lpstr>
      <vt:lpstr> واجــب مـنـزلـي  ــ  تـــابــع</vt:lpstr>
      <vt:lpstr> تــصــحــيــح الـواجــب الـمــنــزلـي : </vt:lpstr>
      <vt:lpstr> تــصــحــيــح الـواجــب الـمــنــزلـي : </vt:lpstr>
      <vt:lpstr> تــصــحــيــح الـواجــب الـمــنــزلـي : </vt:lpstr>
      <vt:lpstr> تــصــحــيــح الـواجــب الـمــنــزلـي :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1024</cp:revision>
  <dcterms:created xsi:type="dcterms:W3CDTF">2015-11-30T21:00:22Z</dcterms:created>
  <dcterms:modified xsi:type="dcterms:W3CDTF">2025-10-19T13:41:12Z</dcterms:modified>
</cp:coreProperties>
</file>